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ab436a-fdda-2e2b-fc9e-aa18851d0373}">
          <p14:sldIdLst>
            <p14:sldId id="256"/>
          </p14:sldIdLst>
        </p14:section>
        <p14:section name="Why" id="{db58137c-86ff-0154-78c8-30f542772dcb}">
          <p14:sldIdLst>
            <p14:sldId id="257"/>
            <p14:sldId id="258"/>
          </p14:sldIdLst>
        </p14:section>
        <p14:section name="What" id="{2169c7fc-4e46-b804-65a9-c7aced539a87}">
          <p14:sldIdLst>
            <p14:sldId id="259"/>
            <p14:sldId id="260"/>
            <p14:sldId id="261"/>
            <p14:sldId id="262"/>
            <p14:sldId id="263"/>
            <p14:sldId id="264"/>
            <p14:sldId id="265"/>
            <p14:sldId id="266"/>
            <p14:sldId id="267"/>
          </p14:sldIdLst>
        </p14:section>
        <p14:section name="Who" id="{52a61b1f-a1c9-1a49-f7ba-3848e8bda15a}">
          <p14:sldIdLst>
            <p14:sldId id="268"/>
          </p14:sldIdLst>
        </p14:section>
        <p14:section name="How" id="{92b926f7-3c84-1e00-5d68-5993f91294ff}">
          <p14:sldIdLst>
            <p14:sldId id="269"/>
            <p14:sldId id="270"/>
            <p14:sldId id="271"/>
            <p14:sldId id="272"/>
            <p14:sldId id="273"/>
          </p14:sldIdLst>
        </p14:section>
        <p14:section name="Backup" id="{3110eadf-a901-ba79-1bc9-756783aeeb7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1: privileged inventory as code. You can't make privilege just-in-time until you can list it: who holds which role, at which scope, standing or eligible, directly or through a group, and in which tier. We'll start from Microsoft's own samples for listing role assignments, see what they miss, then build the reader, the rows and the findings, and finish with two labs and the dangers. One note before we begin: the code is illustrative, tested against fixtures.
Detail: The chapter delivers the read behind the project plan's Gate 0, "standing administrative privilege inventoried and classified by tier." It starts with Learn's own samples for listing Microsoft Entra role assignments, which the repository keeps as a pinned copy, and runs them against stand-ins to see what they return and what they miss. Then it builds examples/privileged-access for what they leave to you: eligible assignments, group members, Azure role assignment and eligibility schedules, a tier for every row, findings, and a manifest. Lab 1 runs on a laptop with no tenant; Lab 2 uses a test tenant. Goal: by the end of the chapter you can produce, from code, the inventory the plan's tasks A0.1 and A0.2 ask for: every Microsoft Entra directory role assignment, active and eligible, and every Azure role assignment and eligibility on the scopes you name, each classified by the program's tiers, with the findings a reviewer acts on and a manifest that says which calls produced it. You can say, for each rule in the code, whether it is Microsoft's contract, Microsoft's sample, or the program's own design.
Sources: Microsoft Learn, "List Microsoft Entra role assignments," https://learn.microsoft.com/entra/identity/role-based-access-control/view-assignments (accessed Oct 30, 2026).
Workbook: Building Privileged Access, Chapter 01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with an inventory? Because you can't fix what you can't list. A role reaches a person in four ways that look the same on an admin's screen and very different to an attacker: permanent or time-bound, eligible or active. An activated role looks active for a while, and a role on a group reaches everyone in it. Microsoft's own target is zero permanently active assignments outside the emergency accounts, and the program wants roles to reach people only through named groups. So the first gate is simply this: know what's standing today, and classify it by tier.
Detail: A role reaches a person in four ways that look the same on an admin's screen and very different to an attacker. Learn names them: permanent eligible, permanent active, time-bound eligible and time-bound active, and says to keep zero permanently active assignments for roles other than the emergency access accounts. An eligible assignment the holder has activated shows up as active for the activation window. And a role assigned to a role-assignable group reaches every member of it, which is how Book 04 wants it to work: the program assigns roles to PRV-&lt;tier&gt;-&lt;role&gt; groups, never to a person (Book 04, Chapter 04, "How a role reaches a person"). The plan's tasks A0.1 and A0.2 ask for every Microsoft Entra directory role assignment, active and eligible, and every Azure role assignment and eligibility on the scopes you name, each classified by the program's tiers, with the findings a reviewer acts on and a manifest that says which calls produced it.
Sources: Microsoft Learn, "Plan a Privileged Identity Management deployment," understand PIM, type of assignments, https://learn.microsoft.com/entra/id-governance/privileged-identity-management/pim-deployment-plan (accessed Oct 30, 2026).
Workbook: Building Privileged Access, Chapter 01 — “Goal and audience”; “What the inventory has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For this estate's tenant, Microsoft 365 GCC with commercial Azure, every host is a worldwide one: the normal Graph endpoint and the normal Resource Manager endpoint. GCC High and the Defense Department cloud use their own hosts. The licenses for GCC are hosted in Azure commercial, and the governance product that PIM needs is available in every one of these clouds, as is every Graph call the chapter uses. The code never guesses: you name the cloud explicitly, and it refuses any name it doesn't recognize.
Detail: For the target estate, Microsoft 365 GCC with commercial Azure, every host is a worldwide one: Graph at graph.microsoft.com and Resource Manager at management.azure.com. GCC High uses graph.microsoft.us, DoD dod-graph.microsoft.us, and both use Azure Government's management.usgovcloudapi.net. Microsoft Entra ID P1 and P2 for GCC are hosted in the Azure commercial environment, and Microsoft Entra ID Governance, which PIM needs, is available in GCC, GCC High and DoD. Every Graph call in this chapter lists the global service, US Government L4 and US Government L5 in its national cloud table. The code takes gcc as an explicit cloud name and refuses any name it doesn't know, the pattern the first workbook's Chapter 02 sets.
Sources: Microsoft Learn, "Microsoft Graph national cloud deployments," https://learn.microsoft.com/graph/deployments (accessed Oct 30, 2026). · Microsoft Learn, "Compare Azure Government and global Azure," guidance for developers, https://learn.microsoft.com/azure/azure-government/compare-azure-government-global-azure (accessed Oct 30, 2026; read for the first workbook's Chapter 02). · Microsoft Learn, "Enterprise Mobility + Security for US Government service description," EMS for US GCC customers, https://learn.microsoft.com/enterprise-mobility-security/solutions/ems-govt-service-description (accessed Oct 30, 2026). · Microsoft Learn, "Microsoft Entra feature availability," other Microsoft Entra products, https://learn.microsoft.com/entra/identity/authentication/feature-availability (accessed Oct 30, 2026). · Microsoft Learn, "List roleAssignmentScheduleInstances," https://learn.microsoft.com/graph/api/rbacapplication-list-roleassignmentscheduleinstances?view=graph-rest-1.0 (accessed Oct 30, 2026). · Microsoft Learn, "List roleEligibilitySchedules," https://learn.microsoft.com/graph/api/rbacapplication-list-roleeligibilityschedules?view=graph-rest-1.0 (accessed Oct 30, 2026). · Microsoft Learn, "List roleDefinitions," https://learn.microsoft.com/graph/api/rbacapplication-list-roledefinitions?view=graph-rest-1.0 (accessed Oct 30, 2026). · Microsoft Learn, "List unifiedRoleAssignments," https://learn.microsoft.com/graph/api/rbacapplication-list-roleassignments?view=graph-rest-1.0 (accessed Oct 30, 2026).
Workbook: Building Privileged Access, Chapter 01 — “Which cloud, for this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inventory actually read? On the Microsoft Entra side: the role definitions, so every row gets a name; the active assignments, with whether each one is assigned or activated, direct or through a group, and when it ends; the eligible assignments, with their expiration; and the members of each role-assignable group. On the Azure side, two Resource Manager collections give active and eligible role schedules for each scope you name. Everything is on the stable, generally available versions. Next, where the tier comes from.
Detail: The inventory reads three Graph collections and two Resource Manager ones. Role definitions: GET /v1.0/roleManagement/directory/roleDefinitions, for names and template IDs, including custom roles. Active assignments: GET /v1.0/roleManagement/directory/roleAssignmentScheduleInstances, every active assignment, whether made through PIM or directly, with assignmentType (Assigned or Activated), memberType (Direct, Group or Inherited) and endDateTime. Eligible assignments: GET /v1.0/roleManagement/directory/roleEligibilitySchedules, every eligibility, with its expiration. Group members: GET /v1.0/groups/{id}/members, who a role-assignable group passes its role to. Azure assignments and eligibility: GET {scope}/providers/Microsoft.Authorization/roleAssignmentSchedules and roleEligibilitySchedules, api-version=2020-10-01, active and eligible Azure roles; Learn's PowerShell for the same list uses the eligibility and assignment schedule cmdlets, and the Azure PIM REST types for role assignment and eligibility schedules are GA in 2020-10-01.
Sources: Microsoft Learn, "List roleDefinitions," https://learn.microsoft.com/graph/api/rbacapplication-list-roledefinitions?view=graph-rest-1.0 (accessed Oct 30, 2026). · Microsoft Learn, "List roleAssignmentScheduleInstances," https://learn.microsoft.com/graph/api/rbacapplication-list-roleassignmentscheduleinstances?view=graph-rest-1.0 (accessed Oct 30, 2026). · Microsoft Learn, "unifiedRoleAssignmentScheduleInstance resource type," properties, https://learn.microsoft.com/graph/api/resources/unifiedroleassignmentscheduleinstance?view=graph-rest-1.0 (accessed Oct 30, 2026). · Microsoft Learn, "List roleEligibilitySchedules," https://learn.microsoft.com/graph/api/rbacapplication-list-roleeligibilityschedules?view=graph-rest-1.0 (accessed Oct 30, 2026). · Microsoft Learn, "List group members," permissions and the known issue for service principals in v1.0, https://learn.microsoft.com/graph/api/group-list-members?view=graph-rest-1.0 (accessed Oct 31, 2026). · Microsoft Learn, "Eligible and time-bound role assignments in Azure RBAC," how to list eligible and time-bound role assignments, https://learn.microsoft.com/azure/role-based-access-control/pim-integration (accessed Oct 30, 2026). · Microsoft Learn, "API versions of Azure RBAC REST APIs," release notes for 2020-10-01, https://learn.microsoft.com/rest/api/authorization/versions (accessed Oct 30, 2026).
Workbook: Building Privileged Access, Chapter 01 — “What the inventory has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tier come from? Not from Microsoft. Microsoft does label some roles as privileged, but that label is still a preview, read through the beta endpoint, so the program treats it as an input, not the answer. The tiers live in a small file the program owns, keyed by each role's template identifier, which is the same in every tenant. Any role that isn't in the file is reported as unclassified, never assumed safe. Azure roles get their tier from Book 04's placement table, by role and by scope. Both are labeled design guidance.
Detail: The tier comes from the program, not from Microsoft. Microsoft marks some Entra roles PRIVILEGED, but the label is a preview and listing it through Graph uses the beta endpoint (isPrivileged on role definitions); Book 04 treats it as an input to tiering, not the tier itself. The example keeps Book 04's tiers in config/tiers.json, keyed by each role's template identifier, which is the same in every tenant (Appendix B, role template IDs). A role that isn't in the file is reported as unclassified, never assumed safe. Design guidance. Azure rows get their tier from Book 04, Chapter 04's placement table: a role that can assign roles at root or management group scope is T0, any privileged administrator role on a subscription you list as control plane (identity, PIM evidence, the log workspace) is T0, Owner or Contributor on a workload subscription is T1, other roles are T2, and Reader is read-only. Learn's privileged administrator roles are Owner, Contributor, Reservations Administrator, Role Based Access Control Administrator and User Access Administrator. Design guidance for the placements.
Sources: Microsoft Learn, "Privileged roles and permissions in Microsoft Entra ID (preview)," https://learn.microsoft.com/entra/identity/role-based-access-control/privileged-roles-permissions (accessed Oct 30, 2026). · Microsoft Learn, "Azure built-in roles," privileged and general, https://learn.microsoft.com/azure/role-based-access-control/built-in-roles, and "Azure built-in roles for Privileged," https://learn.microsoft.com/azure/role-based-access-control/built-in-roles/privileged (accessed Oct 30, 2026).
Workbook: Building Privileged Access, Chapter 01 — “What the inventory has to hold”; “The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Learn's page on listing role assignments. It covers the admin center, PowerShell and Graph itself, and its all-roles sample reads every role definition, then lists each role's assignments one by one. For Azure, Learn says there's no single command for both kinds, so you list eligible and active schedules separately. Those samples only live inside the web page, so the repository pins the page's source unmodified, checks its hash in a test, and watches for upstream changes. A harness then runs the samples, exactly as published, against stand-ins. Nothing signs in.
Detail: Learn's page "List Microsoft Entra role assignments" is Microsoft's procedure for this read. It covers the admin center, Microsoft Graph PowerShell and the Graph API: assignments for one role, across all roles, for a principal (direct and, through a beta API, transitive), for a group, and at administrative unit scope. Its all-roles PowerShell sample reads every role definition with Get-MgRoleManagementDirectoryRoleDefinition and then lists each role's assignments with Get-MgRoleManagementDirectoryRoleAssignment. The admin center also downloads all active assignments as a CSV through a bulk operation, which Learn says runs for up to an hour and has limits in large tenants. Learn's Azure page, "Eligible and time-bound role assignments in Azure RBAC," says there's no single PowerShell command for both kinds and lists eligible assignments with Get-AzRoleEligibilitySchedule and active ones with Get-AzRoleAssignmentSchedule. The example's Resource Manager calls are the REST form of those two cmdlets. The pinned copy: the samples exist only inside the Learn page, so the repository pins the page's source, unmodified, in examples/third_party/entra-role-assignments-page: view-assignments.md from MicrosoftDocs/entra-docs at commit 07cb73d (October 30, 2026), retrieved October 30, 2026, with the repository's MIT licenses. snapshot.json records each file's SHA-256, checked against the upstream git blob hashes, and a unit test checks them. The weekly source watch reports new commits to the page. Updating the copy is a reviewed pull request. tests/LearnSampleHarness.ps1 extracts the PowerShell samples from the pinned page at test time and runs them unmodified against stand-ins for Connect-MgGraph and the two cmdlets. The stand-ins record their parameters and answer from the fixture tenant's active assignments, which is what the List unifiedRoleAssignments API returns. Nothing is installed and nothing signs in.
Sources: Microsoft Learn, "List Microsoft Entra role assignments," https://learn.microsoft.com/entra/identity/role-based-access-control/view-assignments (accessed Oct 30, 2026). · Microsoft Learn, "Eligible and time-bound role assignments in Azure RBAC," how to list eligible and time-bound role assignments, https://learn.microsoft.com/azure/role-based-access-control/pim-integration (accessed Oct 30, 2026). · Microsoft, MicrosoftDocs/entra-docs, docs/identity/role-based-access-control/view-assignments.md at commit 07cb73d6c6380414eecd040ba5e14c1c94d48b66 (October 30, 2026; the page last changed February 24, 2026), MIT License, https://github.com/MicrosoftDocs/entra-docs/blob/07cb73d6c6380414eecd040ba5e14c1c94d48b66/docs/identity/role-based-access-control/view-assignments.md (accessed Oct 30, 2026); pinned copy in examples/third_party/entra-role-assignments-page. · Microsoft Learn, "List unifiedRoleAssignments," https://learn.microsoft.com/graph/api/rbacapplication-list-roleassignments?view=graph-rest-1.0 (accessed Oct 30, 2026).
Workbook: Building Privileged Access, Chapter 01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against the fixture tenant, Learn's sample lists the active assignments well, so that part is kept as the model. But it can't see eligibility at all, and under PIM eligibility is where almost every human holder ends up, so an active-only list shrinks as the project succeeds and stops being an inventory. It also makes one call per role, never asks for every page, and treats a group as a single holder, so the people behind it are invisible. Each of those misses is pinned by a test.
Detail: Running the samples against the fixture tenant shows what they do and what they leave out. Each row is pinned by a test: in tests/MicrosoftSamples.Tests.ps1 for the sample, and in tests/PrivilegedInventory.Tests.ps1 for the example. Lists every active assignment across all roles: kept as the model, through roleAssignmentScheduleInstances, which returns the same active assignments with assignmentType and endDateTime. Sees no eligible assignment, the fixture's eligible-only holders are missing: under PIM almost every human holder is eligible, so an active-only list shrinks as the project succeeds and stops being an inventory; the example reads roleEligibilitySchedules and reports permanent eligibility (PA-INV-06). One assignment call per role definition, plus one for the definitions: more than a hundred calls for one list, each a chance to be throttled; the example makes one paged call per collection. Passes neither -All nor -PageSize: the cmdlet's reference lists -All as the switch that lists all pages, off by default, so each call can stop at the first page; the example follows @odata.nextLink and Resource Manager's nextLink, only on the cloud's own host, as Learn's paging guidance asks. Returns a role-assignable group as one principal and never reads its members: the people who hold the role are invisible; the example expands each group once, marks member rows Via Group, and never drops a member it can't name (PA-INV-09).
Sources: Microsoft Learn, "List roleAssignmentScheduleInstances," https://learn.microsoft.com/graph/api/rbacapplication-list-roleassignmentscheduleinstances?view=graph-rest-1.0 (accessed Oct 30, 2026). · Microsoft Learn, "Get-MgRoleManagementDirectoryRoleAssignment," syntax and the -All and -PageSize parameters, https://learn.microsoft.com/powershell/module/microsoft.graph.identity.governance/get-mgrolemanagementdirectoryroleassignment (accessed Oct 31, 2026). · Microsoft Learn, "Page through a collection using the Microsoft Graph SDKs," https://learn.microsoft.com/graph/sdks/paging (accessed Oct 30, 2026; read for the first workbook's Chapter 02).
Workbook: Building Privileged Access, Chapter 01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trust and reach. The sample prints raw identifiers with no names and no tier, and a reviewer can't act on an identifier. It signs in without naming a cloud or limiting its permissions. Its transitive read uses beta on a hard-coded worldwide host, which is wrong for the government clouds. And it says nothing about Azure, where Owner and User Access Administrator are just as privileged. So the verdict is: keep Learn's page as the model and the cross-check, but don't use its loop as the inventory.
Detail: Prints role definition and principal IDs, no names, no tier: a reviewer can't act on a GUID; the example adds names from the definitions and the expanded principal, a tier from config/tiers.json, and Unclassified for anything else (PA-INV-05). Signs in with Connect-MgGraph and no environment or scopes: the worldwide cloud and whatever scopes the session already has; the example uses an explicit cloud, the call list in config/calls.json with each call's least-privileged permission, and a refusal of any call the task doesn't declare. Reads transitive assignments from beta, on a hard-coded graph.microsoft.com: beta can change, and the host is wrong for GCC High and DoD; the example uses v1.0 only, with the host from the cloud table. Nothing for Azure: Owner, User Access Administrator and Contributor are privileged too; the example reads Resource Manager schedules by scope, placed in tiers by role and scope, with PA-INV-07 and PA-INV-08. The verdict: use Learn's page as the model for what to read and as the admin center's cross-check (Lab 2 compares the two). Don't use its all-roles loop for the inventory: it can't see eligibility, which is the state the project is moving every human assignment into.
Sources: Microsoft Learn, "Versioning, support, and breaking change policies for Microsoft Graph," https://learn.microsoft.com/graph/versioning-and-support (accessed Oct 30, 2026; read for the first workbook's Chapter 02). · Microsoft Learn, "Azure built-in roles," privileged and general, https://learn.microsoft.com/azure/role-based-access-control/built-in-roles, and "Azure built-in roles for Privileged," https://learn.microsoft.com/azure/role-based-access-control/built-in-roles/privileged (accessed Oct 30, 2026). · Microsoft Learn, "List Microsoft Entra role assignments," https://learn.microsoft.com/entra/identity/role-based-access-control/view-assignments (accessed Oct 30, 2026).
Workbook: Building Privileged Access, Chapter 01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one PowerShell module, two entry scripts, the call list and the tier map. Every call goes through one reader, built for one task in one cloud, and the only thing that touches the network is a small script block you hand it: a live one for real runs, or a fake for labs and tests. The reader enforces four rules, shown on the slide. It only makes calls the task declares, only reads, only sends its token to the cloud's own host, and always reads to the last page.
Detail: examples/privileged-access is new. It is one PowerShell module, powershell/PrivilegedAccess/PrivilegedAccess.psm1, two entry scripts, the call list and the tier map. This chapter's entry script is Invoke-PaInventory.ps1. Every call goes through one reader, built for one task in one cloud: New-PaReader -Cloud gcc -Task inventory -Invoke &lt;script block&gt;. The script block is the only thing that touches the network: New-PaLiveInvoker for a real run, which uses Invoke-MgGraphRequest and Invoke-AzRestMethod and refuses to start if either session is signed in to another cloud, or New-PaFixtureInvoker for labs and tests. The reader enforces four rules. Only declared calls: config/calls.json lists each call with its method, version, path, least-privileged permission (or Azure role), stage and Learn page; a call the task doesn't declare throws before anything is sent. GET only: the reader refuses any other method, and so does the fake. One host: every URL, including every next link, must start with the cloud's own Graph or Resource Manager host, or the token isn't sent. Every page: collections are followed to the end; the fake serves pages of two by default, so the tests exercise paging on every collection.
Sources: Microsoft Learn, "Page through a collection using the Microsoft Graph SDKs," https://learn.microsoft.com/graph/sdks/paging (accessed Oct 30, 2026; read for the first workbook's Chapter 02).
Workbook: Building Privileged Access, Chapter 01 — “The code: examples/privileged-access”;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out is one row per assignment, with everything a reviewer needs on it: which plane, which role and tier, which scope, what state it's in, when it ends, and whether it arrived directly or through a group. The subtle part is counting each assignment exactly once. Microsoft returns group-delivered assignments as their own active rows, but the code expands the group itself, so it skips those. And Azure returns the same schedule from more than one scope, so the code removes duplicates and skips inherited rows. Next, the findings.
Detail: Get-PaPrivilegedInventory returns one row per assignment: plane (Entra or Azure), role, tier, scope, state (ActivePermanent, ActiveTimeBound, Activated, Eligible or EligiblePermanent), end date, principal, and whether it came directly or through a group. Active instances with memberType Group are skipped, because the example expands the group itself and would otherwise count its members twice. Azure schedules are read for each scope you list and de-duplicated by ID, because a list at one scope also returns schedules above and below it; schedules with memberType Inherited are skipped for the same reason (research gaps, row 3).
Sources: Microsoft Learn, "unifiedRoleAssignmentScheduleInstance resource type," properties, https://learn.microsoft.com/graph/api/resources/unifiedroleassignmentscheduleinstance?view=graph-rest-1.0 (accessed Oct 30, 2026).
Workbook: Building Privileged Access, Chapter 01 — “The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Test-PaInventory turns those rows into the nine findings on the slide. Two thresholds come straight from Learn: fewer than five Global Administrators, and no more than three owners on a subscription. Learn also backs the biggest one, standing privilege in the top tiers outside a short, owned exceptions list, and the root-scope finding, because elevating access hands someone User Access Administrator over every subscription. The rest are the program's own design, labeled that way: roles assigned straight to people, badly named groups, unmapped roles, and eligibility that never ends.
Detail: Test-PaInventory turns the rows into findings. Two thresholds are Learn's; the rest are the program's. PA-INV-01 Finding (Info when on the exceptions list): permanent active T0 or T1, in Entra or Azure, outside exceptions.csv; an exception with no owner doesn't count (Learn: zero permanently active assignments except the emergency accounts). PA-INV-02 Warn: an Entra role assigned straight to a user (design guidance, roles reach people through PRV groups; Learn recommends groups for role assignments). PA-INV-03 Warn: a group holding a role that isn't named PRV-&lt;tier&gt;-... for that tier (design guidance). PA-INV-04 Finding: five or more principals with Global Administrator, active or eligible, group members counted (Learn: fewer than five). PA-INV-05 Warn: a role that isn't in the tier map (design guidance). PA-INV-06 Warn: eligibility with no end date (design guidance; Appendix B bounds eligibility by tier). PA-INV-07 Finding: User Access Administrator at root scope (/), which is what elevate access grants (Learn: a Global Administrator who elevates gets User Access Administrator on all subscriptions; Book 04 treats it as a Tier 0 event). PA-INV-08 Finding: more than three Owners on a subscription (Learn: a maximum of three subscription owners). PA-INV-09 Warn: a group member returned with ID and type only (Learn: limited information for inaccessible member objects).
Sources: Microsoft Learn, "Plan a Privileged Identity Management deployment," understand PIM, type of assignments, https://learn.microsoft.com/entra/id-governance/privileged-identity-management/pim-deployment-plan (accessed Oct 30, 2026). · Microsoft Learn, "Best practices for Microsoft Entra roles," sections 5 to 7, https://learn.microsoft.com/entra/identity/role-based-access-control/best-practices (accessed Oct 30, 2026). · Microsoft Learn, "Azure roles, Microsoft Entra roles, and classic subscription administrator roles," do Azure roles and Microsoft Entra roles overlap, https://learn.microsoft.com/azure/role-based-access-control/rbac-and-directory-admin-roles (accessed Oct 30, 2026). · Microsoft Learn, "Best practices for Azure RBAC," limit the number of subscription owners, https://learn.microsoft.com/azure/role-based-access-control/best-practices (accessed Oct 30, 2026). · Microsoft Learn, "Overview of Microsoft Graph permissions," limited information returned for inaccessible member objects, https://learn.microsoft.com/graph/permissions-overview (accessed Oct 30, 2026).
Workbook: Building Privileged Access, Chapter 01 — “The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writes the inventory, the findings and a manifest the reviewer can check: which task, which cloud, every request with its time, and a hash of every file. The manifest names no one, but the inventory does, so treat the folder as sensitive. The chapter's tests run with no tenant at all. And here's an honest gap: Learn documents that the stable members call doesn't return service principals in a group. Neither workaround fits the reader's rules, so that gap is recorded rather than quietly papered over.
Detail: The run and its manifest: Invoke-PaInventory.ps1 reads, classifies, finds, and writes inventory.json, inventory.csv, findings.json and manifest.json. The manifest records the task, the mode (Fixture or Live), the cloud, the tenant ID if you give one, the permissions the task needs, every request with its time, and the SHA-256 of each file. It names no one; the inventory does, so treat the run's folder as sensitive. The tests: Pester 5 under PowerShell 7, 78 tests in three files, none needing a module, a tenant or a network. This chapter's are tests/MicrosoftSamples.Tests.ps1, 9 tests in the Chapter 01 block (Learn's samples, run as published), and tests/PrivilegedInventory.Tests.ps1, 33 tests: clouds and the call list, refused calls and hosts, paging with page sizes of 1, 2 and 50, eligible and activated states, group expansion, tiers, Azure de-duplication, each finding, the whole fixture's counts, and the manifest's hashes. The other 7 sample tests and the 29 in tests/EmergencyAccess.Tests.ps1 are Chapter 02's. Verified facts: no two Learn pages read for this chapter disagree on a fact the code depends on. The paging question first raised on October 30, 2026 (research gaps, row 1) is narrower now: the full reference page for Get-MgRoleManagementDirectoryRoleAssignment lists both -PageSize and -All, and describes -All as listing all pages, with a default of off. Learn doesn't state in words what a call without -All returns; the switch's default is the evidence that the sample's loop can stop at the first page of each role. The example doesn't depend on the answer, because it reads through Graph and follows the next links itself. One Learn caveat touches the group expansion: the List group members page carries a known issue; on v1.0, the call doesn't return service principals that are members of the group, and Learn's workarounds are the beta endpoint or /groups/{id}?$expand=members. The example reads members through v1.0, so a service principal placed in a role-assignable group isn't in the inventory and PA-INV-09 doesn't fire for it. Neither workaround fits the call list as it stands (beta isn't allowed, and Learn's query limits say $expand on directory-object relationships returns at most 20 objects with no next link), so the gap is recorded rather than closed here (research gaps, row 91).
Sources: Microsoft Learn, "List group members," permissions and the known issue for service principals in v1.0, https://learn.microsoft.com/graph/api/group-list-members?view=graph-rest-1.0 (accessed Oct 31, 2026). · Microsoft Learn, "Known issues in Microsoft Graph," GET /groups/{id}/members doesn't return service principals in v1.0, and query parameter limitations for $expand, https://learn.microsoft.com/graph/known-issues#get-groupsidmembers-doesnt-return-service-principals-in-v10 (accessed Oct 31, 2026). · Microsoft Learn, "Get-MgRoleManagementDirectoryRoleAssignment," syntax and the -All and -PageSize parameters, https://learn.microsoft.com/powershell/module/microsoft.graph.identity.governance/get-mgrolemanagementdirectoryroleassignment (accessed Oct 31, 2026).
Workbook: Building Privileged Access, Chapter 01 — “The run and its manifest”; “The tests”;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read path. Identity engineers and the I S S O's review what it produces. The app's permissions are the union of its calls, each the least privileged for the job, and nothing in the list can write. One choice is worth noticing: the basic user read permission is added alongside group members, because without it, Learn says, a member comes back with only an identifier and a type. If a member still comes back unnamed, the code keeps the row and raises a warning rather than dropping someone who holds a role.
Detail: Audience: developers who build the project's read path, and the identity engineers and ISSOs who review it. You should read PowerShell 7 and know what a role assignment is. You don't need a tenant until Lab 2. The inventory's permissions are the union of its calls: List roleDefinitions needs RoleManagement.Read.Directory (delegated: Directory Readers, Global Reader or Privileged Role Administrator). List roleAssignmentScheduleInstances needs RoleAssignmentSchedule.Read.Directory (Global Reader, read). List roleEligibilitySchedules needs RoleEligibilitySchedule.Read.Directory (Global Reader, read). List group members needs GroupMember.ReadBasic.All, with User.ReadBasic.All so user members come back with names (group owners or members, or a role with members read). Azure schedules need Reader on each scope (*/read). The User.ReadBasic.All row matters. Learn says that when an app can read a group's membership but not a member's object type, the member comes back with only its id and @odata.type. The example asks for the extra permission, and if a member still comes back unnamed it keeps the row and raises PA-INV-09 rather than dropping someone who holds a role.
Sources: Microsoft Learn, "List roleDefinitions," https://learn.microsoft.com/graph/api/rbacapplication-list-roledefinitions?view=graph-rest-1.0 (accessed Oct 30, 2026). · Microsoft Learn, "List roleAssignmentScheduleInstances," https://learn.microsoft.com/graph/api/rbacapplication-list-roleassignmentscheduleinstances?view=graph-rest-1.0 (accessed Oct 30, 2026). · Microsoft Learn, "List roleEligibilitySchedules," https://learn.microsoft.com/graph/api/rbacapplication-list-roleeligibilityschedules?view=graph-rest-1.0 (accessed Oct 30, 2026). · Microsoft Learn, "List group members," permissions and the known issue for service principals in v1.0, https://learn.microsoft.com/graph/api/group-list-members?view=graph-rest-1.0 (accessed Oct 31, 2026). · Microsoft Learn, "Overview of Microsoft Graph permissions," limited information returned for inaccessible member objects, https://learn.microsoft.com/graph/permissions-overview (accessed Oct 30, 2026). · Microsoft Learn, "Azure built-in roles," privileged and general, https://learn.microsoft.com/azure/role-based-access-control/built-in-roles, and "Azure built-in roles for Privileged," https://learn.microsoft.com/azure/role-based-access-control/built-in-roles/privileged (accessed Oct 30, 2026).
Workbook: Building Privileged Access, Chapter 01 — “Goal and audience”; “The reader” —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no network. First you run Learn's own samples against the stand-ins, and one test shows what you'd otherwise take on trust: the eligible-only holders simply never appear. Then you list the permissions, five of them, and none can write. Finally you run the inventory against a fictional tenant with three Azure scopes. It returns thirty rows across the tiers, ten findings, seven warnings and one informational item. Let's read those findings.
Detail: You need PowerShell 7.1 or later with Pester 5. Work in examples/privileged-access. Step 1, run Learn's samples against the stand-ins: Invoke-Pester -Path tests/MicrosoftSamples.Tests.ps1 -FullNameFilter '*Chapter 01*' -Output None -PassThru | Select-Object PassedCount, FailedCount, NotRunCount gives PassedCount 9, FailedCount 0, NotRunCount 7 (the seven are Chapter 02's). Open the test file and read the second test: the fixture's eligible-only holders never appear in the sample's output. Step 2, list the permissions the inventory needs: Import-Module ./powershell/PrivilegedAccess/PrivilegedAccess.psm1, then (Get-PaRequiredPermission -Task inventory).GraphPermissions -join ', ' gives GroupMember.ReadBasic.All, RoleAssignmentSchedule.Read.Directory, RoleEligibilitySchedule.Read.Directory, RoleManagement.Read.Directory, User.ReadBasic.All. Nothing ends in ReadWrite. Step 3, run the inventory against the fictional tenant: ./Invoke-PaInventory.ps1 -FixturePath tests/fixtures/tenant.json -OutputPath out/inventory -AzureScope /subscriptions/11111111-1111-4111-8111-111111111111, /providers/Microsoft.Management/managementGroups/contoso-root, /subscriptions/22222222-2222-4222-8222-222222222222 -ExceptionsPath tests/fixtures/inputs/exceptions.csv -ControlPlaneSubscriptionId 22222222-2222-4222-8222-222222222222. Output: "Assignments: 30 rows (Azure T0=4, Azure T1=5, Azure T2=1, Entra T0=8, Entra T1=2, Entra T2=2, Entra Unclassified=1)"; "Findings: 10 Finding, 7 Warn, 1 Info"; "Written to out/inventory (manifest.json lists every request and file hash)." Illustrative code: the commands run Learn's pinned samples against stand-ins, and the example against a fictional tenant served by a fake. They show what the code does, not that a tenant returns the same shapes. Review the code, and run Lab 2 in a test tenant, before it reads a real one.
Sources: Building Privileged Access, Chapter 01, docs/project-plans/developer-workbooks/privileged-access/01-privileged-inventory-as-code.md
Workbook: Building Privileged Access, Chapter 01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real. Seven rows are standing privilege in the top tiers, including a service principal whose exception nobody owns, so the exception doesn't count. One Global Administrator also elevated to root. There are five Global Administrators once the group's members are counted, and five owners on one subscription. The emergency account is only informational, because it's a listed exception with an owner. Then you watch the reader refuse an undeclared call and an unknown cloud. The whole suite passes, three hundred thirty tests.
Detail: Step 4, read the findings: Get-Content out/inventory/findings.json -Raw | ConvertFrom-Json | Where-Object Severity -eq 'Finding' | Format-Table Rule, Object. Seven PA-INV-01 rows (a standing Global Administrator, the mail automation service principal whose exception has no owner, two standing subscription Owners, a standing User Access Administrator at the management group, the same Global Administrator's User Access Administrator at root, and a log-export service principal with standing Contributor on the control-plane subscription), PA-INV-07 for the root-scope elevation, PA-INV-04 (five Global Administrators, one of them through PRV-T0-GlobalAdmin), and PA-INV-08 (five Owners on the workload subscription). Azure rows show object IDs, because Resource Manager returns IDs, not names. The emergency account ea01 is Info, not a Finding: it's on the exceptions list with an owner. Step 5, see the reader refuse: $r = New-PaReader -Cloud gcc -Task inventory -Invoke (New-PaFixtureInvoker -Path tests/fixtures/tenant.json).Invoke; Invoke-PaList -Reader $r -CallId ca-policies; Get-PaCloud GCCHigh. Two errors: "Undeclared call 'ca-policies' for task 'inventory'; add it to config/calls.json with its permission." and "Unknown cloud 'GCCHigh'. Use global, gcc, gcchigh or dod." Step 6, run the tests: Invoke-Pester -Path tests. Expected result: 330 tests passing, every row of the gap table seen with your own eyes, and out/inventory/manifest.json listing 24 GET requests. Delete out when you're done.
Sources: Building Privileged Access, Chapter 01, docs/project-plans/developer-workbooks/privileged-access/01-privileged-inventory-as-code.md
Workbook: Building Privileged Access, Chapter 01 — “Lab 1: fixtures, no tenant,” steps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it only reads. You register the app in the tenant's own cloud with a certificate, grant exactly the five permissions plus Reader on a test subscription, sign in, and run. Then comes the useful part: download the admin center's list of assignments, as Learn describes, and compare. Every active row should be in the inventory, and the inventory should also hold the eligible rows the download can't see. Check the two assumptions the fixture made, then back everything out.
Detail: Use a test tenant in the worldwide or GCC cloud with a test Azure subscription, never production, with fictional people. The run only reads. 1 Register the app in the tenant's own cloud. For a GCC tenant that's the worldwide Microsoft Entra admin center. Add a certificate credential, not a secret. 2 Grant the five application permissions from Lab 1, step 2, and grant admin consent. Nothing else. 3 Grant Reader to the app's service principal on the test subscription. 4 Sign in and run: Connect-MgGraph -Environment Global -TenantId &lt;tenant-id&gt; -ClientId &lt;app-id&gt; -CertificateThumbprint &lt;thumbprint&gt;; Connect-AzAccount -ServicePrincipal -Environment AzureCloud -Tenant &lt;tenant-id&gt; -ApplicationId &lt;app-id&gt; -CertificateThumbprint &lt;thumbprint&gt;; ./Invoke-PaInventory.ps1 -Cloud gcc -OutputPath out/inventory-test -AzureScope /subscriptions/&lt;test-subscription-id&gt; -TenantId &lt;tenant-id&gt;. 5 Cross-check against the admin center: on Roles and administrators, select Download assignments for all roles, as Learn's procedure describes. Every active row in the CSV should be in inventory.csv, and inventory.csv should hold the eligible rows the CSV doesn't. 6 Check the two things the fixture assumed: open inventory.json and confirm that rows read with $expand=principal have a principal type (research gaps, row 2), and that each Azure schedule appears once. 7 Back it out: remove the Reader assignment and the five permissions, delete the app registration and its certificate, and delete out/inventory-test: it holds the tenant's privileged holders.
Sources: Microsoft Learn, "List Microsoft Entra role assignments," https://learn.microsoft.com/entra/identity/role-based-access-control/view-assignments (accessed Oct 30, 2026).
Workbook: Building Privileged Access, Chapter 01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in the code, and most of them are about something quietly going missing. The worst is an active-only inventory: as the project succeeds, the list shrinks, and the gate passes on an empty table. Close behind are a group counted as one person, a member dropped because its name couldn't be read, and an exceptions list nobody owns. Notice the one honest gap: service principals in a group aren't returned at all. And remember the inventory itself is sensitive, because it names every privileged holder.
Detail: An active-only inventory: as holders become eligible, the list shrinks and Gate 0 passes on an empty table; guard: eligibility read and reported, and a test pins that the sample misses it. A group counted as one holder: the people behind PRV-T0-GlobalAdmin aren't reviewed or counted; guard: groups expanded, members marked Via Group, counted in PA-INV-04. A member dropped because its name wasn't readable: someone holds a role and isn't in the inventory; guard: rows kept with the ID, and PA-INV-09 says which permission is missing. Not guarded: a service principal member, which v1.0 doesn't return at all (see Verified facts). A custom role treated as harmless: a custom role with privileged permissions sits outside every tier; guard: Unclassified, PA-INV-05, never a default tier. An exception list nobody owns: standing privilege hides behind an "exception"; guard: an exception without an owner doesn't count (PA-INV-01). Reading only some Azure scopes: a management group or subscription you didn't list isn't read; guard: the manifest lists every request, so the reviewer sees the scopes read; discovering every scope is open (research gaps, row 4). Counting an Azure assignment twice: a schedule returned at two scopes inflates Owner counts; guard: de-duplicated by schedule ID, inherited rows skipped. The wrong cloud: a GCC High run reads graph.microsoft.com, or the token goes to another host; guard: explicit cloud, no default, host checked on every page, live sessions checked before the run. A broad permission: Directory.Read.All or a write permission granted "to make it work"; guard: the call list, and the test pins the task's exact permissions, none ReadWrite. The inventory as a leak: the folder names every privileged holder; guard: the manifest names no one, and Lab 2 deletes the output.
Sources: Microsoft Learn, "Known issues in Microsoft Graph," GET /groups/{id}/members doesn't return service principals in v1.0, and query parameter limitations for $expand, https://learn.microsoft.com/graph/known-issues#get-groupsidmembers-doesnt-return-service-principals-in-v10 (accessed Oct 31, 2026).
Workbook: Building Privileged Access, Chapter 01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inventory reads eligible as well as active assignments, and its counts match what the admin center and PIM show. Every group is expanded with nobody dropped, every role has a tier or an owned decision, and the exceptions list is short and owned. On the other side, the app holds exactly its five permissions and Reader with a certificate, the cloud is explicit, and the evidence hashes match. Next, Chapter 2 builds the emergency access accounts, the one exception this inventory lets through. Thanks for watching.
Detail: Checklist: the run reads eligible as well as active assignments, and the counts by state match the admin center's download plus PIM's eligible list. Every role-assignable group is expanded, and no member was dropped. Every role in the tenant is in config/tiers.json, or its PA-INV-05 has an owner and a decision. exceptions.csv lists only the emergency accounts and service principals that can't activate, each with an owner and a reason. The Azure scopes read are the agency's whole hierarchy, or the gap is written down. The app holds exactly the five Graph permissions and Reader, with a certificate or managed identity, never a secret. The cloud is explicit, and nothing in a GCC configuration is a .us host. The manifest's hashes match the files handed to the ISSO. The pinned Learn page matches its manifest, and every upstream commit since the pin has been reviewed. Next: Chapter 02 — Emergency Access Accounts as Code.
Sources: Microsoft Learn, "Plan a Privileged Identity Management deployment," understand PIM, type of assignments, https://learn.microsoft.com/entra/id-governance/privileged-identity-management/pim-deployment-plan (accessed Oct 30, 2026).
Workbook: Building Privileged Access, Chapter 01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docs/project-plans/developer-workbooks/privileged-access/01-privileged-inventory-as-code.md.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docs/project-plans/developer-workbooks/privileged-access/01-privileged-inventory-as-code.md.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01: Privileged Inventory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first · what it reads · Learn's samples and their gaps · reader, rows, findings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inventory comes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Gate 0: standing administrative privilege inventoried and classified by tier.</a:t>
            </a:r>
            <a:endParaRPr lang="en-US" sz="1800" dirty="0"/>
          </a:p>
        </p:txBody>
      </p:sp>
      <p:sp>
        <p:nvSpPr>
          <p:cNvPr id="6" name="Panel Four ways a role reaches a person" descr="">
            <a:extLst>
              <a:ext uri="{C183D7F6-B498-43B3-948B-1728B52AA6E4}">
                <adec:decorative xmlns:adec="http://schemas.microsoft.com/office/drawing/2017/decorative" val="1"/>
              </a:ext>
            </a:extLst>
          </p:cNvPr>
          <p:cNvSpPr/>
          <p:nvPr/>
        </p:nvSpPr>
        <p:spPr>
          <a:xfrm>
            <a:off x="548640" y="1837944"/>
            <a:ext cx="5417820" cy="2574036"/>
          </a:xfrm>
          <a:prstGeom prst="roundRect">
            <a:avLst>
              <a:gd name="adj" fmla="val 284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Four ways a role reaches a person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FOUR WAYS A ROLE REACHES A PERSON</a:t>
            </a:r>
            <a:endParaRPr lang="en-US" sz="1100" dirty="0"/>
          </a:p>
        </p:txBody>
      </p:sp>
      <p:sp>
        <p:nvSpPr>
          <p:cNvPr id="8" name="Panel Four ways a role reaches a person list"/>
          <p:cNvSpPr txBox="1"/>
          <p:nvPr/>
        </p:nvSpPr>
        <p:spPr>
          <a:xfrm>
            <a:off x="731520" y="2249424"/>
            <a:ext cx="5097780" cy="211683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Permanent eligible and permanent active</a:t>
            </a:r>
            <a:endParaRPr lang="en-US" sz="1650" dirty="0"/>
          </a:p>
          <a:p>
            <a:pPr marL="342900" indent="-342900">
              <a:spcAft>
                <a:spcPts val="400"/>
              </a:spcAft>
              <a:buSzPct val="100000"/>
              <a:buChar char="•"/>
            </a:pPr>
            <a:r>
              <a:rPr lang="en-US" sz="1650" dirty="0">
                <a:solidFill>
                  <a:srgbClr val="334155"/>
                </a:solidFill>
              </a:rPr>
              <a:t>Time-bound eligible and time-bound active</a:t>
            </a:r>
            <a:endParaRPr lang="en-US" sz="1650" dirty="0"/>
          </a:p>
          <a:p>
            <a:pPr marL="342900" indent="-342900">
              <a:spcAft>
                <a:spcPts val="400"/>
              </a:spcAft>
              <a:buSzPct val="100000"/>
              <a:buChar char="•"/>
            </a:pPr>
            <a:r>
              <a:rPr lang="en-US" sz="1650" dirty="0">
                <a:solidFill>
                  <a:srgbClr val="334155"/>
                </a:solidFill>
              </a:rPr>
              <a:t>An activated eligibility shows as active for its window</a:t>
            </a:r>
            <a:endParaRPr lang="en-US" sz="1650" dirty="0"/>
          </a:p>
          <a:p>
            <a:pPr marL="342900" indent="-342900">
              <a:spcAft>
                <a:spcPts val="400"/>
              </a:spcAft>
              <a:buSzPct val="100000"/>
              <a:buChar char="•"/>
            </a:pPr>
            <a:r>
              <a:rPr lang="en-US" sz="1650" dirty="0">
                <a:solidFill>
                  <a:srgbClr val="334155"/>
                </a:solidFill>
              </a:rPr>
              <a:t>A role on a role-assignable group reaches every member</a:t>
            </a:r>
            <a:endParaRPr lang="en-US" sz="1650" dirty="0"/>
          </a:p>
        </p:txBody>
      </p:sp>
      <p:sp>
        <p:nvSpPr>
          <p:cNvPr id="9" name="Panel What the program wants" descr="">
            <a:extLst>
              <a:ext uri="{C183D7F6-B498-43B3-948B-1728B52AA6E4}">
                <adec:decorative xmlns:adec="http://schemas.microsoft.com/office/drawing/2017/decorative" val="1"/>
              </a:ext>
            </a:extLst>
          </p:cNvPr>
          <p:cNvSpPr/>
          <p:nvPr/>
        </p:nvSpPr>
        <p:spPr>
          <a:xfrm>
            <a:off x="6240780" y="1837944"/>
            <a:ext cx="5417820" cy="2574036"/>
          </a:xfrm>
          <a:prstGeom prst="roundRect">
            <a:avLst>
              <a:gd name="adj" fmla="val 284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What the program wants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THE PROGRAM WANTS</a:t>
            </a:r>
            <a:endParaRPr lang="en-US" sz="1100" dirty="0"/>
          </a:p>
        </p:txBody>
      </p:sp>
      <p:sp>
        <p:nvSpPr>
          <p:cNvPr id="11" name="Panel What the program wants list"/>
          <p:cNvSpPr txBox="1"/>
          <p:nvPr/>
        </p:nvSpPr>
        <p:spPr>
          <a:xfrm>
            <a:off x="6423660" y="2249424"/>
            <a:ext cx="5097780" cy="211683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 zero permanently active assignments, except the emergency access accounts</a:t>
            </a:r>
            <a:endParaRPr lang="en-US" sz="1650" dirty="0"/>
          </a:p>
          <a:p>
            <a:pPr marL="342900" indent="-342900">
              <a:spcAft>
                <a:spcPts val="400"/>
              </a:spcAft>
              <a:buSzPct val="100000"/>
              <a:buChar char="•"/>
            </a:pPr>
            <a:r>
              <a:rPr lang="en-US" sz="1650" dirty="0">
                <a:solidFill>
                  <a:srgbClr val="334155"/>
                </a:solidFill>
              </a:rPr>
              <a:t>Book 04, Ch 04: roles go to PRV-&lt;tier&gt;-&lt;role&gt; groups, never to a person</a:t>
            </a:r>
            <a:endParaRPr lang="en-US" sz="1650" dirty="0"/>
          </a:p>
          <a:p>
            <a:pPr marL="342900" indent="-342900">
              <a:spcAft>
                <a:spcPts val="400"/>
              </a:spcAft>
              <a:buSzPct val="100000"/>
              <a:buChar char="•"/>
            </a:pPr>
            <a:r>
              <a:rPr lang="en-US" sz="1650" dirty="0">
                <a:solidFill>
                  <a:srgbClr val="334155"/>
                </a:solidFill>
              </a:rPr>
              <a:t>Tasks A0.1 and A0.2: every Entra and Azure assignment, active and eligible, tiered, with findings and a manifest</a:t>
            </a:r>
            <a:endParaRPr lang="en-US" sz="1650" dirty="0"/>
          </a:p>
        </p:txBody>
      </p:sp>
      <p:sp>
        <p:nvSpPr>
          <p:cNvPr id="12" name="Callout" descr="">
            <a:extLst>
              <a:ext uri="{C183D7F6-B498-43B3-948B-1728B52AA6E4}">
                <adec:decorative xmlns:adec="http://schemas.microsoft.com/office/drawing/2017/decorative" val="1"/>
              </a:ext>
            </a:extLst>
          </p:cNvPr>
          <p:cNvSpPr/>
          <p:nvPr/>
        </p:nvSpPr>
        <p:spPr>
          <a:xfrm>
            <a:off x="548640" y="459486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ListCheck" descr="">
            <a:extLst>
              <a:ext uri="{C183D7F6-B498-43B3-948B-1728B52AA6E4}">
                <adec:decorative xmlns:adec="http://schemas.microsoft.com/office/drawing/2017/decorative" val="1"/>
              </a:ext>
            </a:extLst>
          </p:cNvPr>
          <p:cNvSpPr/>
          <p:nvPr/>
        </p:nvSpPr>
        <p:spPr>
          <a:xfrm>
            <a:off x="749808" y="4668012"/>
            <a:ext cx="606552" cy="606552"/>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13584"/>
            <a:ext cx="315407" cy="315407"/>
          </a:xfrm>
          <a:prstGeom prst="rect">
            <a:avLst/>
          </a:prstGeom>
        </p:spPr>
      </p:pic>
      <p:sp>
        <p:nvSpPr>
          <p:cNvPr id="15" name="Callout text"/>
          <p:cNvSpPr txBox="1"/>
          <p:nvPr/>
        </p:nvSpPr>
        <p:spPr>
          <a:xfrm>
            <a:off x="1600200" y="464972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The goal: </a:t>
            </a:r>
            <a:pPr indent="0" marL="0">
              <a:buNone/>
            </a:pPr>
            <a:r>
              <a:rPr lang="en-US" sz="1750" dirty="0">
                <a:solidFill>
                  <a:srgbClr val="334155"/>
                </a:solidFill>
              </a:rPr>
              <a:t>for every rule in the code, you can say whether it is Microsoft's contract, Microsoft's sample, or the program's own design.</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 a PIM deployment (types of assignments); Book 04, Ch 04, “How a role reaches a person.” Chapter 01, “Goal and audience,” “What the inventory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and Resource Manager hosts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72968"/>
        </p:xfrm>
        <a:graphic>
          <a:graphicData uri="http://schemas.openxmlformats.org/drawingml/2006/table">
            <a:tbl>
              <a:tblPr firstRow="1" bandRow="1"/>
              <a:tblGrid>
                <a:gridCol w="2194560"/>
                <a:gridCol w="4480560"/>
                <a:gridCol w="443484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Piece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Microsoft 365 GCC with commercial Azure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Graph host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graph.microsoft.com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graph.microsoft.us (GCC High); dod-graph.microsoft.us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Resource Manager host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management.azure.com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management.usgovcloudapi.net (Azure Government)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Licensing</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Entra ID P1 and P2 for GCC hosted in Azure commercial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Hosted in Azure Government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Entra ID Governance (PIM needs it)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Available in GCC</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Available in GCC High and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Every Graph call here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Lists the global service, US Government L4 and L5 in its national cloud table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Same calls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681728"/>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871466"/>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25085"/>
            <a:ext cx="332842" cy="332842"/>
          </a:xfrm>
          <a:prstGeom prst="rect">
            <a:avLst/>
          </a:prstGeom>
        </p:spPr>
      </p:pic>
      <p:sp>
        <p:nvSpPr>
          <p:cNvPr id="9" name="Callout text"/>
          <p:cNvSpPr txBox="1"/>
          <p:nvPr/>
        </p:nvSpPr>
        <p:spPr>
          <a:xfrm>
            <a:off x="1600200" y="4736592"/>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so every host is a worldwide one. The code takes gcc as an explicit cloud name and refuses any name it doesn't know.</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Compare Azure Government and global Azure; EMS for US Government; Entra feature availability. Chapter 01, “Which cloud, for this read.”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inventory reads: five collections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286000"/>
                <a:gridCol w="4937760"/>
                <a:gridCol w="38862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Where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this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Role definitions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/v1.0/roleManagement/directory/roleDefinitions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Names and template IDs, including custom roles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Active assignments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/v1.0/roleManagement/directory/roleAssignmentScheduleInstances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Through PIM or directly; assignmentType (Assigned, Activated), memberType (Direct, Group, Inherited), endDateTime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Eligible assignments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/v1.0/roleManagement/directory/roleEligibilitySchedules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eligibility, with its expiration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Group members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/v1.0/groups/{id}/members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Who a role-assignable group passes its role to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 assignments and eligibility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{scope}/providers/Microsoft.Authorization/roleAssignmentSchedules and roleEligibilitySchedules, api-version=2020-10-01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Active and eligible Azure roles; the REST form of Learn's schedule cmdlets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39868"/>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Three Graph collections plus group members, and two Resource Manager ones; v1.0 and GA only.</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role management and group members references; Azure RBAC PIM integration; RBAC API versions. Chapter 01, “What the inventory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tier comes from the program, not Microsoft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Entra roles" descr="">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Entra rol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ENTRA ROLES</a:t>
            </a:r>
            <a:endParaRPr lang="en-US" sz="1100" dirty="0"/>
          </a:p>
        </p:txBody>
      </p:sp>
      <p:sp>
        <p:nvSpPr>
          <p:cNvPr id="7" name="Panel Entra roles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Microsoft marks some Entra roles PRIVILEGED, but the label is a </a:t>
            </a:r>
            <a:pPr indent="0" marL="0">
              <a:spcAft>
                <a:spcPts val="400"/>
              </a:spcAft>
              <a:buNone/>
            </a:pPr>
            <a:r>
              <a:rPr lang="en-US" sz="1550" b="1" dirty="0">
                <a:solidFill>
                  <a:srgbClr val="1F2A44"/>
                </a:solidFill>
              </a:rPr>
              <a:t>preview</a:t>
            </a:r>
            <a:pPr indent="0" marL="0">
              <a:spcAft>
                <a:spcPts val="400"/>
              </a:spcAft>
              <a:buNone/>
            </a:pPr>
            <a:r>
              <a:rPr lang="en-US" sz="1550" dirty="0">
                <a:solidFill>
                  <a:srgbClr val="334155"/>
                </a:solidFill>
              </a:rPr>
              <a:t>, listed through the beta endpoint</a:t>
            </a:r>
            <a:endParaRPr lang="en-US" sz="1550" dirty="0"/>
          </a:p>
          <a:p>
            <a:pPr marL="342900" indent="-342900">
              <a:spcAft>
                <a:spcPts val="400"/>
              </a:spcAft>
              <a:buSzPct val="100000"/>
              <a:buChar char="•"/>
            </a:pPr>
            <a:r>
              <a:rPr lang="en-US" sz="1550" dirty="0">
                <a:solidFill>
                  <a:srgbClr val="334155"/>
                </a:solidFill>
              </a:rPr>
              <a:t>Book 04 treats it as an input to tiering, not the tier</a:t>
            </a:r>
            <a:endParaRPr lang="en-US" sz="1550" dirty="0"/>
          </a:p>
          <a:p>
            <a:pPr marL="342900" indent="-342900">
              <a:spcAft>
                <a:spcPts val="400"/>
              </a:spcAft>
              <a:buSzPct val="100000"/>
              <a:buChar char="•"/>
            </a:pPr>
            <a:r>
              <a:rPr lang="en-US" sz="1550" dirty="0">
                <a:solidFill>
                  <a:srgbClr val="334155"/>
                </a:solidFill>
              </a:rPr>
              <a:t>config/tiers.json holds Book 04's tiers, keyed by role template ID, the same in every tenant (Appendix B)</a:t>
            </a:r>
            <a:endParaRPr lang="en-US" sz="1550" dirty="0"/>
          </a:p>
          <a:p>
            <a:pPr marL="342900" indent="-342900">
              <a:spcAft>
                <a:spcPts val="400"/>
              </a:spcAft>
              <a:buSzPct val="100000"/>
              <a:buChar char="•"/>
            </a:pPr>
            <a:r>
              <a:rPr lang="en-US" sz="1550" dirty="0">
                <a:solidFill>
                  <a:srgbClr val="334155"/>
                </a:solidFill>
              </a:rPr>
              <a:t>A role not in the file is Unclassified, never assumed safe</a:t>
            </a:r>
            <a:endParaRPr lang="en-US" sz="1550" dirty="0"/>
          </a:p>
        </p:txBody>
      </p:sp>
      <p:sp>
        <p:nvSpPr>
          <p:cNvPr id="8" name="Panel Azure roles (Book 04, Ch 04 placements)" descr="">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Azure roles (Book 04, Ch 04 placement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AZURE ROLES (BOOK 04, CH 04 PLACEMENTS)</a:t>
            </a:r>
            <a:endParaRPr lang="en-US" sz="1100" dirty="0"/>
          </a:p>
        </p:txBody>
      </p:sp>
      <p:sp>
        <p:nvSpPr>
          <p:cNvPr id="10" name="Panel Azure roles (Book 04, Ch 04 placements)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Can assign roles at root or management group scope: T0</a:t>
            </a:r>
            <a:endParaRPr lang="en-US" sz="1550" dirty="0"/>
          </a:p>
          <a:p>
            <a:pPr marL="342900" indent="-342900">
              <a:spcAft>
                <a:spcPts val="400"/>
              </a:spcAft>
              <a:buSzPct val="100000"/>
              <a:buChar char="•"/>
            </a:pPr>
            <a:r>
              <a:rPr lang="en-US" sz="1550" dirty="0">
                <a:solidFill>
                  <a:srgbClr val="334155"/>
                </a:solidFill>
              </a:rPr>
              <a:t>Any privileged administrator role on a control-plane subscription (identity, PIM evidence, the log workspace): T0</a:t>
            </a:r>
            <a:endParaRPr lang="en-US" sz="1550" dirty="0"/>
          </a:p>
          <a:p>
            <a:pPr marL="342900" indent="-342900">
              <a:spcAft>
                <a:spcPts val="400"/>
              </a:spcAft>
              <a:buSzPct val="100000"/>
              <a:buChar char="•"/>
            </a:pPr>
            <a:r>
              <a:rPr lang="en-US" sz="1550" dirty="0">
                <a:solidFill>
                  <a:srgbClr val="334155"/>
                </a:solidFill>
              </a:rPr>
              <a:t>Owner or Contributor on a workload subscription: T1; other roles T2; Reader is read-only</a:t>
            </a:r>
            <a:endParaRPr lang="en-US" sz="1550" dirty="0"/>
          </a:p>
          <a:p>
            <a:pPr marL="342900" indent="-342900">
              <a:spcAft>
                <a:spcPts val="400"/>
              </a:spcAft>
              <a:buSzPct val="100000"/>
              <a:buChar char="•"/>
            </a:pPr>
            <a:r>
              <a:rPr lang="en-US" sz="1550" dirty="0">
                <a:solidFill>
                  <a:srgbClr val="334155"/>
                </a:solidFill>
              </a:rPr>
              <a:t>Learn's privileged administrator roles: Owner, Contributor, Reservations Administrator, RBAC Administrator, User Access Administrator</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67508"/>
            <a:ext cx="315407" cy="315407"/>
          </a:xfrm>
          <a:prstGeom prst="rect">
            <a:avLst/>
          </a:prstGeom>
        </p:spPr>
      </p:pic>
      <p:sp>
        <p:nvSpPr>
          <p:cNvPr id="14" name="Callout text"/>
          <p:cNvSpPr txBox="1"/>
          <p:nvPr/>
        </p:nvSpPr>
        <p:spPr>
          <a:xfrm>
            <a:off x="1600200" y="48036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Labeled: </a:t>
            </a:r>
            <a:pPr indent="0" marL="0">
              <a:buNone/>
            </a:pPr>
            <a:r>
              <a:rPr lang="en-US" sz="1750" dirty="0">
                <a:solidFill>
                  <a:srgbClr val="334155"/>
                </a:solidFill>
              </a:rPr>
              <a:t>the tier map and the Azure placements are the program's own design guidance, not Microsoft's.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Privileged roles and permissions (preview); Azure built-in roles, Privileged; Book 04, Ch 04 and Appendix B. Chapter 01, “What the inventory has to hold,” “The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samples, pinned and run against stand-ins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Microsoft gives you" descr="">
            <a:extLst>
              <a:ext uri="{C183D7F6-B498-43B3-948B-1728B52AA6E4}">
                <adec:decorative xmlns:adec="http://schemas.microsoft.com/office/drawing/2017/decorative" val="1"/>
              </a:ext>
            </a:extLst>
          </p:cNvPr>
          <p:cNvSpPr/>
          <p:nvPr/>
        </p:nvSpPr>
        <p:spPr>
          <a:xfrm>
            <a:off x="548640" y="1325880"/>
            <a:ext cx="5634533" cy="3456432"/>
          </a:xfrm>
          <a:prstGeom prst="roundRect">
            <a:avLst>
              <a:gd name="adj" fmla="val 21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Microsoft gives you label"/>
          <p:cNvSpPr txBox="1"/>
          <p:nvPr/>
        </p:nvSpPr>
        <p:spPr>
          <a:xfrm>
            <a:off x="731520" y="1435608"/>
            <a:ext cx="5268773"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GIVES YOU</a:t>
            </a:r>
            <a:endParaRPr lang="en-US" sz="1100" dirty="0"/>
          </a:p>
        </p:txBody>
      </p:sp>
      <p:sp>
        <p:nvSpPr>
          <p:cNvPr id="7" name="Panel What Microsoft gives you list"/>
          <p:cNvSpPr txBox="1"/>
          <p:nvPr/>
        </p:nvSpPr>
        <p:spPr>
          <a:xfrm>
            <a:off x="731520" y="1737360"/>
            <a:ext cx="5314493"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List Microsoft Entra role assignments: admin center, Graph PowerShell and the Graph API</a:t>
            </a:r>
            <a:endParaRPr lang="en-US" sz="1500" dirty="0"/>
          </a:p>
          <a:p>
            <a:pPr marL="342900" indent="-342900">
              <a:spcAft>
                <a:spcPts val="400"/>
              </a:spcAft>
              <a:buSzPct val="100000"/>
              <a:buChar char="•"/>
            </a:pPr>
            <a:r>
              <a:rPr lang="en-US" sz="1500" dirty="0">
                <a:solidFill>
                  <a:srgbClr val="334155"/>
                </a:solidFill>
              </a:rPr>
              <a:t>Per role, all roles, per principal (transitive through beta), per group, at administrative unit scope</a:t>
            </a:r>
            <a:endParaRPr lang="en-US" sz="1500" dirty="0"/>
          </a:p>
          <a:p>
            <a:pPr marL="342900" indent="-342900">
              <a:spcAft>
                <a:spcPts val="400"/>
              </a:spcAft>
              <a:buSzPct val="100000"/>
              <a:buChar char="•"/>
            </a:pPr>
            <a:r>
              <a:rPr lang="en-US" sz="1500" dirty="0">
                <a:solidFill>
                  <a:srgbClr val="334155"/>
                </a:solidFill>
              </a:rPr>
              <a:t>All-roles loop: Get-MgRoleManagementDirectoryRoleDefinition, then Get-MgRoleManagementDirectoryRoleAssignment per role</a:t>
            </a:r>
            <a:endParaRPr lang="en-US" sz="1500" dirty="0"/>
          </a:p>
          <a:p>
            <a:pPr marL="342900" indent="-342900">
              <a:spcAft>
                <a:spcPts val="400"/>
              </a:spcAft>
              <a:buSzPct val="100000"/>
              <a:buChar char="•"/>
            </a:pPr>
            <a:r>
              <a:rPr lang="en-US" sz="1500" dirty="0">
                <a:solidFill>
                  <a:srgbClr val="334155"/>
                </a:solidFill>
              </a:rPr>
              <a:t>Admin center download: a bulk operation, up to an hour, with limits in large tenants</a:t>
            </a:r>
            <a:endParaRPr lang="en-US" sz="1500" dirty="0"/>
          </a:p>
          <a:p>
            <a:pPr marL="342900" indent="-342900">
              <a:spcAft>
                <a:spcPts val="400"/>
              </a:spcAft>
              <a:buSzPct val="100000"/>
              <a:buChar char="•"/>
            </a:pPr>
            <a:r>
              <a:rPr lang="en-US" sz="1500" dirty="0">
                <a:solidFill>
                  <a:srgbClr val="334155"/>
                </a:solidFill>
              </a:rPr>
              <a:t>Azure: no single command; Get-AzRoleEligibilitySchedule and Get-AzRoleAssignmentSchedule</a:t>
            </a:r>
            <a:endParaRPr lang="en-US" sz="1500" dirty="0"/>
          </a:p>
        </p:txBody>
      </p:sp>
      <p:sp>
        <p:nvSpPr>
          <p:cNvPr id="8" name="Panel The pinned copy" descr="">
            <a:extLst>
              <a:ext uri="{C183D7F6-B498-43B3-948B-1728B52AA6E4}">
                <adec:decorative xmlns:adec="http://schemas.microsoft.com/office/drawing/2017/decorative" val="1"/>
              </a:ext>
            </a:extLst>
          </p:cNvPr>
          <p:cNvSpPr/>
          <p:nvPr/>
        </p:nvSpPr>
        <p:spPr>
          <a:xfrm>
            <a:off x="6457493" y="1325880"/>
            <a:ext cx="5201107" cy="3456432"/>
          </a:xfrm>
          <a:prstGeom prst="roundRect">
            <a:avLst>
              <a:gd name="adj" fmla="val 21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640373" y="1435608"/>
            <a:ext cx="4835347"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640373" y="1737360"/>
            <a:ext cx="4881067"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view-assignments.md from MicrosoftDocs/entra-docs, unmodified, at commit 07cb73d (Oct 30, 2026), MIT</a:t>
            </a:r>
            <a:endParaRPr lang="en-US" sz="1500" dirty="0"/>
          </a:p>
          <a:p>
            <a:pPr marL="342900" indent="-342900">
              <a:spcAft>
                <a:spcPts val="400"/>
              </a:spcAft>
              <a:buSzPct val="100000"/>
              <a:buChar char="•"/>
            </a:pPr>
            <a:r>
              <a:rPr lang="en-US" sz="1500" dirty="0">
                <a:solidFill>
                  <a:srgbClr val="334155"/>
                </a:solidFill>
              </a:rPr>
              <a:t>snapshot.json holds each file's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LearnSampleHarness.ps1 runs the samples unmodified against stand-ins for Connect-MgGraph and the two cmdlets</a:t>
            </a:r>
            <a:endParaRPr lang="en-US" sz="1500" dirty="0"/>
          </a:p>
          <a:p>
            <a:pPr marL="342900" indent="-342900">
              <a:spcAft>
                <a:spcPts val="400"/>
              </a:spcAft>
              <a:buSzPct val="100000"/>
              <a:buChar char="•"/>
            </a:pPr>
            <a:r>
              <a:rPr lang="en-US" sz="1500" dirty="0">
                <a:solidFill>
                  <a:srgbClr val="334155"/>
                </a:solidFill>
              </a:rPr>
              <a:t>Nothing is installed and nothing signs in</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Entra role assignments; Azure RBAC PIM integration; entra-docs at 07cb73d (MIT). Chapter 01,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miss: eligibility, paging, groups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383280"/>
                <a:gridCol w="4023360"/>
                <a:gridCol w="37033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Lists every active assignment across all roles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through roleAssignmentScheduleInstances, with assignmentType and endDateTime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Sees no eligible assignment: the fixture's eligible-only holders are missing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Under PIM almost every holder is eligible, so an active-only list shrinks as the project succeeds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Reads roleEligibilitySchedules; reports permanent eligibility (PA-INV-06)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One assignment call per role definition, plus one for the definitions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More than a hundred calls for one list, each a chance to be throttled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paged call per collection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Passes neither -All nor -PageSize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 lists all pages and is off by default, so each call can stop at the first page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Follows @odata.nextLink and nextLink, only on the cloud's own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Returns a role-assignable group as one principal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people who hold the role are invisible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Expands each group once, marks rows Via Group, never drops a member (PA-INV-09)</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roleAssignmentScheduleInstances; Get-MgRoleManagementDirectoryRoleAssignment; Page through a collection with the Graph SDKs.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miss: names, clouds, Azure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383280"/>
                <a:gridCol w="4023360"/>
                <a:gridCol w="37033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Prints role definition and principal IDs; no names, no tier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reviewer can't act on a GUID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Names from the definitions and the principal; a tier from tiers.json; Unclassified otherwise (PA-INV-05)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Connect-MgGraph with no environment or scopes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worldwide cloud and whatever scopes the session already has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explicit cloud; config/calls.json with each call's least-privileged permission; undeclared calls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Transitive assignments from beta, on a hard-coded graph.microsoft.com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Beta can change; the host is wrong for 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v1.0 only, with the host from the cloud table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Nothing for Azure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Owner, User Access Administrator and Contributor are privileged too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Resource Manager schedules by scope, tiered by role and scope; PA-INV-07 and 08</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709160"/>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782312"/>
            <a:ext cx="606552" cy="606552"/>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27884"/>
            <a:ext cx="315407" cy="315407"/>
          </a:xfrm>
          <a:prstGeom prst="rect">
            <a:avLst/>
          </a:prstGeom>
        </p:spPr>
      </p:pic>
      <p:sp>
        <p:nvSpPr>
          <p:cNvPr id="9" name="Callout text"/>
          <p:cNvSpPr txBox="1"/>
          <p:nvPr/>
        </p:nvSpPr>
        <p:spPr>
          <a:xfrm>
            <a:off x="1600200" y="4764024"/>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The verdict: </a:t>
            </a:r>
            <a:pPr indent="0" marL="0">
              <a:buNone/>
            </a:pPr>
            <a:r>
              <a:rPr lang="en-US" sz="1750" dirty="0">
                <a:solidFill>
                  <a:srgbClr val="334155"/>
                </a:solidFill>
              </a:rPr>
              <a:t>use Learn's page as the model for what to read and as the admin center cross-check in Lab 2. Don't use its all-roles loop: it can't see eligibility.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versioning and support policies; Azure built-in roles, Privileged. Chapter 01, “What it leaves to you,”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reader and its four rules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338072"/>
          </a:xfrm>
          <a:prstGeom prst="roundRect">
            <a:avLst>
              <a:gd name="adj" fmla="val 546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examples/privileged-access: PrivilegedAccess.psm1, Invoke-PaInventory.ps1, calls.json, tiers.json</a:t>
            </a:r>
            <a:endParaRPr lang="en-US" sz="1050" dirty="0"/>
          </a:p>
        </p:txBody>
      </p:sp>
      <p:sp>
        <p:nvSpPr>
          <p:cNvPr id="7" name="Code"/>
          <p:cNvSpPr txBox="1"/>
          <p:nvPr/>
        </p:nvSpPr>
        <p:spPr>
          <a:xfrm>
            <a:off x="713232" y="1664208"/>
            <a:ext cx="10835640" cy="954024"/>
          </a:xfrm>
          <a:prstGeom prst="rect">
            <a:avLst/>
          </a:prstGeom>
          <a:noFill/>
          <a:ln/>
        </p:spPr>
        <p:txBody>
          <a:bodyPr wrap="square" lIns="0" tIns="0" rIns="0" bIns="0" rtlCol="0" anchor="t"/>
          <a:lstStyle/>
          <a:p>
            <a:pPr indent="0" marL="0">
              <a:buNone/>
            </a:pPr>
            <a:r>
              <a:rPr lang="en-US" sz="1400" dirty="0">
                <a:solidFill>
                  <a:srgbClr val="0F766E"/>
                </a:solidFill>
                <a:latin typeface="Consolas" pitchFamily="34" charset="0"/>
                <a:ea typeface="Consolas" pitchFamily="34" charset="-122"/>
                <a:cs typeface="Consolas" pitchFamily="34" charset="-120"/>
              </a:rPr>
              <a:t># One reader, one task, one cloud; the script block is the only thing on the network</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New-PaReader -Cloud gcc -Task inventory -Invoke &lt;script block&gt;</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New-PaLiveInvoker:    Invoke-MgGraphRequest, Invoke-AzRestMethod; refuses another cloud's session</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New-PaFixtureInvoker: labs and tests</a:t>
            </a:r>
            <a:endParaRPr lang="en-US" sz="1400" dirty="0"/>
          </a:p>
        </p:txBody>
      </p:sp>
      <p:sp>
        <p:nvSpPr>
          <p:cNvPr id="8" name="Card 1" descr="">
            <a:extLst>
              <a:ext uri="{C183D7F6-B498-43B3-948B-1728B52AA6E4}">
                <adec:decorative xmlns:adec="http://schemas.microsoft.com/office/drawing/2017/decorative" val="1"/>
              </a:ext>
            </a:extLst>
          </p:cNvPr>
          <p:cNvSpPr/>
          <p:nvPr/>
        </p:nvSpPr>
        <p:spPr>
          <a:xfrm>
            <a:off x="548640" y="2846832"/>
            <a:ext cx="2606040" cy="2072640"/>
          </a:xfrm>
          <a:prstGeom prst="roundRect">
            <a:avLst>
              <a:gd name="adj" fmla="val 352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ard 1 bar" descr="">
            <a:extLst>
              <a:ext uri="{C183D7F6-B498-43B3-948B-1728B52AA6E4}">
                <adec:decorative xmlns:adec="http://schemas.microsoft.com/office/drawing/2017/decorative" val="1"/>
              </a:ext>
            </a:extLst>
          </p:cNvPr>
          <p:cNvSpPr/>
          <p:nvPr/>
        </p:nvSpPr>
        <p:spPr>
          <a:xfrm>
            <a:off x="548640" y="2846832"/>
            <a:ext cx="82296" cy="2072640"/>
          </a:xfrm>
          <a:prstGeom prst="rect">
            <a:avLst/>
          </a:prstGeom>
          <a:solidFill>
            <a:srgbClr val="1F2A44"/>
          </a:solidFill>
          <a:ln w="12700">
            <a:solidFill>
              <a:srgbClr val="1F2A44"/>
            </a:solidFill>
            <a:prstDash val="solid"/>
          </a:ln>
        </p:spPr>
      </p:sp>
      <p:sp>
        <p:nvSpPr>
          <p:cNvPr id="10" name="Card 1 text"/>
          <p:cNvSpPr txBox="1"/>
          <p:nvPr/>
        </p:nvSpPr>
        <p:spPr>
          <a:xfrm>
            <a:off x="777240" y="2983992"/>
            <a:ext cx="2240280" cy="18440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Only declared calls</a:t>
            </a:r>
            <a:endParaRPr lang="en-US" sz="1400" dirty="0"/>
          </a:p>
          <a:p>
            <a:pPr indent="0" marL="0">
              <a:spcAft>
                <a:spcPts val="300"/>
              </a:spcAft>
              <a:buNone/>
            </a:pPr>
            <a:r>
              <a:rPr lang="en-US" sz="1500" dirty="0">
                <a:solidFill>
                  <a:srgbClr val="334155"/>
                </a:solidFill>
              </a:rPr>
              <a:t>config/calls.json: method, version, path, least-privileged permission, stage, Learn page. Anything else throws before it's sent</a:t>
            </a:r>
            <a:endParaRPr lang="en-US" sz="1400" dirty="0"/>
          </a:p>
        </p:txBody>
      </p:sp>
      <p:sp>
        <p:nvSpPr>
          <p:cNvPr id="11" name="Card 2" descr="">
            <a:extLst>
              <a:ext uri="{C183D7F6-B498-43B3-948B-1728B52AA6E4}">
                <adec:decorative xmlns:adec="http://schemas.microsoft.com/office/drawing/2017/decorative" val="1"/>
              </a:ext>
            </a:extLst>
          </p:cNvPr>
          <p:cNvSpPr/>
          <p:nvPr/>
        </p:nvSpPr>
        <p:spPr>
          <a:xfrm>
            <a:off x="3383280" y="2846832"/>
            <a:ext cx="2606040" cy="2072640"/>
          </a:xfrm>
          <a:prstGeom prst="roundRect">
            <a:avLst>
              <a:gd name="adj" fmla="val 352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Card 2 bar" descr="">
            <a:extLst>
              <a:ext uri="{C183D7F6-B498-43B3-948B-1728B52AA6E4}">
                <adec:decorative xmlns:adec="http://schemas.microsoft.com/office/drawing/2017/decorative" val="1"/>
              </a:ext>
            </a:extLst>
          </p:cNvPr>
          <p:cNvSpPr/>
          <p:nvPr/>
        </p:nvSpPr>
        <p:spPr>
          <a:xfrm>
            <a:off x="3383280" y="2846832"/>
            <a:ext cx="82296" cy="2072640"/>
          </a:xfrm>
          <a:prstGeom prst="rect">
            <a:avLst/>
          </a:prstGeom>
          <a:solidFill>
            <a:srgbClr val="0F766E"/>
          </a:solidFill>
          <a:ln w="12700">
            <a:solidFill>
              <a:srgbClr val="0F766E"/>
            </a:solidFill>
            <a:prstDash val="solid"/>
          </a:ln>
        </p:spPr>
      </p:sp>
      <p:sp>
        <p:nvSpPr>
          <p:cNvPr id="13" name="Card 2 text"/>
          <p:cNvSpPr txBox="1"/>
          <p:nvPr/>
        </p:nvSpPr>
        <p:spPr>
          <a:xfrm>
            <a:off x="3611880" y="2983992"/>
            <a:ext cx="2240280" cy="18440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GET only</a:t>
            </a:r>
            <a:endParaRPr lang="en-US" sz="1400" dirty="0"/>
          </a:p>
          <a:p>
            <a:pPr indent="0" marL="0">
              <a:spcAft>
                <a:spcPts val="300"/>
              </a:spcAft>
              <a:buNone/>
            </a:pPr>
            <a:r>
              <a:rPr lang="en-US" sz="1500" dirty="0">
                <a:solidFill>
                  <a:srgbClr val="334155"/>
                </a:solidFill>
              </a:rPr>
              <a:t>The reader refuses any other method, and so does the fake</a:t>
            </a:r>
            <a:endParaRPr lang="en-US" sz="1400" dirty="0"/>
          </a:p>
        </p:txBody>
      </p:sp>
      <p:sp>
        <p:nvSpPr>
          <p:cNvPr id="14" name="Card 3" descr="">
            <a:extLst>
              <a:ext uri="{C183D7F6-B498-43B3-948B-1728B52AA6E4}">
                <adec:decorative xmlns:adec="http://schemas.microsoft.com/office/drawing/2017/decorative" val="1"/>
              </a:ext>
            </a:extLst>
          </p:cNvPr>
          <p:cNvSpPr/>
          <p:nvPr/>
        </p:nvSpPr>
        <p:spPr>
          <a:xfrm>
            <a:off x="6217920" y="2846832"/>
            <a:ext cx="2606040" cy="2072640"/>
          </a:xfrm>
          <a:prstGeom prst="roundRect">
            <a:avLst>
              <a:gd name="adj" fmla="val 352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Card 3 bar" descr="">
            <a:extLst>
              <a:ext uri="{C183D7F6-B498-43B3-948B-1728B52AA6E4}">
                <adec:decorative xmlns:adec="http://schemas.microsoft.com/office/drawing/2017/decorative" val="1"/>
              </a:ext>
            </a:extLst>
          </p:cNvPr>
          <p:cNvSpPr/>
          <p:nvPr/>
        </p:nvSpPr>
        <p:spPr>
          <a:xfrm>
            <a:off x="6217920" y="2846832"/>
            <a:ext cx="82296" cy="2072640"/>
          </a:xfrm>
          <a:prstGeom prst="rect">
            <a:avLst/>
          </a:prstGeom>
          <a:solidFill>
            <a:srgbClr val="B45309"/>
          </a:solidFill>
          <a:ln w="12700">
            <a:solidFill>
              <a:srgbClr val="B45309"/>
            </a:solidFill>
            <a:prstDash val="solid"/>
          </a:ln>
        </p:spPr>
      </p:sp>
      <p:sp>
        <p:nvSpPr>
          <p:cNvPr id="16" name="Card 3 text"/>
          <p:cNvSpPr txBox="1"/>
          <p:nvPr/>
        </p:nvSpPr>
        <p:spPr>
          <a:xfrm>
            <a:off x="6446520" y="2983992"/>
            <a:ext cx="2240280" cy="18440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One host</a:t>
            </a:r>
            <a:endParaRPr lang="en-US" sz="1400" dirty="0"/>
          </a:p>
          <a:p>
            <a:pPr indent="0" marL="0">
              <a:spcAft>
                <a:spcPts val="300"/>
              </a:spcAft>
              <a:buNone/>
            </a:pPr>
            <a:r>
              <a:rPr lang="en-US" sz="1500" dirty="0">
                <a:solidFill>
                  <a:srgbClr val="334155"/>
                </a:solidFill>
              </a:rPr>
              <a:t>Every URL and next link must start with the cloud's own host, or the token isn't sent</a:t>
            </a:r>
            <a:endParaRPr lang="en-US" sz="1400" dirty="0"/>
          </a:p>
        </p:txBody>
      </p:sp>
      <p:sp>
        <p:nvSpPr>
          <p:cNvPr id="17" name="Card 4" descr="">
            <a:extLst>
              <a:ext uri="{C183D7F6-B498-43B3-948B-1728B52AA6E4}">
                <adec:decorative xmlns:adec="http://schemas.microsoft.com/office/drawing/2017/decorative" val="1"/>
              </a:ext>
            </a:extLst>
          </p:cNvPr>
          <p:cNvSpPr/>
          <p:nvPr/>
        </p:nvSpPr>
        <p:spPr>
          <a:xfrm>
            <a:off x="9052560" y="2846832"/>
            <a:ext cx="2606040" cy="2072640"/>
          </a:xfrm>
          <a:prstGeom prst="roundRect">
            <a:avLst>
              <a:gd name="adj" fmla="val 352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Card 4 bar" descr="">
            <a:extLst>
              <a:ext uri="{C183D7F6-B498-43B3-948B-1728B52AA6E4}">
                <adec:decorative xmlns:adec="http://schemas.microsoft.com/office/drawing/2017/decorative" val="1"/>
              </a:ext>
            </a:extLst>
          </p:cNvPr>
          <p:cNvSpPr/>
          <p:nvPr/>
        </p:nvSpPr>
        <p:spPr>
          <a:xfrm>
            <a:off x="9052560" y="2846832"/>
            <a:ext cx="82296" cy="2072640"/>
          </a:xfrm>
          <a:prstGeom prst="rect">
            <a:avLst/>
          </a:prstGeom>
          <a:solidFill>
            <a:srgbClr val="B91C1C"/>
          </a:solidFill>
          <a:ln w="12700">
            <a:solidFill>
              <a:srgbClr val="B91C1C"/>
            </a:solidFill>
            <a:prstDash val="solid"/>
          </a:ln>
        </p:spPr>
      </p:sp>
      <p:sp>
        <p:nvSpPr>
          <p:cNvPr id="19" name="Card 4 text"/>
          <p:cNvSpPr txBox="1"/>
          <p:nvPr/>
        </p:nvSpPr>
        <p:spPr>
          <a:xfrm>
            <a:off x="9281160" y="2983992"/>
            <a:ext cx="2240280" cy="18440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Every page</a:t>
            </a:r>
            <a:endParaRPr lang="en-US" sz="1400" dirty="0"/>
          </a:p>
          <a:p>
            <a:pPr indent="0" marL="0">
              <a:spcAft>
                <a:spcPts val="300"/>
              </a:spcAft>
              <a:buNone/>
            </a:pPr>
            <a:r>
              <a:rPr lang="en-US" sz="1500" dirty="0">
                <a:solidFill>
                  <a:srgbClr val="334155"/>
                </a:solidFill>
              </a:rPr>
              <a:t>Collections followed to the end; the fake serves pages of two, so tests exercise paging</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Page through a collection using the Graph SDKs. Chapter 01, “The code: examples/privileged-access,”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rows: one per assignment, counted once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Get-PaPrivilegedInventory: plane, role, tier, scope, state, end date, principal, direct or via group.</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1810512"/>
        </p:xfrm>
        <a:graphic>
          <a:graphicData uri="http://schemas.openxmlformats.org/drawingml/2006/table">
            <a:tbl>
              <a:tblPr firstRow="1" bandRow="1"/>
              <a:tblGrid>
                <a:gridCol w="2743200"/>
                <a:gridCol w="836676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ActivePermanent / ActiveTimeBound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Assigned active, with no end or with an end date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Activated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An eligible holder who activated, active for the window</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Eligible / EligiblePermanent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Eligibility with an expiration, or with none (PA-INV-06)</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st"/>
          <p:cNvSpPr txBox="1"/>
          <p:nvPr/>
        </p:nvSpPr>
        <p:spPr>
          <a:xfrm>
            <a:off x="548640" y="4105656"/>
            <a:ext cx="11109960" cy="142951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Active instances with memberType Group are skipped: the example expands the group itself, or its members would count twice</a:t>
            </a:r>
            <a:endParaRPr lang="en-US" sz="1600" dirty="0"/>
          </a:p>
          <a:p>
            <a:pPr marL="342900" indent="-342900">
              <a:spcAft>
                <a:spcPts val="400"/>
              </a:spcAft>
              <a:buSzPct val="100000"/>
              <a:buChar char="•"/>
            </a:pPr>
            <a:r>
              <a:rPr lang="en-US" sz="1600" dirty="0">
                <a:solidFill>
                  <a:srgbClr val="334155"/>
                </a:solidFill>
              </a:rPr>
              <a:t>Azure schedules read per listed scope and de-duplicated by ID, because a list at one scope returns schedules above and below it</a:t>
            </a:r>
            <a:endParaRPr lang="en-US" sz="1600" dirty="0"/>
          </a:p>
          <a:p>
            <a:pPr marL="342900" indent="-342900">
              <a:spcAft>
                <a:spcPts val="400"/>
              </a:spcAft>
              <a:buSzPct val="100000"/>
              <a:buChar char="•"/>
            </a:pPr>
            <a:r>
              <a:rPr lang="en-US" sz="1600" dirty="0">
                <a:solidFill>
                  <a:srgbClr val="334155"/>
                </a:solidFill>
              </a:rPr>
              <a:t>Azure schedules with memberType Inherited are skipped for the same reason (research gaps, row 3)</a:t>
            </a:r>
            <a:endParaRPr lang="en-US" sz="16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unifiedRoleAssignmentScheduleInstance resource type. Chapter 01, “The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findings: nine rules, PA-INV-01 to PA-INV-09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188720"/>
                <a:gridCol w="1463040"/>
                <a:gridCol w="5577840"/>
                <a:gridCol w="28803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(Info if excepted)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Permanent active T0 or T1, Entra or Azure, outside exceptions.csv; an exception with no owner doesn't 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zero permanent active except emergency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Entra role assigned straight to a user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 Learn recommends groups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role-holding group not named PRV-&lt;tier&gt;-... for that tier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Five or more Global Administrators, active or eligible, group members counted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fewer than five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role that isn't in the tier map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Eligibility with no end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 (Appendix B)</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 Access Administrator at root scope (/), what elevate access grants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Book 04: a Tier 0 event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More than three Owners on a subscription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at most three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PA-INV-09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group member returned with ID and type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limited information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 a PIM deployment; Entra roles best practices; elevate access; Azure RBAC best practices; Graph permissions overview. Chapter 01, “The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manifest, the tests, and one known gap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run and its tests" descr="">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n and its test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RUN AND ITS TESTS</a:t>
            </a:r>
            <a:endParaRPr lang="en-US" sz="1100" dirty="0"/>
          </a:p>
        </p:txBody>
      </p:sp>
      <p:sp>
        <p:nvSpPr>
          <p:cNvPr id="7" name="Panel The run and its tests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Invoke-PaInventory.ps1 writes inventory.json, inventory.csv, findings.json and manifest.json</a:t>
            </a:r>
            <a:endParaRPr lang="en-US" sz="1550" dirty="0"/>
          </a:p>
          <a:p>
            <a:pPr marL="342900" indent="-342900">
              <a:spcAft>
                <a:spcPts val="400"/>
              </a:spcAft>
              <a:buSzPct val="100000"/>
              <a:buChar char="•"/>
            </a:pPr>
            <a:r>
              <a:rPr lang="en-US" sz="1550" dirty="0">
                <a:solidFill>
                  <a:srgbClr val="334155"/>
                </a:solidFill>
              </a:rPr>
              <a:t>Manifest: task, mode (Fixture or Live), cloud, tenant ID, permissions, every request with its time, each file's SHA-256</a:t>
            </a:r>
            <a:endParaRPr lang="en-US" sz="1550" dirty="0"/>
          </a:p>
          <a:p>
            <a:pPr marL="342900" indent="-342900">
              <a:spcAft>
                <a:spcPts val="400"/>
              </a:spcAft>
              <a:buSzPct val="100000"/>
              <a:buChar char="•"/>
            </a:pPr>
            <a:r>
              <a:rPr lang="en-US" sz="1550" dirty="0">
                <a:solidFill>
                  <a:srgbClr val="334155"/>
                </a:solidFill>
              </a:rPr>
              <a:t>It names no one; the inventory does, so treat the folder as sensitive</a:t>
            </a:r>
            <a:endParaRPr lang="en-US" sz="1550" dirty="0"/>
          </a:p>
          <a:p>
            <a:pPr marL="342900" indent="-342900">
              <a:spcAft>
                <a:spcPts val="400"/>
              </a:spcAft>
              <a:buSzPct val="100000"/>
              <a:buChar char="•"/>
            </a:pPr>
            <a:r>
              <a:rPr lang="en-US" sz="1550" dirty="0">
                <a:solidFill>
                  <a:srgbClr val="334155"/>
                </a:solidFill>
              </a:rPr>
              <a:t>Pester 5, PowerShell 7: 9 sample tests in the Chapter 01 block and 33 in PrivilegedInventory.Tests.ps1</a:t>
            </a:r>
            <a:endParaRPr lang="en-US" sz="1550" dirty="0"/>
          </a:p>
        </p:txBody>
      </p:sp>
      <p:sp>
        <p:nvSpPr>
          <p:cNvPr id="8" name="Panel Not guarded: service principal members" descr="">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Not guarded: service principal member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NOT GUARDED: SERVICE PRINCIPAL MEMBERS</a:t>
            </a:r>
            <a:endParaRPr lang="en-US" sz="1100" dirty="0"/>
          </a:p>
        </p:txBody>
      </p:sp>
      <p:sp>
        <p:nvSpPr>
          <p:cNvPr id="10" name="Panel Not guarded: service principal members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known issue: on v1.0, List group members doesn't return service principal members</a:t>
            </a:r>
            <a:endParaRPr lang="en-US" sz="1550" dirty="0"/>
          </a:p>
          <a:p>
            <a:pPr marL="342900" indent="-342900">
              <a:spcAft>
                <a:spcPts val="400"/>
              </a:spcAft>
              <a:buSzPct val="100000"/>
              <a:buChar char="•"/>
            </a:pPr>
            <a:r>
              <a:rPr lang="en-US" sz="1550" dirty="0">
                <a:solidFill>
                  <a:srgbClr val="334155"/>
                </a:solidFill>
              </a:rPr>
              <a:t>Workarounds are beta or $expand=members; beta isn't allowed, and $expand returns at most 20 objects with no next link</a:t>
            </a:r>
            <a:endParaRPr lang="en-US" sz="1550" dirty="0"/>
          </a:p>
          <a:p>
            <a:pPr marL="342900" indent="-342900">
              <a:spcAft>
                <a:spcPts val="400"/>
              </a:spcAft>
              <a:buSzPct val="100000"/>
              <a:buChar char="•"/>
            </a:pPr>
            <a:r>
              <a:rPr lang="en-US" sz="1550" dirty="0">
                <a:solidFill>
                  <a:srgbClr val="334155"/>
                </a:solidFill>
              </a:rPr>
              <a:t>So a service principal in a role-assignable group isn't in the inventory, and PA-INV-09 doesn't fire</a:t>
            </a:r>
            <a:endParaRPr lang="en-US" sz="1550" dirty="0"/>
          </a:p>
          <a:p>
            <a:pPr marL="342900" indent="-342900">
              <a:spcAft>
                <a:spcPts val="400"/>
              </a:spcAft>
              <a:buSzPct val="100000"/>
              <a:buChar char="•"/>
            </a:pPr>
            <a:r>
              <a:rPr lang="en-US" sz="1550" dirty="0">
                <a:solidFill>
                  <a:srgbClr val="334155"/>
                </a:solidFill>
              </a:rPr>
              <a:t>Recorded, not closed (research gaps, row 91)</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748784"/>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49808" y="493852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92141"/>
            <a:ext cx="332842" cy="332842"/>
          </a:xfrm>
          <a:prstGeom prst="rect">
            <a:avLst/>
          </a:prstGeom>
        </p:spPr>
      </p:pic>
      <p:sp>
        <p:nvSpPr>
          <p:cNvPr id="14" name="Callout text"/>
          <p:cNvSpPr txBox="1"/>
          <p:nvPr/>
        </p:nvSpPr>
        <p:spPr>
          <a:xfrm>
            <a:off x="1600200" y="4803648"/>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Paging, narrowed: </a:t>
            </a:r>
            <a:pPr indent="0" marL="0">
              <a:buNone/>
            </a:pPr>
            <a:r>
              <a:rPr lang="en-US" sz="1750" dirty="0">
                <a:solidFill>
                  <a:srgbClr val="334155"/>
                </a:solidFill>
              </a:rPr>
              <a:t>-All lists all pages and is off by default; Learn doesn't say in words what a call without it returns (research gaps, row 1). The example follows next links itself.</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group members; Known issues in Microsoft Graph; Get-MgRoleManagementDirectoryRoleAssignment. Chapter 01, “The run and its manifest,” “The tests,”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reviews it, what it may read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76400"/>
          </a:xfrm>
          <a:prstGeom prst="roundRect">
            <a:avLst>
              <a:gd name="adj" fmla="val 436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764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478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600" dirty="0">
                <a:solidFill>
                  <a:srgbClr val="334155"/>
                </a:solidFill>
              </a:rPr>
              <a:t>Build the project's read path; read PowerShell 7 and know what a role assignment is.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76400"/>
          </a:xfrm>
          <a:prstGeom prst="roundRect">
            <a:avLst>
              <a:gd name="adj" fmla="val 436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764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478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600" dirty="0">
                <a:solidFill>
                  <a:srgbClr val="334155"/>
                </a:solidFill>
              </a:rPr>
              <a:t>Review the inventory, own the tier map and the exceptions list</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76400"/>
          </a:xfrm>
          <a:prstGeom prst="roundRect">
            <a:avLst>
              <a:gd name="adj" fmla="val 436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764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4780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600" dirty="0">
                <a:solidFill>
                  <a:srgbClr val="334155"/>
                </a:solidFill>
              </a:rPr>
              <a:t>Review the run and check the manifest's hashes against the files handed over</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85160"/>
          <a:ext cx="11109960" cy="2578608"/>
        </p:xfrm>
        <a:graphic>
          <a:graphicData uri="http://schemas.openxmlformats.org/drawingml/2006/table">
            <a:tbl>
              <a:tblPr firstRow="1" bandRow="1"/>
              <a:tblGrid>
                <a:gridCol w="3108960"/>
                <a:gridCol w="4754880"/>
                <a:gridCol w="32461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Delegated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 roleDefinitions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RoleManagement.Read.Directory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Directory Readers, Global Reader or Privileged Role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 roleAssignmentScheduleInstances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RoleAssignmentSchedule.Read.Directory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Reader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 roleEligibilitySchedules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RoleEligibilitySchedule.Read.Directory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Reader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 group members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GroupMember.ReadBasic.All, with User.ReadBasic.All so members come back named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Group owners or members, or a role with members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Azure schedules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Reader on each scope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role management references; List group members; permissions overview; Azure built-in roles. Chapter 01, “Goal and audience,”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run Learn's samples and the inventory offline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samples against the stand-ins: Passed 9, Failed 0, NotRun 7 (Chapter 02's)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01*'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The permissions: five, nothing ends in ReadWrite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(Get-PaRequiredPermission -Task inventory).GraphPermissions -join ',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The inventory against the fictional tenant</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./Invoke-PaInventory.ps1 -FixturePath tests/fixtures/tenant.json -OutputPath out/inventory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-AzureScope &lt;three scopes&gt; -ExceptionsPath …/exceptions.csv -ControlPlaneSubscriptionId 2222…</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Assignments: 30 rows (Azure T0=4, T1=5, T2=1; Entra T0=8, T1=2, T2=2, Unclassified=1)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10 Finding, 7 Warn, 1 Info</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What step 1 shows: </a:t>
            </a:r>
            <a:pPr indent="0" marL="0">
              <a:buNone/>
            </a:pPr>
            <a:r>
              <a:rPr lang="en-US" sz="1750" dirty="0">
                <a:solidFill>
                  <a:srgbClr val="334155"/>
                </a:solidFill>
              </a:rPr>
              <a:t>the second sample test shows the fixture's eligible-only holders never appear in the sample's output.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01,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findings and the refusals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15056"/>
        </p:xfrm>
        <a:graphic>
          <a:graphicData uri="http://schemas.openxmlformats.org/drawingml/2006/table">
            <a:tbl>
              <a:tblPr firstRow="1" bandRow="1"/>
              <a:tblGrid>
                <a:gridCol w="3108960"/>
                <a:gridCol w="80010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Seven PA-INV-01 rows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standing Global Administrator; a mail automation service principal whose exception has no owner; two standing subscription Owners; a standing User Access Administrator at the management group; the same Global Administrator's User Access Administrator at root; a log-export service principal with standing Contributor on the control plane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PA-INV-07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root-scope elevation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PA-INV-04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Five Global Administrators, one of them through PRV-T0-GlobalAdmin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PA-INV-08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Five Owners on the workload subscription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ea01 is 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emergency account is on the exceptions list, with an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Step 5: two refusals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Undeclared call 'ca-policies' for task 'inventory' …; Unknown cloud 'GCCHigh'. Use global, gcc, gcchigh or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62381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6, Invoke-Pester -Path tests: 330 passing; the manifest lists 24 GET requests. Delete out.</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Chapter 01, “Lab 1: fixtures, no tenant,” steps 4–6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read-only, cross-checked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Register the app: </a:t>
            </a:r>
            <a:pPr indent="0" marL="0">
              <a:buNone/>
            </a:pPr>
            <a:r>
              <a:rPr lang="en-US" sz="1550" dirty="0">
                <a:solidFill>
                  <a:srgbClr val="334155"/>
                </a:solidFill>
              </a:rPr>
              <a:t>In the tenant's own cloud (for GCC, the worldwide Entra admin center), with a certificate, not a secret</a:t>
            </a:r>
            <a:endParaRPr lang="en-US" sz="1550" dirty="0"/>
          </a:p>
        </p:txBody>
      </p:sp>
      <p:sp>
        <p:nvSpPr>
          <p:cNvPr id="8" name="Step 2 dot" descr="">
            <a:extLst>
              <a:ext uri="{C183D7F6-B498-43B3-948B-1728B52AA6E4}">
                <adec:decorative xmlns:adec="http://schemas.microsoft.com/office/drawing/2017/decorative" val="1"/>
              </a:ext>
            </a:extLst>
          </p:cNvPr>
          <p:cNvSpPr/>
          <p:nvPr/>
        </p:nvSpPr>
        <p:spPr>
          <a:xfrm>
            <a:off x="548640" y="192633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1926336"/>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908048"/>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Grant the five permissions: </a:t>
            </a:r>
            <a:pPr indent="0" marL="0">
              <a:buNone/>
            </a:pPr>
            <a:r>
              <a:rPr lang="en-US" sz="1550" dirty="0">
                <a:solidFill>
                  <a:srgbClr val="334155"/>
                </a:solidFill>
              </a:rPr>
              <a:t>From Lab 1, step 2, with admin consent, and nothing else; then Reader on the test subscription</a:t>
            </a:r>
            <a:endParaRPr lang="en-US" sz="1550" dirty="0"/>
          </a:p>
        </p:txBody>
      </p:sp>
      <p:sp>
        <p:nvSpPr>
          <p:cNvPr id="11" name="Step 3 dot" descr="">
            <a:extLst>
              <a:ext uri="{C183D7F6-B498-43B3-948B-1728B52AA6E4}">
                <adec:decorative xmlns:adec="http://schemas.microsoft.com/office/drawing/2017/decorative" val="1"/>
              </a:ext>
            </a:extLst>
          </p:cNvPr>
          <p:cNvSpPr/>
          <p:nvPr/>
        </p:nvSpPr>
        <p:spPr>
          <a:xfrm>
            <a:off x="548640" y="250850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508504"/>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90216"/>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Sign in and run: </a:t>
            </a:r>
            <a:pPr indent="0" marL="0">
              <a:buNone/>
            </a:pPr>
            <a:r>
              <a:rPr lang="en-US" sz="1550" dirty="0">
                <a:solidFill>
                  <a:srgbClr val="334155"/>
                </a:solidFill>
              </a:rPr>
              <a:t>Connect-MgGraph -Environment Global and Connect-AzAccount -Environment AzureCloud, then Invoke-PaInventory.ps1 -Cloud gcc -AzureScope &lt;test subscription&gt;</a:t>
            </a:r>
            <a:endParaRPr lang="en-US" sz="1550" dirty="0"/>
          </a:p>
        </p:txBody>
      </p:sp>
      <p:sp>
        <p:nvSpPr>
          <p:cNvPr id="14" name="Step 4 dot" descr="">
            <a:extLst>
              <a:ext uri="{C183D7F6-B498-43B3-948B-1728B52AA6E4}">
                <adec:decorative xmlns:adec="http://schemas.microsoft.com/office/drawing/2017/decorative" val="1"/>
              </a:ext>
            </a:extLst>
          </p:cNvPr>
          <p:cNvSpPr/>
          <p:nvPr/>
        </p:nvSpPr>
        <p:spPr>
          <a:xfrm>
            <a:off x="548640" y="3090672"/>
            <a:ext cx="291084" cy="291084"/>
          </a:xfrm>
          <a:prstGeom prst="ellipse">
            <a:avLst/>
          </a:prstGeom>
          <a:solidFill>
            <a:srgbClr val="B45309"/>
          </a:solidFill>
          <a:ln w="12700">
            <a:solidFill>
              <a:srgbClr val="B45309"/>
            </a:solidFill>
            <a:prstDash val="solid"/>
          </a:ln>
        </p:spPr>
      </p:sp>
      <p:sp>
        <p:nvSpPr>
          <p:cNvPr id="15" name="Step 4 number"/>
          <p:cNvSpPr txBox="1"/>
          <p:nvPr/>
        </p:nvSpPr>
        <p:spPr>
          <a:xfrm>
            <a:off x="548640" y="3090672"/>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72384"/>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Cross-check the admin center: </a:t>
            </a:r>
            <a:pPr indent="0" marL="0">
              <a:buNone/>
            </a:pPr>
            <a:r>
              <a:rPr lang="en-US" sz="1550" dirty="0">
                <a:solidFill>
                  <a:srgbClr val="334155"/>
                </a:solidFill>
              </a:rPr>
              <a:t>Roles and administrators, Download assignments: every active row is in inventory.csv, which also holds the eligible rows the download doesn't</a:t>
            </a:r>
            <a:endParaRPr lang="en-US" sz="1550" dirty="0"/>
          </a:p>
        </p:txBody>
      </p:sp>
      <p:sp>
        <p:nvSpPr>
          <p:cNvPr id="17" name="Step 5 dot" descr="">
            <a:extLst>
              <a:ext uri="{C183D7F6-B498-43B3-948B-1728B52AA6E4}">
                <adec:decorative xmlns:adec="http://schemas.microsoft.com/office/drawing/2017/decorative" val="1"/>
              </a:ext>
            </a:extLst>
          </p:cNvPr>
          <p:cNvSpPr/>
          <p:nvPr/>
        </p:nvSpPr>
        <p:spPr>
          <a:xfrm>
            <a:off x="548640" y="3672840"/>
            <a:ext cx="291084" cy="291084"/>
          </a:xfrm>
          <a:prstGeom prst="ellipse">
            <a:avLst/>
          </a:prstGeom>
          <a:solidFill>
            <a:srgbClr val="B45309"/>
          </a:solidFill>
          <a:ln w="12700">
            <a:solidFill>
              <a:srgbClr val="B45309"/>
            </a:solidFill>
            <a:prstDash val="solid"/>
          </a:ln>
        </p:spPr>
      </p:sp>
      <p:sp>
        <p:nvSpPr>
          <p:cNvPr id="18" name="Step 5 number"/>
          <p:cNvSpPr txBox="1"/>
          <p:nvPr/>
        </p:nvSpPr>
        <p:spPr>
          <a:xfrm>
            <a:off x="548640" y="3672840"/>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654552"/>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Check the fixture's assumptions: </a:t>
            </a:r>
            <a:pPr indent="0" marL="0">
              <a:buNone/>
            </a:pPr>
            <a:r>
              <a:rPr lang="en-US" sz="1550" dirty="0">
                <a:solidFill>
                  <a:srgbClr val="334155"/>
                </a:solidFill>
              </a:rPr>
              <a:t>Rows read with $expand=principal have a principal type (research gaps, row 2); each Azure schedule appears once</a:t>
            </a:r>
            <a:endParaRPr lang="en-US" sz="1550" dirty="0"/>
          </a:p>
        </p:txBody>
      </p:sp>
      <p:sp>
        <p:nvSpPr>
          <p:cNvPr id="20" name="Step 6 dot" descr="">
            <a:extLst>
              <a:ext uri="{C183D7F6-B498-43B3-948B-1728B52AA6E4}">
                <adec:decorative xmlns:adec="http://schemas.microsoft.com/office/drawing/2017/decorative" val="1"/>
              </a:ext>
            </a:extLst>
          </p:cNvPr>
          <p:cNvSpPr/>
          <p:nvPr/>
        </p:nvSpPr>
        <p:spPr>
          <a:xfrm>
            <a:off x="548640" y="4255008"/>
            <a:ext cx="291084" cy="291084"/>
          </a:xfrm>
          <a:prstGeom prst="ellipse">
            <a:avLst/>
          </a:prstGeom>
          <a:solidFill>
            <a:srgbClr val="B45309"/>
          </a:solidFill>
          <a:ln w="12700">
            <a:solidFill>
              <a:srgbClr val="B45309"/>
            </a:solidFill>
            <a:prstDash val="solid"/>
          </a:ln>
        </p:spPr>
      </p:sp>
      <p:sp>
        <p:nvSpPr>
          <p:cNvPr id="21" name="Step 6 number"/>
          <p:cNvSpPr txBox="1"/>
          <p:nvPr/>
        </p:nvSpPr>
        <p:spPr>
          <a:xfrm>
            <a:off x="548640" y="4255008"/>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236720"/>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Back it out: </a:t>
            </a:r>
            <a:pPr indent="0" marL="0">
              <a:buNone/>
            </a:pPr>
            <a:r>
              <a:rPr lang="en-US" sz="1550" dirty="0">
                <a:solidFill>
                  <a:srgbClr val="334155"/>
                </a:solidFill>
              </a:rPr>
              <a:t>Remove Reader and the permissions, delete the app and its certificate, delete out/inventory-test: it holds the tenant's privileged holders</a:t>
            </a:r>
            <a:endParaRPr lang="en-US" sz="1550" dirty="0"/>
          </a:p>
        </p:txBody>
      </p:sp>
      <p:sp>
        <p:nvSpPr>
          <p:cNvPr id="23" name="Callout" descr="">
            <a:extLst>
              <a:ext uri="{C183D7F6-B498-43B3-948B-1728B52AA6E4}">
                <adec:decorative xmlns:adec="http://schemas.microsoft.com/office/drawing/2017/decorative" val="1"/>
              </a:ext>
            </a:extLst>
          </p:cNvPr>
          <p:cNvSpPr/>
          <p:nvPr/>
        </p:nvSpPr>
        <p:spPr>
          <a:xfrm>
            <a:off x="548640" y="500176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07492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20492"/>
            <a:ext cx="315407" cy="315407"/>
          </a:xfrm>
          <a:prstGeom prst="rect">
            <a:avLst/>
          </a:prstGeom>
        </p:spPr>
      </p:pic>
      <p:sp>
        <p:nvSpPr>
          <p:cNvPr id="26" name="Callout text"/>
          <p:cNvSpPr txBox="1"/>
          <p:nvPr/>
        </p:nvSpPr>
        <p:spPr>
          <a:xfrm>
            <a:off x="1600200" y="505663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and a test Azure subscription with fictional people, never production. The run only reads.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Microsoft Entra role assignments (Download assignments). Chapter 01,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94860"/>
        </p:xfrm>
        <a:graphic>
          <a:graphicData uri="http://schemas.openxmlformats.org/drawingml/2006/table">
            <a:tbl>
              <a:tblPr firstRow="1" bandRow="1"/>
              <a:tblGrid>
                <a:gridCol w="3017520"/>
                <a:gridCol w="3931920"/>
                <a:gridCol w="41605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active-only inventory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list shrinks; Gate 0 passes on an empty table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Eligibility read and reported; a test pins the sample's miss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group counted as one holder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people behind PRV-T0-GlobalAdmin aren't counted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Groups expanded, rows Via Group, counted in PA-INV-04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member dropped, name unreadable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Someone holds a role and isn't listed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Row kept with the ID; PA-INV-09. Not guarded: service principal members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custom role treated as harmless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Privileged permissions outside every tier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Unclassified, PA-INV-05, never a default tier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exception list nobody owns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Standing privilege hides behind an "exception"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owner, no exception (PA-INV-01)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Only some Azure scopes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unlisted scope isn't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manifest shows the scopes; discovery is open (row 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Azure assignment counted twice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Inflated Owner 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De-duplicated by ID; inherited rows skipped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wrong cloud, or a broad permission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GCC High run reads .com; Directory.Read.All "to make it work"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Explicit cloud, host checked; tests pin exact permissions, none ReadWrite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inventory as a leak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folder names every privileged holder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manifest names no one; Lab 2 deletes the output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01, “Dangers”; Learn, Known issues in Microsoft Graph (service principal members); project plan Gate 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inventory" desc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inventor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INVENTORY</a:t>
            </a:r>
            <a:endParaRPr lang="en-US" sz="1100" dirty="0"/>
          </a:p>
        </p:txBody>
      </p:sp>
      <p:sp>
        <p:nvSpPr>
          <p:cNvPr id="7" name="Panel The inventory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Eligible as well as active assignments read; counts by state match the admin center download plus PIM's eligible list</a:t>
            </a:r>
            <a:endParaRPr lang="en-US" sz="1450" dirty="0"/>
          </a:p>
          <a:p>
            <a:pPr marL="342900" indent="-342900">
              <a:spcAft>
                <a:spcPts val="400"/>
              </a:spcAft>
              <a:buSzPct val="100000"/>
              <a:buChar char="•"/>
            </a:pPr>
            <a:r>
              <a:rPr lang="en-US" sz="1450" dirty="0">
                <a:solidFill>
                  <a:srgbClr val="334155"/>
                </a:solidFill>
              </a:rPr>
              <a:t>Every role-assignable group expanded, and no member dropped</a:t>
            </a:r>
            <a:endParaRPr lang="en-US" sz="1450" dirty="0"/>
          </a:p>
          <a:p>
            <a:pPr marL="342900" indent="-342900">
              <a:spcAft>
                <a:spcPts val="400"/>
              </a:spcAft>
              <a:buSzPct val="100000"/>
              <a:buChar char="•"/>
            </a:pPr>
            <a:r>
              <a:rPr lang="en-US" sz="1450" dirty="0">
                <a:solidFill>
                  <a:srgbClr val="334155"/>
                </a:solidFill>
              </a:rPr>
              <a:t>Every role in tiers.json, or its PA-INV-05 has an owner and a decision</a:t>
            </a:r>
            <a:endParaRPr lang="en-US" sz="1450" dirty="0"/>
          </a:p>
          <a:p>
            <a:pPr marL="342900" indent="-342900">
              <a:spcAft>
                <a:spcPts val="400"/>
              </a:spcAft>
              <a:buSzPct val="100000"/>
              <a:buChar char="•"/>
            </a:pPr>
            <a:r>
              <a:rPr lang="en-US" sz="1450" dirty="0">
                <a:solidFill>
                  <a:srgbClr val="334155"/>
                </a:solidFill>
              </a:rPr>
              <a:t>exceptions.csv lists only emergency accounts and service principals that can't activate, each with an owner and reason</a:t>
            </a:r>
            <a:endParaRPr lang="en-US" sz="1450" dirty="0"/>
          </a:p>
          <a:p>
            <a:pPr marL="342900" indent="-342900">
              <a:spcAft>
                <a:spcPts val="400"/>
              </a:spcAft>
              <a:buSzPct val="100000"/>
              <a:buChar char="•"/>
            </a:pPr>
            <a:r>
              <a:rPr lang="en-US" sz="1450" dirty="0">
                <a:solidFill>
                  <a:srgbClr val="334155"/>
                </a:solidFill>
              </a:rPr>
              <a:t>The Azure scopes read are the whole hierarchy, or the gap is written down</a:t>
            </a:r>
            <a:endParaRPr lang="en-US" sz="1450" dirty="0"/>
          </a:p>
        </p:txBody>
      </p:sp>
      <p:sp>
        <p:nvSpPr>
          <p:cNvPr id="8" name="Panel The app, the cloud and the evidence" descr="">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app, the cloud and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APP, THE CLOUD AND THE EVIDENCE</a:t>
            </a:r>
            <a:endParaRPr lang="en-US" sz="1100" dirty="0"/>
          </a:p>
        </p:txBody>
      </p:sp>
      <p:sp>
        <p:nvSpPr>
          <p:cNvPr id="10" name="Panel The app, the cloud and the evidence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app holds exactly the five Graph permissions and Reader, with a certificate or managed identity, never a secret</a:t>
            </a:r>
            <a:endParaRPr lang="en-US" sz="1450" dirty="0"/>
          </a:p>
          <a:p>
            <a:pPr marL="342900" indent="-342900">
              <a:spcAft>
                <a:spcPts val="400"/>
              </a:spcAft>
              <a:buSzPct val="100000"/>
              <a:buChar char="•"/>
            </a:pPr>
            <a:r>
              <a:rPr lang="en-US" sz="1450" dirty="0">
                <a:solidFill>
                  <a:srgbClr val="334155"/>
                </a:solidFill>
              </a:rPr>
              <a:t>The cloud is explicit; nothing in a GCC configuration is a .us host</a:t>
            </a:r>
            <a:endParaRPr lang="en-US" sz="1450" dirty="0"/>
          </a:p>
          <a:p>
            <a:pPr marL="342900" indent="-342900">
              <a:spcAft>
                <a:spcPts val="400"/>
              </a:spcAft>
              <a:buSzPct val="100000"/>
              <a:buChar char="•"/>
            </a:pPr>
            <a:r>
              <a:rPr lang="en-US" sz="1450" dirty="0">
                <a:solidFill>
                  <a:srgbClr val="334155"/>
                </a:solidFill>
              </a:rPr>
              <a:t>The manifest's hashes match the files handed to the ISSO</a:t>
            </a:r>
            <a:endParaRPr lang="en-US" sz="1450" dirty="0"/>
          </a:p>
          <a:p>
            <a:pPr marL="342900" indent="-342900">
              <a:spcAft>
                <a:spcPts val="400"/>
              </a:spcAft>
              <a:buSzPct val="100000"/>
              <a:buChar char="•"/>
            </a:pPr>
            <a:r>
              <a:rPr lang="en-US" sz="1450" dirty="0">
                <a:solidFill>
                  <a:srgbClr val="334155"/>
                </a:solidFill>
              </a:rPr>
              <a:t>The pinned Learn page matches its manifest; every upstream commit since the pin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indent="0" marL="0">
              <a:buNone/>
            </a:pPr>
            <a:r>
              <a:rPr lang="en-US" sz="1700" b="1" dirty="0">
                <a:solidFill>
                  <a:srgbClr val="B45309"/>
                </a:solidFill>
              </a:rPr>
              <a:t>Next: </a:t>
            </a:r>
            <a:pPr indent="0" marL="0">
              <a:buNone/>
            </a:pPr>
            <a:r>
              <a:rPr lang="en-US" sz="1700" dirty="0">
                <a:solidFill>
                  <a:srgbClr val="334155"/>
                </a:solidFill>
              </a:rPr>
              <a:t>Chapter 02 builds emergency access accounts as code: the one standing exception this inventory lets through.</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01, “Checklist,” “Continue the book”; Learn, Plan a PIM deployment (the emergency access exception).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pa01-pim-plan  </a:t>
            </a:r>
            <a:pPr indent="0" marL="0">
              <a:spcAft>
                <a:spcPts val="300"/>
              </a:spcAft>
              <a:buNone/>
            </a:pPr>
            <a:r>
              <a:rPr lang="en-US" sz="1050" dirty="0">
                <a:solidFill>
                  <a:srgbClr val="334155"/>
                </a:solidFill>
              </a:rPr>
              <a:t>Microsoft Learn, "Plan a Privileged Identity Management deployment," understand PIM, type of assignments, https://learn.microsoft.com/entra/id-governance/privileged-identity-management/pim-deployment-plan (accessed Oct 30, 2026).</a:t>
            </a:r>
            <a:endParaRPr lang="en-US" sz="1050" dirty="0"/>
          </a:p>
          <a:p>
            <a:pPr indent="0" marL="0">
              <a:spcAft>
                <a:spcPts val="300"/>
              </a:spcAft>
              <a:buNone/>
            </a:pPr>
            <a:r>
              <a:rPr lang="en-US" sz="1050" b="1" dirty="0">
                <a:solidFill>
                  <a:srgbClr val="1F2A44"/>
                </a:solidFill>
              </a:rPr>
              <a:t>pa01-roledefs  </a:t>
            </a:r>
            <a:pPr indent="0" marL="0">
              <a:spcAft>
                <a:spcPts val="300"/>
              </a:spcAft>
              <a:buNone/>
            </a:pPr>
            <a:r>
              <a:rPr lang="en-US" sz="1050" dirty="0">
                <a:solidFill>
                  <a:srgbClr val="334155"/>
                </a:solidFill>
              </a:rPr>
              <a:t>Microsoft Learn, "List roleDefinitions," https://learn.microsoft.com/graph/api/rbacapplication-list-roledefinitions?view=graph-rest-1.0 (accessed Oct 30, 2026).</a:t>
            </a:r>
            <a:endParaRPr lang="en-US" sz="1050" dirty="0"/>
          </a:p>
          <a:p>
            <a:pPr indent="0" marL="0">
              <a:spcAft>
                <a:spcPts val="300"/>
              </a:spcAft>
              <a:buNone/>
            </a:pPr>
            <a:r>
              <a:rPr lang="en-US" sz="1050" b="1" dirty="0">
                <a:solidFill>
                  <a:srgbClr val="1F2A44"/>
                </a:solidFill>
              </a:rPr>
              <a:t>pa01-rasi  </a:t>
            </a:r>
            <a:pPr indent="0" marL="0">
              <a:spcAft>
                <a:spcPts val="300"/>
              </a:spcAft>
              <a:buNone/>
            </a:pPr>
            <a:r>
              <a:rPr lang="en-US" sz="1050" dirty="0">
                <a:solidFill>
                  <a:srgbClr val="334155"/>
                </a:solidFill>
              </a:rPr>
              <a:t>Microsoft Learn, "List roleAssignmentScheduleInstances," https://learn.microsoft.com/graph/api/rbacapplication-list-roleassignmentscheduleinstances?view=graph-rest-1.0 (accessed Oct 30, 2026).</a:t>
            </a:r>
            <a:endParaRPr lang="en-US" sz="1050" dirty="0"/>
          </a:p>
          <a:p>
            <a:pPr indent="0" marL="0">
              <a:spcAft>
                <a:spcPts val="300"/>
              </a:spcAft>
              <a:buNone/>
            </a:pPr>
            <a:r>
              <a:rPr lang="en-US" sz="1050" b="1" dirty="0">
                <a:solidFill>
                  <a:srgbClr val="1F2A44"/>
                </a:solidFill>
              </a:rPr>
              <a:t>pa01-rasi-type  </a:t>
            </a:r>
            <a:pPr indent="0" marL="0">
              <a:spcAft>
                <a:spcPts val="300"/>
              </a:spcAft>
              <a:buNone/>
            </a:pPr>
            <a:r>
              <a:rPr lang="en-US" sz="1050" dirty="0">
                <a:solidFill>
                  <a:srgbClr val="334155"/>
                </a:solidFill>
              </a:rPr>
              <a:t>Microsoft Learn, "unifiedRoleAssignmentScheduleInstance resource type," properties, https://learn.microsoft.com/graph/api/resources/unifiedroleassignmentscheduleinstance?view=graph-rest-1.0 (accessed Oct 30, 2026).</a:t>
            </a:r>
            <a:endParaRPr lang="en-US" sz="1050" dirty="0"/>
          </a:p>
          <a:p>
            <a:pPr indent="0" marL="0">
              <a:spcAft>
                <a:spcPts val="300"/>
              </a:spcAft>
              <a:buNone/>
            </a:pPr>
            <a:r>
              <a:rPr lang="en-US" sz="1050" b="1" dirty="0">
                <a:solidFill>
                  <a:srgbClr val="1F2A44"/>
                </a:solidFill>
              </a:rPr>
              <a:t>pa01-res  </a:t>
            </a:r>
            <a:pPr indent="0" marL="0">
              <a:spcAft>
                <a:spcPts val="300"/>
              </a:spcAft>
              <a:buNone/>
            </a:pPr>
            <a:r>
              <a:rPr lang="en-US" sz="1050" dirty="0">
                <a:solidFill>
                  <a:srgbClr val="334155"/>
                </a:solidFill>
              </a:rPr>
              <a:t>Microsoft Learn, "List roleEligibilitySchedules," https://learn.microsoft.com/graph/api/rbacapplication-list-roleeligibilityschedules?view=graph-rest-1.0 (accessed Oct 30, 2026).</a:t>
            </a:r>
            <a:endParaRPr lang="en-US" sz="1050" dirty="0"/>
          </a:p>
          <a:p>
            <a:pPr indent="0" marL="0">
              <a:spcAft>
                <a:spcPts val="300"/>
              </a:spcAft>
              <a:buNone/>
            </a:pPr>
            <a:r>
              <a:rPr lang="en-US" sz="1050" b="1" dirty="0">
                <a:solidFill>
                  <a:srgbClr val="1F2A44"/>
                </a:solidFill>
              </a:rPr>
              <a:t>pa01-members  </a:t>
            </a:r>
            <a:pPr indent="0" marL="0">
              <a:spcAft>
                <a:spcPts val="300"/>
              </a:spcAft>
              <a:buNone/>
            </a:pPr>
            <a:r>
              <a:rPr lang="en-US" sz="1050" dirty="0">
                <a:solidFill>
                  <a:srgbClr val="334155"/>
                </a:solidFill>
              </a:rPr>
              <a:t>Microsoft Learn, "List group members," permissions and the known issue for service principals in v1.0, https://learn.microsoft.com/graph/api/group-list-members?view=graph-rest-1.0 (accessed Oct 31, 2026).</a:t>
            </a:r>
            <a:endParaRPr lang="en-US" sz="1050" dirty="0"/>
          </a:p>
          <a:p>
            <a:pPr indent="0" marL="0">
              <a:spcAft>
                <a:spcPts val="300"/>
              </a:spcAft>
              <a:buNone/>
            </a:pPr>
            <a:r>
              <a:rPr lang="en-US" sz="1050" b="1" dirty="0">
                <a:solidFill>
                  <a:srgbClr val="1F2A44"/>
                </a:solidFill>
              </a:rPr>
              <a:t>pa01-members-known-issue  </a:t>
            </a:r>
            <a:pPr indent="0" marL="0">
              <a:spcAft>
                <a:spcPts val="300"/>
              </a:spcAft>
              <a:buNone/>
            </a:pPr>
            <a:r>
              <a:rPr lang="en-US" sz="1050" dirty="0">
                <a:solidFill>
                  <a:srgbClr val="334155"/>
                </a:solidFill>
              </a:rPr>
              <a:t>Microsoft Learn, "Known issues in Microsoft Graph," GET /groups/{id}/members doesn't return service principals in v1.0, and query parameter limitations for $expand, https://learn.microsoft.com/graph/known-issues#get-groupsidmembers-doesnt-return-service-principals-in-v10 (accessed Oct 31, 2026).</a:t>
            </a:r>
            <a:endParaRPr lang="en-US" sz="1050" dirty="0"/>
          </a:p>
          <a:p>
            <a:pPr indent="0" marL="0">
              <a:spcAft>
                <a:spcPts val="300"/>
              </a:spcAft>
              <a:buNone/>
            </a:pPr>
            <a:r>
              <a:rPr lang="en-US" sz="1050" b="1" dirty="0">
                <a:solidFill>
                  <a:srgbClr val="1F2A44"/>
                </a:solidFill>
              </a:rPr>
              <a:t>pa01-cmdlet  </a:t>
            </a:r>
            <a:pPr indent="0" marL="0">
              <a:spcAft>
                <a:spcPts val="300"/>
              </a:spcAft>
              <a:buNone/>
            </a:pPr>
            <a:r>
              <a:rPr lang="en-US" sz="1050" dirty="0">
                <a:solidFill>
                  <a:srgbClr val="334155"/>
                </a:solidFill>
              </a:rPr>
              <a:t>Microsoft Learn, "Get-MgRoleManagementDirectoryRoleAssignment," syntax and the -All and -PageSize parameters, https://learn.microsoft.com/powershell/module/microsoft.graph.identity.governance/get-mgrolemanagementdirectoryroleassignment (accessed Oct 31, 2026).</a:t>
            </a:r>
            <a:endParaRPr lang="en-US" sz="1050" dirty="0"/>
          </a:p>
          <a:p>
            <a:pPr indent="0" marL="0">
              <a:spcAft>
                <a:spcPts val="300"/>
              </a:spcAft>
              <a:buNone/>
            </a:pPr>
            <a:r>
              <a:rPr lang="en-US" sz="1050" b="1" dirty="0">
                <a:solidFill>
                  <a:srgbClr val="1F2A44"/>
                </a:solidFill>
              </a:rPr>
              <a:t>pa01-limited  </a:t>
            </a:r>
            <a:pPr indent="0" marL="0">
              <a:spcAft>
                <a:spcPts val="300"/>
              </a:spcAft>
              <a:buNone/>
            </a:pPr>
            <a:r>
              <a:rPr lang="en-US" sz="1050" dirty="0">
                <a:solidFill>
                  <a:srgbClr val="334155"/>
                </a:solidFill>
              </a:rPr>
              <a:t>Microsoft Learn, "Overview of Microsoft Graph permissions," limited information returned for inaccessible member objects, https://learn.microsoft.com/graph/permissions-overview (accessed Oct 30, 2026).</a:t>
            </a:r>
            <a:endParaRPr lang="en-US" sz="1050" dirty="0"/>
          </a:p>
          <a:p>
            <a:pPr indent="0" marL="0">
              <a:spcAft>
                <a:spcPts val="300"/>
              </a:spcAft>
              <a:buNone/>
            </a:pPr>
            <a:r>
              <a:rPr lang="en-US" sz="1050" b="1" dirty="0">
                <a:solidFill>
                  <a:srgbClr val="1F2A44"/>
                </a:solidFill>
              </a:rPr>
              <a:t>pa01-azure-pim  </a:t>
            </a:r>
            <a:pPr indent="0" marL="0">
              <a:spcAft>
                <a:spcPts val="300"/>
              </a:spcAft>
              <a:buNone/>
            </a:pPr>
            <a:r>
              <a:rPr lang="en-US" sz="1050" dirty="0">
                <a:solidFill>
                  <a:srgbClr val="334155"/>
                </a:solidFill>
              </a:rPr>
              <a:t>Microsoft Learn, "Eligible and time-bound role assignments in Azure RBAC," how to list eligible and time-bound role assignments, https://learn.microsoft.com/azure/role-based-access-control/pim-integration (accessed Oct 30, 2026).</a:t>
            </a:r>
            <a:endParaRPr lang="en-US" sz="1050" dirty="0"/>
          </a:p>
          <a:p>
            <a:pPr indent="0" marL="0">
              <a:spcAft>
                <a:spcPts val="300"/>
              </a:spcAft>
              <a:buNone/>
            </a:pPr>
            <a:r>
              <a:rPr lang="en-US" sz="1050" b="1" dirty="0">
                <a:solidFill>
                  <a:srgbClr val="1F2A44"/>
                </a:solidFill>
              </a:rPr>
              <a:t>pa01-azure-api  </a:t>
            </a:r>
            <a:pPr indent="0" marL="0">
              <a:spcAft>
                <a:spcPts val="300"/>
              </a:spcAft>
              <a:buNone/>
            </a:pPr>
            <a:r>
              <a:rPr lang="en-US" sz="1050" dirty="0">
                <a:solidFill>
                  <a:srgbClr val="334155"/>
                </a:solidFill>
              </a:rPr>
              <a:t>Microsoft Learn, "API versions of Azure RBAC REST APIs," release notes for 2020-10-01, https://learn.microsoft.com/rest/api/authorization/versions (accessed Oct 30, 2026).</a:t>
            </a:r>
            <a:endParaRPr lang="en-US" sz="1050" dirty="0"/>
          </a:p>
          <a:p>
            <a:pPr indent="0" marL="0">
              <a:spcAft>
                <a:spcPts val="300"/>
              </a:spcAft>
              <a:buNone/>
            </a:pPr>
            <a:r>
              <a:rPr lang="en-US" sz="1050" b="1" dirty="0">
                <a:solidFill>
                  <a:srgbClr val="1F2A44"/>
                </a:solidFill>
              </a:rPr>
              <a:t>pa01-privileged  </a:t>
            </a:r>
            <a:pPr indent="0" marL="0">
              <a:spcAft>
                <a:spcPts val="300"/>
              </a:spcAft>
              <a:buNone/>
            </a:pPr>
            <a:r>
              <a:rPr lang="en-US" sz="1050" dirty="0">
                <a:solidFill>
                  <a:srgbClr val="334155"/>
                </a:solidFill>
              </a:rPr>
              <a:t>Microsoft Learn, "Privileged roles and permissions in Microsoft Entra ID (preview)," https://learn.microsoft.com/entra/identity/role-based-access-control/privileged-roles-permissions (accessed Oct 30, 2026).</a:t>
            </a:r>
            <a:endParaRPr lang="en-US" sz="1050" dirty="0"/>
          </a:p>
          <a:p>
            <a:pPr indent="0" marL="0">
              <a:spcAft>
                <a:spcPts val="300"/>
              </a:spcAft>
              <a:buNone/>
            </a:pPr>
            <a:r>
              <a:rPr lang="en-US" sz="1050" b="1" dirty="0">
                <a:solidFill>
                  <a:srgbClr val="1F2A44"/>
                </a:solidFill>
              </a:rPr>
              <a:t>pa01-deployments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pa01-compare  </a:t>
            </a:r>
            <a:pPr indent="0" marL="0">
              <a:spcAft>
                <a:spcPts val="300"/>
              </a:spcAft>
              <a:buNone/>
            </a:pPr>
            <a:r>
              <a:rPr lang="en-US" sz="1050" dirty="0">
                <a:solidFill>
                  <a:srgbClr val="334155"/>
                </a:solidFill>
              </a:rPr>
              <a:t>Microsoft Learn, "Compare Azure Government and global Azure," guidance for developers, https://learn.microsoft.com/azure/azure-government/compare-azure-government-global-azure (accessed Oct 30, 2026; read for the first workbook's Chapter 02).</a:t>
            </a:r>
            <a:endParaRPr lang="en-US" sz="1050" dirty="0"/>
          </a:p>
          <a:p>
            <a:pPr indent="0" marL="0">
              <a:spcAft>
                <a:spcPts val="300"/>
              </a:spcAft>
              <a:buNone/>
            </a:pPr>
            <a:r>
              <a:rPr lang="en-US" sz="1050" b="1" dirty="0">
                <a:solidFill>
                  <a:srgbClr val="1F2A44"/>
                </a:solidFill>
              </a:rPr>
              <a:t>pa01-ems-gcc  </a:t>
            </a:r>
            <a:pPr indent="0" marL="0">
              <a:spcAft>
                <a:spcPts val="300"/>
              </a:spcAft>
              <a:buNone/>
            </a:pPr>
            <a:r>
              <a:rPr lang="en-US" sz="1050" dirty="0">
                <a:solidFill>
                  <a:srgbClr val="334155"/>
                </a:solidFill>
              </a:rPr>
              <a:t>Microsoft Learn, "Enterprise Mobility + Security for US Government service description," EMS for US GCC customers, https://learn.microsoft.com/enterprise-mobility-security/solutions/ems-govt-service-description (accessed Oct 30, 2026).</a:t>
            </a:r>
            <a:endParaRPr lang="en-US" sz="1050" dirty="0"/>
          </a:p>
          <a:p>
            <a:pPr indent="0" marL="0">
              <a:spcAft>
                <a:spcPts val="300"/>
              </a:spcAft>
              <a:buNone/>
            </a:pPr>
            <a:r>
              <a:rPr lang="en-US" sz="1050" b="1" dirty="0">
                <a:solidFill>
                  <a:srgbClr val="1F2A44"/>
                </a:solidFill>
              </a:rPr>
              <a:t>pa01-availability  </a:t>
            </a:r>
            <a:pPr indent="0" marL="0">
              <a:spcAft>
                <a:spcPts val="300"/>
              </a:spcAft>
              <a:buNone/>
            </a:pPr>
            <a:r>
              <a:rPr lang="en-US" sz="1050" dirty="0">
                <a:solidFill>
                  <a:srgbClr val="334155"/>
                </a:solidFill>
              </a:rPr>
              <a:t>Microsoft Learn, "Microsoft Entra feature availability,"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pa01-list-ra  </a:t>
            </a:r>
            <a:pPr indent="0" marL="0">
              <a:spcAft>
                <a:spcPts val="300"/>
              </a:spcAft>
              <a:buNone/>
            </a:pPr>
            <a:r>
              <a:rPr lang="en-US" sz="1050" dirty="0">
                <a:solidFill>
                  <a:srgbClr val="334155"/>
                </a:solidFill>
              </a:rPr>
              <a:t>Microsoft Learn, "List unifiedRoleAssignments," https://learn.microsoft.com/graph/api/rbacapplication-list-roleassignments?view=graph-rest-1.0 (accessed Oct 30, 2026).</a:t>
            </a:r>
            <a:endParaRPr lang="en-US" sz="1050" dirty="0"/>
          </a:p>
          <a:p>
            <a:pPr indent="0" marL="0">
              <a:spcAft>
                <a:spcPts val="300"/>
              </a:spcAft>
              <a:buNone/>
            </a:pPr>
            <a:r>
              <a:rPr lang="en-US" sz="1050" b="1" dirty="0">
                <a:solidFill>
                  <a:srgbClr val="1F2A44"/>
                </a:solidFill>
              </a:rPr>
              <a:t>pa01-view  </a:t>
            </a:r>
            <a:pPr indent="0" marL="0">
              <a:spcAft>
                <a:spcPts val="300"/>
              </a:spcAft>
              <a:buNone/>
            </a:pPr>
            <a:r>
              <a:rPr lang="en-US" sz="1050" dirty="0">
                <a:solidFill>
                  <a:srgbClr val="334155"/>
                </a:solidFill>
              </a:rPr>
              <a:t>Microsoft Learn, "List Microsoft Entra role assignments," https://learn.microsoft.com/entra/identity/role-based-access-control/view-assignments (accessed Oct 30, 2026).</a:t>
            </a:r>
            <a:endParaRPr lang="en-US" sz="1050" dirty="0"/>
          </a:p>
          <a:p>
            <a:pPr indent="0" marL="0">
              <a:spcAft>
                <a:spcPts val="300"/>
              </a:spcAft>
              <a:buNone/>
            </a:pPr>
            <a:r>
              <a:rPr lang="en-US" sz="1050" b="1" dirty="0">
                <a:solidFill>
                  <a:srgbClr val="1F2A44"/>
                </a:solidFill>
              </a:rPr>
              <a:t>pa01-sample-src  </a:t>
            </a:r>
            <a:pPr indent="0" marL="0">
              <a:spcAft>
                <a:spcPts val="300"/>
              </a:spcAft>
              <a:buNone/>
            </a:pPr>
            <a:r>
              <a:rPr lang="en-US" sz="1050" dirty="0">
                <a:solidFill>
                  <a:srgbClr val="334155"/>
                </a:solidFill>
              </a:rPr>
              <a:t>Microsoft, MicrosoftDocs/entra-docs, docs/identity/role-based-access-control/view-assignments.md at commit 07cb73d6c6380414eecd040ba5e14c1c94d48b66 (October 30, 2026; the page last changed February 24, 2026), MIT License, https://github.com/MicrosoftDocs/entra-docs/blob/07cb73d6c6380414eecd040ba5e14c1c94d48b66/docs/identity/role-based-access-control/view-assignments.md (accessed Oct 30, 2026); pinned copy in examples/third_party/entra-role-assignments-page.</a:t>
            </a:r>
            <a:endParaRPr lang="en-US" sz="1050" dirty="0"/>
          </a:p>
          <a:p>
            <a:pPr indent="0" marL="0">
              <a:spcAft>
                <a:spcPts val="300"/>
              </a:spcAft>
              <a:buNone/>
            </a:pPr>
            <a:r>
              <a:rPr lang="en-US" sz="1050" b="1" dirty="0">
                <a:solidFill>
                  <a:srgbClr val="1F2A44"/>
                </a:solidFill>
              </a:rPr>
              <a:t>pa01-paging  </a:t>
            </a:r>
            <a:pPr indent="0" marL="0">
              <a:spcAft>
                <a:spcPts val="300"/>
              </a:spcAft>
              <a:buNone/>
            </a:pPr>
            <a:r>
              <a:rPr lang="en-US" sz="1050" dirty="0">
                <a:solidFill>
                  <a:srgbClr val="334155"/>
                </a:solidFill>
              </a:rPr>
              <a:t>Microsoft Learn, "Page through a collection using the Microsoft Graph SDKs," https://learn.microsoft.com/graph/sdks/paging (accessed Oct 30, 2026; read for the first workbook's Chapter 02).</a:t>
            </a:r>
            <a:endParaRPr lang="en-US" sz="1050" dirty="0"/>
          </a:p>
          <a:p>
            <a:pPr indent="0" marL="0">
              <a:spcAft>
                <a:spcPts val="300"/>
              </a:spcAft>
              <a:buNone/>
            </a:pPr>
            <a:r>
              <a:rPr lang="en-US" sz="1050" b="1" dirty="0">
                <a:solidFill>
                  <a:srgbClr val="1F2A44"/>
                </a:solidFill>
              </a:rPr>
              <a:t>pa01-versioning  </a:t>
            </a:r>
            <a:pPr indent="0" marL="0">
              <a:spcAft>
                <a:spcPts val="300"/>
              </a:spcAft>
              <a:buNone/>
            </a:pPr>
            <a:r>
              <a:rPr lang="en-US" sz="1050" dirty="0">
                <a:solidFill>
                  <a:srgbClr val="334155"/>
                </a:solidFill>
              </a:rPr>
              <a:t>Microsoft Learn, "Versioning, support, and breaking change policies for Microsoft Graph," https://learn.microsoft.com/graph/versioning-and-support (accessed Oct 30, 2026; read for the first workbook's Chapter 02).</a:t>
            </a:r>
            <a:endParaRPr lang="en-US" sz="1050" dirty="0"/>
          </a:p>
          <a:p>
            <a:pPr indent="0" marL="0">
              <a:spcAft>
                <a:spcPts val="300"/>
              </a:spcAft>
              <a:buNone/>
            </a:pPr>
            <a:r>
              <a:rPr lang="en-US" sz="1050" b="1" dirty="0">
                <a:solidFill>
                  <a:srgbClr val="1F2A44"/>
                </a:solidFill>
              </a:rPr>
              <a:t>pa01-azure-roles  </a:t>
            </a:r>
            <a:pPr indent="0" marL="0">
              <a:spcAft>
                <a:spcPts val="300"/>
              </a:spcAft>
              <a:buNone/>
            </a:pPr>
            <a:r>
              <a:rPr lang="en-US" sz="1050" dirty="0">
                <a:solidFill>
                  <a:srgbClr val="334155"/>
                </a:solidFill>
              </a:rPr>
              <a:t>Microsoft Learn, "Azure built-in roles," privileged and general, https://learn.microsoft.com/azure/role-based-access-control/built-in-roles, and "Azure built-in roles for Privileged," https://learn.microsoft.com/azure/role-based-access-control/built-in-roles/privileged (accessed Oct 30, 2026).</a:t>
            </a:r>
            <a:endParaRPr lang="en-US" sz="1050" dirty="0"/>
          </a:p>
          <a:p>
            <a:pPr indent="0" marL="0">
              <a:spcAft>
                <a:spcPts val="300"/>
              </a:spcAft>
              <a:buNone/>
            </a:pPr>
            <a:r>
              <a:rPr lang="en-US" sz="1050" b="1" dirty="0">
                <a:solidFill>
                  <a:srgbClr val="1F2A44"/>
                </a:solidFill>
              </a:rPr>
              <a:t>pa01-best  </a:t>
            </a:r>
            <a:pPr indent="0" marL="0">
              <a:spcAft>
                <a:spcPts val="300"/>
              </a:spcAft>
              <a:buNone/>
            </a:pPr>
            <a:r>
              <a:rPr lang="en-US" sz="1050" dirty="0">
                <a:solidFill>
                  <a:srgbClr val="334155"/>
                </a:solidFill>
              </a:rPr>
              <a:t>Microsoft Learn, "Best practices for Microsoft Entra roles," sections 5 to 7, https://learn.microsoft.com/entra/identity/role-based-access-control/best-practices (accessed Oct 30, 2026).</a:t>
            </a:r>
            <a:endParaRPr lang="en-US" sz="1050" dirty="0"/>
          </a:p>
          <a:p>
            <a:pPr indent="0" marL="0">
              <a:spcAft>
                <a:spcPts val="300"/>
              </a:spcAft>
              <a:buNone/>
            </a:pPr>
            <a:r>
              <a:rPr lang="en-US" sz="1050" b="1" dirty="0">
                <a:solidFill>
                  <a:srgbClr val="1F2A44"/>
                </a:solidFill>
              </a:rPr>
              <a:t>pa01-elevate  </a:t>
            </a:r>
            <a:pPr indent="0" marL="0">
              <a:spcAft>
                <a:spcPts val="300"/>
              </a:spcAft>
              <a:buNone/>
            </a:pPr>
            <a:r>
              <a:rPr lang="en-US" sz="1050" dirty="0">
                <a:solidFill>
                  <a:srgbClr val="334155"/>
                </a:solidFill>
              </a:rPr>
              <a:t>Microsoft Learn, "Azure roles, Microsoft Entra roles, and classic subscription administrator roles," do Azure roles and Microsoft Entra roles overlap, https://learn.microsoft.com/azure/role-based-access-control/rbac-and-directory-admin-roles (accessed Oct 30, 2026).</a:t>
            </a:r>
            <a:endParaRPr lang="en-US" sz="1050" dirty="0"/>
          </a:p>
          <a:p>
            <a:pPr indent="0" marL="0">
              <a:spcAft>
                <a:spcPts val="300"/>
              </a:spcAft>
              <a:buNone/>
            </a:pPr>
            <a:r>
              <a:rPr lang="en-US" sz="1050" b="1" dirty="0">
                <a:solidFill>
                  <a:srgbClr val="1F2A44"/>
                </a:solidFill>
              </a:rPr>
              <a:t>pa01-azure-best  </a:t>
            </a:r>
            <a:pPr indent="0" marL="0">
              <a:spcAft>
                <a:spcPts val="300"/>
              </a:spcAft>
              <a:buNone/>
            </a:pPr>
            <a:r>
              <a:rPr lang="en-US" sz="1050" dirty="0">
                <a:solidFill>
                  <a:srgbClr val="334155"/>
                </a:solidFill>
              </a:rPr>
              <a:t>Microsoft Learn, "Best practices for Azure RBAC," limit the number of subscription owners, https://learn.microsoft.com/azure/role-based-access-control/best-practices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01 — Privileged Inventory as Code</dc:title>
  <dc:subject>PptxGenJS Presentation</dc:subject>
  <dc:creator>Michael F. Stratton</dc:creator>
  <cp:lastModifiedBy>Michael F. Stratton</cp:lastModifiedBy>
  <cp:revision>1</cp:revision>
  <dcterms:created xsi:type="dcterms:W3CDTF">2026-10-31T14:33:51Z</dcterms:created>
  <dcterms:modified xsi:type="dcterms:W3CDTF">2026-10-31T14:33:51Z</dcterms:modified>
</cp:coreProperties>
</file>