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7156c93-982e-676d-47a9-b479cb325408}">
          <p14:sldIdLst>
            <p14:sldId id="256"/>
            <p14:sldId id="257"/>
            <p14:sldId id="258"/>
          </p14:sldIdLst>
        </p14:section>
        <p14:section name="Part 1 — The platform and the case for it" id="{0f013c0e-778c-c23c-1d46-9090129c5c98}">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0b200bc9-6f3e-fc32-8274-fe894655aebd}">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cfe0a969-e34e-232d-2466-3de4967d2cbe}">
          <p14:sldIdLst>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[45:12–47:16]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[47:16–49:20]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[49:20–49:57]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[49:57–51:49]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[51:49–53:41]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[53:41–55:43]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[55:43–57:31]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[57:31–59:38]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platform and the case for it</a:t>
            </a:r>
            <a:endParaRPr lang="en-US" sz="1500" dirty="0"/>
          </a:p>
          <a:p>
            <a:pPr indent="0" marL="0">
              <a:spcAft>
                <a:spcPts val="200"/>
              </a:spcAft>
              <a:buNone/>
            </a:pPr>
            <a:r>
              <a:rPr lang="en-US" sz="1500" dirty="0">
                <a:solidFill>
                  <a:srgbClr val="334155"/>
                </a:solidFill>
              </a:rPr>
              <a:t>Module 1  The platform   ·   Module 2  Why it's a top recommendation, and its risks</a:t>
            </a:r>
            <a:endParaRPr lang="en-US" sz="1500" dirty="0"/>
          </a:p>
          <a:p>
            <a:pPr indent="0" marL="0">
              <a:spcAft>
                <a:spcPts val="200"/>
              </a:spcAft>
              <a:buNone/>
            </a:pPr>
            <a:r>
              <a:rPr lang="en-US" sz="1500" b="1" dirty="0">
                <a:solidFill>
                  <a:srgbClr val="0F766E"/>
                </a:solidFill>
              </a:rPr>
              <a:t>Part 2 — Divisions under central governance</a:t>
            </a:r>
            <a:endParaRPr lang="en-US" sz="1500" dirty="0"/>
          </a:p>
          <a:p>
            <a:pPr indent="0" marL="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Icon FaGlobe" descr="">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DNS decides where every connection goes</a:t>
            </a:r>
            <a:endParaRPr lang="en-US" sz="1250" dirty="0"/>
          </a:p>
          <a:p>
            <a:pPr indent="0" marL="0">
              <a:buNone/>
            </a:pPr>
            <a:r>
              <a:rPr lang="en-US" sz="1250" dirty="0">
                <a:solidFill>
                  <a:schemeClr val="tx2"/>
                </a:solidFill>
              </a:rPr>
              <a:t>Private endpoints, SaaS front doors, certificate checks (OCSP, CRL) all start with a name</a:t>
            </a:r>
            <a:endParaRPr lang="en-US" sz="1250" dirty="0"/>
          </a:p>
        </p:txBody>
      </p:sp>
      <p:sp>
        <p:nvSpPr>
          <p:cNvPr id="8" name="Icon FaRightLeft" descr="">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indent="0" marL="0">
              <a:buNone/>
            </a:pPr>
            <a:r>
              <a:rPr lang="en-US" sz="1450" b="1" dirty="0">
                <a:solidFill>
                  <a:srgbClr val="0F766E"/>
                </a:solidFill>
              </a:rPr>
              <a:t>DHCP decides who a device is on the network</a:t>
            </a:r>
            <a:endParaRPr lang="en-US" sz="1250" dirty="0"/>
          </a:p>
          <a:p>
            <a:pPr indent="0" marL="0">
              <a:buNone/>
            </a:pPr>
            <a:r>
              <a:rPr lang="en-US" sz="1250" dirty="0">
                <a:solidFill>
                  <a:schemeClr val="tx2"/>
                </a:solidFill>
              </a:rPr>
              <a:t>Lease history maps an address to an asset at a point in time (SP 800-81r3)</a:t>
            </a:r>
            <a:endParaRPr lang="en-US" sz="1250" dirty="0"/>
          </a:p>
        </p:txBody>
      </p:sp>
      <p:sp>
        <p:nvSpPr>
          <p:cNvPr id="11" name="Icon FaSitemap" descr="">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indent="0" marL="0">
              <a:buNone/>
            </a:pPr>
            <a:r>
              <a:rPr lang="en-US" sz="1450" b="1" dirty="0">
                <a:solidFill>
                  <a:srgbClr val="1F2A44"/>
                </a:solidFill>
              </a:rPr>
              <a:t>IPAM decides what address space the agency owns</a:t>
            </a:r>
            <a:endParaRPr lang="en-US" sz="1250" dirty="0"/>
          </a:p>
          <a:p>
            <a:pPr indent="0" marL="0">
              <a:buNone/>
            </a:pPr>
            <a:r>
              <a:rPr lang="en-US" sz="1250" dirty="0">
                <a:solidFill>
                  <a:schemeClr val="tx2"/>
                </a:solidFill>
              </a:rPr>
              <a:t>The record behind asset discovery, inventory attestation and IPv6 planning</a:t>
            </a:r>
            <a:endParaRPr lang="en-US" sz="1250" dirty="0"/>
          </a:p>
        </p:txBody>
      </p:sp>
      <p:sp>
        <p:nvSpPr>
          <p:cNvPr id="14" name="Plane" descr="">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indent="0" marL="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descr="">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Icon FaLightbulb" descr="">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indent="0" marL="0">
              <a:buNone/>
            </a:pPr>
            <a:r>
              <a:rPr lang="en-US" sz="1650" b="1" dirty="0">
                <a:solidFill>
                  <a:srgbClr val="B45309"/>
                </a:solidFill>
              </a:rPr>
              <a:t>The argument of this deck: </a:t>
            </a:r>
            <a:pPr indent="0" marL="0">
              <a:buNone/>
            </a:pP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gridCol w="48920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Vendor" desc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indent="0" marL="0">
              <a:buNone/>
            </a:pPr>
            <a:r>
              <a:rPr lang="en-US" sz="1100" b="1" dirty="0">
                <a:solidFill>
                  <a:srgbClr val="64748B"/>
                </a:solidFill>
              </a:rPr>
              <a:t>THE HONEST STARTING POINT</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admin guide; Universal DDI and Threat Defense docs; infobloxopen GitHub; vendor pages (labeled).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rid" descr="">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HOW A NIOS GRID WORKS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6"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gridCol w="39776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indent="0" marL="0">
              <a:buNone/>
            </a:pPr>
            <a:r>
              <a:rPr lang="en-US" sz="1250" b="1" dirty="0">
                <a:solidFill>
                  <a:srgbClr val="0F766E"/>
                </a:solidFill>
              </a:rPr>
              <a:t>October 2026: </a:t>
            </a:r>
            <a:pPr indent="0" marL="0">
              <a:buNone/>
            </a:pP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UDDI" descr="">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indent="0" marL="0">
              <a:buNone/>
            </a:pPr>
            <a:r>
              <a:rPr lang="en-US" sz="1100" b="1" dirty="0">
                <a:solidFill>
                  <a:srgbClr val="64748B"/>
                </a:solidFill>
              </a:rPr>
              <a:t>THE CLOUD-MANAGED SIDE</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7"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gridCol w="4069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gridCol w="896112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lgo" descr="">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indent="0" marL="0">
              <a:buNone/>
            </a:pPr>
            <a:r>
              <a:rPr lang="en-US" sz="1650" b="1" dirty="0">
                <a:solidFill>
                  <a:srgbClr val="B91C1C"/>
                </a:solidFill>
              </a:rPr>
              <a:t>Change the default before you sign: </a:t>
            </a:r>
            <a:pPr indent="0" marL="0">
              <a:buNone/>
            </a:pP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DHCP" descr="">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indent="0" marL="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descr="">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indent="0" marL="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desc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Network views permit overlap; they don't prevent it. </a:t>
            </a:r>
            <a:pPr indent="0" marL="0">
              <a:buNone/>
            </a:pP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TD" descr="">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gridCol w="1417320"/>
                <a:gridCol w="1691640"/>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indent="0" marL="0">
              <a:buNone/>
            </a:pPr>
            <a:r>
              <a:rPr lang="en-US" sz="1150" dirty="0">
                <a:solidFill>
                  <a:srgbClr val="64748B"/>
                </a:solidFill>
              </a:rPr>
              <a:t>Tiers: Essentials, Business On-Premises, Business Cloud, Advanced.</a:t>
            </a:r>
            <a:endParaRPr lang="en-US" sz="1150" dirty="0"/>
          </a:p>
        </p:txBody>
      </p:sp>
      <p:sp>
        <p:nvSpPr>
          <p:cNvPr id="10" name="Proof"/>
          <p:cNvSpPr txBox="1"/>
          <p:nvPr/>
        </p:nvSpPr>
        <p:spPr>
          <a:xfrm>
            <a:off x="5806440" y="3657600"/>
            <a:ext cx="5852160" cy="594360"/>
          </a:xfrm>
          <a:prstGeom prst="rect">
            <a:avLst/>
          </a:prstGeom>
          <a:noFill/>
          <a:ln/>
        </p:spPr>
        <p:txBody>
          <a:bodyPr wrap="square" lIns="0" tIns="0" rIns="0" bIns="0" rtlCol="0" anchor="t"/>
          <a:lstStyle/>
          <a:p>
            <a:pPr indent="0" marL="0">
              <a:buNone/>
            </a:pPr>
            <a:r>
              <a:rPr lang="en-US" sz="1250" b="1" dirty="0">
                <a:solidFill>
                  <a:srgbClr val="0F766E"/>
                </a:solidFill>
              </a:rPr>
              <a:t>Independent signal: </a:t>
            </a:r>
            <a:pPr indent="0" marL="0">
              <a:buNone/>
            </a:pPr>
            <a:r>
              <a:rPr lang="en-US" sz="1250" dirty="0">
                <a:solidFill>
                  <a:schemeClr val="tx2"/>
                </a:solidFill>
              </a:rPr>
              <a:t>Google Cloud documents its DNS Armor threat detection as "powered by Infoblox."</a:t>
            </a:r>
            <a:endParaRPr lang="en-US" sz="1250" dirty="0"/>
          </a:p>
        </p:txBody>
      </p:sp>
      <p:sp>
        <p:nvSpPr>
          <p:cNvPr id="11" name="Claims" descr="">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Vendor claims, not verified: </a:t>
            </a:r>
            <a:pPr indent="0" marL="0">
              <a:buNone/>
            </a:pP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gridCol w="36576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DISA STIG file store; NIST CMVP; NIAP PCL; CISA CDM APL; NVD; CISA KEV; vendor and cloud docs.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2240280"/>
                <a:gridCol w="4023360"/>
                <a:gridCol w="2880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isting"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FR2017257053</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descr="">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indent="0" marL="0">
              <a:buNone/>
            </a:pPr>
            <a:r>
              <a:rPr lang="en-US" sz="1100" b="1" dirty="0">
                <a:solidFill>
                  <a:srgbClr val="0F766E"/>
                </a:solidFill>
              </a:rPr>
              <a:t>IN THE LISTING'S SCOPE</a:t>
            </a:r>
            <a:endParaRPr lang="en-US" sz="1250" dirty="0"/>
          </a:p>
          <a:p>
            <a:pPr indent="0" marL="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descr="">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indent="0" marL="0">
              <a:buNone/>
            </a:pPr>
            <a:r>
              <a:rPr lang="en-US" sz="1100" b="1" dirty="0">
                <a:solidFill>
                  <a:srgbClr val="B45309"/>
                </a:solidFill>
              </a:rPr>
              <a:t>NOT NAMED — ASK INFOBLOX</a:t>
            </a:r>
            <a:endParaRPr lang="en-US" sz="1250" dirty="0"/>
          </a:p>
          <a:p>
            <a:pPr indent="0" marL="0">
              <a:buNone/>
            </a:pPr>
            <a:r>
              <a:rPr lang="en-US" sz="1250" dirty="0">
                <a:solidFill>
                  <a:schemeClr val="tx2"/>
                </a:solidFill>
              </a:rPr>
              <a:t>Threat Defense cloud resolver · DNS Forwarding Proxy · Data Connector. Get the boundary diagram.</a:t>
            </a:r>
            <a:endParaRPr lang="en-US" sz="1250" dirty="0"/>
          </a:p>
        </p:txBody>
      </p:sp>
      <p:sp>
        <p:nvSpPr>
          <p:cNvPr id="12" name="Scope 3" descr="">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indent="0" marL="0">
              <a:buNone/>
            </a:pPr>
            <a:r>
              <a:rPr lang="en-US" sz="1100" b="1" dirty="0">
                <a:solidFill>
                  <a:srgbClr val="B91C1C"/>
                </a:solidFill>
              </a:rPr>
              <a:t>THE AGENCY'S OWN BOUNDARY</a:t>
            </a:r>
            <a:endParaRPr lang="en-US" sz="1250" dirty="0"/>
          </a:p>
          <a:p>
            <a:pPr indent="0" marL="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indent="0" marL="0">
              <a:buNone/>
            </a:pPr>
            <a:r>
              <a:rPr lang="en-US" sz="1250" b="1" dirty="0">
                <a:solidFill>
                  <a:srgbClr val="1F2A44"/>
                </a:solidFill>
              </a:rPr>
              <a:t>High or DoD systems: </a:t>
            </a:r>
            <a:pPr indent="0" marL="0">
              <a:buNone/>
            </a:pPr>
            <a:r>
              <a:rPr lang="en-US" sz="1250" dirty="0">
                <a:solidFill>
                  <a:schemeClr val="tx2"/>
                </a:solidFill>
              </a:rPr>
              <a:t>plan agency-operated vNIOS, for example from the Azure Government Marketplace, not the SaaS. </a:t>
            </a:r>
            <a:pPr indent="0" marL="0">
              <a:buNone/>
            </a:pPr>
            <a:r>
              <a:rPr lang="en-US" sz="1250" b="1" dirty="0">
                <a:solidFill>
                  <a:srgbClr val="1F2A44"/>
                </a:solidFill>
              </a:rPr>
              <a:t>Feature lag: </a:t>
            </a:r>
            <a:pPr indent="0" marL="0">
              <a:buNone/>
            </a:pP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800600"/>
                <a:gridCol w="4206240"/>
              </a:tblGrid>
              <a:tr h="29260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9788">
                <a:tc>
                  <a:txBody>
                    <a:bodyPr/>
                    <a:lstStyle/>
                    <a:p>
                      <a:pPr indent="0" marL="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lone" descr="">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indent="0" marL="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descr="">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indent="0" marL="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indent="0" marL="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descr="">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indent="0" marL="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indent="0" marL="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descr="">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indent="0" marL="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indent="0" marL="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indent="0" marL="0">
              <a:buNone/>
            </a:pPr>
            <a:r>
              <a:rPr lang="en-US" sz="1200" b="1" dirty="0">
                <a:solidFill>
                  <a:srgbClr val="64748B"/>
                </a:solidFill>
              </a:rPr>
              <a:t>DESIGN GUIDANCE, NOT A RULE: WHICH PATTERN FITS</a:t>
            </a:r>
            <a:endParaRPr lang="en-US" sz="1200" dirty="0"/>
          </a:p>
        </p:txBody>
      </p:sp>
      <p:sp>
        <p:nvSpPr>
          <p:cNvPr id="15" name="Guide 1" descr="">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Mostly on premises</a:t>
            </a:r>
            <a:endParaRPr lang="en-US" sz="1100" dirty="0"/>
          </a:p>
          <a:p>
            <a:pPr indent="0" marL="0">
              <a:buNone/>
            </a:pPr>
            <a:r>
              <a:rPr lang="en-US" sz="1100" dirty="0">
                <a:solidFill>
                  <a:schemeClr val="tx2"/>
                </a:solidFill>
              </a:rPr>
              <a:t>C: the Grid stays authoritative; clouds forward to it</a:t>
            </a:r>
            <a:endParaRPr lang="en-US" sz="1100" dirty="0"/>
          </a:p>
        </p:txBody>
      </p:sp>
      <p:sp>
        <p:nvSpPr>
          <p:cNvPr id="17" name="Guide 2" descr="">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Hybrid, one cloud</a:t>
            </a:r>
            <a:endParaRPr lang="en-US" sz="1100" dirty="0"/>
          </a:p>
          <a:p>
            <a:pPr indent="0" marL="0">
              <a:buNone/>
            </a:pPr>
            <a:r>
              <a:rPr lang="en-US" sz="1100" dirty="0">
                <a:solidFill>
                  <a:schemeClr val="tx2"/>
                </a:solidFill>
              </a:rPr>
              <a:t>A + C: an HA vNIOS pair keeps answers local</a:t>
            </a:r>
            <a:endParaRPr lang="en-US" sz="1100" dirty="0"/>
          </a:p>
        </p:txBody>
      </p:sp>
      <p:sp>
        <p:nvSpPr>
          <p:cNvPr id="19" name="Guide 3" descr="">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Multi-cloud, Moderate or below</a:t>
            </a:r>
            <a:endParaRPr lang="en-US" sz="1100" dirty="0"/>
          </a:p>
          <a:p>
            <a:pPr indent="0" marL="0">
              <a:buNone/>
            </a:pPr>
            <a:r>
              <a:rPr lang="en-US" sz="1100" dirty="0">
                <a:solidFill>
                  <a:schemeClr val="tx2"/>
                </a:solidFill>
              </a:rPr>
              <a:t>Add B for cloud DNS write-back</a:t>
            </a:r>
            <a:endParaRPr lang="en-US" sz="1100" dirty="0"/>
          </a:p>
        </p:txBody>
      </p:sp>
      <p:sp>
        <p:nvSpPr>
          <p:cNvPr id="21" name="Guide 4" descr="">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indent="0" marL="0">
              <a:buNone/>
            </a:pPr>
            <a:r>
              <a:rPr lang="en-US" sz="1200" b="1" dirty="0">
                <a:solidFill>
                  <a:srgbClr val="1F2A44"/>
                </a:solidFill>
              </a:rPr>
              <a:t>GovCloud, Azure Gov, High, IL4–5</a:t>
            </a:r>
            <a:endParaRPr lang="en-US" sz="1100" dirty="0"/>
          </a:p>
          <a:p>
            <a:pPr indent="0" marL="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indent="0" marL="0">
              <a:buNone/>
            </a:pPr>
            <a:r>
              <a:rPr lang="en-US" sz="1250" b="1" dirty="0">
                <a:solidFill>
                  <a:srgbClr val="0F766E"/>
                </a:solidFill>
              </a:rPr>
              <a:t>Go deeper: </a:t>
            </a:r>
            <a:pPr indent="0" marL="0">
              <a:buNone/>
            </a:pP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93776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IST" descr="">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NIST SP 800-81r3 (FINAL, MAR. 2026)</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1920240"/>
                <a:gridCol w="1828800"/>
                <a:gridCol w="1600200"/>
                <a:gridCol w="1691640"/>
                <a:gridCol w="23317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air"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Fair framing: </a:t>
            </a:r>
            <a:pPr indent="0" marL="0">
              <a:buNone/>
            </a:pP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gridCol w="4663440"/>
                <a:gridCol w="43434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gridCol w="457200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sks" descr="">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indent="0" marL="0">
              <a:buNone/>
            </a:pPr>
            <a:r>
              <a:rPr lang="en-US" sz="1100" b="1" dirty="0">
                <a:solidFill>
                  <a:srgbClr val="64748B"/>
                </a:solidFill>
              </a:rPr>
              <a:t>PUT THESE IN THE CONTRACT</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9.1.x and 9.0 admin guides — permissions, admin groups, views, EAs, approvals, authentication, reporting.</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Levels" descr="">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descr="">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indent="0" marL="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indent="0" marL="0">
              <a:buNone/>
            </a:pPr>
            <a:r>
              <a:rPr lang="en-US" sz="1200" b="1" dirty="0">
                <a:solidFill>
                  <a:srgbClr val="64748B"/>
                </a:solidFill>
              </a:rPr>
              <a:t>HOW NIOS RESOLVES OVERLAPPING PERMISSIONS</a:t>
            </a:r>
            <a:endParaRPr lang="en-US" sz="1200" dirty="0"/>
          </a:p>
        </p:txBody>
      </p:sp>
      <p:sp>
        <p:nvSpPr>
          <p:cNvPr id="12" name="Order 1" descr="">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indent="0" marL="0">
              <a:spcAft>
                <a:spcPts val="200"/>
              </a:spcAft>
              <a:buNone/>
            </a:pPr>
            <a:r>
              <a:rPr lang="en-US" sz="1100" dirty="0">
                <a:solidFill>
                  <a:schemeClr val="tx2"/>
                </a:solidFill>
              </a:rPr>
              <a:t>first, then up</a:t>
            </a:r>
            <a:endParaRPr lang="en-US" sz="1100" dirty="0"/>
          </a:p>
        </p:txBody>
      </p:sp>
      <p:sp>
        <p:nvSpPr>
          <p:cNvPr id="14" name="Order arrow 1" descr="">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descr="">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indent="0" marL="0">
              <a:spcAft>
                <a:spcPts val="200"/>
              </a:spcAft>
              <a:buNone/>
            </a:pPr>
            <a:r>
              <a:rPr lang="en-US" sz="1100" dirty="0">
                <a:solidFill>
                  <a:schemeClr val="tx2"/>
                </a:solidFill>
              </a:rPr>
              <a:t>permissions first</a:t>
            </a:r>
            <a:endParaRPr lang="en-US" sz="1100" dirty="0"/>
          </a:p>
        </p:txBody>
      </p:sp>
      <p:sp>
        <p:nvSpPr>
          <p:cNvPr id="17" name="Order arrow 2" descr="">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descr="">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indent="0" marL="0">
              <a:spcAft>
                <a:spcPts val="200"/>
              </a:spcAft>
              <a:buNone/>
            </a:pPr>
            <a:r>
              <a:rPr lang="en-US" sz="1100" dirty="0">
                <a:solidFill>
                  <a:schemeClr val="tx2"/>
                </a:solidFill>
              </a:rPr>
              <a:t>in listed order</a:t>
            </a:r>
            <a:endParaRPr lang="en-US" sz="1100" dirty="0"/>
          </a:p>
        </p:txBody>
      </p:sp>
      <p:sp>
        <p:nvSpPr>
          <p:cNvPr id="20" name="Order arrow 3" descr="">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descr="">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indent="0" marL="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indent="0" marL="0">
              <a:buNone/>
            </a:pPr>
            <a:r>
              <a:rPr lang="en-US" sz="1250" b="1" dirty="0">
                <a:solidFill>
                  <a:srgbClr val="B91C1C"/>
                </a:solidFill>
              </a:rPr>
              <a:t>Example: </a:t>
            </a:r>
            <a:pPr indent="0" marL="0">
              <a:buNone/>
            </a:pP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indent="0" marL="0">
              <a:buNone/>
            </a:pPr>
            <a:r>
              <a:rPr lang="en-US" sz="1250" b="1" dirty="0">
                <a:solidFill>
                  <a:srgbClr val="1F2A44"/>
                </a:solidFill>
              </a:rPr>
              <a:t>Roles: </a:t>
            </a:r>
            <a:pPr indent="0" marL="0">
              <a:buNone/>
            </a:pP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ecipe 1" descr="">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indent="0" marL="0">
              <a:spcAft>
                <a:spcPts val="200"/>
              </a:spcAft>
              <a:buNone/>
            </a:pPr>
            <a:r>
              <a:rPr lang="en-US" sz="1150" dirty="0">
                <a:solidFill>
                  <a:schemeClr val="tx2"/>
                </a:solidFill>
              </a:rPr>
              <a:t>Limited-access; only the interfaces it needs</a:t>
            </a:r>
            <a:endParaRPr lang="en-US" sz="1150" dirty="0"/>
          </a:p>
        </p:txBody>
      </p:sp>
      <p:sp>
        <p:nvSpPr>
          <p:cNvPr id="7" name="Recipe arrow 1" descr="">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descr="">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indent="0" marL="0">
              <a:spcAft>
                <a:spcPts val="200"/>
              </a:spcAft>
              <a:buNone/>
            </a:pPr>
            <a:r>
              <a:rPr lang="en-US" sz="1150" dirty="0">
                <a:solidFill>
                  <a:schemeClr val="tx2"/>
                </a:solidFill>
              </a:rPr>
              <a:t>Container or view, zones, members</a:t>
            </a:r>
            <a:endParaRPr lang="en-US" sz="1150" dirty="0"/>
          </a:p>
        </p:txBody>
      </p:sp>
      <p:sp>
        <p:nvSpPr>
          <p:cNvPr id="10" name="Recipe arrow 2" descr="">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descr="">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indent="0" marL="0">
              <a:spcAft>
                <a:spcPts val="200"/>
              </a:spcAft>
              <a:buNone/>
            </a:pPr>
            <a:r>
              <a:rPr lang="en-US" sz="1150" dirty="0">
                <a:solidFill>
                  <a:schemeClr val="tx2"/>
                </a:solidFill>
              </a:rPr>
              <a:t>at the default Deny</a:t>
            </a:r>
            <a:endParaRPr lang="en-US" sz="1150" dirty="0"/>
          </a:p>
        </p:txBody>
      </p:sp>
      <p:sp>
        <p:nvSpPr>
          <p:cNvPr id="13" name="Recipe arrow 3" descr="">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descr="">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indent="0" marL="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gridCol w="42062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7" name="Setting" descr="">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indent="0" marL="0">
              <a:buNone/>
            </a:pPr>
            <a:r>
              <a:rPr lang="en-US" sz="1100" b="1" dirty="0">
                <a:solidFill>
                  <a:srgbClr val="64748B"/>
                </a:solidFill>
              </a:rPr>
              <a:t>ONE GRID SETTING TO TURN ON</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NV"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NETWORK VIEWS</a:t>
            </a:r>
            <a:endParaRPr lang="en-US" sz="1400" dirty="0"/>
          </a:p>
          <a:p>
            <a:pPr indent="0" marL="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DNS VIEWS</a:t>
            </a:r>
            <a:endParaRPr lang="en-US" sz="1400" dirty="0"/>
          </a:p>
          <a:p>
            <a:pPr indent="0" marL="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EXTENSIBLE ATTRIBUTES</a:t>
            </a:r>
            <a:endParaRPr lang="en-US" sz="1400" dirty="0"/>
          </a:p>
          <a:p>
            <a:pPr indent="0" marL="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Wf 1" descr="">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indent="0" marL="0">
              <a:spcAft>
                <a:spcPts val="200"/>
              </a:spcAft>
              <a:buNone/>
            </a:pPr>
            <a:r>
              <a:rPr lang="en-US" sz="1150" dirty="0">
                <a:solidFill>
                  <a:schemeClr val="tx2"/>
                </a:solidFill>
              </a:rPr>
              <a:t>one workflow per group</a:t>
            </a:r>
            <a:endParaRPr lang="en-US" sz="1150" dirty="0"/>
          </a:p>
        </p:txBody>
      </p:sp>
      <p:sp>
        <p:nvSpPr>
          <p:cNvPr id="7" name="Wf arrow 1" descr="">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descr="">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indent="0" marL="0">
              <a:spcAft>
                <a:spcPts val="200"/>
              </a:spcAft>
              <a:buNone/>
            </a:pPr>
            <a:r>
              <a:rPr lang="en-US" sz="1150" dirty="0">
                <a:solidFill>
                  <a:schemeClr val="tx2"/>
                </a:solidFill>
              </a:rPr>
              <a:t>approve, reschedule, reject</a:t>
            </a:r>
            <a:endParaRPr lang="en-US" sz="1150" dirty="0"/>
          </a:p>
        </p:txBody>
      </p:sp>
      <p:sp>
        <p:nvSpPr>
          <p:cNvPr id="10" name="Wf arrow 2" descr="">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descr="">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indent="0" marL="0">
              <a:spcAft>
                <a:spcPts val="200"/>
              </a:spcAft>
              <a:buNone/>
            </a:pPr>
            <a:r>
              <a:rPr lang="en-US" sz="1150" dirty="0">
                <a:solidFill>
                  <a:schemeClr val="tx2"/>
                </a:solidFill>
              </a:rPr>
              <a:t>with a task ID in the audit log</a:t>
            </a:r>
            <a:endParaRPr lang="en-US" sz="1150" dirty="0"/>
          </a:p>
        </p:txBody>
      </p:sp>
      <p:sp>
        <p:nvSpPr>
          <p:cNvPr id="13" name="Wf arrow 3" descr="">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descr="">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indent="0" marL="0">
              <a:spcAft>
                <a:spcPts val="200"/>
              </a:spcAft>
              <a:buNone/>
            </a:pPr>
            <a:r>
              <a:rPr lang="en-US" sz="1150" dirty="0">
                <a:solidFill>
                  <a:schemeClr val="tx2"/>
                </a:solidFill>
              </a:rPr>
              <a:t>submitter, approver or both</a:t>
            </a:r>
            <a:endParaRPr lang="en-US" sz="1150" dirty="0"/>
          </a:p>
        </p:txBody>
      </p:sp>
      <p:sp>
        <p:nvSpPr>
          <p:cNvPr id="16" name="Covered" descr="">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descr="">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descr="">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THE GAP</a:t>
            </a:r>
            <a:endParaRPr lang="en-US" sz="1400" dirty="0"/>
          </a:p>
          <a:p>
            <a:pPr indent="0" marL="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47548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Gotchas" descr="">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indent="0" marL="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MS" descr="">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descr="">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indent="0" marL="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descr="">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indent="0" marL="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gridCol w="3337560"/>
                <a:gridCol w="2926080"/>
                <a:gridCol w="338328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1264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upling" descr="">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indent="0" marL="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descr="">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indent="0" marL="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gridCol w="3337560"/>
                <a:gridCol w="3063240"/>
                <a:gridCol w="324612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UDDI" descr="">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indent="0" marL="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descr="">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indent="0" marL="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and Universal DDI docs — access views, RBAC, IP spaces, federation, SSO, audit; Book 08, Ch 09–10.</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AV" descr="">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descr="">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indent="0" marL="0">
              <a:buNone/>
            </a:pPr>
            <a:r>
              <a:rPr lang="en-US" sz="1250" b="1" dirty="0">
                <a:solidFill>
                  <a:srgbClr val="1F2A44"/>
                </a:solidFill>
              </a:rPr>
              <a:t>Entra SSO: </a:t>
            </a:r>
            <a:pPr indent="0" marL="0">
              <a:buNone/>
            </a:pPr>
            <a:r>
              <a:rPr lang="en-US" sz="1250" dirty="0">
                <a:solidFill>
                  <a:schemeClr val="tx2"/>
                </a:solidFill>
              </a:rPr>
              <a:t>non-gallery SAML app; group claim by object ID, mapped to Portal user groups. </a:t>
            </a:r>
            <a:pPr indent="0" marL="0">
              <a:buNone/>
            </a:pPr>
            <a:r>
              <a:rPr lang="en-US" sz="1250" b="1" dirty="0">
                <a:solidFill>
                  <a:srgbClr val="1F2A44"/>
                </a:solidFill>
              </a:rPr>
              <a:t>Audit: </a:t>
            </a:r>
            <a:pPr indent="0" marL="0">
              <a:buNone/>
            </a:pPr>
            <a:r>
              <a:rPr lang="en-US" sz="1250" dirty="0">
                <a:solidFill>
                  <a:schemeClr val="tx2"/>
                </a:solidFill>
              </a:rPr>
              <a:t>13 months, with user, source IP and object. Login can be limited to CIDRs per group.</a:t>
            </a:r>
            <a:endParaRPr lang="en-US" sz="1250" dirty="0"/>
          </a:p>
        </p:txBody>
      </p:sp>
      <p:sp>
        <p:nvSpPr>
          <p:cNvPr id="12" name="Conflict" descr="">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2834640"/>
                <a:gridCol w="3108960"/>
                <a:gridCol w="292608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ix"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0F766E"/>
                </a:solidFill>
              </a:rPr>
              <a:t>Most agencies mix them: </a:t>
            </a:r>
            <a:pPr indent="0" marL="0">
              <a:buNone/>
            </a:pP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indent="0" marL="0">
              <a:buNone/>
            </a:pPr>
            <a:r>
              <a:rPr lang="en-US" sz="1250" b="1" dirty="0">
                <a:solidFill>
                  <a:srgbClr val="B91C1C"/>
                </a:solidFill>
              </a:rPr>
              <a:t>ILLUSTRATIVE DESIGN — NOT A VALIDATED CONFIGURATION.  </a:t>
            </a:r>
            <a:pPr indent="0" marL="0">
              <a:buNone/>
            </a:pP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gridCol w="2331720"/>
                <a:gridCol w="2560320"/>
                <a:gridCol w="1874520"/>
                <a:gridCol w="2971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45008">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indent="0" marL="0">
              <a:buNone/>
            </a:pPr>
            <a:r>
              <a:rPr lang="en-US" sz="1250" b="1" dirty="0">
                <a:solidFill>
                  <a:srgbClr val="1F2A44"/>
                </a:solidFill>
              </a:rPr>
              <a:t>Grid-wide: </a:t>
            </a:r>
            <a:pPr indent="0" marL="0">
              <a:buNone/>
            </a:pPr>
            <a:r>
              <a:rPr lang="en-US" sz="1250" dirty="0">
                <a:solidFill>
                  <a:schemeClr val="tx2"/>
                </a:solidFill>
              </a:rPr>
              <a:t>DNS object permissions on · no CSV import for division groups · one workflow per division, approver ib-central-approvers, ticket required · SAML group names match exactly · local admin as break-glass · </a:t>
            </a:r>
            <a:pPr indent="0" marL="0">
              <a:buNone/>
            </a:pPr>
            <a:r>
              <a:rPr lang="en-US" sz="1250" b="1" dirty="0">
                <a:solidFill>
                  <a:srgbClr val="B91C1C"/>
                </a:solidFill>
              </a:rPr>
              <a:t>LEB: </a:t>
            </a:r>
            <a:pPr indent="0" marL="0">
              <a:buNone/>
            </a:pP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gridCol w="1097280"/>
                <a:gridCol w="1051560"/>
                <a:gridCol w="777240"/>
                <a:gridCol w="1234440"/>
                <a:gridCol w="1097280"/>
                <a:gridCol w="1051560"/>
                <a:gridCol w="1005840"/>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indent="0" marL="0">
              <a:buNone/>
            </a:pPr>
            <a:r>
              <a:rPr lang="en-US" sz="1200" b="1" dirty="0">
                <a:solidFill>
                  <a:srgbClr val="1F2A44"/>
                </a:solidFill>
              </a:rPr>
              <a:t>D </a:t>
            </a:r>
            <a:pPr indent="0" marL="0">
              <a:buNone/>
            </a:pPr>
            <a:r>
              <a:rPr lang="en-US" sz="1200" dirty="0">
                <a:solidFill>
                  <a:schemeClr val="tx2"/>
                </a:solidFill>
              </a:rPr>
              <a:t>decides (accountable) · </a:t>
            </a:r>
            <a:pPr indent="0" marL="0">
              <a:buNone/>
            </a:pPr>
            <a:r>
              <a:rPr lang="en-US" sz="1200" b="1" dirty="0">
                <a:solidFill>
                  <a:srgbClr val="1F2A44"/>
                </a:solidFill>
              </a:rPr>
              <a:t>R </a:t>
            </a:r>
            <a:pPr indent="0" marL="0">
              <a:buNone/>
            </a:pPr>
            <a:r>
              <a:rPr lang="en-US" sz="1200" dirty="0">
                <a:solidFill>
                  <a:schemeClr val="tx2"/>
                </a:solidFill>
              </a:rPr>
              <a:t>does the work · </a:t>
            </a:r>
            <a:pPr indent="0" marL="0">
              <a:buNone/>
            </a:pPr>
            <a:r>
              <a:rPr lang="en-US" sz="1200" b="1" dirty="0">
                <a:solidFill>
                  <a:srgbClr val="1F2A44"/>
                </a:solidFill>
              </a:rPr>
              <a:t>C </a:t>
            </a:r>
            <a:pPr indent="0" marL="0">
              <a:buNone/>
            </a:pP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eq 1" descr="">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Zones, scopes, forwarders, AD DNS</a:t>
            </a:r>
            <a:endParaRPr lang="en-US" sz="1100" dirty="0"/>
          </a:p>
        </p:txBody>
      </p:sp>
      <p:sp>
        <p:nvSpPr>
          <p:cNvPr id="7" name="Seq arrow 1" descr="">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descr="">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indent="0" marL="0">
              <a:spcAft>
                <a:spcPts val="200"/>
              </a:spcAft>
              <a:buNone/>
            </a:pPr>
            <a:r>
              <a:rPr lang="en-US" sz="1100" dirty="0">
                <a:solidFill>
                  <a:schemeClr val="tx2"/>
                </a:solidFill>
              </a:rPr>
              <a:t>Grid Master, HSM, build standard</a:t>
            </a:r>
            <a:endParaRPr lang="en-US" sz="1100" dirty="0"/>
          </a:p>
        </p:txBody>
      </p:sp>
      <p:sp>
        <p:nvSpPr>
          <p:cNvPr id="10" name="Seq arrow 2" descr="">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descr="">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indent="0" marL="0">
              <a:spcAft>
                <a:spcPts val="200"/>
              </a:spcAft>
              <a:buNone/>
            </a:pPr>
            <a:r>
              <a:rPr lang="en-US" sz="1100" dirty="0">
                <a:solidFill>
                  <a:schemeClr val="tx2"/>
                </a:solidFill>
              </a:rPr>
              <a:t>Manage Windows servers in place</a:t>
            </a:r>
            <a:endParaRPr lang="en-US" sz="1100" dirty="0"/>
          </a:p>
        </p:txBody>
      </p:sp>
      <p:sp>
        <p:nvSpPr>
          <p:cNvPr id="13" name="Seq arrow 3" descr="">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descr="">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indent="0" marL="0">
              <a:spcAft>
                <a:spcPts val="200"/>
              </a:spcAft>
              <a:buNone/>
            </a:pPr>
            <a:r>
              <a:rPr lang="en-US" sz="1100" dirty="0">
                <a:solidFill>
                  <a:schemeClr val="tx2"/>
                </a:solidFill>
              </a:rPr>
              <a:t>One at a time, pattern (a) first</a:t>
            </a:r>
            <a:endParaRPr lang="en-US" sz="1100" dirty="0"/>
          </a:p>
        </p:txBody>
      </p:sp>
      <p:sp>
        <p:nvSpPr>
          <p:cNvPr id="16" name="Seq arrow 4" descr="">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descr="">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indent="0" marL="0">
              <a:spcAft>
                <a:spcPts val="200"/>
              </a:spcAft>
              <a:buNone/>
            </a:pPr>
            <a:r>
              <a:rPr lang="en-US" sz="1100" dirty="0">
                <a:solidFill>
                  <a:schemeClr val="tx2"/>
                </a:solidFill>
              </a:rPr>
              <a:t>Cloud DNS as managed overlay</a:t>
            </a:r>
            <a:endParaRPr lang="en-US" sz="1100" dirty="0"/>
          </a:p>
        </p:txBody>
      </p:sp>
      <p:sp>
        <p:nvSpPr>
          <p:cNvPr id="19" name="Seq arrow 5" descr="">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descr="">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indent="0" marL="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indent="0" marL="0">
              <a:spcAft>
                <a:spcPts val="200"/>
              </a:spcAft>
              <a:buNone/>
            </a:pPr>
            <a:r>
              <a:rPr lang="en-US" sz="1100" dirty="0">
                <a:solidFill>
                  <a:schemeClr val="tx2"/>
                </a:solidFill>
              </a:rPr>
              <a:t>STIG, logs, audit for the AO</a:t>
            </a:r>
            <a:endParaRPr lang="en-US" sz="1100" dirty="0"/>
          </a:p>
        </p:txBody>
      </p:sp>
      <p:sp>
        <p:nvSpPr>
          <p:cNvPr id="22" name="Decide" descr="">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descr="">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indent="0" marL="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full lists on the following slides. All sources opened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NIST SP 800-53 Rev. 5, Release 5.2.0 (OSCAL catalog and LOW/MODERATE baselines): SC-13, SC-20, SC-21, SC-22, SC-23, CM-8, AU-2, AU-12, SI-4  ·  NIST SP 800-81r3, Secure DNS Deployment Guide, Mar. 2026 (authors Rose, Liu, Gibson).</a:t>
            </a:r>
            <a:endParaRPr lang="en-US" sz="1100" dirty="0"/>
          </a:p>
          <a:p>
            <a:pPr marL="342900" indent="-342900">
              <a:spcAft>
                <a:spcPts val="300"/>
              </a:spcAft>
              <a:buSzPct val="100000"/>
              <a:buChar char="•"/>
            </a:pPr>
            <a:r>
              <a:rPr lang="en-US" sz="1100" dirty="0">
                <a:solidFill>
                  <a:schemeClr val="tx2"/>
                </a:solidFill>
              </a:rPr>
              <a:t>OMB M-08-23 (Aug. 22, 2008); M-22-09 (Jan. 26, 2022); M-21-07 (Nov. 19, 2020); M-26-14 (May 22, 2026, rescinds M-21-31); M-26-05; M-26-15  ·  EO 14144 §4(c) as amended by EO 14306 (Federal Register full text).</a:t>
            </a:r>
            <a:endParaRPr lang="en-US" sz="1100" dirty="0"/>
          </a:p>
          <a:p>
            <a:pPr marL="342900" indent="-342900">
              <a:spcAft>
                <a:spcPts val="300"/>
              </a:spcAft>
              <a:buSzPct val="100000"/>
              <a:buChar char="•"/>
            </a:pPr>
            <a:r>
              <a:rPr lang="en-US" sz="1100" dirty="0">
                <a:solidFill>
                  <a:schemeClr val="tx2"/>
                </a:solidFill>
              </a:rPr>
              <a:t>CISA: Protective DNS Resolver and FAQ; Logging Reference Architecture (Aug. 20, 2026); TIC 3.0 Security Capabilities Catalog v3.3 (Sept. 2026); BOD 23-01; BOD 26-04 (June 10, 2026); BOD 26-02; BOD 18-01.</a:t>
            </a:r>
            <a:endParaRPr lang="en-US" sz="1100" dirty="0"/>
          </a:p>
          <a:p>
            <a:pPr marL="342900" indent="-342900">
              <a:spcAft>
                <a:spcPts val="300"/>
              </a:spcAft>
              <a:buSzPct val="100000"/>
              <a:buChar char="•"/>
            </a:pPr>
            <a:r>
              <a:rPr lang="en-US" sz="1100" dirty="0">
                <a:solidFill>
                  <a:schemeClr val="tx2"/>
                </a:solidFill>
              </a:rPr>
              <a:t>Book 08, Federal Modernization Workbook: Ch 01 (DNS Is Now the Control Plane), Ch 08 (Reference Architecture), Ch 09 (Who Owns DNS, DHCP and IPAM), Ch 10 (Migration Sequence).</a:t>
            </a:r>
            <a:endParaRPr lang="en-US" sz="1100" dirty="0"/>
          </a:p>
          <a:p>
            <a:pPr marL="342900" indent="-342900">
              <a:spcAft>
                <a:spcPts val="300"/>
              </a:spcAft>
              <a:buSzPct val="100000"/>
              <a:buChar char="•"/>
            </a:pPr>
            <a:r>
              <a:rPr lang="en-US" sz="1100" dirty="0">
                <a:solidFill>
                  <a:schemeClr val="tx2"/>
                </a:solidFill>
              </a:rPr>
              <a:t>Infoblox NIOS 9.1.x admin guide (infoblox-docs.atlassian.net, space nios91x): About Grids; Promoting a Grid Master Candidate; About HA Failover; 9.1.0 What's New; DNS Views; Anycast; DNSSEC on a Grid; Setting DNSSEC Parameters; Thales Luna HSM; DNS Firewall; GSS-TSIG; Managing Microsoft Servers; DoT and DoH Architecture.</a:t>
            </a:r>
            <a:endParaRPr lang="en-US" sz="1100" dirty="0"/>
          </a:p>
          <a:p>
            <a:pPr marL="342900" indent="-342900">
              <a:spcAft>
                <a:spcPts val="300"/>
              </a:spcAft>
              <a:buSzPct val="100000"/>
              <a:buChar char="•"/>
            </a:pPr>
            <a:r>
              <a:rPr lang="en-US" sz="1100" dirty="0">
                <a:solidFill>
                  <a:schemeClr val="tx2"/>
                </a:solidFill>
              </a:rPr>
              <a:t>Infoblox NIOS 9.1.x: DHCP Failover; DHCPv6 RFC Compliance; DHCP Fingerprint Detection; Lease History; Enabling DDNS; Network Views; Network Containers; Discovery; Network Insight; Extensible Attributes; Query and Response Captures; dnstap limitations; Reporting Cluster Modes; Supported Reporting Appliances.</a:t>
            </a:r>
            <a:endParaRPr lang="en-US" sz="1100" dirty="0"/>
          </a:p>
          <a:p>
            <a:pPr marL="342900" indent="-342900">
              <a:spcAft>
                <a:spcPts val="300"/>
              </a:spcAft>
              <a:buSzPct val="100000"/>
              <a:buChar char="•"/>
            </a:pPr>
            <a:r>
              <a:rPr lang="en-US" sz="1100" dirty="0">
                <a:solidFill>
                  <a:schemeClr val="tx2"/>
                </a:solidFill>
              </a:rPr>
              <a:t>Infoblox vNIOS guides (VMware X6, Azure incl. Azure Government, AWS, Google Cloud, OCI); Supported Platforms for NIOS-X Servers; NIOS upgrade matrix  ·  Universal DDI: What's New (commercial and FedRAMP); Limitations of Universal DDI; Limitations of NIOS-X as a Service; Hybrid Deployment; IPAM Federation; Route 53, Azure DNS, GCP integration limits.</a:t>
            </a:r>
            <a:endParaRPr lang="en-US" sz="1100" dirty="0"/>
          </a:p>
          <a:p>
            <a:pPr marL="342900" indent="-342900">
              <a:spcAft>
                <a:spcPts val="300"/>
              </a:spcAft>
              <a:buSzPct val="100000"/>
              <a:buChar char="•"/>
            </a:pPr>
            <a:r>
              <a:rPr lang="en-US" sz="1100" dirty="0">
                <a:solidFill>
                  <a:schemeClr val="tx2"/>
                </a:solidFill>
              </a:rPr>
              <a:t>Infoblox Threat Defense: About; Licensing and Subscriptions; Dossier and TIDE; DNS Forwarding Proxy; TDDM for NIOS; Threat Insight  ·  Universal DDI API Guide; WAPI 2.0; WAPI Passthrough; Data Connector; Sentinel HTTPS destination.</a:t>
            </a:r>
            <a:endParaRPr lang="en-US" sz="1100" dirty="0"/>
          </a:p>
          <a:p>
            <a:pPr marL="342900" indent="-342900">
              <a:spcAft>
                <a:spcPts val="300"/>
              </a:spcAft>
              <a:buSzPct val="100000"/>
              <a:buChar char="•"/>
            </a:pPr>
            <a:r>
              <a:rPr lang="en-US" sz="1100" dirty="0">
                <a:solidFill>
                  <a:schemeClr val="tx2"/>
                </a:solidFill>
              </a:rPr>
              <a:t>GitHub infobloxopen: terraform-provider-infoblox (v3.0.0-beta, v2.13.0), terraform-provider-bloxone, terraform-provider-nios, infoblox-ansible, universal-ddi-ansible  ·  ServiceNow Infoblox spoke  ·  Splunkbase 2934  ·  Microsoft Sentinel connectors reference  ·  AWS VPC IPAM + Infoblox; Google Cloud DNS Armor.</a:t>
            </a:r>
            <a:endParaRPr lang="en-US" sz="1100" dirty="0"/>
          </a:p>
          <a:p>
            <a:pPr marL="342900" indent="-342900">
              <a:spcAft>
                <a:spcPts val="300"/>
              </a:spcAft>
              <a:buSzPct val="100000"/>
              <a:buChar char="•"/>
            </a:pPr>
            <a:r>
              <a:rPr lang="en-US" sz="1100" dirty="0">
                <a:solidFill>
                  <a:schemeClr val="tx2"/>
                </a:solidFill>
              </a:rPr>
              <a:t>Vendor (labeled as vendor claims): infoblox.com NIOS, Universal DDI and Threat Defense product pages; NIOS 9.0.6 and 9.1.0 blogs.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Federal fit and risks</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FedRAMP Marketplace dataset, fedramp.gov/marketplace/products.json (meta last_change Oct. 22, 2026): FR2017257053 Infoblox Government Cloud; Azure Government, AWS GovCloud, Google Services listings.</a:t>
            </a:r>
            <a:endParaRPr lang="en-US" sz="1100" dirty="0"/>
          </a:p>
          <a:p>
            <a:pPr marL="342900" indent="-342900">
              <a:spcAft>
                <a:spcPts val="300"/>
              </a:spcAft>
              <a:buSzPct val="100000"/>
              <a:buChar char="•"/>
            </a:pPr>
            <a:r>
              <a:rPr lang="en-US" sz="1100" dirty="0">
                <a:solidFill>
                  <a:schemeClr val="tx2"/>
                </a:solidFill>
              </a:rPr>
              <a:t>DISA STIG file store, dl.dod.cyber.mil: U_Infoblox_NIOS_9-x_V1R1_STIG (benchmark Jul. 28, 2026); U_IB_8-x_DNS_V1R4_STIG (Sept. 30, 2026); DNS SRG V4R3.</a:t>
            </a:r>
            <a:endParaRPr lang="en-US" sz="1100" dirty="0"/>
          </a:p>
          <a:p>
            <a:pPr marL="342900" indent="-342900">
              <a:spcAft>
                <a:spcPts val="300"/>
              </a:spcAft>
              <a:buSzPct val="100000"/>
              <a:buChar char="•"/>
            </a:pPr>
            <a:r>
              <a:rPr lang="en-US" sz="1100" dirty="0">
                <a:solidFill>
                  <a:schemeClr val="tx2"/>
                </a:solidFill>
              </a:rPr>
              <a:t>NIST CMVP: certificates #4531, #4535, #3332, #3330 (Infoblox, Historical); #5506 and #4692 (BlueCat); validated-modules search (EfficientIP, Men&amp;Mice); Modules In Process list; FIPS 140-3 transition page.</a:t>
            </a:r>
            <a:endParaRPr lang="en-US" sz="1100" dirty="0"/>
          </a:p>
          <a:p>
            <a:pPr marL="342900" indent="-342900">
              <a:spcAft>
                <a:spcPts val="300"/>
              </a:spcAft>
              <a:buSzPct val="100000"/>
              <a:buChar char="•"/>
            </a:pPr>
            <a:r>
              <a:rPr lang="en-US" sz="1100" dirty="0">
                <a:solidFill>
                  <a:schemeClr val="tx2"/>
                </a:solidFill>
              </a:rPr>
              <a:t>NIAP Product Compliant List (API) — Infoblox Trinzic Appliances with NIOS v9.0, In Progress; Common Criteria Portal certified and archived CSVs  ·  CISA CDM APL page and April 2025 APL workbook.</a:t>
            </a:r>
            <a:endParaRPr lang="en-US" sz="1100" dirty="0"/>
          </a:p>
          <a:p>
            <a:pPr marL="342900" indent="-342900">
              <a:spcAft>
                <a:spcPts val="300"/>
              </a:spcAft>
              <a:buSzPct val="100000"/>
              <a:buChar char="•"/>
            </a:pPr>
            <a:r>
              <a:rPr lang="en-US" sz="1100" dirty="0">
                <a:solidFill>
                  <a:schemeClr val="tx2"/>
                </a:solidFill>
              </a:rPr>
              <a:t>NVD CVE API (keyword Infoblox): CVE-2024-37566, -37567, -36046, -36047; CVE-2025-61880, -61879  ·  CISA KEV JSON, catalog 2026.10.21 (incl. CVE-2015-5477)  ·  Infoblox Cloud release notes (NIOS-X DNS 3.8.11, 3.8.12).</a:t>
            </a:r>
            <a:endParaRPr lang="en-US" sz="1100" dirty="0"/>
          </a:p>
          <a:p>
            <a:pPr marL="342900" indent="-342900">
              <a:spcAft>
                <a:spcPts val="300"/>
              </a:spcAft>
              <a:buSzPct val="100000"/>
              <a:buChar char="•"/>
            </a:pPr>
            <a:r>
              <a:rPr lang="en-US" sz="1100" dirty="0">
                <a:solidFill>
                  <a:schemeClr val="tx2"/>
                </a:solidFill>
              </a:rPr>
              <a:t>Comparison: BlueCat Integrity and Micetro pages; EfficientIP SOLIDserver DDI datasheet (Jan. 2026) — vendor  ·  Microsoft Learn: IPAM overview and WS2012 R2 planning; DNS Policies; DHCP failover; removed and deprecated features; Azure DNSSEC; DNS resolver policy; AVNM IPAM.</a:t>
            </a:r>
            <a:endParaRPr lang="en-US" sz="1100" dirty="0"/>
          </a:p>
          <a:p>
            <a:pPr marL="342900" indent="-342900">
              <a:spcAft>
                <a:spcPts val="300"/>
              </a:spcAft>
              <a:buSzPct val="100000"/>
              <a:buChar char="•"/>
            </a:pPr>
            <a:r>
              <a:rPr lang="en-US" sz="1100" dirty="0">
                <a:solidFill>
                  <a:schemeClr val="tx2"/>
                </a:solidFill>
              </a:rPr>
              <a:t>AWS: VPC IPAM; Integrate VPC IPAM with Infoblox; What's New Nov. 17, 2025; Route 53 DNSSEC signing; Route 53 in GovCloud; DNS Firewall Advanced  ·  Google Cloud: DNSSEC; response policies; DNS Armor.</a:t>
            </a:r>
            <a:endParaRPr lang="en-US" sz="1100" dirty="0"/>
          </a:p>
          <a:p>
            <a:pPr marL="342900" indent="-342900">
              <a:spcAft>
                <a:spcPts val="300"/>
              </a:spcAft>
              <a:buSzPct val="100000"/>
              <a:buChar char="•"/>
            </a:pPr>
            <a:r>
              <a:rPr lang="en-US" sz="1100" dirty="0">
                <a:solidFill>
                  <a:schemeClr val="tx2"/>
                </a:solidFill>
              </a:rPr>
              <a:t>Terraform Registry API (infobloxopen, bluecatlabs, efficientip-labs, menandmice providers); Ansible Galaxy API (infoblox, menandmice collections).</a:t>
            </a:r>
            <a:endParaRPr lang="en-US" sz="1100" dirty="0"/>
          </a:p>
          <a:p>
            <a:pPr marL="342900" indent="-342900">
              <a:spcAft>
                <a:spcPts val="300"/>
              </a:spcAft>
              <a:buSzPct val="100000"/>
              <a:buChar char="•"/>
            </a:pPr>
            <a:r>
              <a:rPr lang="en-US" sz="1100" dirty="0">
                <a:solidFill>
                  <a:schemeClr val="tx2"/>
                </a:solidFill>
              </a:rPr>
              <a:t>Infoblox (vendor): Universal DDI Tokens FAQ; Universal DDI Supplemental Terms; End-of-Life policy (Mar. 31, 2025); "Universal DDI comes to Infoblox Government Cloud" (July 22, 2026); "Top 12 Questions" post (search summary).</a:t>
            </a:r>
            <a:endParaRPr lang="en-US" sz="1100" dirty="0"/>
          </a:p>
          <a:p>
            <a:pPr marL="342900" indent="-342900">
              <a:spcAft>
                <a:spcPts val="300"/>
              </a:spcAft>
              <a:buSzPct val="100000"/>
              <a:buChar char="•"/>
            </a:pPr>
            <a:r>
              <a:rPr lang="en-US" sz="1100" dirty="0">
                <a:solidFill>
                  <a:schemeClr val="tx2"/>
                </a:solidFill>
              </a:rPr>
              <a:t>Trinzic slides — Infoblox: vDiscovery (Endpoint Server, AWS, Azure, Guidelines); Cloud Network Automation; Cloud Platform License Limitations; Route 53, Azure DNS, Google Cloud DNS integration and limits; vNIOS for AWS, Azure, Google Cloud (About, Limitations); Shared-Services VPC; Onboarding NIOS Services; Cloud Forwarders; Discovering Cloud Forwarder Endpoints; UAI AWS, Azure, GCP credentials; CMVP Modules In Process; CISA BOD 26-02.</a:t>
            </a:r>
            <a:endParaRPr lang="en-US" sz="1100" dirty="0"/>
          </a:p>
          <a:p>
            <a:pPr marL="342900" indent="-342900">
              <a:spcAft>
                <a:spcPts val="300"/>
              </a:spcAft>
              <a:buSzPct val="100000"/>
              <a:buChar char="•"/>
            </a:pPr>
            <a:r>
              <a:rPr lang="en-US" sz="1100" dirty="0">
                <a:solidFill>
                  <a:schemeClr val="tx2"/>
                </a:solidFill>
              </a:rPr>
              <a:t>Trinzic slides — clouds: AWS Route 53 private hosted zones, VPC Resolver, inbound/outbound forwarding, GovCloud Route 53, DHCP option sets, VPC IPAM + Infoblox; Microsoft Learn DNS Private Resolver, VNet name resolution, AVNM IPAM; Google Cloud DNS best practices, server policies, Assured Workloads.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Divisions and operating model</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Infoblox NIOS (spaces nios91x and nios90): About Administrative Permissions; About Admin Groups; About Admin Roles; Creating Limited-Access and Superuser Admin Groups; Applying Permissions and Managing Overlaps; Global and Object Permissions.</a:t>
            </a:r>
            <a:endParaRPr lang="en-US" sz="1100" dirty="0"/>
          </a:p>
          <a:p>
            <a:pPr marL="342900" indent="-342900">
              <a:spcAft>
                <a:spcPts val="300"/>
              </a:spcAft>
              <a:buSzPct val="100000"/>
              <a:buChar char="•"/>
            </a:pPr>
            <a:r>
              <a:rPr lang="en-US" sz="1100" dirty="0">
                <a:solidFill>
                  <a:schemeClr val="tx2"/>
                </a:solidFill>
              </a:rPr>
              <a:t>Infoblox NIOS: Permissions for Grid Members, IPAM Resources, Network Views, DNS Views, Zones, Resource Records; Permissions for DNS Resources in Networks and Ranges; Grid permissions; RPZ license and permissions.</a:t>
            </a:r>
            <a:endParaRPr lang="en-US" sz="1100" dirty="0"/>
          </a:p>
          <a:p>
            <a:pPr marL="342900" indent="-342900">
              <a:spcAft>
                <a:spcPts val="300"/>
              </a:spcAft>
              <a:buSzPct val="100000"/>
              <a:buChar char="•"/>
            </a:pPr>
            <a:r>
              <a:rPr lang="en-US" sz="1100" dirty="0">
                <a:solidFill>
                  <a:schemeClr val="tx2"/>
                </a:solidFill>
              </a:rPr>
              <a:t>Infoblox NIOS: Configuring Network Views; About DNS Views; Managing and Inheritable Extensible Attributes; Network Containers; Delegated Zones; Configuring DNSSEC on a Grid.</a:t>
            </a:r>
            <a:endParaRPr lang="en-US" sz="1100" dirty="0"/>
          </a:p>
          <a:p>
            <a:pPr marL="342900" indent="-342900">
              <a:spcAft>
                <a:spcPts val="300"/>
              </a:spcAft>
              <a:buSzPct val="100000"/>
              <a:buChar char="•"/>
            </a:pPr>
            <a:r>
              <a:rPr lang="en-US" sz="1100" dirty="0">
                <a:solidFill>
                  <a:schemeClr val="tx2"/>
                </a:solidFill>
              </a:rPr>
              <a:t>Infoblox NIOS: Configuring and Creating Approval Workflows; Unsupported Operations for Submitters; Supported Tasks for Admin Groups; Scheduling Tasks; Audit Log.</a:t>
            </a:r>
            <a:endParaRPr lang="en-US" sz="1100" dirty="0"/>
          </a:p>
          <a:p>
            <a:pPr marL="342900" indent="-342900">
              <a:spcAft>
                <a:spcPts val="300"/>
              </a:spcAft>
              <a:buSzPct val="100000"/>
              <a:buChar char="•"/>
            </a:pPr>
            <a:r>
              <a:rPr lang="en-US" sz="1100" dirty="0">
                <a:solidFill>
                  <a:schemeClr val="tx2"/>
                </a:solidFill>
              </a:rPr>
              <a:t>Infoblox NIOS: Authenticating Administrators; Authentication Policy; Remote Admins; Two-Factor and Certificate Authentication Services; SAML (incl. Enabling SAML); AD Nested Groups; Managing Microsoft Servers; Reporting permissions; EA filters and Smart Folders; Dashboard Tasks; Multi-Grid Manager (MAG8).</a:t>
            </a:r>
            <a:endParaRPr lang="en-US" sz="1100" dirty="0"/>
          </a:p>
          <a:p>
            <a:pPr marL="342900" indent="-342900">
              <a:spcAft>
                <a:spcPts val="300"/>
              </a:spcAft>
              <a:buSzPct val="100000"/>
              <a:buChar char="•"/>
            </a:pPr>
            <a:r>
              <a:rPr lang="en-US" sz="1100" dirty="0">
                <a:solidFill>
                  <a:schemeClr val="tx2"/>
                </a:solidFill>
              </a:rPr>
              <a:t>Infoblox Portal (BloxOneCloud): About Access Views; Supported Objects; Setting Up Access Control; Creating Access Views; Interactive and Service Users; RBAC; Access Policies; Restricting User Groups; SAML for Entra ID; Mapping User Groups; Audit Logs.</a:t>
            </a:r>
            <a:endParaRPr lang="en-US" sz="1100" dirty="0"/>
          </a:p>
          <a:p>
            <a:pPr marL="342900" indent="-342900">
              <a:spcAft>
                <a:spcPts val="300"/>
              </a:spcAft>
              <a:buSzPct val="100000"/>
              <a:buChar char="•"/>
            </a:pPr>
            <a:r>
              <a:rPr lang="en-US" sz="1100" dirty="0">
                <a:solidFill>
                  <a:schemeClr val="tx2"/>
                </a:solidFill>
              </a:rPr>
              <a:t>Universal DDI (BloxOneDDI): IP Spaces; IPAM Federation and Federated Realms; Zone Delegation; Tags; NIOS Grid Connector; Universal DDI Agent for Microsoft.</a:t>
            </a:r>
            <a:endParaRPr lang="en-US" sz="1100" dirty="0"/>
          </a:p>
          <a:p>
            <a:pPr marL="342900" indent="-342900">
              <a:spcAft>
                <a:spcPts val="300"/>
              </a:spcAft>
              <a:buSzPct val="100000"/>
              <a:buChar char="•"/>
            </a:pPr>
            <a:r>
              <a:rPr lang="en-US" sz="1100" dirty="0">
                <a:solidFill>
                  <a:schemeClr val="tx2"/>
                </a:solidFill>
              </a:rPr>
              <a:t>Book 08, Ch 09 (roles and responsibility matrix; NIST SP 800-37 authorizing official) and Ch 10 and index (canonical migration sequence).</a:t>
            </a:r>
            <a:endParaRPr lang="en-US" sz="1100" dirty="0"/>
          </a:p>
          <a:p>
            <a:pPr marL="342900" indent="-342900">
              <a:spcAft>
                <a:spcPts val="300"/>
              </a:spcAft>
              <a:buSzPct val="100000"/>
              <a:buChar char="•"/>
            </a:pPr>
            <a:r>
              <a:rPr lang="en-US" sz="1100" dirty="0">
                <a:solidFill>
                  <a:schemeClr val="tx2"/>
                </a:solidFill>
              </a:rPr>
              <a:t>The worked example and the four patterns are illustrative syntheses of the pages above, not validated configurations.</a:t>
            </a:r>
            <a:endParaRPr lang="en-US" sz="1100" dirty="0"/>
          </a:p>
          <a:p>
            <a:pPr marL="342900" indent="-342900">
              <a:spcAft>
                <a:spcPts val="300"/>
              </a:spcAft>
              <a:buSzPct val="100000"/>
              <a:buChar char="•"/>
            </a:pPr>
            <a:r>
              <a:rPr lang="en-US" sz="1100" dirty="0">
                <a:solidFill>
                  <a:schemeClr val="tx2"/>
                </a:solidFill>
              </a:rPr>
              <a:t>Separating DNS, DHCP and IPAM by team (base infoblox-docs.atlassian.net/wiki/spaces/&lt;space&gt;/pages/&lt;id&gt;): nios90/280275424 Administrative Permissions; nios90/1343324540 Global; docs.infoblox.com/space/nios90/1343095459 Object; nios91x/2397439547 Overlaps; nios91x/2397014241 Zones; nios90/1343095499 Grid Members; nios90/280668320 Grid; nios90/280401646 DNS in Networks and Ranges; nios90/280275587 Admin Groups; nios90/280857269 Reporting.</a:t>
            </a:r>
            <a:endParaRPr lang="en-US" sz="1100" dirty="0"/>
          </a:p>
          <a:p>
            <a:pPr marL="342900" indent="-342900">
              <a:spcAft>
                <a:spcPts val="300"/>
              </a:spcAft>
              <a:buSzPct val="100000"/>
              <a:buChar char="•"/>
            </a:pPr>
            <a:r>
              <a:rPr lang="en-US" sz="1100" dirty="0">
                <a:solidFill>
                  <a:schemeClr val="tx2"/>
                </a:solidFill>
              </a:rPr>
              <a:t>Service teams and divisions together: nios91x/2456224006 Network Views; nios90/1346013877 Network Containers; nios91x/2456846341 DNSSEC on a Grid; nios90/1432781524 Delegated Zones; nios90/280662903 Microsoft Servers; BloxOneCloud/680362600 About Access Views; BloxOneCloud/680657470 Supported Objects; BloxOneCloud/680362726 Setting Up Access Control; BloxOneCloud/35431431 Creating Access Policies.</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Learn more: official Infoblox training</a:t>
            </a:r>
            <a:endParaRPr lang="en-US" sz="3000" dirty="0"/>
          </a:p>
        </p:txBody>
      </p:sp>
      <p:sp>
        <p:nvSpPr>
          <p:cNvPr id="3" name="Source list"/>
          <p:cNvSpPr txBox="1"/>
          <p:nvPr/>
        </p:nvSpPr>
        <p:spPr>
          <a:xfrm>
            <a:off x="548640" y="1325880"/>
            <a:ext cx="11064240" cy="466344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Learning paths by role, costs and links: the workbook's Research page "Infoblox Training and Learning Paths" (docs/research/infoblox-training).</a:t>
            </a:r>
            <a:endParaRPr lang="en-US" sz="1100" dirty="0"/>
          </a:p>
          <a:p>
            <a:pPr marL="342900" indent="-342900">
              <a:spcAft>
                <a:spcPts val="300"/>
              </a:spcAft>
              <a:buSzPct val="100000"/>
              <a:buChar char="•"/>
            </a:pPr>
            <a:r>
              <a:rPr lang="en-US" sz="1100" dirty="0">
                <a:solidFill>
                  <a:schemeClr val="tx2"/>
                </a:solidFill>
              </a:rPr>
              <a:t>Launchpad, Infoblox's learning portal: launchpad.education.infoblox.com (free with Infoblox products; organizational .gov email required; catalog behind sign-in).</a:t>
            </a:r>
            <a:endParaRPr lang="en-US" sz="1100" dirty="0"/>
          </a:p>
          <a:p>
            <a:pPr marL="342900" indent="-342900">
              <a:spcAft>
                <a:spcPts val="300"/>
              </a:spcAft>
              <a:buSzPct val="100000"/>
              <a:buChar char="•"/>
            </a:pPr>
            <a:r>
              <a:rPr lang="en-US" sz="1100" dirty="0">
                <a:solidFill>
                  <a:schemeClr val="tx2"/>
                </a:solidFill>
              </a:rPr>
              <a:t>Certifications: NIOS Operator → Administrator → Expert (INO → INA → INE); vendor-neutral DDIA/DDIP and DSA/DSP; exams $29 / $69 / $99 per attempt (Education KB, Oct. 2026).</a:t>
            </a:r>
            <a:endParaRPr lang="en-US" sz="1100" dirty="0"/>
          </a:p>
          <a:p>
            <a:pPr marL="342900" indent="-342900">
              <a:spcAft>
                <a:spcPts val="300"/>
              </a:spcAft>
              <a:buSzPct val="100000"/>
              <a:buChar char="•"/>
            </a:pPr>
            <a:r>
              <a:rPr lang="en-US" sz="1100" dirty="0">
                <a:solidFill>
                  <a:schemeClr val="tx2"/>
                </a:solidFill>
              </a:rPr>
              <a:t>Version currency: NIOS courses were "refreshed against NIOS 8.6"; pair them with the NIOS 9.1.x documentation at docs.infoblox.com and confirm the lab version with Infoblox Education.</a:t>
            </a:r>
            <a:endParaRPr lang="en-US" sz="1100" dirty="0"/>
          </a:p>
          <a:p>
            <a:pPr marL="342900" indent="-342900">
              <a:spcAft>
                <a:spcPts val="300"/>
              </a:spcAft>
              <a:buSzPct val="100000"/>
              <a:buChar char="•"/>
            </a:pPr>
            <a:r>
              <a:rPr lang="en-US" sz="1100" dirty="0">
                <a:solidFill>
                  <a:schemeClr val="tx2"/>
                </a:solidFill>
              </a:rPr>
              <a:t>Hands-on: browser labs at infoblox.com/labs (four hours per lab); 60-day vNIOS evaluation (NIOS 9.0.3 images); lab guides at docs.education.infoblox.com/lab.</a:t>
            </a:r>
            <a:endParaRPr lang="en-US" sz="1100" dirty="0"/>
          </a:p>
          <a:p>
            <a:pPr marL="342900" indent="-342900">
              <a:spcAft>
                <a:spcPts val="300"/>
              </a:spcAft>
              <a:buSzPct val="100000"/>
              <a:buChar char="•"/>
            </a:pPr>
            <a:r>
              <a:rPr lang="en-US" sz="1100" dirty="0">
                <a:solidFill>
                  <a:schemeClr val="tx2"/>
                </a:solidFill>
              </a:rPr>
              <a:t>Automation: NIOS 9.1.0 WAPI documentation (PDF), Universal DDI API Guide, Developer Portal, WAPI Bytes video playlist.</a:t>
            </a:r>
            <a:endParaRPr lang="en-US" sz="1100" dirty="0"/>
          </a:p>
          <a:p>
            <a:pPr marL="342900" indent="-342900">
              <a:spcAft>
                <a:spcPts val="300"/>
              </a:spcAft>
              <a:buSzPct val="100000"/>
              <a:buChar char="•"/>
            </a:pPr>
            <a:r>
              <a:rPr lang="en-US" sz="1100" dirty="0">
                <a:solidFill>
                  <a:schemeClr val="tx2"/>
                </a:solidFill>
              </a:rPr>
              <a:t>Community and video: community.infoblox.com forums; YouTube @InfobloxInc playlists. NetMRI Administrator (IMA) exam retires Dec. 31, 2026.</a:t>
            </a:r>
            <a:endParaRPr lang="en-US" sz="1100" dirty="0"/>
          </a:p>
          <a:p>
            <a:pPr marL="342900" indent="-342900">
              <a:spcAft>
                <a:spcPts val="300"/>
              </a:spcAft>
              <a:buSzPct val="100000"/>
              <a:buChar char="•"/>
            </a:pPr>
            <a:r>
              <a:rPr lang="en-US" sz="1100" dirty="0">
                <a:solidFill>
                  <a:schemeClr val="tx2"/>
                </a:solidFill>
              </a:rPr>
              <a:t>Federal session (vendor): "Strengthening Federal Cybersecurity with Encrypted DNS and Zero Trust" (Infoblox, Nov. 6, 2025; youtube.com/watch?v=Tytqevx9pdg). It cites EO 14028; the federal encrypted-DNS requirements are M-22-09 and EO 14144 sec. 4(c).</a:t>
            </a:r>
            <a:endParaRPr lang="en-US" sz="1100" dirty="0"/>
          </a:p>
        </p:txBody>
      </p:sp>
      <p:sp>
        <p:nvSpPr>
          <p:cNvPr id="4"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primary documents as listed; vendor marketing labeled (vendor). Access date for all: Oct. 22,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1</cp:revision>
  <dcterms:created xsi:type="dcterms:W3CDTF">2026-10-22T19:59:15Z</dcterms:created>
  <dcterms:modified xsi:type="dcterms:W3CDTF">2026-10-22T19:59:15Z</dcterms:modified>
</cp:coreProperties>
</file>