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7D9CBCD-F46F-D163-DB1F-035A1CC4EE69}">
          <p14:sldIdLst>
            <p14:sldId id="256"/>
            <p14:sldId id="257"/>
            <p14:sldId id="258"/>
          </p14:sldIdLst>
        </p14:section>
        <p14:section name="Part 1 — The platform and the case for it" id="{8732D0DA-822D-9B86-FA43-9E8CCA15EE19}">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6D1F710C-810B-D4D8-F5C1-CCCDF15748B4}">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FA49A220-1E01-9485-DC9B-3E4A377C3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9086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[45:12–47:16]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[47:16–49:20]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[49:20–49:57]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[49:57–51:49]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[51:49–53:41]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[53:41–55:43]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[55:43–57:31]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[57:31–59:38]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E020E79-8156-932C-E202-CEC4D0DD6C5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5F7BC5-7B97-4C55-B654-A10F6E7BF35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070"/>
    </mc:Choice>
    <mc:Fallback>
      <p:transition spd="slow" advTm="94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30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DD0ABA69-7054-AB29-5514-1F17BA9D3C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A70BDF-CC61-414F-BD6A-AFA8C88AA19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300"/>
    </mc:Choice>
    <mc:Fallback>
      <p:transition spd="slow" advTm="10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29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9C2E43EE-A7DF-1FAE-CE12-14D1C5AFC2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8FF2B2-16CE-4B26-82BB-EE0B4287884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2510"/>
    </mc:Choice>
    <mc:Fallback>
      <p:transition spd="slow" advTm="18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5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F28AD01-CC00-3EDB-66DB-7132980333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F9045D-27A3-4395-BCA9-801A7C2F3DB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30"/>
    </mc:Choice>
    <mc:Fallback>
      <p:transition spd="slow" advTm="45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3D735D9-DE44-08D8-C594-1B72192769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DA6000-5C6A-4C7F-8E1E-18C456C0F6B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2890"/>
    </mc:Choice>
    <mc:Fallback>
      <p:transition spd="slow" advTm="14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99BF3117-581A-BCDD-4972-1B455AF7CA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35A086-F229-4130-B7B8-452743A9A6B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220"/>
    </mc:Choice>
    <mc:Fallback>
      <p:transition spd="slow" advTm="13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22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13B6E59-6C6D-B767-07FD-877B2AE1E2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AC91FD-790A-460C-9110-63704D0B509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700"/>
    </mc:Choice>
    <mc:Fallback>
      <p:transition spd="slow" advTm="13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69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2AFC02F-F3B2-BC45-15BA-2AB2AE49FF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4F647B-4DCB-409E-8A62-6128953E5CE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1480"/>
    </mc:Choice>
    <mc:Fallback>
      <p:transition spd="slow" advTm="151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0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1F03BA3-A149-23B6-7277-B3BDA89B78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CCD646-C078-46FA-B5FA-B647AF68A3C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8420"/>
    </mc:Choice>
    <mc:Fallback>
      <p:transition spd="slow" advTm="1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74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D16045-B02E-BD27-5F1F-33E86CD67F8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D3F246-A14D-4539-B319-FC34616701C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9180"/>
    </mc:Choice>
    <mc:Fallback>
      <p:transition spd="slow" advTm="149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DISA STIG file store;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D07E2D7-69D0-6658-8F83-E43511C5ED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200A86-EC0E-4723-A50D-84CC284635B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AB5C939-6553-9865-09A5-D7B6A9049D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110911-0E82-4235-AB9B-D15DE894D8F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1420"/>
    </mc:Choice>
    <mc:Fallback>
      <p:transition spd="slow" advTm="16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0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ACC86FA-4AEF-3E21-01D5-F7398FF3B4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6E53B3-85D1-4B1C-817B-3BC87CA7126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440"/>
    </mc:Choice>
    <mc:Fallback>
      <p:transition spd="slow" advTm="14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247854E-2351-F827-B6BF-7FC96CEB52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A0ECCE-BACD-477B-9188-270BF3F986F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2110"/>
    </mc:Choice>
    <mc:Fallback>
      <p:transition spd="slow" advTm="162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11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one">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marL="0" indent="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marL="0" indent="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marL="0" indent="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marL="0" indent="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marL="0" indent="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marL="0" indent="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DESIGN GUIDANCE, NOT A RULE: WHICH PATTERN FITS</a:t>
            </a:r>
            <a:endParaRPr lang="en-US" sz="1200" dirty="0"/>
          </a:p>
        </p:txBody>
      </p:sp>
      <p:sp>
        <p:nvSpPr>
          <p:cNvPr id="15" name="Guide 1">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Mostly on premises</a:t>
            </a:r>
            <a:endParaRPr lang="en-US" sz="1100" dirty="0"/>
          </a:p>
          <a:p>
            <a:pPr marL="0" indent="0">
              <a:buNone/>
            </a:pPr>
            <a:r>
              <a:rPr lang="en-US" sz="1100" dirty="0">
                <a:solidFill>
                  <a:schemeClr val="tx2"/>
                </a:solidFill>
              </a:rPr>
              <a:t>C: the Grid stays authoritative; clouds forward to it</a:t>
            </a:r>
            <a:endParaRPr lang="en-US" sz="1100" dirty="0"/>
          </a:p>
        </p:txBody>
      </p:sp>
      <p:sp>
        <p:nvSpPr>
          <p:cNvPr id="17" name="Guide 2">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Hybrid, one cloud</a:t>
            </a:r>
            <a:endParaRPr lang="en-US" sz="1100" dirty="0"/>
          </a:p>
          <a:p>
            <a:pPr marL="0" indent="0">
              <a:buNone/>
            </a:pPr>
            <a:r>
              <a:rPr lang="en-US" sz="1100" dirty="0">
                <a:solidFill>
                  <a:schemeClr val="tx2"/>
                </a:solidFill>
              </a:rPr>
              <a:t>A + C: an HA vNIOS pair keeps answers local</a:t>
            </a:r>
            <a:endParaRPr lang="en-US" sz="1100" dirty="0"/>
          </a:p>
        </p:txBody>
      </p:sp>
      <p:sp>
        <p:nvSpPr>
          <p:cNvPr id="19" name="Guide 3">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Multi-cloud, Moderate or below</a:t>
            </a:r>
            <a:endParaRPr lang="en-US" sz="1100" dirty="0"/>
          </a:p>
          <a:p>
            <a:pPr marL="0" indent="0">
              <a:buNone/>
            </a:pPr>
            <a:r>
              <a:rPr lang="en-US" sz="1100" dirty="0">
                <a:solidFill>
                  <a:schemeClr val="tx2"/>
                </a:solidFill>
              </a:rPr>
              <a:t>Add B for cloud DNS write-back</a:t>
            </a:r>
            <a:endParaRPr lang="en-US" sz="1100" dirty="0"/>
          </a:p>
        </p:txBody>
      </p:sp>
      <p:sp>
        <p:nvSpPr>
          <p:cNvPr id="21" name="Guide 4">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GovCloud, Azure Gov, High, IL4–5</a:t>
            </a:r>
            <a:endParaRPr lang="en-US" sz="1100" dirty="0"/>
          </a:p>
          <a:p>
            <a:pPr marL="0" indent="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marL="0" indent="0">
              <a:buNone/>
            </a:pPr>
            <a:r>
              <a:rPr lang="en-US" sz="1250" b="1" dirty="0">
                <a:solidFill>
                  <a:srgbClr val="0F766E"/>
                </a:solidFill>
              </a:rPr>
              <a:t>Go deeper: </a:t>
            </a: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3972E7D-2B9C-1623-6986-5747E0EA07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E81A6B-CFC3-4B2C-9DA1-8C6772BFD54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0620"/>
    </mc:Choice>
    <mc:Fallback>
      <p:transition spd="slow" advTm="160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9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36B874B-F941-4077-5B76-78941956A9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DB9CB08-E3CD-46DF-B97F-4FCBD77EFCB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4100"/>
    </mc:Choice>
    <mc:Fallback>
      <p:transition spd="slow" advTm="15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3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2AC8BCB-EF3E-1894-F786-2F755DD1EA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51BC96-77CF-40D9-B9E5-B5D21489002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610"/>
    </mc:Choice>
    <mc:Fallback>
      <p:transition spd="slow" advTm="155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B33C7B2-9ABF-45C5-12FF-19F11152B4F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D74B18-EC8E-4CB9-865E-10FEC9DD8A0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920"/>
    </mc:Choice>
    <mc:Fallback>
      <p:transition spd="slow" advTm="15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88BB1B7-77E1-80D0-89D6-ED1EA57C7B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5CC296-2B5A-414F-BB27-D7C18923AF1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310"/>
    </mc:Choice>
    <mc:Fallback>
      <p:transition spd="slow" advTm="133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5B0B75F-E793-323B-3CB2-0830D6D75A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51E3B0-FDCB-445B-AB44-4B6D44D3B7C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80"/>
    </mc:Choice>
    <mc:Fallback>
      <p:transition spd="slow" advTm="5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58208AF-5FEA-FF91-0639-D6DE084BBD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0316E0-4ACA-4A79-A656-9B3DCB9E53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730"/>
    </mc:Choice>
    <mc:Fallback>
      <p:transition spd="slow" advTm="119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7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326D7C3-12BC-3FC3-6D69-4C62910C80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0E778F-F91C-43AD-9AC4-2FF6D038E2C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060"/>
    </mc:Choice>
    <mc:Fallback>
      <p:transition spd="slow" advTm="13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0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E9218BF-C7B6-A169-8C88-ACE38349CD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F300AD-8DB7-46D5-8783-0AA1A50FE4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110"/>
    </mc:Choice>
    <mc:Fallback>
      <p:transition spd="slow" advTm="12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1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5F36B57-11E8-C0ED-AB82-D3830EA00F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087637C-4B1C-40A5-B604-301F892FD0D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440"/>
    </mc:Choice>
    <mc:Fallback>
      <p:transition spd="slow" advTm="113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4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3416730-AAE1-23D0-0088-A2E78337DEF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5C2BD0-AC58-4D70-B932-E53DFBDC359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5180"/>
    </mc:Choice>
    <mc:Fallback>
      <p:transition spd="slow" advTm="13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4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DFBCEDB-7FD2-0AE1-3C9B-2317E95C27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C5381A-91D7-4EEC-80DA-640C713BBF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720"/>
    </mc:Choice>
    <mc:Fallback>
      <p:transition spd="slow" advTm="12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72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upling">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marL="0" indent="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AAA4CF6-36CE-5201-3ED4-76001B1F16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6F23C5-9432-4EDF-B322-595C58AEB14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5410"/>
    </mc:Choice>
    <mc:Fallback>
      <p:transition spd="slow" advTm="145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440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UDDI">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marL="0" indent="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BA7C891-0387-A6B4-E401-198EBF6088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5AD0B5-90FF-41D5-A44B-CFD8C5906FE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9270"/>
    </mc:Choice>
    <mc:Fallback>
      <p:transition spd="slow" advTm="1492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27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A2F613DF-DE1C-391B-A41F-D275044582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87B4F3-5BE7-474D-8ACC-5F9A7C3A9F1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80"/>
    </mc:Choice>
    <mc:Fallback>
      <p:transition spd="slow" advTm="43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676CBCB-372F-ACD2-0393-4054D79E48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393034-97A1-46D5-8F10-89F0FF20EA2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170"/>
    </mc:Choice>
    <mc:Fallback>
      <p:transition spd="slow" advTm="136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16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451ED5C-071C-5ACF-1060-1617F06CBB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06AAD6-18A6-4ED4-991C-72B4C49803B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50"/>
    </mc:Choice>
    <mc:Fallback>
      <p:transition spd="slow" advTm="13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504E4808-492B-F49A-5979-5C077782A4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FB9420A-6809-4EFE-892B-0A89E524162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820"/>
    </mc:Choice>
    <mc:Fallback>
      <p:transition spd="slow" advTm="1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8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0C474E4-4161-77AC-99B3-F3F0B4AC0E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2234F5-C549-4F03-8813-30B1AAE6D7C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160"/>
    </mc:Choice>
    <mc:Fallback>
      <p:transition spd="slow" advTm="120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STIG,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D1C6456F-27CB-4C81-5C5E-06B441C981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60A692-59E3-4B74-8719-66FF49D39A6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840"/>
    </mc:Choice>
    <mc:Fallback>
      <p:transition spd="slow" advTm="13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84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19219</Words>
  <Application>Microsoft Office PowerPoint</Application>
  <PresentationFormat>Widescreen</PresentationFormat>
  <Paragraphs>913</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Trinzic hardware against the workbook's design</vt:lpstr>
      <vt:lpstr>Trinzic alone, or with cloud DDI?</vt:lpstr>
      <vt:lpstr>Assurance: STIGs,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Separating DNS, DHCP and IPAM by team</vt:lpstr>
      <vt:lpstr>Service teams and divisions together</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2026-10-22T18:12:12Z</dcterms:created>
  <dcterms:modified xsi:type="dcterms:W3CDTF">2026-10-22T18:44:47Z</dcterms:modified>
</cp:coreProperties>
</file>