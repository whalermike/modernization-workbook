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7156C93-982E-676D-47A9-B479CB325408}">
          <p14:sldIdLst>
            <p14:sldId id="256"/>
            <p14:sldId id="257"/>
            <p14:sldId id="258"/>
          </p14:sldIdLst>
        </p14:section>
        <p14:section name="Part 1 — The platform and the case for it" id="{0F013C0E-778C-C23C-1D46-9090129C5C98}">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0B200BC9-6F3E-FC32-8274-FE894655AEBD}">
          <p14:sldIdLst>
            <p14:sldId id="275"/>
            <p14:sldId id="276"/>
            <p14:sldId id="277"/>
            <p14:sldId id="278"/>
            <p14:sldId id="279"/>
            <p14:sldId id="280"/>
            <p14:sldId id="281"/>
            <p14:sldId id="282"/>
            <p14:sldId id="283"/>
            <p14:sldId id="284"/>
            <p14:sldId id="285"/>
            <p14:sldId id="286"/>
            <p14:sldId id="287"/>
            <p14:sldId id="288"/>
            <p14:sldId id="289"/>
          </p14:sldIdLst>
        </p14:section>
        <p14:section name="Backup" id="{CFE0A969-E34E-232D-2466-3DE4967D2C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40219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[45:12–47:16]  Divisions aren't the only way to cut DDI. Many agencies split it by service instead: DNS, DHCP and IPAM teams, each working across the whole agency. NIOS supports that with the same permission model, but each service has a catch. This is an illustrative design, not a validated configuration.
First, the rules. Everything is denied by default. A global permission covers every object of a type, so read-write on all DHCP networks also covers their ranges and fixed addresses. An object permission covers one member, zone, network, record or fixed address. Inheritance runs parent to child, a more specific permission overrides, and the first match wins, with the group's own permissions checked before its roles.
The DNS team gets read-write on its DNS views and zones, per record type if needed, and Member DNS on its DNS members. No network rights. Note that response policy zone rules only take global permissions.
The DHCP team is where the catch is. A permission on a network covers its ranges and fixed addresses, so don't grant networks. Grant object permissions on the ranges and fixed addresses, plus Member DHCP and restart on the DHCP members.
The IPAM team gets read-write on network containers and networks to allocate space. That inherits down to ranges and fixed addresses, so if the DHCP team must own them, add an explicit deny on the DHCP ranges.
For contrast, a division admin gets all three services inside one slice of address space.
Two points stay Grid-wide. Turn on DNS Object Permissions in Networks and Ranges, and A, AAAA and PTR records and hosts need read-write on both the zone and the network. That's a deliberate check between the DNS and IPAM teams. And only superusers create groups, roles, attributes and approval workflows.
Sources: Infoblox NIOS: About Administrative Permissions; Defining Global Permissions; Defining Object Permissions; Applying Permissions and Managing Overlaps; Administrative Permissions for Zones; DNS and DHCP Permissions on Grid Members; Administrative Permission for the Grid; Permissions for DNS Resources in Networks and Ranges; About Admin Groups.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[47:16–49:20]  Service teams and divisions aren't alternatives. Most agencies combine them, because a grant can be scoped by service and by address space at once. Again, it's illustrative, using the worked example's four divisions.
The central DNS team keeps agency dot gov, internal and external, and DNSSEC signing, which only the Grid Master or its HSM can do. The central IPAM team keeps the top-level blocks as network containers and allocates each division its slash twelve. Divisions take over DHCP: each division's admins get Member DHCP and restart on their own DHCP members, and read-write on their ranges, inside their own space.
Read the grid by row. HQ's DHCP admins work in ten slash twelve. LEB serves its own zone from its own members, with Member DNS and DHCP on them. REG's Windows servers are managed from the Grid, so its admins get rights on those server objects. And LAB, with overlapping space, has its own network view, its own DHCP members, and a delegated zone whose DS records go to central.
On Universal DDI the picture changes. An access policy binds a role, a user group and an access view. Whether a division can have separate DNS and DHCP roles depends on a documentation conflict: one Infoblox page lists DDI IPAM, DNS and DHCP roles, while another says only the four DDI IPAM roles are supported in this release. Confirm with Infoblox. DHCP objects can't be assigned to access views directly; ranges, subnets and fixed addresses inherit their access view from their parent. And divisions can't administer their own users or roles.
One reporting caution applies however you split. On NIOS, report and search data ignore object permissions, so any team or division with the Reporting app sees agency-wide DNS and DHCP data.
Sources: Illustrative design synthesized from Infoblox NIOS: Object Permissions, DNS and DHCP Permissions on Grid Members, Network Views, Network Containers, Delegated Zones, Configuring DNSSEC on a Grid, Managing Microsoft Servers, Reporting permissions; Infoblox Portal: About Access Views, Supported Objects for Access Views, Setting Up Access Control, Creating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[49:20–49:57]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[49:57–51:49]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[51:49–53:41]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[53:41–55:43]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[55:43–57:31]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[57:31–59:38]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5" Type="http://schemas.openxmlformats.org/officeDocument/2006/relationships/image" Target="../media/image3.png"/><Relationship Id="rId4" Type="http://schemas.openxmlformats.org/officeDocument/2006/relationships/notesSlide" Target="../notesSlides/notesSlide33.xml"/><Relationship Id="rId6"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platform and the case for it</a:t>
            </a:r>
            <a:endParaRPr lang="en-US" sz="1500" dirty="0"/>
          </a:p>
          <a:p>
            <a:pPr marL="0" indent="0">
              <a:spcAft>
                <a:spcPts val="200"/>
              </a:spcAft>
              <a:buNone/>
            </a:pPr>
            <a:r>
              <a:rPr lang="en-US" sz="1500" dirty="0">
                <a:solidFill>
                  <a:srgbClr val="334155"/>
                </a:solidFill>
              </a:rPr>
              <a:t>Module 1  The platform   ·   Module 2  Why it's a top recommendation, and its risks</a:t>
            </a:r>
            <a:endParaRPr lang="en-US" sz="1500" dirty="0"/>
          </a:p>
          <a:p>
            <a:pPr marL="0" indent="0">
              <a:spcAft>
                <a:spcPts val="200"/>
              </a:spcAft>
              <a:buNone/>
            </a:pPr>
            <a:r>
              <a:rPr lang="en-US" sz="1500" b="1" dirty="0">
                <a:solidFill>
                  <a:srgbClr val="0F766E"/>
                </a:solidFill>
              </a:rPr>
              <a:t>Part 2 — Divisions under central governance</a:t>
            </a:r>
            <a:endParaRPr lang="en-US" sz="1500" dirty="0"/>
          </a:p>
          <a:p>
            <a:pPr marL="0" indent="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0EF7492-20B2-B347-973A-C911D6AF6B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1E22C9-A842-4C05-B8FA-DF4FB5D4EB9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Globe">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DNS decides where every connection goes</a:t>
            </a:r>
            <a:endParaRPr lang="en-US" sz="1250" dirty="0"/>
          </a:p>
          <a:p>
            <a:pPr marL="0" indent="0">
              <a:buNone/>
            </a:pPr>
            <a:r>
              <a:rPr lang="en-US" sz="1250" dirty="0">
                <a:solidFill>
                  <a:schemeClr val="tx2"/>
                </a:solidFill>
              </a:rPr>
              <a:t>Private endpoints, SaaS front doors, certificate checks (OCSP, CRL) all start with a name</a:t>
            </a:r>
            <a:endParaRPr lang="en-US" sz="1250" dirty="0"/>
          </a:p>
        </p:txBody>
      </p:sp>
      <p:sp>
        <p:nvSpPr>
          <p:cNvPr id="8" name="Icon FaRightLeft">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marL="0" indent="0">
              <a:buNone/>
            </a:pPr>
            <a:r>
              <a:rPr lang="en-US" sz="1450" b="1" dirty="0">
                <a:solidFill>
                  <a:srgbClr val="0F766E"/>
                </a:solidFill>
              </a:rPr>
              <a:t>DHCP decides who a device is on the network</a:t>
            </a:r>
            <a:endParaRPr lang="en-US" sz="1250" dirty="0"/>
          </a:p>
          <a:p>
            <a:pPr marL="0" indent="0">
              <a:buNone/>
            </a:pPr>
            <a:r>
              <a:rPr lang="en-US" sz="1250" dirty="0">
                <a:solidFill>
                  <a:schemeClr val="tx2"/>
                </a:solidFill>
              </a:rPr>
              <a:t>Lease history maps an address to an asset at a point in time (SP 800-81r3)</a:t>
            </a:r>
            <a:endParaRPr lang="en-US" sz="1250" dirty="0"/>
          </a:p>
        </p:txBody>
      </p:sp>
      <p:sp>
        <p:nvSpPr>
          <p:cNvPr id="11" name="Icon FaSitemap">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IPAM decides what address space the agency owns</a:t>
            </a:r>
            <a:endParaRPr lang="en-US" sz="1250" dirty="0"/>
          </a:p>
          <a:p>
            <a:pPr marL="0" indent="0">
              <a:buNone/>
            </a:pPr>
            <a:r>
              <a:rPr lang="en-US" sz="1250" dirty="0">
                <a:solidFill>
                  <a:schemeClr val="tx2"/>
                </a:solidFill>
              </a:rPr>
              <a:t>The record behind asset discovery, inventory attestation and IPv6 planning</a:t>
            </a:r>
            <a:endParaRPr lang="en-US" sz="1250" dirty="0"/>
          </a:p>
        </p:txBody>
      </p:sp>
      <p:sp>
        <p:nvSpPr>
          <p:cNvPr id="14" name="Plane">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marL="0" indent="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The argument of this deck: </a:t>
            </a: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A26F8A01-9B4F-B861-1B9C-8B853918F4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627FAB-4350-4791-9868-4634893FADE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70"/>
    </mc:Choice>
    <mc:Fallback>
      <p:transition spd="slow" advTm="5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6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Vendo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marL="0" indent="0">
              <a:buNone/>
            </a:pPr>
            <a:r>
              <a:rPr lang="en-US" sz="1100" b="1" dirty="0">
                <a:solidFill>
                  <a:srgbClr val="64748B"/>
                </a:solidFill>
              </a:rPr>
              <a:t>THE HONEST STARTING POINT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82D09C4-BA9F-E706-1A69-6146C4EBA9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B3FDEF-C4EA-43B1-8125-74468FFC30C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110"/>
    </mc:Choice>
    <mc:Fallback>
      <p:transition spd="slow" advTm="54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1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admin guide; Universal DDI and Threat Defense docs; infobloxopen GitHub; vendor pages (labeled).</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B82F7A2A-C0D7-5530-96A1-28CAED30F5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C76EA9-5434-44FE-8625-5AEA9DD18DE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500"/>
    </mc:Choice>
    <mc:Fallback>
      <p:transition spd="slow" advTm="1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id">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HOW A NIOS GRID WORKS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8"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marL="0" indent="0">
              <a:buNone/>
            </a:pPr>
            <a:r>
              <a:rPr lang="en-US" sz="1250" b="1" dirty="0">
                <a:solidFill>
                  <a:srgbClr val="0F766E"/>
                </a:solidFill>
              </a:rPr>
              <a:t>October 2026: </a:t>
            </a: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FF498C74-3E63-4943-CDD8-02FB14ED3B7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B86264-3984-4F2E-ABA3-28F79702642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UDDI">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marL="0" indent="0">
              <a:buNone/>
            </a:pPr>
            <a:r>
              <a:rPr lang="en-US" sz="1100" b="1" dirty="0">
                <a:solidFill>
                  <a:srgbClr val="64748B"/>
                </a:solidFill>
              </a:rPr>
              <a:t>THE CLOUD-MANAGED SIDE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8"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8182E23D-ECDA-8186-0A29-AD30F36618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13761AD-1C48-42BF-A3C7-708F535B5E4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lgo">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marL="0" indent="0">
              <a:buNone/>
            </a:pPr>
            <a:r>
              <a:rPr lang="en-US" sz="1650" b="1" dirty="0">
                <a:solidFill>
                  <a:srgbClr val="B91C1C"/>
                </a:solidFill>
              </a:rPr>
              <a:t>Change the default before you sign: </a:t>
            </a: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8C80B29D-D782-A697-37E5-B66CA16A08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893B50-E23F-4FE0-A295-5157E4F9135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90"/>
    </mc:Choice>
    <mc:Fallback>
      <p:transition spd="slow" advTm="54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HCP">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marL="0" indent="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marL="0" indent="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Network views permit overlap; they don't prevent it. </a:t>
            </a: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AB69890-E735-A7F8-0CA4-3849D51161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908F6B-E784-49FA-BC38-27C595C86C3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40"/>
    </mc:Choice>
    <mc:Fallback>
      <p:transition spd="slow" advTm="5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D">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marL="0" indent="0">
              <a:buNone/>
            </a:pPr>
            <a:r>
              <a:rPr lang="en-US" sz="1150" dirty="0">
                <a:solidFill>
                  <a:srgbClr val="64748B"/>
                </a:solidFill>
              </a:rPr>
              <a:t>Tiers: Essentials, Business On-Premises, Business Cloud, Advanced.</a:t>
            </a:r>
            <a:endParaRPr lang="en-US" sz="1150" dirty="0"/>
          </a:p>
        </p:txBody>
      </p:sp>
      <p:sp>
        <p:nvSpPr>
          <p:cNvPr id="8" name="Proof"/>
          <p:cNvSpPr txBox="1"/>
          <p:nvPr/>
        </p:nvSpPr>
        <p:spPr>
          <a:xfrm>
            <a:off x="5806440" y="3657600"/>
            <a:ext cx="5852160" cy="594360"/>
          </a:xfrm>
          <a:prstGeom prst="rect">
            <a:avLst/>
          </a:prstGeom>
          <a:noFill/>
          <a:ln/>
        </p:spPr>
        <p:txBody>
          <a:bodyPr wrap="square" lIns="0" tIns="0" rIns="0" bIns="0" rtlCol="0" anchor="t"/>
          <a:lstStyle/>
          <a:p>
            <a:pPr marL="0" indent="0">
              <a:buNone/>
            </a:pPr>
            <a:r>
              <a:rPr lang="en-US" sz="1250" b="1" dirty="0">
                <a:solidFill>
                  <a:srgbClr val="0F766E"/>
                </a:solidFill>
              </a:rPr>
              <a:t>Independent signal: </a:t>
            </a:r>
            <a:r>
              <a:rPr lang="en-US" sz="1250" dirty="0">
                <a:solidFill>
                  <a:schemeClr val="tx2"/>
                </a:solidFill>
              </a:rPr>
              <a:t>Google Cloud documents its DNS Armor threat detection as "powered by Infoblox."</a:t>
            </a:r>
            <a:endParaRPr lang="en-US" sz="1250" dirty="0"/>
          </a:p>
        </p:txBody>
      </p:sp>
      <p:sp>
        <p:nvSpPr>
          <p:cNvPr id="11" name="Claim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Vendor claims, not verified: </a:t>
            </a: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D78D0C1F-16CC-9D22-1BF8-E135CD5CA2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2139ED-673A-466C-A14A-05C7F9F7A10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70"/>
    </mc:Choice>
    <mc:Fallback>
      <p:transition spd="slow" advTm="52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F96D62B-3648-8B80-3567-CC1EDE1C71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FAD3B9-9C71-4B6E-A6C0-28AB1C907C5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00"/>
    </mc:Choice>
    <mc:Fallback>
      <p:transition spd="slow" advTm="5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DISA STIG file store; NIST CMVP; NIAP PCL; CISA CDM APL; NVD; CISA KEV; vendor and cloud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48E51A4E-AB6F-EB5E-823F-7728407BEF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C64942-5F24-4BE5-A0C9-EFE1A1DE4AE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580"/>
    </mc:Choice>
    <mc:Fallback>
      <p:transition spd="slow" advTm="19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73A4EF3-FC0F-9EA6-213D-E0674E5FFA1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E4341A-0575-4568-9A0D-85BA88EF727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20"/>
    </mc:Choice>
    <mc:Fallback>
      <p:transition spd="slow" advTm="54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sting">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FR2017257053</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marL="0" indent="0">
              <a:buNone/>
            </a:pPr>
            <a:r>
              <a:rPr lang="en-US" sz="1100" b="1" dirty="0">
                <a:solidFill>
                  <a:srgbClr val="0F766E"/>
                </a:solidFill>
              </a:rPr>
              <a:t>IN THE LISTING'S SCOPE</a:t>
            </a:r>
            <a:endParaRPr lang="en-US" sz="1250" dirty="0"/>
          </a:p>
          <a:p>
            <a:pPr marL="0" indent="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marL="0" indent="0">
              <a:buNone/>
            </a:pPr>
            <a:r>
              <a:rPr lang="en-US" sz="1100" b="1" dirty="0">
                <a:solidFill>
                  <a:srgbClr val="B45309"/>
                </a:solidFill>
              </a:rPr>
              <a:t>NOT NAMED — ASK INFOBLOX</a:t>
            </a:r>
            <a:endParaRPr lang="en-US" sz="1250" dirty="0"/>
          </a:p>
          <a:p>
            <a:pPr marL="0" indent="0">
              <a:buNone/>
            </a:pPr>
            <a:r>
              <a:rPr lang="en-US" sz="1250" dirty="0">
                <a:solidFill>
                  <a:schemeClr val="tx2"/>
                </a:solidFill>
              </a:rPr>
              <a:t>Threat Defense cloud resolver · DNS Forwarding Proxy · Data Connector. Get the boundary diagram.</a:t>
            </a:r>
            <a:endParaRPr lang="en-US" sz="1250" dirty="0"/>
          </a:p>
        </p:txBody>
      </p:sp>
      <p:sp>
        <p:nvSpPr>
          <p:cNvPr id="12" name="Scope 3">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marL="0" indent="0">
              <a:buNone/>
            </a:pPr>
            <a:r>
              <a:rPr lang="en-US" sz="1100" b="1" dirty="0">
                <a:solidFill>
                  <a:srgbClr val="B91C1C"/>
                </a:solidFill>
              </a:rPr>
              <a:t>THE AGENCY'S OWN BOUNDARY</a:t>
            </a:r>
            <a:endParaRPr lang="en-US" sz="1250" dirty="0"/>
          </a:p>
          <a:p>
            <a:pPr marL="0" indent="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marL="0" indent="0">
              <a:buNone/>
            </a:pPr>
            <a:r>
              <a:rPr lang="en-US" sz="1250" b="1" dirty="0">
                <a:solidFill>
                  <a:srgbClr val="1F2A44"/>
                </a:solidFill>
              </a:rPr>
              <a:t>High or DoD systems: </a:t>
            </a:r>
            <a:r>
              <a:rPr lang="en-US" sz="1250" dirty="0">
                <a:solidFill>
                  <a:schemeClr val="tx2"/>
                </a:solidFill>
              </a:rPr>
              <a:t>plan agency-operated vNIOS, for example from the Azure Government Marketplace, not the SaaS. </a:t>
            </a:r>
            <a:r>
              <a:rPr lang="en-US" sz="1250" b="1" dirty="0">
                <a:solidFill>
                  <a:srgbClr val="1F2A44"/>
                </a:solidFill>
              </a:rPr>
              <a:t>Feature lag: </a:t>
            </a: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A040D8F-E499-2DBE-6FA1-0C27A03EF7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692492-810C-4044-90FE-DBCB69DDB75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FB62E10-8C3C-6DE6-31AB-820884C9BB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DC512B-EE5A-4A89-9DDB-BFEF4AA9DF7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90"/>
    </mc:Choice>
    <mc:Fallback>
      <p:transition spd="slow" advTm="5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one">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marL="0" indent="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marL="0" indent="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marL="0" indent="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marL="0" indent="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marL="0" indent="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marL="0" indent="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DESIGN GUIDANCE, NOT A RULE: WHICH PATTERN FITS</a:t>
            </a:r>
            <a:endParaRPr lang="en-US" sz="1200" dirty="0"/>
          </a:p>
        </p:txBody>
      </p:sp>
      <p:sp>
        <p:nvSpPr>
          <p:cNvPr id="15" name="Guide 1">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Mostly on premises</a:t>
            </a:r>
            <a:endParaRPr lang="en-US" sz="1100" dirty="0"/>
          </a:p>
          <a:p>
            <a:pPr marL="0" indent="0">
              <a:buNone/>
            </a:pPr>
            <a:r>
              <a:rPr lang="en-US" sz="1100" dirty="0">
                <a:solidFill>
                  <a:schemeClr val="tx2"/>
                </a:solidFill>
              </a:rPr>
              <a:t>C: the Grid stays authoritative; clouds forward to it</a:t>
            </a:r>
            <a:endParaRPr lang="en-US" sz="1100" dirty="0"/>
          </a:p>
        </p:txBody>
      </p:sp>
      <p:sp>
        <p:nvSpPr>
          <p:cNvPr id="17" name="Guide 2">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Hybrid, one cloud</a:t>
            </a:r>
            <a:endParaRPr lang="en-US" sz="1100" dirty="0"/>
          </a:p>
          <a:p>
            <a:pPr marL="0" indent="0">
              <a:buNone/>
            </a:pPr>
            <a:r>
              <a:rPr lang="en-US" sz="1100" dirty="0">
                <a:solidFill>
                  <a:schemeClr val="tx2"/>
                </a:solidFill>
              </a:rPr>
              <a:t>A + C: an HA vNIOS pair keeps answers local</a:t>
            </a:r>
            <a:endParaRPr lang="en-US" sz="1100" dirty="0"/>
          </a:p>
        </p:txBody>
      </p:sp>
      <p:sp>
        <p:nvSpPr>
          <p:cNvPr id="19" name="Guide 3">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Multi-cloud, Moderate or below</a:t>
            </a:r>
            <a:endParaRPr lang="en-US" sz="1100" dirty="0"/>
          </a:p>
          <a:p>
            <a:pPr marL="0" indent="0">
              <a:buNone/>
            </a:pPr>
            <a:r>
              <a:rPr lang="en-US" sz="1100" dirty="0">
                <a:solidFill>
                  <a:schemeClr val="tx2"/>
                </a:solidFill>
              </a:rPr>
              <a:t>Add B for cloud DNS write-back</a:t>
            </a:r>
            <a:endParaRPr lang="en-US" sz="1100" dirty="0"/>
          </a:p>
        </p:txBody>
      </p:sp>
      <p:sp>
        <p:nvSpPr>
          <p:cNvPr id="21" name="Guide 4">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GovCloud, Azure Gov, High, IL4–5</a:t>
            </a:r>
            <a:endParaRPr lang="en-US" sz="1100" dirty="0"/>
          </a:p>
          <a:p>
            <a:pPr marL="0" indent="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marL="0" indent="0">
              <a:buNone/>
            </a:pPr>
            <a:r>
              <a:rPr lang="en-US" sz="1250" b="1" dirty="0">
                <a:solidFill>
                  <a:srgbClr val="0F766E"/>
                </a:solidFill>
              </a:rPr>
              <a:t>Go deeper: </a:t>
            </a: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F072ECA-BBC7-EF40-6894-916DD44CEB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A213068-CFCF-4371-BDF2-550207F3A34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00"/>
    </mc:Choice>
    <mc:Fallback>
      <p:transition spd="slow" advTm="5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NIST">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NIST SP 800-81r3 (FINAL, MAR. 2026)</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F8214C1-BE8F-B216-3A74-24BA657626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67F90B-4B8F-49BC-B23F-0618A2A03EC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ai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Fair framing: </a:t>
            </a: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A7C515D-35B4-B901-52C8-2A647124FB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2647F3-E864-4A8B-B720-4FF4893C534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BE84132-2017-454E-09DB-E5D9C18F7C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2401DB-9952-4B25-A376-180833EFC5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50"/>
    </mc:Choice>
    <mc:Fallback>
      <p:transition spd="slow" advTm="51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PUT THESE IN THE CONTRACT</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F396B08-111F-6D65-6155-45444E5005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CDA6BD-5D69-4D47-A24D-614A416F428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10"/>
    </mc:Choice>
    <mc:Fallback>
      <p:transition spd="slow" advTm="49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a:p>
            <a:pPr marL="342900" indent="-342900">
              <a:spcAft>
                <a:spcPts val="300"/>
              </a:spcAft>
              <a:buSzPct val="100000"/>
              <a:buChar char="•"/>
            </a:pPr>
            <a:r>
              <a:rPr lang="en-US" sz="1500" dirty="0">
                <a:solidFill>
                  <a:srgbClr val="334155"/>
                </a:solidFill>
              </a:rPr>
              <a:t>Separating DNS, DHCP and IPAM by team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9.0 admin guides — permissions, admin groups, views, EAs, approvals, authentication, reporting.</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FB6D10C9-5101-A355-721E-85FE045AD54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FFBD593-DBEE-4BCD-8396-5EA87736745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970"/>
    </mc:Choice>
    <mc:Fallback>
      <p:transition spd="slow" advTm="1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vels">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HOW NIOS RESOLVES OVERLAPPING PERMISSIONS</a:t>
            </a:r>
            <a:endParaRPr lang="en-US" sz="1200" dirty="0"/>
          </a:p>
        </p:txBody>
      </p:sp>
      <p:sp>
        <p:nvSpPr>
          <p:cNvPr id="12" name="Order 1">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marL="0" indent="0">
              <a:spcAft>
                <a:spcPts val="200"/>
              </a:spcAft>
              <a:buNone/>
            </a:pPr>
            <a:r>
              <a:rPr lang="en-US" sz="1100" dirty="0">
                <a:solidFill>
                  <a:schemeClr val="tx2"/>
                </a:solidFill>
              </a:rPr>
              <a:t>first, then up</a:t>
            </a:r>
            <a:endParaRPr lang="en-US" sz="1100" dirty="0"/>
          </a:p>
        </p:txBody>
      </p:sp>
      <p:sp>
        <p:nvSpPr>
          <p:cNvPr id="14" name="Order arrow 1">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marL="0" indent="0">
              <a:spcAft>
                <a:spcPts val="200"/>
              </a:spcAft>
              <a:buNone/>
            </a:pPr>
            <a:r>
              <a:rPr lang="en-US" sz="1100" dirty="0">
                <a:solidFill>
                  <a:schemeClr val="tx2"/>
                </a:solidFill>
              </a:rPr>
              <a:t>permissions first</a:t>
            </a:r>
            <a:endParaRPr lang="en-US" sz="1100" dirty="0"/>
          </a:p>
        </p:txBody>
      </p:sp>
      <p:sp>
        <p:nvSpPr>
          <p:cNvPr id="17" name="Order arrow 2">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marL="0" indent="0">
              <a:spcAft>
                <a:spcPts val="200"/>
              </a:spcAft>
              <a:buNone/>
            </a:pPr>
            <a:r>
              <a:rPr lang="en-US" sz="1100" dirty="0">
                <a:solidFill>
                  <a:schemeClr val="tx2"/>
                </a:solidFill>
              </a:rPr>
              <a:t>in listed order</a:t>
            </a:r>
            <a:endParaRPr lang="en-US" sz="1100" dirty="0"/>
          </a:p>
        </p:txBody>
      </p:sp>
      <p:sp>
        <p:nvSpPr>
          <p:cNvPr id="20" name="Order arrow 3">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marL="0" indent="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marL="0" indent="0">
              <a:buNone/>
            </a:pPr>
            <a:r>
              <a:rPr lang="en-US" sz="1250" b="1" dirty="0">
                <a:solidFill>
                  <a:srgbClr val="B91C1C"/>
                </a:solidFill>
              </a:rPr>
              <a:t>Example: </a:t>
            </a: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marL="0" indent="0">
              <a:buNone/>
            </a:pPr>
            <a:r>
              <a:rPr lang="en-US" sz="1250" b="1" dirty="0">
                <a:solidFill>
                  <a:srgbClr val="1F2A44"/>
                </a:solidFill>
              </a:rPr>
              <a:t>Roles: </a:t>
            </a: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3A64DC2-91A8-EA97-3A99-C4A6DD8EE33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336025-D029-4C35-BD59-6905FA45394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20"/>
    </mc:Choice>
    <mc:Fallback>
      <p:transition spd="slow" advTm="48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1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cipe 1">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marL="0" indent="0">
              <a:spcAft>
                <a:spcPts val="200"/>
              </a:spcAft>
              <a:buNone/>
            </a:pPr>
            <a:r>
              <a:rPr lang="en-US" sz="1150" dirty="0">
                <a:solidFill>
                  <a:schemeClr val="tx2"/>
                </a:solidFill>
              </a:rPr>
              <a:t>Limited-access; only the interfaces it needs</a:t>
            </a:r>
            <a:endParaRPr lang="en-US" sz="1150" dirty="0"/>
          </a:p>
        </p:txBody>
      </p:sp>
      <p:sp>
        <p:nvSpPr>
          <p:cNvPr id="7" name="Recipe arrow 1">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marL="0" indent="0">
              <a:spcAft>
                <a:spcPts val="200"/>
              </a:spcAft>
              <a:buNone/>
            </a:pPr>
            <a:r>
              <a:rPr lang="en-US" sz="1150" dirty="0">
                <a:solidFill>
                  <a:schemeClr val="tx2"/>
                </a:solidFill>
              </a:rPr>
              <a:t>Container or view, zones, members</a:t>
            </a:r>
            <a:endParaRPr lang="en-US" sz="1150" dirty="0"/>
          </a:p>
        </p:txBody>
      </p:sp>
      <p:sp>
        <p:nvSpPr>
          <p:cNvPr id="10" name="Recipe arrow 2">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marL="0" indent="0">
              <a:spcAft>
                <a:spcPts val="200"/>
              </a:spcAft>
              <a:buNone/>
            </a:pPr>
            <a:r>
              <a:rPr lang="en-US" sz="1150" dirty="0">
                <a:solidFill>
                  <a:schemeClr val="tx2"/>
                </a:solidFill>
              </a:rPr>
              <a:t>at the default Deny</a:t>
            </a:r>
            <a:endParaRPr lang="en-US" sz="1150" dirty="0"/>
          </a:p>
        </p:txBody>
      </p:sp>
      <p:sp>
        <p:nvSpPr>
          <p:cNvPr id="13" name="Recipe arrow 3">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marL="0" indent="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Setting">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ONE GRID SETTING TO TURN ON</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7EBAC10-5D16-7CA1-C62E-309C84FE40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863E92-F6F9-4BE8-A501-54A35CFEC50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V">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NETWORK VIEWS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DNS VIEWS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EXTENSIBLE ATTRIBUTES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826D0B8-70F3-9EEF-8F6C-B5F844D823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6C7F941-2DE5-4A04-819D-408106E249C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20"/>
    </mc:Choice>
    <mc:Fallback>
      <p:transition spd="slow" advTm="5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1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f 1">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marL="0" indent="0">
              <a:spcAft>
                <a:spcPts val="200"/>
              </a:spcAft>
              <a:buNone/>
            </a:pPr>
            <a:r>
              <a:rPr lang="en-US" sz="1150" dirty="0">
                <a:solidFill>
                  <a:schemeClr val="tx2"/>
                </a:solidFill>
              </a:rPr>
              <a:t>one workflow per group</a:t>
            </a:r>
            <a:endParaRPr lang="en-US" sz="1150" dirty="0"/>
          </a:p>
        </p:txBody>
      </p:sp>
      <p:sp>
        <p:nvSpPr>
          <p:cNvPr id="7" name="Wf arrow 1">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marL="0" indent="0">
              <a:spcAft>
                <a:spcPts val="200"/>
              </a:spcAft>
              <a:buNone/>
            </a:pPr>
            <a:r>
              <a:rPr lang="en-US" sz="1150" dirty="0">
                <a:solidFill>
                  <a:schemeClr val="tx2"/>
                </a:solidFill>
              </a:rPr>
              <a:t>approve, reschedule, reject</a:t>
            </a:r>
            <a:endParaRPr lang="en-US" sz="1150" dirty="0"/>
          </a:p>
        </p:txBody>
      </p:sp>
      <p:sp>
        <p:nvSpPr>
          <p:cNvPr id="10" name="Wf arrow 2">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marL="0" indent="0">
              <a:spcAft>
                <a:spcPts val="200"/>
              </a:spcAft>
              <a:buNone/>
            </a:pPr>
            <a:r>
              <a:rPr lang="en-US" sz="1150" dirty="0">
                <a:solidFill>
                  <a:schemeClr val="tx2"/>
                </a:solidFill>
              </a:rPr>
              <a:t>with a task ID in the audit log</a:t>
            </a:r>
            <a:endParaRPr lang="en-US" sz="1150" dirty="0"/>
          </a:p>
        </p:txBody>
      </p:sp>
      <p:sp>
        <p:nvSpPr>
          <p:cNvPr id="13" name="Wf arrow 3">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marL="0" indent="0">
              <a:spcAft>
                <a:spcPts val="200"/>
              </a:spcAft>
              <a:buNone/>
            </a:pPr>
            <a:r>
              <a:rPr lang="en-US" sz="1150" dirty="0">
                <a:solidFill>
                  <a:schemeClr val="tx2"/>
                </a:solidFill>
              </a:rPr>
              <a:t>submitter, approver or both</a:t>
            </a:r>
            <a:endParaRPr lang="en-US" sz="1150" dirty="0"/>
          </a:p>
        </p:txBody>
      </p:sp>
      <p:sp>
        <p:nvSpPr>
          <p:cNvPr id="16" name="Covered">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THE GAP</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3CC3D91-D736-C400-B307-02D1808582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608BEF2-51DE-41C2-8AB6-AA3017D8363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00"/>
    </mc:Choice>
    <mc:Fallback>
      <p:transition spd="slow" advTm="4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otcha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E3ABA48-420C-6316-560B-A1CD48A714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92322E-5B1F-4957-BC88-2083B3403CE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S">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FB389C4-FF3B-0D27-2A59-57B6DD1C30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EF5B6C-516A-485D-8F05-F0C9C777926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90"/>
    </mc:Choice>
    <mc:Fallback>
      <p:transition spd="slow" advTm="52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Separating DNS, DHCP and IPAM by team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Deny by default; first match wins, most specific object first, group before roles.</a:t>
            </a:r>
            <a:endParaRPr lang="en-US" sz="1250" dirty="0"/>
          </a:p>
        </p:txBody>
      </p:sp>
      <p:graphicFrame>
        <p:nvGraphicFramePr>
          <p:cNvPr id="28" name="Team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grant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deny or leave out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The catch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DNS views and zones (record types as needed); Member DNS and restart on its DNS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ranges and fixed addresses;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Per-type grants work (RW on MX and SRV, Deny on CNAME); RPZ rules take only global permissions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Object permissions on DHCP ranges and fixed addresses; Member DHCP and restart on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and containers;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permission on a network covers its ranges and fixed addresses, so grant the ranges, not the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IPAM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network containers and networks, to allocate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explicit Deny on DHCP ranges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RW inherits to ranges and fixed addresses; the Deny keeps DHCP ranges with the 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Division admin (contrast)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own container and zones; Member DNS and DHCP on its own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Everything else, at the default Deny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Cuts by address space, not by service: one group runs all three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upling">
            <a:extLst>
              <a:ext uri="{C183D7F6-B498-43B3-948B-1728B52AA6E4}">
                <adec:decorative xmlns:adec="http://schemas.microsoft.com/office/drawing/2017/decorative" val="1"/>
              </a:ext>
            </a:extLst>
          </p:cNvPr>
          <p:cNvSpPr/>
          <p:nvPr/>
        </p:nvSpPr>
        <p:spPr>
          <a:xfrm>
            <a:off x="548640" y="4526280"/>
            <a:ext cx="6400800" cy="1417320"/>
          </a:xfrm>
          <a:prstGeom prst="roundRect">
            <a:avLst>
              <a:gd name="adj" fmla="val 516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oupling head"/>
          <p:cNvSpPr txBox="1"/>
          <p:nvPr/>
        </p:nvSpPr>
        <p:spPr>
          <a:xfrm>
            <a:off x="731520" y="4636008"/>
            <a:ext cx="6035040" cy="640080"/>
          </a:xfrm>
          <a:prstGeom prst="rect">
            <a:avLst/>
          </a:prstGeom>
          <a:noFill/>
          <a:ln/>
        </p:spPr>
        <p:txBody>
          <a:bodyPr wrap="square" lIns="0" tIns="0" rIns="0" bIns="0" rtlCol="0" anchor="t"/>
          <a:lstStyle/>
          <a:p>
            <a:pPr marL="0" indent="0">
              <a:buNone/>
            </a:pPr>
            <a:r>
              <a:rPr lang="en-US" sz="1100" b="1" dirty="0">
                <a:solidFill>
                  <a:srgbClr val="64748B"/>
                </a:solidFill>
              </a:rPr>
              <a:t>THE DELIBERATE COUPLING</a:t>
            </a:r>
            <a:endParaRPr lang="en-US" sz="1400" dirty="0"/>
          </a:p>
        </p:txBody>
      </p:sp>
      <p:sp>
        <p:nvSpPr>
          <p:cNvPr id="9" name="Coupling list"/>
          <p:cNvSpPr txBox="1"/>
          <p:nvPr/>
        </p:nvSpPr>
        <p:spPr>
          <a:xfrm>
            <a:off x="731520" y="4965192"/>
            <a:ext cx="60807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Grid property "Enable DNS Object Permissions in Networks and Ranges": A, AAAA and PTR records and hosts need RW on the zone and the network</a:t>
            </a:r>
            <a:endParaRPr lang="en-US" sz="1400" dirty="0"/>
          </a:p>
          <a:p>
            <a:pPr marL="342900" indent="-342900">
              <a:spcAft>
                <a:spcPts val="300"/>
              </a:spcAft>
              <a:buSzPct val="100000"/>
              <a:buChar char="•"/>
            </a:pPr>
            <a:r>
              <a:rPr lang="en-US" sz="1150" dirty="0">
                <a:solidFill>
                  <a:schemeClr val="tx2"/>
                </a:solidFill>
              </a:rPr>
              <a:t>A check between the DNS and IPAM teams; decide who holds both</a:t>
            </a:r>
            <a:endParaRPr lang="en-US" sz="1400" dirty="0"/>
          </a:p>
        </p:txBody>
      </p:sp>
      <p:sp>
        <p:nvSpPr>
          <p:cNvPr id="10" name="Central">
            <a:extLst>
              <a:ext uri="{C183D7F6-B498-43B3-948B-1728B52AA6E4}">
                <adec:decorative xmlns:adec="http://schemas.microsoft.com/office/drawing/2017/decorative" val="1"/>
              </a:ext>
            </a:extLst>
          </p:cNvPr>
          <p:cNvSpPr/>
          <p:nvPr/>
        </p:nvSpPr>
        <p:spPr>
          <a:xfrm>
            <a:off x="7086600" y="4526280"/>
            <a:ext cx="45720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Central head"/>
          <p:cNvSpPr txBox="1"/>
          <p:nvPr/>
        </p:nvSpPr>
        <p:spPr>
          <a:xfrm>
            <a:off x="7269480" y="463600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CENTRAL STAYS CENTRAL</a:t>
            </a:r>
            <a:endParaRPr lang="en-US" sz="1400" dirty="0"/>
          </a:p>
        </p:txBody>
      </p:sp>
      <p:sp>
        <p:nvSpPr>
          <p:cNvPr id="12" name="Central list"/>
          <p:cNvSpPr txBox="1"/>
          <p:nvPr/>
        </p:nvSpPr>
        <p:spPr>
          <a:xfrm>
            <a:off x="7269480" y="4965192"/>
            <a:ext cx="42519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superusers create admin groups, roles, EAs and approval workflows</a:t>
            </a:r>
            <a:endParaRPr lang="en-US" sz="1400" dirty="0"/>
          </a:p>
          <a:p>
            <a:pPr marL="342900" indent="-342900">
              <a:spcAft>
                <a:spcPts val="300"/>
              </a:spcAft>
              <a:buSzPct val="100000"/>
              <a:buChar char="•"/>
            </a:pPr>
            <a:r>
              <a:rPr lang="en-US" sz="1150" dirty="0">
                <a:solidFill>
                  <a:schemeClr val="tx2"/>
                </a:solidFill>
              </a:rPr>
              <a:t>No defined permission on a Grid member means Deny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Global and Object Permissions; Managing Overlaps; Zones; Grid Members; DNS in Networks and Ranges; Admin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F705DC8-D0AA-E08F-1B54-842E3C2555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885562-1C7E-46E1-9CEE-46E21AB2E1C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40"/>
    </mc:Choice>
    <mc:Fallback>
      <p:transition spd="slow" advTm="52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3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Service teams and divisions together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worked example's four divisions, scoped by service and by space.</a:t>
            </a:r>
            <a:endParaRPr lang="en-US" sz="1250" dirty="0"/>
          </a:p>
        </p:txBody>
      </p:sp>
      <p:graphicFrame>
        <p:nvGraphicFramePr>
          <p:cNvPr id="29" name="Grid"/>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24612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DHCP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IPAM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DNS team: agency.gov internal and external; DNSSEC signing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 admins: Member DHCP and its ranges in 10.0.0.0/12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IPAM team keeps the top-level blocks as containers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leb-ns-1/2, with Member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and its ranges in 10.16.0.0/12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10.16.0.0/12,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its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Rights on its own Microsoft server objects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10.32.0.0/12,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 DS records to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on lab-dhcp-1/2, in view nv-lab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its own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UDDI">
            <a:extLst>
              <a:ext uri="{C183D7F6-B498-43B3-948B-1728B52AA6E4}">
                <adec:decorative xmlns:adec="http://schemas.microsoft.com/office/drawing/2017/decorative" val="1"/>
              </a:ext>
            </a:extLst>
          </p:cNvPr>
          <p:cNvSpPr/>
          <p:nvPr/>
        </p:nvSpPr>
        <p:spPr>
          <a:xfrm>
            <a:off x="548640" y="4389120"/>
            <a:ext cx="7223760" cy="1554480"/>
          </a:xfrm>
          <a:prstGeom prst="roundRect">
            <a:avLst>
              <a:gd name="adj" fmla="val 470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UDDI head"/>
          <p:cNvSpPr txBox="1"/>
          <p:nvPr/>
        </p:nvSpPr>
        <p:spPr>
          <a:xfrm>
            <a:off x="731520" y="4498848"/>
            <a:ext cx="6858000" cy="640080"/>
          </a:xfrm>
          <a:prstGeom prst="rect">
            <a:avLst/>
          </a:prstGeom>
          <a:noFill/>
          <a:ln/>
        </p:spPr>
        <p:txBody>
          <a:bodyPr wrap="square" lIns="0" tIns="0" rIns="0" bIns="0" rtlCol="0" anchor="t"/>
          <a:lstStyle/>
          <a:p>
            <a:pPr marL="0" indent="0">
              <a:buNone/>
            </a:pPr>
            <a:r>
              <a:rPr lang="en-US" sz="1100" b="1" dirty="0">
                <a:solidFill>
                  <a:srgbClr val="64748B"/>
                </a:solidFill>
              </a:rPr>
              <a:t>ON UNIVERSAL DDI</a:t>
            </a:r>
            <a:endParaRPr lang="en-US" sz="1400" dirty="0"/>
          </a:p>
        </p:txBody>
      </p:sp>
      <p:sp>
        <p:nvSpPr>
          <p:cNvPr id="9" name="UDDI list"/>
          <p:cNvSpPr txBox="1"/>
          <p:nvPr/>
        </p:nvSpPr>
        <p:spPr>
          <a:xfrm>
            <a:off x="731520" y="4828032"/>
            <a:ext cx="6903720" cy="10424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Access policy = role + user group + access view; divisions can't manage users or roles</a:t>
            </a:r>
            <a:endParaRPr lang="en-US" sz="1400" dirty="0"/>
          </a:p>
          <a:p>
            <a:pPr marL="342900" indent="-342900">
              <a:spcAft>
                <a:spcPts val="300"/>
              </a:spcAft>
              <a:buSzPct val="100000"/>
              <a:buChar char="•"/>
            </a:pPr>
            <a:r>
              <a:rPr lang="en-US" sz="1100" dirty="0">
                <a:solidFill>
                  <a:schemeClr val="tx2"/>
                </a:solidFill>
              </a:rPr>
              <a:t>Separate DNS and DHCP roles? Docs conflict (IPAM, DNS, DHCP roles vs. four IPAM roles only): confirm with Infoblox</a:t>
            </a:r>
            <a:endParaRPr lang="en-US" sz="1400" dirty="0"/>
          </a:p>
          <a:p>
            <a:pPr marL="342900" indent="-342900">
              <a:spcAft>
                <a:spcPts val="300"/>
              </a:spcAft>
              <a:buSzPct val="100000"/>
              <a:buChar char="•"/>
            </a:pPr>
            <a:r>
              <a:rPr lang="en-US" sz="1100" dirty="0">
                <a:solidFill>
                  <a:schemeClr val="tx2"/>
                </a:solidFill>
              </a:rPr>
              <a:t>DHCP objects can't be assigned to access views; ranges, subnets, fixed addresses inherit the parent's view</a:t>
            </a:r>
            <a:endParaRPr lang="en-US" sz="1400" dirty="0"/>
          </a:p>
        </p:txBody>
      </p:sp>
      <p:sp>
        <p:nvSpPr>
          <p:cNvPr id="10" name="Report">
            <a:extLst>
              <a:ext uri="{C183D7F6-B498-43B3-948B-1728B52AA6E4}">
                <adec:decorative xmlns:adec="http://schemas.microsoft.com/office/drawing/2017/decorative" val="1"/>
              </a:ext>
            </a:extLst>
          </p:cNvPr>
          <p:cNvSpPr/>
          <p:nvPr/>
        </p:nvSpPr>
        <p:spPr>
          <a:xfrm>
            <a:off x="7909560" y="4389120"/>
            <a:ext cx="3749040" cy="1554480"/>
          </a:xfrm>
          <a:prstGeom prst="roundRect">
            <a:avLst>
              <a:gd name="adj" fmla="val 470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Report head"/>
          <p:cNvSpPr txBox="1"/>
          <p:nvPr/>
        </p:nvSpPr>
        <p:spPr>
          <a:xfrm>
            <a:off x="8092440" y="449884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REPORTING CAUTION</a:t>
            </a:r>
            <a:endParaRPr lang="en-US" sz="1400" dirty="0"/>
          </a:p>
        </p:txBody>
      </p:sp>
      <p:sp>
        <p:nvSpPr>
          <p:cNvPr id="12" name="Report list"/>
          <p:cNvSpPr txBox="1"/>
          <p:nvPr/>
        </p:nvSpPr>
        <p:spPr>
          <a:xfrm>
            <a:off x="8092440" y="4828032"/>
            <a:ext cx="3429000" cy="10424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NIOS report and search data ignore object permissions</a:t>
            </a:r>
            <a:endParaRPr lang="en-US" sz="1400" dirty="0"/>
          </a:p>
          <a:p>
            <a:pPr marL="342900" indent="-342900">
              <a:spcAft>
                <a:spcPts val="300"/>
              </a:spcAft>
              <a:buSzPct val="100000"/>
              <a:buChar char="•"/>
            </a:pPr>
            <a:r>
              <a:rPr lang="en-US" sz="1150" dirty="0">
                <a:solidFill>
                  <a:schemeClr val="tx2"/>
                </a:solidFill>
              </a:rPr>
              <a:t>A service split doesn't hide data in reports</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from Infoblox NIOS permissions, network views, DNSSEC, Microsoft servers, reporting; Portal Access Views, Access Control, Access Policies.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EA65A06-6FE4-4EFB-6FFB-39EA670B18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F648B4-6D93-42FA-AACE-285541F278C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00"/>
    </mc:Choice>
    <mc:Fallback>
      <p:transition spd="slow" advTm="50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and Universal DDI docs — access views, RBAC, IP spaces, federation, SSO, audit; Book 08, Ch 09–10.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016AF00-6CA4-D4E8-19C0-18C3D48BD13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82669A-9A80-486B-9EEA-1CBA6576ABF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110"/>
    </mc:Choice>
    <mc:Fallback>
      <p:transition spd="slow" advTm="18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V">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marL="0" indent="0">
              <a:buNone/>
            </a:pPr>
            <a:r>
              <a:rPr lang="en-US" sz="1250" b="1" dirty="0">
                <a:solidFill>
                  <a:srgbClr val="1F2A44"/>
                </a:solidFill>
              </a:rPr>
              <a:t>Entra SSO: </a:t>
            </a:r>
            <a:r>
              <a:rPr lang="en-US" sz="1250" dirty="0">
                <a:solidFill>
                  <a:schemeClr val="tx2"/>
                </a:solidFill>
              </a:rPr>
              <a:t>non-gallery SAML app; group claim by object ID, mapped to Portal user groups. </a:t>
            </a:r>
            <a:r>
              <a:rPr lang="en-US" sz="1250" b="1" dirty="0">
                <a:solidFill>
                  <a:srgbClr val="1F2A44"/>
                </a:solidFill>
              </a:rPr>
              <a:t>Audit: </a:t>
            </a:r>
            <a:r>
              <a:rPr lang="en-US" sz="1250" dirty="0">
                <a:solidFill>
                  <a:schemeClr val="tx2"/>
                </a:solidFill>
              </a:rPr>
              <a:t>13 months, with user, source IP and object. Login can be limited to CIDRs per group.</a:t>
            </a:r>
            <a:endParaRPr lang="en-US" sz="1250" dirty="0"/>
          </a:p>
        </p:txBody>
      </p:sp>
      <p:sp>
        <p:nvSpPr>
          <p:cNvPr id="12" name="Conflict">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A41AE3C-5492-C3E6-B110-63E93022B1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E66517-4573-41C1-9E2F-E07878F3C95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30"/>
    </mc:Choice>
    <mc:Fallback>
      <p:transition spd="slow" advTm="53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2"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ix">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Most agencies mix them: </a:t>
            </a: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32C3B41-424C-9E65-D21B-13839F3660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6DC5AC-F6C3-4E4D-9118-117A8846854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60"/>
    </mc:Choice>
    <mc:Fallback>
      <p:transition spd="slow" advTm="51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1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agency owns 10.0.0.0/8 and agency.gov.</a:t>
            </a:r>
            <a:endParaRPr lang="en-US" sz="1250" dirty="0"/>
          </a:p>
        </p:txBody>
      </p:sp>
      <p:graphicFrame>
        <p:nvGraphicFramePr>
          <p:cNvPr id="33"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marL="0" indent="0">
              <a:buNone/>
            </a:pPr>
            <a:r>
              <a:rPr lang="en-US" sz="1250" b="1" dirty="0">
                <a:solidFill>
                  <a:srgbClr val="1F2A44"/>
                </a:solidFill>
              </a:rPr>
              <a:t>Grid-wide: </a:t>
            </a:r>
            <a:r>
              <a:rPr lang="en-US" sz="1250" dirty="0">
                <a:solidFill>
                  <a:schemeClr val="tx2"/>
                </a:solidFill>
              </a:rPr>
              <a:t>DNS object permissions on · no CSV import for division groups · one workflow per division, approver ib-central-approvers, ticket required · SAML group names match exactly · local admin as break-glass · </a:t>
            </a:r>
            <a:r>
              <a:rPr lang="en-US" sz="1250" b="1" dirty="0">
                <a:solidFill>
                  <a:srgbClr val="B91C1C"/>
                </a:solidFill>
              </a:rPr>
              <a:t>LEB: </a:t>
            </a: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0F03473-6748-8195-90FF-D76EEDBC25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95CAC8-BA9D-486A-95F1-8C62A25C272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80"/>
    </mc:Choice>
    <mc:Fallback>
      <p:transition spd="slow" advTm="50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4"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marL="0" indent="0">
              <a:buNone/>
            </a:pPr>
            <a:r>
              <a:rPr lang="en-US" sz="1200" b="1" dirty="0">
                <a:solidFill>
                  <a:srgbClr val="1F2A44"/>
                </a:solidFill>
              </a:rPr>
              <a:t>D </a:t>
            </a:r>
            <a:r>
              <a:rPr lang="en-US" sz="1200" dirty="0">
                <a:solidFill>
                  <a:schemeClr val="tx2"/>
                </a:solidFill>
              </a:rPr>
              <a:t>decides (accountable) · </a:t>
            </a:r>
            <a:r>
              <a:rPr lang="en-US" sz="1200" b="1" dirty="0">
                <a:solidFill>
                  <a:srgbClr val="1F2A44"/>
                </a:solidFill>
              </a:rPr>
              <a:t>R </a:t>
            </a:r>
            <a:r>
              <a:rPr lang="en-US" sz="1200" dirty="0">
                <a:solidFill>
                  <a:schemeClr val="tx2"/>
                </a:solidFill>
              </a:rPr>
              <a:t>does the work · </a:t>
            </a:r>
            <a:r>
              <a:rPr lang="en-US" sz="1200" b="1" dirty="0">
                <a:solidFill>
                  <a:srgbClr val="1F2A44"/>
                </a:solidFill>
              </a:rPr>
              <a:t>C </a:t>
            </a: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0871D54-92F3-A14A-4F37-B6DB144C1E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BAE2FC-606B-4430-91F5-FB62161BB46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30"/>
    </mc:Choice>
    <mc:Fallback>
      <p:transition spd="slow" advTm="50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 1">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Zones, scopes, forwarders, AD DNS</a:t>
            </a:r>
            <a:endParaRPr lang="en-US" sz="1100" dirty="0"/>
          </a:p>
        </p:txBody>
      </p:sp>
      <p:sp>
        <p:nvSpPr>
          <p:cNvPr id="7" name="Seq arrow 1">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marL="0" indent="0">
              <a:spcAft>
                <a:spcPts val="200"/>
              </a:spcAft>
              <a:buNone/>
            </a:pPr>
            <a:r>
              <a:rPr lang="en-US" sz="1100" dirty="0">
                <a:solidFill>
                  <a:schemeClr val="tx2"/>
                </a:solidFill>
              </a:rPr>
              <a:t>Grid Master, HSM, build standard</a:t>
            </a:r>
            <a:endParaRPr lang="en-US" sz="1100" dirty="0"/>
          </a:p>
        </p:txBody>
      </p:sp>
      <p:sp>
        <p:nvSpPr>
          <p:cNvPr id="10" name="Seq arrow 2">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marL="0" indent="0">
              <a:spcAft>
                <a:spcPts val="200"/>
              </a:spcAft>
              <a:buNone/>
            </a:pPr>
            <a:r>
              <a:rPr lang="en-US" sz="1100" dirty="0">
                <a:solidFill>
                  <a:schemeClr val="tx2"/>
                </a:solidFill>
              </a:rPr>
              <a:t>Manage Windows servers in place</a:t>
            </a:r>
            <a:endParaRPr lang="en-US" sz="1100" dirty="0"/>
          </a:p>
        </p:txBody>
      </p:sp>
      <p:sp>
        <p:nvSpPr>
          <p:cNvPr id="13" name="Seq arrow 3">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marL="0" indent="0">
              <a:spcAft>
                <a:spcPts val="200"/>
              </a:spcAft>
              <a:buNone/>
            </a:pPr>
            <a:r>
              <a:rPr lang="en-US" sz="1100" dirty="0">
                <a:solidFill>
                  <a:schemeClr val="tx2"/>
                </a:solidFill>
              </a:rPr>
              <a:t>One at a time, pattern (a) first</a:t>
            </a:r>
            <a:endParaRPr lang="en-US" sz="1100" dirty="0"/>
          </a:p>
        </p:txBody>
      </p:sp>
      <p:sp>
        <p:nvSpPr>
          <p:cNvPr id="16" name="Seq arrow 4">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marL="0" indent="0">
              <a:spcAft>
                <a:spcPts val="200"/>
              </a:spcAft>
              <a:buNone/>
            </a:pPr>
            <a:r>
              <a:rPr lang="en-US" sz="1100" dirty="0">
                <a:solidFill>
                  <a:schemeClr val="tx2"/>
                </a:solidFill>
              </a:rPr>
              <a:t>Cloud DNS as managed overlay</a:t>
            </a:r>
            <a:endParaRPr lang="en-US" sz="1100" dirty="0"/>
          </a:p>
        </p:txBody>
      </p:sp>
      <p:sp>
        <p:nvSpPr>
          <p:cNvPr id="19" name="Seq arrow 5">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marL="0" indent="0">
              <a:spcAft>
                <a:spcPts val="200"/>
              </a:spcAft>
              <a:buNone/>
            </a:pPr>
            <a:r>
              <a:rPr lang="en-US" sz="1100" dirty="0">
                <a:solidFill>
                  <a:schemeClr val="tx2"/>
                </a:solidFill>
              </a:rPr>
              <a:t>STIG, logs, audit for the AO</a:t>
            </a:r>
            <a:endParaRPr lang="en-US" sz="1100" dirty="0"/>
          </a:p>
        </p:txBody>
      </p:sp>
      <p:sp>
        <p:nvSpPr>
          <p:cNvPr id="22" name="Decide">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6B82E927-4867-E2F4-D89D-575B5086F9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DA66AC-09F0-40D4-A783-143F16B01EA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19219</Words>
  <Application>Microsoft Office PowerPoint</Application>
  <PresentationFormat>Widescreen</PresentationFormat>
  <Paragraphs>913</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Infoblox DDI for Federal Agencies</vt:lpstr>
      <vt:lpstr>DNS, DHCP and IPAM are one control plane</vt:lpstr>
      <vt:lpstr>What federal rules require, and what none of them say</vt:lpstr>
      <vt:lpstr>Module 1: The platform</vt:lpstr>
      <vt:lpstr>Grid architecture: one database, many members</vt:lpstr>
      <vt:lpstr>Universal DDI and the Infoblox Portal, with its limits</vt:lpstr>
      <vt:lpstr>DNS: views, DNSSEC, DNS Firewall and encrypted DNS</vt:lpstr>
      <vt:lpstr>DHCP and IPAM: failover, network views, discovery</vt:lpstr>
      <vt:lpstr>Threat Defense: DNS-layer security and intelligence</vt:lpstr>
      <vt:lpstr>Automation and logging: APIs, IaC, SIEM, reporting</vt:lpstr>
      <vt:lpstr>Module 2: Why Infoblox, and why federal needs it</vt:lpstr>
      <vt:lpstr>From requirement to capability to Infoblox feature</vt:lpstr>
      <vt:lpstr>FedRAMP scope: what the Moderate listing covers</vt:lpstr>
      <vt:lpstr>Trinzic hardware against the workbook's design</vt:lpstr>
      <vt:lpstr>Trinzic alone, or with cloud DDI?</vt:lpstr>
      <vt:lpstr>Assurance: STIGs, FIPS 140, NIAP and SP 800-81r3</vt:lpstr>
      <vt:lpstr>A fair comparison: dedicated DDI and native clouds</vt:lpstr>
      <vt:lpstr>Risks: certifications, vulnerabilities, authorization</vt:lpstr>
      <vt:lpstr>Risks: cost, capacity, features, and procurement asks</vt:lpstr>
      <vt:lpstr>Module 3: Divisions on NIOS</vt:lpstr>
      <vt:lpstr>The NIOS permission model: deny first, most specific</vt:lpstr>
      <vt:lpstr>Scoping an admin group to one division</vt:lpstr>
      <vt:lpstr>Network views, DNS views and extensible attributes</vt:lpstr>
      <vt:lpstr>Approval workflow, and the CSV import gap</vt:lpstr>
      <vt:lpstr>Admin sign-in: CAC/PIV, SAML with Entra, directories</vt:lpstr>
      <vt:lpstr>Microsoft servers, what stays central, and reporting</vt:lpstr>
      <vt:lpstr>Separating DNS, DHCP and IPAM by team</vt:lpstr>
      <vt:lpstr>Service teams and divisions together</vt:lpstr>
      <vt:lpstr>Module 4: Universal DDI divisions and operating model</vt:lpstr>
      <vt:lpstr>Universal DDI: access views, IP spaces, federation</vt:lpstr>
      <vt:lpstr>Four delegation patterns and their trade-offs</vt:lpstr>
      <vt:lpstr>Worked example: four divisions on one Grid</vt:lpstr>
      <vt:lpstr>Who does what: the DDI responsibility matrix</vt:lpstr>
      <vt:lpstr>Rollout sequence, decisions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2</cp:revision>
  <dcterms:created xsi:type="dcterms:W3CDTF">2026-10-22T19:59:15Z</dcterms:created>
  <dcterms:modified xsi:type="dcterms:W3CDTF">2026-10-23T18:11:29Z</dcterms:modified>
</cp:coreProperties>
</file>