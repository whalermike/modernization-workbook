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420EF695-ED5E-8669-63F7-E478A0842ED9}">
          <p14:sldIdLst>
            <p14:sldId id="256"/>
            <p14:sldId id="257"/>
            <p14:sldId id="258"/>
          </p14:sldIdLst>
        </p14:section>
        <p14:section name="Part 1 — The platform and the case for it" id="{0281E2F1-59F5-3EEC-F359-497A4ABC8810}">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5B335F1C-8239-D08A-D842-60B8DF783954}">
          <p14:sldIdLst>
            <p14:sldId id="275"/>
            <p14:sldId id="276"/>
            <p14:sldId id="277"/>
            <p14:sldId id="278"/>
            <p14:sldId id="279"/>
            <p14:sldId id="280"/>
            <p14:sldId id="281"/>
            <p14:sldId id="282"/>
            <p14:sldId id="283"/>
            <p14:sldId id="284"/>
            <p14:sldId id="285"/>
            <p14:sldId id="286"/>
            <p14:sldId id="287"/>
          </p14:sldIdLst>
        </p14:section>
        <p14:section name="Backup" id="{4AAD9932-52F7-831A-649C-7C8686106D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5802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[45:12–45:49]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[45:49–47:41]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[47:41–49:33]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[49:33–51:35]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[51:35–53:23]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[53:23–55:30]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5B90348F-4799-8195-794C-1AFD247130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F519F9-E393-44DE-A8E0-0BD353BB672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070"/>
    </mc:Choice>
    <mc:Fallback>
      <p:transition spd="slow" advTm="94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30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4DCE5E04-7016-C0ED-9969-1B58DA97A4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905F2A-2255-41A7-AD08-76921D9ED0F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300"/>
    </mc:Choice>
    <mc:Fallback>
      <p:transition spd="slow" advTm="10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29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7B624518-3C96-25AA-141C-C1F65D6B6A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7EE5A0-52C5-4C4D-B92E-CADAAC17A9D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2510"/>
    </mc:Choice>
    <mc:Fallback>
      <p:transition spd="slow" advTm="18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5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04E7E92-15DE-CABC-CA1C-8F82793300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9C1318-A092-49FC-91A8-577C529BCF9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30"/>
    </mc:Choice>
    <mc:Fallback>
      <p:transition spd="slow" advTm="45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EAEA985-B779-6B17-2B88-F69422BCBB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C47AB2-38C6-449C-B4D4-41A00ADE731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2890"/>
    </mc:Choice>
    <mc:Fallback>
      <p:transition spd="slow" advTm="14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C4114FC-8E90-3290-9220-40B07C22A9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8B36B2-D33F-4FCC-B507-BA2386DB698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220"/>
    </mc:Choice>
    <mc:Fallback>
      <p:transition spd="slow" advTm="13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22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E2F5A82-5C07-624D-7448-1B1945BDBA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7E765B-D9F1-4E32-86F4-0C6FFD3A584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700"/>
    </mc:Choice>
    <mc:Fallback>
      <p:transition spd="slow" advTm="13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69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E30C1B3-171B-2132-027F-A24E297661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73CBB5-7CE4-496C-93E4-9EB98A85C3F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1480"/>
    </mc:Choice>
    <mc:Fallback>
      <p:transition spd="slow" advTm="151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0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460F326-4ABB-0A82-44D2-91B20069E3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C40F9D-5AFD-46CB-A0B5-C145D3F761C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8420"/>
    </mc:Choice>
    <mc:Fallback>
      <p:transition spd="slow" advTm="1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74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F418E93-6BDC-2CC1-7725-6A647E4D8E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76253E-BC90-4310-9B37-B4088B41241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9180"/>
    </mc:Choice>
    <mc:Fallback>
      <p:transition spd="slow" advTm="149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DISA STIG file store;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AAFC78C6-7138-D9F3-1F6D-749DF0490F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14ACE4-9D06-4250-8470-F163A7573AA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280A120-60B9-FFB7-A39A-AD6CB57E79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7F8921-29DC-4591-801F-310171F868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1420"/>
    </mc:Choice>
    <mc:Fallback>
      <p:transition spd="slow" advTm="16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0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08D9B99-7673-9DA2-A969-E0D4571CE5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C6E859-36DC-46B2-8563-BA117B795E4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440"/>
    </mc:Choice>
    <mc:Fallback>
      <p:transition spd="slow" advTm="14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E82D318-31D5-0060-FD86-D22B2FFFC0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7C62E1-0406-4616-B38A-E1E604F9DBE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2110"/>
    </mc:Choice>
    <mc:Fallback>
      <p:transition spd="slow" advTm="162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11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one">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marL="0" indent="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marL="0" indent="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marL="0" indent="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marL="0" indent="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marL="0" indent="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marL="0" indent="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DESIGN GUIDANCE, NOT A RULE: WHICH PATTERN FITS</a:t>
            </a:r>
            <a:endParaRPr lang="en-US" sz="1200" dirty="0"/>
          </a:p>
        </p:txBody>
      </p:sp>
      <p:sp>
        <p:nvSpPr>
          <p:cNvPr id="15" name="Guide 1">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Mostly on premises</a:t>
            </a:r>
            <a:endParaRPr lang="en-US" sz="1100" dirty="0"/>
          </a:p>
          <a:p>
            <a:pPr marL="0" indent="0">
              <a:buNone/>
            </a:pPr>
            <a:r>
              <a:rPr lang="en-US" sz="1100" dirty="0">
                <a:solidFill>
                  <a:schemeClr val="tx2"/>
                </a:solidFill>
              </a:rPr>
              <a:t>C: the Grid stays authoritative; clouds forward to it</a:t>
            </a:r>
            <a:endParaRPr lang="en-US" sz="1100" dirty="0"/>
          </a:p>
        </p:txBody>
      </p:sp>
      <p:sp>
        <p:nvSpPr>
          <p:cNvPr id="17" name="Guide 2">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Hybrid, one cloud</a:t>
            </a:r>
            <a:endParaRPr lang="en-US" sz="1100" dirty="0"/>
          </a:p>
          <a:p>
            <a:pPr marL="0" indent="0">
              <a:buNone/>
            </a:pPr>
            <a:r>
              <a:rPr lang="en-US" sz="1100" dirty="0">
                <a:solidFill>
                  <a:schemeClr val="tx2"/>
                </a:solidFill>
              </a:rPr>
              <a:t>A + C: an HA vNIOS pair keeps answers local</a:t>
            </a:r>
            <a:endParaRPr lang="en-US" sz="1100" dirty="0"/>
          </a:p>
        </p:txBody>
      </p:sp>
      <p:sp>
        <p:nvSpPr>
          <p:cNvPr id="19" name="Guide 3">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Multi-cloud, Moderate or below</a:t>
            </a:r>
            <a:endParaRPr lang="en-US" sz="1100" dirty="0"/>
          </a:p>
          <a:p>
            <a:pPr marL="0" indent="0">
              <a:buNone/>
            </a:pPr>
            <a:r>
              <a:rPr lang="en-US" sz="1100" dirty="0">
                <a:solidFill>
                  <a:schemeClr val="tx2"/>
                </a:solidFill>
              </a:rPr>
              <a:t>Add B for cloud DNS write-back</a:t>
            </a:r>
            <a:endParaRPr lang="en-US" sz="1100" dirty="0"/>
          </a:p>
        </p:txBody>
      </p:sp>
      <p:sp>
        <p:nvSpPr>
          <p:cNvPr id="21" name="Guide 4">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GovCloud, Azure Gov, High, IL4–5</a:t>
            </a:r>
            <a:endParaRPr lang="en-US" sz="1100" dirty="0"/>
          </a:p>
          <a:p>
            <a:pPr marL="0" indent="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marL="0" indent="0">
              <a:buNone/>
            </a:pPr>
            <a:r>
              <a:rPr lang="en-US" sz="1250" b="1" dirty="0">
                <a:solidFill>
                  <a:srgbClr val="0F766E"/>
                </a:solidFill>
              </a:rPr>
              <a:t>Go deeper: </a:t>
            </a: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FD614CB-0EF7-1FE2-5512-7029B423F7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036DB6-76E5-4C8E-BF92-54FC74AAE1D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0620"/>
    </mc:Choice>
    <mc:Fallback>
      <p:transition spd="slow" advTm="1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9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D893AAC-5E1A-A15B-B364-43053BFFFC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21E558-0A1C-4B8F-8CA6-C4F97F2FD0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4100"/>
    </mc:Choice>
    <mc:Fallback>
      <p:transition spd="slow" advTm="15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3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5E09321-9D63-F730-F862-C88FA085DC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A5412D-1F3E-47B7-AAE4-9D35B38ADD6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610"/>
    </mc:Choice>
    <mc:Fallback>
      <p:transition spd="slow" advTm="155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C28ACE7-6FB5-F657-6E89-E5543C7122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A1C56D-230C-437A-9ACD-6FA6ED0208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920"/>
    </mc:Choice>
    <mc:Fallback>
      <p:transition spd="slow" advTm="15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CF3DA80-5FC9-358C-8A93-089AD3ABA3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B0E77C-C25D-4854-BF3D-481C59CB9C7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310"/>
    </mc:Choice>
    <mc:Fallback>
      <p:transition spd="slow" advTm="133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BF9F2CA-25A7-8233-8AF2-E4818B4CBB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1E130D-B93A-495A-A64E-99C8D615FC0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80"/>
    </mc:Choice>
    <mc:Fallback>
      <p:transition spd="slow" advTm="5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8056C09-50C6-1799-3A72-B88C946E1D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D0F2D2-3343-4AC7-8EA1-4AC4D828F78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730"/>
    </mc:Choice>
    <mc:Fallback>
      <p:transition spd="slow" advTm="119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7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8377758-6519-7992-B819-0915421F35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5D73E6-5A1B-4301-B1A8-88717DA40C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060"/>
    </mc:Choice>
    <mc:Fallback>
      <p:transition spd="slow" advTm="13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0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7985F75E-E0E0-4F00-328C-99233A62F0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07A45C-8C6F-4D10-8E58-BE4558DF6BC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110"/>
    </mc:Choice>
    <mc:Fallback>
      <p:transition spd="slow" advTm="12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1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D793819-4838-8B22-0BF4-0C45A2B0DF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070BD1-E8F9-4F5F-BDDB-918A9923251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440"/>
    </mc:Choice>
    <mc:Fallback>
      <p:transition spd="slow" advTm="113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4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739F3AD-6C7C-FA70-55F5-F703E1E45F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DD04BB-69AB-4AE2-947F-F4A1756A2FF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5180"/>
    </mc:Choice>
    <mc:Fallback>
      <p:transition spd="slow" advTm="13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4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5B8DFDB-0304-E4A2-968F-3321029C05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D3959C-F3C0-4C61-AABE-6056F81A761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720"/>
    </mc:Choice>
    <mc:Fallback>
      <p:transition spd="slow" advTm="12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72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6BE000F-8664-2940-DE91-10EB208697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2E010D-889D-4BB7-B27C-B0F89F7AE42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80"/>
    </mc:Choice>
    <mc:Fallback>
      <p:transition spd="slow" advTm="43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C0DA8E7-6C72-8871-2A62-2DBC35902A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B33ADD-F7EF-4C87-8F16-C3EBA8C87D0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170"/>
    </mc:Choice>
    <mc:Fallback>
      <p:transition spd="slow" advTm="136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16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B71A359-6E7F-8097-A968-6E2AAB637E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57B746-FFEC-4F56-BF4F-8C956BFD72B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50"/>
    </mc:Choice>
    <mc:Fallback>
      <p:transition spd="slow" advTm="13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31"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764BE686-243E-8EF6-C5DF-7C210DA1C8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153143-6131-44E1-84F3-1E1C775F90C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820"/>
    </mc:Choice>
    <mc:Fallback>
      <p:transition spd="slow" advTm="1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8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2"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BF4BD12-C6D7-634E-77EC-12D72CD415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71100C-0323-480B-830F-914DC351FC6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160"/>
    </mc:Choice>
    <mc:Fallback>
      <p:transition spd="slow" advTm="120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STIG,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3D16DCC1-B011-4F6B-163F-C63C146559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BB9B62-726D-4460-A8EC-F6AF73E3CFC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840"/>
    </mc:Choice>
    <mc:Fallback>
      <p:transition spd="slow" advTm="13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84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17806</Words>
  <Application>Microsoft Office PowerPoint</Application>
  <PresentationFormat>Widescreen</PresentationFormat>
  <Paragraphs>845</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Trinzic hardware against the workbook's design</vt:lpstr>
      <vt:lpstr>Trinzic alone, or with cloud DDI?</vt:lpstr>
      <vt:lpstr>Assurance: STIGs,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2026-10-22T16:51:53Z</dcterms:created>
  <dcterms:modified xsi:type="dcterms:W3CDTF">2026-10-22T17:21:11Z</dcterms:modified>
</cp:coreProperties>
</file>