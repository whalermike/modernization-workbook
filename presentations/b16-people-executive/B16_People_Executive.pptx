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people close the gap" id="{792ba8d1-8ae0-7f53-f709-16eaf4c1d185}">
          <p14:sldIdLst>
            <p14:sldId id="256"/>
            <p14:sldId id="257"/>
            <p14:sldId id="258"/>
            <p14:sldId id="259"/>
            <p14:sldId id="260"/>
            <p14:sldId id="261"/>
          </p14:sldIdLst>
        </p14:section>
        <p14:section name="What the curriculum teaches" id="{749254b6-58bf-c94c-7a2a-49e913c8e40c}">
          <p14:sldIdLst>
            <p14:sldId id="262"/>
            <p14:sldId id="263"/>
            <p14:sldId id="264"/>
            <p14:sldId id="265"/>
            <p14:sldId id="266"/>
            <p14:sldId id="267"/>
            <p14:sldId id="268"/>
          </p14:sldIdLst>
        </p14:section>
        <p14:section name="Who owns readiness" id="{b4aef659-b960-3987-9177-a8966626eb46}">
          <p14:sldIdLst>
            <p14:sldId id="269"/>
            <p14:sldId id="270"/>
          </p14:sldIdLst>
        </p14:section>
        <p14:section name="How to run and measure it" id="{675373c0-1b38-c7b3-b6d7-ec7b316bd6e8}">
          <p14:sldIdLst>
            <p14:sldId id="271"/>
            <p14:sldId id="272"/>
            <p14:sldId id="273"/>
            <p14:sldId id="274"/>
            <p14:sldId id="275"/>
          </p14:sldIdLst>
        </p14:section>
        <p14:section name="Backup" id="{69901079-2a71-1f3b-4da8-62f67eba5aa5}">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[0:00–1:35]  This is the executive briefing for Book 16 of the Federal Modernization Workbook, People: Training and Education. It runs about thirty minutes, for the people who fund, staff and answer for the workforce side of the modernization: the CIO, the chief human capital officer and HR leadership, the CISO, the workforce and training leads, and the program's sponsors.
The argument fits in three sentences. Every earlier book changes what someone does, and while tools enforce the new rules, people make the decisions those rules depend on. A program that trains last pays twice, and it falls behind federal training requirements the agency already has. And readiness is something the program measures and evidences at every gate, with one owner for every decision.
I'll take four questions: why people, not tools, close the gap, and what federal workforce rules require; what the curriculum teaches, from the tracks and labs to the help desk and every user; who owns workforce readiness; and how to run the curriculum on the roadmap, keep the knowledge, and measure readiness. Every decision slide names the decision, its owner and when it's needed. Where an owner or a timing is the program's own design rather than a federal assignment, or our inference, the notes say so. Federal, NIST, Microsoft and vendor facts were checked by the book on October 21 and 22, 2026.
Workbook: Book 16, Chapter 01 — People, Not Tools, Close the Gap; Chapter 08 — Who Owns Workforce Readiness; Book 16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[1:35–3:11]  A Conditional Access policy can require phishing-resistant sign-in for every user. It can't decide what happens when a caller tells the help desk their security key is lost, they're traveling, and they need to sign in now. A drift check can find a server that has left its baseline; it can't tell the change board whether the exception behind it was ever approved. The tool enforces a rule, and a person decides whether the rule still means anything.
The book's position, as design, is that the target estate moves risk from configuration to judgment. The old estate's risk sat in settings, like a domain admin group with forty members. The target removes most of those and leaves fewer human decisions that carry more weight: whether a caller is who they say, whether an access request is justified, whether a drift finding is fixed, accepted or escalated, whether an exception is still needed, and whether the evidence is complete before it goes to the authorizing official. A person who doesn't know the new rule falls back on the old habit, a source of drift no drift check can see until after the fact.
The decision, in the program's design: the program office, which owns the gate checklists, puts a training-readiness criterion measured against a roster into every gate from G0 to G5, next to the technical exit criteria.
Workbook: Book 16, Chapter 01 — People, Not Tools, Close the Gap (Tools enforce; people decide; Training is part of each gate's readiness); Chapter 08 (The program office; responsibility matrix: training criteria in gate and wave checklists).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[3:11–4:52]  The workbook's books are organized around technology, but each one moves a decision from one person to another, or from a habit to a rule. The help desk verifies identity before every reset and executes approved requests instead of deciding them. Administrators activate privileged roles just in time instead of holding them. Application owners approve access instead of inheriting it, and HR keeps personnel data correct at the source, because accounts are now created, changed and disabled from it. ISSOs assemble evidence from the systems that produce it. And every user signs in with a PIV card, Windows Hello or a passkey.
Two patterns run through all of it. Almost every row splits a job that one person used to do into deciding and doing. Splitting the job is the control, and it also means two people now need to know the procedure where one used to. And many rows move a decision to people outside IT: HR staff, application owners, contracting officer's representatives, records officers. They need short, specific training on the one decision that is now theirs.
Every row is someone who needs to learn something before their part of the estate moves. The decision, from the G0 criteria: the role roster of every person whose work changes is drafted before G0, built from HR and identity records. In the book's matrix the CHCO's office decides the roster's facts and identity engineering joins them to role assignments.
Workbook: Book 16, Chapter 01 (What each book changes in people's work; Training is part of each gate's readiness: G0); Chapter 08 (responsibility matrix: role rosters from HR and identity records); Appendix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[4:52–6:32]  Many programs schedule training at the end: build the target, migrate the users, then train. The book's observation is that this is paid for twice.
The first payment comes at cutover. Users who haven't been taught the new sign-in call the help desk. A help desk that hasn't been taught the new verification procedure either refuses legitimate callers or resets accounts without the checks meant to stop impersonation. Administrators who haven't practiced just-in-time activation ask for standing roles until things settle. Each workaround is a small exception, and exceptions granted under pressure during a wave tend to stay.
The second payment comes afterward: the workarounds found and removed, people retrained, and habits unlearned, which is slower than learning. Meanwhile the training evidence has a gap someone has to explain.
Federal rules already put training first. OPM's rule requires training whenever there is a significant change in the system environment or procedures. SP 800-53 asks for literacy and role-based training when system changes require it, and IR-2 and CP-3 carry the same trigger. Circular A-130 requires role-based training before authorizing access. So training last also leaves the agency behind requirements it already has.
The decision: the sponsor and CIO fund the learning program as part of the modernization, before G0. The book's matrix gives them learning program funding and staffing, and SP 800-50 Rev. 1 notes that leaders need to know which budget training comes from.
Workbook: Book 16, Chapter 01 (Why training last costs twice); Chapter 08 (The executive sponsor and the CIO; responsibility matrix: learning program funding and staffing; Readiness is an input to every gate: G0).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[6:32–8:15]  Four kinds of source set the workforce requirements, written over twenty years.
FISMA is a staffing requirement more than a course requirement: the agency head must ensure the agency has trained personnel sufficient to help it comply, and awareness training covers personnel, including contractors. The Federal Cybersecurity Workforce Assessment Act of December 18, 2015 requires every agency to identify the positions that do cyber work and code each one. Circular A-130 has the CHCO, the CIO and others develop competency requirements for information resources staff, and keep a current workforce planning process. OPM's rule at 5 CFR 930.301, from June 14, 2004, requires awareness before access and at least annually, role-specific training by audience, and training on significant change. OPM's coding guidance of 2017 and 2022 puts three-digit codes on position descriptions. And NIST's NICE Framework, SP 800-181 Rev. 1, with components version 2.2.0 of April 28, 2026, supplies the vocabulary: 42 work roles in five categories.
What the rules don't require matters as much. No civilian source requires a particular industry certification; the Act asked agencies to measure certification. The only annual number is the awareness floor. NICE is guidance; coding positions under its structure is the mandate. And the Defense Department's 8140 qualification program doesn't apply to civilian agencies.
The decision follows A-130: the CHCO and the CIO set competency requirements together, and the program feeds its new roles into the workforce plan. Doing it as roles change is the program's design guidance.
Workbook: Book 16, Chapter 02 — What Federal Workforce Rules Require (The sources at a glance; FISMA; OPM's rule; OMB Circular A-130; The NICE Framework; What the rules don't require; DoD 8140, as a contrast; Who owns which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[8:15–9:50]  The code on a position description is the HR system's statement of what cyber work a position does. OPM's 2017 procedures have CIO staff, managers, and HR and classification staff partner to assign three-digit codes; 000 means no cyber function, and a position can carry up to three. Each code aligns to a NICE work role.
The codes haven't been reliable. GAO's March 2019 review found 22 of the 24 agencies it reviewed had given a non-IT work role code to 15,779 positions in the GS-2210 IT management series, about 19 percent, and at six agencies the codes didn't match the duties for 63 of 120 sampled positions. The three newest NICE work roles have no OPM code yet.
The program uses the code three ways, as design. As a roster input, beside the identity platform's role assignments and the system inventory; where they disagree, that's a finding for HR and the CIO's office together, not for the training office. As the link to a track, so a person who moves into a coded position is due for its training the day they move. And as a review trigger.
The decision, in the program's design: HR classification staff and the CIO's office review the affected position descriptions and their codes when each workstream reaches its gate. No source requires a review at that moment.
Workbook: Book 16, Chapter 02 (Coding the positions; How OPM implemented it; How well it has worked; What the program does with the codes; The work roles the modernized estate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[9:50–11:24]  The program separates two kinds of learning, as design. Education builds the mental model, for everyone, before any tool, in six ideas in order: governance is a system that runs continuously; identity is the starting point; one map replaces many inventories; every derived record names its source and version; modernization is a lifecycle under change control; and drift is the feedback signal. Someone who holds those ideas understands why the help desk now asks for verification and why a screenshot isn't evidence. Someone who doesn't experiences each new rule as friction. Orientation comes as a 90-minute walkthrough, a self-serve written path, and a 45-minute briefing for auditors. For a sponsor, orientation is the whole requirement.
Training then teaches the job, by role, in four tracks. The compliance track teaches ISSOs, assessors and authorizing officials one skill above the others: tracing a control from the mechanism that closes it to the record that proves it. The implementation track teaches engineers to build and land evidence. Vendor training and labs supply the product skills underneath. And end-user training reaches everyone who signs in.
The decision: a training plan that names an owner for every track, which is one of the book's G0 training criteria. The book's matrix gives the CHCO's office the decision on training plans under 5 CFR 410; the training lead writes them.
Workbook: Book 16, Chapter 01 (Education before training; Training is part of each gate's readiness: G0); Chapter 03 — The Compliance Track; Chapter 09 (Orientation: education before training); Chapter 08 (responsibility matrix: workforce development strategy and training plans); Chapter 10 (Readiness per role: executives).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[11:24–13:03]  The implementation track teaches the estate from the engineer's chair, in ten build modules: DNS, DHCP and IPAM, then identity, certificates, access, devices, network, the data platform, the cloud platform and security operations, and finally day-two operations. The order is a real dependency chain, and day-two operations comes last because it runs what every other module built.
The track's one rule, as design: a module is done when the thing works and its record sits where the evidence pipeline reads it. Three habits follow. Observe before you enforce: Microsoft's guidance is to deploy Conditional Access policies in report-only mode first, port access control starts in monitor mode, and provisioning starts in shadow mode; the program's design is at least 14 days in report-only. Keep a way back in: Microsoft recommends at least two cloud-only emergency access accounts, excluded from blocking policies, with every use alerted on and the accounts validated at least every 90 days. And export the record, not a screenshot.
Each build module pairs with the compliance module that reads its evidence, so an engineer and an ISSO work from the same records.
The decision ties the track to the gates. The book's criterion for G1, as design, is that every platform team member who will change production in Phases 1 and 2 has passed their lab, and the same check applies before later phases. The steward decides G1 in Book 01.
Workbook: Book 16, Chapter 04 — The Implementation Track (The rule of the track; The build modules; Order and pairing); Chapter 10 (Readiness per gate: G1; Readiness per role: privileged administrators and platform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[13:03–14:45]  A-130 asks for measures that test users' knowledge, and SP 800-50 Rev. 1 recommends practical assessments that mimic the work role. So the program, by design, certifies what people can show.
Both track capstones are scored on one four-level scale: 0, missing; 1, named; 2, traced; and 3, assessor-ready, meaning a real result, dated against its freshness rule, with an honest statement of what isn't evaluated yet. The compliance capstone passes with every area at 2 or higher, at least three at 3, and all four whole-submission checks, among them that gaps stay gaps. The implementation capstone passes when the build works and the tooling's result moves because of it.
Two credentials, both program design: a practitioner credential and an assessor credential, each entered as a dated per-person record under AT-4. Both expire after 12 months, or sooner when the procedure changes, and renew by a short practical reassessment.
Industry certifications sit beside them as evidence of general skill. One can waive a module that teaches the same product skill, never a capstone. And no civilian rule requires one.
The decision is the agency's. The book offers a design: make a current credential a condition of eligibility for privileged roles, so access reviews can see it, but only once the training record is reliable. The book names no owner; we've placed it with the CISO, who owns the training policy and decides which roles are significant. That owner is our inference.
Workbook: Book 16, Chapter 05 — Assessment and Certification (The scale; Checks that apply to the whole submission; Scoring; Two credentials; Recertification; Industry certifications); Chapter 08 (The CISO) for the owner, which is our inference.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[14:45–16:27]  The books teach what to do and why, vendors teach their products, and labs are where people practice both without touching anything real. A vendor course earns a place, by design, only when it maps to a book procedure, is current, and produces a record the agency can keep. Free federal sources come first, including CISA Learning.
Certifications move fast. As Microsoft Learn showed on October 22, 2026, AZ-500 retired on August 31 with SC-500 as the path, AZ-800 and AZ-801 retired on September 30, and MS-102 retires on November 30. The program re-checks them at each gate, the same way it re-checks federal dates.
Lab tenants are harder to get than most programs expect. The Microsoft 365 developer sandbox is limited to eligible subscribers and partners, and isn't offered in the government clouds. There is no free sandbox in GCC High or DoD. So labs that need government-cloud behavior run in a non-production tenant or subscription the agency owns. The program's design is a two-step path: practice in a commercial sandbox, then rehearse the procedure once in the agency's own non-production government tenant before the gate, recording any step that behaved differently.
The rules for every lab: never a production tenant, never production data, and teardown as part of the lab.
The decision comes from the chapter: the program office arranges lab tenants rather than leaving each learner to find one. The timing, before the first labs, is design guidance.
Workbook: Book 16, Chapter 06 — Vendor Training and Lab Environments (Choosing vendor training; Federal sources; Where lab environments come from; What changes in the government clouds; Rules for every lab); Chapter 04 (Example certifications).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[16:27–18:11]  Every user in the agency will sign in differently by the end of the program. The chapter's line is that they learn how from the agency before the change, or from an attacker after it, because a user who has never seen the new sign-in prompt can't tell a real one from a fake.
There are six modules, each ending in something the user does: phishing-resistant sign-in; self-service password reset and account recovery; device enrollment and compliance, including what the agency can and can't see; the new places files live; reporting suspicious messages, prompts and notices; and what the help desk will and won't ask.
Policy sets the target. M-22-09 requires phishing-resistant methods for staff, contractors and partners, and SP 800-63B-4, final in July 2025, says agencies shall require it and describes push approvals and one-time codes as not phishing-resistant. So push is taught as a fallback being retired. Microsoft's guidance is at least two registered methods per user. Password guidance has moved to length, with no composition rules or forced rotation. Which passkey types the agency allows is a CISO decision. Section 508 covers training materials, at WCAG 2.0 Level AA, and under M-24-08 the CHCO develops the accessibility training plans.
The decision: the CISO decides what users are taught to do about security, from sign-in methods to reporting and the help desk's rules, because those instructions are the policy in the form users see. Making the call before the pilot's first notice is our design guidance.
Workbook: Book 16, Chapter 07 — End-User Training for the Modernized Estate (Modules 1 to 6; Accessible training); Chapter 08 (The CISO; responsibility matrix: what end users are taught to do about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[18:11–19:54]  The help desk becomes a target the moment users learn to trust it. CISA's advisory on the Scattered Spider group, last revised July 29, 2025, describes actors who posed as company IT or help desk staff to get credentials and one-time passwords from employees, and who posed as employees to the help desk.
So the program trains the help desk first. Phase 1 trains it before anyone else migrates, because Book 15 gives technicians roles that can reset credentials and issue Temporary Access Passes. A-130 requires role-based training before authorizing access, and the program applies that literally: no technician is made eligible for a help desk role until their training and an observed identity-verification scenario, including a social engineering attempt, are on record.
Users learn the desk's rules too, as design: it will never ask for a password, a PIN or a code; never ask you to approve a prompt for it; never send a reset link or code to a number given on the call; never ask you to install remote-access software from a link; and never pressure you to act before you can check. Every legitimate request survives a five-minute delay while the user hangs up and calls the published number.
The desk keeps learning, with a briefing before any approved change users will notice.
The decision: the service desk manager decides whether the desk is trained and staffed for each wave. The CISO owns the verification procedure the desk follows.
Workbook: Book 16, Chapter 07 (Module 6: What the help desk will and won't ask); Chapter 09 (What each phase and gate needs; Train the help desk on every change); Chapter 10 (Readiness per role: help desk); Chapter 08 (The help desk; responsibility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[19:54–21:39]  Book 01 moves users in groups: Tier 0 administrators register phishing-resistant methods in Phase 1, a pilot division proves the pattern in Phase 2, and the remaining divisions move in waves in Phase 3. Training follows the same groups, because a message months ahead is forgotten and one on the day is too late.
Microsoft's deployment guidance gives the cadence: tell users and encourage early registration 60 days before enforcement, repeat at 45, announce the date at 30, repeat with help desk contacts at 15 and 7, and give a final 24-hour notice, using channels beyond email. The program's wave calendar applies it, with program defaults: champions named early; modules assigned and the help desk trained by 30 days; managers sent the names of staff not yet registered or trained; follow-up lessons and a survey in the two weeks after.
Before enforcement, the readiness check reads three numbers against the wave's thresholds: method registration, training completion and help desk ticket volume. Microsoft recommends tracking ticket volume and slowing deployment, communications and enforcement when it rises, with date ranges rather than fixed dates. Wave messages come from one published sender, carry no sign-in link, and repeat the help desk rule, so they're hard to imitate.
The decision: the wave owner, identity engineering in Book 02's matrix, makes the go/no-go, with training completion now part of the check, and the division lead and steward confirm readiness at the division exit. A wave that isn't ready moves its date, not its threshold.
Workbook: Book 16, Chapter 07 (Timing: what users are told around each wave; Help desk volume paces the waves; What to send, and what never to send); Chapter 10 (Readiness per gate); Chapter 08 (responsibility matrix: wave go/no-go).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[21:39–23:22]  Ask who owns training and three offices answer at once: security owns the annual course, human resources owns the learning system, and the CIO's office owns the migration. Between them nobody owns whether the people who run, support and use the estate know how on the day it changes. Federal rules spread the duty too: FISMA across the agency head, the CIO and every user; the Chief Human Capital Officers Act gives the CHCO the workforce development strategy; OPM's 5 CFR 410.201 makes the head of agency responsible for training programs; and M-24-08 has the CIO lead the Section 508 program.
The book's model, as design, keeps one decider per row. The sponsor and CIO own funding and staffing, and the wave's communications and user readiness plan. The CISO owns the awareness and training policy, decides which roles have significant security responsibilities, sets the completion threshold, and decides what users are taught. The CHCO's office owns the workforce strategy, the training plans, position coding, the roster's facts and labor relations. Supervisors are accountable for their staff completing training, and for giving them the time. The training lead runs the curriculum day to day, and reports.
The decision, from the G0 criteria and the matrix: the sponsor and CIO staff the program with one named training lead, and the CHCO's office, labor relations and the Section 508 program manager are briefed at G0, before the first module is built, not after the first grievance.
Workbook: Book 16, Chapter 08 — Who Owns Workforce Readiness (Where the roles come from; The roles; Readiness is an input to every gate: G0; The responsibility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[23:22–25:07]  Readiness numbers are easy to improve without improving readiness, so the book keeps the roles apart, as design. The person who reports the numbers doesn't decide what they mean: the training lead reports completion per population, the ISSO reviews the record and routes the gaps, and the gate or wave owner decides go, no-go or conditional go, with the program office checking the criteria. The record's producer doesn't review it. Managers can't waive required training; a waiver is the CISO's or a named delegate's, recorded with an end date, following SP 800-50 Rev. 1's example policy. Phishing-exercise results serve learning, not discipline. And the communications office owns the channel, while the CISO owns the words that tell users how to sign in.
Who may hold these roles follows Book 14. The CIO and the CISO are government officials. The training lead, the course developers, the help desk and much of the program office can be contractors, and often are. Contractors can build, deliver and report all of the training; the decisions in the CISO's, the ISSO's, the gate owners' and the authorizing official's rows are made by government officials.
Two decisions sit above the matrix. The organization-wide training plan and the evaluation of training programs belong in the end to the head of the agency, who may designate officials. And accepting the risk of putting a system into operation before its people are trained is a risk acceptance like any other, which only the system's authorizing official can make.
Workbook: Book 16, Chapter 08 (Readiness is an input to every gate; The responsibility matrix: comments and the two decisions above it; Keeping the roles apart; who may hold these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[25:07–26:41]  A curriculum on the roadmap's calendar arrives when people need it; one on the training office's calendar arrives after the help desk has already taken the calls. SP 800-50 Rev. 1 asks for one primary training calendar aligned with major IT releases, and in this program the releases are the waves. The planning rule, as design: no gate is scheduled without its training dates, and no wave without its training window, so a wave that slips moves its training with it.
The schedule by phase, all design. Before G0, leaders get the orientation and ISSOs start the compliance track. Before G1, platform teams take their labs, and the help desk is trained and verified before any new role is assigned. In the pilot, every new module is tested before the rollout uses it, and in the rollout, modules are corrected after each wave. Phase 4 trains Active Directory administrators into cloud roles. Phase 5 retires every AD-era module and runbook, the step most curricula skip. Then steady state: refresh, training on every new role, and the annual evaluation.
Modules stay current through a scheduled check: each module records the chapters it teaches, a changed chapter flags its modules, and revisions are versioned.
The decision: the program office owns the schedule, because only the program office knows when the next wave moves.
Workbook: Book 16, Chapter 09 — Building and Running the Curriculum (Start from the roadmap, not the catalog; What each phase and gate needs people to know; Keeping the curriculum current); Chapter 01 (Training is part of each gate's readiness).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[26:41–28:21]  The book has no chapter on retention by that name. This slide gathers what it says about keeping the workforce's knowledge as people and contracts change, and the framing is ours.
The need comes from the rules. FISMA's "sufficient" is measured against the work, and while the old and new estates run side by side, enough trained people for the old one may not be enough for both. A-130 asks agencies to plan their workforce so they can keep skills current and recruit and retain the talent they need.
The curriculum is built so knowledge doesn't sit in one head, as design. Module owners come from the workstream that owns the platform. Every module should have at least two qualified instructors, the cross-training rule Book 00 applies to every workstream. And module versions are kept, not overwritten.
People in transition: Active Directory administrators get role transition training into cloud roles in Phase 4, and by G4 the administrators of retiring platforms are retrained or reassigned.
Contractors: contracting officer's representatives are accountable for contractor completion. A contractor trained by their employer still needs a completion record the agency can show, entered or imported. And certifications belong to the person: Microsoft recommends registering for its exams with a personal account, so the agency keeps its own record of each credential and its expiry date.
The decision: contractors' training goes into the agency's learning system, with each COR accountable, before access.
Workbook: Book 16, Chapter 02 (FISMA: trained people; A-130's competencies and workforce planning); Chapter 09 (Train-the-trainer; Keeping the curriculum current; What the learning management system records); Chapter 08 (Managers and supervisors; G4 criteria); Chapter 06 (Its records can be kept). The retention framing is our inference.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[28:21–30:03]  A completion record says someone finished a course; readiness says they can do the job on the day the change arrives. SP 800-50 Rev. 1 says measurement must go beyond compliance, organized on the four Kirkpatrick levels: reaction, learning, behavior and results.
The practical rule, as design: completion is measured for everyone, and competence for every role where a mistake is a security event: the help desk, privileged administrators, platform engineers who change production, ISSOs, and the people named in incident response and contingency plans. For those roles a completion without a passing assessment doesn't count.
Signals beyond the learning system show behavior. Sign-in method registration by wave is the most direct end-user measure and costs nothing to collect, from Entra ID's authentication methods activity report, which needs Entra ID P1 or P2. Help desk tickets are read by volume per wave, by category, to separate how-do-I questions from configuration failures, and by decay, the days until volume returns to baseline. Surveys and phishing report rates add to the picture.
Targets are design. The pilot is the baseline; Book 00's pilot criteria, under 5 percent of pilot users raising tickets and over 80 percent positive, are illustrative. A target never measured against a baseline is a guess, and the report says so.
The decision follows Book 14: the ISSO reviews the record against the CISO's threshold, and every overdue or unassessed person in a privileged role is a finding, whatever the percentage.
Workbook: Book 16, Chapter 10 — Measuring Readiness and Evidencing It (Completion is not competence; Readiness per role; Readiness per gate; Signals beyond the learning management system; Baselines and targets are design); Chapter 08 (responsibility matrix: the evidence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[30:03–31:44]  SP 800-50 Rev. 1 describes an assessment report for senior leadership, produced regularly through the year, that analyzes attendance, feedback and metrics in plain language. And OPM's rules at 5 CFR 410 require agencies to evaluate their training programs annually against mission and performance goals.
The program's design fits that into the steering committee's rhythm. Every meeting: one page with readiness for the next gate and the next two waves, by role group, against threshold, and anything red with its cause and owner; it supports whether the next wave keeps its date. Quarterly: completion and competence by population, survey and ticket trends, and modules revised. Annually: the evaluation OPM requires, covering what training cost, what it changed and where the gaps are. And at each gate review, the gate's criteria evaluated from the record.
The one-page view answers five questions in order: is the next gate's workforce ready; are the next two waves ready; what happened in the last wave; where are the privileged gaps, as a count rather than a percentage, because each one is a finding; and what does the committee need to decide.
The report carries counts, not names. Per-person detail stays in the learning management system under its access controls.
The decision: the steering committee takes the readiness view at every meeting, and the annual evaluation belongs in the end to the head of the agency, who may designate officials to carry it out.
Workbook: Book 16, Chapter 10 (Reporting to the steering committee); Chapter 08 (Two decisions sit above the matrix); Chapter 09 (The annual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[31:44–33:31]  So, the decisions, with their owners and timing. None of them is a procurement.
The sponsor and CIO fund the learning program from a named budget, name one training lead, and bring in the CHCO's office, labor relations and the Section 508 program manager at G0. The program office puts a training check against a roster into every gate, schedules no gate without its training dates and no wave without its window, and arranges lab tenants, including a non-production government tenant. The CHCO's office owns the roster's facts, the training plan with an owner for every track, competency requirements with the CIO, and the review of position codes.
The CISO decides what users are taught, and, once the record is reliable, whether a credential becomes a condition for privileged roles; that owner is our inference. The steward passes no gate until the next phase's engineers have passed their labs. The service desk manager decides whether the desk is ready for each wave, and the wave owner holds any wave that misses its thresholds. Contracting officer's representatives put contractors' training on the agency's record before access. The ISSO treats every privileged gap as a finding, and the authorizing official alone accepts the risk of operating with people untrained. The steering committee reviews readiness at every meeting, and the head of agency owns the annual evaluation.
The next step needs no procurement: draft the roster of everyone whose work changes. Tools enforce; people decide. Book 16 has the detail, with every claim footnoted. Thank you.
Workbook: Book 16, Chapter 08 — Who Owns Workforce Readiness (responsibility matrix), with the gate criteria in Chapters 01 and 10 and the decisions on each slide from Chapters 01 to 10; Appendix A — The Curriculum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16 People: Training &amp; Education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3.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3.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People &amp; Training: the executive briefing</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16  ·  People, not tools, close the gap</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407408"/>
            <a:ext cx="6035040" cy="457200"/>
          </a:xfrm>
          <a:prstGeom prst="rect">
            <a:avLst/>
          </a:prstGeom>
          <a:noFill/>
          <a:ln/>
        </p:spPr>
        <p:txBody>
          <a:bodyPr wrap="square" lIns="0" tIns="0" rIns="0" bIns="0" rtlCol="0" anchor="t"/>
          <a:lstStyle/>
          <a:p>
            <a:pPr indent="0" marL="0">
              <a:buNone/>
            </a:pPr>
            <a:r>
              <a:rPr lang="en-US" sz="2000" b="1" dirty="0">
                <a:solidFill>
                  <a:srgbClr val="B91C1C"/>
                </a:solidFill>
              </a:rPr>
              <a:t>Why</a:t>
            </a:r>
            <a:pPr indent="0" marL="0">
              <a:buNone/>
            </a:pPr>
            <a:r>
              <a:rPr lang="en-US" sz="2000" dirty="0">
                <a:solidFill>
                  <a:srgbClr val="64748B"/>
                </a:solidFill>
              </a:rPr>
              <a:t>   ·   </a:t>
            </a:r>
            <a:pPr indent="0" marL="0">
              <a:buNone/>
            </a:pPr>
            <a:r>
              <a:rPr lang="en-US" sz="2000" b="1" dirty="0">
                <a:solidFill>
                  <a:srgbClr val="1F2A44"/>
                </a:solidFill>
              </a:rPr>
              <a:t>What</a:t>
            </a:r>
            <a:pPr indent="0" marL="0">
              <a:buNone/>
            </a:pPr>
            <a:r>
              <a:rPr lang="en-US" sz="2000" dirty="0">
                <a:solidFill>
                  <a:srgbClr val="64748B"/>
                </a:solidFill>
              </a:rPr>
              <a:t>   ·   </a:t>
            </a:r>
            <a:pPr indent="0" marL="0">
              <a:buNone/>
            </a:pPr>
            <a:r>
              <a:rPr lang="en-US" sz="2000" b="1" dirty="0">
                <a:solidFill>
                  <a:srgbClr val="0F766E"/>
                </a:solidFill>
              </a:rPr>
              <a:t>Who</a:t>
            </a:r>
            <a:pPr indent="0" marL="0">
              <a:buNone/>
            </a:pPr>
            <a:r>
              <a:rPr lang="en-US" sz="2000" dirty="0">
                <a:solidFill>
                  <a:srgbClr val="64748B"/>
                </a:solidFill>
              </a:rPr>
              <a:t>   ·   </a:t>
            </a:r>
            <a:pPr indent="0" marL="0">
              <a:buNone/>
            </a:pPr>
            <a:r>
              <a:rPr lang="en-US" sz="2000" b="1" dirty="0">
                <a:solidFill>
                  <a:srgbClr val="B45309"/>
                </a:solidFill>
              </a:rPr>
              <a:t>How</a:t>
            </a:r>
            <a:endParaRPr lang="en-US" sz="2000" dirty="0"/>
          </a:p>
        </p:txBody>
      </p:sp>
      <p:sp>
        <p:nvSpPr>
          <p:cNvPr id="7" name="Series line"/>
          <p:cNvSpPr txBox="1"/>
          <p:nvPr/>
        </p:nvSpPr>
        <p:spPr>
          <a:xfrm>
            <a:off x="731520" y="4983480"/>
            <a:ext cx="9601200" cy="822960"/>
          </a:xfrm>
          <a:prstGeom prst="rect">
            <a:avLst/>
          </a:prstGeom>
          <a:noFill/>
          <a:ln/>
        </p:spPr>
        <p:txBody>
          <a:bodyPr wrap="square" lIns="0" tIns="0" rIns="0" bIns="0" rtlCol="0" anchor="t"/>
          <a:lstStyle/>
          <a:p>
            <a:pPr indent="0" marL="0">
              <a:buNone/>
            </a:pPr>
            <a:r>
              <a:rPr lang="en-US" sz="1600" b="1" dirty="0">
                <a:solidFill>
                  <a:srgbClr val="1F2A44"/>
                </a:solidFill>
              </a:rPr>
              <a:t>Federal Modernization Workbook</a:t>
            </a:r>
            <a:endParaRPr lang="en-US" sz="1600" dirty="0"/>
          </a:p>
          <a:p>
            <a:pPr indent="0" marL="0">
              <a:buNone/>
            </a:pPr>
            <a:r>
              <a:rPr lang="en-US" sz="1600" dirty="0">
                <a:solidFill>
                  <a:srgbClr val="64748B"/>
                </a:solidFill>
              </a:rPr>
              <a:t>A 30-minute briefing for the CIO, the chief human capital officer and HR leadership, the CISO, workforce and training leads, and sponsors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tools enforce; people make the decisions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Three columns joined by arrows. On the left, a slate card: the earlier books, Books 00 to 15, which change identity, access, devices, certificates, DNS, networks, the cloud boundary, security operations, governance and compliance. An arrow leads to a blue card in the middle: the tools enforce, listing Conditional Access, Privileged Identity Management, Intune and Arc baselines, lifecycle workflows and drift checks. A second arrow leads from the left card to a violet card: people decide, listing the help desk verifying identity before a reset, owners approving access, stewards keeping the record, ISSOs assembling evidence, and users signing in a new way. On the right, a green card: the gap closes, when the configured target is also the operated target. A solid arrow leads to it from the blue card, and a dashed amber arrow from the violet card, labeled training, before each gate.">    </p:cNvPr>
          <p:cNvPicPr>
            <a:picLocks noChangeAspect="1"/>
          </p:cNvPicPr>
          <p:nvPr/>
        </p:nvPicPr>
        <p:blipFill>
          <a:blip r:embed="rId1"/>
          <a:stretch>
            <a:fillRect/>
          </a:stretch>
        </p:blipFill>
        <p:spPr>
          <a:xfrm>
            <a:off x="548640" y="1371600"/>
            <a:ext cx="5760720" cy="2999574"/>
          </a:xfrm>
          <a:prstGeom prst="rect">
            <a:avLst/>
          </a:prstGeom>
        </p:spPr>
      </p:pic>
      <p:sp>
        <p:nvSpPr>
          <p:cNvPr id="6" name="Decide box" descr="">
            <a:extLst>
              <a:ext uri="{C183D7F6-B498-43B3-948B-1728B52AA6E4}">
                <adec:decorative xmlns:adec="http://schemas.microsoft.com/office/drawing/2017/decorative" val="1"/>
              </a:ext>
            </a:extLst>
          </p:cNvPr>
          <p:cNvSpPr/>
          <p:nvPr/>
        </p:nvSpPr>
        <p:spPr>
          <a:xfrm>
            <a:off x="6492240" y="1371600"/>
            <a:ext cx="516636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UserCheck" descr="">
            <a:extLst>
              <a:ext uri="{C183D7F6-B498-43B3-948B-1728B52AA6E4}">
                <adec:decorative xmlns:adec="http://schemas.microsoft.com/office/drawing/2017/decorative" val="1"/>
              </a:ext>
            </a:extLst>
          </p:cNvPr>
          <p:cNvSpPr/>
          <p:nvPr/>
        </p:nvSpPr>
        <p:spPr>
          <a:xfrm>
            <a:off x="672084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852514" y="1649578"/>
            <a:ext cx="285293" cy="285293"/>
          </a:xfrm>
          <a:prstGeom prst="rect">
            <a:avLst/>
          </a:prstGeom>
        </p:spPr>
      </p:pic>
      <p:sp>
        <p:nvSpPr>
          <p:cNvPr id="9" name="Decide head"/>
          <p:cNvSpPr txBox="1"/>
          <p:nvPr/>
        </p:nvSpPr>
        <p:spPr>
          <a:xfrm>
            <a:off x="7406640" y="1517904"/>
            <a:ext cx="416052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Five decisions that now carry the risk</a:t>
            </a:r>
            <a:endParaRPr lang="en-US" sz="1700" dirty="0"/>
          </a:p>
        </p:txBody>
      </p:sp>
      <p:sp>
        <p:nvSpPr>
          <p:cNvPr id="10" name="Decide list"/>
          <p:cNvSpPr txBox="1"/>
          <p:nvPr/>
        </p:nvSpPr>
        <p:spPr>
          <a:xfrm>
            <a:off x="6720840" y="2194560"/>
            <a:ext cx="48006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Is the caller who they say they are?</a:t>
            </a:r>
            <a:endParaRPr lang="en-US" sz="1400" dirty="0"/>
          </a:p>
          <a:p>
            <a:pPr marL="342900" indent="-342900">
              <a:spcAft>
                <a:spcPts val="600"/>
              </a:spcAft>
              <a:buSzPct val="100000"/>
              <a:buChar char="•"/>
            </a:pPr>
            <a:r>
              <a:rPr lang="en-US" sz="1350" dirty="0">
                <a:solidFill>
                  <a:schemeClr val="tx2"/>
                </a:solidFill>
              </a:rPr>
              <a:t>Is the access request justified?</a:t>
            </a:r>
            <a:endParaRPr lang="en-US" sz="1400" dirty="0"/>
          </a:p>
          <a:p>
            <a:pPr marL="342900" indent="-342900">
              <a:spcAft>
                <a:spcPts val="600"/>
              </a:spcAft>
              <a:buSzPct val="100000"/>
              <a:buChar char="•"/>
            </a:pPr>
            <a:r>
              <a:rPr lang="en-US" sz="1350" dirty="0">
                <a:solidFill>
                  <a:schemeClr val="tx2"/>
                </a:solidFill>
              </a:rPr>
              <a:t>Is the drift fixed, accepted or escalated?</a:t>
            </a:r>
            <a:endParaRPr lang="en-US" sz="1400" dirty="0"/>
          </a:p>
          <a:p>
            <a:pPr marL="342900" indent="-342900">
              <a:spcAft>
                <a:spcPts val="600"/>
              </a:spcAft>
              <a:buSzPct val="100000"/>
              <a:buChar char="•"/>
            </a:pPr>
            <a:r>
              <a:rPr lang="en-US" sz="1350" dirty="0">
                <a:solidFill>
                  <a:schemeClr val="tx2"/>
                </a:solidFill>
              </a:rPr>
              <a:t>Is the exception still needed?</a:t>
            </a:r>
            <a:endParaRPr lang="en-US" sz="1400" dirty="0"/>
          </a:p>
          <a:p>
            <a:pPr marL="342900" indent="-342900">
              <a:spcAft>
                <a:spcPts val="600"/>
              </a:spcAft>
              <a:buSzPct val="100000"/>
              <a:buChar char="•"/>
            </a:pPr>
            <a:r>
              <a:rPr lang="en-US" sz="1350" dirty="0">
                <a:solidFill>
                  <a:schemeClr val="tx2"/>
                </a:solidFill>
              </a:rPr>
              <a:t>Is the evidence complete for the AO?</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Add a training-readiness check, measured against a roster, to every gate from G0 to G5</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Program office</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From G0 (design)</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16, Chapters 01 and 08; Book 01, Chapter 12 (gates G0 to G5). The five decisions and the gate training check are program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Every book moves a decision to someone new</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Moves head"/>
          <p:cNvSpPr txBox="1"/>
          <p:nvPr/>
        </p:nvSpPr>
        <p:spPr>
          <a:xfrm>
            <a:off x="548640" y="1371600"/>
            <a:ext cx="6309360" cy="274320"/>
          </a:xfrm>
          <a:prstGeom prst="rect">
            <a:avLst/>
          </a:prstGeom>
          <a:noFill/>
          <a:ln/>
        </p:spPr>
        <p:txBody>
          <a:bodyPr wrap="square" lIns="0" tIns="0" rIns="0" bIns="0" rtlCol="0" anchor="t"/>
          <a:lstStyle/>
          <a:p>
            <a:pPr indent="0" marL="0">
              <a:buNone/>
            </a:pPr>
            <a:r>
              <a:rPr lang="en-US" sz="1200" b="1" dirty="0">
                <a:solidFill>
                  <a:srgbClr val="64748B"/>
                </a:solidFill>
              </a:rPr>
              <a:t>WHOSE WORK CHANGES, AND HOW (BOOKS 00 TO 15)</a:t>
            </a:r>
            <a:endParaRPr lang="en-US" sz="1200" dirty="0"/>
          </a:p>
        </p:txBody>
      </p:sp>
      <p:sp>
        <p:nvSpPr>
          <p:cNvPr id="6" name="Moves 0" descr="">
            <a:extLst>
              <a:ext uri="{C183D7F6-B498-43B3-948B-1728B52AA6E4}">
                <adec:decorative xmlns:adec="http://schemas.microsoft.com/office/drawing/2017/decorative" val="1"/>
              </a:ext>
            </a:extLst>
          </p:cNvPr>
          <p:cNvSpPr/>
          <p:nvPr/>
        </p:nvSpPr>
        <p:spPr>
          <a:xfrm>
            <a:off x="548640" y="1719072"/>
            <a:ext cx="630936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Moves 0 text"/>
          <p:cNvSpPr txBox="1"/>
          <p:nvPr/>
        </p:nvSpPr>
        <p:spPr>
          <a:xfrm>
            <a:off x="731520" y="1719072"/>
            <a:ext cx="6035040" cy="512064"/>
          </a:xfrm>
          <a:prstGeom prst="rect">
            <a:avLst/>
          </a:prstGeom>
          <a:noFill/>
          <a:ln/>
        </p:spPr>
        <p:txBody>
          <a:bodyPr wrap="square" lIns="0" tIns="0" rIns="0" bIns="0" rtlCol="0" anchor="ctr"/>
          <a:lstStyle/>
          <a:p>
            <a:pPr indent="0" marL="0">
              <a:buNone/>
            </a:pPr>
            <a:r>
              <a:rPr lang="en-US" sz="1400" b="1" dirty="0">
                <a:solidFill>
                  <a:srgbClr val="1F2A44"/>
                </a:solidFill>
              </a:rPr>
              <a:t>Help desk   </a:t>
            </a:r>
            <a:pPr indent="0" marL="0">
              <a:buNone/>
            </a:pPr>
            <a:r>
              <a:rPr lang="en-US" sz="1400" dirty="0">
                <a:solidFill>
                  <a:schemeClr val="tx2"/>
                </a:solidFill>
              </a:rPr>
              <a:t>Verifies, executes and escalates; never decides</a:t>
            </a:r>
            <a:endParaRPr lang="en-US" sz="1400" dirty="0"/>
          </a:p>
        </p:txBody>
      </p:sp>
      <p:sp>
        <p:nvSpPr>
          <p:cNvPr id="8" name="Moves 1" descr="">
            <a:extLst>
              <a:ext uri="{C183D7F6-B498-43B3-948B-1728B52AA6E4}">
                <adec:decorative xmlns:adec="http://schemas.microsoft.com/office/drawing/2017/decorative" val="1"/>
              </a:ext>
            </a:extLst>
          </p:cNvPr>
          <p:cNvSpPr/>
          <p:nvPr/>
        </p:nvSpPr>
        <p:spPr>
          <a:xfrm>
            <a:off x="548640" y="2304288"/>
            <a:ext cx="6309360" cy="512064"/>
          </a:xfrm>
          <a:prstGeom prst="roundRect">
            <a:avLst>
              <a:gd name="adj" fmla="val 14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Moves 1 text"/>
          <p:cNvSpPr txBox="1"/>
          <p:nvPr/>
        </p:nvSpPr>
        <p:spPr>
          <a:xfrm>
            <a:off x="731520" y="2304288"/>
            <a:ext cx="6035040" cy="512064"/>
          </a:xfrm>
          <a:prstGeom prst="rect">
            <a:avLst/>
          </a:prstGeom>
          <a:noFill/>
          <a:ln/>
        </p:spPr>
        <p:txBody>
          <a:bodyPr wrap="square" lIns="0" tIns="0" rIns="0" bIns="0" rtlCol="0" anchor="ctr"/>
          <a:lstStyle/>
          <a:p>
            <a:pPr indent="0" marL="0">
              <a:buNone/>
            </a:pPr>
            <a:r>
              <a:rPr lang="en-US" sz="1400" b="1" dirty="0">
                <a:solidFill>
                  <a:srgbClr val="1F2A44"/>
                </a:solidFill>
              </a:rPr>
              <a:t>Administrators   </a:t>
            </a:r>
            <a:pPr indent="0" marL="0">
              <a:buNone/>
            </a:pPr>
            <a:r>
              <a:rPr lang="en-US" sz="1400" dirty="0">
                <a:solidFill>
                  <a:schemeClr val="tx2"/>
                </a:solidFill>
              </a:rPr>
              <a:t>Activate roles just in time instead of holding them</a:t>
            </a:r>
            <a:endParaRPr lang="en-US" sz="1400" dirty="0"/>
          </a:p>
        </p:txBody>
      </p:sp>
      <p:sp>
        <p:nvSpPr>
          <p:cNvPr id="10" name="Moves 2" descr="">
            <a:extLst>
              <a:ext uri="{C183D7F6-B498-43B3-948B-1728B52AA6E4}">
                <adec:decorative xmlns:adec="http://schemas.microsoft.com/office/drawing/2017/decorative" val="1"/>
              </a:ext>
            </a:extLst>
          </p:cNvPr>
          <p:cNvSpPr/>
          <p:nvPr/>
        </p:nvSpPr>
        <p:spPr>
          <a:xfrm>
            <a:off x="548640" y="2889504"/>
            <a:ext cx="630936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Moves 2 text"/>
          <p:cNvSpPr txBox="1"/>
          <p:nvPr/>
        </p:nvSpPr>
        <p:spPr>
          <a:xfrm>
            <a:off x="731520" y="2889504"/>
            <a:ext cx="6035040" cy="512064"/>
          </a:xfrm>
          <a:prstGeom prst="rect">
            <a:avLst/>
          </a:prstGeom>
          <a:noFill/>
          <a:ln/>
        </p:spPr>
        <p:txBody>
          <a:bodyPr wrap="square" lIns="0" tIns="0" rIns="0" bIns="0" rtlCol="0" anchor="ctr"/>
          <a:lstStyle/>
          <a:p>
            <a:pPr indent="0" marL="0">
              <a:buNone/>
            </a:pPr>
            <a:r>
              <a:rPr lang="en-US" sz="1400" b="1" dirty="0">
                <a:solidFill>
                  <a:srgbClr val="1F2A44"/>
                </a:solidFill>
              </a:rPr>
              <a:t>Owners and HR   </a:t>
            </a:r>
            <a:pPr indent="0" marL="0">
              <a:buNone/>
            </a:pPr>
            <a:r>
              <a:rPr lang="en-US" sz="1400" dirty="0">
                <a:solidFill>
                  <a:schemeClr val="tx2"/>
                </a:solidFill>
              </a:rPr>
              <a:t>Owners approve access; HR keeps source data right</a:t>
            </a:r>
            <a:endParaRPr lang="en-US" sz="1400" dirty="0"/>
          </a:p>
        </p:txBody>
      </p:sp>
      <p:sp>
        <p:nvSpPr>
          <p:cNvPr id="12" name="Moves 3" descr="">
            <a:extLst>
              <a:ext uri="{C183D7F6-B498-43B3-948B-1728B52AA6E4}">
                <adec:decorative xmlns:adec="http://schemas.microsoft.com/office/drawing/2017/decorative" val="1"/>
              </a:ext>
            </a:extLst>
          </p:cNvPr>
          <p:cNvSpPr/>
          <p:nvPr/>
        </p:nvSpPr>
        <p:spPr>
          <a:xfrm>
            <a:off x="548640" y="3474720"/>
            <a:ext cx="6309360" cy="512064"/>
          </a:xfrm>
          <a:prstGeom prst="roundRect">
            <a:avLst>
              <a:gd name="adj" fmla="val 14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Moves 3 text"/>
          <p:cNvSpPr txBox="1"/>
          <p:nvPr/>
        </p:nvSpPr>
        <p:spPr>
          <a:xfrm>
            <a:off x="731520" y="3474720"/>
            <a:ext cx="6035040" cy="512064"/>
          </a:xfrm>
          <a:prstGeom prst="rect">
            <a:avLst/>
          </a:prstGeom>
          <a:noFill/>
          <a:ln/>
        </p:spPr>
        <p:txBody>
          <a:bodyPr wrap="square" lIns="0" tIns="0" rIns="0" bIns="0" rtlCol="0" anchor="ctr"/>
          <a:lstStyle/>
          <a:p>
            <a:pPr indent="0" marL="0">
              <a:buNone/>
            </a:pPr>
            <a:r>
              <a:rPr lang="en-US" sz="1400" b="1" dirty="0">
                <a:solidFill>
                  <a:srgbClr val="1F2A44"/>
                </a:solidFill>
              </a:rPr>
              <a:t>ISSOs   </a:t>
            </a:r>
            <a:pPr indent="0" marL="0">
              <a:buNone/>
            </a:pPr>
            <a:r>
              <a:rPr lang="en-US" sz="1400" dirty="0">
                <a:solidFill>
                  <a:schemeClr val="tx2"/>
                </a:solidFill>
              </a:rPr>
              <a:t>Assemble evidence from the systems that produce it</a:t>
            </a:r>
            <a:endParaRPr lang="en-US" sz="1400" dirty="0"/>
          </a:p>
        </p:txBody>
      </p:sp>
      <p:sp>
        <p:nvSpPr>
          <p:cNvPr id="14" name="Moves 4" descr="">
            <a:extLst>
              <a:ext uri="{C183D7F6-B498-43B3-948B-1728B52AA6E4}">
                <adec:decorative xmlns:adec="http://schemas.microsoft.com/office/drawing/2017/decorative" val="1"/>
              </a:ext>
            </a:extLst>
          </p:cNvPr>
          <p:cNvSpPr/>
          <p:nvPr/>
        </p:nvSpPr>
        <p:spPr>
          <a:xfrm>
            <a:off x="548640" y="4059936"/>
            <a:ext cx="630936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5" name="Moves 4 text"/>
          <p:cNvSpPr txBox="1"/>
          <p:nvPr/>
        </p:nvSpPr>
        <p:spPr>
          <a:xfrm>
            <a:off x="731520" y="4059936"/>
            <a:ext cx="6035040" cy="512064"/>
          </a:xfrm>
          <a:prstGeom prst="rect">
            <a:avLst/>
          </a:prstGeom>
          <a:noFill/>
          <a:ln/>
        </p:spPr>
        <p:txBody>
          <a:bodyPr wrap="square" lIns="0" tIns="0" rIns="0" bIns="0" rtlCol="0" anchor="ctr"/>
          <a:lstStyle/>
          <a:p>
            <a:pPr indent="0" marL="0">
              <a:buNone/>
            </a:pPr>
            <a:r>
              <a:rPr lang="en-US" sz="1400" b="1" dirty="0">
                <a:solidFill>
                  <a:srgbClr val="1F2A44"/>
                </a:solidFill>
              </a:rPr>
              <a:t>Every user   </a:t>
            </a:r>
            <a:pPr indent="0" marL="0">
              <a:buNone/>
            </a:pPr>
            <a:r>
              <a:rPr lang="en-US" sz="1400" dirty="0">
                <a:solidFill>
                  <a:schemeClr val="tx2"/>
                </a:solidFill>
              </a:rPr>
              <a:t>Signs in with a PIV card, Windows Hello or a passkey</a:t>
            </a:r>
            <a:endParaRPr lang="en-US" sz="1400" dirty="0"/>
          </a:p>
        </p:txBody>
      </p:sp>
      <p:sp>
        <p:nvSpPr>
          <p:cNvPr id="16" name="Patterns box" descr="">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7" name="Icon FaPeopleArrows"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1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19" name="Patterns head"/>
          <p:cNvSpPr txBox="1"/>
          <p:nvPr/>
        </p:nvSpPr>
        <p:spPr>
          <a:xfrm>
            <a:off x="8001000" y="1517904"/>
            <a:ext cx="3566160" cy="54864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Two patterns in every book</a:t>
            </a:r>
            <a:endParaRPr lang="en-US" sz="1700" dirty="0"/>
          </a:p>
        </p:txBody>
      </p:sp>
      <p:sp>
        <p:nvSpPr>
          <p:cNvPr id="20" name="Patterns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Jobs split into deciding and doing</a:t>
            </a:r>
            <a:endParaRPr lang="en-US" sz="1400" dirty="0"/>
          </a:p>
          <a:p>
            <a:pPr marL="342900" indent="-342900">
              <a:spcAft>
                <a:spcPts val="600"/>
              </a:spcAft>
              <a:buSzPct val="100000"/>
              <a:buChar char="•"/>
            </a:pPr>
            <a:r>
              <a:rPr lang="en-US" sz="1350" dirty="0">
                <a:solidFill>
                  <a:schemeClr val="tx2"/>
                </a:solidFill>
              </a:rPr>
              <a:t>So two people now need each procedure</a:t>
            </a:r>
            <a:endParaRPr lang="en-US" sz="1400" dirty="0"/>
          </a:p>
          <a:p>
            <a:pPr marL="342900" indent="-342900">
              <a:spcAft>
                <a:spcPts val="600"/>
              </a:spcAft>
              <a:buSzPct val="100000"/>
              <a:buChar char="•"/>
            </a:pPr>
            <a:r>
              <a:rPr lang="en-US" sz="1350" dirty="0">
                <a:solidFill>
                  <a:schemeClr val="tx2"/>
                </a:solidFill>
              </a:rPr>
              <a:t>Decisions move to people outside IT</a:t>
            </a:r>
            <a:endParaRPr lang="en-US" sz="1400" dirty="0"/>
          </a:p>
          <a:p>
            <a:pPr marL="342900" indent="-342900">
              <a:spcAft>
                <a:spcPts val="600"/>
              </a:spcAft>
              <a:buSzPct val="100000"/>
              <a:buChar char="•"/>
            </a:pPr>
            <a:r>
              <a:rPr lang="en-US" sz="1350" dirty="0">
                <a:solidFill>
                  <a:schemeClr val="tx2"/>
                </a:solidFill>
              </a:rPr>
              <a:t>They need short training on one decision</a:t>
            </a:r>
            <a:endParaRPr lang="en-US" sz="1400" dirty="0"/>
          </a:p>
        </p:txBody>
      </p:sp>
      <p:sp>
        <p:nvSpPr>
          <p:cNvPr id="2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2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Draft the roster of every person whose work changes, built from HR and identity records</a:t>
            </a:r>
            <a:endParaRPr lang="en-US" sz="1400" dirty="0"/>
          </a:p>
        </p:txBody>
      </p:sp>
      <p:sp>
        <p:nvSpPr>
          <p:cNvPr id="2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CHCO's office (the roster's facts)</a:t>
            </a:r>
            <a:endParaRPr lang="en-US" sz="1400" dirty="0"/>
          </a:p>
        </p:txBody>
      </p:sp>
      <p:sp>
        <p:nvSpPr>
          <p:cNvPr id="2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G0</a:t>
            </a:r>
            <a:endParaRPr lang="en-US" sz="14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16, Chapter 01 (What each book changes) and Appendix A; Chapter 08 (responsibility matrix: role rosters). Roles drawn from Books 00 to 15.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Training scheduled last is paid for twice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Twice card 1" descr="">
            <a:extLst>
              <a:ext uri="{C183D7F6-B498-43B3-948B-1728B52AA6E4}">
                <adec:decorative xmlns:adec="http://schemas.microsoft.com/office/drawing/2017/decorative" val="1"/>
              </a:ext>
            </a:extLst>
          </p:cNvPr>
          <p:cNvSpPr/>
          <p:nvPr/>
        </p:nvSpPr>
        <p:spPr>
          <a:xfrm>
            <a:off x="548640" y="1371600"/>
            <a:ext cx="3611880"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6" name="Icon FaTriangleExclamation" descr="">
            <a:extLst>
              <a:ext uri="{C183D7F6-B498-43B3-948B-1728B52AA6E4}">
                <adec:decorative xmlns:adec="http://schemas.microsoft.com/office/drawing/2017/decorative" val="1"/>
              </a:ext>
            </a:extLst>
          </p:cNvPr>
          <p:cNvSpPr/>
          <p:nvPr/>
        </p:nvSpPr>
        <p:spPr>
          <a:xfrm>
            <a:off x="749808" y="1508760"/>
            <a:ext cx="566928" cy="566928"/>
          </a:xfrm>
          <a:prstGeom prst="ellipse">
            <a:avLst/>
          </a:prstGeom>
          <a:solidFill>
            <a:srgbClr val="B91C1C"/>
          </a:solidFill>
          <a:ln w="12700">
            <a:solidFill>
              <a:srgbClr val="B91C1C"/>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5871" y="1644823"/>
            <a:ext cx="294803" cy="294803"/>
          </a:xfrm>
          <a:prstGeom prst="rect">
            <a:avLst/>
          </a:prstGeom>
        </p:spPr>
      </p:pic>
      <p:sp>
        <p:nvSpPr>
          <p:cNvPr id="8" name="Twice head 1"/>
          <p:cNvSpPr txBox="1"/>
          <p:nvPr/>
        </p:nvSpPr>
        <p:spPr>
          <a:xfrm>
            <a:off x="1463040" y="1508760"/>
            <a:ext cx="2560320" cy="566928"/>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First, at cutover</a:t>
            </a:r>
            <a:endParaRPr lang="en-US" sz="1700" dirty="0"/>
          </a:p>
        </p:txBody>
      </p:sp>
      <p:sp>
        <p:nvSpPr>
          <p:cNvPr id="9" name="Twice text 1"/>
          <p:cNvSpPr txBox="1"/>
          <p:nvPr/>
        </p:nvSpPr>
        <p:spPr>
          <a:xfrm>
            <a:off x="77724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Untrained users call the help desk</a:t>
            </a:r>
            <a:endParaRPr lang="en-US" sz="1400" dirty="0"/>
          </a:p>
          <a:p>
            <a:pPr marL="342900" indent="-342900">
              <a:spcAft>
                <a:spcPts val="600"/>
              </a:spcAft>
              <a:buSzPct val="100000"/>
              <a:buChar char="•"/>
            </a:pPr>
            <a:r>
              <a:rPr lang="en-US" sz="1300" dirty="0">
                <a:solidFill>
                  <a:schemeClr val="tx2"/>
                </a:solidFill>
              </a:rPr>
              <a:t>The desk turns callers away, or resets without the checks</a:t>
            </a:r>
            <a:endParaRPr lang="en-US" sz="1400" dirty="0"/>
          </a:p>
          <a:p>
            <a:pPr marL="342900" indent="-342900">
              <a:spcAft>
                <a:spcPts val="600"/>
              </a:spcAft>
              <a:buSzPct val="100000"/>
              <a:buChar char="•"/>
            </a:pPr>
            <a:r>
              <a:rPr lang="en-US" sz="1300" dirty="0">
                <a:solidFill>
                  <a:schemeClr val="tx2"/>
                </a:solidFill>
              </a:rPr>
              <a:t>Admins ask for standing roles “until it settles”</a:t>
            </a:r>
            <a:endParaRPr lang="en-US" sz="1400" dirty="0"/>
          </a:p>
          <a:p>
            <a:pPr marL="342900" indent="-342900">
              <a:spcAft>
                <a:spcPts val="600"/>
              </a:spcAft>
              <a:buSzPct val="100000"/>
              <a:buChar char="•"/>
            </a:pPr>
            <a:r>
              <a:rPr lang="en-US" sz="1300" dirty="0">
                <a:solidFill>
                  <a:schemeClr val="tx2"/>
                </a:solidFill>
              </a:rPr>
              <a:t>Exceptions granted under pressure stay</a:t>
            </a:r>
            <a:endParaRPr lang="en-US" sz="1400" dirty="0"/>
          </a:p>
        </p:txBody>
      </p:sp>
      <p:sp>
        <p:nvSpPr>
          <p:cNvPr id="10" name="Twice card 2" descr="">
            <a:extLst>
              <a:ext uri="{C183D7F6-B498-43B3-948B-1728B52AA6E4}">
                <adec:decorative xmlns:adec="http://schemas.microsoft.com/office/drawing/2017/decorative" val="1"/>
              </a:ext>
            </a:extLst>
          </p:cNvPr>
          <p:cNvSpPr/>
          <p:nvPr/>
        </p:nvSpPr>
        <p:spPr>
          <a:xfrm>
            <a:off x="4297680" y="1371600"/>
            <a:ext cx="361188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1" name="Icon FaArrowsRotate" descr="">
            <a:extLst>
              <a:ext uri="{C183D7F6-B498-43B3-948B-1728B52AA6E4}">
                <adec:decorative xmlns:adec="http://schemas.microsoft.com/office/drawing/2017/decorative" val="1"/>
              </a:ext>
            </a:extLst>
          </p:cNvPr>
          <p:cNvSpPr/>
          <p:nvPr/>
        </p:nvSpPr>
        <p:spPr>
          <a:xfrm>
            <a:off x="4498848" y="1508760"/>
            <a:ext cx="566928" cy="566928"/>
          </a:xfrm>
          <a:prstGeom prst="ellipse">
            <a:avLst/>
          </a:prstGeom>
          <a:solidFill>
            <a:srgbClr val="B45309"/>
          </a:solidFill>
          <a:ln w="12700">
            <a:solidFill>
              <a:srgbClr val="B45309"/>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34911" y="1644823"/>
            <a:ext cx="294803" cy="294803"/>
          </a:xfrm>
          <a:prstGeom prst="rect">
            <a:avLst/>
          </a:prstGeom>
        </p:spPr>
      </p:pic>
      <p:sp>
        <p:nvSpPr>
          <p:cNvPr id="13" name="Twice head 2"/>
          <p:cNvSpPr txBox="1"/>
          <p:nvPr/>
        </p:nvSpPr>
        <p:spPr>
          <a:xfrm>
            <a:off x="5212080" y="1508760"/>
            <a:ext cx="2560320" cy="566928"/>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Then, afterward</a:t>
            </a:r>
            <a:endParaRPr lang="en-US" sz="1700" dirty="0"/>
          </a:p>
        </p:txBody>
      </p:sp>
      <p:sp>
        <p:nvSpPr>
          <p:cNvPr id="14" name="Twice text 2"/>
          <p:cNvSpPr txBox="1"/>
          <p:nvPr/>
        </p:nvSpPr>
        <p:spPr>
          <a:xfrm>
            <a:off x="452628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Workarounds found and removed</a:t>
            </a:r>
            <a:endParaRPr lang="en-US" sz="1400" dirty="0"/>
          </a:p>
          <a:p>
            <a:pPr marL="342900" indent="-342900">
              <a:spcAft>
                <a:spcPts val="600"/>
              </a:spcAft>
              <a:buSzPct val="100000"/>
              <a:buChar char="•"/>
            </a:pPr>
            <a:r>
              <a:rPr lang="en-US" sz="1300" dirty="0">
                <a:solidFill>
                  <a:schemeClr val="tx2"/>
                </a:solidFill>
              </a:rPr>
              <a:t>People retrained; habits unlearned</a:t>
            </a:r>
            <a:endParaRPr lang="en-US" sz="1400" dirty="0"/>
          </a:p>
          <a:p>
            <a:pPr marL="342900" indent="-342900">
              <a:spcAft>
                <a:spcPts val="600"/>
              </a:spcAft>
              <a:buSzPct val="100000"/>
              <a:buChar char="•"/>
            </a:pPr>
            <a:r>
              <a:rPr lang="en-US" sz="1300" dirty="0">
                <a:solidFill>
                  <a:schemeClr val="tx2"/>
                </a:solidFill>
              </a:rPr>
              <a:t>Unlearning is slower than learning</a:t>
            </a:r>
            <a:endParaRPr lang="en-US" sz="1400" dirty="0"/>
          </a:p>
          <a:p>
            <a:pPr marL="342900" indent="-342900">
              <a:spcAft>
                <a:spcPts val="600"/>
              </a:spcAft>
              <a:buSzPct val="100000"/>
              <a:buChar char="•"/>
            </a:pPr>
            <a:r>
              <a:rPr lang="en-US" sz="1300" dirty="0">
                <a:solidFill>
                  <a:schemeClr val="tx2"/>
                </a:solidFill>
              </a:rPr>
              <a:t>A gap in the training evidence to explain</a:t>
            </a:r>
            <a:endParaRPr lang="en-US" sz="1400" dirty="0"/>
          </a:p>
        </p:txBody>
      </p:sp>
      <p:sp>
        <p:nvSpPr>
          <p:cNvPr id="15" name="Twice card 3" descr="">
            <a:extLst>
              <a:ext uri="{C183D7F6-B498-43B3-948B-1728B52AA6E4}">
                <adec:decorative xmlns:adec="http://schemas.microsoft.com/office/drawing/2017/decorative" val="1"/>
              </a:ext>
            </a:extLst>
          </p:cNvPr>
          <p:cNvSpPr/>
          <p:nvPr/>
        </p:nvSpPr>
        <p:spPr>
          <a:xfrm>
            <a:off x="8046720" y="1371600"/>
            <a:ext cx="361188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6" name="Icon FaLandmark" descr="">
            <a:extLst>
              <a:ext uri="{C183D7F6-B498-43B3-948B-1728B52AA6E4}">
                <adec:decorative xmlns:adec="http://schemas.microsoft.com/office/drawing/2017/decorative" val="1"/>
              </a:ext>
            </a:extLst>
          </p:cNvPr>
          <p:cNvSpPr/>
          <p:nvPr/>
        </p:nvSpPr>
        <p:spPr>
          <a:xfrm>
            <a:off x="8247888" y="1508760"/>
            <a:ext cx="566928" cy="566928"/>
          </a:xfrm>
          <a:prstGeom prst="ellipse">
            <a:avLst/>
          </a:prstGeom>
          <a:solidFill>
            <a:srgbClr val="1F2A44"/>
          </a:solidFill>
          <a:ln w="12700">
            <a:solidFill>
              <a:srgbClr val="1F2A44"/>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83951" y="1644823"/>
            <a:ext cx="294803" cy="294803"/>
          </a:xfrm>
          <a:prstGeom prst="rect">
            <a:avLst/>
          </a:prstGeom>
        </p:spPr>
      </p:pic>
      <p:sp>
        <p:nvSpPr>
          <p:cNvPr id="18" name="Twice head 3"/>
          <p:cNvSpPr txBox="1"/>
          <p:nvPr/>
        </p:nvSpPr>
        <p:spPr>
          <a:xfrm>
            <a:off x="8961120" y="1508760"/>
            <a:ext cx="2560320" cy="566928"/>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The rules say before</a:t>
            </a:r>
            <a:endParaRPr lang="en-US" sz="1700" dirty="0"/>
          </a:p>
        </p:txBody>
      </p:sp>
      <p:sp>
        <p:nvSpPr>
          <p:cNvPr id="19" name="Twice text 3"/>
          <p:cNvSpPr txBox="1"/>
          <p:nvPr/>
        </p:nvSpPr>
        <p:spPr>
          <a:xfrm>
            <a:off x="827532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5 CFR 930.301: train on significant change</a:t>
            </a:r>
            <a:endParaRPr lang="en-US" sz="1400" dirty="0"/>
          </a:p>
          <a:p>
            <a:pPr marL="342900" indent="-342900">
              <a:spcAft>
                <a:spcPts val="600"/>
              </a:spcAft>
              <a:buSzPct val="100000"/>
              <a:buChar char="•"/>
            </a:pPr>
            <a:r>
              <a:rPr lang="en-US" sz="1300" dirty="0">
                <a:solidFill>
                  <a:schemeClr val="tx2"/>
                </a:solidFill>
              </a:rPr>
              <a:t>AT-2 and AT-3: when system changes require</a:t>
            </a:r>
            <a:endParaRPr lang="en-US" sz="1400" dirty="0"/>
          </a:p>
          <a:p>
            <a:pPr marL="342900" indent="-342900">
              <a:spcAft>
                <a:spcPts val="600"/>
              </a:spcAft>
              <a:buSzPct val="100000"/>
              <a:buChar char="•"/>
            </a:pPr>
            <a:r>
              <a:rPr lang="en-US" sz="1300" dirty="0">
                <a:solidFill>
                  <a:schemeClr val="tx2"/>
                </a:solidFill>
              </a:rPr>
              <a:t>A-130: role training before access</a:t>
            </a:r>
            <a:endParaRPr lang="en-US" sz="1400" dirty="0"/>
          </a:p>
          <a:p>
            <a:pPr marL="342900" indent="-342900">
              <a:spcAft>
                <a:spcPts val="600"/>
              </a:spcAft>
              <a:buSzPct val="100000"/>
              <a:buChar char="•"/>
            </a:pPr>
            <a:r>
              <a:rPr lang="en-US" sz="1300" dirty="0">
                <a:solidFill>
                  <a:schemeClr val="tx2"/>
                </a:solidFill>
              </a:rPr>
              <a:t>IR-2 and CP-3: the same trigger</a:t>
            </a:r>
            <a:endParaRPr lang="en-US" sz="1400" dirty="0"/>
          </a:p>
        </p:txBody>
      </p:sp>
      <p:sp>
        <p:nvSpPr>
          <p:cNvPr id="20"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1"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03427" y="5228539"/>
            <a:ext cx="332842" cy="332842"/>
          </a:xfrm>
          <a:prstGeom prst="rect">
            <a:avLst/>
          </a:prstGeom>
        </p:spPr>
      </p:pic>
      <p:sp>
        <p:nvSpPr>
          <p:cNvPr id="23"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Fund the learning program from a named budget, as part of the modernization</a:t>
            </a:r>
            <a:endParaRPr lang="en-US" sz="1400" dirty="0"/>
          </a:p>
        </p:txBody>
      </p:sp>
      <p:sp>
        <p:nvSpPr>
          <p:cNvPr id="24"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Sponsor and CIO</a:t>
            </a:r>
            <a:endParaRPr lang="en-US" sz="1400" dirty="0"/>
          </a:p>
        </p:txBody>
      </p:sp>
      <p:sp>
        <p:nvSpPr>
          <p:cNvPr id="25"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G0</a:t>
            </a:r>
            <a:endParaRPr lang="en-US" sz="140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5 CFR 930.301; NIST SP 800-53 Rev. 5 (AT-2, AT-3, IR-2, CP-3); OMB Circular A-130, Appendix I; NIST SP 800-50 Rev. 1. Book 16, Chapters 01 and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federal workforce rules actually require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2148840"/>
                <a:gridCol w="416052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asks for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5720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FISMA (2014)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Trained personnel sufficient to comply; awareness for all, contractors included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Workforce Assessment Act (2015)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Identify every position doing cyber work, and code 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OMB A-130 (2016)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CHCO and CIO set competency requirements; workforce planning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5 CFR 930.301 (2004)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Awareness before access and yearly; training on significant change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OPM coding (2017, 2022)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Three-digit codes on position descriptions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NICE, SP 800-181 Rev. 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vocabulary: 42 work roles in v2.2.0 (guidance)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Not box" descr="">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Filter"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91C1C"/>
          </a:solidFill>
          <a:ln w="12700">
            <a:solidFill>
              <a:srgbClr val="B91C1C"/>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9" name="Not head"/>
          <p:cNvSpPr txBox="1"/>
          <p:nvPr/>
        </p:nvSpPr>
        <p:spPr>
          <a:xfrm>
            <a:off x="8001000" y="1517904"/>
            <a:ext cx="3566160" cy="548640"/>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What they don't require</a:t>
            </a:r>
            <a:endParaRPr lang="en-US" sz="1700" dirty="0"/>
          </a:p>
        </p:txBody>
      </p:sp>
      <p:sp>
        <p:nvSpPr>
          <p:cNvPr id="10" name="Not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No civilian rule requires a certification</a:t>
            </a:r>
            <a:endParaRPr lang="en-US" sz="1400" dirty="0"/>
          </a:p>
          <a:p>
            <a:pPr marL="342900" indent="-342900">
              <a:spcAft>
                <a:spcPts val="600"/>
              </a:spcAft>
              <a:buSzPct val="100000"/>
              <a:buChar char="•"/>
            </a:pPr>
            <a:r>
              <a:rPr lang="en-US" sz="1350" dirty="0">
                <a:solidFill>
                  <a:schemeClr val="tx2"/>
                </a:solidFill>
              </a:rPr>
              <a:t>The only “annual” is the awareness floor</a:t>
            </a:r>
            <a:endParaRPr lang="en-US" sz="1400" dirty="0"/>
          </a:p>
          <a:p>
            <a:pPr marL="342900" indent="-342900">
              <a:spcAft>
                <a:spcPts val="600"/>
              </a:spcAft>
              <a:buSzPct val="100000"/>
              <a:buChar char="•"/>
            </a:pPr>
            <a:r>
              <a:rPr lang="en-US" sz="1350" dirty="0">
                <a:solidFill>
                  <a:schemeClr val="tx2"/>
                </a:solidFill>
              </a:rPr>
              <a:t>NICE is guidance; coding positions is the mandate</a:t>
            </a:r>
            <a:endParaRPr lang="en-US" sz="1400" dirty="0"/>
          </a:p>
          <a:p>
            <a:pPr marL="342900" indent="-342900">
              <a:spcAft>
                <a:spcPts val="600"/>
              </a:spcAft>
              <a:buSzPct val="100000"/>
              <a:buChar char="•"/>
            </a:pPr>
            <a:r>
              <a:rPr lang="en-US" sz="1350" dirty="0">
                <a:solidFill>
                  <a:schemeClr val="tx2"/>
                </a:solidFill>
              </a:rPr>
              <a:t>DoD 8140 doesn't apply to civilian agencies</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Set competency requirements jointly, and feed the program's new roles into the workforce plan</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CHCO with the CIO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As roles change (design)</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44 U.S.C. § 3554; Pub. L. 114-113, Div. N, Title III; OMB A-130 § 5.c; 5 CFR 930.301; OPM coding memos; NIST SP 800-181 Rev. 1, NICE v2.2.0. Book 16, Ch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Coded positions are the cleanest roster source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A top-to-bottom chain of four cards, with two items beside it. First, a slate card: the position description, classified by HR with the CIO's staff, carrying up to three three-digit OPM codes, or 000 for none. Second, a blue card: the NICE work role the code aligns to, for example Systems Administration, IO-WRL-005, code 451. Third, a blue card: the work role's tasks, knowledge and skill statements from the NICE Framework Components, version 2.2.0. Fourth, a green card: the training track that teaches them, Chapters 03 to 07. Beside the chain, a violet card, the role roster, built from coded positions, eligible-role assignments and the system inventory, saying who is due and when; a dashed arrow reaches it from the position description and a violet arrow leads from it to the training track. An amber note under the roster says that a code that disagrees with a role assignment is a finding for HR and the CIO's office.">    </p:cNvPr>
          <p:cNvPicPr>
            <a:picLocks noChangeAspect="1"/>
          </p:cNvPicPr>
          <p:nvPr/>
        </p:nvPicPr>
        <p:blipFill>
          <a:blip r:embed="rId1"/>
          <a:stretch>
            <a:fillRect/>
          </a:stretch>
        </p:blipFill>
        <p:spPr>
          <a:xfrm>
            <a:off x="548640" y="1371600"/>
            <a:ext cx="5760720" cy="3174451"/>
          </a:xfrm>
          <a:prstGeom prst="rect">
            <a:avLst/>
          </a:prstGeom>
        </p:spPr>
      </p:pic>
      <p:sp>
        <p:nvSpPr>
          <p:cNvPr id="6" name="GAO box" descr="">
            <a:extLst>
              <a:ext uri="{C183D7F6-B498-43B3-948B-1728B52AA6E4}">
                <adec:decorative xmlns:adec="http://schemas.microsoft.com/office/drawing/2017/decorative" val="1"/>
              </a:ext>
            </a:extLst>
          </p:cNvPr>
          <p:cNvSpPr/>
          <p:nvPr/>
        </p:nvSpPr>
        <p:spPr>
          <a:xfrm>
            <a:off x="6492240" y="1371600"/>
            <a:ext cx="516636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Hashtag" descr="">
            <a:extLst>
              <a:ext uri="{C183D7F6-B498-43B3-948B-1728B52AA6E4}">
                <adec:decorative xmlns:adec="http://schemas.microsoft.com/office/drawing/2017/decorative" val="1"/>
              </a:ext>
            </a:extLst>
          </p:cNvPr>
          <p:cNvSpPr/>
          <p:nvPr/>
        </p:nvSpPr>
        <p:spPr>
          <a:xfrm>
            <a:off x="6720840" y="1517904"/>
            <a:ext cx="548640" cy="548640"/>
          </a:xfrm>
          <a:prstGeom prst="ellipse">
            <a:avLst/>
          </a:prstGeom>
          <a:solidFill>
            <a:srgbClr val="B45309"/>
          </a:solidFill>
          <a:ln w="12700">
            <a:solidFill>
              <a:srgbClr val="B45309"/>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852514" y="1649578"/>
            <a:ext cx="285293" cy="285293"/>
          </a:xfrm>
          <a:prstGeom prst="rect">
            <a:avLst/>
          </a:prstGeom>
        </p:spPr>
      </p:pic>
      <p:sp>
        <p:nvSpPr>
          <p:cNvPr id="9" name="GAO head"/>
          <p:cNvSpPr txBox="1"/>
          <p:nvPr/>
        </p:nvSpPr>
        <p:spPr>
          <a:xfrm>
            <a:off x="7406640" y="1517904"/>
            <a:ext cx="4160520" cy="548640"/>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Codes have to be kept true</a:t>
            </a:r>
            <a:endParaRPr lang="en-US" sz="1700" dirty="0"/>
          </a:p>
        </p:txBody>
      </p:sp>
      <p:sp>
        <p:nvSpPr>
          <p:cNvPr id="10" name="GAO list"/>
          <p:cNvSpPr txBox="1"/>
          <p:nvPr/>
        </p:nvSpPr>
        <p:spPr>
          <a:xfrm>
            <a:off x="6720840" y="2194560"/>
            <a:ext cx="48006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GAO, 2019: 22 of 24 agencies gave 15,779 IT positions a non-IT code, about 19%</a:t>
            </a:r>
            <a:endParaRPr lang="en-US" sz="1400" dirty="0"/>
          </a:p>
          <a:p>
            <a:pPr marL="342900" indent="-342900">
              <a:spcAft>
                <a:spcPts val="600"/>
              </a:spcAft>
              <a:buSzPct val="100000"/>
              <a:buChar char="•"/>
            </a:pPr>
            <a:r>
              <a:rPr lang="en-US" sz="1350" dirty="0">
                <a:solidFill>
                  <a:schemeClr val="tx2"/>
                </a:solidFill>
              </a:rPr>
              <a:t>Codes didn't match duties for 63 of 120 sampled positions</a:t>
            </a:r>
            <a:endParaRPr lang="en-US" sz="1400" dirty="0"/>
          </a:p>
          <a:p>
            <a:pPr marL="342900" indent="-342900">
              <a:spcAft>
                <a:spcPts val="600"/>
              </a:spcAft>
              <a:buSzPct val="100000"/>
              <a:buChar char="•"/>
            </a:pPr>
            <a:r>
              <a:rPr lang="en-US" sz="1350" dirty="0">
                <a:solidFill>
                  <a:schemeClr val="tx2"/>
                </a:solidFill>
              </a:rPr>
              <a:t>Three new NICE roles have no OPM code yet</a:t>
            </a:r>
            <a:endParaRPr lang="en-US" sz="1400" dirty="0"/>
          </a:p>
          <a:p>
            <a:pPr marL="342900" indent="-342900">
              <a:spcAft>
                <a:spcPts val="600"/>
              </a:spcAft>
              <a:buSzPct val="100000"/>
              <a:buChar char="•"/>
            </a:pPr>
            <a:r>
              <a:rPr lang="en-US" sz="1350" dirty="0">
                <a:solidFill>
                  <a:schemeClr val="tx2"/>
                </a:solidFill>
              </a:rPr>
              <a:t>A code that disagrees with a role is a finding</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Review the affected position descriptions and their codes as each workstream reaches its gate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HR classification with the CIO's office</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Each workstream's gate (design)</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OPM coding guidance (January 4, 2017; April 11, 2022); GAO-19-144 (March 12, 2019); NICE Framework Components v2.2.0. Book 16, Chapter 02. Uses of the code are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Education first, then a track for every role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Tracks head"/>
          <p:cNvSpPr txBox="1"/>
          <p:nvPr/>
        </p:nvSpPr>
        <p:spPr>
          <a:xfrm>
            <a:off x="548640" y="1371600"/>
            <a:ext cx="6309360" cy="274320"/>
          </a:xfrm>
          <a:prstGeom prst="rect">
            <a:avLst/>
          </a:prstGeom>
          <a:noFill/>
          <a:ln/>
        </p:spPr>
        <p:txBody>
          <a:bodyPr wrap="square" lIns="0" tIns="0" rIns="0" bIns="0" rtlCol="0" anchor="t"/>
          <a:lstStyle/>
          <a:p>
            <a:pPr indent="0" marL="0">
              <a:buNone/>
            </a:pPr>
            <a:r>
              <a:rPr lang="en-US" sz="1200" b="1" dirty="0">
                <a:solidFill>
                  <a:srgbClr val="64748B"/>
                </a:solidFill>
              </a:rPr>
              <a:t>EDUCATION BUILDS THE MODEL; TRAINING TEACHES THE JOB</a:t>
            </a:r>
            <a:endParaRPr lang="en-US" sz="1200" dirty="0"/>
          </a:p>
        </p:txBody>
      </p:sp>
      <p:sp>
        <p:nvSpPr>
          <p:cNvPr id="6" name="Tracks 0" descr="">
            <a:extLst>
              <a:ext uri="{C183D7F6-B498-43B3-948B-1728B52AA6E4}">
                <adec:decorative xmlns:adec="http://schemas.microsoft.com/office/drawing/2017/decorative" val="1"/>
              </a:ext>
            </a:extLst>
          </p:cNvPr>
          <p:cNvSpPr/>
          <p:nvPr/>
        </p:nvSpPr>
        <p:spPr>
          <a:xfrm>
            <a:off x="548640" y="1719072"/>
            <a:ext cx="630936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Tracks 0 text"/>
          <p:cNvSpPr txBox="1"/>
          <p:nvPr/>
        </p:nvSpPr>
        <p:spPr>
          <a:xfrm>
            <a:off x="731520" y="1719072"/>
            <a:ext cx="6035040" cy="512064"/>
          </a:xfrm>
          <a:prstGeom prst="rect">
            <a:avLst/>
          </a:prstGeom>
          <a:noFill/>
          <a:ln/>
        </p:spPr>
        <p:txBody>
          <a:bodyPr wrap="square" lIns="0" tIns="0" rIns="0" bIns="0" rtlCol="0" anchor="ctr"/>
          <a:lstStyle/>
          <a:p>
            <a:pPr indent="0" marL="0">
              <a:buNone/>
            </a:pPr>
            <a:r>
              <a:rPr lang="en-US" sz="1400" b="1" dirty="0">
                <a:solidFill>
                  <a:srgbClr val="1F2A44"/>
                </a:solidFill>
              </a:rPr>
              <a:t>Education   </a:t>
            </a:r>
            <a:pPr indent="0" marL="0">
              <a:buNone/>
            </a:pPr>
            <a:r>
              <a:rPr lang="en-US" sz="1400" dirty="0">
                <a:solidFill>
                  <a:schemeClr val="tx2"/>
                </a:solidFill>
              </a:rPr>
              <a:t>Six ideas before any tool, starting with governance and identity</a:t>
            </a:r>
            <a:endParaRPr lang="en-US" sz="1400" dirty="0"/>
          </a:p>
        </p:txBody>
      </p:sp>
      <p:sp>
        <p:nvSpPr>
          <p:cNvPr id="8" name="Tracks 1" descr="">
            <a:extLst>
              <a:ext uri="{C183D7F6-B498-43B3-948B-1728B52AA6E4}">
                <adec:decorative xmlns:adec="http://schemas.microsoft.com/office/drawing/2017/decorative" val="1"/>
              </a:ext>
            </a:extLst>
          </p:cNvPr>
          <p:cNvSpPr/>
          <p:nvPr/>
        </p:nvSpPr>
        <p:spPr>
          <a:xfrm>
            <a:off x="548640" y="2304288"/>
            <a:ext cx="6309360" cy="512064"/>
          </a:xfrm>
          <a:prstGeom prst="roundRect">
            <a:avLst>
              <a:gd name="adj" fmla="val 14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Tracks 1 text"/>
          <p:cNvSpPr txBox="1"/>
          <p:nvPr/>
        </p:nvSpPr>
        <p:spPr>
          <a:xfrm>
            <a:off x="731520" y="2304288"/>
            <a:ext cx="6035040" cy="512064"/>
          </a:xfrm>
          <a:prstGeom prst="rect">
            <a:avLst/>
          </a:prstGeom>
          <a:noFill/>
          <a:ln/>
        </p:spPr>
        <p:txBody>
          <a:bodyPr wrap="square" lIns="0" tIns="0" rIns="0" bIns="0" rtlCol="0" anchor="ctr"/>
          <a:lstStyle/>
          <a:p>
            <a:pPr indent="0" marL="0">
              <a:buNone/>
            </a:pPr>
            <a:r>
              <a:rPr lang="en-US" sz="1400" b="1" dirty="0">
                <a:solidFill>
                  <a:srgbClr val="1F2A44"/>
                </a:solidFill>
              </a:rPr>
              <a:t>Compliance   </a:t>
            </a:r>
            <a:pPr indent="0" marL="0">
              <a:buNone/>
            </a:pPr>
            <a:r>
              <a:rPr lang="en-US" sz="1400" dirty="0">
                <a:solidFill>
                  <a:schemeClr val="tx2"/>
                </a:solidFill>
              </a:rPr>
              <a:t>ISSOs, assessors, AOs: trace a control to its record</a:t>
            </a:r>
            <a:endParaRPr lang="en-US" sz="1400" dirty="0"/>
          </a:p>
        </p:txBody>
      </p:sp>
      <p:sp>
        <p:nvSpPr>
          <p:cNvPr id="10" name="Tracks 2" descr="">
            <a:extLst>
              <a:ext uri="{C183D7F6-B498-43B3-948B-1728B52AA6E4}">
                <adec:decorative xmlns:adec="http://schemas.microsoft.com/office/drawing/2017/decorative" val="1"/>
              </a:ext>
            </a:extLst>
          </p:cNvPr>
          <p:cNvSpPr/>
          <p:nvPr/>
        </p:nvSpPr>
        <p:spPr>
          <a:xfrm>
            <a:off x="548640" y="2889504"/>
            <a:ext cx="630936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Tracks 2 text"/>
          <p:cNvSpPr txBox="1"/>
          <p:nvPr/>
        </p:nvSpPr>
        <p:spPr>
          <a:xfrm>
            <a:off x="731520" y="2889504"/>
            <a:ext cx="6035040" cy="512064"/>
          </a:xfrm>
          <a:prstGeom prst="rect">
            <a:avLst/>
          </a:prstGeom>
          <a:noFill/>
          <a:ln/>
        </p:spPr>
        <p:txBody>
          <a:bodyPr wrap="square" lIns="0" tIns="0" rIns="0" bIns="0" rtlCol="0" anchor="ctr"/>
          <a:lstStyle/>
          <a:p>
            <a:pPr indent="0" marL="0">
              <a:buNone/>
            </a:pPr>
            <a:r>
              <a:rPr lang="en-US" sz="1400" b="1" dirty="0">
                <a:solidFill>
                  <a:srgbClr val="1F2A44"/>
                </a:solidFill>
              </a:rPr>
              <a:t>Implementation   </a:t>
            </a:r>
            <a:pPr indent="0" marL="0">
              <a:buNone/>
            </a:pPr>
            <a:r>
              <a:rPr lang="en-US" sz="1400" dirty="0">
                <a:solidFill>
                  <a:schemeClr val="tx2"/>
                </a:solidFill>
              </a:rPr>
              <a:t>Engineers: build it, then land its evidence</a:t>
            </a:r>
            <a:endParaRPr lang="en-US" sz="1400" dirty="0"/>
          </a:p>
        </p:txBody>
      </p:sp>
      <p:sp>
        <p:nvSpPr>
          <p:cNvPr id="12" name="Tracks 3" descr="">
            <a:extLst>
              <a:ext uri="{C183D7F6-B498-43B3-948B-1728B52AA6E4}">
                <adec:decorative xmlns:adec="http://schemas.microsoft.com/office/drawing/2017/decorative" val="1"/>
              </a:ext>
            </a:extLst>
          </p:cNvPr>
          <p:cNvSpPr/>
          <p:nvPr/>
        </p:nvSpPr>
        <p:spPr>
          <a:xfrm>
            <a:off x="548640" y="3474720"/>
            <a:ext cx="6309360" cy="512064"/>
          </a:xfrm>
          <a:prstGeom prst="roundRect">
            <a:avLst>
              <a:gd name="adj" fmla="val 14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Tracks 3 text"/>
          <p:cNvSpPr txBox="1"/>
          <p:nvPr/>
        </p:nvSpPr>
        <p:spPr>
          <a:xfrm>
            <a:off x="731520" y="3474720"/>
            <a:ext cx="6035040" cy="512064"/>
          </a:xfrm>
          <a:prstGeom prst="rect">
            <a:avLst/>
          </a:prstGeom>
          <a:noFill/>
          <a:ln/>
        </p:spPr>
        <p:txBody>
          <a:bodyPr wrap="square" lIns="0" tIns="0" rIns="0" bIns="0" rtlCol="0" anchor="ctr"/>
          <a:lstStyle/>
          <a:p>
            <a:pPr indent="0" marL="0">
              <a:buNone/>
            </a:pPr>
            <a:r>
              <a:rPr lang="en-US" sz="1400" b="1" dirty="0">
                <a:solidFill>
                  <a:srgbClr val="1F2A44"/>
                </a:solidFill>
              </a:rPr>
              <a:t>Vendor and labs   </a:t>
            </a:r>
            <a:pPr indent="0" marL="0">
              <a:buNone/>
            </a:pPr>
            <a:r>
              <a:rPr lang="en-US" sz="1400" dirty="0">
                <a:solidFill>
                  <a:schemeClr val="tx2"/>
                </a:solidFill>
              </a:rPr>
              <a:t>Product skill, practiced away from production</a:t>
            </a:r>
            <a:endParaRPr lang="en-US" sz="1400" dirty="0"/>
          </a:p>
        </p:txBody>
      </p:sp>
      <p:sp>
        <p:nvSpPr>
          <p:cNvPr id="14" name="Tracks 4" descr="">
            <a:extLst>
              <a:ext uri="{C183D7F6-B498-43B3-948B-1728B52AA6E4}">
                <adec:decorative xmlns:adec="http://schemas.microsoft.com/office/drawing/2017/decorative" val="1"/>
              </a:ext>
            </a:extLst>
          </p:cNvPr>
          <p:cNvSpPr/>
          <p:nvPr/>
        </p:nvSpPr>
        <p:spPr>
          <a:xfrm>
            <a:off x="548640" y="4059936"/>
            <a:ext cx="6309360" cy="512064"/>
          </a:xfrm>
          <a:prstGeom prst="roundRect">
            <a:avLst>
              <a:gd name="adj" fmla="val 1428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5" name="Tracks 4 text"/>
          <p:cNvSpPr txBox="1"/>
          <p:nvPr/>
        </p:nvSpPr>
        <p:spPr>
          <a:xfrm>
            <a:off x="731520" y="4059936"/>
            <a:ext cx="6035040" cy="512064"/>
          </a:xfrm>
          <a:prstGeom prst="rect">
            <a:avLst/>
          </a:prstGeom>
          <a:noFill/>
          <a:ln/>
        </p:spPr>
        <p:txBody>
          <a:bodyPr wrap="square" lIns="0" tIns="0" rIns="0" bIns="0" rtlCol="0" anchor="ctr"/>
          <a:lstStyle/>
          <a:p>
            <a:pPr indent="0" marL="0">
              <a:buNone/>
            </a:pPr>
            <a:r>
              <a:rPr lang="en-US" sz="1400" b="1" dirty="0">
                <a:solidFill>
                  <a:srgbClr val="1F2A44"/>
                </a:solidFill>
              </a:rPr>
              <a:t>End users   </a:t>
            </a:r>
            <a:pPr indent="0" marL="0">
              <a:buNone/>
            </a:pPr>
            <a:r>
              <a:rPr lang="en-US" sz="1400" dirty="0">
                <a:solidFill>
                  <a:schemeClr val="tx2"/>
                </a:solidFill>
              </a:rPr>
              <a:t>Six short modules, timed to each wave</a:t>
            </a:r>
            <a:endParaRPr lang="en-US" sz="1400" dirty="0"/>
          </a:p>
        </p:txBody>
      </p:sp>
      <p:pic>
        <p:nvPicPr>
          <p:cNvPr id="16" name="Image 0" descr="A top-to-bottom flow. At the top, a slate card: Module 0, orientation, the Risk Management Framework, who owes which proof, the Moderate baseline and FedRAMP classes, the federal clock, taught by Book 14 Chapters 01 to 03 and Book 10 Chapter 03. It leads to a blue group of eight cards labeled evidence-area modules, in two rows: Module 1 identity, Module 2 addressing and inventory, Module 3 network, Module 4 telemetry, Module 5 endpoint, Module 6 configuration, change and supply chain, Module 7 continuity, Module 8 training. A note says each one is taught by Books 12, 13 and 14 and built by the book named in the module. The group leads to a violet card: Module 9, the package, the POA&amp;M and continuous monitoring, taught by Book 14 Chapter 11, Book 10 Chapter 11, Book 13 Chapters 07 and 11 and Book 12 Chapter 12. That leads to a green card: the capstone, a continuous-monitoring narrative for one system, scored in Chapter 05.">    </p:cNvPr>
          <p:cNvPicPr>
            <a:picLocks noChangeAspect="1"/>
          </p:cNvPicPr>
          <p:nvPr/>
        </p:nvPicPr>
        <p:blipFill>
          <a:blip r:embed="rId1"/>
          <a:stretch>
            <a:fillRect/>
          </a:stretch>
        </p:blipFill>
        <p:spPr>
          <a:xfrm>
            <a:off x="7135384" y="1371600"/>
            <a:ext cx="4428713" cy="3291840"/>
          </a:xfrm>
          <a:prstGeom prst="rect">
            <a:avLst/>
          </a:prstGeom>
        </p:spPr>
      </p:pic>
      <p:sp>
        <p:nvSpPr>
          <p:cNvPr id="17"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8"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9"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20"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Approve a training plan that names an owner for every track</a:t>
            </a:r>
            <a:endParaRPr lang="en-US" sz="1400" dirty="0"/>
          </a:p>
        </p:txBody>
      </p:sp>
      <p:sp>
        <p:nvSpPr>
          <p:cNvPr id="21"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CHCO's office (training plans)</a:t>
            </a:r>
            <a:endParaRPr lang="en-US" sz="1400" dirty="0"/>
          </a:p>
        </p:txBody>
      </p:sp>
      <p:sp>
        <p:nvSpPr>
          <p:cNvPr id="22"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By G0</a:t>
            </a:r>
            <a:endParaRPr lang="en-US" sz="1400" dirty="0"/>
          </a:p>
        </p:txBody>
      </p:sp>
      <p:sp>
        <p:nvSpPr>
          <p:cNvPr id="2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16, Chapters 01, 03 and 09; Chapter 08 (responsibility matrix); 5 CFR 410.201. The six ideas, the formats and the tracks are program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Engineers: a build is done when its evidence lands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 top-to-bottom chain of six cards. First, slate, tagged Chapter 06: lab environment, a fixture, trial tenant or product evaluation, never production. Second, amber: keep a way back in, emergency access accounts and rollback points before anything enforces. Third, amber: observe first, with report-only for Conditional Access, monitor mode for 802.1X and shadow mode for provisioning. Fourth, blue: fix what the baseline shows, then enforce. Fifth, violet: export the record, machine-readable, into the evidence contract from Book 12 Chapter 02. Sixth, green: done, when the paired compliance module's check reads the learner's own record. A dashed arrow from observe first to export the record is labeled the readiness report is evidence too.">    </p:cNvPr>
          <p:cNvPicPr>
            <a:picLocks noChangeAspect="1"/>
          </p:cNvPicPr>
          <p:nvPr/>
        </p:nvPicPr>
        <p:blipFill>
          <a:blip r:embed="rId1"/>
          <a:stretch>
            <a:fillRect/>
          </a:stretch>
        </p:blipFill>
        <p:spPr>
          <a:xfrm>
            <a:off x="624164" y="1371600"/>
            <a:ext cx="2775032" cy="3291840"/>
          </a:xfrm>
          <a:prstGeom prst="rect">
            <a:avLst/>
          </a:prstGeom>
        </p:spPr>
      </p:pic>
      <p:sp>
        <p:nvSpPr>
          <p:cNvPr id="6" name="Habits box" descr="">
            <a:extLst>
              <a:ext uri="{C183D7F6-B498-43B3-948B-1728B52AA6E4}">
                <adec:decorative xmlns:adec="http://schemas.microsoft.com/office/drawing/2017/decorative" val="1"/>
              </a:ext>
            </a:extLst>
          </p:cNvPr>
          <p:cNvSpPr/>
          <p:nvPr/>
        </p:nvSpPr>
        <p:spPr>
          <a:xfrm>
            <a:off x="3703320" y="1371600"/>
            <a:ext cx="388620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ListCheck" descr="">
            <a:extLst>
              <a:ext uri="{C183D7F6-B498-43B3-948B-1728B52AA6E4}">
                <adec:decorative xmlns:adec="http://schemas.microsoft.com/office/drawing/2017/decorative" val="1"/>
              </a:ext>
            </a:extLst>
          </p:cNvPr>
          <p:cNvSpPr/>
          <p:nvPr/>
        </p:nvSpPr>
        <p:spPr>
          <a:xfrm>
            <a:off x="3931920" y="1517904"/>
            <a:ext cx="548640" cy="548640"/>
          </a:xfrm>
          <a:prstGeom prst="ellipse">
            <a:avLst/>
          </a:prstGeom>
          <a:solidFill>
            <a:srgbClr val="B45309"/>
          </a:solidFill>
          <a:ln w="12700">
            <a:solidFill>
              <a:srgbClr val="B45309"/>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063594" y="1649578"/>
            <a:ext cx="285293" cy="285293"/>
          </a:xfrm>
          <a:prstGeom prst="rect">
            <a:avLst/>
          </a:prstGeom>
        </p:spPr>
      </p:pic>
      <p:sp>
        <p:nvSpPr>
          <p:cNvPr id="9" name="Habits head"/>
          <p:cNvSpPr txBox="1"/>
          <p:nvPr/>
        </p:nvSpPr>
        <p:spPr>
          <a:xfrm>
            <a:off x="4617720" y="1517904"/>
            <a:ext cx="2880360" cy="548640"/>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Three habits in every lab</a:t>
            </a:r>
            <a:endParaRPr lang="en-US" sz="1700" dirty="0"/>
          </a:p>
        </p:txBody>
      </p:sp>
      <p:sp>
        <p:nvSpPr>
          <p:cNvPr id="10" name="Habits list"/>
          <p:cNvSpPr txBox="1"/>
          <p:nvPr/>
        </p:nvSpPr>
        <p:spPr>
          <a:xfrm>
            <a:off x="3931920" y="2194560"/>
            <a:ext cx="35204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Observe first: report-only, monitor and shadow modes</a:t>
            </a:r>
            <a:endParaRPr lang="en-US" sz="1400" dirty="0"/>
          </a:p>
          <a:p>
            <a:pPr marL="342900" indent="-342900">
              <a:spcAft>
                <a:spcPts val="600"/>
              </a:spcAft>
              <a:buSzPct val="100000"/>
              <a:buChar char="•"/>
            </a:pPr>
            <a:r>
              <a:rPr lang="en-US" sz="1350" dirty="0">
                <a:solidFill>
                  <a:schemeClr val="tx2"/>
                </a:solidFill>
              </a:rPr>
              <a:t>Keep a way back in: emergency accounts first</a:t>
            </a:r>
            <a:endParaRPr lang="en-US" sz="1400" dirty="0"/>
          </a:p>
          <a:p>
            <a:pPr marL="342900" indent="-342900">
              <a:spcAft>
                <a:spcPts val="600"/>
              </a:spcAft>
              <a:buSzPct val="100000"/>
              <a:buChar char="•"/>
            </a:pPr>
            <a:r>
              <a:rPr lang="en-US" sz="1350" dirty="0">
                <a:solidFill>
                  <a:schemeClr val="tx2"/>
                </a:solidFill>
              </a:rPr>
              <a:t>Export the record, never a screenshot</a:t>
            </a:r>
            <a:endParaRPr lang="en-US" sz="1400" dirty="0"/>
          </a:p>
        </p:txBody>
      </p:sp>
      <p:sp>
        <p:nvSpPr>
          <p:cNvPr id="11" name="Pair box" descr="">
            <a:extLst>
              <a:ext uri="{C183D7F6-B498-43B3-948B-1728B52AA6E4}">
                <adec:decorative xmlns:adec="http://schemas.microsoft.com/office/drawing/2017/decorative" val="1"/>
              </a:ext>
            </a:extLst>
          </p:cNvPr>
          <p:cNvSpPr/>
          <p:nvPr/>
        </p:nvSpPr>
        <p:spPr>
          <a:xfrm>
            <a:off x="7772400" y="1371600"/>
            <a:ext cx="388620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2" name="Icon FaPeopleArrows" descr="">
            <a:extLst>
              <a:ext uri="{C183D7F6-B498-43B3-948B-1728B52AA6E4}">
                <adec:decorative xmlns:adec="http://schemas.microsoft.com/office/drawing/2017/decorative" val="1"/>
              </a:ext>
            </a:extLst>
          </p:cNvPr>
          <p:cNvSpPr/>
          <p:nvPr/>
        </p:nvSpPr>
        <p:spPr>
          <a:xfrm>
            <a:off x="8001000" y="1517904"/>
            <a:ext cx="548640" cy="548640"/>
          </a:xfrm>
          <a:prstGeom prst="ellipse">
            <a:avLst/>
          </a:prstGeom>
          <a:solidFill>
            <a:srgbClr val="0F766E"/>
          </a:solidFill>
          <a:ln w="12700">
            <a:solidFill>
              <a:srgbClr val="0F766E"/>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132674" y="1649578"/>
            <a:ext cx="285293" cy="285293"/>
          </a:xfrm>
          <a:prstGeom prst="rect">
            <a:avLst/>
          </a:prstGeom>
        </p:spPr>
      </p:pic>
      <p:sp>
        <p:nvSpPr>
          <p:cNvPr id="14" name="Pair head"/>
          <p:cNvSpPr txBox="1"/>
          <p:nvPr/>
        </p:nvSpPr>
        <p:spPr>
          <a:xfrm>
            <a:off x="8686800" y="1517904"/>
            <a:ext cx="2880360" cy="54864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Paired with the ISSO</a:t>
            </a:r>
            <a:endParaRPr lang="en-US" sz="1700" dirty="0"/>
          </a:p>
        </p:txBody>
      </p:sp>
      <p:sp>
        <p:nvSpPr>
          <p:cNvPr id="15" name="Pair list"/>
          <p:cNvSpPr txBox="1"/>
          <p:nvPr/>
        </p:nvSpPr>
        <p:spPr>
          <a:xfrm>
            <a:off x="8001000" y="2194560"/>
            <a:ext cx="35204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Ten build modules, DDI first, day two last</a:t>
            </a:r>
            <a:endParaRPr lang="en-US" sz="1400" dirty="0"/>
          </a:p>
          <a:p>
            <a:pPr marL="342900" indent="-342900">
              <a:spcAft>
                <a:spcPts val="600"/>
              </a:spcAft>
              <a:buSzPct val="100000"/>
              <a:buChar char="•"/>
            </a:pPr>
            <a:r>
              <a:rPr lang="en-US" sz="1350" dirty="0">
                <a:solidFill>
                  <a:schemeClr val="tx2"/>
                </a:solidFill>
              </a:rPr>
              <a:t>Each pairs with the compliance module that reads it</a:t>
            </a:r>
            <a:endParaRPr lang="en-US" sz="1400" dirty="0"/>
          </a:p>
          <a:p>
            <a:pPr marL="342900" indent="-342900">
              <a:spcAft>
                <a:spcPts val="600"/>
              </a:spcAft>
              <a:buSzPct val="100000"/>
              <a:buChar char="•"/>
            </a:pPr>
            <a:r>
              <a:rPr lang="en-US" sz="1350" dirty="0">
                <a:solidFill>
                  <a:schemeClr val="tx2"/>
                </a:solidFill>
              </a:rPr>
              <a:t>At least 14 days in report-only (design)</a:t>
            </a:r>
            <a:endParaRPr lang="en-US" sz="1400" dirty="0"/>
          </a:p>
        </p:txBody>
      </p:sp>
      <p:sp>
        <p:nvSpPr>
          <p:cNvPr id="16"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7"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8"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03427" y="5228539"/>
            <a:ext cx="332842" cy="332842"/>
          </a:xfrm>
          <a:prstGeom prst="rect">
            <a:avLst/>
          </a:prstGeom>
        </p:spPr>
      </p:pic>
      <p:sp>
        <p:nvSpPr>
          <p:cNvPr id="19"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Pass no gate until the engineers who will carry out the next phase have passed their labs</a:t>
            </a:r>
            <a:endParaRPr lang="en-US" sz="1400" dirty="0"/>
          </a:p>
        </p:txBody>
      </p:sp>
      <p:sp>
        <p:nvSpPr>
          <p:cNvPr id="20"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Steward (G1 gate owner)</a:t>
            </a:r>
            <a:endParaRPr lang="en-US" sz="1400" dirty="0"/>
          </a:p>
        </p:txBody>
      </p:sp>
      <p:sp>
        <p:nvSpPr>
          <p:cNvPr id="21"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G1, then each gate</a:t>
            </a:r>
            <a:endParaRPr lang="en-US" sz="1400" dirty="0"/>
          </a:p>
        </p:txBody>
      </p:sp>
      <p:sp>
        <p:nvSpPr>
          <p:cNvPr id="2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(Conditional Access report-only; emergency access accounts), checked Oct 22, 2026. Book 16, Chapters 04 and 10. Habits, pairing and 14 days are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Certify what people can show, not attendance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 flow from top to bottom. Two blue cards at the top: the compliance track, ending in a capstone that covers all eight evidence areas, and the implementation track, ending in a capstone that builds one area end to end. Both feed a violet card, the four-level rubric, scored from 0 missing to 3 assessor-ready. Below it an amber card, the closure reconstruction exam, which is taken in full for the assessor credential and for the chosen area only for the practitioner credential. Two green cards follow: the practitioner credential, which needs the implementation capstone at pass plus the exam for its area, and the assessor credential, which needs the full exam plus either the compliance capstone at pass or, for control assessors, a scored capstone that agrees with a second assessor's. Both lead to a slate card, the training record, one dated entry per person for AT-4. A dashed amber arrow loops from the record back to the rubric, labeled renew every 12 months or when the procedure changes.">    </p:cNvPr>
          <p:cNvPicPr>
            <a:picLocks noChangeAspect="1"/>
          </p:cNvPicPr>
          <p:nvPr/>
        </p:nvPicPr>
        <p:blipFill>
          <a:blip r:embed="rId1"/>
          <a:stretch>
            <a:fillRect/>
          </a:stretch>
        </p:blipFill>
        <p:spPr>
          <a:xfrm>
            <a:off x="693645" y="1371600"/>
            <a:ext cx="4830629" cy="3291840"/>
          </a:xfrm>
          <a:prstGeom prst="rect">
            <a:avLst/>
          </a:prstGeom>
        </p:spPr>
      </p:pic>
      <p:sp>
        <p:nvSpPr>
          <p:cNvPr id="6" name="Cert box" descr="">
            <a:extLst>
              <a:ext uri="{C183D7F6-B498-43B3-948B-1728B52AA6E4}">
                <adec:decorative xmlns:adec="http://schemas.microsoft.com/office/drawing/2017/decorative" val="1"/>
              </a:ext>
            </a:extLst>
          </p:cNvPr>
          <p:cNvSpPr/>
          <p:nvPr/>
        </p:nvSpPr>
        <p:spPr>
          <a:xfrm>
            <a:off x="5897880" y="1371600"/>
            <a:ext cx="576072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ClipboardCheck" descr="">
            <a:extLst>
              <a:ext uri="{C183D7F6-B498-43B3-948B-1728B52AA6E4}">
                <adec:decorative xmlns:adec="http://schemas.microsoft.com/office/drawing/2017/decorative" val="1"/>
              </a:ext>
            </a:extLst>
          </p:cNvPr>
          <p:cNvSpPr/>
          <p:nvPr/>
        </p:nvSpPr>
        <p:spPr>
          <a:xfrm>
            <a:off x="612648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258154" y="1649578"/>
            <a:ext cx="285293" cy="285293"/>
          </a:xfrm>
          <a:prstGeom prst="rect">
            <a:avLst/>
          </a:prstGeom>
        </p:spPr>
      </p:pic>
      <p:sp>
        <p:nvSpPr>
          <p:cNvPr id="9" name="Cert head"/>
          <p:cNvSpPr txBox="1"/>
          <p:nvPr/>
        </p:nvSpPr>
        <p:spPr>
          <a:xfrm>
            <a:off x="6812280" y="1517904"/>
            <a:ext cx="475488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Credentials earned with artifacts</a:t>
            </a:r>
            <a:endParaRPr lang="en-US" sz="1700" dirty="0"/>
          </a:p>
        </p:txBody>
      </p:sp>
      <p:sp>
        <p:nvSpPr>
          <p:cNvPr id="10" name="Cert list"/>
          <p:cNvSpPr txBox="1"/>
          <p:nvPr/>
        </p:nvSpPr>
        <p:spPr>
          <a:xfrm>
            <a:off x="6126480" y="2194560"/>
            <a:ext cx="539496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Scored from 0, missing, to 3, assessor-ready</a:t>
            </a:r>
            <a:endParaRPr lang="en-US" sz="1400" dirty="0"/>
          </a:p>
          <a:p>
            <a:pPr marL="342900" indent="-342900">
              <a:spcAft>
                <a:spcPts val="600"/>
              </a:spcAft>
              <a:buSzPct val="100000"/>
              <a:buChar char="•"/>
            </a:pPr>
            <a:r>
              <a:rPr lang="en-US" sz="1350" dirty="0">
                <a:solidFill>
                  <a:schemeClr val="tx2"/>
                </a:solidFill>
              </a:rPr>
              <a:t>Pass: every area at 2 or higher, three at 3, all four checks</a:t>
            </a:r>
            <a:endParaRPr lang="en-US" sz="1400" dirty="0"/>
          </a:p>
          <a:p>
            <a:pPr marL="342900" indent="-342900">
              <a:spcAft>
                <a:spcPts val="600"/>
              </a:spcAft>
              <a:buSzPct val="100000"/>
              <a:buChar char="•"/>
            </a:pPr>
            <a:r>
              <a:rPr lang="en-US" sz="1350" dirty="0">
                <a:solidFill>
                  <a:schemeClr val="tx2"/>
                </a:solidFill>
              </a:rPr>
              <a:t>Two program credentials; both expire in 12 months</a:t>
            </a:r>
            <a:endParaRPr lang="en-US" sz="1400" dirty="0"/>
          </a:p>
          <a:p>
            <a:pPr marL="342900" indent="-342900">
              <a:spcAft>
                <a:spcPts val="600"/>
              </a:spcAft>
              <a:buSzPct val="100000"/>
              <a:buChar char="•"/>
            </a:pPr>
            <a:r>
              <a:rPr lang="en-US" sz="1350" dirty="0">
                <a:solidFill>
                  <a:schemeClr val="tx2"/>
                </a:solidFill>
              </a:rPr>
              <a:t>Industry certifications can waive a module, never a capstone</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Once the training record is reliable, decide whether a current credential is a condition for privileged roles</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CISO (our inference)</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When the record is reliable</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A-130, Appendix I; NIST SP 800-50 Rev. 1; SP 800-53 Rev. 5 (AT-3, AT-4); Microsoft, CompTIA, ISC2 renewal pages. Book 16, Ch 05. Scale and credentials are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Labs: practice everything, touch nothing real</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 decision flow from top to bottom. A slate card at the top: a lab rehearses one book procedure. First amber question: does it need a live service? If no, a green card: fixture tier, recorded data and the evidence tooling, no cloud footprint. If yes, a second amber question: does it need a vendor's product, such as DDI, network access control or SD-WAN? If yes, a blue card: product evaluation tier, a vendor evaluation, lab instance or containers. If no, a third amber question: does the behavior differ in the government cloud? If no, a blue card: sandbox tier, a commercial developer or trial tenant. If yes, a violet card: the agency's own non-production government tenant or subscription. A red card at the side, reached by a dashed line from every outcome: never a production tenant, never production data.">    </p:cNvPr>
          <p:cNvPicPr>
            <a:picLocks noChangeAspect="1"/>
          </p:cNvPicPr>
          <p:nvPr/>
        </p:nvPicPr>
        <p:blipFill>
          <a:blip r:embed="rId1"/>
          <a:stretch>
            <a:fillRect/>
          </a:stretch>
        </p:blipFill>
        <p:spPr>
          <a:xfrm>
            <a:off x="1028108" y="1371600"/>
            <a:ext cx="4161704" cy="3291840"/>
          </a:xfrm>
          <a:prstGeom prst="rect">
            <a:avLst/>
          </a:prstGeom>
        </p:spPr>
      </p:pic>
      <p:sp>
        <p:nvSpPr>
          <p:cNvPr id="6" name="Labs box" descr="">
            <a:extLst>
              <a:ext uri="{C183D7F6-B498-43B3-948B-1728B52AA6E4}">
                <adec:decorative xmlns:adec="http://schemas.microsoft.com/office/drawing/2017/decorative" val="1"/>
              </a:ext>
            </a:extLst>
          </p:cNvPr>
          <p:cNvSpPr/>
          <p:nvPr/>
        </p:nvSpPr>
        <p:spPr>
          <a:xfrm>
            <a:off x="5897880" y="1371600"/>
            <a:ext cx="576072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ShieldHalved" descr="">
            <a:extLst>
              <a:ext uri="{C183D7F6-B498-43B3-948B-1728B52AA6E4}">
                <adec:decorative xmlns:adec="http://schemas.microsoft.com/office/drawing/2017/decorative" val="1"/>
              </a:ext>
            </a:extLst>
          </p:cNvPr>
          <p:cNvSpPr/>
          <p:nvPr/>
        </p:nvSpPr>
        <p:spPr>
          <a:xfrm>
            <a:off x="6126480" y="1517904"/>
            <a:ext cx="548640" cy="548640"/>
          </a:xfrm>
          <a:prstGeom prst="ellipse">
            <a:avLst/>
          </a:prstGeom>
          <a:solidFill>
            <a:srgbClr val="0F766E"/>
          </a:solidFill>
          <a:ln w="12700">
            <a:solidFill>
              <a:srgbClr val="0F766E"/>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258154" y="1649578"/>
            <a:ext cx="285293" cy="285293"/>
          </a:xfrm>
          <a:prstGeom prst="rect">
            <a:avLst/>
          </a:prstGeom>
        </p:spPr>
      </p:pic>
      <p:sp>
        <p:nvSpPr>
          <p:cNvPr id="9" name="Labs head"/>
          <p:cNvSpPr txBox="1"/>
          <p:nvPr/>
        </p:nvSpPr>
        <p:spPr>
          <a:xfrm>
            <a:off x="6812280" y="1517904"/>
            <a:ext cx="4754880" cy="54864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Labs need a plan, not a learner's luck</a:t>
            </a:r>
            <a:endParaRPr lang="en-US" sz="1700" dirty="0"/>
          </a:p>
        </p:txBody>
      </p:sp>
      <p:sp>
        <p:nvSpPr>
          <p:cNvPr id="10" name="Labs list"/>
          <p:cNvSpPr txBox="1"/>
          <p:nvPr/>
        </p:nvSpPr>
        <p:spPr>
          <a:xfrm>
            <a:off x="6126480" y="2194560"/>
            <a:ext cx="539496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Developer sandboxes: limited eligibility; none in the government clouds</a:t>
            </a:r>
            <a:endParaRPr lang="en-US" sz="1400" dirty="0"/>
          </a:p>
          <a:p>
            <a:pPr marL="342900" indent="-342900">
              <a:spcAft>
                <a:spcPts val="600"/>
              </a:spcAft>
              <a:buSzPct val="100000"/>
              <a:buChar char="•"/>
            </a:pPr>
            <a:r>
              <a:rPr lang="en-US" sz="1350" dirty="0">
                <a:solidFill>
                  <a:schemeClr val="tx2"/>
                </a:solidFill>
              </a:rPr>
              <a:t>No free sandbox in GCC High or DoD</a:t>
            </a:r>
            <a:endParaRPr lang="en-US" sz="1400" dirty="0"/>
          </a:p>
          <a:p>
            <a:pPr marL="342900" indent="-342900">
              <a:spcAft>
                <a:spcPts val="600"/>
              </a:spcAft>
              <a:buSzPct val="100000"/>
              <a:buChar char="•"/>
            </a:pPr>
            <a:r>
              <a:rPr lang="en-US" sz="1350" dirty="0">
                <a:solidFill>
                  <a:schemeClr val="tx2"/>
                </a:solidFill>
              </a:rPr>
              <a:t>Rehearse once in the agency's own government tenant before each gate (design)</a:t>
            </a:r>
            <a:endParaRPr lang="en-US" sz="1400" dirty="0"/>
          </a:p>
          <a:p>
            <a:pPr marL="342900" indent="-342900">
              <a:spcAft>
                <a:spcPts val="600"/>
              </a:spcAft>
              <a:buSzPct val="100000"/>
              <a:buChar char="•"/>
            </a:pPr>
            <a:r>
              <a:rPr lang="en-US" sz="1350" dirty="0">
                <a:solidFill>
                  <a:schemeClr val="tx2"/>
                </a:solidFill>
              </a:rPr>
              <a:t>Never production, never real data; tear it down</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Arrange lab tenants centrally, including a non-production government tenant for rehearsal</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Program office</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the first labs (design)</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800-50 Rev. 1; SP 800-53 Rev. 5 (CM-4(1), SA-3(2)); Microsoft 365 Developer Program, GCC trials and Learn FAQ (Oct 21, 2026). Book 16, Chapters 04 and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Every user signs in differently by the last wave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Three columns of cards joined by arrows. On the left, three cards name a change in the estate: a slate card, identity moves to Entra ID, sign-in becomes phishing-resistant and passwords linger while recovery becomes self-service; a slate card, devices and files move, PCs enrolled in Intune and mapped drives retired; and a red card, attackers follow the change with fake prompts, fake reset notices and fake IT calls. Each points to a blue card in the middle holding two of the six learning modules: modules 1 and 2, sign in with PIV, Windows Hello for Business or a passkey, register two methods and know what recovery requires; modules 3 and 4, read and fix compliance status, know what the agency can see and leave the old drives alone; modules 5 and 6, report messages, prompts and notices and know what the help desk will and won't ask. All three module cards point to a violet card on the right, a training record per person and module before the wave's cutover.">    </p:cNvPr>
          <p:cNvPicPr>
            <a:picLocks noChangeAspect="1"/>
          </p:cNvPicPr>
          <p:nvPr/>
        </p:nvPicPr>
        <p:blipFill>
          <a:blip r:embed="rId1"/>
          <a:stretch>
            <a:fillRect/>
          </a:stretch>
        </p:blipFill>
        <p:spPr>
          <a:xfrm>
            <a:off x="548640" y="1371600"/>
            <a:ext cx="5760720" cy="3077957"/>
          </a:xfrm>
          <a:prstGeom prst="rect">
            <a:avLst/>
          </a:prstGeom>
        </p:spPr>
      </p:pic>
      <p:sp>
        <p:nvSpPr>
          <p:cNvPr id="6" name="Policy box" descr="">
            <a:extLst>
              <a:ext uri="{C183D7F6-B498-43B3-948B-1728B52AA6E4}">
                <adec:decorative xmlns:adec="http://schemas.microsoft.com/office/drawing/2017/decorative" val="1"/>
              </a:ext>
            </a:extLst>
          </p:cNvPr>
          <p:cNvSpPr/>
          <p:nvPr/>
        </p:nvSpPr>
        <p:spPr>
          <a:xfrm>
            <a:off x="6492240" y="1371600"/>
            <a:ext cx="516636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Fingerprint" descr="">
            <a:extLst>
              <a:ext uri="{C183D7F6-B498-43B3-948B-1728B52AA6E4}">
                <adec:decorative xmlns:adec="http://schemas.microsoft.com/office/drawing/2017/decorative" val="1"/>
              </a:ext>
            </a:extLst>
          </p:cNvPr>
          <p:cNvSpPr/>
          <p:nvPr/>
        </p:nvSpPr>
        <p:spPr>
          <a:xfrm>
            <a:off x="672084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852514" y="1649578"/>
            <a:ext cx="285293" cy="285293"/>
          </a:xfrm>
          <a:prstGeom prst="rect">
            <a:avLst/>
          </a:prstGeom>
        </p:spPr>
      </p:pic>
      <p:sp>
        <p:nvSpPr>
          <p:cNvPr id="9" name="Policy head"/>
          <p:cNvSpPr txBox="1"/>
          <p:nvPr/>
        </p:nvSpPr>
        <p:spPr>
          <a:xfrm>
            <a:off x="7406640" y="1517904"/>
            <a:ext cx="416052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What policy sets for users</a:t>
            </a:r>
            <a:endParaRPr lang="en-US" sz="1700" dirty="0"/>
          </a:p>
        </p:txBody>
      </p:sp>
      <p:sp>
        <p:nvSpPr>
          <p:cNvPr id="10" name="Policy list"/>
          <p:cNvSpPr txBox="1"/>
          <p:nvPr/>
        </p:nvSpPr>
        <p:spPr>
          <a:xfrm>
            <a:off x="6720840" y="2194560"/>
            <a:ext cx="48006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Phishing-resistant sign-in (M-22-09, SP 800-63B-4)</a:t>
            </a:r>
            <a:endParaRPr lang="en-US" sz="1400" dirty="0"/>
          </a:p>
          <a:p>
            <a:pPr marL="342900" indent="-342900">
              <a:spcAft>
                <a:spcPts val="600"/>
              </a:spcAft>
              <a:buSzPct val="100000"/>
              <a:buChar char="•"/>
            </a:pPr>
            <a:r>
              <a:rPr lang="en-US" sz="1350" dirty="0">
                <a:solidFill>
                  <a:schemeClr val="tx2"/>
                </a:solidFill>
              </a:rPr>
              <a:t>Push approvals and codes: a fallback being retired</a:t>
            </a:r>
            <a:endParaRPr lang="en-US" sz="1400" dirty="0"/>
          </a:p>
          <a:p>
            <a:pPr marL="342900" indent="-342900">
              <a:spcAft>
                <a:spcPts val="600"/>
              </a:spcAft>
              <a:buSzPct val="100000"/>
              <a:buChar char="•"/>
            </a:pPr>
            <a:r>
              <a:rPr lang="en-US" sz="1350" dirty="0">
                <a:solidFill>
                  <a:schemeClr val="tx2"/>
                </a:solidFill>
              </a:rPr>
              <a:t>Passwords: length, not complexity or rotation</a:t>
            </a:r>
            <a:endParaRPr lang="en-US" sz="1400" dirty="0"/>
          </a:p>
          <a:p>
            <a:pPr marL="342900" indent="-342900">
              <a:spcAft>
                <a:spcPts val="600"/>
              </a:spcAft>
              <a:buSzPct val="100000"/>
              <a:buChar char="•"/>
            </a:pPr>
            <a:r>
              <a:rPr lang="en-US" sz="1350" dirty="0">
                <a:solidFill>
                  <a:schemeClr val="tx2"/>
                </a:solidFill>
              </a:rPr>
              <a:t>Training materials must meet Section 508</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Decide which sign-in methods users are taught, and the words they learn for reporting and the help desk</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CISO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the pilot's first notice (design)</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M-22-09; NIST SP 800-63B-4; 29 U.S.C. § 794d and the Revised 508 Standards; OMB M-24-08; Microsoft Entra deployment guidance. Book 16, Chapters 07 and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help desk is trained first, and is a target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Never box" descr="">
            <a:extLst>
              <a:ext uri="{C183D7F6-B498-43B3-948B-1728B52AA6E4}">
                <adec:decorative xmlns:adec="http://schemas.microsoft.com/office/drawing/2017/decorative" val="1"/>
              </a:ext>
            </a:extLst>
          </p:cNvPr>
          <p:cNvSpPr/>
          <p:nvPr/>
        </p:nvSpPr>
        <p:spPr>
          <a:xfrm>
            <a:off x="548640" y="1371600"/>
            <a:ext cx="5486400" cy="3291840"/>
          </a:xfrm>
          <a:prstGeom prst="roundRect">
            <a:avLst>
              <a:gd name="adj" fmla="val 222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6" name="Icon FaUserShield" descr="">
            <a:extLst>
              <a:ext uri="{C183D7F6-B498-43B3-948B-1728B52AA6E4}">
                <adec:decorative xmlns:adec="http://schemas.microsoft.com/office/drawing/2017/decorative" val="1"/>
              </a:ext>
            </a:extLst>
          </p:cNvPr>
          <p:cNvSpPr/>
          <p:nvPr/>
        </p:nvSpPr>
        <p:spPr>
          <a:xfrm>
            <a:off x="777240" y="1517904"/>
            <a:ext cx="548640" cy="548640"/>
          </a:xfrm>
          <a:prstGeom prst="ellipse">
            <a:avLst/>
          </a:prstGeom>
          <a:solidFill>
            <a:srgbClr val="B91C1C"/>
          </a:solidFill>
          <a:ln w="12700">
            <a:solidFill>
              <a:srgbClr val="B91C1C"/>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8914" y="1649578"/>
            <a:ext cx="285293" cy="285293"/>
          </a:xfrm>
          <a:prstGeom prst="rect">
            <a:avLst/>
          </a:prstGeom>
        </p:spPr>
      </p:pic>
      <p:sp>
        <p:nvSpPr>
          <p:cNvPr id="8" name="Never head"/>
          <p:cNvSpPr txBox="1"/>
          <p:nvPr/>
        </p:nvSpPr>
        <p:spPr>
          <a:xfrm>
            <a:off x="1463040" y="1517904"/>
            <a:ext cx="4480560" cy="548640"/>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The help desk will never ask</a:t>
            </a:r>
            <a:endParaRPr lang="en-US" sz="1700" dirty="0"/>
          </a:p>
        </p:txBody>
      </p:sp>
      <p:sp>
        <p:nvSpPr>
          <p:cNvPr id="9" name="Never list"/>
          <p:cNvSpPr txBox="1"/>
          <p:nvPr/>
        </p:nvSpPr>
        <p:spPr>
          <a:xfrm>
            <a:off x="777240" y="2194560"/>
            <a:ext cx="51206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For your password, your PIN or a code</a:t>
            </a:r>
            <a:endParaRPr lang="en-US" sz="1400" dirty="0"/>
          </a:p>
          <a:p>
            <a:pPr marL="342900" indent="-342900">
              <a:spcAft>
                <a:spcPts val="600"/>
              </a:spcAft>
              <a:buSzPct val="100000"/>
              <a:buChar char="•"/>
            </a:pPr>
            <a:r>
              <a:rPr lang="en-US" sz="1350" dirty="0">
                <a:solidFill>
                  <a:schemeClr val="tx2"/>
                </a:solidFill>
              </a:rPr>
              <a:t>You to approve a sign-in prompt for them</a:t>
            </a:r>
            <a:endParaRPr lang="en-US" sz="1400" dirty="0"/>
          </a:p>
          <a:p>
            <a:pPr marL="342900" indent="-342900">
              <a:spcAft>
                <a:spcPts val="600"/>
              </a:spcAft>
              <a:buSzPct val="100000"/>
              <a:buChar char="•"/>
            </a:pPr>
            <a:r>
              <a:rPr lang="en-US" sz="1350" dirty="0">
                <a:solidFill>
                  <a:schemeClr val="tx2"/>
                </a:solidFill>
              </a:rPr>
              <a:t>To send a reset link to a number given on the call</a:t>
            </a:r>
            <a:endParaRPr lang="en-US" sz="1400" dirty="0"/>
          </a:p>
          <a:p>
            <a:pPr marL="342900" indent="-342900">
              <a:spcAft>
                <a:spcPts val="600"/>
              </a:spcAft>
              <a:buSzPct val="100000"/>
              <a:buChar char="•"/>
            </a:pPr>
            <a:r>
              <a:rPr lang="en-US" sz="1350" dirty="0">
                <a:solidFill>
                  <a:schemeClr val="tx2"/>
                </a:solidFill>
              </a:rPr>
              <a:t>You to install remote-access software from a link</a:t>
            </a:r>
            <a:endParaRPr lang="en-US" sz="1400" dirty="0"/>
          </a:p>
          <a:p>
            <a:pPr marL="342900" indent="-342900">
              <a:spcAft>
                <a:spcPts val="600"/>
              </a:spcAft>
              <a:buSzPct val="100000"/>
              <a:buChar char="•"/>
            </a:pPr>
            <a:r>
              <a:rPr lang="en-US" sz="1350" dirty="0">
                <a:solidFill>
                  <a:schemeClr val="tx2"/>
                </a:solidFill>
              </a:rPr>
              <a:t>You to act before you can check</a:t>
            </a:r>
            <a:endParaRPr lang="en-US" sz="1400" dirty="0"/>
          </a:p>
        </p:txBody>
      </p:sp>
      <p:sp>
        <p:nvSpPr>
          <p:cNvPr id="10" name="First box" descr="">
            <a:extLst>
              <a:ext uri="{C183D7F6-B498-43B3-948B-1728B52AA6E4}">
                <adec:decorative xmlns:adec="http://schemas.microsoft.com/office/drawing/2017/decorative" val="1"/>
              </a:ext>
            </a:extLst>
          </p:cNvPr>
          <p:cNvSpPr/>
          <p:nvPr/>
        </p:nvSpPr>
        <p:spPr>
          <a:xfrm>
            <a:off x="6172200" y="1371600"/>
            <a:ext cx="548640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1" name="Icon FaUserClock" descr="">
            <a:extLst>
              <a:ext uri="{C183D7F6-B498-43B3-948B-1728B52AA6E4}">
                <adec:decorative xmlns:adec="http://schemas.microsoft.com/office/drawing/2017/decorative" val="1"/>
              </a:ext>
            </a:extLst>
          </p:cNvPr>
          <p:cNvSpPr/>
          <p:nvPr/>
        </p:nvSpPr>
        <p:spPr>
          <a:xfrm>
            <a:off x="6400800" y="1517904"/>
            <a:ext cx="548640" cy="548640"/>
          </a:xfrm>
          <a:prstGeom prst="ellipse">
            <a:avLst/>
          </a:prstGeom>
          <a:solidFill>
            <a:srgbClr val="1F2A44"/>
          </a:solidFill>
          <a:ln w="12700">
            <a:solidFill>
              <a:srgbClr val="1F2A44"/>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32474" y="1649578"/>
            <a:ext cx="285293" cy="285293"/>
          </a:xfrm>
          <a:prstGeom prst="rect">
            <a:avLst/>
          </a:prstGeom>
        </p:spPr>
      </p:pic>
      <p:sp>
        <p:nvSpPr>
          <p:cNvPr id="13" name="First head"/>
          <p:cNvSpPr txBox="1"/>
          <p:nvPr/>
        </p:nvSpPr>
        <p:spPr>
          <a:xfrm>
            <a:off x="7086600" y="1517904"/>
            <a:ext cx="448056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Trained before it gets the power</a:t>
            </a:r>
            <a:endParaRPr lang="en-US" sz="1700" dirty="0"/>
          </a:p>
        </p:txBody>
      </p:sp>
      <p:sp>
        <p:nvSpPr>
          <p:cNvPr id="14" name="First list"/>
          <p:cNvSpPr txBox="1"/>
          <p:nvPr/>
        </p:nvSpPr>
        <p:spPr>
          <a:xfrm>
            <a:off x="6400800" y="2194560"/>
            <a:ext cx="51206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Phase 1 trains the desk before anyone migrates</a:t>
            </a:r>
            <a:endParaRPr lang="en-US" sz="1400" dirty="0"/>
          </a:p>
          <a:p>
            <a:pPr marL="342900" indent="-342900">
              <a:spcAft>
                <a:spcPts val="600"/>
              </a:spcAft>
              <a:buSzPct val="100000"/>
              <a:buChar char="•"/>
            </a:pPr>
            <a:r>
              <a:rPr lang="en-US" sz="1350" dirty="0">
                <a:solidFill>
                  <a:schemeClr val="tx2"/>
                </a:solidFill>
              </a:rPr>
              <a:t>No technician eligible until training and verification are on record</a:t>
            </a:r>
            <a:endParaRPr lang="en-US" sz="1400" dirty="0"/>
          </a:p>
          <a:p>
            <a:pPr marL="342900" indent="-342900">
              <a:spcAft>
                <a:spcPts val="600"/>
              </a:spcAft>
              <a:buSzPct val="100000"/>
              <a:buChar char="•"/>
            </a:pPr>
            <a:r>
              <a:rPr lang="en-US" sz="1350" dirty="0">
                <a:solidFill>
                  <a:schemeClr val="tx2"/>
                </a:solidFill>
              </a:rPr>
              <a:t>Observed scenario, with a social engineering attempt</a:t>
            </a:r>
            <a:endParaRPr lang="en-US" sz="1400" dirty="0"/>
          </a:p>
          <a:p>
            <a:pPr marL="342900" indent="-342900">
              <a:spcAft>
                <a:spcPts val="600"/>
              </a:spcAft>
              <a:buSzPct val="100000"/>
              <a:buChar char="•"/>
            </a:pPr>
            <a:r>
              <a:rPr lang="en-US" sz="1350" dirty="0">
                <a:solidFill>
                  <a:schemeClr val="tx2"/>
                </a:solidFill>
              </a:rPr>
              <a:t>Attackers have posed as IT, and as employees</a:t>
            </a:r>
            <a:endParaRPr lang="en-US" sz="1400" dirty="0"/>
          </a:p>
        </p:txBody>
      </p:sp>
      <p:sp>
        <p:nvSpPr>
          <p:cNvPr id="15"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6"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8"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Decide whether the help desk is trained and staffed for each wave</a:t>
            </a:r>
            <a:endParaRPr lang="en-US" sz="1400" dirty="0"/>
          </a:p>
        </p:txBody>
      </p:sp>
      <p:sp>
        <p:nvSpPr>
          <p:cNvPr id="19"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Service desk manager</a:t>
            </a:r>
            <a:endParaRPr lang="en-US" sz="1400" dirty="0"/>
          </a:p>
        </p:txBody>
      </p:sp>
      <p:sp>
        <p:nvSpPr>
          <p:cNvPr id="20"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each wave</a:t>
            </a:r>
            <a:endParaRPr lang="en-US" sz="1400" dirty="0"/>
          </a:p>
        </p:txBody>
      </p:sp>
      <p:sp>
        <p:nvSpPr>
          <p:cNvPr id="2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advisory AA23-320A (revised July 29, 2025); OMB A-130; OMB M-24-08; NIST SP 800-128. Book 16, Chapters 07 to 10. The will-and-won't list is program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Waves move on readiness, not on the calendar</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Wave head"/>
          <p:cNvSpPr txBox="1"/>
          <p:nvPr/>
        </p:nvSpPr>
        <p:spPr>
          <a:xfrm>
            <a:off x="548640" y="1371600"/>
            <a:ext cx="7406640" cy="274320"/>
          </a:xfrm>
          <a:prstGeom prst="rect">
            <a:avLst/>
          </a:prstGeom>
          <a:noFill/>
          <a:ln/>
        </p:spPr>
        <p:txBody>
          <a:bodyPr wrap="square" lIns="0" tIns="0" rIns="0" bIns="0" rtlCol="0" anchor="t"/>
          <a:lstStyle/>
          <a:p>
            <a:pPr indent="0" marL="0">
              <a:buNone/>
            </a:pPr>
            <a:r>
              <a:rPr lang="en-US" sz="1200" b="1" dirty="0">
                <a:solidFill>
                  <a:srgbClr val="64748B"/>
                </a:solidFill>
              </a:rPr>
              <a:t>ONE WAVE, IN DAYS BEFORE ENFORCEMENT (PROGRAM DEFAULTS)</a:t>
            </a:r>
            <a:endParaRPr lang="en-US" sz="1200" dirty="0"/>
          </a:p>
        </p:txBody>
      </p:sp>
      <p:sp>
        <p:nvSpPr>
          <p:cNvPr id="6" name="Wave 0" descr="">
            <a:extLst>
              <a:ext uri="{C183D7F6-B498-43B3-948B-1728B52AA6E4}">
                <adec:decorative xmlns:adec="http://schemas.microsoft.com/office/drawing/2017/decorative" val="1"/>
              </a:ext>
            </a:extLst>
          </p:cNvPr>
          <p:cNvSpPr/>
          <p:nvPr/>
        </p:nvSpPr>
        <p:spPr>
          <a:xfrm>
            <a:off x="548640" y="1719072"/>
            <a:ext cx="7406640" cy="438912"/>
          </a:xfrm>
          <a:prstGeom prst="roundRect">
            <a:avLst>
              <a:gd name="adj" fmla="val 16667"/>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Wave 0 text"/>
          <p:cNvSpPr txBox="1"/>
          <p:nvPr/>
        </p:nvSpPr>
        <p:spPr>
          <a:xfrm>
            <a:off x="731520" y="1719072"/>
            <a:ext cx="7132320" cy="438912"/>
          </a:xfrm>
          <a:prstGeom prst="rect">
            <a:avLst/>
          </a:prstGeom>
          <a:noFill/>
          <a:ln/>
        </p:spPr>
        <p:txBody>
          <a:bodyPr wrap="square" lIns="0" tIns="0" rIns="0" bIns="0" rtlCol="0" anchor="ctr"/>
          <a:lstStyle/>
          <a:p>
            <a:pPr indent="0" marL="0">
              <a:buNone/>
            </a:pPr>
            <a:r>
              <a:rPr lang="en-US" sz="1400" b="1" dirty="0">
                <a:solidFill>
                  <a:srgbClr val="1F2A44"/>
                </a:solidFill>
              </a:rPr>
              <a:t>60 and 45 days   </a:t>
            </a:r>
            <a:pPr indent="0" marL="0">
              <a:buNone/>
            </a:pPr>
            <a:r>
              <a:rPr lang="en-US" sz="1400" dirty="0">
                <a:solidFill>
                  <a:schemeClr val="tx2"/>
                </a:solidFill>
              </a:rPr>
              <a:t>Announce the change and why; register early; name champions</a:t>
            </a:r>
            <a:endParaRPr lang="en-US" sz="1400" dirty="0"/>
          </a:p>
        </p:txBody>
      </p:sp>
      <p:sp>
        <p:nvSpPr>
          <p:cNvPr id="8" name="Wave 1" descr="">
            <a:extLst>
              <a:ext uri="{C183D7F6-B498-43B3-948B-1728B52AA6E4}">
                <adec:decorative xmlns:adec="http://schemas.microsoft.com/office/drawing/2017/decorative" val="1"/>
              </a:ext>
            </a:extLst>
          </p:cNvPr>
          <p:cNvSpPr/>
          <p:nvPr/>
        </p:nvSpPr>
        <p:spPr>
          <a:xfrm>
            <a:off x="548640" y="2212848"/>
            <a:ext cx="7406640" cy="438912"/>
          </a:xfrm>
          <a:prstGeom prst="roundRect">
            <a:avLst>
              <a:gd name="adj" fmla="val 16667"/>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Wave 1 text"/>
          <p:cNvSpPr txBox="1"/>
          <p:nvPr/>
        </p:nvSpPr>
        <p:spPr>
          <a:xfrm>
            <a:off x="731520" y="2212848"/>
            <a:ext cx="7132320" cy="438912"/>
          </a:xfrm>
          <a:prstGeom prst="rect">
            <a:avLst/>
          </a:prstGeom>
          <a:noFill/>
          <a:ln/>
        </p:spPr>
        <p:txBody>
          <a:bodyPr wrap="square" lIns="0" tIns="0" rIns="0" bIns="0" rtlCol="0" anchor="ctr"/>
          <a:lstStyle/>
          <a:p>
            <a:pPr indent="0" marL="0">
              <a:buNone/>
            </a:pPr>
            <a:r>
              <a:rPr lang="en-US" sz="1400" b="1" dirty="0">
                <a:solidFill>
                  <a:srgbClr val="1F2A44"/>
                </a:solidFill>
              </a:rPr>
              <a:t>30 days   </a:t>
            </a:r>
            <a:pPr indent="0" marL="0">
              <a:buNone/>
            </a:pPr>
            <a:r>
              <a:rPr lang="en-US" sz="1400" dirty="0">
                <a:solidFill>
                  <a:schemeClr val="tx2"/>
                </a:solidFill>
              </a:rPr>
              <a:t>Assign the modules; announce the date; train the help desk</a:t>
            </a:r>
            <a:endParaRPr lang="en-US" sz="1400" dirty="0"/>
          </a:p>
        </p:txBody>
      </p:sp>
      <p:sp>
        <p:nvSpPr>
          <p:cNvPr id="10" name="Wave 2" descr="">
            <a:extLst>
              <a:ext uri="{C183D7F6-B498-43B3-948B-1728B52AA6E4}">
                <adec:decorative xmlns:adec="http://schemas.microsoft.com/office/drawing/2017/decorative" val="1"/>
              </a:ext>
            </a:extLst>
          </p:cNvPr>
          <p:cNvSpPr/>
          <p:nvPr/>
        </p:nvSpPr>
        <p:spPr>
          <a:xfrm>
            <a:off x="548640" y="2706624"/>
            <a:ext cx="7406640" cy="438912"/>
          </a:xfrm>
          <a:prstGeom prst="roundRect">
            <a:avLst>
              <a:gd name="adj" fmla="val 16667"/>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Wave 2 text"/>
          <p:cNvSpPr txBox="1"/>
          <p:nvPr/>
        </p:nvSpPr>
        <p:spPr>
          <a:xfrm>
            <a:off x="731520" y="2706624"/>
            <a:ext cx="7132320" cy="438912"/>
          </a:xfrm>
          <a:prstGeom prst="rect">
            <a:avLst/>
          </a:prstGeom>
          <a:noFill/>
          <a:ln/>
        </p:spPr>
        <p:txBody>
          <a:bodyPr wrap="square" lIns="0" tIns="0" rIns="0" bIns="0" rtlCol="0" anchor="ctr"/>
          <a:lstStyle/>
          <a:p>
            <a:pPr indent="0" marL="0">
              <a:buNone/>
            </a:pPr>
            <a:r>
              <a:rPr lang="en-US" sz="1400" b="1" dirty="0">
                <a:solidFill>
                  <a:srgbClr val="1F2A44"/>
                </a:solidFill>
              </a:rPr>
              <a:t>15 and 7 days   </a:t>
            </a:r>
            <a:pPr indent="0" marL="0">
              <a:buNone/>
            </a:pPr>
            <a:r>
              <a:rPr lang="en-US" sz="1400" dirty="0">
                <a:solidFill>
                  <a:schemeClr val="tx2"/>
                </a:solidFill>
              </a:rPr>
              <a:t>Reminders; managers see who hasn't registered or trained</a:t>
            </a:r>
            <a:endParaRPr lang="en-US" sz="1400" dirty="0"/>
          </a:p>
        </p:txBody>
      </p:sp>
      <p:sp>
        <p:nvSpPr>
          <p:cNvPr id="12" name="Wave 3" descr="">
            <a:extLst>
              <a:ext uri="{C183D7F6-B498-43B3-948B-1728B52AA6E4}">
                <adec:decorative xmlns:adec="http://schemas.microsoft.com/office/drawing/2017/decorative" val="1"/>
              </a:ext>
            </a:extLst>
          </p:cNvPr>
          <p:cNvSpPr/>
          <p:nvPr/>
        </p:nvSpPr>
        <p:spPr>
          <a:xfrm>
            <a:off x="548640" y="3200400"/>
            <a:ext cx="7406640" cy="438912"/>
          </a:xfrm>
          <a:prstGeom prst="roundRect">
            <a:avLst>
              <a:gd name="adj" fmla="val 16667"/>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Wave 3 text"/>
          <p:cNvSpPr txBox="1"/>
          <p:nvPr/>
        </p:nvSpPr>
        <p:spPr>
          <a:xfrm>
            <a:off x="731520" y="3200400"/>
            <a:ext cx="7132320" cy="438912"/>
          </a:xfrm>
          <a:prstGeom prst="rect">
            <a:avLst/>
          </a:prstGeom>
          <a:noFill/>
          <a:ln/>
        </p:spPr>
        <p:txBody>
          <a:bodyPr wrap="square" lIns="0" tIns="0" rIns="0" bIns="0" rtlCol="0" anchor="ctr"/>
          <a:lstStyle/>
          <a:p>
            <a:pPr indent="0" marL="0">
              <a:buNone/>
            </a:pPr>
            <a:r>
              <a:rPr lang="en-US" sz="1400" b="1" dirty="0">
                <a:solidFill>
                  <a:srgbClr val="1F2A44"/>
                </a:solidFill>
              </a:rPr>
              <a:t>Readiness check   </a:t>
            </a:r>
            <a:pPr indent="0" marL="0">
              <a:buNone/>
            </a:pPr>
            <a:r>
              <a:rPr lang="en-US" sz="1400" dirty="0">
                <a:solidFill>
                  <a:schemeClr val="tx2"/>
                </a:solidFill>
              </a:rPr>
              <a:t>Registration, completion and tickets against thresholds</a:t>
            </a:r>
            <a:endParaRPr lang="en-US" sz="1400" dirty="0"/>
          </a:p>
        </p:txBody>
      </p:sp>
      <p:sp>
        <p:nvSpPr>
          <p:cNvPr id="14" name="Wave 4" descr="">
            <a:extLst>
              <a:ext uri="{C183D7F6-B498-43B3-948B-1728B52AA6E4}">
                <adec:decorative xmlns:adec="http://schemas.microsoft.com/office/drawing/2017/decorative" val="1"/>
              </a:ext>
            </a:extLst>
          </p:cNvPr>
          <p:cNvSpPr/>
          <p:nvPr/>
        </p:nvSpPr>
        <p:spPr>
          <a:xfrm>
            <a:off x="548640" y="3694176"/>
            <a:ext cx="7406640" cy="438912"/>
          </a:xfrm>
          <a:prstGeom prst="roundRect">
            <a:avLst>
              <a:gd name="adj" fmla="val 16667"/>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5" name="Wave 4 text"/>
          <p:cNvSpPr txBox="1"/>
          <p:nvPr/>
        </p:nvSpPr>
        <p:spPr>
          <a:xfrm>
            <a:off x="731520" y="3694176"/>
            <a:ext cx="7132320" cy="438912"/>
          </a:xfrm>
          <a:prstGeom prst="rect">
            <a:avLst/>
          </a:prstGeom>
          <a:noFill/>
          <a:ln/>
        </p:spPr>
        <p:txBody>
          <a:bodyPr wrap="square" lIns="0" tIns="0" rIns="0" bIns="0" rtlCol="0" anchor="ctr"/>
          <a:lstStyle/>
          <a:p>
            <a:pPr indent="0" marL="0">
              <a:buNone/>
            </a:pPr>
            <a:r>
              <a:rPr lang="en-US" sz="1400" b="1" dirty="0">
                <a:solidFill>
                  <a:srgbClr val="1F2A44"/>
                </a:solidFill>
              </a:rPr>
              <a:t>1 day   </a:t>
            </a:r>
            <a:pPr indent="0" marL="0">
              <a:buNone/>
            </a:pPr>
            <a:r>
              <a:rPr lang="en-US" sz="1400" dirty="0">
                <a:solidFill>
                  <a:schemeClr val="tx2"/>
                </a:solidFill>
              </a:rPr>
              <a:t>Final notice; floor support in place</a:t>
            </a:r>
            <a:endParaRPr lang="en-US" sz="1400" dirty="0"/>
          </a:p>
        </p:txBody>
      </p:sp>
      <p:sp>
        <p:nvSpPr>
          <p:cNvPr id="16" name="Wave 5" descr="">
            <a:extLst>
              <a:ext uri="{C183D7F6-B498-43B3-948B-1728B52AA6E4}">
                <adec:decorative xmlns:adec="http://schemas.microsoft.com/office/drawing/2017/decorative" val="1"/>
              </a:ext>
            </a:extLst>
          </p:cNvPr>
          <p:cNvSpPr/>
          <p:nvPr/>
        </p:nvSpPr>
        <p:spPr>
          <a:xfrm>
            <a:off x="548640" y="4187952"/>
            <a:ext cx="7406640" cy="438912"/>
          </a:xfrm>
          <a:prstGeom prst="roundRect">
            <a:avLst>
              <a:gd name="adj" fmla="val 16667"/>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7" name="Wave 5 text"/>
          <p:cNvSpPr txBox="1"/>
          <p:nvPr/>
        </p:nvSpPr>
        <p:spPr>
          <a:xfrm>
            <a:off x="731520" y="4187952"/>
            <a:ext cx="7132320" cy="438912"/>
          </a:xfrm>
          <a:prstGeom prst="rect">
            <a:avLst/>
          </a:prstGeom>
          <a:noFill/>
          <a:ln/>
        </p:spPr>
        <p:txBody>
          <a:bodyPr wrap="square" lIns="0" tIns="0" rIns="0" bIns="0" rtlCol="0" anchor="ctr"/>
          <a:lstStyle/>
          <a:p>
            <a:pPr indent="0" marL="0">
              <a:buNone/>
            </a:pPr>
            <a:r>
              <a:rPr lang="en-US" sz="1400" b="1" dirty="0">
                <a:solidFill>
                  <a:srgbClr val="1F2A44"/>
                </a:solidFill>
              </a:rPr>
              <a:t>14 days after   </a:t>
            </a:r>
            <a:pPr indent="0" marL="0">
              <a:buNone/>
            </a:pPr>
            <a:r>
              <a:rPr lang="en-US" sz="1400" dirty="0">
                <a:solidFill>
                  <a:schemeClr val="tx2"/>
                </a:solidFill>
              </a:rPr>
              <a:t>Follow-up lessons and a survey; fix the next wave's material</a:t>
            </a:r>
            <a:endParaRPr lang="en-US" sz="1400" dirty="0"/>
          </a:p>
        </p:txBody>
      </p:sp>
      <p:pic>
        <p:nvPicPr>
          <p:cNvPr id="18" name="Image 0" descr="A top-to-bottom sequence of six cards for one wave. First, a slate card at 60 to 45 days before enforcement: announce the change, explain why, open registration and name champions. Second, a blue card at 30 days: assign the wave's training modules, announce the enforcement date and the help desk's rules. Third, a blue card at 15 to 7 days: reminders with help desk contacts, drop-in sessions and a list of users not yet registered sent to managers. Fourth, an amber card, the wave's readiness check: registration rate, training completion and help desk ticket volume against the wave's thresholds, with an amber arrow labeled hold back to the reminders if the check fails. Fifth, a green card on enforcement day: the 24-hour notice and the enforcement itself, with floor support. Sixth, a violet card for the two weeks after: short follow-up lessons on what users got wrong, feedback collected, and the next wave's messages adjusted.">    </p:cNvPr>
          <p:cNvPicPr>
            <a:picLocks noChangeAspect="1"/>
          </p:cNvPicPr>
          <p:nvPr/>
        </p:nvPicPr>
        <p:blipFill>
          <a:blip r:embed="rId1"/>
          <a:stretch>
            <a:fillRect/>
          </a:stretch>
        </p:blipFill>
        <p:spPr>
          <a:xfrm>
            <a:off x="9137876" y="1371600"/>
            <a:ext cx="1566727" cy="3291840"/>
          </a:xfrm>
          <a:prstGeom prst="rect">
            <a:avLst/>
          </a:prstGeom>
        </p:spPr>
      </p:pic>
      <p:sp>
        <p:nvSpPr>
          <p:cNvPr id="19"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0"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22"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Hold any wave that misses its thresholds: move its date, not its threshold</a:t>
            </a:r>
            <a:endParaRPr lang="en-US" sz="1400" dirty="0"/>
          </a:p>
        </p:txBody>
      </p:sp>
      <p:sp>
        <p:nvSpPr>
          <p:cNvPr id="23"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Wave owner (identity engineering)</a:t>
            </a:r>
            <a:endParaRPr lang="en-US" sz="1400" dirty="0"/>
          </a:p>
        </p:txBody>
      </p:sp>
      <p:sp>
        <p:nvSpPr>
          <p:cNvPr id="24"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Each wave's go/no-go</a:t>
            </a:r>
            <a:endParaRPr lang="en-US" sz="140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phishing-resistant passwordless deployment guidance; NIST SP 800-50 Rev. 1. Book 16, Chapters 07, 08 and 10. The day counts are program defaults.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owns workforce readiness: one decider per row</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pic>
        <p:nvPicPr>
          <p:cNvPr id="5" name="Image 0" descr="Three rows of cards. Top row: the sponsor and CIO in amber, who fund the program and own scope, wave readiness and the Section 508 program; the CISO in amber, who sets the awareness and training policy, the significant roles, the completion threshold and the help desk verification procedure; and the CHCO and workforce office in violet, who own the workforce development strategy, position coding, rosters and labor relations. Middle row: the training lead in blue, who builds the curriculum, modules, assignments and reports; the ISSO and system owner in blue, who review the training record, set system rules and own the AT evidence; and the program office in violet, which puts training criteria into every gate and wave check. Bottom row, in slate: managers and supervisors, accountable for their staff's time to learn, completion and development plans; the help desk, trained first, following the verification rules and reporting ticket themes; and the communications office, which owns the single sender, the channels and the wave calendar. Arrows: funding from the sponsor and CIO to the training lead; policy from the CISO to the ISSO; a dashed arrow labeled rosters from the CHCO to the program office; assignments from the training lead to managers; evidence from the ISSO to the program office; a wave briefing from the training lead to the help desk; and a dashed arrow labeled content from the training lead to the communications office.">    </p:cNvPr>
          <p:cNvPicPr>
            <a:picLocks noChangeAspect="1"/>
          </p:cNvPicPr>
          <p:nvPr/>
        </p:nvPicPr>
        <p:blipFill>
          <a:blip r:embed="rId1"/>
          <a:stretch>
            <a:fillRect/>
          </a:stretch>
        </p:blipFill>
        <p:spPr>
          <a:xfrm>
            <a:off x="649302" y="1371600"/>
            <a:ext cx="5559395" cy="3291840"/>
          </a:xfrm>
          <a:prstGeom prst="rect">
            <a:avLst/>
          </a:prstGeom>
        </p:spPr>
      </p:pic>
      <p:sp>
        <p:nvSpPr>
          <p:cNvPr id="6" name="Owners box" descr="">
            <a:extLst>
              <a:ext uri="{C183D7F6-B498-43B3-948B-1728B52AA6E4}">
                <adec:decorative xmlns:adec="http://schemas.microsoft.com/office/drawing/2017/decorative" val="1"/>
              </a:ext>
            </a:extLst>
          </p:cNvPr>
          <p:cNvSpPr/>
          <p:nvPr/>
        </p:nvSpPr>
        <p:spPr>
          <a:xfrm>
            <a:off x="6492240" y="1371600"/>
            <a:ext cx="516636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UsersGear" descr="">
            <a:extLst>
              <a:ext uri="{C183D7F6-B498-43B3-948B-1728B52AA6E4}">
                <adec:decorative xmlns:adec="http://schemas.microsoft.com/office/drawing/2017/decorative" val="1"/>
              </a:ext>
            </a:extLst>
          </p:cNvPr>
          <p:cNvSpPr/>
          <p:nvPr/>
        </p:nvSpPr>
        <p:spPr>
          <a:xfrm>
            <a:off x="6720840" y="1517904"/>
            <a:ext cx="548640" cy="548640"/>
          </a:xfrm>
          <a:prstGeom prst="ellipse">
            <a:avLst/>
          </a:prstGeom>
          <a:solidFill>
            <a:srgbClr val="0F766E"/>
          </a:solidFill>
          <a:ln w="12700">
            <a:solidFill>
              <a:srgbClr val="0F766E"/>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852514" y="1649578"/>
            <a:ext cx="285293" cy="285293"/>
          </a:xfrm>
          <a:prstGeom prst="rect">
            <a:avLst/>
          </a:prstGeom>
        </p:spPr>
      </p:pic>
      <p:sp>
        <p:nvSpPr>
          <p:cNvPr id="9" name="Owners head"/>
          <p:cNvSpPr txBox="1"/>
          <p:nvPr/>
        </p:nvSpPr>
        <p:spPr>
          <a:xfrm>
            <a:off x="7406640" y="1517904"/>
            <a:ext cx="4160520" cy="54864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Who decides what</a:t>
            </a:r>
            <a:endParaRPr lang="en-US" sz="1700" dirty="0"/>
          </a:p>
        </p:txBody>
      </p:sp>
      <p:sp>
        <p:nvSpPr>
          <p:cNvPr id="10" name="Owners list"/>
          <p:cNvSpPr txBox="1"/>
          <p:nvPr/>
        </p:nvSpPr>
        <p:spPr>
          <a:xfrm>
            <a:off x="6720840" y="2194560"/>
            <a:ext cx="48006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CISO: training policy, significant roles, threshold, what users learn</a:t>
            </a:r>
            <a:endParaRPr lang="en-US" sz="1400" dirty="0"/>
          </a:p>
          <a:p>
            <a:pPr marL="342900" indent="-342900">
              <a:spcAft>
                <a:spcPts val="600"/>
              </a:spcAft>
              <a:buSzPct val="100000"/>
              <a:buChar char="•"/>
            </a:pPr>
            <a:r>
              <a:rPr lang="en-US" sz="1350" dirty="0">
                <a:solidFill>
                  <a:schemeClr val="tx2"/>
                </a:solidFill>
              </a:rPr>
              <a:t>CHCO's office: workforce strategy, codes, rosters</a:t>
            </a:r>
            <a:endParaRPr lang="en-US" sz="1400" dirty="0"/>
          </a:p>
          <a:p>
            <a:pPr marL="342900" indent="-342900">
              <a:spcAft>
                <a:spcPts val="600"/>
              </a:spcAft>
              <a:buSzPct val="100000"/>
              <a:buChar char="•"/>
            </a:pPr>
            <a:r>
              <a:rPr lang="en-US" sz="1350" dirty="0">
                <a:solidFill>
                  <a:schemeClr val="tx2"/>
                </a:solidFill>
              </a:rPr>
              <a:t>Sponsor and CIO: funding, wave communications, Section 508</a:t>
            </a:r>
            <a:endParaRPr lang="en-US" sz="1400" dirty="0"/>
          </a:p>
          <a:p>
            <a:pPr marL="342900" indent="-342900">
              <a:spcAft>
                <a:spcPts val="600"/>
              </a:spcAft>
              <a:buSzPct val="100000"/>
              <a:buChar char="•"/>
            </a:pPr>
            <a:r>
              <a:rPr lang="en-US" sz="1350" dirty="0">
                <a:solidFill>
                  <a:schemeClr val="tx2"/>
                </a:solidFill>
              </a:rPr>
              <a:t>Supervisors: completion, and time to learn</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Name one training lead; brief the CHCO's office, labor relations and the Section 508 program manager</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Sponsor and CIO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By G0</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FISMA; 5 U.S.C. §§ 1401–1402; 5 CFR 410.201 and 930.301; NIST SP 800-37 Rev. 2 and SP 800-50 Rev. 1; OMB M-24-08. Book 16, Chapter 08. The model is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training lead reports; others decide</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pic>
        <p:nvPicPr>
          <p:cNvPr id="5" name="Image 0" descr="Four cards in a left-to-right chain. A slate card, the roster: who must be trained, from HR and identity records. A blue arrow leads to a blue card, the training lead reports completion per population from the learning management system. A blue arrow leads to a violet card, the ISSO reviews, confirms the record and routes the gaps. A violet arrow labeled checked by the program office leads to an amber card, the gate or wave owner decides go, no-go or conditional go, together with the other criteria.">    </p:cNvPr>
          <p:cNvPicPr>
            <a:picLocks noChangeAspect="1"/>
          </p:cNvPicPr>
          <p:nvPr/>
        </p:nvPicPr>
        <p:blipFill>
          <a:blip r:embed="rId1"/>
          <a:stretch>
            <a:fillRect/>
          </a:stretch>
        </p:blipFill>
        <p:spPr>
          <a:xfrm>
            <a:off x="670596" y="1371600"/>
            <a:ext cx="1493448" cy="3291840"/>
          </a:xfrm>
          <a:prstGeom prst="rect">
            <a:avLst/>
          </a:prstGeom>
        </p:spPr>
      </p:pic>
      <p:sp>
        <p:nvSpPr>
          <p:cNvPr id="6" name="Apart box" descr="">
            <a:extLst>
              <a:ext uri="{C183D7F6-B498-43B3-948B-1728B52AA6E4}">
                <adec:decorative xmlns:adec="http://schemas.microsoft.com/office/drawing/2017/decorative" val="1"/>
              </a:ext>
            </a:extLst>
          </p:cNvPr>
          <p:cNvSpPr/>
          <p:nvPr/>
        </p:nvSpPr>
        <p:spPr>
          <a:xfrm>
            <a:off x="2468880" y="1371600"/>
            <a:ext cx="457200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Filter" descr="">
            <a:extLst>
              <a:ext uri="{C183D7F6-B498-43B3-948B-1728B52AA6E4}">
                <adec:decorative xmlns:adec="http://schemas.microsoft.com/office/drawing/2017/decorative" val="1"/>
              </a:ext>
            </a:extLst>
          </p:cNvPr>
          <p:cNvSpPr/>
          <p:nvPr/>
        </p:nvSpPr>
        <p:spPr>
          <a:xfrm>
            <a:off x="2697480" y="1517904"/>
            <a:ext cx="548640" cy="548640"/>
          </a:xfrm>
          <a:prstGeom prst="ellipse">
            <a:avLst/>
          </a:prstGeom>
          <a:solidFill>
            <a:srgbClr val="B45309"/>
          </a:solidFill>
          <a:ln w="12700">
            <a:solidFill>
              <a:srgbClr val="B45309"/>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2829154" y="1649578"/>
            <a:ext cx="285293" cy="285293"/>
          </a:xfrm>
          <a:prstGeom prst="rect">
            <a:avLst/>
          </a:prstGeom>
        </p:spPr>
      </p:pic>
      <p:sp>
        <p:nvSpPr>
          <p:cNvPr id="9" name="Apart head"/>
          <p:cNvSpPr txBox="1"/>
          <p:nvPr/>
        </p:nvSpPr>
        <p:spPr>
          <a:xfrm>
            <a:off x="3383280" y="1517904"/>
            <a:ext cx="3566160" cy="548640"/>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Keep the roles apart</a:t>
            </a:r>
            <a:endParaRPr lang="en-US" sz="1700" dirty="0"/>
          </a:p>
        </p:txBody>
      </p:sp>
      <p:sp>
        <p:nvSpPr>
          <p:cNvPr id="10" name="Apart list"/>
          <p:cNvSpPr txBox="1"/>
          <p:nvPr/>
        </p:nvSpPr>
        <p:spPr>
          <a:xfrm>
            <a:off x="269748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Whoever reports the numbers doesn't judge them</a:t>
            </a:r>
            <a:endParaRPr lang="en-US" sz="1400" dirty="0"/>
          </a:p>
          <a:p>
            <a:pPr marL="342900" indent="-342900">
              <a:spcAft>
                <a:spcPts val="600"/>
              </a:spcAft>
              <a:buSzPct val="100000"/>
              <a:buChar char="•"/>
            </a:pPr>
            <a:r>
              <a:rPr lang="en-US" sz="1350" dirty="0">
                <a:solidFill>
                  <a:schemeClr val="tx2"/>
                </a:solidFill>
              </a:rPr>
              <a:t>The record's producer doesn't review it</a:t>
            </a:r>
            <a:endParaRPr lang="en-US" sz="1400" dirty="0"/>
          </a:p>
          <a:p>
            <a:pPr marL="342900" indent="-342900">
              <a:spcAft>
                <a:spcPts val="600"/>
              </a:spcAft>
              <a:buSzPct val="100000"/>
              <a:buChar char="•"/>
            </a:pPr>
            <a:r>
              <a:rPr lang="en-US" sz="1350" dirty="0">
                <a:solidFill>
                  <a:schemeClr val="tx2"/>
                </a:solidFill>
              </a:rPr>
              <a:t>Managers can't waive required training</a:t>
            </a:r>
            <a:endParaRPr lang="en-US" sz="1400" dirty="0"/>
          </a:p>
          <a:p>
            <a:pPr marL="342900" indent="-342900">
              <a:spcAft>
                <a:spcPts val="600"/>
              </a:spcAft>
              <a:buSzPct val="100000"/>
              <a:buChar char="•"/>
            </a:pPr>
            <a:r>
              <a:rPr lang="en-US" sz="1350" dirty="0">
                <a:solidFill>
                  <a:schemeClr val="tx2"/>
                </a:solidFill>
              </a:rPr>
              <a:t>Phishing results are for learning, not discipline</a:t>
            </a:r>
            <a:endParaRPr lang="en-US" sz="1400" dirty="0"/>
          </a:p>
        </p:txBody>
      </p:sp>
      <p:sp>
        <p:nvSpPr>
          <p:cNvPr id="11" name="Gov box" descr="">
            <a:extLst>
              <a:ext uri="{C183D7F6-B498-43B3-948B-1728B52AA6E4}">
                <adec:decorative xmlns:adec="http://schemas.microsoft.com/office/drawing/2017/decorative" val="1"/>
              </a:ext>
            </a:extLst>
          </p:cNvPr>
          <p:cNvSpPr/>
          <p:nvPr/>
        </p:nvSpPr>
        <p:spPr>
          <a:xfrm>
            <a:off x="7178040" y="1371600"/>
            <a:ext cx="448056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Icon FaLandmark" descr="">
            <a:extLst>
              <a:ext uri="{C183D7F6-B498-43B3-948B-1728B52AA6E4}">
                <adec:decorative xmlns:adec="http://schemas.microsoft.com/office/drawing/2017/decorative" val="1"/>
              </a:ext>
            </a:extLst>
          </p:cNvPr>
          <p:cNvSpPr/>
          <p:nvPr/>
        </p:nvSpPr>
        <p:spPr>
          <a:xfrm>
            <a:off x="7406640" y="1517904"/>
            <a:ext cx="548640" cy="548640"/>
          </a:xfrm>
          <a:prstGeom prst="ellipse">
            <a:avLst/>
          </a:prstGeom>
          <a:solidFill>
            <a:srgbClr val="1F2A44"/>
          </a:solidFill>
          <a:ln w="12700">
            <a:solidFill>
              <a:srgbClr val="1F2A44"/>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538314" y="1649578"/>
            <a:ext cx="285293" cy="285293"/>
          </a:xfrm>
          <a:prstGeom prst="rect">
            <a:avLst/>
          </a:prstGeom>
        </p:spPr>
      </p:pic>
      <p:sp>
        <p:nvSpPr>
          <p:cNvPr id="14" name="Gov head"/>
          <p:cNvSpPr txBox="1"/>
          <p:nvPr/>
        </p:nvSpPr>
        <p:spPr>
          <a:xfrm>
            <a:off x="8092440" y="1517904"/>
            <a:ext cx="347472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Government decides</a:t>
            </a:r>
            <a:endParaRPr lang="en-US" sz="1700" dirty="0"/>
          </a:p>
        </p:txBody>
      </p:sp>
      <p:sp>
        <p:nvSpPr>
          <p:cNvPr id="15" name="Gov list"/>
          <p:cNvSpPr txBox="1"/>
          <p:nvPr/>
        </p:nvSpPr>
        <p:spPr>
          <a:xfrm>
            <a:off x="7406640" y="2194560"/>
            <a:ext cx="41148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Contractors can build, deliver and report it all</a:t>
            </a:r>
            <a:endParaRPr lang="en-US" sz="1400" dirty="0"/>
          </a:p>
          <a:p>
            <a:pPr marL="342900" indent="-342900">
              <a:spcAft>
                <a:spcPts val="600"/>
              </a:spcAft>
              <a:buSzPct val="100000"/>
              <a:buChar char="•"/>
            </a:pPr>
            <a:r>
              <a:rPr lang="en-US" sz="1350" dirty="0">
                <a:solidFill>
                  <a:schemeClr val="tx2"/>
                </a:solidFill>
              </a:rPr>
              <a:t>CISO, ISSO, gate and AO decisions: officials</a:t>
            </a:r>
            <a:endParaRPr lang="en-US" sz="1400" dirty="0"/>
          </a:p>
          <a:p>
            <a:pPr marL="342900" indent="-342900">
              <a:spcAft>
                <a:spcPts val="600"/>
              </a:spcAft>
              <a:buSzPct val="100000"/>
              <a:buChar char="•"/>
            </a:pPr>
            <a:r>
              <a:rPr lang="en-US" sz="1350" dirty="0">
                <a:solidFill>
                  <a:schemeClr val="tx2"/>
                </a:solidFill>
              </a:rPr>
              <a:t>Untrained people in operation: the AO's risk</a:t>
            </a:r>
            <a:endParaRPr lang="en-US" sz="1400" dirty="0"/>
          </a:p>
        </p:txBody>
      </p:sp>
      <p:sp>
        <p:nvSpPr>
          <p:cNvPr id="16"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7"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8"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03427" y="5228539"/>
            <a:ext cx="332842" cy="332842"/>
          </a:xfrm>
          <a:prstGeom prst="rect">
            <a:avLst/>
          </a:prstGeom>
        </p:spPr>
      </p:pic>
      <p:sp>
        <p:nvSpPr>
          <p:cNvPr id="19"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Accept, or refuse, the risk of operating a system before its people are trained</a:t>
            </a:r>
            <a:endParaRPr lang="en-US" sz="1400" dirty="0"/>
          </a:p>
        </p:txBody>
      </p:sp>
      <p:sp>
        <p:nvSpPr>
          <p:cNvPr id="20"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Authorizing official</a:t>
            </a:r>
            <a:endParaRPr lang="en-US" sz="1400" dirty="0"/>
          </a:p>
        </p:txBody>
      </p:sp>
      <p:sp>
        <p:nvSpPr>
          <p:cNvPr id="21"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the system operates</a:t>
            </a:r>
            <a:endParaRPr lang="en-US" sz="1400" dirty="0"/>
          </a:p>
        </p:txBody>
      </p:sp>
      <p:sp>
        <p:nvSpPr>
          <p:cNvPr id="2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800-50 Rev. 1 (example policies); 5 CFR 930.301 and 410.201. Book 16, Chapter 08; Book 14, Chapter 10. The separations are program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Training runs on the roadmap, phase by phase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858000" cy="914400"/>
        </p:xfrm>
        <a:graphic>
          <a:graphicData uri="http://schemas.openxmlformats.org/drawingml/2006/table">
            <a:tbl>
              <a:tblPr firstRow="1" bandRow="1"/>
              <a:tblGrid>
                <a:gridCol w="1280160"/>
                <a:gridCol w="2606040"/>
                <a:gridCol w="297180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Phase → gate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Who must be ready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they need (design)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65760">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0 → G0</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Sponsor, steering committee, ISSOs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Orientation; compliance track begins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1 → G1</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Platform teams; help desk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Labs; the desk trained and verified first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2 → G2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Pilot users and champions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First wave cycle; every module tested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3 → G3</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Each wave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Same cycle; modules fixed after each wave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4 → G4</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AD administrators, app owners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Role transition into cloud roles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5 → G5</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AD administrators; help desk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Retire every AD-era module and runbook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6, steady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Everyone, by role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Refresh; new roles; annual evaluation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pic>
        <p:nvPicPr>
          <p:cNvPr id="6" name="Image 0" descr="Six gate cards stacked from top to bottom, joined by arrows, each with a short training check. G0 Ready to Plan, slate: education walkthrough for the sponsor and core team, role roster drafted. G1 Foundation Complete, blue: administrators trained on just-in-time activation, help desk on verification, HR on feed data. G2 Pilot Clean, blue: pilot users trained before cutover, lessons folded back into content. G3 Rollout Complete, blue: each division trained before its wave. G4 Legacy Quiet, amber: owners of retired systems retrained, old procedures removed, incident response and contingency training updated. G5 AD Retired, green: steady-state roles trained, no course teaches an Active Directory procedure. Below the stack, a violet card joined by a dashed arrow: the evidence at every gate, completion counts against a stated roster, read by the gate's approver.">    </p:cNvPr>
          <p:cNvPicPr>
            <a:picLocks noChangeAspect="1"/>
          </p:cNvPicPr>
          <p:nvPr/>
        </p:nvPicPr>
        <p:blipFill>
          <a:blip r:embed="rId1"/>
          <a:stretch>
            <a:fillRect/>
          </a:stretch>
        </p:blipFill>
        <p:spPr>
          <a:xfrm>
            <a:off x="8330278" y="1371600"/>
            <a:ext cx="2587564" cy="3291840"/>
          </a:xfrm>
          <a:prstGeom prst="rect">
            <a:avLst/>
          </a:prstGeom>
        </p:spPr>
      </p:pic>
      <p:sp>
        <p:nvSpPr>
          <p:cNvPr id="7"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8"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9"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0"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Schedule no gate without its training dates, and no wave without its training window</a:t>
            </a:r>
            <a:endParaRPr lang="en-US" sz="1400" dirty="0"/>
          </a:p>
        </p:txBody>
      </p:sp>
      <p:sp>
        <p:nvSpPr>
          <p:cNvPr id="11"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Program office</a:t>
            </a:r>
            <a:endParaRPr lang="en-US" sz="1400" dirty="0"/>
          </a:p>
        </p:txBody>
      </p:sp>
      <p:sp>
        <p:nvSpPr>
          <p:cNvPr id="12"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Every plan update (design)</a:t>
            </a:r>
            <a:endParaRPr lang="en-US" sz="140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5 CFR 930.301(d); NIST SP 800-53 Rev. 5 (AT-2, AT-3); SP 800-50 Rev. 1; OMB A-130. Book 16, Chapters 01 and 09; Book 01, Chapter 12. The schedule is program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Keep the knowledge when people and contracts change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Keep card 1" descr="">
            <a:extLst>
              <a:ext uri="{C183D7F6-B498-43B3-948B-1728B52AA6E4}">
                <adec:decorative xmlns:adec="http://schemas.microsoft.com/office/drawing/2017/decorative" val="1"/>
              </a:ext>
            </a:extLst>
          </p:cNvPr>
          <p:cNvSpPr/>
          <p:nvPr/>
        </p:nvSpPr>
        <p:spPr>
          <a:xfrm>
            <a:off x="548640" y="1371600"/>
            <a:ext cx="361188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6" name="Icon FaUsersGear" descr="">
            <a:extLst>
              <a:ext uri="{C183D7F6-B498-43B3-948B-1728B52AA6E4}">
                <adec:decorative xmlns:adec="http://schemas.microsoft.com/office/drawing/2017/decorative" val="1"/>
              </a:ext>
            </a:extLst>
          </p:cNvPr>
          <p:cNvSpPr/>
          <p:nvPr/>
        </p:nvSpPr>
        <p:spPr>
          <a:xfrm>
            <a:off x="749808" y="1508760"/>
            <a:ext cx="566928" cy="566928"/>
          </a:xfrm>
          <a:prstGeom prst="ellipse">
            <a:avLst/>
          </a:prstGeom>
          <a:solidFill>
            <a:srgbClr val="0F766E"/>
          </a:solidFill>
          <a:ln w="12700">
            <a:solidFill>
              <a:srgbClr val="0F766E"/>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5871" y="1644823"/>
            <a:ext cx="294803" cy="294803"/>
          </a:xfrm>
          <a:prstGeom prst="rect">
            <a:avLst/>
          </a:prstGeom>
        </p:spPr>
      </p:pic>
      <p:sp>
        <p:nvSpPr>
          <p:cNvPr id="8" name="Keep head 1"/>
          <p:cNvSpPr txBox="1"/>
          <p:nvPr/>
        </p:nvSpPr>
        <p:spPr>
          <a:xfrm>
            <a:off x="1463040" y="1508760"/>
            <a:ext cx="2560320" cy="566928"/>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Spread the knowledge</a:t>
            </a:r>
            <a:endParaRPr lang="en-US" sz="1700" dirty="0"/>
          </a:p>
        </p:txBody>
      </p:sp>
      <p:sp>
        <p:nvSpPr>
          <p:cNvPr id="9" name="Keep text 1"/>
          <p:cNvSpPr txBox="1"/>
          <p:nvPr/>
        </p:nvSpPr>
        <p:spPr>
          <a:xfrm>
            <a:off x="77724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At least two qualified instructors per module (design)</a:t>
            </a:r>
            <a:endParaRPr lang="en-US" sz="1400" dirty="0"/>
          </a:p>
          <a:p>
            <a:pPr marL="342900" indent="-342900">
              <a:spcAft>
                <a:spcPts val="600"/>
              </a:spcAft>
              <a:buSzPct val="100000"/>
              <a:buChar char="•"/>
            </a:pPr>
            <a:r>
              <a:rPr lang="en-US" sz="1300" dirty="0">
                <a:solidFill>
                  <a:schemeClr val="tx2"/>
                </a:solidFill>
              </a:rPr>
              <a:t>Module owners from the owning workstream</a:t>
            </a:r>
            <a:endParaRPr lang="en-US" sz="1400" dirty="0"/>
          </a:p>
          <a:p>
            <a:pPr marL="342900" indent="-342900">
              <a:spcAft>
                <a:spcPts val="600"/>
              </a:spcAft>
              <a:buSzPct val="100000"/>
              <a:buChar char="•"/>
            </a:pPr>
            <a:r>
              <a:rPr lang="en-US" sz="1300" dirty="0">
                <a:solidFill>
                  <a:schemeClr val="tx2"/>
                </a:solidFill>
              </a:rPr>
              <a:t>Modules cite their source chapters, versioned</a:t>
            </a:r>
            <a:endParaRPr lang="en-US" sz="1400" dirty="0"/>
          </a:p>
        </p:txBody>
      </p:sp>
      <p:sp>
        <p:nvSpPr>
          <p:cNvPr id="10" name="Keep card 2" descr="">
            <a:extLst>
              <a:ext uri="{C183D7F6-B498-43B3-948B-1728B52AA6E4}">
                <adec:decorative xmlns:adec="http://schemas.microsoft.com/office/drawing/2017/decorative" val="1"/>
              </a:ext>
            </a:extLst>
          </p:cNvPr>
          <p:cNvSpPr/>
          <p:nvPr/>
        </p:nvSpPr>
        <p:spPr>
          <a:xfrm>
            <a:off x="4297680" y="1371600"/>
            <a:ext cx="361188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1" name="Icon FaUserTie" descr="">
            <a:extLst>
              <a:ext uri="{C183D7F6-B498-43B3-948B-1728B52AA6E4}">
                <adec:decorative xmlns:adec="http://schemas.microsoft.com/office/drawing/2017/decorative" val="1"/>
              </a:ext>
            </a:extLst>
          </p:cNvPr>
          <p:cNvSpPr/>
          <p:nvPr/>
        </p:nvSpPr>
        <p:spPr>
          <a:xfrm>
            <a:off x="4498848" y="1508760"/>
            <a:ext cx="566928" cy="566928"/>
          </a:xfrm>
          <a:prstGeom prst="ellipse">
            <a:avLst/>
          </a:prstGeom>
          <a:solidFill>
            <a:srgbClr val="1F2A44"/>
          </a:solidFill>
          <a:ln w="12700">
            <a:solidFill>
              <a:srgbClr val="1F2A44"/>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34911" y="1644823"/>
            <a:ext cx="294803" cy="294803"/>
          </a:xfrm>
          <a:prstGeom prst="rect">
            <a:avLst/>
          </a:prstGeom>
        </p:spPr>
      </p:pic>
      <p:sp>
        <p:nvSpPr>
          <p:cNvPr id="13" name="Keep head 2"/>
          <p:cNvSpPr txBox="1"/>
          <p:nvPr/>
        </p:nvSpPr>
        <p:spPr>
          <a:xfrm>
            <a:off x="5212080" y="1508760"/>
            <a:ext cx="2560320" cy="566928"/>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Contractors on record</a:t>
            </a:r>
            <a:endParaRPr lang="en-US" sz="1700" dirty="0"/>
          </a:p>
        </p:txBody>
      </p:sp>
      <p:sp>
        <p:nvSpPr>
          <p:cNvPr id="14" name="Keep text 2"/>
          <p:cNvSpPr txBox="1"/>
          <p:nvPr/>
        </p:nvSpPr>
        <p:spPr>
          <a:xfrm>
            <a:off x="452628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In the same learning system as staff</a:t>
            </a:r>
            <a:endParaRPr lang="en-US" sz="1400" dirty="0"/>
          </a:p>
          <a:p>
            <a:pPr marL="342900" indent="-342900">
              <a:spcAft>
                <a:spcPts val="600"/>
              </a:spcAft>
              <a:buSzPct val="100000"/>
              <a:buChar char="•"/>
            </a:pPr>
            <a:r>
              <a:rPr lang="en-US" sz="1300" dirty="0">
                <a:solidFill>
                  <a:schemeClr val="tx2"/>
                </a:solidFill>
              </a:rPr>
              <a:t>CORs accountable for completion</a:t>
            </a:r>
            <a:endParaRPr lang="en-US" sz="1400" dirty="0"/>
          </a:p>
          <a:p>
            <a:pPr marL="342900" indent="-342900">
              <a:spcAft>
                <a:spcPts val="600"/>
              </a:spcAft>
              <a:buSzPct val="100000"/>
              <a:buChar char="•"/>
            </a:pPr>
            <a:r>
              <a:rPr lang="en-US" sz="1300" dirty="0">
                <a:solidFill>
                  <a:schemeClr val="tx2"/>
                </a:solidFill>
              </a:rPr>
              <a:t>Employer-trained still needs an agency record</a:t>
            </a:r>
            <a:endParaRPr lang="en-US" sz="1400" dirty="0"/>
          </a:p>
          <a:p>
            <a:pPr marL="342900" indent="-342900">
              <a:spcAft>
                <a:spcPts val="600"/>
              </a:spcAft>
              <a:buSzPct val="100000"/>
              <a:buChar char="•"/>
            </a:pPr>
            <a:r>
              <a:rPr lang="en-US" sz="1300" dirty="0">
                <a:solidFill>
                  <a:schemeClr val="tx2"/>
                </a:solidFill>
              </a:rPr>
              <a:t>They deliver; officials decide</a:t>
            </a:r>
            <a:endParaRPr lang="en-US" sz="1400" dirty="0"/>
          </a:p>
        </p:txBody>
      </p:sp>
      <p:sp>
        <p:nvSpPr>
          <p:cNvPr id="15" name="Keep card 3" descr="">
            <a:extLst>
              <a:ext uri="{C183D7F6-B498-43B3-948B-1728B52AA6E4}">
                <adec:decorative xmlns:adec="http://schemas.microsoft.com/office/drawing/2017/decorative" val="1"/>
              </a:ext>
            </a:extLst>
          </p:cNvPr>
          <p:cNvSpPr/>
          <p:nvPr/>
        </p:nvSpPr>
        <p:spPr>
          <a:xfrm>
            <a:off x="8046720" y="1371600"/>
            <a:ext cx="3611880" cy="3291840"/>
          </a:xfrm>
          <a:prstGeom prst="roundRect">
            <a:avLst>
              <a:gd name="adj" fmla="val 222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UserClock" descr="">
            <a:extLst>
              <a:ext uri="{C183D7F6-B498-43B3-948B-1728B52AA6E4}">
                <adec:decorative xmlns:adec="http://schemas.microsoft.com/office/drawing/2017/decorative" val="1"/>
              </a:ext>
            </a:extLst>
          </p:cNvPr>
          <p:cNvSpPr/>
          <p:nvPr/>
        </p:nvSpPr>
        <p:spPr>
          <a:xfrm>
            <a:off x="8247888" y="1508760"/>
            <a:ext cx="566928" cy="566928"/>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83951" y="1644823"/>
            <a:ext cx="294803" cy="294803"/>
          </a:xfrm>
          <a:prstGeom prst="rect">
            <a:avLst/>
          </a:prstGeom>
        </p:spPr>
      </p:pic>
      <p:sp>
        <p:nvSpPr>
          <p:cNvPr id="18" name="Keep head 3"/>
          <p:cNvSpPr txBox="1"/>
          <p:nvPr/>
        </p:nvSpPr>
        <p:spPr>
          <a:xfrm>
            <a:off x="8961120" y="1508760"/>
            <a:ext cx="2560320" cy="566928"/>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People in transition</a:t>
            </a:r>
            <a:endParaRPr lang="en-US" sz="1700" dirty="0"/>
          </a:p>
        </p:txBody>
      </p:sp>
      <p:sp>
        <p:nvSpPr>
          <p:cNvPr id="19" name="Keep text 3"/>
          <p:cNvSpPr txBox="1"/>
          <p:nvPr/>
        </p:nvSpPr>
        <p:spPr>
          <a:xfrm>
            <a:off x="827532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AD administrators trained into cloud roles (Phase 4)</a:t>
            </a:r>
            <a:endParaRPr lang="en-US" sz="1400" dirty="0"/>
          </a:p>
          <a:p>
            <a:pPr marL="342900" indent="-342900">
              <a:spcAft>
                <a:spcPts val="600"/>
              </a:spcAft>
              <a:buSzPct val="100000"/>
              <a:buChar char="•"/>
            </a:pPr>
            <a:r>
              <a:rPr lang="en-US" sz="1300" dirty="0">
                <a:solidFill>
                  <a:schemeClr val="tx2"/>
                </a:solidFill>
              </a:rPr>
              <a:t>Retrained or reassigned by G4</a:t>
            </a:r>
            <a:endParaRPr lang="en-US" sz="1400" dirty="0"/>
          </a:p>
          <a:p>
            <a:pPr marL="342900" indent="-342900">
              <a:spcAft>
                <a:spcPts val="600"/>
              </a:spcAft>
              <a:buSzPct val="100000"/>
              <a:buChar char="•"/>
            </a:pPr>
            <a:r>
              <a:rPr lang="en-US" sz="1300" dirty="0">
                <a:solidFill>
                  <a:schemeClr val="tx2"/>
                </a:solidFill>
              </a:rPr>
              <a:t>Certifications belong to the person; keep your own record</a:t>
            </a:r>
            <a:endParaRPr lang="en-US" sz="1400" dirty="0"/>
          </a:p>
        </p:txBody>
      </p:sp>
      <p:sp>
        <p:nvSpPr>
          <p:cNvPr id="20"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1"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03427" y="5228539"/>
            <a:ext cx="332842" cy="332842"/>
          </a:xfrm>
          <a:prstGeom prst="rect">
            <a:avLst/>
          </a:prstGeom>
        </p:spPr>
      </p:pic>
      <p:sp>
        <p:nvSpPr>
          <p:cNvPr id="23"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Record every contractor's training in the agency's learning system, with each COR accountable</a:t>
            </a:r>
            <a:endParaRPr lang="en-US" sz="1400" dirty="0"/>
          </a:p>
        </p:txBody>
      </p:sp>
      <p:sp>
        <p:nvSpPr>
          <p:cNvPr id="24"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Contracting officer's representatives</a:t>
            </a:r>
            <a:endParaRPr lang="en-US" sz="1400" dirty="0"/>
          </a:p>
        </p:txBody>
      </p:sp>
      <p:sp>
        <p:nvSpPr>
          <p:cNvPr id="25"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Before access</a:t>
            </a:r>
            <a:endParaRPr lang="en-US" sz="140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FISMA; OMB A-130 § 5.c and Appendix I; Microsoft exam registration guidance. Book 16, Chapters 02, 06, 08 and 09. Grouping these as retention is our inference.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Readiness is measured on the job, not in the course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Four cards across the top. A blue card, completion: the learning management system's completion records set against the role roster. A blue card, competence: assessment results, lab demonstrations and observed scenarios for roles that carry risk. A slate card, sentiment: post-training and follow-up surveys, anonymous and summarized. A slate card, behavior: help desk ticket trends by category, sign-in method registration and phishing report rates. All four send arrows to a violet card in the middle, the readiness record, per role and per gate: required, complete, competent, and the trend in each signal, with counts and no names. From the readiness record, an amber arrow goes to an amber card, the gate decision, made by the gate's authority in Book 01 with readiness as one criterion; a violet arrow goes to a violet card, the training evidence record that the ISSO reviews for AT-4; and a dashed arrow goes to a slate card, the steering committee readiness report.">    </p:cNvPr>
          <p:cNvPicPr>
            <a:picLocks noChangeAspect="1"/>
          </p:cNvPicPr>
          <p:nvPr/>
        </p:nvPicPr>
        <p:blipFill>
          <a:blip r:embed="rId1"/>
          <a:stretch>
            <a:fillRect/>
          </a:stretch>
        </p:blipFill>
        <p:spPr>
          <a:xfrm>
            <a:off x="548640" y="1371600"/>
            <a:ext cx="5760720" cy="2469966"/>
          </a:xfrm>
          <a:prstGeom prst="rect">
            <a:avLst/>
          </a:prstGeom>
        </p:spPr>
      </p:pic>
      <p:sp>
        <p:nvSpPr>
          <p:cNvPr id="6" name="Measure box" descr="">
            <a:extLst>
              <a:ext uri="{C183D7F6-B498-43B3-948B-1728B52AA6E4}">
                <adec:decorative xmlns:adec="http://schemas.microsoft.com/office/drawing/2017/decorative" val="1"/>
              </a:ext>
            </a:extLst>
          </p:cNvPr>
          <p:cNvSpPr/>
          <p:nvPr/>
        </p:nvSpPr>
        <p:spPr>
          <a:xfrm>
            <a:off x="6492240" y="1371600"/>
            <a:ext cx="516636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ChartLine" descr="">
            <a:extLst>
              <a:ext uri="{C183D7F6-B498-43B3-948B-1728B52AA6E4}">
                <adec:decorative xmlns:adec="http://schemas.microsoft.com/office/drawing/2017/decorative" val="1"/>
              </a:ext>
            </a:extLst>
          </p:cNvPr>
          <p:cNvSpPr/>
          <p:nvPr/>
        </p:nvSpPr>
        <p:spPr>
          <a:xfrm>
            <a:off x="672084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852514" y="1649578"/>
            <a:ext cx="285293" cy="285293"/>
          </a:xfrm>
          <a:prstGeom prst="rect">
            <a:avLst/>
          </a:prstGeom>
        </p:spPr>
      </p:pic>
      <p:sp>
        <p:nvSpPr>
          <p:cNvPr id="9" name="Measure head"/>
          <p:cNvSpPr txBox="1"/>
          <p:nvPr/>
        </p:nvSpPr>
        <p:spPr>
          <a:xfrm>
            <a:off x="7406640" y="1517904"/>
            <a:ext cx="4160520" cy="548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Completion is not competence</a:t>
            </a:r>
            <a:endParaRPr lang="en-US" sz="1700" dirty="0"/>
          </a:p>
        </p:txBody>
      </p:sp>
      <p:sp>
        <p:nvSpPr>
          <p:cNvPr id="10" name="Measure list"/>
          <p:cNvSpPr txBox="1"/>
          <p:nvPr/>
        </p:nvSpPr>
        <p:spPr>
          <a:xfrm>
            <a:off x="6720840" y="2194560"/>
            <a:ext cx="48006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Completion, for everyone</a:t>
            </a:r>
            <a:endParaRPr lang="en-US" sz="1400" dirty="0"/>
          </a:p>
          <a:p>
            <a:pPr marL="342900" indent="-342900">
              <a:spcAft>
                <a:spcPts val="600"/>
              </a:spcAft>
              <a:buSzPct val="100000"/>
              <a:buChar char="•"/>
            </a:pPr>
            <a:r>
              <a:rPr lang="en-US" sz="1350" dirty="0">
                <a:solidFill>
                  <a:schemeClr val="tx2"/>
                </a:solidFill>
              </a:rPr>
              <a:t>Competence, wherever a mistake is a security event</a:t>
            </a:r>
            <a:endParaRPr lang="en-US" sz="1400" dirty="0"/>
          </a:p>
          <a:p>
            <a:pPr marL="342900" indent="-342900">
              <a:spcAft>
                <a:spcPts val="600"/>
              </a:spcAft>
              <a:buSzPct val="100000"/>
              <a:buChar char="•"/>
            </a:pPr>
            <a:r>
              <a:rPr lang="en-US" sz="1350" dirty="0">
                <a:solidFill>
                  <a:schemeClr val="tx2"/>
                </a:solidFill>
              </a:rPr>
              <a:t>Behavior: registration, ticket volume and decay</a:t>
            </a:r>
            <a:endParaRPr lang="en-US" sz="1400" dirty="0"/>
          </a:p>
          <a:p>
            <a:pPr marL="342900" indent="-342900">
              <a:spcAft>
                <a:spcPts val="600"/>
              </a:spcAft>
              <a:buSzPct val="100000"/>
              <a:buChar char="•"/>
            </a:pPr>
            <a:r>
              <a:rPr lang="en-US" sz="1350" dirty="0">
                <a:solidFill>
                  <a:schemeClr val="tx2"/>
                </a:solidFill>
              </a:rPr>
              <a:t>The pilot sets the baseline; each wave adjusts it</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Treat every overdue or unassessed person in a privileged role as a finding, whatever the percentage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ISSO, against the CISO's threshold</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Every evidence review</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A-130, Appendix I; NIST SP 800-50 Rev. 1; SP 800-181 Rev. 1; Microsoft Entra authentication methods activity report. Book 16, Chapters 08 and 10. Targets are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steering committee should see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1828800"/>
                <a:gridCol w="4480560"/>
              </a:tblGrid>
              <a:tr h="31089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Cadence (design)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the committee sees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6692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Every meeting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One page: the next gate and next two waves, by role group</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Quarterly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Completion and competence; surveys, tickets, revisions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Annually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OPM's evaluation: what training cost, changed and missed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Each gate review</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gate's readiness criteria, from the record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Five box" descr="">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ListCheck"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9" name="Five head"/>
          <p:cNvSpPr txBox="1"/>
          <p:nvPr/>
        </p:nvSpPr>
        <p:spPr>
          <a:xfrm>
            <a:off x="8001000" y="1517904"/>
            <a:ext cx="3566160" cy="54864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Five questions, in order</a:t>
            </a:r>
            <a:endParaRPr lang="en-US" sz="1700" dirty="0"/>
          </a:p>
        </p:txBody>
      </p:sp>
      <p:sp>
        <p:nvSpPr>
          <p:cNvPr id="10" name="Five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Is the next gate's workforce ready?</a:t>
            </a:r>
            <a:endParaRPr lang="en-US" sz="1400" dirty="0"/>
          </a:p>
          <a:p>
            <a:pPr marL="342900" indent="-342900">
              <a:spcAft>
                <a:spcPts val="600"/>
              </a:spcAft>
              <a:buSzPct val="100000"/>
              <a:buChar char="•"/>
            </a:pPr>
            <a:r>
              <a:rPr lang="en-US" sz="1350" dirty="0">
                <a:solidFill>
                  <a:schemeClr val="tx2"/>
                </a:solidFill>
              </a:rPr>
              <a:t>Are the next two waves ready?</a:t>
            </a:r>
            <a:endParaRPr lang="en-US" sz="1400" dirty="0"/>
          </a:p>
          <a:p>
            <a:pPr marL="342900" indent="-342900">
              <a:spcAft>
                <a:spcPts val="600"/>
              </a:spcAft>
              <a:buSzPct val="100000"/>
              <a:buChar char="•"/>
            </a:pPr>
            <a:r>
              <a:rPr lang="en-US" sz="1350" dirty="0">
                <a:solidFill>
                  <a:schemeClr val="tx2"/>
                </a:solidFill>
              </a:rPr>
              <a:t>What happened in the last wave?</a:t>
            </a:r>
            <a:endParaRPr lang="en-US" sz="1400" dirty="0"/>
          </a:p>
          <a:p>
            <a:pPr marL="342900" indent="-342900">
              <a:spcAft>
                <a:spcPts val="600"/>
              </a:spcAft>
              <a:buSzPct val="100000"/>
              <a:buChar char="•"/>
            </a:pPr>
            <a:r>
              <a:rPr lang="en-US" sz="1350" dirty="0">
                <a:solidFill>
                  <a:schemeClr val="tx2"/>
                </a:solidFill>
              </a:rPr>
              <a:t>Where are the privileged gaps? A count</a:t>
            </a:r>
            <a:endParaRPr lang="en-US" sz="1400" dirty="0"/>
          </a:p>
          <a:p>
            <a:pPr marL="342900" indent="-342900">
              <a:spcAft>
                <a:spcPts val="600"/>
              </a:spcAft>
              <a:buSzPct val="100000"/>
              <a:buChar char="•"/>
            </a:pPr>
            <a:r>
              <a:rPr lang="en-US" sz="1350" dirty="0">
                <a:solidFill>
                  <a:schemeClr val="tx2"/>
                </a:solidFill>
              </a:rPr>
              <a:t>What must the committee decide?</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50" dirty="0">
                <a:solidFill>
                  <a:srgbClr val="334155"/>
                </a:solidFill>
              </a:rPr>
              <a:t>Review readiness at every meeting; evaluate the training program each year, as OPM requires</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50" dirty="0">
                <a:solidFill>
                  <a:srgbClr val="334155"/>
                </a:solidFill>
              </a:rPr>
              <a:t>Steering committee; head of agency yearly</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50" dirty="0">
                <a:solidFill>
                  <a:srgbClr val="334155"/>
                </a:solidFill>
              </a:rPr>
              <a:t>Each meeting; yearly</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800-50 Rev. 1; 5 CFR 410.201 and 410.202. Book 16, Chapters 08, 09 and 10. The cadence and the five questions are program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to make, owners and timing</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914400"/>
        </p:xfrm>
        <a:graphic>
          <a:graphicData uri="http://schemas.openxmlformats.org/drawingml/2006/table">
            <a:tbl>
              <a:tblPr firstRow="1" bandRow="1"/>
              <a:tblGrid>
                <a:gridCol w="6080760"/>
                <a:gridCol w="2606040"/>
                <a:gridCol w="24231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Owner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When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47472">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Fund the learning program; name a training lead; brief CHCO, labor relations, 508</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Sponsor and CIO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Before G0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Training check at every gate; dates on the plan; central lab tenants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Program office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From G0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Roster from HR and identity records; a training plan with track owners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CHCO's office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By G0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Competency requirements; position codes reviewed at each gate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CHCO, CIO; HR classification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As roles change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What users are taught; credential as a privileged-role condition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Before pilot; later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Engineers pass their labs before the next phase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Steward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Before G1, each gate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Help desk trained and staffed; waves held when thresholds miss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Desk manager; wave owner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Each wave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Contractors' training on the agency's record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CORs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Before access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Privileged gaps are findings; untrained operation is a risk call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ISSO; authorizing official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Each review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Readiness at every meeting; the annual evaluation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Steering committee; agency head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Each meeting; yearly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lose line"/>
          <p:cNvSpPr txBox="1"/>
          <p:nvPr/>
        </p:nvSpPr>
        <p:spPr>
          <a:xfrm>
            <a:off x="548640" y="5349240"/>
            <a:ext cx="11109960" cy="502920"/>
          </a:xfrm>
          <a:prstGeom prst="rect">
            <a:avLst/>
          </a:prstGeom>
          <a:noFill/>
          <a:ln/>
        </p:spPr>
        <p:txBody>
          <a:bodyPr wrap="square" lIns="0" tIns="0" rIns="0" bIns="0" rtlCol="0" anchor="ctr"/>
          <a:lstStyle/>
          <a:p>
            <a:pPr algn="ctr" indent="0" marL="0">
              <a:buNone/>
            </a:pPr>
            <a:r>
              <a:rPr lang="en-US" sz="1600" b="1" dirty="0">
                <a:solidFill>
                  <a:srgbClr val="B45309"/>
                </a:solidFill>
              </a:rPr>
              <a:t>None of these is a procurement.  </a:t>
            </a:r>
            <a:pPr algn="ctr" indent="0" marL="0">
              <a:buNone/>
            </a:pPr>
            <a:r>
              <a:rPr lang="en-US" sz="1600" dirty="0">
                <a:solidFill>
                  <a:schemeClr val="tx2"/>
                </a:solidFill>
              </a:rPr>
              <a:t>Tools enforce the rules; trained people make the decisions.</a:t>
            </a:r>
            <a:endParaRPr lang="en-US" sz="16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16, Chapters 01 to 10; owners from Chapter 08's responsibility matrix and the gate criteria in Chapters 01, 08 and 10. Timings marked design in the notes.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law, OMB, OPM and NIST</a:t>
            </a:r>
            <a:endParaRPr lang="en-US" sz="3000" dirty="0"/>
          </a:p>
        </p:txBody>
      </p:sp>
      <p:sp>
        <p:nvSpPr>
          <p:cNvPr id="3" name="Source list 1"/>
          <p:cNvSpPr txBox="1"/>
          <p:nvPr/>
        </p:nvSpPr>
        <p:spPr>
          <a:xfrm>
            <a:off x="548640" y="1371600"/>
            <a:ext cx="11064240" cy="45720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2"/>
                </a:solidFill>
              </a:rPr>
              <a:t>FISMA, 44 U.S.C. § 3554.  ·  Federal Cybersecurity Workforce Assessment Act of 2015, Pub. L. 114-113, Division N, Title III (5 U.S.C. 301 note).  ·  Chief Human Capital Officers Act, 5 U.S.C. §§ 1401–1402.  ·  Section 508, 29 U.S.C. § 794d; Revised 508 Standards, 36 CFR Part 1194, Appendix A.  ·  15 U.S.C. § 7443.</a:t>
            </a:r>
            <a:endParaRPr lang="en-US" sz="1400" dirty="0"/>
          </a:p>
          <a:p>
            <a:pPr marL="342900" indent="-342900">
              <a:spcAft>
                <a:spcPts val="800"/>
              </a:spcAft>
              <a:buSzPct val="100000"/>
              <a:buChar char="•"/>
            </a:pPr>
            <a:r>
              <a:rPr lang="en-US" sz="1300" dirty="0">
                <a:solidFill>
                  <a:schemeClr val="tx2"/>
                </a:solidFill>
              </a:rPr>
              <a:t>OMB Circular A-130 (July 2016), § 5.c, § 6.g and Appendix I § 4.h.  ·  OMB M-22-09 (January 26, 2022).  ·  OMB M-24-08 (December 21, 2023).</a:t>
            </a:r>
            <a:endParaRPr lang="en-US" sz="1400" dirty="0"/>
          </a:p>
          <a:p>
            <a:pPr marL="342900" indent="-342900">
              <a:spcAft>
                <a:spcPts val="800"/>
              </a:spcAft>
              <a:buSzPct val="100000"/>
              <a:buChar char="•"/>
            </a:pPr>
            <a:r>
              <a:rPr lang="en-US" sz="1300" dirty="0">
                <a:solidFill>
                  <a:schemeClr val="tx2"/>
                </a:solidFill>
              </a:rPr>
              <a:t>OPM: 5 CFR 930.301; 5 CFR 410.201, 410.202 and 410.601; cybersecurity coding memoranda of January 4, 2017 and April 11, 2022; Interpretive Guidance for Cybersecurity Positions (October 2018).  ·  GAO-19-144 (March 12, 2019).</a:t>
            </a:r>
            <a:endParaRPr lang="en-US" sz="1400" dirty="0"/>
          </a:p>
          <a:p>
            <a:pPr marL="342900" indent="-342900">
              <a:spcAft>
                <a:spcPts val="800"/>
              </a:spcAft>
              <a:buSzPct val="100000"/>
              <a:buChar char="•"/>
            </a:pPr>
            <a:r>
              <a:rPr lang="en-US" sz="1300" dirty="0">
                <a:solidFill>
                  <a:schemeClr val="tx2"/>
                </a:solidFill>
              </a:rPr>
              <a:t>NIST: SP 800-50 Rev. 1 (September 2024); SP 800-53 Rev. 5, release 5.2.0, and SP 800-53B; SP 800-37 Rev. 2; SP 800-181 Rev. 1 and NICE Framework Components v2.0.0, v2.1.0 and v2.2.0 (April 28, 2026); SP 800-63B-4 (July 2025); SP 800-128.</a:t>
            </a:r>
            <a:endParaRPr lang="en-US" sz="1400" dirty="0"/>
          </a:p>
          <a:p>
            <a:pPr marL="342900" indent="-342900">
              <a:spcAft>
                <a:spcPts val="800"/>
              </a:spcAft>
              <a:buSzPct val="100000"/>
              <a:buChar char="•"/>
            </a:pPr>
            <a:r>
              <a:rPr lang="en-US" sz="1300" dirty="0">
                <a:solidFill>
                  <a:schemeClr val="tx2"/>
                </a:solidFill>
              </a:rPr>
              <a:t>Contrast only: DoD Directive 8140.01 and DoD Manual 8140.03, which don't apply to civilian agencies.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CISA, FedRAMP, Microsoft and vendors</a:t>
            </a:r>
            <a:endParaRPr lang="en-US" sz="3000" dirty="0"/>
          </a:p>
        </p:txBody>
      </p:sp>
      <p:sp>
        <p:nvSpPr>
          <p:cNvPr id="3" name="Source list 2"/>
          <p:cNvSpPr txBox="1"/>
          <p:nvPr/>
        </p:nvSpPr>
        <p:spPr>
          <a:xfrm>
            <a:off x="548640" y="1371600"/>
            <a:ext cx="11064240" cy="45720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2"/>
                </a:solidFill>
              </a:rPr>
              <a:t>CISA Cybersecurity Advisory AA23-320A, Scattered Spider (November 16, 2023; revised July 29, 2025).  ·  CISA Learning.  ·  FedRAMP Consolidated Rules for 2026, Key Security Indicators.</a:t>
            </a:r>
            <a:endParaRPr lang="en-US" sz="1400" dirty="0"/>
          </a:p>
          <a:p>
            <a:pPr marL="342900" indent="-342900">
              <a:spcAft>
                <a:spcPts val="800"/>
              </a:spcAft>
              <a:buSzPct val="100000"/>
              <a:buChar char="•"/>
            </a:pPr>
            <a:r>
              <a:rPr lang="en-US" sz="1300" dirty="0">
                <a:solidFill>
                  <a:schemeClr val="tx2"/>
                </a:solidFill>
              </a:rPr>
              <a:t>Microsoft Learn: Plan a phishing-resistant passwordless authentication deployment in Microsoft Entra ID; Conditional Access report-only and emergency access accounts; self-service password reset; smart lockout; Intune device visibility; Authentication Methods Activity; the Report button in Outlook.</a:t>
            </a:r>
            <a:endParaRPr lang="en-US" sz="1400" dirty="0"/>
          </a:p>
          <a:p>
            <a:pPr marL="342900" indent="-342900">
              <a:spcAft>
                <a:spcPts val="800"/>
              </a:spcAft>
              <a:buSzPct val="100000"/>
              <a:buChar char="•"/>
            </a:pPr>
            <a:r>
              <a:rPr lang="en-US" sz="1300" dirty="0">
                <a:solidFill>
                  <a:schemeClr val="tx2"/>
                </a:solidFill>
              </a:rPr>
              <a:t>Microsoft Learn certifications and exams, status as of October 22, 2026 (SC-300, SC-500, MD-102, AZ-802, AZ-700, DP-300, AZ-104, SC-200, SC-401, MS-102; AZ-500, AZ-800 and AZ-801 retired); renewal FAQ; Microsoft 365 Developer Program; Microsoft 365 Government trials.</a:t>
            </a:r>
            <a:endParaRPr lang="en-US" sz="1400" dirty="0"/>
          </a:p>
          <a:p>
            <a:pPr marL="342900" indent="-342900">
              <a:spcAft>
                <a:spcPts val="800"/>
              </a:spcAft>
              <a:buSzPct val="100000"/>
              <a:buChar char="•"/>
            </a:pPr>
            <a:r>
              <a:rPr lang="en-US" sz="1300" dirty="0">
                <a:solidFill>
                  <a:schemeClr val="tx2"/>
                </a:solidFill>
              </a:rPr>
              <a:t>Examples only, checked on each vendor's site (October 21, 2026): CompTIA, ISC2 and ISACA certification pages; Infoblox, BlueCat, Cisco, Fortinet, Palo Alto Networks, Zscaler, SailPoint, AWS, Broadcom and ServiceNow training pages. Naming them endorses none.</a:t>
            </a:r>
            <a:endParaRPr lang="en-US" sz="1400" dirty="0"/>
          </a:p>
          <a:p>
            <a:pPr marL="342900" indent="-342900">
              <a:spcAft>
                <a:spcPts val="800"/>
              </a:spcAft>
              <a:buSzPct val="100000"/>
              <a:buChar char="•"/>
            </a:pPr>
            <a:r>
              <a:rPr lang="en-US" sz="1300" dirty="0">
                <a:solidFill>
                  <a:schemeClr val="tx2"/>
                </a:solidFill>
              </a:rPr>
              <a:t>Full footnotes with links and access dates (October 21–22, 2026): Book 16, every chapter and Appendix A (whalermike.github.io/modernization-workbook/docs/books/b16-people/).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16 — People &amp; Training: the executive briefing</dc:title>
  <dc:subject>PptxGenJS Presentation</dc:subject>
  <dc:creator>Michael F. Stratton</dc:creator>
  <cp:lastModifiedBy>Michael F. Stratton</cp:lastModifiedBy>
  <cp:revision>1</cp:revision>
  <dcterms:created xsi:type="dcterms:W3CDTF">2026-10-27T09:55:05Z</dcterms:created>
  <dcterms:modified xsi:type="dcterms:W3CDTF">2026-10-27T09:55:05Z</dcterms:modified>
</cp:coreProperties>
</file>