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ECB037-5191-2165-A805-34F1846CCD37}">
          <p14:sldIdLst>
            <p14:sldId id="256"/>
          </p14:sldIdLst>
        </p14:section>
        <p14:section name="Why" id="{4A8EAB73-CC69-022A-8182-13E8264383B2}">
          <p14:sldIdLst>
            <p14:sldId id="257"/>
            <p14:sldId id="258"/>
          </p14:sldIdLst>
        </p14:section>
        <p14:section name="What" id="{71DCDE1B-605A-0EA3-D741-3C74480D958B}">
          <p14:sldIdLst>
            <p14:sldId id="259"/>
            <p14:sldId id="260"/>
            <p14:sldId id="261"/>
            <p14:sldId id="262"/>
            <p14:sldId id="263"/>
            <p14:sldId id="264"/>
            <p14:sldId id="265"/>
            <p14:sldId id="266"/>
          </p14:sldIdLst>
        </p14:section>
        <p14:section name="Who" id="{DD892D50-BE7A-DD76-C1CA-D1DF3E515F75}">
          <p14:sldIdLst>
            <p14:sldId id="267"/>
          </p14:sldIdLst>
        </p14:section>
        <p14:section name="How" id="{D284473C-D208-209B-EA5D-3823FEFEF0D8}">
          <p14:sldIdLst>
            <p14:sldId id="268"/>
            <p14:sldId id="269"/>
            <p14:sldId id="270"/>
            <p14:sldId id="271"/>
            <p14:sldId id="272"/>
            <p14:sldId id="273"/>
          </p14:sldIdLst>
        </p14:section>
        <p14:section name="Backup" id="{B735240E-3462-1101-BACA-AE9A6C46A81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7625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9: AI agent identities. An agent can act at a speed no person can, so the questions the program asks of every identity, who answers for it, what it holds, how it proves itself and when it ends, are asked before it exists, written down, and checked by code every week. We'll cover what's generally available and what's still preview, the program's decision as data, Learn's samples and their gaps, the rules, the sponsor checks, the agent Conditional Access plan, two labs and the dangers. One note before we begin: the code is illustrative, tested against fixtures.
Detail: The checks and the plan behind the project plan's Phase 6 and Gate 6, "AI identities governed." You start with Learn's own Microsoft Entra Agent ID samples (creating a blueprint with a sponsor, owner and credential, inheritable permissions, the agent Conditional Access policies and the Graph list requests), which the repository keeps as pinned copies, and you send them to a fake Graph to see what they do and what they leave out. Then examples/non-person-identity does the rest: creation closed (N6.1), the production handshake as a reviewed record (N6.2), agent credentials (N6.3), least privilege (N6.4), the sponsor mover and leaver rule (N6.5), agent Conditional Access in report-only (N6.6) and the AI drift checks (N6.7), with decision D-N6 as data. Most of what this chapter touches is new or in preview, and every capability carries its release stage and its US Government availability. Lab 1 runs on a laptop with no tenant; Lab 2 uses a test tenant. Goal: check, from code, every AI identity the program knows about against N6.1 to N6.7, fill in and verify the sponsor fields Chapter 02 recorded for N1.2, hand orphaned agents to Chapter 02's orphan rule, and produce the two agent Conditional Access policies as a reviewed, report-only plan.
Sources: Microsoft, MicrosoftDocs/entra-docs, docs/agent-id/create-blueprint.md, configure-inheritable-permissions-blueprints.md and disable-agent-identities.md at commit 7f78b50dce9d8cf119de57cbd6fd66e24a6c58d4 (October 30, 2026), MIT License, https://github.com/MicrosoftDocs/entra-docs/tree/7f78b50dce9d8cf119de57cbd6fd66e24a6c58d4/docs/agent-id (accessed Oct 30, 2026); pinned copy in examples/third_party/entra-agent-id-pages. · Microsoft, microsoftgraph/microsoft-graph-docs-contrib, api-reference/v1.0/api/agentidentityblueprint-list.md, agentidentity-list.md, agentidentityblueprint-list-sponsors.md, agentidentity-list-sponsors.md and their includes/permissions tables at commit bb35043c742d4406d73ccae904c05fbfca7c7428 (October 31, 2026, UTC), code MIT License, documentation Creative Commons Attribution 4.0, https://github.com/microsoftgraph/microsoft-graph-docs-contrib/tree/bb35043c742d4406d73ccae904c05fbfca7c7428/api-reference/v1.0 (accessed Oct 30, 2026); pinned copy in examples/third_party/graph-agent-id-api-pages.
Workbook: Building Non-Person Identity, Chapter 09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come with so many questions up front? Because an agent works at machine speed, so whatever it can reach, it reaches fast. Microsoft's answer is Agent ID. A blueprint holds the credentials and creates the agent identities, which hold the permissions and show up in the logs. That structure has a sharp edge: the blueprint gets tokens on behalf of every agent under it, so one compromised blueprint credential is every agent at once. The platform became generally available in April; the extra security features need Agent 365.
Detail: Agent ID gives AI agents their own identities: an agent identity blueprint holds the credentials and creates agent identities, special single-tenant service principals that hold the permissions and appear in the logs; the blueprint acquires tokens on their behalf, so a compromise of its credential affects every agent under it. Learn says Agent ID is available for all Microsoft Entra customers, and that extending Entra's security features to agents (Conditional Access, ID Protection, governance) requires Microsoft Agent 365. Learn's release notes list the Agent ID platform as generally available in April 2026, and sponsor lifecycle workflows followed in May 2026 (Book 17, Chapter 04). Learn's planning guidance says not to use a service principal for an AI agent.
Sources: Microsoft Learn, "Agent identities, service principals, and applications," key differences, https://learn.microsoft.com/entra/agent-id/agent-service-principals (accessed Oct 30, 2026). · Microsoft Learn, "What is Microsoft Entra Agent ID?," how to get started, https://learn.microsoft.com/entra/agent-id/what-is-microsoft-entra-agent-id (accessed Oct 30, 2026). · Microsoft Learn, "Microsoft Entra releases and announcements," April 2026, General Availability - Microsoft Entra Agent ID platform, https://learn.microsoft.com/entra/fundamentals/whats-new#april-2026, and "What's new in Microsoft Entra Agent ID," https://learn.microsoft.com/entra/agent-id/whats-new-agent-id (both accessed Oct 31, 2026). The older overview at entra/agent-id/identity-professional/microsoft-entra-agent-identities-for-ai-agents carried a preview notice; that address now opens the current overview, which has none. · Microsoft Learn, "Plan your agent identity architecture," step 1, https://learn.microsoft.com/entra/agent-id/how-to-plan-agent-identity-architecture (accessed Oct 30, 2026).
Workbook: Building Non-Person Identity, Chapter 09 — “What Microsoft Entra Agent ID is, and its stage”.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code, you need to know what's actually available, because the pieces are at different stages. The core objects are generally available. Conditional Access for agents and agent risk are preview, and the Graph properties for agent policies exist only in beta. In this estate's G C C cloud, the documented subset is listed, mostly for delegated access. In the higher government clouds, nothing is published yet. So the program's decision is held as data: in G C C the code reads agent identities, and elsewhere it falls back to applying the same rules to service principals.
Detail: Blueprints, agent identities, sponsors and owners (Graph v1.0): GA; the admin center wizards are labeled preview; GCC: agent registry, access packages and sponsor lifecycle policies listed as available; GCC High, DoD: not published: no Agent ID entry on Entra's Azure Government list. Conditional Access for agent identities: preview (the policy builder's label); Block is the only grant and agent risk the only condition; GCC: listed "for agents with delegated access"; app-only agent policies not listed; GCC High, DoD: not published. Agent risk, ID Protection for agents: preview; Entra ID P2 during the preview, and Agent 365 with P2 or E5 for risk-based policies; Learn's ID Protection page says Agent 365 will soon be required; GCC: listed with Conditional Access, delegated access; not published for GCC High, DoD. Agent Conditional Access properties in Graph: beta only. Sponsor tasks in Lifecycle Workflows: GA (May 2026, Book 17, Chapter 05); Agent 365 or Microsoft 365 E7; GCC listed as available; GCC High, DoD: not published (Lifecycle Workflows exist there; the agent tasks need Agent 365). Agent 365's service description says it meets all FedRAMP High controls its assessor reviewed and that final authorization is pending; its feature table heads the agent features' plan column "Requires Microsoft 365 E7 / G7 or Agent 365". GCC uses the worldwide endpoints, graph.microsoft.com and login.microsoftonline.com; GCC High and DoD use graph.microsoft.us and dod-graph.microsoft.us. Decision D-N6 as data: the plan's D-N6 (the CIO, with the Chief AI Officer) sets which AI identity capabilities the program builds on: agent identities where generally available in the agency's cloud, with GCC's documented subset; service principals and managed identities under the same governance where agent identities aren't available; preview capabilities as watch items. The code holds it as data, config/agent-id-capabilities-ch09.json, with each cloud's stage and the Learn page that states it, and status Proposed until the decision is made (research gaps, row 86). In gcc and global the code runs in AgentId mode and reads blueprints and agent identities. In gcchigh and dod it runs in Fallback mode: it sends no agent identity read, and the same rules run on the service principals and managed identities the inventory names, with sponsors from the inventory record, because the directory has nowhere to put one (Book 17, Chapter 05). Preview capabilities are reported, never enforced. Design guidance.
Sources: Microsoft Learn, "Create an agent identity blueprint," prerequisites; create; configure credentials, https://learn.microsoft.com/entra/agent-id/create-blueprint (accessed Oct 30, 2026). · Microsoft Learn, "Microsoft Agent 365" service description, feature availability (GCC column) and FedRAMP note, https://learn.microsoft.com/office365/servicedescriptions/microsoft-agent-365/microsoft-agent-365 (accessed Oct 31, 2026). · Microsoft Learn, "Microsoft Entra feature availability" (Azure for US Government), https://learn.microsoft.com/entra/identity/authentication/feature-availability (accessed Oct 30, 2026). · Microsoft Learn, "Target agent identities in Microsoft Entra Conditional Access policies," conditions, https://learn.microsoft.com/entra/identity/conditional-access/howto-target-agent-identities (accessed Oct 30, 2026). · Microsoft Learn, "Manage agent identities in your organization," inheritable permissions; sponsor oversight; detect and remediate agent risk, https://learn.microsoft.com/entra/agent-id/manage-agent-identities-admin (accessed Oct 30, 2026). · Microsoft Learn, "Secure autonomous agents with Conditional Access," prerequisites; allow only specific agents; block high-risk agent identities, https://learn.microsoft.com/entra/identity/conditional-access/policy-autonomous-agents (accessed Oct 31, 2026). · Microsoft Learn, "ID Protection for agents," licensing, https://learn.microsoft.com/entra/id-protection/concept-risky-agents (accessed Oct 31, 2026). · Microsoft Learn, "Microsoft Graph what's new history," November 2025, identity and sign-in (preview), https://learn.microsoft.com/graph/whats-new-earlier (accessed Oct 30, 2026). · Microsoft Learn, "Agent identity sponsor tasks in Lifecycle Workflows," https://learn.microsoft.com/entra/id-governance/agent-sponsor-tasks (accessed Oct 30, 2026). · Microsoft Learn, "Microsoft Entra ID Governance licensing fundamentals," features by license, https://learn.microsoft.com/entra/id-governance/licensing-fundamentals (accessed Oct 30, 2026). · Microsoft Learn, "Microsoft Graph national cloud deployments," https://learn.microsoft.com/graph/deployments (accessed Oct 30, 2026).
Workbook: Building Non-Person Identity, Chapter 09 — “What Microsoft Entra Agent ID is, and its stage” — the table; “Decision D-N6 as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program's rules, from Book 17, each held as a finding with a stable ID. Creation is closed, so an agent can't just appear. Every production agent has a reviewed handshake before it exists, naming who answers for it and what it may do. Credentials prefer a managed identity, and never a production secret. Inheritance never hands every future grant to every agent, and no agent holds a standing privileged role. Sponsors are real employees, and a transfer has ten business days to be confirmed. And drift is watched, with priorities.
Detail: Creation closed (N6.1): Users can create agent blueprints is set to No, so only administrators and the Agent ID roles can create one (Learn's delegation page names Agent ID Developer; its blueprint page names Agent ID Developer and Agent ID Administrator), and Users can register applications stays No, so an agent can't arrive as an ordinary app registration. Learn's planning guidance says not to use a service principal for an AI agent, so an agent on an app registration is routed to the blueprint path or carries a recorded D-N6 fallback reason (Book 17, Chapter 06). The production handshake (N6.2) is a reviewed record, made before the agent identity exists: blueprint, federal sponsor and sponsoring group, a technical owner who isn't the sponsor, the consented permissions, the Conditional Access policies that cover it, its placement, its use case in the AI use-case inventory, its access mode, the reviewer and the date. Learn's best practices describe the same handshake (Book 17, Chapter 05). Credentials (N6.3): a managed identity as the blueprint's federated credential, else federation, else a certificate; Learn recommends the managed identity for production and says secrets aren't recommended there. No production blueprint holds a client secret (Book 17, Chapter 06). Least privilege (N6.4): the access mode is chosen first; inheritance is never allAllowed for application roles, because that makes any future grant to the blueprint a grant to every agent; no AI identity holds a standing privileged role. Microsoft blocks some roles and permissions for agents, and that is a floor, not least privilege (Book 17, Chapter 06). Sponsors (N1.2, N6.5): a federal employee mastered in HR, a small sponsoring group, a technical owner who isn't the sponsor and a matching inventory record. When a sponsor moves or leaves, the sponsorship tasks run in the HR-driven workflows, and the new sponsor confirms within ten business days; an unconfirmed transfer makes the agent orphaned (Book 17, Chapter 05). Conditional Access (N6.6): two agent policies in report-only: block all agent identities except those approved by a custom security attribute, which only the handshake sets; and block high-risk agents, a preview watch item (Book 17, Chapter 06). Learn's own pattern is the same: block all agent identities, exclude approved ones by custom security attribute, start in report-only. Drift (N6.7): an agentic system with no governed identity, a shadow AI identity, an AI identity with no accountable human, and a credential added outside the pipeline (Book 17, Chapter 07), with the priorities Book 17 pins: P1, P1, P2 and P1.
Sources: Microsoft Learn, "Delegate app registration permissions in Microsoft Entra ID," restrict who can create applications and agents, https://learn.microsoft.com/entra/identity/role-based-access-control/delegate-app-roles (accessed Oct 31, 2026). · Microsoft Learn, "Create an agent identity blueprint," prerequisites; create; configure credentials, https://learn.microsoft.com/entra/agent-id/create-blueprint (accessed Oct 30, 2026). · Microsoft Learn, "Plan your agent identity architecture," step 1, https://learn.microsoft.com/entra/agent-id/how-to-plan-agent-identity-architecture (accessed Oct 30, 2026). · Microsoft Learn, "Configure inheritable permissions for agent identity blueprints," inheritance patterns and limitations, https://learn.microsoft.com/entra/agent-id/configure-inheritable-permissions-blueprints (accessed Oct 30, 2026). · Microsoft Learn, "Authorization in Microsoft Entra Agent ID," role assignments; Microsoft Entra roles allowed for agents; Graph permissions, https://learn.microsoft.com/entra/agent-id/authorization-agent-id (accessed Oct 31, 2026). · Microsoft Learn, "Secure autonomous agents with Conditional Access," prerequisites; allow only specific agents; block high-risk agent identities, https://learn.microsoft.com/entra/identity/conditional-access/policy-autonomous-agents (accessed Oct 31, 2026).
Workbook: Building Non-Person Identity, Chapter 09 — “The program's rules the code holds”.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gives you more samples here than in most chapters. There's a walk-through that creates a blueprint with a sponsor, an owner and credentials; samples for inheritable permissions; three agent Conditional Access policies; and Graph requests to list blueprints, agents and their sponsors. There's also a PowerShell module, but the chapter calls Graph directly so every request sits in its reviewed call list. Two sets of pages are pinned, eleven files in all, and a harness sends every sample, unmodified, to a fake Graph so the chapter's own checks can run on the result.
Detail: Learn's Create an agent identity blueprint has HTTP samples that create a blueprint with a sponsor and owner, add a managed identity as its federated identity credential, add a password, set an identifier URI and create the blueprint principal. Configure inheritable permissions for agent identity blueprints has samples that add, change and delete inheritable scopes and roles. Disable agent identities in your tenant has the Microsoft Graph bodies of three agent Conditional Access policies, report-only. The Graph API reference has a request sample for listing blueprints, agent identities and each one's sponsors. Microsoft Entra PowerShell also has Agent ID cmdlets, such as Get-EntraAgentIdentity and New-EntraAgentIdentityBlueprint; this chapter calls Graph directly with the API reference's paths, so every request is in its call list. The pinned copies: examples/third_party/entra-agent-id-pages, three pages from MicrosoftDocs/entra-docs at commit 7f78b50 (October 30, 2026), MIT; and examples/third_party/graph-agent-id-api-pages, four API reference pages and the generated permission tables they include, from microsoftgraph/microsoft-graph-docs-contrib at commit bb35043, code MIT and documentation Creative Commons Attribution 4.0. Each snapshot.json records every file's SHA-256 and its git blob hash, checked against the upstream tree, and a unit test checks the hashes. The weekly source watch reports new commits to each of the eleven upstream files. Updating a copy is a reviewed pull request. tests/AgentIdSampleHarness.ps1 finds each HTTP sample in the page source, parses the method, URL, headers and body, and sends it unmodified to the chapter's fake Graph (placeholders such as &lt;id&gt; are the only thing replaced, with fixture values). The fake serves the fictional tenant and accepts the samples' writes so a test can run the chapter's checks on the result.
Sources: Microsoft Learn, "Create an agent identity blueprint," prerequisites; create; configure credentials, https://learn.microsoft.com/entra/agent-id/create-blueprint (accessed Oct 30, 2026). · Microsoft Learn, "Configure inheritable permissions for agent identity blueprints," inheritance patterns and limitations, https://learn.microsoft.com/entra/agent-id/configure-inheritable-permissions-blueprints (accessed Oct 30, 2026). · Microsoft Learn, "Disable agent identities in your tenant," Conditional Access policies and blocking creation, https://learn.microsoft.com/entra/agent-id/disable-agent-identities (accessed Oct 30, 2026). · Microsoft Learn, "List agentIdentityBlueprint objects," https://learn.microsoft.com/graph/api/agentidentityblueprint-list?view=graph-rest-1.0 (accessed Oct 31, 2026). · Microsoft Learn, "List agentIdentity objects," https://learn.microsoft.com/graph/api/agentidentity-list?view=graph-rest-1.0 (accessed Oct 31, 2026). · Microsoft Learn, "List agentIdentityBlueprint sponsors," https://learn.microsoft.com/graph/api/agentidentityblueprint-list-sponsors?view=graph-rest-1.0 (accessed Oct 30, 2026). · Microsoft Learn, "List agentIdentity sponsors," https://learn.microsoft.com/graph/api/agentidentity-list-sponsors?view=graph-rest-1.0 (accessed Oct 30, 2026). · Microsoft Learn, "Get-EntraAgentIdentity" (Microsoft.Entra.Applications), https://learn.microsoft.com/powershell/module/microsoft.entra.applications/get-entraagentidentity?view=entra-powershell (accessed Oct 30, 2026). · Microsoft, MicrosoftDocs/entra-docs, docs/agent-id/create-blueprint.md, configure-inheritable-permissions-blueprints.md and disable-agent-identities.md at commit 7f78b50dce9d8cf119de57cbd6fd66e24a6c58d4 (October 30, 2026), MIT License, https://github.com/MicrosoftDocs/entra-docs/tree/7f78b50dce9d8cf119de57cbd6fd66e24a6c58d4/docs/agent-id (accessed Oct 30, 2026); pinned copy in examples/third_party/entra-agent-id-pages. · Microsoft, microsoftgraph/microsoft-graph-docs-contrib, api-reference/v1.0/api/agentidentityblueprint-list.md, agentidentity-list.md, agentidentityblueprint-list-sponsors.md, agentidentity-list-sponsors.md and their includes/permissions tables at commit bb35043c742d4406d73ccae904c05fbfca7c7428 (October 31, 2026, UTC), code MIT License, documentation Creative Commons Attribution 4.0, https://github.com/microsoftgraph/microsoft-graph-docs-contrib/tree/bb35043c742d4406d73ccae904c05fbfca7c7428/api-reference/v1.0 (accessed Oct 30, 2026); pinned copy in examples/third_party/graph-agent-id-api-pages.
Workbook: Building Non-Person Identity, Chapter 09 — “What Microsoft gives you”; “The pinned copies”.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requests are a good model, but they stop short. They read one page, and a page holds at most a hundred agents, so a bigger tenant is half-read. They hard-code the worldwide host. The agent sponsor request returns IDs only, and names only a write permission for what is a read, so the code expands sponsors on the list under a read permission instead. And the blueprint sample makes the same person sponsor and owner, meaning whoever decides an agent should exist also holds its keys. The code flags that.
Detail: Each row is pinned by a test in tests/NpiAgentId.Tests.ps1. Lists blueprints and agent identities, one object type each: kept as the model for the reads, every page followed. Reads one page; Learn's maximum is 100 objects a page: a tenant with more agents than one page is half-read; every next link followed, only on the cloud's own host. Hard-codes graph.microsoft.com: the host is wrong for GCC High and DoD; the host from the cloud table, checked on every request. List agentIdentity sponsors returns directory objects with an ID only, and names only the application permission AgentIdentity.ReadWrite.All: a write permission for a read, and no way to tell who the sponsor is; sponsors read with $expand=sponsors($select=id) on the list, under AgentIdentity.Read.All, then each person read once (research gaps, row 82). List agentIdentityBlueprint sponsors names Application.Read.All, where the blueprint's other reads name AgentIdentityBlueprint.Read.All: two least-privileged permissions for one object; both declared, each on its own call (row 83). Creates a blueprint with the same person as sponsor and owner: the person who decides the agent should exist would hold its keys; NPI-AI-09 on any blueprint or agent whose sponsor is also its owner.
Sources: Microsoft Learn, "List agentIdentity objects," https://learn.microsoft.com/graph/api/agentidentity-list?view=graph-rest-1.0 (accessed Oct 31, 2026). · Microsoft Learn, "List agentIdentity sponsors," https://learn.microsoft.com/graph/api/agentidentity-list-sponsors?view=graph-rest-1.0 (accessed Oct 30, 2026). · Microsoft Learn, "List agentIdentityBlueprint sponsors," https://learn.microsoft.com/graph/api/agentidentityblueprint-list-sponsors?view=graph-rest-1.0 (accessed Oct 30, 2026). · Microsoft Learn, "Create an agent identity blueprint," prerequisites; create; configure credentials, https://learn.microsoft.com/entra/agent-id/create-blueprint (accessed Oct 30, 2026).
Workbook: Building Non-Person Identity, Chapter 09 — “What it leaves to you”, rows 1–6.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safety. The blueprint sample adds a password next to the managed identity, which Learn itself doesn't recommend for production. The inheritance sample starts with allow-all, so every future grant to the blueprint quietly reaches every agent. The pages disagree on a path and a limit, so the code follows the API reference. And the block-all-agents policy has no exclusion, so if you enforced it, you'd block the approved agents too. So the verdict: use the reads and the credential model, and never enforce that block without its exclusion.
Detail: Adds a managed identity as the federated credential, and a password: Learn recommends the first for production and not the second; credential kind read from the blueprint; a secret on a production blueprint is NPI-AI-10. Configures inheritable permissions first with allAllowed for scopes and roles: every future grant becomes every agent's; NPI-AI-13: allAllowed roles a finding, allAllowed scopes a warning. Puts the type cast before the blueprint's ID; the API reference puts it after; allows 50 resource apps where Manage agent identities says 10: two paths and two limits for one property; the API reference's path (row 84). Updates and deletes with PATCH and DELETE: changes this chapter never makes; the only write is a report-only POST; PATCH, PUT and DELETE are never sent. Block agent identity authentication blocks every agent identity, with no exclusion: enforced, it blocks the approved agents too; the reviewed policy excludes approved agents by the custom security attribute; NPI-AI-18 checks its shape. Nothing about sponsors' lifecycle, the inventory, the handshake, standing roles, workflows or drift: most of Phase 6; NPI-AI-01 to NPI-AI-23. The verdict: use Learn's list requests as the model for the reads, its managed identity credential as the model for N6.3, and its report-only block policy as the start of N6.6. Don't use the create and inheritance samples as written for production, and don't enforce the block policy without the exclusion.
Sources: Microsoft Learn, "Create an agent identity blueprint," prerequisites; create; configure credentials, https://learn.microsoft.com/entra/agent-id/create-blueprint (accessed Oct 30, 2026). · Microsoft Learn, "Configure inheritable permissions for agent identity blueprints," inheritance patterns and limitations, https://learn.microsoft.com/entra/agent-id/configure-inheritable-permissions-blueprints (accessed Oct 30, 2026). · Microsoft Learn, "Manage agent identities in your organization," inheritable permissions; sponsor oversight; detect and remediate agent risk, https://learn.microsoft.com/entra/agent-id/manage-agent-identities-admin (accessed Oct 30, 2026). · Microsoft Learn, "Disable agent identities in your tenant," Conditional Access policies and blocking creation, https://learn.microsoft.com/entra/agent-id/disable-agent-identities (accessed Oct 30, 2026).
Workbook: Building Non-Person Identity, Chapter 09 — “What it leaves to you”, rows 7–12; “The verdict”.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code add? Its own module, a read-only entry script and a separate write path, plus the decision table, the program's rules and two reviewed policies. It builds on Chapters 1 and 2 and changes neither. The inputs are where accountability lives: the Chief AI Officer's use-case inventory, the handshake records, HR's mover and leaver events with each new sponsor's confirmation, and the change board's approved credential changes. One setting has no Graph property at all, so a person reads it in the admin center and records the reading with a date.
Detail: This chapter's code is powershell/NpiAgentId/NpiAgentId.psm1, two entry scripts (Invoke-NpiAgentId.ps1, which only reads, and Invoke-NpiAgentCaAction.ps1, the write path), its own call list config/calls-ch09.json, the D-N6 table config/agent-id-capabilities-ch09.json, the program's rules config/agent-rules-ch09.json, and the two reviewed policies in config/agent-ca-ch09/. It imports NpiCore and NpiOwnership and changes neither. Inputs: Chapter 01's and Chapter 02's run folders (the register and ai-sponsor-fields.json, each checked against its manifest, and the ownership run checked against the register it was made from); ai-use-case-inventory.csv, kept by the Chief AI Officer's staff: UseCaseId, Name, Classification, Stage, RecordId, IdentityType, IdentityObjectId, BlueprintAppId, FederalSponsorUpn, SponsoringGroupId, TechnicalOwnerUpn, Placement; handshakes.json, kept by the identity governance officer: one reviewed record per production identity: the fields of N6.2, Environment, CredentialPlan, TimeBoundRoles with end dates, and a FallbackReason where D-N6 applies; creation-setting.json, kept by identity engineering: the reading of Users can create agent blueprints: value, who read it, when, where, the evidence; sponsor-events.csv and sponsor-confirmations.csv, from HR through the identity governance office; pipeline-changes.csv, kept by the change board: approved credential changes with their windows. The reads: Read-NpiAgentEstate reads, through a reader for the agent-id task: the authorization policy; in AgentId mode, the blueprints with their sponsors, owners, federated credentials and inheritable permissions, and the agent identities with their sponsors (expanded), owners, custom security attributes, app role assignments and active directory roles; and, in both modes, the beta Conditional Access policies, the Lifecycle Workflows and their tasks, the last 30 days of application-management audit events, and the directory roles of each service principal the inventory names. Learn documents no Graph property for Users can create agent blueprints (the authorization policy's defaultUserRolePermissions has allowedToCreateApps, not a blueprint setting), so that setting comes from a dated reading a person makes in the admin center (research gaps, row 81).
Sources: Microsoft Learn, "Get authorizationPolicy," https://learn.microsoft.com/graph/api/authorizationpolicy-get?view=graph-rest-1.0, and "defaultUserRolePermissions resource type" (v1.0 and beta), https://learn.microsoft.com/graph/api/resources/defaultuserrolepermissions?view=graph-rest-beta (accessed Oct 30, 2026).
Workbook: Building Non-Person Identity, Chapter 09 — “The code”; “The inputs”; “The reads”.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twenty-three rules, so let's take them in two halves. The first half covers how an agent comes to exist and who answers for it. Creation must be closed, with a recent reading to prove it. Every identity with a record needs a complete handshake, made before the agent was created, not after. Every agent needs a real sponsor, an enabled employee, plus a group, and a technical owner who isn't the sponsor, and the directory must agree with the record. Then the credential rules: no production secrets, and a certificate only with a reason.
Detail: NPI-AI-01 Finding: Users can create agent blueprints not read as No in the last 90 days (N6.1). NPI-AI-02 Finding: Users can register applications, or user consent beyond the low-risk policy (N6.1). NPI-AI-03 Warn / Info: an agent on an ordinary service principal where agent identities are available, with no recorded D-N6 fallback reason (Info in a fallback cloud; Finding when a record names an agent identity the cloud doesn't have) (N6.1, D-N6). NPI-AI-04 Finding: an AI identity with a record but no handshake (N6.2). NPI-AI-05 Finding: a handshake that is incomplete, names another blueprint, placement or use case, or makes the sponsor the technical owner (N6.2). NPI-AI-06 Finding: an agent identity created before its handshake was reviewed (N6.2). NPI-AI-07 Finding (P2) / Warn: no accountable human: no sponsor who is an enabled member employee; no sponsoring group (Warn) (N1.2, N6.7). NPI-AI-08 Finding: the record and the directory name different sponsors or groups (N1.2). NPI-AI-09 Finding: no technical owner, or the sponsor is also the owner (N1.2). NPI-AI-10 Finding / Info: a client secret on a production blueprint or on the app registration of a fallback service principal (Info on a blueprint tagged Development or Test) (N6.3). NPI-AI-11 Warn: a production blueprint whose best credential is a certificate (N6.3). Every finding has a stable ID, &lt;rule&gt;:&lt;object&gt;, as in Chapter 02. The sponsor fields: Chapter 02 recorded four empty fields for every AI identity it found. This chapter fills them in ai-identities.json (federal sponsor, sponsoring group, technical owner, inventory record, plus the use case, handshake, access mode, approval and sponsor state) for every agent identity, blueprint and fallback service principal, and checks them with NPI-AI-07 to NPI-AI-09. A sponsor counts only if the person is an enabled member whose employeeType is Employee; that attribute as the HR marker is the program's assumption (research gaps, row 89).
Sources: Microsoft Learn, "Delegate app registration permissions in Microsoft Entra ID," restrict who can create applications and agents, https://learn.microsoft.com/entra/identity/role-based-access-control/delegate-app-roles (accessed Oct 31, 2026). · Microsoft Learn, "Create an agent identity blueprint," prerequisites; create; configure credentials, https://learn.microsoft.com/entra/agent-id/create-blueprint (accessed Oct 30, 2026).
Workbook: Building Non-Person Identity, Chapter 09 — “The checks”, NPI-AI-01 to -11; “The sponsor fields”.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is about what an agent holds and how it's watched. Inheritance and directory roles come first: any directory role is a finding unless it's recorded with an end date, because Microsoft's list of roles an agent may hold includes some the program counts as privileged. Then the sponsor clock: ten business days, counted around federal holidays, and an unconfirmed transfer means the agent is orphaned and goes to Chapter 2's rule, where a person decides. Then the two policies, the approval attribute, and the three top-priority drift checks.
Detail: NPI-AI-12 Finding: no access mode in the handshake (N6.4). NPI-AI-13 Finding / Warn: inheritable roles allAllowed (Finding); inheritable scopes allAllowed (Warn) (N6.4). NPI-AI-14 Finding / Info: an active directory role with no end date recorded in the handshake (Info when time-bound and recorded) (N6.4). NPI-AI-15 Warn / Finding: an application permission outside the handshake's consent list, or on an on-behalf-of agent; a high-privilege Graph permission on a fallback service principal (Finding) (N6.4). NPI-AI-16 Finding / Info: a sponsor's move or leave unconfirmed after ten business days: an orphaned agent (Info, with the due date, inside the window) (N6.5). NPI-AI-17 Finding: no enabled mover or leaver workflow with the transfer and manager email tasks (N6.5). NPI-AI-18 Finding / Warn: the block-unapproved policy missing or changed; enforced while preview (Warn) (N6.6). NPI-AI-19 Warn: the high-risk block missing or changed: a preview watch item (N6.6). NPI-AI-20 Finding / Warn: the approval attribute without a complete handshake (Finding); a complete handshake without the attribute (Warn) (N6.6). NPI-AI-21 Finding (P1): an agentic system, deployed or piloted, with no governed identity (N6.7). NPI-AI-22 Finding (P1): a shadow AI identity: an agent identity or blueprint no record or handshake names (N6.7). NPI-AI-23 Finding (P1): a credential added to an AI identity with no matching change record (N6.7). The ten business days: Get-NpiBusinessDayDeadline counts weekdays that aren't federal holidays from the event's effective date; the holiday list is in agent-rules-ch09.json. A leaver on October 9, 2026 is due on October 26, because October 12 is a holiday. The confirmation comes from the program's record, because the Lifecycle Workflows task makes the manager the sponsor without asking (Book 17, Chapter 05; research gaps, row 87). An orphaned agent goes to orphan-candidates.json for Chapter 02's rule: the identity governance officer confirms, then a person disables. Disabling is never automatic. Standing privileged roles: Learn marks privileged roles with isPrivileged, on beta and in preview, and Authorization in Microsoft Entra Agent ID lists the Microsoft Entra roles an agent identity can be assigned, among them Directory Readers, Global Reader, Reports Reader, Security Reader and Exchange, SharePoint and Teams Administrator; custom roles can be assigned too. Several of those are roles Book 17 counts as privileged, so allowed isn't approved. The code doesn't decide which roles are privileged: any active directory role on an AI identity is a finding unless the handshake records it with an end date and an approval (research gaps, row 88).
Sources: Microsoft Learn, "Configure inheritable permissions for agent identity blueprints," inheritance patterns and limitations, https://learn.microsoft.com/entra/agent-id/configure-inheritable-permissions-blueprints (accessed Oct 30, 2026). · Microsoft Learn, "Privileged roles and permissions in Microsoft Entra ID (preview)," https://learn.microsoft.com/entra/identity/role-based-access-control/privileged-roles-permissions (accessed Oct 30, 2026). · Microsoft Learn, "Authorization in Microsoft Entra Agent ID," role assignments; Microsoft Entra roles allowed for agents; Graph permissions, https://learn.microsoft.com/entra/agent-id/authorization-agent-id (accessed Oct 31, 2026). · Microsoft Learn, "Agent identity sponsor tasks in Lifecycle Workflows," https://learn.microsoft.com/entra/id-governance/agent-sponsor-tasks (accessed Oct 30, 2026). · Microsoft Learn, "Lifecycle Workflow built-in tasks," supported tasks and task details, https://learn.microsoft.com/entra/id-governance/lifecycle-workflow-tasks (accessed Oct 30, 2026). · Microsoft Learn, "Secure autonomous agents with Conditional Access," prerequisites; allow only specific agents; block high-risk agent identities, https://learn.microsoft.com/entra/identity/conditional-access/policy-autonomous-agents (accessed Oct 31, 2026).
Workbook: Building Non-Person Identity, Chapter 09 — “The checks”, NPI-AI-12 to -23; “The ten business days”; “Standing privileged roles”.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thing this chapter ever writes is the two agent policies, report-only. The plan compares the reviewed files with the tenant, and where the program's decision says agent Conditional Access isn't published, it simply marks them not available. The write path refuses unless the plan is the approved one, recent, and for this tenant, and every write creates a report-only block policy and nothing else. It runs as a person with the Conditional Access administrator role. And it never turns a policy on; that waits until the feature leaves preview.
Detail: New-NpiAgentCaPlan compares the two reviewed policies with the tenant's: Create where there's none of that name, InPlace or Differs where there is, NotAvailable where D-N6 says agent Conditional Access isn't published. It refuses a reviewed file that isn't report-only Block. The plan is written as agent-ca-plan.json with the tenant, cloud and date, and the run prints its SHA-256. Invoke-NpiAgentCaAction.ps1 is the only code in this chapter that writes. It refuses to run unless the plan's SHA-256 is the approved one, the plan is for this tenant and cloud and no more than seven days old, every write is a POST to the cloud's own beta Conditional Access endpoint with state enabledForReportingButNotEnforced and Block alone, and a live run is a person signed in, delegated, with Conditional Access Administrator. Before each write it re-reads the policies and skips if one of that name appeared since review. Without -Apply it reports WouldSend. It never turns a policy on: that is a decision for when the agent targets leave preview in the agency's cloud.
Sources: Microsoft Learn, "Create conditionalAccessPolicy," https://learn.microsoft.com/graph/api/conditionalaccessroot-post-policies?view=graph-rest-1.0 (accessed Oct 30, 2026). · Microsoft Learn, "Conditional Access for agents," requirements and licensing; boundaries and limitations, https://learn.microsoft.com/entra/identity/conditional-access/agent-id (accessed Oct 30, 2026). · Microsoft Learn, "Microsoft Graph what's new history," November 2025, identity and sign-in (preview), https://learn.microsoft.com/graph/whats-new-earlier (accessed Oct 30, 2026).
Workbook: Building Non-Person Identity, Chapter 09 — “The agent Conditional Access plan and the separate write path”.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build it. The identity governance officer keeps the handshakes and confirms orphans. The Chief AI Officer's staff keep the use-case inventory, security operations own the drift findings, and the security officers review the evidence. The read task holds ten read permissions and nothing that ends in read-write; a test enforces that. A person running it also needs a reader role for custom attributes, and the agent administrator role unless they own the agents. The write task holds only the policy permissions, in a person's signed-in session.
Detail: Audience: developers who build the project's AI identity code, the identity governance officer, the Chief AI Officer's staff who keep the AI use-case inventory, security operations, who own the drift findings, and the ISSOs who review the evidence. You should read PowerShell 7 and know Chapters 01 and 02. You don't need a tenant until Lab 2. agent-id (read): 16 GETs: the authorization policy; blueprints, their sponsors, owners, federated credentials and inheritable permissions; agent identities, their owners, attributes, app role assignments; role assignments; users; Conditional Access policies (beta); workflows and their tasks; directory audits. Permissions: AgentIdentity.Read.All, AgentIdentityBlueprint.Read.All, Application.Read.All, AuditLog.Read.All, CustomSecAttributeAssignment.Read.All, LifecycleWorkflows-Workflow.Read.All, LifecycleWorkflows-Workflow.ReadBasic.All, Policy.Read.All, RoleManagement.Read.Directory, User.Read.All; a person running it needs Attribute Assignment Reader (or Attribute Assignment Administrator) to see the attributes, and Agent ID Administrator unless they own the agent objects, which the agent list pages name as the least-privileged role for nonowners. agent-ca-apply (write, delegated only): re-read the policies (beta); POST /identity/conditionalAccess/policies (beta); Policy.Read.All and Policy.ReadWrite.ConditionalAccess; Conditional Access Administrator. The tests (62 in tests/NpiAgentId.Tests.ps1) hold each task's declaration equal to the union of its calls, the read task GET only and holding nothing that ends in ReadWrite.
Sources: Microsoft Learn, "Manage custom security attribute assignments," prerequisites, https://learn.microsoft.com/graph/custom-security-attributes-examples (accessed Oct 31, 2026). · Microsoft Learn, "List agentIdentityBlueprint objects," https://learn.microsoft.com/graph/api/agentidentityblueprint-list?view=graph-rest-1.0 (accessed Oct 31, 2026). · Microsoft Learn, "List agentIdentity objects," https://learn.microsoft.com/graph/api/agentidentity-list?view=graph-rest-1.0 (accessed Oct 31, 2026). · Microsoft Learn, "Create conditionalAccessPolicy," https://learn.microsoft.com/graph/api/conditionalaccessroot-post-policies?view=graph-rest-1.0 (accessed Oct 30, 2026).
Workbook: Building Non-Person Identity, Chapter 09 — “Goal and audience”; the task table; “The tests”.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Chapters 1 and 2's output in place. First, send Learn's samples to the fake, and read the one test that matters most: the block-all-agents policy has no exclusion for approved agents. Then list each task's permissions, and read the decision table for each cloud: agent mode in the worldwide and G C C clouds, fallback in the higher ones. Then run the check in G C C. Eight AI identities, twenty-two findings, four of them top priority, and two orphan candidates for Chapter 2.
Detail: You need PowerShell 7.1 or later with Pester 5. Work in examples/non-person-identity, with Chapter 01's out/inventory and Chapter 02's out/ownership in place. Step 1, send Learn's samples to the fake: Invoke-Pester -Path tests/NpiAgentId.Tests.ps1 -FullNameFilter '*Learn*' -Output None -PassThru | Select-Object PassedCount, FailedCount, NotRunCount gives PassedCount 13, FailedCount 0, NotRunCount 49. Read the test for Block agent identity authentication: the shape check finds one problem in Learn's body, "no exclusion for approved agents". Step 2, list what each task needs: agent-id: AgentIdentity.Read.All, AgentIdentityBlueprint.Read.All, Application.Read.All, AuditLog.Read.All, CustomSecAttributeAssignment.Read.All, LifecycleWorkflows-Workflow.Read.All, LifecycleWorkflows-Workflow.ReadBasic.All, Policy.Read.All, RoleManagement.Read.Directory, User.Read.All; agent-ca-apply: Policy.Read.All, Policy.ReadWrite.ConditionalAccess. Step 3, read D-N6 for each cloud: global AgentId, GA (April 2026), Preview (policy builder label), GA (May 2026); gcc the same; gcchigh Fallback, Not published, Not published, Not published; dod the same. Step 4, check the AI identities and build the plan: ./Invoke-NpiAgentId.ps1 -Cloud gcc -RegisterRun out/inventory -OwnershipRun out/ownership -FixturePath tests/fixtures/ch09/agent-estate.json -InputPath tests/fixtures/ch09/inputs -OutputPath out/agent-id. Output: D-N6 (Proposed): AgentId mode in cloud 'gcc'; agent Conditional Access Preview (policy builder label); agent risk Preview. AI identities: 8 checked (4 AgentIdentity, 3 AgentIdentityBlueprint, 1 ServicePrincipal); Chapter 02 sponsor fields filled: 2 of 2. Findings: 22 Finding (4 P1, 2 P2), 6 Warn, 4 Info. Orphan candidates for Chapter 02: 2. Agent CA plan: Unapproved InPlace, HighRisk Create; nothing sent. Plan SHA-256: 754fda6b79d55b514ea438039da2ca764e14dc98a88f0c70a60f4ac9762ce450. The plan's hash is the same on every run with these inputs. The commands send Learn's pinned samples to a fake and run the example against a fictional tenant; -Apply in Lab 1 changes only the fake, in memory. Agent targeting in Conditional Access and agent risk are preview; agent identities aren't published for GCC High or DoD.
Sources: Building Non-Person Identity, Chapter 09, docs/project-plans/developer-workbooks/non-person-identity/09-ai-agent-identities.md
Workbook: Building Non-Person Identity, Chapter 09 — “Lab 1: fixtures, no tenant,” steps 1–4;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findings, the fictional tenant shows almost every way this can go wrong. One agent's handshake is incomplete and was reviewed a month after the agent already existed, and it holds a mail administrator role with no end date. Its blueprint has a secret, inherits every Graph role, and had a secret added outside any change window. Another agent's sponsor left and nobody confirmed a new one in time, so it's orphaned. There's a shadow agent nobody declared, and a piloted system with no identity at all. One agent passes everything, which is the target.
Detail: Step 5, read the findings (Severity Finding, grouped by rule): NPI-AI-05, -06, -12 and -14 once each, all on Case Triage Agent: its handshake lacks a sponsoring group, Conditional Access coverage and an access mode, names the sponsor as technical owner, was reviewed a month after the agent was created, and the agent holds Exchange Administrator with no end date. NPI-AI-07 twice (P2: Sandbox Helper and Pilot Sandbox Blueprint, whose only sponsor is a contractor), NPI-AI-08 once (Records Search: the record names Bob, the directory Carol), NPI-AI-09 four times, NPI-AI-10 twice (Case Triage Blueprint's secret; Correspondence Drafting's app registration), NPI-AI-13 once (Case Triage Blueprint inherits all Graph roles), NPI-AI-15 once (Correspondence Drafting holds Directory.ReadWrite.All), NPI-AI-16 once (Records Search: Bob left on October 9 and nobody confirmed by October 26), NPI-AI-17 once (the mover workflow has no transfer task), NPI-AI-20 once (Sandbox Helper carries the approval attribute with no handshake), and the P1 drift: NPI-AI-21 (Claims Summarizer, piloted, no identity), NPI-AI-22 twice (Sandbox Helper and Pilot Sandbox Blueprint) and NPI-AI-23 (a secret added to Case Triage Blueprint on October 20 by a person, outside any change window). Benefits Q&amp;A Agent and its blueprint pass every rule. Step 6, read the sponsor fields Chapter 02 recorded, filled: Benefits Q&amp;A Agent: erin@contoso.example, alice@contoso.example, CMDB-4001, HS-001, None. Case Triage Agent: carol, carol, CMDB-4002, HS-002, AwaitingConfirmation until 2026-11-10. Records Search Agent: carol, alice, CMDB-4003, HS-003, Orphaned. Sandbox Helper: no sponsor, alice, no record, no handshake, None. Benefits Agent Blueprint: erin, alice, CMDB-4001, HS-001; HS-003. Case Triage Blueprint: carol, carol, CMDB-4002, HS-002. Pilot Sandbox Blueprint: no sponsor, alice. Correspondence Drafting: erin, alice, CMDB-1100, HS-004, None.
Sources: Building Non-Person Identity, Chapter 09, docs/project-plans/developer-workbooks/non-person-identity/09-ai-agent-identities.md
Workbook: Building Non-Person Identity, Chapter 09 — “Lab 1: fixtures, no tenant,” steps 5–6.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run the same estate as if it lived in G C C High. The code switches to fallback mode and sends no agent identity read at all. The one ordinary service principal gets the same credential and permission findings it got before, and three records that name agent identities become findings, because that cloud doesn't have them. Back in G C C, the dry run would send exactly one request: a report-only high-risk policy, since the other already exists. Applying it to the fake creates it report-only, and a hash nobody approved is refused.
Detail: Step 7, run the D-N6 fallback in GCC High (Chapters 01 and 02 again, in that cloud): ./Invoke-NpiInventory.ps1 -Cloud gcchigh -FixturePath tests/fixtures/estate.json -OutputPath out/inventory-gcchigh; ./Invoke-NpiOwnership.ps1 -Cloud gcchigh -RegisterRun out/inventory-gcchigh -FixturePath tests/fixtures/estate.json -InputPath tests/fixtures/inputs -OutputPath out/ownership-gcchigh; ./Invoke-NpiAgentId.ps1 -Cloud gcchigh -RegisterRun out/inventory-gcchigh -OwnershipRun out/ownership-gcchigh -FixturePath tests/fixtures/ch09/agent-estate.json -InputPath tests/fixtures/ch09/inputs -OutputPath out/agent-id-gcchigh. The last prints: D-N6 (Proposed): Fallback mode in cloud 'gcchigh'; agent Conditional Access Not published; agent risk Not published. AI identities: 1 checked (1 ServicePrincipal); Chapter 02 sponsor fields filled: 0 of 2. Findings: 7 Finding (2 P1, 0 P2), 1 Warn, 2 Info. Orphan candidates for Chapter 02: 0. Agent CA plan: Unapproved NotAvailable, HighRisk NotAvailable; nothing sent. Plan SHA-256: 11f0e34d16a6bba70be08161df5c42a70f1a6899b28b30a50e2c8d5fff3d7cfe. No agent identity read is sent (out/agent-id-gcchigh/manifest.json lists none). Correspondence Drafting gets the same credential and permission findings as in GCC; three records that name agent identities become NPI-AI-03 findings, because the cloud has none. Step 8, dry-run the agent Conditional Access plan with its approved hash: $sha = (Get-FileHash out/agent-id/agent-ca-plan.json -Algorithm SHA256).Hash.ToLower(); ./Invoke-NpiAgentCaAction.ps1 -Cloud gcc -PlanPath out/agent-id/agent-ca-plan.json -ApprovedSha256 $sha -FixturePath tests/fixtures/ch09/agent-estate.json -OutputPath out/agent-ca-dryrun. Output: DryRun: 1 WouldSend: HighRisk POST https://graph.microsoft.com/beta/identity/conditionalAccess/policies. Step 9, apply it to the fake, then try a hash nobody approved: Apply: 1 Sent, with "Created ca000000-0000-4000-8000-000000000103 report-only; review its report-only results before any change of state"; then the refusal, "The plan's SHA-256 is 754fda6b…, not the approved 0000…; refusing to run a plan nobody reviewed." Step 10, Invoke-Pester -Path tests. Expected result: 513 tests passing, and out/agent-id/manifest.json listing 45 requests, the D-N6 mode, the SHA-256 of the register, of Chapter 02's sponsor fields and of each input. Delete out when you're done. The chapter's tests: 62 in tests/NpiAgentId.Tests.ps1: 13 send Learn's pinned samples to the fake as published; 49 cover the call list and its least-privilege test, D-N6 in each cloud, the inputs and their manifests, every rule, the business-day count, stable IDs, the plan and its deterministic hash, the writer's refusals, dry run, -Apply, the precheck, and the entry scripts.
Sources: Building Non-Person Identity, Chapter 09, docs/project-plans/developer-workbooks/non-person-identity/09-ai-agent-identities.md
Workbook: Building Non-Person Identity, Chapter 09 — “Lab 1: fixtures, no tenant,” steps 7–10;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licensed test tenant with fictional people, never production. Read the blueprint-creation setting yourself, since there's no Graph property for it, set it to No, and record the reading. Then build one properly governed agent from Learn's sample: a sponsor who isn't the owner, a managed identity credential, a handshake, an inventory row, and the approval attribute. Run the check with read permissions only, compare the policy shape with one made in the admin center, apply the plan as a person, and confirm both policies are report-only. Then remove it all by hand.
Detail: Use a test tenant in the worldwide or GCC cloud, never production, with fictional people, licensed for Agent 365 (or Microsoft 365 E7) with Entra ID P1, and P2 for agent risk. Run Chapters 01 and 02's Lab 2 first (out/inventory-test, out/ownership-test). 1 Read and record the creation setting: in the admin center, Entra ID &gt; Users &gt; User settings, read Users can create agent blueprints as at least a Cloud Application Administrator, set it to No in the test tenant, and record the reading in creation-setting.json. 2 Make one governed agent: with Agent ID Developer, create a test blueprint from Learn's Graph sample with a sponsor who is not the owner, add a managed identity as its federated credential, create its principal and one agent identity, write its handshake record and inventory row, and set the approval attribute (AgentAttributes, AgentApprovalStatus, Production_Approved) as an Attribute Assignment Administrator. 3 Run the check with an app holding only the agent-id permissions: Connect-MgGraph -Environment Global -TenantId &lt;tenant-id&gt; -ClientId &lt;app-id&gt; -CertificateThumbprint &lt;thumbprint&gt;; ./Invoke-NpiAgentId.ps1 -Cloud gcc -RegisterRun out/inventory-test -OwnershipRun out/ownership-test -InputPath &lt;inputs&gt; -OutputPath out/agent-id-test. Confirm that $expand=sponsors returns sponsors under AgentIdentity.Read.All (research gaps, row 82), and that agent-ca-plan.json lists both policies as Create. 4 Check the policy JSON against the admin center: create the block-unapproved policy once in the admin center, report-only, read it back from the beta endpoint, and compare the agentIdServicePrincipalFilter rule and the property's location with config/agent-ca-ch09/ (row 85). Delete that hand-made policy. 5 Dry-run, then apply, signed in as a person with Conditional Access Administrator: Connect-MgGraph -Environment Global -TenantId &lt;tenant-id&gt; -Scopes Policy.Read.All, Policy.ReadWrite.ConditionalAccess; then Invoke-NpiAgentCaAction.ps1 without and with -Apply. The two policies appear as Report-only. Review their report-only results for the test agent. 6 Back it out: as a person in the admin center, delete the two policies, remove the attribute, disable then delete the test agent identity and blueprint, set the creation setting back if the tenant needs it, and delete the out folders: they name people. The code deletes nothing.
Sources: Microsoft Learn, "Delegate app registration permissions in Microsoft Entra ID," restrict who can create applications and agents, https://learn.microsoft.com/entra/identity/role-based-access-control/delegate-app-roles (accessed Oct 31, 2026). · Microsoft Learn, "Create an agent identity blueprint," prerequisites; create; configure credentials, https://learn.microsoft.com/entra/agent-id/create-blueprint (accessed Oct 30, 2026). · Microsoft Learn, "Secure autonomous agents with Conditional Access," prerequisites; allow only specific agents; block high-risk agent identities, https://learn.microsoft.com/entra/identity/conditional-access/policy-autonomous-agents (accessed Oct 31, 2026). · Microsoft Learn, "Conditional Access for agents," requirements and licensing; boundaries and limitations, https://learn.microsoft.com/entra/identity/conditional-access/agent-id (accessed Oct 30, 2026). · Microsoft Learn, "Manage agent identities in your organization," inheritable permissions; sponsor oversight; detect and remediate agent risk, https://learn.microsoft.com/entra/agent-id/manage-agent-identities-admin (accessed Oct 30, 2026).
Workbook: Building Non-Person Identity, Chapter 09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make every familiar danger faster. Open creation means whoever builds an agent becomes its sponsor and owner. A secret on a blueprint isn't one credential, it's every agent made from it. Allow-all inheritance turns one future grant into a grant to every agent. A sponsor who leaves unnoticed leaves an agent nobody answers for. And preview features bring their own risks: enforcing a policy on a feature that can still change, or assuming the higher government clouds have objects they don't. Each danger has a guard that runs every week.
Detail: Anyone can create a blueprint: agents arrive with whoever built them as sponsor and owner; guard: NPI-AI-01 on a reading older than 90 days or not No; NPI-AI-02 on app registrations. An agent created before anyone reviewed it: an identity with access and no record; guard: NPI-AI-04 and NPI-AI-06; NPI-AI-22 for one nobody declared. The approval attribute set outside the handshake: the block policy lets an unreviewed agent through; guard: NPI-AI-20; the attribute is checked against a complete handshake. A secret on a production blueprint: one leaked secret is every agent made from it; guard: NPI-AI-10; NPI-AI-23 when a credential appears outside a change window. allAllowed role inheritance: a later grant to the blueprint reaches every agent at once; guard: NPI-AI-13. A standing privileged role: an administrator that can't be asked for MFA; guard: NPI-AI-14 unless time-bound and recorded. A sponsor leaves and nobody notices: an agent nobody answers for; guard: NPI-AI-16 after ten business days; orphan candidates to Chapter 02; NPI-AI-17 if the workflows lack the tasks. A preview policy enforced: agents blocked on a feature that can change, or not available in the cloud; guard: report-only only; NPI-AI-18 warns on an enforced policy; the writer refuses any other state; NotAvailable where D-N6 says so. A block policy with no exclusion: every approved agent blocked when enforced; guard: the reviewed policy's shape is checked, in the plan and in the tenant. Agent features assumed in GCC High or DoD: code that reads objects the cloud doesn't have; guard: D-N6 as data; Fallback mode sends no agent read and applies the same rules to service principals. A plan changed after review: different policies from the ones approved; guard: approved SHA-256, tenant, cloud, seven days, body checks, re-read before write. An unattended app that writes Conditional Access: a standing permission to change every policy; guard: the write path is delegated only, Conditional Access Administrator; the read path holds no ReadWrite permission.
Sources: Microsoft Learn, "Create an agent identity blueprint," prerequisites; create; configure credentials, https://learn.microsoft.com/entra/agent-id/create-blueprint (accessed Oct 30, 2026). · Microsoft Learn, "Configure inheritable permissions for agent identity blueprints," inheritance patterns and limitations, https://learn.microsoft.com/entra/agent-id/configure-inheritable-permissions-blueprints (accessed Oct 30, 2026). · Microsoft Learn, "Conditional Access for agents," requirements and licensing; boundaries and limitations, https://learn.microsoft.com/entra/identity/conditional-access/agent-id (accessed Oct 30, 2026).
Workbook: Building Non-Person Identity, Chapter 09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Creation is closed and the reading is recent. Every production agent had its handshake reviewed before it existed, with a real employee sponsor, a group, and a separate owner. No production blueprint holds a secret, nothing inherits every role, and no agent holds a standing directory role. Every sponsor transfer was confirmed on time, or handed to the orphan rule. Both policies are report-only and reviewed, and no top-priority drift is open. Next, Chapter 10 brings it all together: drift and evidence for the security officer. Thanks for watching.
Detail: Checklist: Users can create agent blueprints read as No within 90 days, and Users can register applications is No. Every production agent identity has a complete, reviewed handshake dated before it was created, and its approval attribute matches the handshake. Every AI identity has a sponsor who is an enabled employee, a sponsoring group, a technical owner who isn't the sponsor and a record that names the same people. No production blueprint, or fallback app registration, holds a client secret; every certificate has a recorded reason. No blueprint inherits application roles with allAllowed; no AI identity holds a directory role without a recorded end date. The mover and leaver workflows carry the sponsor transfer and email tasks, and every transfer was confirmed within ten business days or handed to Chapter 02's orphan rule. Both agent policies exist in report-only and their report-only results were reviewed; none is enforced while preview. No open P1 AI drift finding (NPI-AI-21, -22, -23). D-N6 is decided, and the capability table matches the decision and the agency's cloud. The plan's SHA-256 was approved by someone other than the person who applies it, and the write path ran as a person with Conditional Access Administrator. The pinned Learn pages match their manifests, and every upstream commit since the pin has been reviewed. Verified facts not shown on earlier slides: blueprint owners: AgentIdentityBlueprint.Read.All, L4 and L5; inheritable permissions list: AgentIdentityBlueprint.Read.All; agentIdentity resource: agentIdentityBlueprintId, servicePrincipalType ServiceIdentity; agent identity owners: AgentIdentity.Read.All; app role assignments: Application.Read.All, L4 and L5; directory role assignments: RoleManagement.Read.Directory, L4 and L5; Conditional Access list: Policy.Read.All; Conditional Access for agents isn't applied when a blueprint gets a Graph token to create agents; ID Protection for agents: riskyAgents, agentRiskDetections, detections kept 90 days; sponsor tasks: transfer agent identity sponsorships to manager b8f4c3d5-9e7a-4b1c-8f2d-6a5e8b9c7f4a, manager email b8c4e1f9-3a7d-4b2e-9c5f-8d6a9b1c2e3f, cosponsor email ad3b85cd-75b1-43e7-b4b9-0e52faba3944, mover and leaver only; list workflows LifecycleWorkflows-Workflow.ReadBasic.All, tasks LifecycleWorkflows-Workflow.Read.All, L4 and L5; directory audits AuditLog.Read.All, agent objects under the base type's activities with agentType on targets, L4 and L5; Agent 365: GCC column registry, access packages, sponsor lifecycle policies, CA and identity protection for delegated access available; Purview audit and DLP for agents not; GA for the commercial segment (May 1, 2026). Next: Chapter 10 — Drift and Evidence for the ISSO.
Sources: Microsoft Learn, "List agentIdentityBlueprint owners," https://learn.microsoft.com/graph/api/agentidentityblueprint-list-owners?view=graph-rest-1.0 (accessed Oct 30, 2026). · Microsoft Learn, "List inheritablePermission objects," https://learn.microsoft.com/graph/api/agentidentityblueprint-list-inheritablepermissions?view=graph-rest-1.0 (accessed Oct 30, 2026). · Microsoft Learn, "agentIdentity resource type," https://learn.microsoft.com/graph/api/resources/agentidentity?view=graph-rest-1.0 (accessed Oct 30, 2026). · Microsoft Learn, "List agentIdentity owners," https://learn.microsoft.com/graph/api/agentidentity-list-owners?view=graph-rest-1.0 (accessed Oct 30, 2026). · Microsoft Learn, "List appRoleAssignments granted to a service principal," https://learn.microsoft.com/graph/api/serviceprincipal-list-approleassignments?view=graph-rest-1.0 (accessed Oct 30, 2026). · Microsoft Learn, "List unifiedRoleAssignments," https://learn.microsoft.com/graph/api/rbacapplication-list-roleassignments?view=graph-rest-1.0 (accessed Oct 30, 2026). · Microsoft Learn, "List policies" (conditionalAccessRoot), https://learn.microsoft.com/graph/api/conditionalaccessroot-list-policies?view=graph-rest-1.0 (accessed Oct 30, 2026). · Microsoft Learn, "ID Protection for agents," licensing, https://learn.microsoft.com/entra/id-protection/concept-risky-agents (accessed Oct 31, 2026). · Microsoft Learn, "Lifecycle Workflow built-in tasks," supported tasks and task details, https://learn.microsoft.com/entra/id-governance/lifecycle-workflow-tasks (accessed Oct 30, 2026). · Microsoft Learn, "List workflows," https://learn.microsoft.com/graph/api/identitygovernance-lifecycleworkflowscontainer-list-workflows?view=graph-rest-1.0, and "List tasks (in Lifecycle Workflows)," https://learn.microsoft.com/graph/api/identitygovernance-workflow-list-task?view=graph-rest-1.0 (accessed Oct 30, 2026). · Microsoft Learn, "List directoryAudits," https://learn.microsoft.com/graph/api/directoryaudit-list?view=graph-rest-1.0 (accessed Oct 30, 2026). · Microsoft Learn, "Microsoft Entra Agent ID logs," audit logs and agentType, https://learn.microsoft.com/entra/agent-id/sign-in-audit-logs-agents (accessed Oct 30, 2026). · Microsoft Learn, "Overview of Microsoft Agent 365," availability and prerequisites, https://learn.microsoft.com/microsoft-agent-365/overview (accessed Oct 30, 2026).
Workbook: Building Non-Person Identity, Chapter 09 — “Checklist”; “Verified facts”;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Non-Person Identity  ·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09: AI Agent Identities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first · stages and D-N6 · Learn's samples and their gaps · 23 rules, sponsors, agent CA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85D781B7-5C96-D668-71B5-0491726B644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23C56E-1D0F-44D9-85B2-43C7E73B3A4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940"/>
    </mc:Choice>
    <mc:Fallback>
      <p:transition spd="slow" advTm="47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94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Agent ID is, and why its blueprint matters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An agent acts at a speed no person can, so its questions are asked before it exists.</a:t>
            </a:r>
            <a:endParaRPr lang="en-US" sz="1800" dirty="0"/>
          </a:p>
        </p:txBody>
      </p:sp>
      <p:sp>
        <p:nvSpPr>
          <p:cNvPr id="6" name="Card 1">
            <a:extLst>
              <a:ext uri="{C183D7F6-B498-43B3-948B-1728B52AA6E4}">
                <adec:decorative xmlns:adec="http://schemas.microsoft.com/office/drawing/2017/decorative" val="1"/>
              </a:ext>
            </a:extLst>
          </p:cNvPr>
          <p:cNvSpPr/>
          <p:nvPr/>
        </p:nvSpPr>
        <p:spPr>
          <a:xfrm>
            <a:off x="548640" y="1837944"/>
            <a:ext cx="3550920" cy="1882140"/>
          </a:xfrm>
          <a:prstGeom prst="roundRect">
            <a:avLst>
              <a:gd name="adj" fmla="val 388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Card 1 bar">
            <a:extLst>
              <a:ext uri="{C183D7F6-B498-43B3-948B-1728B52AA6E4}">
                <adec:decorative xmlns:adec="http://schemas.microsoft.com/office/drawing/2017/decorative" val="1"/>
              </a:ext>
            </a:extLst>
          </p:cNvPr>
          <p:cNvSpPr/>
          <p:nvPr/>
        </p:nvSpPr>
        <p:spPr>
          <a:xfrm>
            <a:off x="548640" y="1837944"/>
            <a:ext cx="82296" cy="1882140"/>
          </a:xfrm>
          <a:prstGeom prst="rect">
            <a:avLst/>
          </a:prstGeom>
          <a:solidFill>
            <a:srgbClr val="B91C1C"/>
          </a:solidFill>
          <a:ln w="12700">
            <a:solidFill>
              <a:srgbClr val="B91C1C"/>
            </a:solidFill>
            <a:prstDash val="solid"/>
          </a:ln>
        </p:spPr>
      </p:sp>
      <p:sp>
        <p:nvSpPr>
          <p:cNvPr id="8" name="Card 1 text"/>
          <p:cNvSpPr txBox="1"/>
          <p:nvPr/>
        </p:nvSpPr>
        <p:spPr>
          <a:xfrm>
            <a:off x="777240" y="1975104"/>
            <a:ext cx="3185160" cy="165354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Agent identity blueprint</a:t>
            </a:r>
            <a:endParaRPr lang="en-US" sz="1400" dirty="0"/>
          </a:p>
          <a:p>
            <a:pPr marL="0" indent="0">
              <a:spcAft>
                <a:spcPts val="300"/>
              </a:spcAft>
              <a:buNone/>
            </a:pPr>
            <a:r>
              <a:rPr lang="en-US" sz="1550" dirty="0">
                <a:solidFill>
                  <a:srgbClr val="334155"/>
                </a:solidFill>
              </a:rPr>
              <a:t>Holds the credentials and creates agent identities; acquires tokens on their behalf, so a compromise of its credential affects every agent under it</a:t>
            </a:r>
            <a:endParaRPr lang="en-US" sz="1400" dirty="0"/>
          </a:p>
        </p:txBody>
      </p:sp>
      <p:sp>
        <p:nvSpPr>
          <p:cNvPr id="9" name="Card 2">
            <a:extLst>
              <a:ext uri="{C183D7F6-B498-43B3-948B-1728B52AA6E4}">
                <adec:decorative xmlns:adec="http://schemas.microsoft.com/office/drawing/2017/decorative" val="1"/>
              </a:ext>
            </a:extLst>
          </p:cNvPr>
          <p:cNvSpPr/>
          <p:nvPr/>
        </p:nvSpPr>
        <p:spPr>
          <a:xfrm>
            <a:off x="4328160" y="1837944"/>
            <a:ext cx="3550920" cy="1882140"/>
          </a:xfrm>
          <a:prstGeom prst="roundRect">
            <a:avLst>
              <a:gd name="adj" fmla="val 388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Card 2 bar">
            <a:extLst>
              <a:ext uri="{C183D7F6-B498-43B3-948B-1728B52AA6E4}">
                <adec:decorative xmlns:adec="http://schemas.microsoft.com/office/drawing/2017/decorative" val="1"/>
              </a:ext>
            </a:extLst>
          </p:cNvPr>
          <p:cNvSpPr/>
          <p:nvPr/>
        </p:nvSpPr>
        <p:spPr>
          <a:xfrm>
            <a:off x="4328160" y="1837944"/>
            <a:ext cx="82296" cy="1882140"/>
          </a:xfrm>
          <a:prstGeom prst="rect">
            <a:avLst/>
          </a:prstGeom>
          <a:solidFill>
            <a:srgbClr val="1F2A44"/>
          </a:solidFill>
          <a:ln w="12700">
            <a:solidFill>
              <a:srgbClr val="1F2A44"/>
            </a:solidFill>
            <a:prstDash val="solid"/>
          </a:ln>
        </p:spPr>
      </p:sp>
      <p:sp>
        <p:nvSpPr>
          <p:cNvPr id="11" name="Card 2 text"/>
          <p:cNvSpPr txBox="1"/>
          <p:nvPr/>
        </p:nvSpPr>
        <p:spPr>
          <a:xfrm>
            <a:off x="4556760" y="1975104"/>
            <a:ext cx="3185160" cy="16535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Agent identities</a:t>
            </a:r>
            <a:endParaRPr lang="en-US" sz="1400" dirty="0"/>
          </a:p>
          <a:p>
            <a:pPr marL="0" indent="0">
              <a:spcAft>
                <a:spcPts val="300"/>
              </a:spcAft>
              <a:buNone/>
            </a:pPr>
            <a:r>
              <a:rPr lang="en-US" sz="1550" dirty="0">
                <a:solidFill>
                  <a:srgbClr val="334155"/>
                </a:solidFill>
              </a:rPr>
              <a:t>Special single-tenant service principals that hold the permissions and appear in the logs</a:t>
            </a:r>
            <a:endParaRPr lang="en-US" sz="1400" dirty="0"/>
          </a:p>
        </p:txBody>
      </p:sp>
      <p:sp>
        <p:nvSpPr>
          <p:cNvPr id="12" name="Card 3">
            <a:extLst>
              <a:ext uri="{C183D7F6-B498-43B3-948B-1728B52AA6E4}">
                <adec:decorative xmlns:adec="http://schemas.microsoft.com/office/drawing/2017/decorative" val="1"/>
              </a:ext>
            </a:extLst>
          </p:cNvPr>
          <p:cNvSpPr/>
          <p:nvPr/>
        </p:nvSpPr>
        <p:spPr>
          <a:xfrm>
            <a:off x="8107680" y="1837944"/>
            <a:ext cx="3550920" cy="1882140"/>
          </a:xfrm>
          <a:prstGeom prst="roundRect">
            <a:avLst>
              <a:gd name="adj" fmla="val 388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3" name="Card 3 bar">
            <a:extLst>
              <a:ext uri="{C183D7F6-B498-43B3-948B-1728B52AA6E4}">
                <adec:decorative xmlns:adec="http://schemas.microsoft.com/office/drawing/2017/decorative" val="1"/>
              </a:ext>
            </a:extLst>
          </p:cNvPr>
          <p:cNvSpPr/>
          <p:nvPr/>
        </p:nvSpPr>
        <p:spPr>
          <a:xfrm>
            <a:off x="8107680" y="1837944"/>
            <a:ext cx="82296" cy="1882140"/>
          </a:xfrm>
          <a:prstGeom prst="rect">
            <a:avLst/>
          </a:prstGeom>
          <a:solidFill>
            <a:srgbClr val="0F766E"/>
          </a:solidFill>
          <a:ln w="12700">
            <a:solidFill>
              <a:srgbClr val="0F766E"/>
            </a:solidFill>
            <a:prstDash val="solid"/>
          </a:ln>
        </p:spPr>
      </p:sp>
      <p:sp>
        <p:nvSpPr>
          <p:cNvPr id="14" name="Card 3 text"/>
          <p:cNvSpPr txBox="1"/>
          <p:nvPr/>
        </p:nvSpPr>
        <p:spPr>
          <a:xfrm>
            <a:off x="8336280" y="1975104"/>
            <a:ext cx="3185160" cy="16535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Availability</a:t>
            </a:r>
            <a:endParaRPr lang="en-US" sz="1400" dirty="0"/>
          </a:p>
          <a:p>
            <a:pPr marL="0" indent="0">
              <a:spcAft>
                <a:spcPts val="300"/>
              </a:spcAft>
              <a:buNone/>
            </a:pPr>
            <a:r>
              <a:rPr lang="en-US" sz="1550" dirty="0">
                <a:solidFill>
                  <a:srgbClr val="334155"/>
                </a:solidFill>
              </a:rPr>
              <a:t>Agent ID for all Entra customers; Conditional Access, ID Protection and governance for agents need Microsoft Agent 365</a:t>
            </a:r>
            <a:endParaRPr lang="en-US" sz="1400" dirty="0"/>
          </a:p>
        </p:txBody>
      </p:sp>
      <p:sp>
        <p:nvSpPr>
          <p:cNvPr id="15" name="Callout">
            <a:extLst>
              <a:ext uri="{C183D7F6-B498-43B3-948B-1728B52AA6E4}">
                <adec:decorative xmlns:adec="http://schemas.microsoft.com/office/drawing/2017/decorative" val="1"/>
              </a:ext>
            </a:extLst>
          </p:cNvPr>
          <p:cNvSpPr/>
          <p:nvPr/>
        </p:nvSpPr>
        <p:spPr>
          <a:xfrm>
            <a:off x="548640" y="390296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Lightbulb">
            <a:extLst>
              <a:ext uri="{C183D7F6-B498-43B3-948B-1728B52AA6E4}">
                <adec:decorative xmlns:adec="http://schemas.microsoft.com/office/drawing/2017/decorative" val="1"/>
              </a:ext>
            </a:extLst>
          </p:cNvPr>
          <p:cNvSpPr/>
          <p:nvPr/>
        </p:nvSpPr>
        <p:spPr>
          <a:xfrm>
            <a:off x="749808" y="3976116"/>
            <a:ext cx="606552" cy="606552"/>
          </a:xfrm>
          <a:prstGeom prst="ellipse">
            <a:avLst/>
          </a:prstGeom>
          <a:solidFill>
            <a:srgbClr val="B45309"/>
          </a:solidFill>
          <a:ln w="12700">
            <a:solidFill>
              <a:srgbClr val="B45309"/>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121688"/>
            <a:ext cx="315407" cy="315407"/>
          </a:xfrm>
          <a:prstGeom prst="rect">
            <a:avLst/>
          </a:prstGeom>
        </p:spPr>
      </p:pic>
      <p:sp>
        <p:nvSpPr>
          <p:cNvPr id="18" name="Callout text"/>
          <p:cNvSpPr txBox="1"/>
          <p:nvPr/>
        </p:nvSpPr>
        <p:spPr>
          <a:xfrm>
            <a:off x="1600200" y="395782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Stage: </a:t>
            </a:r>
            <a:r>
              <a:rPr lang="en-US" sz="1750" dirty="0">
                <a:solidFill>
                  <a:srgbClr val="334155"/>
                </a:solidFill>
              </a:rPr>
              <a:t>Agent ID platform GA in April 2026; sponsor lifecycle workflows in May 2026 (Book 17, Ch 04). Learn's planning guidance: don't use a service principal for an AI agent.</a:t>
            </a:r>
            <a:endParaRPr lang="en-US" sz="17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Agent identities, service principals, and applications; What is Agent ID; Entra releases (April 2026); Plan your agent identity architecture. Chapter 09, “The context.”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BC000B8B-183A-A5C1-0B5F-22B9C505642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BAC0276-B53F-4377-B9D9-606F2C3CE3E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90"/>
    </mc:Choice>
    <mc:Fallback>
      <p:transition spd="slow" advTm="38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9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Release stage by cloud, and D-N6 as data</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10028"/>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Capability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Release stage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GCC</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GCC High, DoD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Blueprints, agent identities, sponsors, owners (v1.0)</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GA; admin center wizards preview</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Registry, access packages, sponsor policies listed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published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Conditional Access for agents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Preview; Block only; agent risk the only condition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Delegated access only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published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Agent risk, ID Protection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Preview; P2 now, Agent 365 soon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With CA, delegated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published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Agent CA properties in Graph</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Beta only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Sponsor tasks in Lifecycle Workflows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GA (May 2026); Agent 365 or E7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Listed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published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018788"/>
            <a:ext cx="11109960" cy="1286256"/>
          </a:xfrm>
          <a:prstGeom prst="roundRect">
            <a:avLst>
              <a:gd name="adj" fmla="val 568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4341876"/>
            <a:ext cx="640080" cy="64008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495495"/>
            <a:ext cx="332842" cy="332842"/>
          </a:xfrm>
          <a:prstGeom prst="rect">
            <a:avLst/>
          </a:prstGeom>
        </p:spPr>
      </p:pic>
      <p:sp>
        <p:nvSpPr>
          <p:cNvPr id="9" name="Callout text"/>
          <p:cNvSpPr txBox="1"/>
          <p:nvPr/>
        </p:nvSpPr>
        <p:spPr>
          <a:xfrm>
            <a:off x="1600200" y="4073652"/>
            <a:ext cx="9875520" cy="1176528"/>
          </a:xfrm>
          <a:prstGeom prst="rect">
            <a:avLst/>
          </a:prstGeom>
          <a:noFill/>
          <a:ln/>
        </p:spPr>
        <p:txBody>
          <a:bodyPr wrap="square" lIns="0" tIns="0" rIns="0" bIns="0" rtlCol="0" anchor="ctr"/>
          <a:lstStyle/>
          <a:p>
            <a:pPr marL="0" indent="0">
              <a:buNone/>
            </a:pPr>
            <a:r>
              <a:rPr lang="en-US" sz="1750" b="1" dirty="0">
                <a:solidFill>
                  <a:srgbClr val="1F2A44"/>
                </a:solidFill>
              </a:rPr>
              <a:t>D-N6 (design guidance): </a:t>
            </a:r>
            <a:r>
              <a:rPr lang="en-US" sz="1750" dirty="0">
                <a:solidFill>
                  <a:srgbClr val="334155"/>
                </a:solidFill>
              </a:rPr>
              <a:t>config/agent-id-capabilities-ch09.json, status Proposed (row 86). gcc and global run in AgentId mode; gcchigh and dod in Fallback mode: no agent read, same rules on service principals and managed identities. Preview is reported, never enforced.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a blueprint; Agent 365 service description; feature availability; target agent identities; Manage agents; Graph what's new; sponsor tasks. Chapter 09, “D-N6.”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2778E96B-DB2E-53CE-9ABB-C8B1117FC0B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B10FE0C-E29D-4F2B-8C8D-401D25A28B3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90"/>
    </mc:Choice>
    <mc:Fallback>
      <p:transition spd="slow" advTm="40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79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program's rules, N6.1 to N6.7</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69664"/>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873252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Task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 (design guidance, from Book 17)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Creation closed (N6.1)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Users can create agent blueprints: No (admins and the Agent ID roles only); Users can register applications stays No; an agent on an app registration takes the blueprint path or records a D-N6 fallback reason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handshake (N6.2)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reviewed record before the agent exists: blueprint, federal sponsor and group, a technical owner who isn't the sponsor, permissions, CA policies, placement, use case, access mode, reviewer, date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Credentials (N6.3)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Managed identity as the blueprint's federated credential, else federation, else a certificate; no production client secret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Least privilege (N6.4)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Access mode first; never allAllowed for application roles; no standing privileged role. Microsoft's blocked roles are a floor, not least privilege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Sponsors (N1.2, N6.5)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HR-mastered federal employee, a small group, a separate owner; on a move or leave the new sponsor confirms within ten business days, or the agent is orphaned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Conditional Access (N6.6)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Two report-only policies: block all agents except those approved by a custom security attribute; block high-risk agents (preview watch item)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Drift (N6.7)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 governed identity (P1); shadow AI identity (P1); no accountable human (P2); credential added outside the pipeline (P1)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Delegate app permissions; Create a blueprint; Plan agent architecture; inheritable permissions; Agent ID authorization; Secure agents. Chapter 09, “The program's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0D594414-876C-58DC-853D-E904C475339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1780E2-702A-42FE-A2F4-8F00BFA1C14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50"/>
    </mc:Choice>
    <mc:Fallback>
      <p:transition spd="slow" advTm="39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5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Agent ID samples, pinned and sent to a fake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Learn gives">
            <a:extLst>
              <a:ext uri="{C183D7F6-B498-43B3-948B-1728B52AA6E4}">
                <adec:decorative xmlns:adec="http://schemas.microsoft.com/office/drawing/2017/decorative" val="1"/>
              </a:ext>
            </a:extLst>
          </p:cNvPr>
          <p:cNvSpPr/>
          <p:nvPr/>
        </p:nvSpPr>
        <p:spPr>
          <a:xfrm>
            <a:off x="548640" y="1325880"/>
            <a:ext cx="5417820" cy="3593592"/>
          </a:xfrm>
          <a:prstGeom prst="roundRect">
            <a:avLst>
              <a:gd name="adj" fmla="val 203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 GIVES</a:t>
            </a:r>
            <a:endParaRPr lang="en-US" sz="1100" dirty="0"/>
          </a:p>
        </p:txBody>
      </p:sp>
      <p:sp>
        <p:nvSpPr>
          <p:cNvPr id="7" name="Panel What Learn gives list"/>
          <p:cNvSpPr txBox="1"/>
          <p:nvPr/>
        </p:nvSpPr>
        <p:spPr>
          <a:xfrm>
            <a:off x="73152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Create an agent identity blueprint: sponsor and owner, a managed identity as federated credential, a password, an identifier URI, the blueprint principal</a:t>
            </a:r>
            <a:endParaRPr lang="en-US" sz="1450" dirty="0"/>
          </a:p>
          <a:p>
            <a:pPr marL="342900" indent="-342900">
              <a:spcAft>
                <a:spcPts val="400"/>
              </a:spcAft>
              <a:buSzPct val="100000"/>
              <a:buChar char="•"/>
            </a:pPr>
            <a:r>
              <a:rPr lang="en-US" sz="1450" dirty="0">
                <a:solidFill>
                  <a:srgbClr val="334155"/>
                </a:solidFill>
              </a:rPr>
              <a:t>Configure inheritable permissions: add, change and delete scopes and roles</a:t>
            </a:r>
            <a:endParaRPr lang="en-US" sz="1450" dirty="0"/>
          </a:p>
          <a:p>
            <a:pPr marL="342900" indent="-342900">
              <a:spcAft>
                <a:spcPts val="400"/>
              </a:spcAft>
              <a:buSzPct val="100000"/>
              <a:buChar char="•"/>
            </a:pPr>
            <a:r>
              <a:rPr lang="en-US" sz="1450" dirty="0">
                <a:solidFill>
                  <a:srgbClr val="334155"/>
                </a:solidFill>
              </a:rPr>
              <a:t>Disable agent identities: three agent CA policy bodies, report-only</a:t>
            </a:r>
            <a:endParaRPr lang="en-US" sz="1450" dirty="0"/>
          </a:p>
          <a:p>
            <a:pPr marL="342900" indent="-342900">
              <a:spcAft>
                <a:spcPts val="400"/>
              </a:spcAft>
              <a:buSzPct val="100000"/>
              <a:buChar char="•"/>
            </a:pPr>
            <a:r>
              <a:rPr lang="en-US" sz="1450" dirty="0">
                <a:solidFill>
                  <a:srgbClr val="334155"/>
                </a:solidFill>
              </a:rPr>
              <a:t>Graph reference: list blueprints, agent identities and each one's sponsors</a:t>
            </a:r>
            <a:endParaRPr lang="en-US" sz="1450" dirty="0"/>
          </a:p>
          <a:p>
            <a:pPr marL="342900" indent="-342900">
              <a:spcAft>
                <a:spcPts val="400"/>
              </a:spcAft>
              <a:buSzPct val="100000"/>
              <a:buChar char="•"/>
            </a:pPr>
            <a:r>
              <a:rPr lang="en-US" sz="1450" dirty="0">
                <a:solidFill>
                  <a:srgbClr val="334155"/>
                </a:solidFill>
              </a:rPr>
              <a:t>Entra PowerShell has Agent ID cmdlets; this chapter calls Graph directly, so every request is in its call list</a:t>
            </a:r>
            <a:endParaRPr lang="en-US" sz="1450" dirty="0"/>
          </a:p>
        </p:txBody>
      </p:sp>
      <p:sp>
        <p:nvSpPr>
          <p:cNvPr id="8" name="Panel The pinned copies">
            <a:extLst>
              <a:ext uri="{C183D7F6-B498-43B3-948B-1728B52AA6E4}">
                <adec:decorative xmlns:adec="http://schemas.microsoft.com/office/drawing/2017/decorative" val="1"/>
              </a:ext>
            </a:extLst>
          </p:cNvPr>
          <p:cNvSpPr/>
          <p:nvPr/>
        </p:nvSpPr>
        <p:spPr>
          <a:xfrm>
            <a:off x="6240780" y="1325880"/>
            <a:ext cx="5417820" cy="3593592"/>
          </a:xfrm>
          <a:prstGeom prst="roundRect">
            <a:avLst>
              <a:gd name="adj" fmla="val 203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ie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COPIES</a:t>
            </a:r>
            <a:endParaRPr lang="en-US" sz="1100" dirty="0"/>
          </a:p>
        </p:txBody>
      </p:sp>
      <p:sp>
        <p:nvSpPr>
          <p:cNvPr id="10" name="Panel The pinned copies list"/>
          <p:cNvSpPr txBox="1"/>
          <p:nvPr/>
        </p:nvSpPr>
        <p:spPr>
          <a:xfrm>
            <a:off x="642366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entra-agent-id-pages: three pages from MicrosoftDocs/entra-docs at 7f78b50, MIT</a:t>
            </a:r>
            <a:endParaRPr lang="en-US" sz="1450" dirty="0"/>
          </a:p>
          <a:p>
            <a:pPr marL="342900" indent="-342900">
              <a:spcAft>
                <a:spcPts val="400"/>
              </a:spcAft>
              <a:buSzPct val="100000"/>
              <a:buChar char="•"/>
            </a:pPr>
            <a:r>
              <a:rPr lang="en-US" sz="1450" dirty="0">
                <a:solidFill>
                  <a:srgbClr val="334155"/>
                </a:solidFill>
              </a:rPr>
              <a:t>graph-agent-id-api-pages: four API pages and their permission tables from microsoft-graph-docs-contrib at bb35043, MIT and CC BY 4.0</a:t>
            </a:r>
            <a:endParaRPr lang="en-US" sz="1450" dirty="0"/>
          </a:p>
          <a:p>
            <a:pPr marL="342900" indent="-342900">
              <a:spcAft>
                <a:spcPts val="400"/>
              </a:spcAft>
              <a:buSzPct val="100000"/>
              <a:buChar char="•"/>
            </a:pPr>
            <a:r>
              <a:rPr lang="en-US" sz="1450" dirty="0">
                <a:solidFill>
                  <a:srgbClr val="334155"/>
                </a:solidFill>
              </a:rPr>
              <a:t>snapshot.json hashes, unit-tested; the weekly watch covers all eleven upstream files</a:t>
            </a:r>
            <a:endParaRPr lang="en-US" sz="1450" dirty="0"/>
          </a:p>
          <a:p>
            <a:pPr marL="342900" indent="-342900">
              <a:spcAft>
                <a:spcPts val="400"/>
              </a:spcAft>
              <a:buSzPct val="100000"/>
              <a:buChar char="•"/>
            </a:pPr>
            <a:r>
              <a:rPr lang="en-US" sz="1450" dirty="0">
                <a:solidFill>
                  <a:srgbClr val="334155"/>
                </a:solidFill>
              </a:rPr>
              <a:t>AgentIdSampleHarness.ps1 sends each HTTP sample unmodified to the fake; only placeholders like &lt;id&gt; are replaced</a:t>
            </a:r>
            <a:endParaRPr lang="en-US" sz="14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a blueprint; inheritable permissions; Disable agent identities; list APIs; Get-EntraAgentIdentity; pinned sources. Chapter 09,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0D313D28-FAF4-36D7-F7D6-935EB1737A1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E86040-0D7A-465F-B2A4-6196A336BC6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80"/>
    </mc:Choice>
    <mc:Fallback>
      <p:transition spd="slow" advTm="39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8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leave out: reads and sponsors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68496"/>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sample,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Lists blueprints and agent identities, one object type each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as the model for the reads, every page followed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Reads one page; Learn's maximum is 100 objects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More agents than a page: half-read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Every next link followed, only on the cloud's own host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Hard-codes graph.microsoft.com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Wrong for GCC High and 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host from the cloud table, checked every request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agentIdentity sponsors: IDs only, and only AgentIdentity.ReadWrite.All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write permission for a read; no way to tell who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$expand=sponsors($select=id) under AgentIdentity.Read.All, each person read once (row 82)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Blueprint sponsors name Application.Read.All; its other reads AgentIdentityBlueprint.Read.All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Two least privileges for one object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Both declared, each on its own call (row 83)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Creates a blueprint with the same person as sponsor and owner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Who decides it should exist would hold its keys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NPI-AI-09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agentIdentity objects; agentIdentity sponsors; agentIdentityBlueprint sponsors; Create a blueprint. Chapter 09, “What it leaves to you,” rows 1–6; rows 82–83.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F010017-59B1-E34F-9FA8-FBC0EC78D7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D04CE9F-69FA-43C0-B0D8-DD1A990C38B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50"/>
    </mc:Choice>
    <mc:Fallback>
      <p:transition spd="slow" advTm="35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1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they leave out: secrets, inheritance, CA</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5136"/>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sample,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Adds a managed identity as federated credential, and a password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 recommends the first for production, not the second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Credential kind read; a production secret is NPI-AI-10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Inheritable permissions first with allAllowed for scopes and roles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Every future grant becomes every agent's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NPI-AI-13: roles a Finding, scopes a 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Type cast before the ID (reference: after); 50 resource apps vs 10 in Manage agent identities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Two paths and two limits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API reference's path (row 84)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Updates and deletes with PATCH and DELETE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Changes this chapter never makes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Only a report-only POST; never PATCH, PUT or DELETE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Block agent identity authentication: every agent, no exclusion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Enforced, it blocks approved agents too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Excludes approved agents by attribute; NPI-AI-18 checks its shape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Nothing on sponsors' lifecycle, inventory, handshake, roles, workflows or drift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Most of Phase 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NPI-AI-01 to NPI-AI-23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ead"/>
          <p:cNvSpPr txBox="1"/>
          <p:nvPr/>
        </p:nvSpPr>
        <p:spPr>
          <a:xfrm>
            <a:off x="548640" y="5263896"/>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Verdict: model the reads, the managed identity credential and the report-only block; don't enforce it without the exclusion.</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a blueprint; Configure inheritable permissions; Manage agent identities; Disable agent identities. Chapter 09, “What it leaves to you,” rows 7–12; row 84.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E59CE1E-767E-2D14-678B-0AA3917677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78492EF-3281-4065-B6E4-16824837475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40"/>
    </mc:Choice>
    <mc:Fallback>
      <p:transition spd="slow" advTm="38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its inputs and what it reads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962656"/>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440680">
                  <a:extLst>
                    <a:ext uri="{9D8B030D-6E8A-4147-A177-3AD203B41FA5}">
                      <a16:colId xmlns:a16="http://schemas.microsoft.com/office/drawing/2014/main" val="20002"/>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keeps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holds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Chapter 01's and 02's run folders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pipeline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register and ai-sponsor-fields.json, each checked against its manifest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ai-use-case-inventory.csv</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Chief AI Officer's staff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UseCaseId, Name, Classification, Stage, RecordId, IdentityType, IdentityObjectId, BlueprintAppId, sponsor, group, owner, Placement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handshakes.json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reviewed record per production identity: N6.2's fields, Environment, CredentialPlan, TimeBoundRoles with end dates, FallbackReason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creation-setting.json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dated reading of Users can create agent blueprints: value, who, when, where,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sponsor-events.csv, sponsor-confirmations.csv</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HR, through identity governance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Movers and leavers; each new sponsor's confirmation, by agent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pipeline-changes.csv</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change board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Approved credential changes with their windows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471416"/>
            <a:ext cx="11109960" cy="1194816"/>
          </a:xfrm>
          <a:prstGeom prst="roundRect">
            <a:avLst>
              <a:gd name="adj" fmla="val 6122"/>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TableList">
            <a:extLst>
              <a:ext uri="{C183D7F6-B498-43B3-948B-1728B52AA6E4}">
                <adec:decorative xmlns:adec="http://schemas.microsoft.com/office/drawing/2017/decorative" val="1"/>
              </a:ext>
            </a:extLst>
          </p:cNvPr>
          <p:cNvSpPr/>
          <p:nvPr/>
        </p:nvSpPr>
        <p:spPr>
          <a:xfrm>
            <a:off x="749808" y="4748784"/>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902403"/>
            <a:ext cx="332842" cy="332842"/>
          </a:xfrm>
          <a:prstGeom prst="rect">
            <a:avLst/>
          </a:prstGeom>
        </p:spPr>
      </p:pic>
      <p:sp>
        <p:nvSpPr>
          <p:cNvPr id="5" name="Callout text"/>
          <p:cNvSpPr txBox="1"/>
          <p:nvPr/>
        </p:nvSpPr>
        <p:spPr>
          <a:xfrm>
            <a:off x="1600200" y="4526280"/>
            <a:ext cx="9875520" cy="1085088"/>
          </a:xfrm>
          <a:prstGeom prst="rect">
            <a:avLst/>
          </a:prstGeom>
          <a:noFill/>
          <a:ln/>
        </p:spPr>
        <p:txBody>
          <a:bodyPr wrap="square" lIns="0" tIns="0" rIns="0" bIns="0" rtlCol="0" anchor="ctr"/>
          <a:lstStyle/>
          <a:p>
            <a:pPr marL="0" indent="0">
              <a:buNone/>
            </a:pPr>
            <a:r>
              <a:rPr lang="en-US" sz="1600" b="1" dirty="0">
                <a:solidFill>
                  <a:srgbClr val="0F766E"/>
                </a:solidFill>
              </a:rPr>
              <a:t>Read-NpiAgentEstate reads </a:t>
            </a:r>
            <a:r>
              <a:rPr lang="en-US" sz="1600" dirty="0">
                <a:solidFill>
                  <a:srgbClr val="334155"/>
                </a:solidFill>
              </a:rPr>
              <a:t>the authorization policy; blueprints and agents with sponsors, owners, credentials, inheritance, attributes, roles; beta CA policies; workflows; 30 days of audits. Learn documents no Graph property for the blueprint-creation setting, so a person reads it (row 81).</a:t>
            </a:r>
            <a:endParaRPr lang="en-US" sz="16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authorizationPolicy; defaultUserRolePermissions (v1.0 and beta). Chapter 09, “The code,” “The inputs,” “The reads”; research gaps, row 81.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4D24C3AB-54F3-BCF3-E294-EE7BF6F2E2D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688D0F8-7D8C-43CD-8C4F-E73EED8AF72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80"/>
    </mc:Choice>
    <mc:Fallback>
      <p:transition spd="slow" advTm="3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checks, part 1: creation, handshake, sponsors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8456"/>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70408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29260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Severity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flags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Plan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NPI-AI-01</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Users can create agent blueprints not read as No in the last 90 days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N6.1</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NPI-AI-02</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Users can register applications, or user consent beyond the low-risk policy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N6.1</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NPI-AI-03</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Warn / Info</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An agent on an ordinary service principal with no D-N6 fallback reason (Info in a fallback cloud; Finding if a record names an agent identity the cloud lacks)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N6.1</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NPI-AI-04</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An AI identity with a record but no handshake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N6.2</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NPI-AI-05</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 handshake incomplete, naming another blueprint, placement or use case, or the sponsor as owner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N6.2</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NPI-AI-06</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An agent identity created before its handshake was reviewed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N6.2</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NPI-AI-07</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 (P2) / Warn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 sponsor who is an enabled member employee; no sponsoring group (Warn)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N1.2, N6.7</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NPI-AI-08</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The record and the directory name different sponsors or groups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N1.2</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NPI-AI-09</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 technical owner, or the sponsor is also the owner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N1.2</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NPI-AI-10</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Finding / Info</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 client secret on a production blueprint or a fallback app registration (Info if Development or Test)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N6.3</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NPI-AI-11</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Warn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 production blueprint whose best credential is a certificate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N6.3</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5157216"/>
            <a:ext cx="11109960" cy="731520"/>
          </a:xfrm>
          <a:prstGeom prst="roundRect">
            <a:avLst>
              <a:gd name="adj" fmla="val 10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UserTie">
            <a:extLst>
              <a:ext uri="{C183D7F6-B498-43B3-948B-1728B52AA6E4}">
                <adec:decorative xmlns:adec="http://schemas.microsoft.com/office/drawing/2017/decorative" val="1"/>
              </a:ext>
            </a:extLst>
          </p:cNvPr>
          <p:cNvSpPr/>
          <p:nvPr/>
        </p:nvSpPr>
        <p:spPr>
          <a:xfrm>
            <a:off x="749808" y="5230368"/>
            <a:ext cx="585216" cy="585216"/>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370820"/>
            <a:ext cx="304312" cy="304312"/>
          </a:xfrm>
          <a:prstGeom prst="rect">
            <a:avLst/>
          </a:prstGeom>
        </p:spPr>
      </p:pic>
      <p:sp>
        <p:nvSpPr>
          <p:cNvPr id="9" name="Callout text"/>
          <p:cNvSpPr txBox="1"/>
          <p:nvPr/>
        </p:nvSpPr>
        <p:spPr>
          <a:xfrm>
            <a:off x="1600200" y="5212080"/>
            <a:ext cx="9875520" cy="621792"/>
          </a:xfrm>
          <a:prstGeom prst="rect">
            <a:avLst/>
          </a:prstGeom>
          <a:noFill/>
          <a:ln/>
        </p:spPr>
        <p:txBody>
          <a:bodyPr wrap="square" lIns="0" tIns="0" rIns="0" bIns="0" rtlCol="0" anchor="ctr"/>
          <a:lstStyle/>
          <a:p>
            <a:pPr marL="0" indent="0">
              <a:buNone/>
            </a:pPr>
            <a:r>
              <a:rPr lang="en-US" sz="1250" b="1" dirty="0">
                <a:solidFill>
                  <a:srgbClr val="0F766E"/>
                </a:solidFill>
              </a:rPr>
              <a:t>The sponsor fields: </a:t>
            </a:r>
            <a:r>
              <a:rPr lang="en-US" sz="1250" dirty="0">
                <a:solidFill>
                  <a:srgbClr val="334155"/>
                </a:solidFill>
              </a:rPr>
              <a:t>ai-identities.json fills Chapter 02's four sponsor fields for every agent, blueprint and fallback service principal. A sponsor counts only if enabled, a member, employeeType Employee: the program's assumption (row 89).</a:t>
            </a:r>
            <a:endParaRPr lang="en-US" sz="125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Delegate app registration permissions; Create a blueprint. Chapter 09, “The checks,” “The sponsor fields”; research gaps, row 89.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291E9B9-861E-547B-9B97-7D7F3A6330F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94EB823-BB05-45B8-BB12-896989D3D9E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80"/>
    </mc:Choice>
    <mc:Fallback>
      <p:transition spd="slow" advTm="37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8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checks, part 2: privilege, sponsors, CA, drift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96640"/>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70408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Severity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flags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NPI-AI-12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access mode in the handshake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N6.4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NPI-AI-13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 / Warn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Inheritable roles allAllowed (Finding); scopes allAllowed (Warn)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N6.4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NPI-AI-14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 / Info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 active directory role with no recorded end date (Info when time-bound and recorded)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N6.4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NPI-AI-15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Warn / 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 app permission outside the consent list or on an on-behalf-of agent; high-privilege Graph on a fallback SP (Finding)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N6.4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NPI-AI-16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 / Info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sponsor's move or leave unconfirmed after ten business days: orphaned (Info inside the window)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N6.5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NPI-AI-17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enabled mover or leaver workflow with the transfer and manager email tasks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N6.5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NPI-AI-18, -19</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 / Warn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Block-unapproved policy missing or changed, Warn if enforced while preview; high-risk block missing (Warn)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N6.6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NPI-AI-20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 / Warn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Approval attribute without a complete handshake (Finding); the reverse (Warn)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N6.6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NPI-AI-21, -22, -23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 (P1)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governed identity; a shadow AI identity; a credential with no change record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N6.7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5105400"/>
            <a:ext cx="11109960" cy="790956"/>
          </a:xfrm>
          <a:prstGeom prst="roundRect">
            <a:avLst>
              <a:gd name="adj" fmla="val 924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749808" y="5180838"/>
            <a:ext cx="640080" cy="64008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334457"/>
            <a:ext cx="332842" cy="332842"/>
          </a:xfrm>
          <a:prstGeom prst="rect">
            <a:avLst/>
          </a:prstGeom>
        </p:spPr>
      </p:pic>
      <p:sp>
        <p:nvSpPr>
          <p:cNvPr id="9" name="Callout text"/>
          <p:cNvSpPr txBox="1"/>
          <p:nvPr/>
        </p:nvSpPr>
        <p:spPr>
          <a:xfrm>
            <a:off x="1600200" y="5160264"/>
            <a:ext cx="9875520" cy="681228"/>
          </a:xfrm>
          <a:prstGeom prst="rect">
            <a:avLst/>
          </a:prstGeom>
          <a:noFill/>
          <a:ln/>
        </p:spPr>
        <p:txBody>
          <a:bodyPr wrap="square" lIns="0" tIns="0" rIns="0" bIns="0" rtlCol="0" anchor="ctr"/>
          <a:lstStyle/>
          <a:p>
            <a:pPr marL="0" indent="0">
              <a:buNone/>
            </a:pPr>
            <a:r>
              <a:rPr lang="en-US" sz="1250" b="1" dirty="0">
                <a:solidFill>
                  <a:srgbClr val="B45309"/>
                </a:solidFill>
              </a:rPr>
              <a:t>Ten business days, and roles: </a:t>
            </a:r>
            <a:r>
              <a:rPr lang="en-US" sz="1250" dirty="0">
                <a:solidFill>
                  <a:srgbClr val="334155"/>
                </a:solidFill>
              </a:rPr>
              <a:t>weekdays that aren't federal holidays: a leaver on Oct 9, 2026 is due Oct 26, because Oct 12 is a holiday. Confirmation comes from the record, since the workflow makes the manager sponsor without asking (row 87). Any directory role is a finding unless recorded with an end date (row 88).</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inheritable permissions; Privileged roles (preview); Authorization in Agent ID; sponsor tasks; Secure autonomous agents. Chapter 09, “The checks”; rows 87–88.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A8C7446-D838-63A7-6980-C351547C342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1AA60FD-A6B7-4F57-8CD9-076DF503804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10"/>
    </mc:Choice>
    <mc:Fallback>
      <p:transition spd="slow" advTm="37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3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agent CA plan and the separate write path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New-NpiAgentCaPlan">
            <a:extLst>
              <a:ext uri="{C183D7F6-B498-43B3-948B-1728B52AA6E4}">
                <adec:decorative xmlns:adec="http://schemas.microsoft.com/office/drawing/2017/decorative" val="1"/>
              </a:ext>
            </a:extLst>
          </p:cNvPr>
          <p:cNvSpPr/>
          <p:nvPr/>
        </p:nvSpPr>
        <p:spPr>
          <a:xfrm>
            <a:off x="548640" y="1325880"/>
            <a:ext cx="5417820" cy="2706624"/>
          </a:xfrm>
          <a:prstGeom prst="roundRect">
            <a:avLst>
              <a:gd name="adj" fmla="val 270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New-NpiAgentCaPlan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NEW-NPIAGENTCAPLAN</a:t>
            </a:r>
            <a:endParaRPr lang="en-US" sz="1100" dirty="0"/>
          </a:p>
        </p:txBody>
      </p:sp>
      <p:sp>
        <p:nvSpPr>
          <p:cNvPr id="7" name="Panel New-NpiAgentCaPlan list"/>
          <p:cNvSpPr txBox="1"/>
          <p:nvPr/>
        </p:nvSpPr>
        <p:spPr>
          <a:xfrm>
            <a:off x="73152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Compares the two reviewed policies with the tenant's: Create, InPlace or Differs, or NotAvailable where D-N6 says agent CA isn't published</a:t>
            </a:r>
            <a:endParaRPr lang="en-US" sz="1500" dirty="0"/>
          </a:p>
          <a:p>
            <a:pPr marL="342900" indent="-342900">
              <a:spcAft>
                <a:spcPts val="400"/>
              </a:spcAft>
              <a:buSzPct val="100000"/>
              <a:buChar char="•"/>
            </a:pPr>
            <a:r>
              <a:rPr lang="en-US" sz="1500" dirty="0">
                <a:solidFill>
                  <a:srgbClr val="334155"/>
                </a:solidFill>
              </a:rPr>
              <a:t>Refuses a reviewed file that isn't report-only Block</a:t>
            </a:r>
            <a:endParaRPr lang="en-US" sz="1500" dirty="0"/>
          </a:p>
          <a:p>
            <a:pPr marL="342900" indent="-342900">
              <a:spcAft>
                <a:spcPts val="400"/>
              </a:spcAft>
              <a:buSzPct val="100000"/>
              <a:buChar char="•"/>
            </a:pPr>
            <a:r>
              <a:rPr lang="en-US" sz="1500" dirty="0">
                <a:solidFill>
                  <a:srgbClr val="334155"/>
                </a:solidFill>
              </a:rPr>
              <a:t>agent-ca-plan.json with tenant, cloud and date; the run prints its SHA-256</a:t>
            </a:r>
            <a:endParaRPr lang="en-US" sz="1500" dirty="0"/>
          </a:p>
        </p:txBody>
      </p:sp>
      <p:sp>
        <p:nvSpPr>
          <p:cNvPr id="8" name="Panel Invoke-NpiAgentCaAction.ps1 refuses unless">
            <a:extLst>
              <a:ext uri="{C183D7F6-B498-43B3-948B-1728B52AA6E4}">
                <adec:decorative xmlns:adec="http://schemas.microsoft.com/office/drawing/2017/decorative" val="1"/>
              </a:ext>
            </a:extLst>
          </p:cNvPr>
          <p:cNvSpPr/>
          <p:nvPr/>
        </p:nvSpPr>
        <p:spPr>
          <a:xfrm>
            <a:off x="6240780" y="1325880"/>
            <a:ext cx="5417820" cy="2706624"/>
          </a:xfrm>
          <a:prstGeom prst="roundRect">
            <a:avLst>
              <a:gd name="adj" fmla="val 270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Panel Invoke-NpiAgentCaAction.ps1 refuses unles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INVOKE-NPIAGENTCAACTION.PS1 REFUSES UNLESS</a:t>
            </a:r>
            <a:endParaRPr lang="en-US" sz="1100" dirty="0"/>
          </a:p>
        </p:txBody>
      </p:sp>
      <p:sp>
        <p:nvSpPr>
          <p:cNvPr id="10" name="Panel Invoke-NpiAgentCaAction.ps1 refuses unless list"/>
          <p:cNvSpPr txBox="1"/>
          <p:nvPr/>
        </p:nvSpPr>
        <p:spPr>
          <a:xfrm>
            <a:off x="642366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plan's SHA-256 is the approved one; this tenant and cloud; no more than seven days old</a:t>
            </a:r>
            <a:endParaRPr lang="en-US" sz="1500" dirty="0"/>
          </a:p>
          <a:p>
            <a:pPr marL="342900" indent="-342900">
              <a:spcAft>
                <a:spcPts val="400"/>
              </a:spcAft>
              <a:buSzPct val="100000"/>
              <a:buChar char="•"/>
            </a:pPr>
            <a:r>
              <a:rPr lang="en-US" sz="1500" dirty="0">
                <a:solidFill>
                  <a:srgbClr val="334155"/>
                </a:solidFill>
              </a:rPr>
              <a:t>Every write a POST to the cloud's own beta CA endpoint, enabledForReportingButNotEnforced, Block alone</a:t>
            </a:r>
            <a:endParaRPr lang="en-US" sz="1500" dirty="0"/>
          </a:p>
          <a:p>
            <a:pPr marL="342900" indent="-342900">
              <a:spcAft>
                <a:spcPts val="400"/>
              </a:spcAft>
              <a:buSzPct val="100000"/>
              <a:buChar char="•"/>
            </a:pPr>
            <a:r>
              <a:rPr lang="en-US" sz="1500" dirty="0">
                <a:solidFill>
                  <a:srgbClr val="334155"/>
                </a:solidFill>
              </a:rPr>
              <a:t>A person, delegated, with Conditional Access Administrator</a:t>
            </a:r>
            <a:endParaRPr lang="en-US" sz="1500" dirty="0"/>
          </a:p>
          <a:p>
            <a:pPr marL="342900" indent="-342900">
              <a:spcAft>
                <a:spcPts val="400"/>
              </a:spcAft>
              <a:buSzPct val="100000"/>
              <a:buChar char="•"/>
            </a:pPr>
            <a:r>
              <a:rPr lang="en-US" sz="1500" dirty="0">
                <a:solidFill>
                  <a:srgbClr val="334155"/>
                </a:solidFill>
              </a:rPr>
              <a:t>Re-reads before each write; skips a policy of that name that appeared since review</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21538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Lock">
            <a:extLst>
              <a:ext uri="{C183D7F6-B498-43B3-948B-1728B52AA6E4}">
                <adec:decorative xmlns:adec="http://schemas.microsoft.com/office/drawing/2017/decorative" val="1"/>
              </a:ext>
            </a:extLst>
          </p:cNvPr>
          <p:cNvSpPr/>
          <p:nvPr/>
        </p:nvSpPr>
        <p:spPr>
          <a:xfrm>
            <a:off x="749808" y="4288536"/>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434108"/>
            <a:ext cx="315407" cy="315407"/>
          </a:xfrm>
          <a:prstGeom prst="rect">
            <a:avLst/>
          </a:prstGeom>
        </p:spPr>
      </p:pic>
      <p:sp>
        <p:nvSpPr>
          <p:cNvPr id="14" name="Callout text"/>
          <p:cNvSpPr txBox="1"/>
          <p:nvPr/>
        </p:nvSpPr>
        <p:spPr>
          <a:xfrm>
            <a:off x="1600200" y="427024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And: </a:t>
            </a:r>
            <a:r>
              <a:rPr lang="en-US" sz="1750" dirty="0">
                <a:solidFill>
                  <a:srgbClr val="334155"/>
                </a:solidFill>
              </a:rPr>
              <a:t>it never turns a policy on. That's a decision for when the agent targets leave preview in the agency's cloud.</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conditionalAccessPolicy; Conditional Access for agents; Graph what's new (beta agent properties). Chapter 09, “The agent Conditional Access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9F7E9465-F120-A6DC-5108-AAD717191E6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3CB3DA-B1E4-46C4-960F-B77361607FE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40"/>
    </mc:Choice>
    <mc:Fallback>
      <p:transition spd="slow" advTm="36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4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keeps the records, and what each task may hold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2606040" cy="1386840"/>
          </a:xfrm>
          <a:prstGeom prst="roundRect">
            <a:avLst>
              <a:gd name="adj" fmla="val 527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3868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1582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450" dirty="0">
                <a:solidFill>
                  <a:srgbClr val="334155"/>
                </a:solidFill>
              </a:rPr>
              <a:t>Build the AI identity code; know Chapters 01 and 02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3383280" y="1325880"/>
            <a:ext cx="2606040" cy="1386840"/>
          </a:xfrm>
          <a:prstGeom prst="roundRect">
            <a:avLst>
              <a:gd name="adj" fmla="val 52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3383280" y="1325880"/>
            <a:ext cx="82296" cy="138684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1582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governance officer</a:t>
            </a:r>
            <a:endParaRPr lang="en-US" sz="1400" dirty="0"/>
          </a:p>
          <a:p>
            <a:pPr marL="0" indent="0">
              <a:spcAft>
                <a:spcPts val="300"/>
              </a:spcAft>
              <a:buNone/>
            </a:pPr>
            <a:r>
              <a:rPr lang="en-US" sz="1450" dirty="0">
                <a:solidFill>
                  <a:srgbClr val="334155"/>
                </a:solidFill>
              </a:rPr>
              <a:t>Keeps the handshakes; confirms orphans</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6217920" y="1325880"/>
            <a:ext cx="2606040" cy="1386840"/>
          </a:xfrm>
          <a:prstGeom prst="roundRect">
            <a:avLst>
              <a:gd name="adj" fmla="val 52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6217920" y="1325880"/>
            <a:ext cx="82296" cy="138684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1582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Chief AI Officer's staff</a:t>
            </a:r>
            <a:endParaRPr lang="en-US" sz="1400" dirty="0"/>
          </a:p>
          <a:p>
            <a:pPr marL="0" indent="0">
              <a:spcAft>
                <a:spcPts val="300"/>
              </a:spcAft>
              <a:buNone/>
            </a:pPr>
            <a:r>
              <a:rPr lang="en-US" sz="1450" dirty="0">
                <a:solidFill>
                  <a:srgbClr val="334155"/>
                </a:solidFill>
              </a:rPr>
              <a:t>Keep the AI use-case inventory</a:t>
            </a:r>
            <a:endParaRPr lang="en-US" sz="1400" dirty="0"/>
          </a:p>
        </p:txBody>
      </p:sp>
      <p:sp>
        <p:nvSpPr>
          <p:cNvPr id="14" name="Card 4">
            <a:extLst>
              <a:ext uri="{C183D7F6-B498-43B3-948B-1728B52AA6E4}">
                <adec:decorative xmlns:adec="http://schemas.microsoft.com/office/drawing/2017/decorative" val="1"/>
              </a:ext>
            </a:extLst>
          </p:cNvPr>
          <p:cNvSpPr/>
          <p:nvPr/>
        </p:nvSpPr>
        <p:spPr>
          <a:xfrm>
            <a:off x="9052560" y="1325880"/>
            <a:ext cx="2606040" cy="1386840"/>
          </a:xfrm>
          <a:prstGeom prst="roundRect">
            <a:avLst>
              <a:gd name="adj" fmla="val 52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Card 4 bar">
            <a:extLst>
              <a:ext uri="{C183D7F6-B498-43B3-948B-1728B52AA6E4}">
                <adec:decorative xmlns:adec="http://schemas.microsoft.com/office/drawing/2017/decorative" val="1"/>
              </a:ext>
            </a:extLst>
          </p:cNvPr>
          <p:cNvSpPr/>
          <p:nvPr/>
        </p:nvSpPr>
        <p:spPr>
          <a:xfrm>
            <a:off x="9052560" y="1325880"/>
            <a:ext cx="82296" cy="138684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15824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SecOps and ISSOs</a:t>
            </a:r>
            <a:endParaRPr lang="en-US" sz="1400" dirty="0"/>
          </a:p>
          <a:p>
            <a:pPr marL="0" indent="0">
              <a:spcAft>
                <a:spcPts val="300"/>
              </a:spcAft>
              <a:buNone/>
            </a:pPr>
            <a:r>
              <a:rPr lang="en-US" sz="1450" dirty="0">
                <a:solidFill>
                  <a:srgbClr val="334155"/>
                </a:solidFill>
              </a:rPr>
              <a:t>Own the drift findings; review the evidence</a:t>
            </a:r>
            <a:endParaRPr lang="en-US" sz="14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2895600"/>
          <a:ext cx="11109960" cy="1914144"/>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Task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Calls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Permissions or role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11003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agent-id (read)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16 GETs: authorization policy, blueprints, agents, roles, users, CA (beta), workflows, audits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AgentIdentity.Read.All, AgentIdentityBlueprint.Read.All, Application.Read.All, AuditLog.Read.All, CustomSecAttributeAssignment.Read.All, two LifecycleWorkflows reads, Policy.Read.All, RoleManagement.Read.Directory, User.Read.All; a person needs Attribute Assignment Reader, and Agent ID Administrator unless an 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agent-ca-apply (write, delegated only)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Re-read policies (beta); POST /identity/conditionalAccess/policies (beta)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Policy.Read.All and Policy.ReadWrite.ConditionalAccess; Conditional Access Administrator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custom security attributes; list blueprints; list agentIdentity objects; Create conditionalAccessPolicy. Chapter 09, “Goal and audience,” the task table.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C9A2DCF7-92EC-57C9-E58F-47459D1F3E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B937DA-A8D7-4883-AA05-A189B09A461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10"/>
    </mc:Choice>
    <mc:Fallback>
      <p:transition spd="slow" advTm="38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12"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samples, D-N6, then the check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663952"/>
          </a:xfrm>
          <a:prstGeom prst="roundRect">
            <a:avLst>
              <a:gd name="adj" fmla="val 274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examples/non-person-identity, WITH CHAPTERS 01 AND 02'S out FOLDERS</a:t>
            </a:r>
            <a:endParaRPr lang="en-US" sz="1050" dirty="0"/>
          </a:p>
        </p:txBody>
      </p:sp>
      <p:sp>
        <p:nvSpPr>
          <p:cNvPr id="7" name="Code"/>
          <p:cNvSpPr txBox="1"/>
          <p:nvPr/>
        </p:nvSpPr>
        <p:spPr>
          <a:xfrm>
            <a:off x="713232" y="1664208"/>
            <a:ext cx="10835640" cy="227990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1  Learn's samples to the fake: PassedCount 13, FailedCount 0, NotRunCount 49</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Invoke-Pester -Path tests/NpiAgentId.Tests.ps1 -FullNameFilter '*Learn*' -Output None -PassThru</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3  D-N6 for each cloud</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global  AgentId  GA (April 2026) Preview (policy builder label) GA (May 2026)</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gcc     AgentId  GA (April 2026) Preview (policy builder label) GA (May 2026)</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gcchigh Fallback Not published   Not published                  Not published</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4  Check the AI identities and build the plan</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./Invoke-NpiAgentId.ps1 -Cloud gcc -RegisterRun out/inventory -OwnershipRun out/ownership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AI identities: 8 checked (4 AgentIdentity, 3 AgentIdentityBlueprint, 1 ServicePrincipal)</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Findings: 22 Finding (4 P1, 2 P2), 6 Warn, 4 Info. Orphan candidates for Chapter 02: 2</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Agent CA plan: Unapproved InPlace, HighRisk Create; nothing sent</a:t>
            </a:r>
            <a:endParaRPr lang="en-US" sz="1300" dirty="0"/>
          </a:p>
        </p:txBody>
      </p:sp>
      <p:sp>
        <p:nvSpPr>
          <p:cNvPr id="8" name="Callout">
            <a:extLst>
              <a:ext uri="{C183D7F6-B498-43B3-948B-1728B52AA6E4}">
                <adec:decorative xmlns:adec="http://schemas.microsoft.com/office/drawing/2017/decorative" val="1"/>
              </a:ext>
            </a:extLst>
          </p:cNvPr>
          <p:cNvSpPr/>
          <p:nvPr/>
        </p:nvSpPr>
        <p:spPr>
          <a:xfrm>
            <a:off x="548640" y="4172712"/>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4362450"/>
            <a:ext cx="640080" cy="640080"/>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516069"/>
            <a:ext cx="332842" cy="332842"/>
          </a:xfrm>
          <a:prstGeom prst="rect">
            <a:avLst/>
          </a:prstGeom>
        </p:spPr>
      </p:pic>
      <p:sp>
        <p:nvSpPr>
          <p:cNvPr id="11" name="Callout text"/>
          <p:cNvSpPr txBox="1"/>
          <p:nvPr/>
        </p:nvSpPr>
        <p:spPr>
          <a:xfrm>
            <a:off x="1600200" y="4227576"/>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Read in step 1: </a:t>
            </a:r>
            <a:r>
              <a:rPr lang="en-US" sz="1750" dirty="0">
                <a:solidFill>
                  <a:srgbClr val="334155"/>
                </a:solidFill>
              </a:rPr>
              <a:t>the shape check finds one problem in Learn's Block agent identity authentication body: “no exclusion for approved agents.” Step 2 lists each task's permissions, as on the last slide.</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(tests and fixtures, fictional). Chapter 09,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3FED2870-4707-3561-ED9E-53BFC22DC03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62366F-0E6D-46FB-B576-004A55F052C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70"/>
    </mc:Choice>
    <mc:Fallback>
      <p:transition spd="slow" advTm="38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6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reading the findings and the sponsor fields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52444"/>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818388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Identity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the check finds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Case Triage Agent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NPI-AI-05, -06, -12, -14: handshake lacks group, CA coverage and access mode; sponsor is owner; reviewed a month after creation; Exchange Administrator with no end date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Case Triage Blueprint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NPI-AI-10 (a secret), -13 (inherits all Graph roles), -23 (P1: a secret added Oct 20 outside any change window)</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Records Search Agent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NPI-AI-08 (record names Bob, directory Carol); -16 (Bob left Oct 9, nobody confirmed by Oct 26): Orphaned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Sandbox Helper, Pilot Sandbox Blueprint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NPI-AI-07 (P2: only a contractor sponsor); -22 (P1: shadow); -20 (attribute with no handshake)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Correspondence Drafting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NPI-AI-10 (its app registration's secret); -15 (Directory.ReadWrite.All)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Tenant-wide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NPI-AI-17 (the mover workflow has no transfer task); NPI-AI-21 (P1: Claims Summarizer, piloted, no identity); NPI-AI-09 four times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Benefits Q&amp;A Agent and blueprint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Pass every rule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Lead"/>
          <p:cNvSpPr txBox="1"/>
          <p:nvPr/>
        </p:nvSpPr>
        <p:spPr>
          <a:xfrm>
            <a:off x="548640" y="5061204"/>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ai-identities.json: Case Triage is AwaitingConfirmation until 2026-11-10; Records Search is Orphaned.</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tenant and people). Chapter 09, “Lab 1: fixtures, no tenant,” steps 5–6.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EF94480-E0BA-2E15-1CCC-B157136EB48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761A2F-D8DA-406A-8FA6-39851007836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00"/>
    </mc:Choice>
    <mc:Fallback>
      <p:transition spd="slow" advTm="3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GCC High fallback, a dry run, a refusal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218944"/>
          </a:xfrm>
          <a:prstGeom prst="roundRect">
            <a:avLst>
              <a:gd name="adj" fmla="val 3297"/>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p:cNvSpPr txBox="1"/>
          <p:nvPr/>
        </p:nvSpPr>
        <p:spPr>
          <a:xfrm>
            <a:off x="713232" y="1417320"/>
            <a:ext cx="10835640" cy="208178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7  Chapters 01, 02 and 09 again in gcchigh</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D-N6 (Proposed): Fallback mode in cloud 'gcchigh'; agent Conditional Access Not published</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AI identities: 1 checked (1 ServicePrincipal); Chapter 02 sponsor fields filled: 0 of 2</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Findings: 7 Finding (2 P1, 0 P2), 1 Warn, 2 Info. Orphan candidates for Chapter 02: 0</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Agent CA plan: Unapproved NotAvailable, HighRisk NotAvailable; nothing sent</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8  Dry run with the approved hash (gcc)</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DryRun: 1 WouldSend</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WouldSend HighRisk POST https://graph.microsoft.com/beta/identity/conditionalAccess/policies</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9  -Apply: Apply: 1 Sent — Created ca000000-…-000000000103 report-only</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then a zero hash: The plan's SHA-256 is 754fda6b…, not the approved 0000…; refusing</a:t>
            </a:r>
            <a:endParaRPr lang="en-US" sz="1300" dirty="0"/>
          </a:p>
        </p:txBody>
      </p:sp>
      <p:sp>
        <p:nvSpPr>
          <p:cNvPr id="7" name="List"/>
          <p:cNvSpPr txBox="1"/>
          <p:nvPr/>
        </p:nvSpPr>
        <p:spPr>
          <a:xfrm>
            <a:off x="548640" y="3727704"/>
            <a:ext cx="11109960" cy="10302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In gcchigh no agent identity read is sent (the manifest lists none); Correspondence Drafting gets the same findings; three records naming agent identities become NPI-AI-03</a:t>
            </a:r>
            <a:endParaRPr lang="en-US" sz="1450" dirty="0"/>
          </a:p>
          <a:p>
            <a:pPr marL="342900" indent="-342900">
              <a:spcAft>
                <a:spcPts val="400"/>
              </a:spcAft>
              <a:buSzPct val="100000"/>
              <a:buChar char="•"/>
            </a:pPr>
            <a:r>
              <a:rPr lang="en-US" sz="1450" dirty="0">
                <a:solidFill>
                  <a:srgbClr val="334155"/>
                </a:solidFill>
              </a:rPr>
              <a:t>Step 10, Invoke-Pester -Path tests: 513 tests passing; the gcc manifest lists 45 requests. Delete out when you're done</a:t>
            </a:r>
            <a:endParaRPr lang="en-US" sz="14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Chapter 09, “Lab 1: fixtures, no tenant,” steps 7–10 and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465A4CF7-5E97-D758-0B79-EFC3CBF4A8B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3FE33B3-88D6-4792-931C-ECEDAA08A55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70"/>
    </mc:Choice>
    <mc:Fallback>
      <p:transition spd="slow" advTm="38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6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one governed agent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4320" cy="274320"/>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Read and record the creation setting: </a:t>
            </a:r>
            <a:r>
              <a:rPr lang="en-US" sz="1400" dirty="0">
                <a:solidFill>
                  <a:srgbClr val="334155"/>
                </a:solidFill>
              </a:rPr>
              <a:t>Entra ID &gt; Users &gt; User settings, as at least a Cloud Application Administrator; set Users can create agent blueprints to No; record it in creation-setting.json</a:t>
            </a:r>
            <a:endParaRPr lang="en-US" sz="1400" dirty="0"/>
          </a:p>
        </p:txBody>
      </p:sp>
      <p:sp>
        <p:nvSpPr>
          <p:cNvPr id="8" name="Step 2 dot">
            <a:extLst>
              <a:ext uri="{C183D7F6-B498-43B3-948B-1728B52AA6E4}">
                <adec:decorative xmlns:adec="http://schemas.microsoft.com/office/drawing/2017/decorative" val="1"/>
              </a:ext>
            </a:extLst>
          </p:cNvPr>
          <p:cNvSpPr/>
          <p:nvPr/>
        </p:nvSpPr>
        <p:spPr>
          <a:xfrm>
            <a:off x="548640" y="1880616"/>
            <a:ext cx="274320" cy="274320"/>
          </a:xfrm>
          <a:prstGeom prst="ellipse">
            <a:avLst/>
          </a:prstGeom>
          <a:solidFill>
            <a:srgbClr val="B45309"/>
          </a:solidFill>
          <a:ln w="12700">
            <a:solidFill>
              <a:srgbClr val="B45309"/>
            </a:solidFill>
            <a:prstDash val="solid"/>
          </a:ln>
        </p:spPr>
      </p:sp>
      <p:sp>
        <p:nvSpPr>
          <p:cNvPr id="9" name="Step 2 number"/>
          <p:cNvSpPr txBox="1"/>
          <p:nvPr/>
        </p:nvSpPr>
        <p:spPr>
          <a:xfrm>
            <a:off x="548640" y="188061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62328"/>
            <a:ext cx="10561320" cy="749808"/>
          </a:xfrm>
          <a:prstGeom prst="rect">
            <a:avLst/>
          </a:prstGeom>
          <a:noFill/>
          <a:ln/>
        </p:spPr>
        <p:txBody>
          <a:bodyPr wrap="square" lIns="0" tIns="0" rIns="0" bIns="0" rtlCol="0" anchor="t"/>
          <a:lstStyle/>
          <a:p>
            <a:pPr marL="0" indent="0">
              <a:buNone/>
            </a:pPr>
            <a:r>
              <a:rPr lang="en-US" sz="1400" b="1" dirty="0">
                <a:solidFill>
                  <a:srgbClr val="1F2A44"/>
                </a:solidFill>
              </a:rPr>
              <a:t>Make one governed agent: </a:t>
            </a:r>
            <a:r>
              <a:rPr lang="en-US" sz="1400" dirty="0">
                <a:solidFill>
                  <a:srgbClr val="334155"/>
                </a:solidFill>
              </a:rPr>
              <a:t>As Agent ID Developer, a test blueprint from Learn's sample with a sponsor who isn't the owner, a managed identity credential, one agent identity; its handshake and inventory row; the approval attribute (AgentAttributes, AgentApprovalStatus, Production_Approved) as Attribute Assignment Administrator</a:t>
            </a:r>
            <a:endParaRPr lang="en-US" sz="1400" dirty="0"/>
          </a:p>
        </p:txBody>
      </p:sp>
      <p:sp>
        <p:nvSpPr>
          <p:cNvPr id="11" name="Step 3 dot">
            <a:extLst>
              <a:ext uri="{C183D7F6-B498-43B3-948B-1728B52AA6E4}">
                <adec:decorative xmlns:adec="http://schemas.microsoft.com/office/drawing/2017/decorative" val="1"/>
              </a:ext>
            </a:extLst>
          </p:cNvPr>
          <p:cNvSpPr/>
          <p:nvPr/>
        </p:nvSpPr>
        <p:spPr>
          <a:xfrm>
            <a:off x="548640" y="2630424"/>
            <a:ext cx="274320" cy="274320"/>
          </a:xfrm>
          <a:prstGeom prst="ellipse">
            <a:avLst/>
          </a:prstGeom>
          <a:solidFill>
            <a:srgbClr val="B45309"/>
          </a:solidFill>
          <a:ln w="12700">
            <a:solidFill>
              <a:srgbClr val="B45309"/>
            </a:solidFill>
            <a:prstDash val="solid"/>
          </a:ln>
        </p:spPr>
      </p:sp>
      <p:sp>
        <p:nvSpPr>
          <p:cNvPr id="12" name="Step 3 number"/>
          <p:cNvSpPr txBox="1"/>
          <p:nvPr/>
        </p:nvSpPr>
        <p:spPr>
          <a:xfrm>
            <a:off x="548640" y="2630424"/>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612136"/>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Run the check: </a:t>
            </a:r>
            <a:r>
              <a:rPr lang="en-US" sz="1400" dirty="0">
                <a:solidFill>
                  <a:srgbClr val="334155"/>
                </a:solidFill>
              </a:rPr>
              <a:t>With an app holding only the agent-id permissions; confirm $expand=sponsors works under AgentIdentity.Read.All (row 82); both policies Create</a:t>
            </a:r>
            <a:endParaRPr lang="en-US" sz="1400" dirty="0"/>
          </a:p>
        </p:txBody>
      </p:sp>
      <p:sp>
        <p:nvSpPr>
          <p:cNvPr id="14" name="Step 4 dot">
            <a:extLst>
              <a:ext uri="{C183D7F6-B498-43B3-948B-1728B52AA6E4}">
                <adec:decorative xmlns:adec="http://schemas.microsoft.com/office/drawing/2017/decorative" val="1"/>
              </a:ext>
            </a:extLst>
          </p:cNvPr>
          <p:cNvSpPr/>
          <p:nvPr/>
        </p:nvSpPr>
        <p:spPr>
          <a:xfrm>
            <a:off x="548640" y="3166872"/>
            <a:ext cx="274320" cy="274320"/>
          </a:xfrm>
          <a:prstGeom prst="ellipse">
            <a:avLst/>
          </a:prstGeom>
          <a:solidFill>
            <a:srgbClr val="B45309"/>
          </a:solidFill>
          <a:ln w="12700">
            <a:solidFill>
              <a:srgbClr val="B45309"/>
            </a:solidFill>
            <a:prstDash val="solid"/>
          </a:ln>
        </p:spPr>
      </p:sp>
      <p:sp>
        <p:nvSpPr>
          <p:cNvPr id="15" name="Step 4 number"/>
          <p:cNvSpPr txBox="1"/>
          <p:nvPr/>
        </p:nvSpPr>
        <p:spPr>
          <a:xfrm>
            <a:off x="548640" y="316687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148584"/>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Compare the policy JSON: </a:t>
            </a:r>
            <a:r>
              <a:rPr lang="en-US" sz="1400" dirty="0">
                <a:solidFill>
                  <a:srgbClr val="334155"/>
                </a:solidFill>
              </a:rPr>
              <a:t>Create the block-unapproved policy once in the admin center, report-only; compare agentIdServicePrincipalFilter and its location with config/agent-ca-ch09/ (row 85); delete it</a:t>
            </a:r>
            <a:endParaRPr lang="en-US" sz="1400" dirty="0"/>
          </a:p>
        </p:txBody>
      </p:sp>
      <p:sp>
        <p:nvSpPr>
          <p:cNvPr id="17" name="Step 5 dot">
            <a:extLst>
              <a:ext uri="{C183D7F6-B498-43B3-948B-1728B52AA6E4}">
                <adec:decorative xmlns:adec="http://schemas.microsoft.com/office/drawing/2017/decorative" val="1"/>
              </a:ext>
            </a:extLst>
          </p:cNvPr>
          <p:cNvSpPr/>
          <p:nvPr/>
        </p:nvSpPr>
        <p:spPr>
          <a:xfrm>
            <a:off x="548640" y="3703320"/>
            <a:ext cx="274320" cy="274320"/>
          </a:xfrm>
          <a:prstGeom prst="ellipse">
            <a:avLst/>
          </a:prstGeom>
          <a:solidFill>
            <a:srgbClr val="B45309"/>
          </a:solidFill>
          <a:ln w="12700">
            <a:solidFill>
              <a:srgbClr val="B45309"/>
            </a:solidFill>
            <a:prstDash val="solid"/>
          </a:ln>
        </p:spPr>
      </p:sp>
      <p:sp>
        <p:nvSpPr>
          <p:cNvPr id="18" name="Step 5 number"/>
          <p:cNvSpPr txBox="1"/>
          <p:nvPr/>
        </p:nvSpPr>
        <p:spPr>
          <a:xfrm>
            <a:off x="548640" y="370332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685032"/>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Dry-run, then apply: </a:t>
            </a:r>
            <a:r>
              <a:rPr lang="en-US" sz="1400" dirty="0">
                <a:solidFill>
                  <a:srgbClr val="334155"/>
                </a:solidFill>
              </a:rPr>
              <a:t>As a person with Conditional Access Administrator; both policies appear Report-only; review their results</a:t>
            </a:r>
            <a:endParaRPr lang="en-US" sz="1400" dirty="0"/>
          </a:p>
        </p:txBody>
      </p:sp>
      <p:sp>
        <p:nvSpPr>
          <p:cNvPr id="20" name="Step 6 dot">
            <a:extLst>
              <a:ext uri="{C183D7F6-B498-43B3-948B-1728B52AA6E4}">
                <adec:decorative xmlns:adec="http://schemas.microsoft.com/office/drawing/2017/decorative" val="1"/>
              </a:ext>
            </a:extLst>
          </p:cNvPr>
          <p:cNvSpPr/>
          <p:nvPr/>
        </p:nvSpPr>
        <p:spPr>
          <a:xfrm>
            <a:off x="548640" y="4239768"/>
            <a:ext cx="274320" cy="274320"/>
          </a:xfrm>
          <a:prstGeom prst="ellipse">
            <a:avLst/>
          </a:prstGeom>
          <a:solidFill>
            <a:srgbClr val="B45309"/>
          </a:solidFill>
          <a:ln w="12700">
            <a:solidFill>
              <a:srgbClr val="B45309"/>
            </a:solidFill>
            <a:prstDash val="solid"/>
          </a:ln>
        </p:spPr>
      </p:sp>
      <p:sp>
        <p:nvSpPr>
          <p:cNvPr id="21" name="Step 6 number"/>
          <p:cNvSpPr txBox="1"/>
          <p:nvPr/>
        </p:nvSpPr>
        <p:spPr>
          <a:xfrm>
            <a:off x="548640" y="4239768"/>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221480"/>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Back it out: </a:t>
            </a:r>
            <a:r>
              <a:rPr lang="en-US" sz="1400" dirty="0">
                <a:solidFill>
                  <a:srgbClr val="334155"/>
                </a:solidFill>
              </a:rPr>
              <a:t>In the admin center, by hand: delete the policies, remove the attribute, disable then delete the agent and blueprint; delete out. The code deletes nothing</a:t>
            </a:r>
            <a:endParaRPr lang="en-US" sz="1400" dirty="0"/>
          </a:p>
        </p:txBody>
      </p:sp>
      <p:sp>
        <p:nvSpPr>
          <p:cNvPr id="23" name="Callout">
            <a:extLst>
              <a:ext uri="{C183D7F6-B498-43B3-948B-1728B52AA6E4}">
                <adec:decorative xmlns:adec="http://schemas.microsoft.com/office/drawing/2017/decorative" val="1"/>
              </a:ext>
            </a:extLst>
          </p:cNvPr>
          <p:cNvSpPr/>
          <p:nvPr/>
        </p:nvSpPr>
        <p:spPr>
          <a:xfrm>
            <a:off x="548640" y="494080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501396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159532"/>
            <a:ext cx="315407" cy="315407"/>
          </a:xfrm>
          <a:prstGeom prst="rect">
            <a:avLst/>
          </a:prstGeom>
        </p:spPr>
      </p:pic>
      <p:sp>
        <p:nvSpPr>
          <p:cNvPr id="26" name="Callout text"/>
          <p:cNvSpPr txBox="1"/>
          <p:nvPr/>
        </p:nvSpPr>
        <p:spPr>
          <a:xfrm>
            <a:off x="1600200" y="499567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never production, with fictional people, licensed for Agent 365 (or E7) with Entra ID P1, and P2 for agent risk.</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Delegate app permissions; Create a blueprint; Secure autonomous agents; Conditional Access for agents; Manage agent identities. Chapter 09,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9B028E7A-7690-525E-A740-A280F0B13FD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3AA82A-0395-4599-9808-22DD3FAE104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50"/>
    </mc:Choice>
    <mc:Fallback>
      <p:transition spd="slow" advTm="39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52"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6532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The guard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Anyone can create a blueprint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Its builder becomes sponsor and 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NPI-AI-01 on a stale or not-No reading; NPI-AI-02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An agent created before review; the attribute set outside the handshake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Access with no record; the block lets an unreviewed agent through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NPI-AI-04, -06, -22; NPI-AI-20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secret on a production blueprint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leaked secret is every agent from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NPI-AI-10; NPI-AI-23 outside a change window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allAllowed role inheritance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later grant reaches every agent at once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NPI-AI-13</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standing privileged role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 administrator that can't be asked for MFA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NPI-AI-14 unless time-bound and recorded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sponsor leaves and nobody notices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 agent nobody answers for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NPI-AI-16, orphan candidates to Ch 02; NPI-AI-17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preview policy enforced; a block with no exclusion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Agents blocked on a changing feature; approved agents blocked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Report-only only; NPI-AI-18; shape checked in plan and tenant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Agent features assumed in GCC High or DoD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Code reads objects the cloud doesn't have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D-N6 as data; Fallback mode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changed plan; an unattended app writing CA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Unapproved policies; a standing permission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SHA-256, tenant, cloud, seven days, re-read; delegated only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09, “Dangers”; Learn, Create a blueprint; Configure inheritable permissions; Conditional Access for agents.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1A3B54F-D360-DCD0-8FAB-A2A4B999D4F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ED13DDC-3445-4FFE-8315-CD6CFB5C603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60"/>
    </mc:Choice>
    <mc:Fallback>
      <p:transition spd="slow" advTm="37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Identities">
            <a:extLst>
              <a:ext uri="{C183D7F6-B498-43B3-948B-1728B52AA6E4}">
                <adec:decorative xmlns:adec="http://schemas.microsoft.com/office/drawing/2017/decorative" val="1"/>
              </a:ext>
            </a:extLst>
          </p:cNvPr>
          <p:cNvSpPr/>
          <p:nvPr/>
        </p:nvSpPr>
        <p:spPr>
          <a:xfrm>
            <a:off x="548640" y="1325880"/>
            <a:ext cx="5417820" cy="3075432"/>
          </a:xfrm>
          <a:prstGeom prst="roundRect">
            <a:avLst>
              <a:gd name="adj" fmla="val 237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Identiti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IDENTITIES</a:t>
            </a:r>
            <a:endParaRPr lang="en-US" sz="1100" dirty="0"/>
          </a:p>
        </p:txBody>
      </p:sp>
      <p:sp>
        <p:nvSpPr>
          <p:cNvPr id="7" name="Panel Identities list"/>
          <p:cNvSpPr txBox="1"/>
          <p:nvPr/>
        </p:nvSpPr>
        <p:spPr>
          <a:xfrm>
            <a:off x="731520" y="1737360"/>
            <a:ext cx="5097780" cy="261823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Users can create agent blueprints read as No within 90 days; Users can register applications is No</a:t>
            </a:r>
            <a:endParaRPr lang="en-US" sz="1400" dirty="0"/>
          </a:p>
          <a:p>
            <a:pPr marL="342900" indent="-342900">
              <a:spcAft>
                <a:spcPts val="400"/>
              </a:spcAft>
              <a:buSzPct val="100000"/>
              <a:buChar char="•"/>
            </a:pPr>
            <a:r>
              <a:rPr lang="en-US" sz="1400" dirty="0">
                <a:solidFill>
                  <a:srgbClr val="334155"/>
                </a:solidFill>
              </a:rPr>
              <a:t>Every production agent has a complete handshake dated before it was created; its attribute matches</a:t>
            </a:r>
            <a:endParaRPr lang="en-US" sz="1400" dirty="0"/>
          </a:p>
          <a:p>
            <a:pPr marL="342900" indent="-342900">
              <a:spcAft>
                <a:spcPts val="400"/>
              </a:spcAft>
              <a:buSzPct val="100000"/>
              <a:buChar char="•"/>
            </a:pPr>
            <a:r>
              <a:rPr lang="en-US" sz="1400" dirty="0">
                <a:solidFill>
                  <a:srgbClr val="334155"/>
                </a:solidFill>
              </a:rPr>
              <a:t>Every AI identity: an enabled employee sponsor, a group, a separate owner, a matching record</a:t>
            </a:r>
            <a:endParaRPr lang="en-US" sz="1400" dirty="0"/>
          </a:p>
          <a:p>
            <a:pPr marL="342900" indent="-342900">
              <a:spcAft>
                <a:spcPts val="400"/>
              </a:spcAft>
              <a:buSzPct val="100000"/>
              <a:buChar char="•"/>
            </a:pPr>
            <a:r>
              <a:rPr lang="en-US" sz="1400" dirty="0">
                <a:solidFill>
                  <a:srgbClr val="334155"/>
                </a:solidFill>
              </a:rPr>
              <a:t>No production blueprint or fallback app registration holds a secret; every certificate has a reason</a:t>
            </a:r>
            <a:endParaRPr lang="en-US" sz="1400" dirty="0"/>
          </a:p>
          <a:p>
            <a:pPr marL="342900" indent="-342900">
              <a:spcAft>
                <a:spcPts val="400"/>
              </a:spcAft>
              <a:buSzPct val="100000"/>
              <a:buChar char="•"/>
            </a:pPr>
            <a:r>
              <a:rPr lang="en-US" sz="1400" dirty="0">
                <a:solidFill>
                  <a:srgbClr val="334155"/>
                </a:solidFill>
              </a:rPr>
              <a:t>No allAllowed role inheritance; no directory role without a recorded end date</a:t>
            </a:r>
            <a:endParaRPr lang="en-US" sz="1400" dirty="0"/>
          </a:p>
        </p:txBody>
      </p:sp>
      <p:sp>
        <p:nvSpPr>
          <p:cNvPr id="8" name="Panel Lifecycle, policy and evidence">
            <a:extLst>
              <a:ext uri="{C183D7F6-B498-43B3-948B-1728B52AA6E4}">
                <adec:decorative xmlns:adec="http://schemas.microsoft.com/office/drawing/2017/decorative" val="1"/>
              </a:ext>
            </a:extLst>
          </p:cNvPr>
          <p:cNvSpPr/>
          <p:nvPr/>
        </p:nvSpPr>
        <p:spPr>
          <a:xfrm>
            <a:off x="6240780" y="1325880"/>
            <a:ext cx="5417820" cy="3075432"/>
          </a:xfrm>
          <a:prstGeom prst="roundRect">
            <a:avLst>
              <a:gd name="adj" fmla="val 237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Lifecycle, policy and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LIFECYCLE, POLICY AND EVIDENCE</a:t>
            </a:r>
            <a:endParaRPr lang="en-US" sz="1100" dirty="0"/>
          </a:p>
        </p:txBody>
      </p:sp>
      <p:sp>
        <p:nvSpPr>
          <p:cNvPr id="10" name="Panel Lifecycle, policy and evidence list"/>
          <p:cNvSpPr txBox="1"/>
          <p:nvPr/>
        </p:nvSpPr>
        <p:spPr>
          <a:xfrm>
            <a:off x="6423660" y="1737360"/>
            <a:ext cx="5097780" cy="261823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Mover and leaver workflows carry the sponsor tasks; every transfer confirmed in ten business days or handed to Ch 02</a:t>
            </a:r>
            <a:endParaRPr lang="en-US" sz="1400" dirty="0"/>
          </a:p>
          <a:p>
            <a:pPr marL="342900" indent="-342900">
              <a:spcAft>
                <a:spcPts val="400"/>
              </a:spcAft>
              <a:buSzPct val="100000"/>
              <a:buChar char="•"/>
            </a:pPr>
            <a:r>
              <a:rPr lang="en-US" sz="1400" dirty="0">
                <a:solidFill>
                  <a:srgbClr val="334155"/>
                </a:solidFill>
              </a:rPr>
              <a:t>Both agent policies report-only, results reviewed; none enforced while preview</a:t>
            </a:r>
            <a:endParaRPr lang="en-US" sz="1400" dirty="0"/>
          </a:p>
          <a:p>
            <a:pPr marL="342900" indent="-342900">
              <a:spcAft>
                <a:spcPts val="400"/>
              </a:spcAft>
              <a:buSzPct val="100000"/>
              <a:buChar char="•"/>
            </a:pPr>
            <a:r>
              <a:rPr lang="en-US" sz="1400" dirty="0">
                <a:solidFill>
                  <a:srgbClr val="334155"/>
                </a:solidFill>
              </a:rPr>
              <a:t>No open P1 AI drift finding (NPI-AI-21, -22, -23)</a:t>
            </a:r>
            <a:endParaRPr lang="en-US" sz="1400" dirty="0"/>
          </a:p>
          <a:p>
            <a:pPr marL="342900" indent="-342900">
              <a:spcAft>
                <a:spcPts val="400"/>
              </a:spcAft>
              <a:buSzPct val="100000"/>
              <a:buChar char="•"/>
            </a:pPr>
            <a:r>
              <a:rPr lang="en-US" sz="1400" dirty="0">
                <a:solidFill>
                  <a:srgbClr val="334155"/>
                </a:solidFill>
              </a:rPr>
              <a:t>D-N6 decided; the capability table matches it and the cloud</a:t>
            </a:r>
            <a:endParaRPr lang="en-US" sz="1400" dirty="0"/>
          </a:p>
          <a:p>
            <a:pPr marL="342900" indent="-342900">
              <a:spcAft>
                <a:spcPts val="400"/>
              </a:spcAft>
              <a:buSzPct val="100000"/>
              <a:buChar char="•"/>
            </a:pPr>
            <a:r>
              <a:rPr lang="en-US" sz="1400" dirty="0">
                <a:solidFill>
                  <a:srgbClr val="334155"/>
                </a:solidFill>
              </a:rPr>
              <a:t>The plan approved by someone else; applied by a person with CA Administrator; pinned pages match</a:t>
            </a:r>
            <a:endParaRPr lang="en-US" sz="1400" dirty="0"/>
          </a:p>
        </p:txBody>
      </p:sp>
      <p:sp>
        <p:nvSpPr>
          <p:cNvPr id="11" name="Callout">
            <a:extLst>
              <a:ext uri="{C183D7F6-B498-43B3-948B-1728B52AA6E4}">
                <adec:decorative xmlns:adec="http://schemas.microsoft.com/office/drawing/2017/decorative" val="1"/>
              </a:ext>
            </a:extLst>
          </p:cNvPr>
          <p:cNvSpPr/>
          <p:nvPr/>
        </p:nvSpPr>
        <p:spPr>
          <a:xfrm>
            <a:off x="548640" y="4584192"/>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657344"/>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797796"/>
            <a:ext cx="304312" cy="304312"/>
          </a:xfrm>
          <a:prstGeom prst="rect">
            <a:avLst/>
          </a:prstGeom>
        </p:spPr>
      </p:pic>
      <p:sp>
        <p:nvSpPr>
          <p:cNvPr id="14" name="Callout text"/>
          <p:cNvSpPr txBox="1"/>
          <p:nvPr/>
        </p:nvSpPr>
        <p:spPr>
          <a:xfrm>
            <a:off x="1600200" y="4639056"/>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10 — Drift and Evidence for the ISSO.</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09,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3C1E875-8DC9-6C4B-21C4-2448A790F0A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4225455-D8B6-4EF2-805C-07F9F41848A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80"/>
    </mc:Choice>
    <mc:Fallback>
      <p:transition spd="slow" advTm="40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16608</Words>
  <Application>Microsoft Office PowerPoint</Application>
  <PresentationFormat>Widescreen</PresentationFormat>
  <Paragraphs>451</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09: AI Agent Identities</vt:lpstr>
      <vt:lpstr>What Agent ID is, and why its blueprint matters</vt:lpstr>
      <vt:lpstr>Release stage by cloud, and D-N6 as data</vt:lpstr>
      <vt:lpstr>The program's rules, N6.1 to N6.7</vt:lpstr>
      <vt:lpstr>Learn's Agent ID samples, pinned and sent to a fake</vt:lpstr>
      <vt:lpstr>What the samples leave out: reads and sponsors</vt:lpstr>
      <vt:lpstr>What they leave out: secrets, inheritance, CA</vt:lpstr>
      <vt:lpstr>The code, its inputs and what it reads</vt:lpstr>
      <vt:lpstr>The checks, part 1: creation, handshake, sponsors</vt:lpstr>
      <vt:lpstr>The checks, part 2: privilege, sponsors, CA, drift</vt:lpstr>
      <vt:lpstr>The agent CA plan and the separate write path</vt:lpstr>
      <vt:lpstr>Who keeps the records, and what each task may hold</vt:lpstr>
      <vt:lpstr>Lab 1: Learn's samples, D-N6, then the check</vt:lpstr>
      <vt:lpstr>Lab 1: reading the findings and the sponsor fields</vt:lpstr>
      <vt:lpstr>Lab 1: the GCC High fallback, a dry run, a refusal</vt:lpstr>
      <vt:lpstr>Lab 2: a test tenant, one governed agent</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09 — AI Agent Identities</dc:title>
  <dc:subject>PptxGenJS Presentation</dc:subject>
  <dc:creator>Michael F. Stratton</dc:creator>
  <cp:lastModifiedBy>Michael F. Stratton</cp:lastModifiedBy>
  <cp:revision>2</cp:revision>
  <dcterms:created xsi:type="dcterms:W3CDTF">2026-10-31T14:33:49Z</dcterms:created>
  <dcterms:modified xsi:type="dcterms:W3CDTF">2026-10-31T16:10:24Z</dcterms:modified>
</cp:coreProperties>
</file>