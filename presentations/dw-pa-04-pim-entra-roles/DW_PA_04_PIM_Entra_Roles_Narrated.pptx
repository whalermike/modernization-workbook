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4955E9A-8722-417B-38CB-965923328900}">
          <p14:sldIdLst>
            <p14:sldId id="256"/>
          </p14:sldIdLst>
        </p14:section>
        <p14:section name="Why" id="{12287B6C-9418-BA85-76CB-4D2F927A7046}">
          <p14:sldIdLst>
            <p14:sldId id="257"/>
            <p14:sldId id="258"/>
          </p14:sldIdLst>
        </p14:section>
        <p14:section name="What" id="{31902808-480F-1F15-F47E-66D0766B8A0F}">
          <p14:sldIdLst>
            <p14:sldId id="259"/>
            <p14:sldId id="260"/>
            <p14:sldId id="261"/>
            <p14:sldId id="262"/>
            <p14:sldId id="263"/>
            <p14:sldId id="264"/>
            <p14:sldId id="265"/>
            <p14:sldId id="266"/>
            <p14:sldId id="267"/>
          </p14:sldIdLst>
        </p14:section>
        <p14:section name="Who" id="{BF0567E8-47EB-1987-0E65-1E3FEEC7F4D4}">
          <p14:sldIdLst>
            <p14:sldId id="268"/>
          </p14:sldIdLst>
        </p14:section>
        <p14:section name="How" id="{1381BB1E-2B74-F737-86B5-C0064E2DA1F9}">
          <p14:sldIdLst>
            <p14:sldId id="269"/>
            <p14:sldId id="270"/>
            <p14:sldId id="271"/>
            <p14:sldId id="272"/>
            <p14:sldId id="273"/>
          </p14:sldIdLst>
        </p14:section>
        <p14:section name="Backup" id="{5462D7D3-763E-788D-E88A-452AF4C863A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681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Privileged Access. This is Chapter 4: PIM for Microsoft Entra roles as code. A role setting someone changed in the portal is a control nobody reviewed, so this chapter holds each role's settings in a reviewed file, compares the file with the tenant, and changes the tenant only from the file. We'll start from Microsoft's two samples, see what they leave out, then walk the role files, the checks, the diff and the rollout, two labs and the dangers. One note before we begin: the code is illustrative, tested against fixtures.
Detail: The chapter delivers the code behind the plan's tasks A1.6, A2.1 and A2.2: "role settings for every tier written as code from Appendix B and reviewed," then the pilot class's settings applied with PRV groups holding the eligible assignments, then its standing assignments converted, "eligible first, activation confirmed, active removed." It starts with two Learn pages, Microsoft's samples for updating PIM rules and for assigning eligibility, pinned in the repository, and sends their requests to a fake Graph to see what they do and what they leave out. Then examples/privileged-access adds the rest: one reviewed JSON file per role, a diff against the tenant, a dry run by default, separate read and write permissions, a lockout guard, and a rollout that refuses the next tier until the last one matches its files. Lab 1 runs on a laptop with no tenant; Lab 2 uses a test tenant.
Sources: Microsoft Learn, "Update rules in PIM by using Microsoft Graph," https://learn.microsoft.com/graph/how-to-pim-update-rules (accessed Oct 30, 2026). · Microsoft Learn, "Assign privileged roles using PIM for Microsoft Entra roles APIs," https://learn.microsoft.com/graph/tutorial-assign-azureadroles (accessed Oct 30, 2026).
Workbook: Building Privileged Access, Chapter 04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exist? Because a setting someone changed by hand in the portal is a control nobody reviewed. And because the order of changes matters. Learn documents a lockout: every top administrator eligible, none active, approval required, and nobody named to approve. So the chapter won't touch any role setting until the emergency accounts from Chapter 2 hold in the tenant, and it refuses any file that asks for approval without an approver. The plan's order is fixed too: one pilot class first, then every tier, one at a time.
Detail: Learn documents a lockout: every Privileged Role Administrator and Global Administrator eligible and none active, approval required, and no approvers selected. With no approvers, the active Privileged Role and Global Administrators become the default approvers, and there are none. Learn's fix has two halves: emergency access accounts, and named approvers. Chapter 02 checks the first half. This chapter refuses to change any role setting until that half holds in the tenant, and refuses any file that requires approval with no approver. The plan's order is fixed: emergency access first, then one role class under just-in-time elevation (the plan's Phase 2; for decision D-A5 the owner chose Tier 1, the management-plane roles, as the pilot class), then every tier (Phase 3, task A3.1), tier by tier. The code holds that order as rollout waves: Tier 1, then Tier 0, Tier 2 and read-only. It refuses a wave until every earlier wave matches its files (research gaps, row 49). The order of the waves after the first is design guidance.
Sources: Microsoft Learn, "Configure Microsoft Entra role settings in Privileged Identity Management," https://learn.microsoft.com/entra/id-governance/privileged-identity-management/pim-how-to-change-default-settings (accessed Oct 30, 2026).
Workbook: Building Privileged Access, Chapter 04 — “The context the code depends on” — emergency access first; the plan's order is fixed.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which cloud. Everything here is Microsoft Graph, version one, with no Resource Manager calls at all; Azure resource roles wait for Chapter 6. This estate's tenant is GCC, so Graph is the worldwide host and sign-in is the worldwide sign-in page. GCC High and the Defense Department cloud would use their own hosts, and every call's Learn page lists the US Government clouds as available. One small design choice matters: the code takes an explicit cloud name and has no default, so nobody runs it against the wrong cloud by accident.
Detail: Every call in this chapter is Microsoft Graph v1.0. For Microsoft 365 GCC, Graph is the worldwide host, graph.microsoft.com, and sign-in is login.microsoftonline.com; GCC High uses graph.microsoft.us and DoD dod-graph.microsoft.us. No call here uses Resource Manager; PIM for Azure resources is Chapter 06. Every call's Learn page lists the global service, US Government L4 and US Government L5 as available. PIM is available in Azure for US Government, and Microsoft Entra ID Governance is available in GCC, GCC High and DoD. The code takes an explicit cloud name and has no default.
Sources: Microsoft Learn, "Microsoft Graph national cloud deployments," https://learn.microsoft.com/graph/deployments (accessed Oct 30, 2026). · Microsoft Learn, "Microsoft Entra feature availability," Microsoft Entra ID, identity governance, and other Microsoft Entra products, https://learn.microsoft.com/entra/identity/authentication/feature-availability (accessed Oct 30, 2026). · Microsoft Learn, "List roleManagementPolicyAssignments," https://learn.microsoft.com/graph/api/policyroot-list-rolemanagementpolicyassignments?view=graph-rest-1.0 (accessed Oct 30, 2026). · Microsoft Learn, "Update unifiedRoleManagementPolicyRule," https://learn.microsoft.com/graph/api/unifiedrolemanagementpolicyrule-update?view=graph-rest-1.0 (accessed Oct 30, 2026). · Microsoft Learn, "List roleEligibilitySchedules," https://learn.microsoft.com/graph/api/rbacapplication-list-roleeligibilityschedules?view=graph-rest-1.0 (accessed Oct 30, 2026). · Microsoft Learn, "Create roleEligibilityScheduleRequest," https://learn.microsoft.com/graph/api/rbacapplication-post-roleeligibilityschedulerequests?view=graph-rest-1.0 (accessed Oct 30, 2026). · Microsoft Learn, "Create roleAssignmentScheduleRequests," https://learn.microsoft.com/graph/api/rbacapplication-post-roleassignmentschedulerequests?view=graph-rest-1.0 (accessed Oct 30, 2026).
Workbook: Building Privileged Access, Chapter 04 — “Which cloud, for these calls”.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shape of what we're managing. Every Microsoft Entra role has its own settings, independent of every other role, and every assignment of that role follows them. In Graph, each role gets one policy, and each policy holds seventeen rules with fixed names, grouped into activation, assignment and notification. This chapter manages the seven activation and assignment rules that Book 4 lists, the ones on the slide, and deliberately leaves the notification rules alone. Each of those seven becomes a few lines in a reviewed file.
Detail: Each Microsoft Entra role has its own settings, independent of every other role's, and every assignment of the role follows them. In Graph, each role at tenant scope is assigned one unifiedRoleManagementPolicy, and each policy has 17 predefined rules with fixed IDs, in three groups: activation, assignment and notification. This chapter manages the seven activation and assignment rules Book 04, Chapter 08 lists, and leaves the notification rules alone (research gaps, row 45). Expiration_EndUser_Assignment: activation maximum duration (Activation). Enablement_EndUser_Assignment: justification, MFA and ticket on activation (Activation). AuthenticationContext_EndUser_Assignment: the authentication context required on activation (Activation). Approval_EndUser_Assignment: approval and approvers (Activation). Expiration_Admin_Eligibility: permanent eligible allowed, or the eligibility maximum (Assignment). Expiration_Admin_Assignment: permanent active allowed, or the active maximum (Assignment). Enablement_Admin_Assignment: MFA and justification on an active assignment (Assignment). Rule IDs, types and the caller each one is enforced for are from Learn's mapping guide.
Sources: Microsoft Learn, "Configure Microsoft Entra role settings in Privileged Identity Management," https://learn.microsoft.com/entra/id-governance/privileged-identity-management/pim-how-to-change-default-settings (accessed Oct 30, 2026). · Microsoft Learn, "Rules in PIM - mapping guide," https://learn.microsoft.com/graph/identity-governance-pim-rules-overview (accessed Oct 30, 2026).
Workbook: Building Privileged Access, Chapter 04 — “The context the code depends on” — settings are per role, and Graph calls them rules.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authentication context deserves its own slide, because it's easy to get wrong. Learn says the Conditional Access policy behind the context must exist and be switched on before you select the context in PIM. If no policy targets it, activation falls back to MFA, but if the policy is off or report-only, nothing is enforced at all. Even with it on, you only get a prompt on every activation if that policy asks for it, and a ten-minute window still applies. Learn's pages also disagree on whether the option is in preview, so the chapter keeps calling it preview.
Detail: Learn says to create and enable the Conditional Access policy for the context before selecting the context in PIM. If no policy targets the context, activation falls back to MFA, but not when the policy is off, report-only, or excludes the user. The program's context is c1 and its policy is PIM-Activation-c1 (Book 04, Chapter 08). Chapter 03 builds both, report-only first, and its PA-CA-04 warns until the policy is On. Learn's pages disagree on its stage. The mapping guide labels the admin center's authentication context option "(Preview)", and the PIM deployment plan still marks "Require Conditional Access context" as public preview; Microsoft Entra releases and announcements lists reauthentication with Conditional Access on every PIM activation as generally available in April 2026; the role settings page and the v1.0 rule resource carry no label. This chapter keeps treating the option as preview, the stricter reading, until the pages agree (research gaps, row 42). The context alone doesn't force a prompt on every activation: Learn says to set the context's Conditional Access policy to sign-in frequency Every time for that, and even then a 10-minute window applies, across Microsoft Entra roles, Azure resource roles and PIM for Groups, in which a second activation doesn't prompt again. Chapter 03 owns that policy.
Sources: Microsoft Learn, "Configure Microsoft Entra role settings in Privileged Identity Management," https://learn.microsoft.com/entra/id-governance/privileged-identity-management/pim-how-to-change-default-settings (accessed Oct 30, 2026). · Microsoft Learn, "Configure Microsoft Entra role settings in Privileged Identity Management," on activation, require Microsoft Entra Conditional Access authentication context, https://learn.microsoft.com/entra/id-governance/privileged-identity-management/pim-how-to-change-default-settings (accessed Oct 31, 2026). · Microsoft Learn, "Rules in PIM - mapping guide," https://learn.microsoft.com/graph/identity-governance-pim-rules-overview (accessed Oct 30, 2026). · Microsoft Learn, "Plan a Privileged Identity Management deployment," overview and plan testing, https://learn.microsoft.com/entra/id-governance/privileged-identity-management/pim-deployment-plan (accessed Oct 31, 2026). · Microsoft Learn, "Microsoft Entra releases and announcements," April 2026, General Availability - Enforce Conditional Access policies like MFA on every PIM activation, https://learn.microsoft.com/entra/fundamentals/whats-new (accessed Oct 31, 2026). · Microsoft Learn, "unifiedRoleManagementPolicyAuthenticationContextRule resource type," https://learn.microsoft.com/graph/api/resources/unifiedrolemanagementpolicyauthenticationcontextrule?view=graph-rest-1.0 (accessed Oct 30, 2026).
Workbook: Building Privileged Access, Chapter 04 — “The context the code depends on” — the authentication context needs its policy first; “Verified facts”.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gives you two samples. One shows how to find a role's policy and then update its rules, six requests, each carrying the right type. The other is a tutorial that makes a group eligible for a role and has a member activate it, which is exactly Book 4's pattern: roles are eligible to a group, never to a person. Those samples live only inside web pages, so the repository pins the pages' source, unmodified, with hashes a test checks. Then a harness sends every request to a fake Graph, so you can see what they really do.
Detail: Update rules in PIM by using Microsoft Graph shows how to find a role's policy from its template ID through roleManagementPolicyAssignments, then six PATCH requests: the activation maximum, justification with MFA and ticket on activation, approval, eligibility expiration, active expiration, and justification with MFA on active assignment. It says every body must carry the derived rule's @odata.type, that each update returns 204 No Content, that Privileged Role Administrator is the least-privileged role, and that RoleManagementPolicy.ReadWrite.Directory is the permission for Microsoft Entra roles. Assign privileged roles using PIM for Microsoft Entra roles APIs is the tutorial for eligibility. It creates a role-assignable group, makes it eligible for User Administrator through roleEligibilityScheduleRequests, has a member activate the role with a justification and a ticket, and cleans up. That is the pattern Book 04 uses: the role is eligible to a PRV-&lt;tier&gt;-&lt;role&gt; group, not to a person. The samples exist only inside the pages, so the repository pins the pages' source, unmodified, in examples/third_party/graph-pim-rules-pages: concepts/how-to-pim-update-rules.md and concepts/tutorial-assign-azureadroles.md from microsoftgraph/microsoft-graph-docs-contrib at commit a693031 (October 30, 2026), with the repository's licenses (MIT for code, Creative Commons Attribution 4.0 for documentation). snapshot.json records each file's SHA-256, checked against the upstream git blob hashes; a unit test checks them, and the weekly source watch reports new commits to either page. tests/PimLearnSampleHarness.ps1 extracts every HTTP request from the pinned pages, unmodified, and the tests send them to the fake Graph in PimEntraRoles.psm1, which serves a fictional tenant with one policy per role and all 17 rules. The fake requires the @odata.type the rule has, and it rejects an eligibility request longer than the policy allows, as Learn says PIM does. Nothing signs in.
Sources: Microsoft Learn, "Update rules in PIM by using Microsoft Graph," https://learn.microsoft.com/graph/how-to-pim-update-rules (accessed Oct 30, 2026). · Microsoft Learn, "Assign privileged roles using PIM for Microsoft Entra roles APIs," https://learn.microsoft.com/graph/tutorial-assign-azureadroles (accessed Oct 30, 2026). · Microsoft, microsoftgraph/microsoft-graph-docs-contrib, concepts/how-to-pim-update-rules.md and concepts/tutorial-assign-azureadroles.md at commit a69303123e9701eecbf56568d152ece936a97f1e (October 30, 2026; the pages last changed August 29, 2025 and July 3, 2026), code MIT License, documentation CC BY 4.0, https://github.com/microsoftgraph/microsoft-graph-docs-contrib/tree/a69303123e9701eecbf56568d152ece936a97f1e/concepts (accessed Oct 30, 2026); pinned copy in examples/third_party/graph-pim-rules-pages. · Microsoft Learn, "Manage Microsoft Entra role assignments by using PIM APIs," methods of assigning roles and role settings and PIM, https://learn.microsoft.com/graph/api/resources/privilegedidentitymanagementv3-overview?view=graph-rest-1.0 (accessed Oct 30, 2026).
Workbook: Building Privileged Access, Chapter 04 — “What Microsoft gives you”; “The pinned copy”.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samples fall short, and every row is pinned by a test. Learn's read and its rule shapes are good, so the code keeps them. But there's no sample for the authentication context rule at all, and the activation sample relies on MFA, which may not prompt again in a session that already did it. Every update names a policy from somebody else's tenant, so a copied script fails. And even with the right policy, the samples leave a role different from the program's settings in six rules. So the code adds a real diff.
Detail: Each row is pinned by a test in tests/PimEntraRoles.Tests.ps1: the first 13 run Learn's samples as published. Find the policy from the template ID through roleManagementPolicyAssignments: kept as the read, with Learn's $expand=policy($expand=rules) so one call returns the policy and its rules. Each PATCH carries its @odata.type; the write permission is RoleManagementPolicy.ReadWrite.Directory: kept, every body the code writes has the type, and the call list declares the same permission. No sample for AuthenticationContext_EndUser_Assignment, and Appendix B requires context c1 on every role: the rule is written from each role file, with its @odata.type. Activation requires MFA, not an authentication context, and MFA may not prompt in a session that already did it: c1 on activation, and MFA only on active assignment, as Appendix B sets; c1 prompts on every activation only if its policy sets sign-in frequency to Every time, outside Learn's 10-minute window; Chapter 03's PIM-Activation-c1 sets it. Every PATCH names one hard-coded policy ID from another tenant, so each one fails as published; a copied script writes nowhere, or to the wrong role: the policy ID always comes from the read, per role. With the right policy ID, the six samples still leave Application Administrator different from Appendix B in six rules; applying the samples isn't applying the program's settings: Compare-PaPimPolicy, a diff, rule by rule and property by property. The approval sample names a single user beside a group; people leave, and a policy that names one is a broken approval path: approvers are groups only, named by alias and bound to object IDs per tenant.
Sources: Microsoft Learn, "Update rules in PIM by using Microsoft Graph," https://learn.microsoft.com/graph/how-to-pim-update-rules (accessed Oct 30, 2026). · Microsoft Learn, "List roleManagementPolicyAssignments," https://learn.microsoft.com/graph/api/policyroot-list-rolemanagementpolicyassignments?view=graph-rest-1.0 (accessed Oct 30, 2026). · Microsoft Learn, "unifiedRoleManagementPolicyAuthenticationContextRule resource type," https://learn.microsoft.com/graph/api/resources/unifiedrolemanagementpolicyauthenticationcontextrule?view=graph-rest-1.0 (accessed Oct 30, 2026). · Microsoft Learn, "Configure Microsoft Entra role settings in Privileged Identity Management," https://learn.microsoft.com/entra/id-governance/privileged-identity-management/pim-how-to-change-default-settings (accessed Oct 30, 2026). · Microsoft Learn, "Configure Microsoft Entra role settings in Privileged Identity Management," on activation, require Microsoft Entra Conditional Access authentication context, https://learn.microsoft.com/entra/id-governance/privileged-identity-management/pim-how-to-change-default-settings (accessed Oct 31, 2026).
Workbook: Building Privileged Access, Chapter 04 — “What it leaves to you” — rows 1 to 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 about safety. Nothing in the samples reads before writing, offers a dry run, or reads back afterward, and nothing checks for the lockout. The tutorial asks for a year of eligibility, twice what the program allows for that tier, and for permissions far broader than the request needs. Its clean-up would delete the wrong object. So the verdict is clear: keep Learn's read, its rule shapes and its write permission, but don't run the samples as published. Let's look at what the code builds instead.
Detail: No read before a write, no dry run, no read-back: nobody sees the change before it happens or proves it after; the code makes a plan and a diff by default, writes only with -Apply, and reads the tenant back and compares after. Nothing checks the lockout conditions: approval with no approver and no emergency accounts locks the tenant; PA-PIM-01 and PA-PIM-02 block every write. The tutorial asks for a year of User Administrator eligibility: Appendix B caps Tier 2 at 180 days; the code refuses the request before sending it, and the fake, like PIM, rejects it once the policy is set; New-PaPimEligibilityRequest checks the role file's maximum. The tutorial asks for RoleManagement.ReadWrite.Directory and Group.ReadWrite.All, broader than the request needs: RoleEligibilitySchedule.ReadWrite.Directory only. The tutorial's clean-up deletes a group by the test user's object ID; run as written, it deletes the wrong object, or fails: the back-out uses only IDs the run recorded. The tutorial reads no existing eligibility and sets no role settings; a second run asks again, and the eligibility follows whatever the role allows: eligibility is planned only where it's missing, after the role's rules are set. The verdict: keep Learn's read, Learn's rule shapes and Learn's write permission. Don't run the samples as published: they write one role at a time to a policy in another tenant, with a single-user approver, MFA instead of a context, and nothing to stop the lockout.
Sources: Microsoft Learn, "Assign privileged roles using PIM for Microsoft Entra roles APIs," https://learn.microsoft.com/graph/tutorial-assign-azureadroles (accessed Oct 30, 2026). · Microsoft Learn, "Create roleEligibilityScheduleRequest," https://learn.microsoft.com/graph/api/rbacapplication-post-roleeligibilityschedulerequests?view=graph-rest-1.0 (accessed Oct 30, 2026). · Microsoft Learn, "Configure Microsoft Entra role settings in Privileged Identity Management," https://learn.microsoft.com/entra/id-governance/privileged-identity-management/pim-how-to-change-default-settings (accessed Oct 30, 2026). · Microsoft Learn, "Manage Microsoft Entra role assignments by using PIM APIs," methods of assigning roles and role settings and PIM, https://learn.microsoft.com/graph/api/resources/privilegedidentitymanagementv3-overview?view=graph-rest-1.0 (accessed Oct 30, 2026).
Workbook: Building Privileged Access, Chapter 04 — “What it leaves to you” — rows 8 to 13; “The verdict”.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code add? A module of its own, building on Book 4's appendix script, with one reviewed file per role, twenty-two in all, so a reviewer reads a change to a file as a change to the tenant. Approvers appear by alias, and a small bindings file per tenant turns each alias into a real group, so the same files serve a test tenant and production. Every file sits inside bounds. Where Learn's pages disagree on the longest activation, the code takes the stricter eight hours, and the owner capped standing active assignments at fifteen days.
Detail: This chapter adds its own module, powershell/PimEntraRoles/PimEntraRoles.psm1, its own call list, config/calls-ch04.json, the role files and rollout in config/pim-ch04, and the entry script Invoke-PaPimRoleSettings.ps1. It imports Chapter 01's PrivilegedAccess module for the cloud table and the exceptions list, and reads Chapter 02's emergency-access.json. Its notes are in examples/privileged-access/docs/ch04.md. It builds on Book 04's own script: Appendix B's Set-FMPPimTierPolicy.ps1 applies five rules to a list of roles and honors -WhatIf. This code adds the two assignment rules, the files per role, the diff, the read-back, the guards and the waves. config/pim-ch04/roles holds one file per role in Appendix B, 22 in all, named for the role. Each file holds the role's template ID and tier, and its activation, approval and assignment settings: for example Global Administrator, Tier 0, four hours, context c1, justification and ticket, approval by PIM-Approvers-T0, eligibility for at most 90 days, and permanent active allowed only for this role, for the emergency accounts. A reviewer reads a change to a file as a change to the tenant. The files name approvers by alias. pim-bindings.json, one per tenant, gives each alias its group's object ID, and names the PRV group and scope that holds each role's eligibility. The files carry no tenant's IDs, so the same reviewed files serve a test tenant and production. Read-PaPimRoleSetting refuses a file with a missing key, a name where a template ID belongs, an unknown tier, a duration that isn't ISO 8601, or a second file for the same role. A malformed file never reaches the tenant. config/pim-ch04/tiers.json holds the bounds every file must sit inside. Learn's bounds come first. The role settings page says an activation lasts one to 24 hours, but the PIM API overview says an activation is always at most eight hours. The code follows the stricter, eight hours (research gaps, row 41). The tier caps are Appendix B's: four hours for Tier 0, eight for the rest; eligibility of 90, 180 or 365 days; approval for Tier 0 and Tier 1; a ticket for every tier but read-only. Design guidance. Appendix B sets the active assignment maximum at "the shortest period the documented exception needs"; the owner has decided it is at most 15 days, P15D in every file and maximumActive in tiers.json, and PA-PIM-04 flags a file that asks for more (research gaps, row 48). ConvertTo-PaPimRule turns one file into the seven PATCH bodies, in Learn's shapes: the derived @odata.type, the rule ID, and the target with Learn's caller and level for that rule. Approval is single-stage, with a one-day stage timeout, requester and approver justification, and the tier's group as the only approver. An alias the bindings don't name throws.
Sources: Microsoft Learn, "Configure Microsoft Entra role settings in Privileged Identity Management," https://learn.microsoft.com/entra/id-governance/privileged-identity-management/pim-how-to-change-default-settings (accessed Oct 30, 2026). · Microsoft Learn, "Manage Microsoft Entra role assignments by using PIM APIs," methods of assigning roles and role settings and PIM, https://learn.microsoft.com/graph/api/resources/privilegedidentitymanagementv3-overview?view=graph-rest-1.0 (accessed Oct 30, 2026). · Microsoft Learn, "Update rules in PIM by using Microsoft Graph," https://learn.microsoft.com/graph/how-to-pim-update-rules (accessed Oct 30, 2026). · Microsoft Learn, "Rules in PIM - mapping guide," https://learn.microsoft.com/graph/identity-governance-pim-rules-overview (accessed Oct 30, 2026).
Workbook: Building Privileged Access, Chapter 04 — “The code: examples/privileged-access”; “The role files”; “The rules”.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is written, nine checks run. The first two are the two halves of the lockout: approval with no approver, and too few emergency accounts holding Global Administrator. Others keep approvers separate from the people they approve, keep every file inside its bounds, and refuse a wave until the earlier ones match. Any finding blocks the write. One check can't be automated: whether the activation gate's policy is on lives in a beta property, so a person has to state it, with a flag, after Chapter 3's run shows it's on.
Detail: Before anything is written, Test-PaPimSetting and New-PaPimPlan report: PA-PIM-01 Finding, approval required with no approver (Learn: half of the documented lockout). PA-PIM-02 Finding, fewer emergency accounts with permanent, active, direct Global Administrator than emergency-access.json requires (Learn: the other half; Chapter 02). PA-PIM-03 Finding, an approver group that is also the role's eligible group (design guidance: Book 04, Chapter 08). PA-PIM-04 Finding, a file outside Learn's bounds or its tier's cap: activation, eligibility, permanent eligible, active assignments over 15 days, permanent active on any role but Global Administrator, missing approval or ticket (Learn's bounds; Appendix B's caps, design guidance; the owner's 15-day decision). PA-PIM-05 Warn, an authentication context: its Conditional Access policy must be On before the rule is set (Learn). PA-PIM-06 Finding, no policy for the role at tenant scope. PA-PIM-07 Finding, an earlier rollout wave that doesn't match its files yet (design guidance: the plan's order). PA-PIM-08 Warn, eligibility outside the role's PRV group (design guidance; the access review removes it, Chapter 07). PA-PIM-09 Warn and Info: a standing active assignment, a user to convert, or a service principal to document (Warn); an emergency account or a documented exception (Info) (Book 04, Chapter 08). Any Finding blocks -Apply. PA-PIM-05 can't be checked from v1.0: the Conditional Access policy's authentication context target is a beta property. So -Apply needs -ActivationGateChecked, a person's statement, made after Chapter 03's run shows no PA-CA-04 for PIM-Activation-c1, that the policy is On (research gaps, row 44). Chapter 06 asks the same of its Azure role settings.
Sources: Microsoft Learn, "Configure Microsoft Entra role settings in Privileged Identity Management," https://learn.microsoft.com/entra/id-governance/privileged-identity-management/pim-how-to-change-default-settings (accessed Oct 30, 2026). · Microsoft Learn, "conditionalAccessApplications resource type" (v1.0), https://learn.microsoft.com/graph/api/resources/conditionalaccessapplications?view=graph-rest-1.0 (accessed Oct 30, 2026). · Microsoft Learn, "conditionalAccessApplications resource type" (beta), https://learn.microsoft.com/graph/api/resources/conditionalaccessapplications?view=graph-rest-beta (accessed Oct 30, 2026).
Workbook: Building Privileged Access, Chapter 04 — “The checks”.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and writing are different jobs here, with different permissions. Every read uses a read-only permission, and the client refuses anything but a read unless it was built for writing, which only happens when you ask to apply. Rule updates and new eligibility need two write permissions; removing a standing assignment is a third task with its own. Learn's PowerShell guide and the tutorial ask for broader permissions, so the code follows the narrower reference pages instead. And a test makes sure the dry run's app never holds a write permission.
Detail: Every call goes through one client, built for one task in one cloud. The client sends only the calls config/calls-ch04.json declares for the task, follows every page on the cloud's own Graph host, and refuses every method but GET unless it was built with -AllowWrite. The entry script builds it that way only with -Apply. Reads and writes are different tasks, with different permissions. List roleManagementPolicyAssignments, with the policy and its rules: RoleManagementPolicy.Read.Directory; delegated Global Reader, Security Operator, Security Reader, Security Administrator or Privileged Role Administrator; all tasks. List roleEligibilitySchedules: RoleEligibilitySchedule.Read.Directory; as above; all. List roleAssignmentScheduleInstances: RoleAssignmentSchedule.Read.Directory; Global Reader (read); all. Update a policy rule (PATCH): RoleManagementPolicy.ReadWrite.Directory; Privileged Role Administrator; pim-apply. Create a roleEligibilityScheduleRequest (POST): RoleEligibilitySchedule.ReadWrite.Directory; Privileged Role Administrator; pim-apply. Create a roleAssignmentScheduleRequest (POST, adminRemove only): RoleAssignmentSchedule.ReadWrite.Directory; Privileged Role Administrator; pim-convert. Learn's Graph PowerShell guide for the same policies asks for RoleManagement.ReadWrite.Directory, and the tutorial for the same, plus Group.ReadWrite.All. Each is broader than the call needs. The code follows the API reference pages, which name the narrower permission. The removal page lists RoleAssignmentSchedule.Remove.Directory as higher privileged than ReadWrite (research gaps, row 43). A test keeps each task's permissions equal to the union of its calls, so a dry run's reader app never holds a write permission. On scopeType: the Graph PowerShell guide uses DirectoryRole in one step and Directory in the next; the list page says both are accepted for Microsoft Entra roles. The code uses DirectoryRole, as the how-to page does.
Sources: Microsoft Learn, "List roleManagementPolicyAssignments," https://learn.microsoft.com/graph/api/policyroot-list-rolemanagementpolicyassignments?view=graph-rest-1.0 (accessed Oct 30, 2026). · Microsoft Learn, "List roleEligibilitySchedules," https://learn.microsoft.com/graph/api/rbacapplication-list-roleeligibilityschedules?view=graph-rest-1.0 (accessed Oct 30, 2026). · Microsoft Learn, "List roleAssignmentScheduleInstances," https://learn.microsoft.com/graph/api/rbacapplication-list-roleassignmentscheduleinstances?view=graph-rest-1.0 (accessed Oct 30, 2026; read for Chapter 02). · Microsoft Learn, "Update unifiedRoleManagementPolicyRule," https://learn.microsoft.com/graph/api/unifiedrolemanagementpolicyrule-update?view=graph-rest-1.0 (accessed Oct 30, 2026). · Microsoft Learn, "Create roleEligibilityScheduleRequest," https://learn.microsoft.com/graph/api/rbacapplication-post-roleeligibilityschedulerequests?view=graph-rest-1.0 (accessed Oct 30, 2026). · Microsoft Learn, "Create roleAssignmentScheduleRequests," https://learn.microsoft.com/graph/api/rbacapplication-post-roleassignmentschedulerequests?view=graph-rest-1.0 (accessed Oct 30, 2026). · Microsoft Learn, "Manage PIM policies in Microsoft Graph PowerShell," https://learn.microsoft.com/powershell/microsoftgraph/how-to-manage-pim-policies?view=graph-powershell-1.0 (accessed Oct 30, 2026). · Microsoft Learn, "Assign privileged roles using PIM for Microsoft Entra roles APIs," https://learn.microsoft.com/graph/tutorial-assign-azureadroles (accessed Oct 30, 2026).
Workbook: Building Privileged Access, Chapter 04 — “The calls and their permissions”; “Verified facts” — write permission, scopeType.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write path, and it's careful by design. First it reads each role's policy, then compares the seven rules with the file, after smoothing out differences that don't matter. The plan lists every change and sends nothing. Only when you ask to apply does it write: rules first, then eligibility, so each request meets the new limits. Then it reads the tenant again, and that read-back is the evidence, not the response. Converting standing access follows Book 4's order: eligible first, activation confirmed, and only then removed.
Detail: Get-PaPimTenantState reads each role's policy with Learn's own filter and expand, one call per role, then every eligibility schedule and every active assignment instance. Compare-PaPimPolicy compares the seven rules with the file, after normalizing them: durations as time spans, enabled rules and approvers sorted, and nothing that doesn't apply (no maximum when the rule allows permanent). A role that matches its file has no rows. New-PaPimPlan takes one wave and returns the findings, the diff and the actions: a PATCH for each rule that differs, an adminAssign eligibility request for each PRV group that isn't eligible yet, for the role's maximum, and each standing assignment to convert. It sends nothing. The entry script writes plan.json, diff.csv, findings.json, before.json (the wave's rules as the tenant holds them, for the back-out) and a manifest with every request and the SHA-256 of each file. With -Apply, Invoke-PaPimPlan sends the rule updates first and the eligibility requests second, so each request meets the role's new expiration rule. The manifest records the SHA-256 of each write's body. Then the script reads the tenant again and writes verify.csv, the diff after the change. Learn's pages differ on the response to a rule update, 204 No Content on the how-to page and 200 OK with the rule on the API page; the code accepts either, and the read-back is the evidence, not the response (research gaps, row 46). Converting standing assignments: Book 04's order is eligible first, activation confirmed, active removed. The plan lists each standing user assignment with one of three statuses: WaitingForEligibility until the role's PRV group is eligible in the tenant, WaitingForConfirmedActivation until confirmed-activations.csv has a row for that person and role with a ticket, and Confirmed. Only -Apply -Convert, a separate task with its own permission, sends adminRemove, and only for Confirmed rows. Emergency accounts and documented exceptions are never planned for removal; service principals are reported, not removed. Design guidance. Learn's rules on timing still apply: an assignment can't be removed within five minutes of creation, and PIM won't remove the last active Global Administrator. The tests: 50 in tests/PimEntraRoles.Tests.ps1; 13 run Learn's samples as published; the rest cover the role files and their refusals, the rules, each check, the client's permissions and refusals, the plan on the fixture, the apply and read-back, the conversion, the back-out, and the entry script.
Sources: Microsoft Learn, "List roleManagementPolicyAssignments," https://learn.microsoft.com/graph/api/policyroot-list-rolemanagementpolicyassignments?view=graph-rest-1.0 (accessed Oct 30, 2026). · Microsoft Learn, "Update rules in PIM by using Microsoft Graph," https://learn.microsoft.com/graph/how-to-pim-update-rules (accessed Oct 30, 2026). · Microsoft Learn, "Update unifiedRoleManagementPolicyRule," https://learn.microsoft.com/graph/api/unifiedrolemanagementpolicyrule-update?view=graph-rest-1.0 (accessed Oct 30, 2026).
Workbook: Building Privileged Access, Chapter 04 — “The diff, the plan and the read-back”; “Converting standing assignments”; “The tests”.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chapter for? Developers build the write path, and they need PowerShell, the file format, and a sense of what an eligible assignment is. The identity engineers own PIM itself: the role files, the bindings, and the groups. And the information system security officers review the changes, because every file is read by two people and every apply follows a reviewed dry run. The identities are split the same way: a reader for dry runs, a writer for applying, and the removal permission held only for a conversion run.
Detail: Audience: developers who build the project's write path, the identity engineers who own PIM, and the ISSOs who review the changes. You should read PowerShell 7 and JSON, and know what an eligible assignment is. You don't need a tenant until Lab 2. Goal: by the end of this chapter you can hold Book 04, Appendix B's role settings as code, show a reviewer exactly what a change will do to the tenant before it happens, apply it to one rollout wave with the least privilege the writes need, and prove from a read-back that the tenant now matches the files. You can say, for each rule in the code, whether it is Microsoft's contract, Microsoft's sample, or the program's own design. From the checklist: every role file was reviewed by two people; the reader app holds the three pim-plan permissions; the writer holds the pim-apply writes; only the conversion run holds RoleAssignmentSchedule.ReadWrite.Directory; every apply was preceded by a reviewed dry run. Learn names Privileged Role Administrator as the least-privileged role for each write.
Sources: Microsoft Learn, "Update rules in PIM by using Microsoft Graph," https://learn.microsoft.com/graph/how-to-pim-update-rules (accessed Oct 30, 2026). · Microsoft Learn, "Update unifiedRoleManagementPolicyRule," https://learn.microsoft.com/graph/api/unifiedrolemanagementpolicyrule-update?view=graph-rest-1.0 (accessed Oct 30, 2026). · Microsoft Learn, "Create roleEligibilityScheduleRequest," https://learn.microsoft.com/graph/api/rbacapplication-post-roleeligibilityschedulerequests?view=graph-rest-1.0 (accessed Oct 30, 2026). · Microsoft Learn, "Create roleAssignmentScheduleRequests," https://learn.microsoft.com/graph/api/rbacapplication-post-roleassignmentschedulerequests?view=graph-rest-1.0 (accessed Oct 30, 2026).
Workbook: Building Privileged Access, Chapter 04 — “Goal and audience”; “The calls and their permissions”; “Checklist”.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only a laptop: PowerShell 7 and Pester, no tenant and no network. First you send Learn's own samples to the fake and watch thirteen tests pass, including the one that shows the samples applying cleanly and still leaving a role six rules away from its file. Then you list each task's permissions, and see that a dry run needs only reads. Finally you dry-run the pilot wave: nine roles, no findings, a plan of rule updates, eligibility requests and two conversions, and nothing sent.
Detail: You need PowerShell 7.1 or later with Pester 5. Work in examples/privileged-access. Step 1, send Learn's samples to the fake: Invoke-Pester -Path tests/PimEntraRoles.Tests.ps1 -FullNameFilter '*(Learn), run as published*' -Output None -PassThru | Select-Object PassedCount, FailedCount gives PassedCount 13, FailedCount 0. Read the fourth test: with the policy ID from the read, all six of Learn's updates apply, and Application Administrator still differs from its file in six of seven rules. Step 2, list the permissions each task needs: Import-Module ./powershell/PimEntraRoles/PimEntraRoles.psm1, then for pim-plan, pim-apply and pim-convert print (Get-PaPimRequiredPermission -Task $_).GraphPermissions. pim-plan: RoleAssignmentSchedule.Read.Directory, RoleEligibilitySchedule.Read.Directory, RoleManagementPolicy.Read.Directory. pim-apply: RoleAssignmentSchedule.Read.Directory, RoleEligibilitySchedule.Read.Directory, RoleEligibilitySchedule.ReadWrite.Directory, RoleManagementPolicy.Read.Directory, RoleManagementPolicy.ReadWrite.Directory. pim-convert: RoleAssignmentSchedule.Read.Directory, RoleAssignmentSchedule.ReadWrite.Directory, RoleEligibilitySchedule.Read.Directory, RoleManagementPolicy.Read.Directory. Step 3, dry-run wave 1, the pilot class (Tier 1): $lab holds Cloud gcc, FixturePath tests/fixtures/ch04/tenant.json, BindingsPath tests/fixtures/ch04/inputs/pim-bindings.json, EmergencyConfigPath tests/fixtures/inputs/emergency-access.json, ExceptionsPath tests/fixtures/inputs/exceptions.csv, ConfirmedPath tests/fixtures/ch04/inputs/confirmed-activations.csv and AsOf 2026-10-30; then ./Invoke-PaPimRoleSettings.ps1 @lab -Wave 1 -OutputPath out/pim-wave1. Output: "Wave 1 (9 roles): 0 Finding, 13 Warn, 0 Info"; "Plan: 43 rule updates, 8 eligibility requests, 2 standing assignments to convert (0 confirmed)"; "Dry run: nothing was sent"; "Written to out/pim-wave1 (manifest.json lists every request and file hash)." The commands send Learn's pinned requests and the example's own to a fake Graph serving a fictional tenant. They show what the code does, not that a tenant returns the same shapes. This code can write to a tenant: review it, review every role file, and run Lab 2 in a test tenant before it touches production.
Sources: Building Privileged Access, Chapter 04, docs/project-plans/developer-workbooks/privileged-access/04-pim-for-entra-roles-as-code.md
Workbook: Building Privileged Access, Chapter 04 — “Lab 1: fixtures, no tenant,” steps 1–3;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read what came out. One role was partly set by hand, so its diff is short and touches only what's wrong; what already matches isn't touched. The findings name the people holding standing access, an automation account with no documented owner, and someone eligible outside their group. Then you try Tier zero too early, and the run blocks, one finding for each pilot role not yet done. Applying the pilot wave stops once to make you confirm the activation gate, then sends everything and reads back zero differences. The whole suite passes.
Detail: Step 4, read the diff and the findings: Import-Csv out/pim-wave1/diff.csv | Where-Object Role -EQ 'Exchange Administrator' | Format-Table RuleId, Property, Tenant, Desired, and the findings without PA-PIM-05. Exchange Administrator was partly set by hand, so its diff is short: ten rows in three rules. The authentication context goes from off to c1; approval goes from not required to required, single-stage, by the PIM-Approvers-T1 group; and the active maximum goes from 180 days to 15. Its activation window and eligibility expiry already match, so they aren't touched. The findings name Carl Ops and Erin Patel, who hold Tier 1 roles standing; Contoso-Mail-Automation, a service principal with Exchange Administrator and no owner on the exceptions list; and Dana Reyes, eligible for Exchange Administrator outside the PRV group. The 9 PA-PIM-05 rows ask you to confirm the activation gate. In plan.json, Carl's removal waits for his group's eligibility, and Erin's for a confirmed activation. Step 5, try wave 2, Tier 0, before wave 1 is done: ./Invoke-PaPimRoleSettings.ps1 @lab -Wave 2 -OutputPath out/pim-wave2 prints "Wave 2 (5 roles): 9 Finding, 5 Warn, 2 Info"; "Plan: 30 rule updates, 4 eligibility requests, 0 standing assignments to convert (0 confirmed)"; "Blocked: fix every Finding before -Apply"; "Dry run: nothing was sent". The nine Findings are PA-PIM-07, one for each Tier 1 role that doesn't match its file yet. The two Info rows are the emergency accounts, kept permanent active. Step 6, apply wave 1 to the fake: the first command, with -Apply, stops before any write: "The plan sets an authentication context: confirm its Conditional Access policy is On (Chapter 03), then pass -ActivationGateChecked". The second, with -Apply -ActivationGateChecked, prints the plan again, then "Applied: 51 requests sent; 0 differences from the role files after reading back". The fake lives only for the run, so the next run starts from the fixture again; the tests apply, convert and back out in one session. Step 7, Invoke-Pester -Path tests. Expected result: 330 tests passing, and each row of the gap table seen with your own eyes. Delete out when you're done. This chapter's tests are the 50 in tests/PimEntraRoles.Tests.ps1; with the other chapters' tests in the example, 330 Pester tests pass under PowerShell 7, with no module, tenant or network.
Sources: Building Privileged Access, Chapter 04, docs/project-plans/developer-workbooks/privileged-access/04-pim-for-entra-roles-as-code.md
Workbook: Building Privileged Access, Chapter 04 — “Lab 1: fixtures, no tenant,” steps 4–7; “The tests”.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never production, and works one role. First the prerequisites: the emergency accounts pass, and the activation gate's policy is truly on, not report-only. You create the approver group and the role's group, and two apps, a reader and a writer. Dry-run as the reader and review the plan with a second person, then apply as the writer and expect zero differences. Next, convert one standing assignment the safe way, after a confirmed activation. And finally, restore the rules from the saved copy and clean up.
Detail: Use a test tenant in the worldwide or GCC cloud, never production, with Microsoft Entra ID P2 or ID Governance licenses for the test users and approvers. Work one role, in a test copy of the files. 1 Check the prerequisites: run Chapter 02's check against the test tenant's emergency accounts; it must show no Finding. Create authentication context c1 and turn PIM-Activation-c1 On, with Chapter 03's code or as Book 04, Chapter 08, Step 2 describes; report-only doesn't count. Chapter 03's run must show no PA-CA-04 for it. 2 Make the lab's role and groups: New-Item -ItemType Directory lab-roles; Copy-Item config/pim-ch04/roles/teams-administrator.json lab-roles/. In the test tenant, create a security group PIM-Approvers-T1 with two test approvers, and a role-assignable group PRV-T1-TeamsAdmin with one test member. Write lab-bindings.json with their object IDs, in the shape of tests/fixtures/ch04/inputs/pim-bindings.json. 3 Register two apps in the worldwide admin center, each with a certificate: a reader with the three pim-plan permissions from Lab 1, step 2, and a writer with the two pim-apply write permissions added. Grant admin consent, and nothing else. 4 Dry-run as the reader: Connect-MgGraph -Environment Global -TenantId &lt;tenant-id&gt; -ClientId &lt;reader-app-id&gt; -CertificateThumbprint &lt;thumbprint&gt;, then ./Invoke-PaPimRoleSettings.ps1 -Cloud gcc -Wave 1 -RolesPath lab-roles -BindingsPath lab-bindings.json -EmergencyConfigPath emergency-access.json -ExceptionsPath exceptions.csv -OutputPath out/lab-plan -TenantId &lt;tenant-id&gt;. Read diff.csv and plan.json with a second person. Keep the folder. 5 Apply as the writer, with the same parameters, -OutputPath out/lab-apply -Apply -ActivationGateChecked. The script must end with "0 differences from the role files after reading back". Open the role's settings in the admin center and compare them with the file. Run step 4 again: the plan should have no rule updates and no eligibility requests. Check any eligibility that was longer than the new maximum before the change (research gaps, row 47). 6 Activate and convert: give a second test user a standing Teams Administrator assignment and add them to PRV-T1-TeamsAdmin. As that user, activate the role through the group; one approver approves. Add a row to confirmed-activations.csv with a ticket, grant the writer RoleAssignmentSchedule.ReadWrite.Directory, and run with -Apply -Convert -ConfirmedPath confirmed-activations.csv. The standing assignment goes; the eligibility stays. Wait five minutes after creating an assignment before removing it. To test research gaps, row 43, repeat with RoleAssignmentSchedule.Remove.Directory in place of ReadWrite. 7 Back it out: as the writer, run with -Apply -RestoreFrom out/lab-apply -OutputPath out/lab-restore. It puts the role's seven rules back as before.json recorded them and removes the eligibility the run created; the read-back then shows the differences from the file again. Give the test user back their standing assignment if the test needs it. Delete the two groups, the two apps and their certificates, and the out folders. Keep the authentication context and its policy only if Chapter 03's lab still needs them.
Sources: Microsoft Learn, "Configure Microsoft Entra role settings in Privileged Identity Management," https://learn.microsoft.com/entra/id-governance/privileged-identity-management/pim-how-to-change-default-settings (accessed Oct 30, 2026).
Workbook: Building Privileged Access, Chapter 04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has a guard that runs every time. The two worst are the lockout halves, and both are checked against the live tenant before any write. A context switched on before its policy is on looks protective but enforces nothing, which is why a person has to confirm the gate. Then there are the quieter ones: a script nobody reviewed, one identity that can change everything, settings drifting in the portal, and a back-out done from memory. The pattern holds: rules and saved files, not people remembering.
Detail: Approval switched on before the emergency accounts hold Global Administrator: the documented lockout; guard: PA-PIM-02 reads the tenant and blocks every write. Approval with no approver: the default approvers are the people the program keeps eligible; guard: PA-PIM-01 blocks the file. The context set before its Conditional Access policy is On: activation falls back to MFA only if no policy targets the context; an off or report-only policy enforces nothing; guard: PA-PIM-05, and -Apply needs -ActivationGateChecked. A write nobody saw: the tenant changes from a copied script; guard: dry run by default, -Apply only from a reviewed plan, a read-only client throws on any write. A write identity with read-write on everything: one stolen secret changes every role; guard: separate tasks and apps, the dry run's app holds no write permission, a test pins each task's permissions. A sample copied with another tenant's policy ID: the write fails, or lands on the wrong role; guard: policy IDs come only from the read. Settings set in the portal drift from the files: the control in the tenant isn't the one reviewed; guard: the diff, every run; Chapter 08 can add it to the scheduled run (research gaps, row 88). Eligibility longer than the tier allows: a Tier 2 holder is eligible for a year; guard: New-PaPimEligibilityRequest refuses it, and the role's rule is set before any request. Removing a standing assignment before the person can activate: an administrator is stranded mid-conversion; guard: removal only after the group is eligible and the activation is confirmed with a ticket. Tier 0 changed before the pilot is proven: a mistake hits the control plane first; guard: PA-PIM-07 refuses a wave until earlier waves match. A back-out from memory: the rules come back wrong, or not at all; guard: before.json from the run, applied with -RestoreFrom. Names and IDs in the output: the plan names administrators and groups; the output folder is evidence, so delete lab copies.
Sources: Microsoft Learn, "Configure Microsoft Entra role settings in Privileged Identity Management," https://learn.microsoft.com/entra/id-governance/privileged-identity-management/pim-how-to-change-default-settings (accessed Oct 30, 2026).
Workbook: Building Privileged Access, Chapter 04 — “Dangers”.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Every role file has had two reviewers, the bindings name every group, and no approver group can approve itself. The emergency accounts pass, and the activation gate's policy is on before anyone says so. The reader, the writer and the conversion run each hold only what they need. Every apply followed a reviewed dry run and read back clean, every removal has a confirmed activation, and every run folder is kept as evidence. Next, Chapter 5 builds PIM for Groups, the groups that hold this eligibility. Thanks for watching.
Detail: Checklist: every role file was reviewed by two people, and matches Appendix B or a recorded decision. pim-bindings.json names every approver alias and every PRV group, and no approver group is eligible for the role it approves. Chapter 02's check shows no Finding, and PA-PIM-02 is clear. PIM-Activation-c1 is On before any run with -ActivationGateChecked. The reader app holds the three pim-plan permissions; the writer holds the pim-apply writes; only the conversion run holds RoleAssignmentSchedule.ReadWrite.Directory. Every apply was preceded by a reviewed dry run, and its verify.csv is empty. Every removal of a standing assignment has a confirmed activation and a ticket. Each run folder, with before.json and manifest.json, is kept as evidence. The pinned Learn pages match their manifest, and every upstream commit since the pin has been reviewed. Next: Chapter 05 — PIM for Groups and the PRV Groups.
Sources: Microsoft, microsoftgraph/microsoft-graph-docs-contrib, concepts/how-to-pim-update-rules.md and concepts/tutorial-assign-azureadroles.md at commit a69303123e9701eecbf56568d152ece936a97f1e (October 30, 2026; the pages last changed August 29, 2025 and July 3, 2026), code MIT License, documentation CC BY 4.0, https://github.com/microsoftgraph/microsoft-graph-docs-contrib/tree/a69303123e9701eecbf56568d152ece936a97f1e/concepts (accessed Oct 30, 2026); pinned copy in examples/third_party/graph-pim-rules-pages.
Workbook: Building Privileged Access, Chapter 04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Privileged Access  ·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 Id="rId6"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2.xml"/><Relationship Id="rId7"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04: PIM for Microsoft Entra Roles as Code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Privileged Access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Why the order is fixed · Learn's samples and their gaps · role files, checks, diff · who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E1C862CA-DF42-5F5C-E72E-195AB14C394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36FD531-6A73-4B99-B4BD-0A5BA1F8B40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790"/>
    </mc:Choice>
    <mc:Fallback>
      <p:transition spd="slow" advTm="407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79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role settings become code, in a fixed order</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A role setting changed in the portal is a control nobody reviewed.</a:t>
            </a:r>
            <a:endParaRPr lang="en-US" sz="1800" dirty="0"/>
          </a:p>
        </p:txBody>
      </p:sp>
      <p:sp>
        <p:nvSpPr>
          <p:cNvPr id="6" name="Panel The documented lockout">
            <a:extLst>
              <a:ext uri="{C183D7F6-B498-43B3-948B-1728B52AA6E4}">
                <adec:decorative xmlns:adec="http://schemas.microsoft.com/office/drawing/2017/decorative" val="1"/>
              </a:ext>
            </a:extLst>
          </p:cNvPr>
          <p:cNvSpPr/>
          <p:nvPr/>
        </p:nvSpPr>
        <p:spPr>
          <a:xfrm>
            <a:off x="548640" y="1837944"/>
            <a:ext cx="5417820" cy="3560064"/>
          </a:xfrm>
          <a:prstGeom prst="roundRect">
            <a:avLst>
              <a:gd name="adj" fmla="val 2055"/>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Panel The documented lockout label"/>
          <p:cNvSpPr txBox="1"/>
          <p:nvPr/>
        </p:nvSpPr>
        <p:spPr>
          <a:xfrm>
            <a:off x="731520" y="1947672"/>
            <a:ext cx="5052060" cy="274320"/>
          </a:xfrm>
          <a:prstGeom prst="rect">
            <a:avLst/>
          </a:prstGeom>
          <a:noFill/>
          <a:ln/>
        </p:spPr>
        <p:txBody>
          <a:bodyPr wrap="square" lIns="0" tIns="0" rIns="0" bIns="0" rtlCol="0" anchor="t"/>
          <a:lstStyle/>
          <a:p>
            <a:pPr marL="0" indent="0">
              <a:buNone/>
            </a:pPr>
            <a:r>
              <a:rPr lang="en-US" sz="1100" b="1" kern="0" spc="50" dirty="0">
                <a:solidFill>
                  <a:srgbClr val="B91C1C"/>
                </a:solidFill>
              </a:rPr>
              <a:t>THE DOCUMENTED LOCKOUT</a:t>
            </a:r>
            <a:endParaRPr lang="en-US" sz="1100" dirty="0"/>
          </a:p>
        </p:txBody>
      </p:sp>
      <p:sp>
        <p:nvSpPr>
          <p:cNvPr id="8" name="Panel The documented lockout list"/>
          <p:cNvSpPr txBox="1"/>
          <p:nvPr/>
        </p:nvSpPr>
        <p:spPr>
          <a:xfrm>
            <a:off x="731520" y="2249424"/>
            <a:ext cx="5097780" cy="310286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Learn's case: every Privileged Role and Global Administrator eligible, none active, approval required, no approvers</a:t>
            </a:r>
            <a:endParaRPr lang="en-US" sz="1600" dirty="0"/>
          </a:p>
          <a:p>
            <a:pPr marL="342900" indent="-342900">
              <a:spcAft>
                <a:spcPts val="400"/>
              </a:spcAft>
              <a:buSzPct val="100000"/>
              <a:buChar char="•"/>
            </a:pPr>
            <a:r>
              <a:rPr lang="en-US" sz="1600" dirty="0">
                <a:solidFill>
                  <a:srgbClr val="334155"/>
                </a:solidFill>
              </a:rPr>
              <a:t>With no approvers, the active Privileged Role and Global Administrators approve, and there are none</a:t>
            </a:r>
            <a:endParaRPr lang="en-US" sz="1600" dirty="0"/>
          </a:p>
          <a:p>
            <a:pPr marL="342900" indent="-342900">
              <a:spcAft>
                <a:spcPts val="400"/>
              </a:spcAft>
              <a:buSzPct val="100000"/>
              <a:buChar char="•"/>
            </a:pPr>
            <a:r>
              <a:rPr lang="en-US" sz="1600" dirty="0">
                <a:solidFill>
                  <a:srgbClr val="334155"/>
                </a:solidFill>
              </a:rPr>
              <a:t>Learn's fix has two halves: emergency access accounts, and named approvers</a:t>
            </a:r>
            <a:endParaRPr lang="en-US" sz="1600" dirty="0"/>
          </a:p>
          <a:p>
            <a:pPr marL="342900" indent="-342900">
              <a:spcAft>
                <a:spcPts val="400"/>
              </a:spcAft>
              <a:buSzPct val="100000"/>
              <a:buChar char="•"/>
            </a:pPr>
            <a:r>
              <a:rPr lang="en-US" sz="1600" dirty="0">
                <a:solidFill>
                  <a:srgbClr val="334155"/>
                </a:solidFill>
              </a:rPr>
              <a:t>Chapter 02 checks the first half; this chapter refuses to write until it holds, and refuses approval with no approver</a:t>
            </a:r>
            <a:endParaRPr lang="en-US" sz="1600" dirty="0"/>
          </a:p>
        </p:txBody>
      </p:sp>
      <p:sp>
        <p:nvSpPr>
          <p:cNvPr id="9" name="Panel The plan's order">
            <a:extLst>
              <a:ext uri="{C183D7F6-B498-43B3-948B-1728B52AA6E4}">
                <adec:decorative xmlns:adec="http://schemas.microsoft.com/office/drawing/2017/decorative" val="1"/>
              </a:ext>
            </a:extLst>
          </p:cNvPr>
          <p:cNvSpPr/>
          <p:nvPr/>
        </p:nvSpPr>
        <p:spPr>
          <a:xfrm>
            <a:off x="6240780" y="1837944"/>
            <a:ext cx="5417820" cy="3560064"/>
          </a:xfrm>
          <a:prstGeom prst="roundRect">
            <a:avLst>
              <a:gd name="adj" fmla="val 205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Panel The plan&amp;apos;s order label"/>
          <p:cNvSpPr txBox="1"/>
          <p:nvPr/>
        </p:nvSpPr>
        <p:spPr>
          <a:xfrm>
            <a:off x="6423660" y="194767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PLAN'S ORDER</a:t>
            </a:r>
            <a:endParaRPr lang="en-US" sz="1100" dirty="0"/>
          </a:p>
        </p:txBody>
      </p:sp>
      <p:sp>
        <p:nvSpPr>
          <p:cNvPr id="11" name="Panel The plan's order list"/>
          <p:cNvSpPr txBox="1"/>
          <p:nvPr/>
        </p:nvSpPr>
        <p:spPr>
          <a:xfrm>
            <a:off x="6423660" y="2249424"/>
            <a:ext cx="5097780" cy="310286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Emergency access first</a:t>
            </a:r>
            <a:endParaRPr lang="en-US" sz="1600" dirty="0"/>
          </a:p>
          <a:p>
            <a:pPr marL="342900" indent="-342900">
              <a:spcAft>
                <a:spcPts val="400"/>
              </a:spcAft>
              <a:buSzPct val="100000"/>
              <a:buChar char="•"/>
            </a:pPr>
            <a:r>
              <a:rPr lang="en-US" sz="1600" dirty="0">
                <a:solidFill>
                  <a:srgbClr val="334155"/>
                </a:solidFill>
              </a:rPr>
              <a:t>Then one role class under just-in-time elevation: Tier 1, the management-plane roles (owner's decision D-A5)</a:t>
            </a:r>
            <a:endParaRPr lang="en-US" sz="1600" dirty="0"/>
          </a:p>
          <a:p>
            <a:pPr marL="342900" indent="-342900">
              <a:spcAft>
                <a:spcPts val="400"/>
              </a:spcAft>
              <a:buSzPct val="100000"/>
              <a:buChar char="•"/>
            </a:pPr>
            <a:r>
              <a:rPr lang="en-US" sz="1600" dirty="0">
                <a:solidFill>
                  <a:srgbClr val="334155"/>
                </a:solidFill>
              </a:rPr>
              <a:t>Then every tier, tier by tier (Phase 3, A3.1)</a:t>
            </a:r>
            <a:endParaRPr lang="en-US" sz="1600" dirty="0"/>
          </a:p>
          <a:p>
            <a:pPr marL="342900" indent="-342900">
              <a:spcAft>
                <a:spcPts val="400"/>
              </a:spcAft>
              <a:buSzPct val="100000"/>
              <a:buChar char="•"/>
            </a:pPr>
            <a:r>
              <a:rPr lang="en-US" sz="1600" dirty="0">
                <a:solidFill>
                  <a:srgbClr val="334155"/>
                </a:solidFill>
              </a:rPr>
              <a:t>Waves: Tier 1, then Tier 0, Tier 2 and read-only; the order after the first is design guidance</a:t>
            </a:r>
            <a:endParaRPr lang="en-US" sz="16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Configure Microsoft Entra role settings in PIM; the project plan. Chapter 04, “The context the code depends 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A0F7555E-EFF1-81C8-D5D7-9FA918AE2F0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B6458AB-E669-45E0-ABBE-F2034B9A790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670"/>
    </mc:Choice>
    <mc:Fallback>
      <p:transition spd="slow" advTm="376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67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Which cloud: Graph v1.0 on the worldwide host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674620"/>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345948">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Piece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Microsoft 365 GCC</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GCC High and DoD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Every call</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Microsoft Graph v1.0 at graph.microsoft.com; sign-in at login.microsoftonline.com</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graph.microsoft.us (GCC High); dod-graph.microsoft.us (DoD)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Resource Manager</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Not used here; PIM for Azure resources is Chapter 06</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Each call's Learn page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Global service available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US Government L4 and L5 available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The services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Microsoft Entra ID Governance available in GCC</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PIM in Azure for US Government; ID Governance in GCC High and DoD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183380"/>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49808" y="4256532"/>
            <a:ext cx="606552" cy="606552"/>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402104"/>
            <a:ext cx="315407" cy="315407"/>
          </a:xfrm>
          <a:prstGeom prst="rect">
            <a:avLst/>
          </a:prstGeom>
        </p:spPr>
      </p:pic>
      <p:sp>
        <p:nvSpPr>
          <p:cNvPr id="9" name="Callout text"/>
          <p:cNvSpPr txBox="1"/>
          <p:nvPr/>
        </p:nvSpPr>
        <p:spPr>
          <a:xfrm>
            <a:off x="1600200" y="4238244"/>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For this estate: </a:t>
            </a:r>
            <a:r>
              <a:rPr lang="en-US" sz="1750" dirty="0">
                <a:solidFill>
                  <a:srgbClr val="334155"/>
                </a:solidFill>
              </a:rPr>
              <a:t>the code takes an explicit cloud name and has no default; this estate's GCC tenant runs with gcc, on the worldwide endpoints.</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Graph national cloud deployments; Entra feature availability; the Graph API pages for each call. Chapter 04, “Which cloud, for these calls.”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62453A6E-D350-5E5E-69CE-D0605E32C22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EF8ECC0-7332-4B63-BFC0-65628A5146A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710"/>
    </mc:Choice>
    <mc:Fallback>
      <p:transition spd="slow" advTm="397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71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Settings are per role, and Graph calls them rules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Each role at tenant scope has one unifiedRoleManagementPolicy with 17 rules; the code manages seven.</a:t>
            </a:r>
            <a:endParaRPr lang="en-US" sz="18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2112264"/>
          <a:ext cx="11109960" cy="2866644"/>
        </p:xfrm>
        <a:graphic>
          <a:graphicData uri="http://schemas.openxmlformats.org/drawingml/2006/table">
            <a:tbl>
              <a:tblPr firstRow="1" bandRow="1"/>
              <a:tblGrid>
                <a:gridCol w="420624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Rule ID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it sets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Admin center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Expiration_EndUser_Assignment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Activation maximum duration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Activation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Enablement_EndUser_Assignment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Justification, MFA and ticket on activation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Activation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AuthenticationContext_EndUser_Assignment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authentication context required on activation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Activation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Approval_EndUser_Assignment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Approval and approvers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Activation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Expiration_Admin_Eligibility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Permanent eligible allowed, or the eligibility maximum</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Assignment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Expiration_Admin_Assignment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Permanent active allowed, or the active maximum</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Assignment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Enablement_Admin_Assignment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MFA and justification on an active assignment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Assignment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Lead"/>
          <p:cNvSpPr txBox="1"/>
          <p:nvPr/>
        </p:nvSpPr>
        <p:spPr>
          <a:xfrm>
            <a:off x="548640" y="5161788"/>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Notification rules are left alone (research gaps, row 45).</a:t>
            </a:r>
            <a:endParaRPr lang="en-US" sz="180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Configure Microsoft Entra role settings in PIM; Learn, Rules in PIM - mapping guide. Chapter 04, “Settings are per role, and Graph calls them rules.”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9" name="Narration" descr="Narration for this slide; captions available">
            <a:hlinkClick r:id="" action="ppaction://media"/>
            <a:extLst>
              <a:ext uri="{FF2B5EF4-FFF2-40B4-BE49-F238E27FC236}">
                <a16:creationId xmlns:a16="http://schemas.microsoft.com/office/drawing/2014/main" id="{A073791E-9DF7-301C-2BF9-8AB10C1DD4A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0613720-7360-4AE2-818F-B7095770E85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810"/>
    </mc:Choice>
    <mc:Fallback>
      <p:transition spd="slow" advTm="368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808"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authentication context: its policy, then PIM</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Policy first">
            <a:extLst>
              <a:ext uri="{C183D7F6-B498-43B3-948B-1728B52AA6E4}">
                <adec:decorative xmlns:adec="http://schemas.microsoft.com/office/drawing/2017/decorative" val="1"/>
              </a:ext>
            </a:extLst>
          </p:cNvPr>
          <p:cNvSpPr/>
          <p:nvPr/>
        </p:nvSpPr>
        <p:spPr>
          <a:xfrm>
            <a:off x="548640" y="1325880"/>
            <a:ext cx="5959602" cy="3240024"/>
          </a:xfrm>
          <a:prstGeom prst="roundRect">
            <a:avLst>
              <a:gd name="adj" fmla="val 225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Policy first label"/>
          <p:cNvSpPr txBox="1"/>
          <p:nvPr/>
        </p:nvSpPr>
        <p:spPr>
          <a:xfrm>
            <a:off x="731520" y="1435608"/>
            <a:ext cx="5593842" cy="274320"/>
          </a:xfrm>
          <a:prstGeom prst="rect">
            <a:avLst/>
          </a:prstGeom>
          <a:noFill/>
          <a:ln/>
        </p:spPr>
        <p:txBody>
          <a:bodyPr wrap="square" lIns="0" tIns="0" rIns="0" bIns="0" rtlCol="0" anchor="t"/>
          <a:lstStyle/>
          <a:p>
            <a:pPr marL="0" indent="0">
              <a:buNone/>
            </a:pPr>
            <a:r>
              <a:rPr lang="en-US" sz="1100" b="1" kern="0" spc="50" dirty="0">
                <a:solidFill>
                  <a:srgbClr val="64748B"/>
                </a:solidFill>
              </a:rPr>
              <a:t>POLICY FIRST</a:t>
            </a:r>
            <a:endParaRPr lang="en-US" sz="1100" dirty="0"/>
          </a:p>
        </p:txBody>
      </p:sp>
      <p:sp>
        <p:nvSpPr>
          <p:cNvPr id="7" name="Panel Policy first list"/>
          <p:cNvSpPr txBox="1"/>
          <p:nvPr/>
        </p:nvSpPr>
        <p:spPr>
          <a:xfrm>
            <a:off x="731520" y="1737360"/>
            <a:ext cx="5639562" cy="278282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Learn: create and enable the context's Conditional Access policy before selecting the context in PIM</a:t>
            </a:r>
            <a:endParaRPr lang="en-US" sz="1550" dirty="0"/>
          </a:p>
          <a:p>
            <a:pPr marL="342900" indent="-342900">
              <a:spcAft>
                <a:spcPts val="400"/>
              </a:spcAft>
              <a:buSzPct val="100000"/>
              <a:buChar char="•"/>
            </a:pPr>
            <a:r>
              <a:rPr lang="en-US" sz="1550" dirty="0">
                <a:solidFill>
                  <a:srgbClr val="334155"/>
                </a:solidFill>
              </a:rPr>
              <a:t>No policy targets the context: activation falls back to MFA. Not so when the policy is off, report-only, or excludes the user</a:t>
            </a:r>
            <a:endParaRPr lang="en-US" sz="1550" dirty="0"/>
          </a:p>
          <a:p>
            <a:pPr marL="342900" indent="-342900">
              <a:spcAft>
                <a:spcPts val="400"/>
              </a:spcAft>
              <a:buSzPct val="100000"/>
              <a:buChar char="•"/>
            </a:pPr>
            <a:r>
              <a:rPr lang="en-US" sz="1550" dirty="0">
                <a:solidFill>
                  <a:srgbClr val="334155"/>
                </a:solidFill>
              </a:rPr>
              <a:t>The program's context is c1, its policy PIM-Activation-c1; Chapter 03 builds both, report-only first, and PA-CA-04 warns until On</a:t>
            </a:r>
            <a:endParaRPr lang="en-US" sz="1550" dirty="0"/>
          </a:p>
          <a:p>
            <a:pPr marL="342900" indent="-342900">
              <a:spcAft>
                <a:spcPts val="400"/>
              </a:spcAft>
              <a:buSzPct val="100000"/>
              <a:buChar char="•"/>
            </a:pPr>
            <a:r>
              <a:rPr lang="en-US" sz="1550" dirty="0">
                <a:solidFill>
                  <a:srgbClr val="334155"/>
                </a:solidFill>
              </a:rPr>
              <a:t>A prompt every activation needs sign-in frequency Every time, and even then a 10-minute window applies</a:t>
            </a:r>
            <a:endParaRPr lang="en-US" sz="155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6782562" y="1325880"/>
          <a:ext cx="4876038" cy="2316480"/>
        </p:xfrm>
        <a:graphic>
          <a:graphicData uri="http://schemas.openxmlformats.org/drawingml/2006/table">
            <a:tbl>
              <a:tblPr firstRow="1" bandRow="1"/>
              <a:tblGrid>
                <a:gridCol w="2708910">
                  <a:extLst>
                    <a:ext uri="{9D8B030D-6E8A-4147-A177-3AD203B41FA5}">
                      <a16:colId xmlns:a16="http://schemas.microsoft.com/office/drawing/2014/main" val="20000"/>
                    </a:ext>
                  </a:extLst>
                </a:gridCol>
                <a:gridCol w="2167128">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Learn page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Stage it gives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Rules in PIM - mapping guide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"(Preview)"</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Plan a PIM deployment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Public preview</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Entra releases and announcements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Generally available, April 2026</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Role settings page; v1.0 rule resource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 label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Callout">
            <a:extLst>
              <a:ext uri="{C183D7F6-B498-43B3-948B-1728B52AA6E4}">
                <adec:decorative xmlns:adec="http://schemas.microsoft.com/office/drawing/2017/decorative" val="1"/>
              </a:ext>
            </a:extLst>
          </p:cNvPr>
          <p:cNvSpPr/>
          <p:nvPr/>
        </p:nvSpPr>
        <p:spPr>
          <a:xfrm>
            <a:off x="548640" y="4748784"/>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0" name="Icon FaTriangleExclamation">
            <a:extLst>
              <a:ext uri="{C183D7F6-B498-43B3-948B-1728B52AA6E4}">
                <adec:decorative xmlns:adec="http://schemas.microsoft.com/office/drawing/2017/decorative" val="1"/>
              </a:ext>
            </a:extLst>
          </p:cNvPr>
          <p:cNvSpPr/>
          <p:nvPr/>
        </p:nvSpPr>
        <p:spPr>
          <a:xfrm>
            <a:off x="749808" y="4821936"/>
            <a:ext cx="606552" cy="606552"/>
          </a:xfrm>
          <a:prstGeom prst="ellipse">
            <a:avLst/>
          </a:prstGeom>
          <a:solidFill>
            <a:srgbClr val="B45309"/>
          </a:solidFill>
          <a:ln w="12700">
            <a:solidFill>
              <a:srgbClr val="B45309"/>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967508"/>
            <a:ext cx="315407" cy="315407"/>
          </a:xfrm>
          <a:prstGeom prst="rect">
            <a:avLst/>
          </a:prstGeom>
        </p:spPr>
      </p:pic>
      <p:sp>
        <p:nvSpPr>
          <p:cNvPr id="12" name="Callout text"/>
          <p:cNvSpPr txBox="1"/>
          <p:nvPr/>
        </p:nvSpPr>
        <p:spPr>
          <a:xfrm>
            <a:off x="1600200" y="4803648"/>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Stage: </a:t>
            </a:r>
            <a:r>
              <a:rPr lang="en-US" sz="1750" dirty="0">
                <a:solidFill>
                  <a:srgbClr val="334155"/>
                </a:solidFill>
              </a:rPr>
              <a:t>the chapter treats the option as preview, the stricter reading, until the pages agree (research gaps, row 42).</a:t>
            </a:r>
            <a:endParaRPr lang="en-US" sz="17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role settings in PIM; Rules in PIM; Plan a PIM deployment; Entra releases; authenticationContextRule. Chapter 04, “The authentication context needs its policy first.”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86765F5A-A8F2-5927-27B3-6B2B2D7C704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6903B4E-12BA-4E63-9ECF-E434A99166B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450"/>
    </mc:Choice>
    <mc:Fallback>
      <p:transition spd="slow" advTm="394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448"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Learn's two samples, pinned and sent to a fake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What the pages give">
            <a:extLst>
              <a:ext uri="{C183D7F6-B498-43B3-948B-1728B52AA6E4}">
                <adec:decorative xmlns:adec="http://schemas.microsoft.com/office/drawing/2017/decorative" val="1"/>
              </a:ext>
            </a:extLst>
          </p:cNvPr>
          <p:cNvSpPr/>
          <p:nvPr/>
        </p:nvSpPr>
        <p:spPr>
          <a:xfrm>
            <a:off x="548640" y="1325880"/>
            <a:ext cx="5417820" cy="3240024"/>
          </a:xfrm>
          <a:prstGeom prst="roundRect">
            <a:avLst>
              <a:gd name="adj" fmla="val 225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What the pages give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THE PAGES GIVE</a:t>
            </a:r>
            <a:endParaRPr lang="en-US" sz="1100" dirty="0"/>
          </a:p>
        </p:txBody>
      </p:sp>
      <p:sp>
        <p:nvSpPr>
          <p:cNvPr id="7" name="Panel What the pages give list"/>
          <p:cNvSpPr txBox="1"/>
          <p:nvPr/>
        </p:nvSpPr>
        <p:spPr>
          <a:xfrm>
            <a:off x="731520" y="1737360"/>
            <a:ext cx="5097780" cy="278282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Update rules in PIM: find the policy from the template ID through roleManagementPolicyAssignments, then six PATCH requests</a:t>
            </a:r>
            <a:endParaRPr lang="en-US" sz="1550" dirty="0"/>
          </a:p>
          <a:p>
            <a:pPr marL="342900" indent="-342900">
              <a:spcAft>
                <a:spcPts val="400"/>
              </a:spcAft>
              <a:buSzPct val="100000"/>
              <a:buChar char="•"/>
            </a:pPr>
            <a:r>
              <a:rPr lang="en-US" sz="1550" dirty="0">
                <a:solidFill>
                  <a:srgbClr val="334155"/>
                </a:solidFill>
              </a:rPr>
              <a:t>Every body carries the derived rule's @odata.type; each update returns 204 No Content</a:t>
            </a:r>
            <a:endParaRPr lang="en-US" sz="1550" dirty="0"/>
          </a:p>
          <a:p>
            <a:pPr marL="342900" indent="-342900">
              <a:spcAft>
                <a:spcPts val="400"/>
              </a:spcAft>
              <a:buSzPct val="100000"/>
              <a:buChar char="•"/>
            </a:pPr>
            <a:r>
              <a:rPr lang="en-US" sz="1550" dirty="0">
                <a:solidFill>
                  <a:srgbClr val="334155"/>
                </a:solidFill>
              </a:rPr>
              <a:t>Privileged Role Administrator; RoleManagementPolicy.ReadWrite.Directory</a:t>
            </a:r>
            <a:endParaRPr lang="en-US" sz="1550" dirty="0"/>
          </a:p>
          <a:p>
            <a:pPr marL="342900" indent="-342900">
              <a:spcAft>
                <a:spcPts val="400"/>
              </a:spcAft>
              <a:buSzPct val="100000"/>
              <a:buChar char="•"/>
            </a:pPr>
            <a:r>
              <a:rPr lang="en-US" sz="1550" dirty="0">
                <a:solidFill>
                  <a:srgbClr val="334155"/>
                </a:solidFill>
              </a:rPr>
              <a:t>The eligibility tutorial: a role-assignable group made eligible for User Administrator, a member activates, clean-up</a:t>
            </a:r>
            <a:endParaRPr lang="en-US" sz="1550" dirty="0"/>
          </a:p>
        </p:txBody>
      </p:sp>
      <p:sp>
        <p:nvSpPr>
          <p:cNvPr id="8" name="Panel The pinned copy">
            <a:extLst>
              <a:ext uri="{C183D7F6-B498-43B3-948B-1728B52AA6E4}">
                <adec:decorative xmlns:adec="http://schemas.microsoft.com/office/drawing/2017/decorative" val="1"/>
              </a:ext>
            </a:extLst>
          </p:cNvPr>
          <p:cNvSpPr/>
          <p:nvPr/>
        </p:nvSpPr>
        <p:spPr>
          <a:xfrm>
            <a:off x="6240780" y="1325880"/>
            <a:ext cx="5417820" cy="3240024"/>
          </a:xfrm>
          <a:prstGeom prst="roundRect">
            <a:avLst>
              <a:gd name="adj" fmla="val 225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pinned copy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COPY</a:t>
            </a:r>
            <a:endParaRPr lang="en-US" sz="1100" dirty="0"/>
          </a:p>
        </p:txBody>
      </p:sp>
      <p:sp>
        <p:nvSpPr>
          <p:cNvPr id="10" name="Panel The pinned copy list"/>
          <p:cNvSpPr txBox="1"/>
          <p:nvPr/>
        </p:nvSpPr>
        <p:spPr>
          <a:xfrm>
            <a:off x="6423660" y="1737360"/>
            <a:ext cx="5097780" cy="278282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Both pages' source pinned unmodified in examples/third_party/graph-pim-rules-pages, at commit a693031 (Oct 30, 2026)</a:t>
            </a:r>
            <a:endParaRPr lang="en-US" sz="1550" dirty="0"/>
          </a:p>
          <a:p>
            <a:pPr marL="342900" indent="-342900">
              <a:spcAft>
                <a:spcPts val="400"/>
              </a:spcAft>
              <a:buSzPct val="100000"/>
              <a:buChar char="•"/>
            </a:pPr>
            <a:r>
              <a:rPr lang="en-US" sz="1550" dirty="0">
                <a:solidFill>
                  <a:srgbClr val="334155"/>
                </a:solidFill>
              </a:rPr>
              <a:t>snapshot.json holds each file's SHA-256; a unit test checks it, and the weekly source watch reports new commits</a:t>
            </a:r>
            <a:endParaRPr lang="en-US" sz="1550" dirty="0"/>
          </a:p>
          <a:p>
            <a:pPr marL="342900" indent="-342900">
              <a:spcAft>
                <a:spcPts val="400"/>
              </a:spcAft>
              <a:buSzPct val="100000"/>
              <a:buChar char="•"/>
            </a:pPr>
            <a:r>
              <a:rPr lang="en-US" sz="1550" dirty="0">
                <a:solidFill>
                  <a:srgbClr val="334155"/>
                </a:solidFill>
              </a:rPr>
              <a:t>PimLearnSampleHarness.ps1 sends every request to a fake Graph: one policy per role, all 17 rules</a:t>
            </a:r>
            <a:endParaRPr lang="en-US" sz="1550" dirty="0"/>
          </a:p>
          <a:p>
            <a:pPr marL="342900" indent="-342900">
              <a:spcAft>
                <a:spcPts val="400"/>
              </a:spcAft>
              <a:buSzPct val="100000"/>
              <a:buChar char="•"/>
            </a:pPr>
            <a:r>
              <a:rPr lang="en-US" sz="1550" dirty="0">
                <a:solidFill>
                  <a:srgbClr val="334155"/>
                </a:solidFill>
              </a:rPr>
              <a:t>The fake requires each rule's @odata.type and rejects eligibility longer than the policy allows</a:t>
            </a:r>
            <a:endParaRPr lang="en-US" sz="1550" dirty="0"/>
          </a:p>
        </p:txBody>
      </p:sp>
      <p:sp>
        <p:nvSpPr>
          <p:cNvPr id="11" name="Callout">
            <a:extLst>
              <a:ext uri="{C183D7F6-B498-43B3-948B-1728B52AA6E4}">
                <adec:decorative xmlns:adec="http://schemas.microsoft.com/office/drawing/2017/decorative" val="1"/>
              </a:ext>
            </a:extLst>
          </p:cNvPr>
          <p:cNvSpPr/>
          <p:nvPr/>
        </p:nvSpPr>
        <p:spPr>
          <a:xfrm>
            <a:off x="548640" y="4748784"/>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ClipboardCheck">
            <a:extLst>
              <a:ext uri="{C183D7F6-B498-43B3-948B-1728B52AA6E4}">
                <adec:decorative xmlns:adec="http://schemas.microsoft.com/office/drawing/2017/decorative" val="1"/>
              </a:ext>
            </a:extLst>
          </p:cNvPr>
          <p:cNvSpPr/>
          <p:nvPr/>
        </p:nvSpPr>
        <p:spPr>
          <a:xfrm>
            <a:off x="749808" y="4821936"/>
            <a:ext cx="606552" cy="60655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967508"/>
            <a:ext cx="315407" cy="315407"/>
          </a:xfrm>
          <a:prstGeom prst="rect">
            <a:avLst/>
          </a:prstGeom>
        </p:spPr>
      </p:pic>
      <p:sp>
        <p:nvSpPr>
          <p:cNvPr id="14" name="Callout text"/>
          <p:cNvSpPr txBox="1"/>
          <p:nvPr/>
        </p:nvSpPr>
        <p:spPr>
          <a:xfrm>
            <a:off x="1600200" y="4803648"/>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Kept: </a:t>
            </a:r>
            <a:r>
              <a:rPr lang="en-US" sz="1750" dirty="0">
                <a:solidFill>
                  <a:srgbClr val="334155"/>
                </a:solidFill>
              </a:rPr>
              <a:t>the tutorial's pattern is Book 04's: the role is eligible to a PRV-&lt;tier&gt;-&lt;role&gt; group, not to a person. Nothing signs in.</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Update rules in PIM; Assign privileged roles using PIM APIs; PIM APIs overview; microsoft-graph-docs-contrib at a693031. Chapter 04,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2AD267E4-70F4-1C6C-D167-BCD9BB63B40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1D24222-DED5-4D53-BA4D-41A87CA89EF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950"/>
    </mc:Choice>
    <mc:Fallback>
      <p:transition spd="slow" advTm="369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95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rules sample leaves to you</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181856"/>
        </p:xfrm>
        <a:graphic>
          <a:graphicData uri="http://schemas.openxmlformats.org/drawingml/2006/table">
            <a:tbl>
              <a:tblPr firstRow="1" bandRow="1"/>
              <a:tblGrid>
                <a:gridCol w="35661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Learn's samples, as published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examples/privileged-access adds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Find the policy through roleManagementPolicyAssignments; each PATCH has its @odata.type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Kept: the read with $expand=policy($expand=rules); the type and the same write permission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 sample for AuthenticationContext_EndUser_Assignment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Appendix B requires context c1 on every role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rule written from each role file, with its @odata.type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Activation requires MFA, not a context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MFA may not prompt in a session that already did it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c1 on activation, MFA only on active assignment; Chapter 03's policy sets Every time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Every PATCH names a hard-coded policy ID from another tenant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copied script writes nowhere, or to the wrong role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policy ID always comes from the read, per role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With the right ID, Application Administrator still differs from Appendix B in six rules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Applying the samples isn't applying the program's settings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Compare-PaPimPolicy: a diff, rule by rule, property by property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The approval sample names a single user beside a group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People leave: a broken approval path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Approvers are groups only, by alias, bound per tenant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Update rules in PIM; List roleManagementPolicyAssignments; authenticationContextRule; role settings. Chapter 04,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14650A3-084A-7E40-1380-AD5C69B7504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0B4B3EB-6FA1-4833-AAA2-17B23B01677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730"/>
    </mc:Choice>
    <mc:Fallback>
      <p:transition spd="slow" advTm="35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72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tutorial leaves to you, and the verdict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41776"/>
        </p:xfrm>
        <a:graphic>
          <a:graphicData uri="http://schemas.openxmlformats.org/drawingml/2006/table">
            <a:tbl>
              <a:tblPr firstRow="1" bandRow="1"/>
              <a:tblGrid>
                <a:gridCol w="35661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Learn's samples, as published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examples/privileged-access adds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 read before a write, no dry run, no read-back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Nobody sees the change before it happens or proves it after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plan and a diff by default; writes only with -Apply; the tenant read back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Nothing checks the lockout conditions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Approval with no approver and no emergency accounts locks the tenant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PA-PIM-01 and PA-PIM-02 block every write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The tutorial asks for a year of User Administrator eligibility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Appendix B caps Tier 2 at 180 days; PIM rejects it once the policy is set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New-PaPimEligibilityRequest checks the role file's maximum</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It asks for RoleManagement.ReadWrite.Directory and Group.ReadWrite.All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Broader than the request needs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RoleEligibilitySchedule.ReadWrite.Directory only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Its clean-up deletes a group by the test user's object ID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It deletes the wrong object, or fails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back-out uses only IDs the run recorded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It reads no existing eligibility and sets no role settings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second run asks again; eligibility follows whatever the role allows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Eligibility planned only where missing, after the rules are set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Lead"/>
          <p:cNvSpPr txBox="1"/>
          <p:nvPr/>
        </p:nvSpPr>
        <p:spPr>
          <a:xfrm>
            <a:off x="548640" y="5050536"/>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Verdict: keep Learn's read, rule shapes and write permission; don't run the samples as published.</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Update rules in PIM; Assign privileged roles using PIM APIs; Create roleEligibilityScheduleRequest; role settings. Chapter 04,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05E235E-32F4-E2B3-1166-524D456A393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3EBCFD4-E372-491E-9D18-766E7177604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3980"/>
    </mc:Choice>
    <mc:Fallback>
      <p:transition spd="slow" advTm="33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997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code: one reviewed file per role, inside bounds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The pieces">
            <a:extLst>
              <a:ext uri="{C183D7F6-B498-43B3-948B-1728B52AA6E4}">
                <adec:decorative xmlns:adec="http://schemas.microsoft.com/office/drawing/2017/decorative" val="1"/>
              </a:ext>
            </a:extLst>
          </p:cNvPr>
          <p:cNvSpPr/>
          <p:nvPr/>
        </p:nvSpPr>
        <p:spPr>
          <a:xfrm>
            <a:off x="548640" y="1325880"/>
            <a:ext cx="5417820" cy="2307336"/>
          </a:xfrm>
          <a:prstGeom prst="roundRect">
            <a:avLst>
              <a:gd name="adj" fmla="val 317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piec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PIECES</a:t>
            </a:r>
            <a:endParaRPr lang="en-US" sz="1100" dirty="0"/>
          </a:p>
        </p:txBody>
      </p:sp>
      <p:sp>
        <p:nvSpPr>
          <p:cNvPr id="7" name="Panel The pieces list"/>
          <p:cNvSpPr txBox="1"/>
          <p:nvPr/>
        </p:nvSpPr>
        <p:spPr>
          <a:xfrm>
            <a:off x="731520" y="1737360"/>
            <a:ext cx="5097780" cy="185013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Module PimEntraRoles.psm1, calls-ch04.json, Invoke-PaPimRoleSettings.ps1; builds on Appendix B's Set-FMPPimTierPolicy.ps1</a:t>
            </a:r>
            <a:endParaRPr lang="en-US" sz="1400" dirty="0"/>
          </a:p>
          <a:p>
            <a:pPr marL="342900" indent="-342900">
              <a:spcAft>
                <a:spcPts val="400"/>
              </a:spcAft>
              <a:buSzPct val="100000"/>
              <a:buChar char="•"/>
            </a:pPr>
            <a:r>
              <a:rPr lang="en-US" sz="1400" dirty="0">
                <a:solidFill>
                  <a:srgbClr val="334155"/>
                </a:solidFill>
              </a:rPr>
              <a:t>22 role files, one per role in Appendix B; pim-bindings.json per tenant binds approver aliases and PRV groups</a:t>
            </a:r>
            <a:endParaRPr lang="en-US" sz="1400" dirty="0"/>
          </a:p>
          <a:p>
            <a:pPr marL="342900" indent="-342900">
              <a:spcAft>
                <a:spcPts val="400"/>
              </a:spcAft>
              <a:buSzPct val="100000"/>
              <a:buChar char="•"/>
            </a:pPr>
            <a:r>
              <a:rPr lang="en-US" sz="1400" dirty="0">
                <a:solidFill>
                  <a:srgbClr val="334155"/>
                </a:solidFill>
              </a:rPr>
              <a:t>ConvertTo-PaPimRule: seven PATCH bodies in Learn's shapes; single-stage approval by the tier's group</a:t>
            </a:r>
            <a:endParaRPr lang="en-US" sz="1400" dirty="0"/>
          </a:p>
        </p:txBody>
      </p:sp>
      <p:sp>
        <p:nvSpPr>
          <p:cNvPr id="8" name="Panel One file, for example">
            <a:extLst>
              <a:ext uri="{C183D7F6-B498-43B3-948B-1728B52AA6E4}">
                <adec:decorative xmlns:adec="http://schemas.microsoft.com/office/drawing/2017/decorative" val="1"/>
              </a:ext>
            </a:extLst>
          </p:cNvPr>
          <p:cNvSpPr/>
          <p:nvPr/>
        </p:nvSpPr>
        <p:spPr>
          <a:xfrm>
            <a:off x="6240780" y="1325880"/>
            <a:ext cx="5417820" cy="2307336"/>
          </a:xfrm>
          <a:prstGeom prst="roundRect">
            <a:avLst>
              <a:gd name="adj" fmla="val 317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One file, for exampl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ONE FILE, FOR EXAMPLE</a:t>
            </a:r>
            <a:endParaRPr lang="en-US" sz="1100" dirty="0"/>
          </a:p>
        </p:txBody>
      </p:sp>
      <p:sp>
        <p:nvSpPr>
          <p:cNvPr id="10" name="Panel One file, for example list"/>
          <p:cNvSpPr txBox="1"/>
          <p:nvPr/>
        </p:nvSpPr>
        <p:spPr>
          <a:xfrm>
            <a:off x="6423660" y="1737360"/>
            <a:ext cx="5097780" cy="185013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Global Administrator: Tier 0, four hours, c1, justification and ticket, PIM-Approvers-T0, eligibility 90 days</a:t>
            </a:r>
            <a:endParaRPr lang="en-US" sz="1400" dirty="0"/>
          </a:p>
          <a:p>
            <a:pPr marL="342900" indent="-342900">
              <a:spcAft>
                <a:spcPts val="400"/>
              </a:spcAft>
              <a:buSzPct val="100000"/>
              <a:buChar char="•"/>
            </a:pPr>
            <a:r>
              <a:rPr lang="en-US" sz="1400" dirty="0">
                <a:solidFill>
                  <a:srgbClr val="334155"/>
                </a:solidFill>
              </a:rPr>
              <a:t>Permanent active only on this role, for the emergency accounts</a:t>
            </a:r>
            <a:endParaRPr lang="en-US" sz="1400" dirty="0"/>
          </a:p>
          <a:p>
            <a:pPr marL="342900" indent="-342900">
              <a:spcAft>
                <a:spcPts val="400"/>
              </a:spcAft>
              <a:buSzPct val="100000"/>
              <a:buChar char="•"/>
            </a:pPr>
            <a:r>
              <a:rPr lang="en-US" sz="1400" dirty="0">
                <a:solidFill>
                  <a:srgbClr val="334155"/>
                </a:solidFill>
              </a:rPr>
              <a:t>Read-PaPimRoleSetting refuses a malformed file before it reaches the tenant</a:t>
            </a:r>
            <a:endParaRPr lang="en-US" sz="14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3816096"/>
          <a:ext cx="11109960" cy="1879092"/>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Bound in tiers.json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Value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Source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Activation maximum</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Eight hours: role settings say 1 to 24, the PIM API overview at most 8</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 the stricter (row 41)</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Tier caps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Activation four hours Tier 0, eight the rest; eligibility 90, 180 or 365 days; approval Tier 0 and 1; ticket all but read-only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Appendix B (design guidance)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Active assignment maximum</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At most 15 days, P15D in every file; PA-PIM-04 flags more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Owner's decision (row 48)</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role settings in PIM; PIM APIs overview; Update rules in PIM; Rules in PIM. Chapter 04, “The code,” “The role files,” “The rules.”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366DD44E-68A2-EA29-A75F-D05395C5FDB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F9DE74E-7E1C-4D6F-B553-2498BDFF13B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200"/>
    </mc:Choice>
    <mc:Fallback>
      <p:transition spd="slow" advTm="38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20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checks: PA-PIM-01 to PA-PIM-09</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672840"/>
        </p:xfrm>
        <a:graphic>
          <a:graphicData uri="http://schemas.openxmlformats.org/drawingml/2006/table">
            <a:tbl>
              <a:tblPr firstRow="1" bandRow="1"/>
              <a:tblGrid>
                <a:gridCol w="12344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Rule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Severity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flags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PA-PIM-01</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Finding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Approval required with no approver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Learn: half the lockout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PA-PIM-02</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Finding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Fewer emergency accounts with permanent, active, direct Global Administrator than required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Learn: the other half; Ch 02</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PA-PIM-03</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Finding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An approver group that is also the role's eligible group</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Design guidance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PA-PIM-04</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Finding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file outside Learn's bounds or its tier's cap, over 15 days active, permanent active off Global Administrator, missing approval or ticket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Learn; Appendix B; owner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PA-PIM-05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Warn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An authentication context: its policy must be On first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Learn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PA-PIM-06</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Finding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No policy for the role at tenant scope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PA-PIM-07</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Finding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An earlier rollout wave that doesn't match its files yet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Design guidance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PA-PIM-08</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Warn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Eligibility outside the role's PRV group</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Design guidance; Ch 07</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PA-PIM-09</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Warn; Info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Standing active: a user to convert or a service principal to document (Warn); an emergency account or exception (Info)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Book 04, Ch 08</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Lead"/>
          <p:cNvSpPr txBox="1"/>
          <p:nvPr/>
        </p:nvSpPr>
        <p:spPr>
          <a:xfrm>
            <a:off x="548640" y="5181600"/>
            <a:ext cx="11109960" cy="321564"/>
          </a:xfrm>
          <a:prstGeom prst="rect">
            <a:avLst/>
          </a:prstGeom>
          <a:noFill/>
          <a:ln/>
        </p:spPr>
        <p:txBody>
          <a:bodyPr wrap="square" lIns="0" tIns="0" rIns="0" bIns="0" rtlCol="0" anchor="t"/>
          <a:lstStyle/>
          <a:p>
            <a:pPr marL="0" indent="0">
              <a:buNone/>
            </a:pPr>
            <a:r>
              <a:rPr lang="en-US" sz="1750" b="1" dirty="0">
                <a:solidFill>
                  <a:srgbClr val="1F2A44"/>
                </a:solidFill>
              </a:rPr>
              <a:t>Any Finding blocks -Apply. PA-PIM-05 needs -ActivationGateChecked: the context target is beta-only.</a:t>
            </a:r>
            <a:endParaRPr lang="en-US" sz="17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Configure role settings in PIM; conditionalAccessApplications (v1.0 and beta). Chapter 04, “The checks.”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7229D2A-F9DA-38DF-5E38-EAFC6ACEF92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C30EC55-531E-47E3-A3A0-DF3AFBAE627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40"/>
    </mc:Choice>
    <mc:Fallback>
      <p:transition spd="slow" advTm="36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54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calls, and a permission for each task</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756916"/>
        </p:xfrm>
        <a:graphic>
          <a:graphicData uri="http://schemas.openxmlformats.org/drawingml/2006/table">
            <a:tbl>
              <a:tblPr firstRow="1" bandRow="1"/>
              <a:tblGrid>
                <a:gridCol w="4572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Call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Least-privileged permission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Task</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List roleManagementPolicyAssignments, with policy and rules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RoleManagementPolicy.Read.Directory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all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List roleEligibilitySchedules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RoleEligibilitySchedule.Read.Directory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all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List roleAssignmentScheduleInstances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RoleAssignmentSchedule.Read.Directory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all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Update a policy rule (PATCH)</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RoleManagementPolicy.ReadWrite.Directory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pim-apply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Create a roleEligibilityScheduleRequest (POST)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RoleEligibilitySchedule.ReadWrite.Directory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pim-apply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Create a roleAssignmentScheduleRequest (adminRemove only)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RoleAssignmentSchedule.ReadWrite.Directory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pim-convert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List"/>
          <p:cNvSpPr txBox="1"/>
          <p:nvPr/>
        </p:nvSpPr>
        <p:spPr>
          <a:xfrm>
            <a:off x="548640" y="4265676"/>
            <a:ext cx="11109960" cy="15361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One client per task and cloud: declared calls only, every page on the cloud's own host, GET only unless built with -AllowWrite (only with -Apply)</a:t>
            </a:r>
            <a:endParaRPr lang="en-US" sz="1450" dirty="0"/>
          </a:p>
          <a:p>
            <a:pPr marL="342900" indent="-342900">
              <a:spcAft>
                <a:spcPts val="400"/>
              </a:spcAft>
              <a:buSzPct val="100000"/>
              <a:buChar char="•"/>
            </a:pPr>
            <a:r>
              <a:rPr lang="en-US" sz="1450" dirty="0">
                <a:solidFill>
                  <a:srgbClr val="334155"/>
                </a:solidFill>
              </a:rPr>
              <a:t>Learn's PowerShell guide and tutorial ask for RoleManagement.ReadWrite.Directory; the code follows the narrower API pages</a:t>
            </a:r>
            <a:endParaRPr lang="en-US" sz="1450" dirty="0"/>
          </a:p>
          <a:p>
            <a:pPr marL="342900" indent="-342900">
              <a:spcAft>
                <a:spcPts val="400"/>
              </a:spcAft>
              <a:buSzPct val="100000"/>
              <a:buChar char="•"/>
            </a:pPr>
            <a:r>
              <a:rPr lang="en-US" sz="1450" dirty="0">
                <a:solidFill>
                  <a:srgbClr val="334155"/>
                </a:solidFill>
              </a:rPr>
              <a:t>Remove.Directory is listed as higher privileged than ReadWrite (research gaps, row 43); a test pins each task's permissions to its calls</a:t>
            </a:r>
            <a:endParaRPr lang="en-US" sz="14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the Graph API pages for each call; Manage PIM policies in Microsoft Graph PowerShell. Chapter 04, “The calls and their permissions,”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383285E0-CEF0-D37F-9AF8-ADA494AA773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85F15CB-5415-4044-81C7-9D69D76D3EB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450"/>
    </mc:Choice>
    <mc:Fallback>
      <p:transition spd="slow" advTm="364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44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diff, the plan, the read-back, the conversion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83464" cy="28346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Read: </a:t>
            </a:r>
            <a:r>
              <a:rPr lang="en-US" sz="1500" dirty="0">
                <a:solidFill>
                  <a:srgbClr val="334155"/>
                </a:solidFill>
              </a:rPr>
              <a:t>Get-PaPimTenantState: each role's policy with Learn's filter and expand, then every eligibility schedule and active instance</a:t>
            </a:r>
            <a:endParaRPr lang="en-US" sz="1500" dirty="0"/>
          </a:p>
        </p:txBody>
      </p:sp>
      <p:sp>
        <p:nvSpPr>
          <p:cNvPr id="8" name="Step 2 dot">
            <a:extLst>
              <a:ext uri="{C183D7F6-B498-43B3-948B-1728B52AA6E4}">
                <adec:decorative xmlns:adec="http://schemas.microsoft.com/office/drawing/2017/decorative" val="1"/>
              </a:ext>
            </a:extLst>
          </p:cNvPr>
          <p:cNvSpPr/>
          <p:nvPr/>
        </p:nvSpPr>
        <p:spPr>
          <a:xfrm>
            <a:off x="548640" y="1911096"/>
            <a:ext cx="283464" cy="283464"/>
          </a:xfrm>
          <a:prstGeom prst="ellipse">
            <a:avLst/>
          </a:prstGeom>
          <a:solidFill>
            <a:srgbClr val="B45309"/>
          </a:solidFill>
          <a:ln w="12700">
            <a:solidFill>
              <a:srgbClr val="B45309"/>
            </a:solidFill>
            <a:prstDash val="solid"/>
          </a:ln>
        </p:spPr>
      </p:sp>
      <p:sp>
        <p:nvSpPr>
          <p:cNvPr id="9" name="Step 2 number"/>
          <p:cNvSpPr txBox="1"/>
          <p:nvPr/>
        </p:nvSpPr>
        <p:spPr>
          <a:xfrm>
            <a:off x="548640" y="1911096"/>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92808"/>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Diff: </a:t>
            </a:r>
            <a:r>
              <a:rPr lang="en-US" sz="1500" dirty="0">
                <a:solidFill>
                  <a:srgbClr val="334155"/>
                </a:solidFill>
              </a:rPr>
              <a:t>Compare-PaPimPolicy normalizes the seven rules (time spans, sorted approvers, nothing that doesn't apply); a matching role has no rows</a:t>
            </a:r>
            <a:endParaRPr lang="en-US" sz="1500" dirty="0"/>
          </a:p>
        </p:txBody>
      </p:sp>
      <p:sp>
        <p:nvSpPr>
          <p:cNvPr id="11" name="Step 3 dot">
            <a:extLst>
              <a:ext uri="{C183D7F6-B498-43B3-948B-1728B52AA6E4}">
                <adec:decorative xmlns:adec="http://schemas.microsoft.com/office/drawing/2017/decorative" val="1"/>
              </a:ext>
            </a:extLst>
          </p:cNvPr>
          <p:cNvSpPr/>
          <p:nvPr/>
        </p:nvSpPr>
        <p:spPr>
          <a:xfrm>
            <a:off x="548640" y="2478024"/>
            <a:ext cx="283464" cy="283464"/>
          </a:xfrm>
          <a:prstGeom prst="ellipse">
            <a:avLst/>
          </a:prstGeom>
          <a:solidFill>
            <a:srgbClr val="B45309"/>
          </a:solidFill>
          <a:ln w="12700">
            <a:solidFill>
              <a:srgbClr val="B45309"/>
            </a:solidFill>
            <a:prstDash val="solid"/>
          </a:ln>
        </p:spPr>
      </p:sp>
      <p:sp>
        <p:nvSpPr>
          <p:cNvPr id="12" name="Step 3 number"/>
          <p:cNvSpPr txBox="1"/>
          <p:nvPr/>
        </p:nvSpPr>
        <p:spPr>
          <a:xfrm>
            <a:off x="548640" y="2478024"/>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459736"/>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Plan: </a:t>
            </a:r>
            <a:r>
              <a:rPr lang="en-US" sz="1500" dirty="0">
                <a:solidFill>
                  <a:srgbClr val="334155"/>
                </a:solidFill>
              </a:rPr>
              <a:t>New-PaPimPlan sends nothing: PATCHes, adminAssign requests for PRV groups not yet eligible, standing assignments to convert; plan.json, diff.csv, findings.json, before.json, manifest</a:t>
            </a:r>
            <a:endParaRPr lang="en-US" sz="1500" dirty="0"/>
          </a:p>
        </p:txBody>
      </p:sp>
      <p:sp>
        <p:nvSpPr>
          <p:cNvPr id="14" name="Step 4 dot">
            <a:extLst>
              <a:ext uri="{C183D7F6-B498-43B3-948B-1728B52AA6E4}">
                <adec:decorative xmlns:adec="http://schemas.microsoft.com/office/drawing/2017/decorative" val="1"/>
              </a:ext>
            </a:extLst>
          </p:cNvPr>
          <p:cNvSpPr/>
          <p:nvPr/>
        </p:nvSpPr>
        <p:spPr>
          <a:xfrm>
            <a:off x="548640" y="3044952"/>
            <a:ext cx="283464" cy="283464"/>
          </a:xfrm>
          <a:prstGeom prst="ellipse">
            <a:avLst/>
          </a:prstGeom>
          <a:solidFill>
            <a:srgbClr val="B45309"/>
          </a:solidFill>
          <a:ln w="12700">
            <a:solidFill>
              <a:srgbClr val="B45309"/>
            </a:solidFill>
            <a:prstDash val="solid"/>
          </a:ln>
        </p:spPr>
      </p:sp>
      <p:sp>
        <p:nvSpPr>
          <p:cNvPr id="15" name="Step 4 number"/>
          <p:cNvSpPr txBox="1"/>
          <p:nvPr/>
        </p:nvSpPr>
        <p:spPr>
          <a:xfrm>
            <a:off x="548640" y="3044952"/>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3026664"/>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Apply and read back: </a:t>
            </a:r>
            <a:r>
              <a:rPr lang="en-US" sz="1500" dirty="0">
                <a:solidFill>
                  <a:srgbClr val="334155"/>
                </a:solidFill>
              </a:rPr>
              <a:t>With -Apply: rules first, eligibility second; body hashes in the manifest; verify.csv is the diff after. 204 or 200 accepted: the read-back is the evidence (research gaps, row 46)</a:t>
            </a:r>
            <a:endParaRPr lang="en-US" sz="1500" dirty="0"/>
          </a:p>
        </p:txBody>
      </p:sp>
      <p:sp>
        <p:nvSpPr>
          <p:cNvPr id="17" name="Step 5 dot">
            <a:extLst>
              <a:ext uri="{C183D7F6-B498-43B3-948B-1728B52AA6E4}">
                <adec:decorative xmlns:adec="http://schemas.microsoft.com/office/drawing/2017/decorative" val="1"/>
              </a:ext>
            </a:extLst>
          </p:cNvPr>
          <p:cNvSpPr/>
          <p:nvPr/>
        </p:nvSpPr>
        <p:spPr>
          <a:xfrm>
            <a:off x="548640" y="3611880"/>
            <a:ext cx="283464" cy="283464"/>
          </a:xfrm>
          <a:prstGeom prst="ellipse">
            <a:avLst/>
          </a:prstGeom>
          <a:solidFill>
            <a:srgbClr val="B45309"/>
          </a:solidFill>
          <a:ln w="12700">
            <a:solidFill>
              <a:srgbClr val="B45309"/>
            </a:solidFill>
            <a:prstDash val="solid"/>
          </a:ln>
        </p:spPr>
      </p:sp>
      <p:sp>
        <p:nvSpPr>
          <p:cNvPr id="18" name="Step 5 number"/>
          <p:cNvSpPr txBox="1"/>
          <p:nvPr/>
        </p:nvSpPr>
        <p:spPr>
          <a:xfrm>
            <a:off x="548640" y="3611880"/>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593592"/>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Convert: </a:t>
            </a:r>
            <a:r>
              <a:rPr lang="en-US" sz="1500" dirty="0">
                <a:solidFill>
                  <a:srgbClr val="334155"/>
                </a:solidFill>
              </a:rPr>
              <a:t>WaitingForEligibility, WaitingForConfirmedActivation, Confirmed; only -Apply -Convert sends adminRemove, only for Confirmed rows</a:t>
            </a:r>
            <a:endParaRPr lang="en-US" sz="1500" dirty="0"/>
          </a:p>
        </p:txBody>
      </p:sp>
      <p:sp>
        <p:nvSpPr>
          <p:cNvPr id="20" name="Callout">
            <a:extLst>
              <a:ext uri="{C183D7F6-B498-43B3-948B-1728B52AA6E4}">
                <adec:decorative xmlns:adec="http://schemas.microsoft.com/office/drawing/2017/decorative" val="1"/>
              </a:ext>
            </a:extLst>
          </p:cNvPr>
          <p:cNvSpPr/>
          <p:nvPr/>
        </p:nvSpPr>
        <p:spPr>
          <a:xfrm>
            <a:off x="548640" y="4343400"/>
            <a:ext cx="11109960" cy="1019556"/>
          </a:xfrm>
          <a:prstGeom prst="roundRect">
            <a:avLst>
              <a:gd name="adj" fmla="val 7175"/>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1" name="Icon FaUserShield">
            <a:extLst>
              <a:ext uri="{C183D7F6-B498-43B3-948B-1728B52AA6E4}">
                <adec:decorative xmlns:adec="http://schemas.microsoft.com/office/drawing/2017/decorative" val="1"/>
              </a:ext>
            </a:extLst>
          </p:cNvPr>
          <p:cNvSpPr/>
          <p:nvPr/>
        </p:nvSpPr>
        <p:spPr>
          <a:xfrm>
            <a:off x="749808" y="4533138"/>
            <a:ext cx="640080" cy="640080"/>
          </a:xfrm>
          <a:prstGeom prst="ellipse">
            <a:avLst/>
          </a:prstGeom>
          <a:solidFill>
            <a:srgbClr val="B91C1C"/>
          </a:solidFill>
          <a:ln w="12700">
            <a:solidFill>
              <a:srgbClr val="B91C1C"/>
            </a:solidFill>
            <a:prstDash val="solid"/>
          </a:ln>
        </p:spPr>
      </p:sp>
      <p:pic>
        <p:nvPicPr>
          <p:cNvPr id="22"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686757"/>
            <a:ext cx="332842" cy="332842"/>
          </a:xfrm>
          <a:prstGeom prst="rect">
            <a:avLst/>
          </a:prstGeom>
        </p:spPr>
      </p:pic>
      <p:sp>
        <p:nvSpPr>
          <p:cNvPr id="23" name="Callout text"/>
          <p:cNvSpPr txBox="1"/>
          <p:nvPr/>
        </p:nvSpPr>
        <p:spPr>
          <a:xfrm>
            <a:off x="1600200" y="4398264"/>
            <a:ext cx="9875520" cy="909828"/>
          </a:xfrm>
          <a:prstGeom prst="rect">
            <a:avLst/>
          </a:prstGeom>
          <a:noFill/>
          <a:ln/>
        </p:spPr>
        <p:txBody>
          <a:bodyPr wrap="square" lIns="0" tIns="0" rIns="0" bIns="0" rtlCol="0" anchor="ctr"/>
          <a:lstStyle/>
          <a:p>
            <a:pPr marL="0" indent="0">
              <a:buNone/>
            </a:pPr>
            <a:r>
              <a:rPr lang="en-US" sz="1750" b="1" dirty="0">
                <a:solidFill>
                  <a:srgbClr val="B91C1C"/>
                </a:solidFill>
              </a:rPr>
              <a:t>Never removed: </a:t>
            </a:r>
            <a:r>
              <a:rPr lang="en-US" sz="1750" dirty="0">
                <a:solidFill>
                  <a:srgbClr val="334155"/>
                </a:solidFill>
              </a:rPr>
              <a:t>emergency accounts and documented exceptions are never planned for removal; service principals are reported, not removed. No removal within five minutes of creation; PIM keeps the last active Global Administrator.</a:t>
            </a:r>
            <a:endParaRPr lang="en-US" sz="17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List roleManagementPolicyAssignments; Update rules in PIM; Update rule. Book 04, Ch 08 Step 5. Chapter 04, “The diff, the plan and the read-back,” “Converting.”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154EBBEA-CA47-737C-260B-7EA76648303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E3EF8C0-BBE5-44F6-A0DB-439CD3C11E3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30"/>
    </mc:Choice>
    <mc:Fallback>
      <p:transition spd="slow" advTm="38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28"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builds it, who owns it, who reviews it</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3550920" cy="1645920"/>
          </a:xfrm>
          <a:prstGeom prst="roundRect">
            <a:avLst>
              <a:gd name="adj" fmla="val 444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64592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41732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marL="0" indent="0">
              <a:spcAft>
                <a:spcPts val="300"/>
              </a:spcAft>
              <a:buNone/>
            </a:pPr>
            <a:r>
              <a:rPr lang="en-US" sz="1550" dirty="0">
                <a:solidFill>
                  <a:srgbClr val="334155"/>
                </a:solidFill>
              </a:rPr>
              <a:t>Build the project's write path; read PowerShell 7 and JSON, and know what an eligible assignment is</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4328160" y="1325880"/>
            <a:ext cx="3550920" cy="1645920"/>
          </a:xfrm>
          <a:prstGeom prst="roundRect">
            <a:avLst>
              <a:gd name="adj" fmla="val 4444"/>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4328160" y="1325880"/>
            <a:ext cx="82296" cy="164592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41732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a:t>
            </a:r>
            <a:endParaRPr lang="en-US" sz="1400" dirty="0"/>
          </a:p>
          <a:p>
            <a:pPr marL="0" indent="0">
              <a:spcAft>
                <a:spcPts val="300"/>
              </a:spcAft>
              <a:buNone/>
            </a:pPr>
            <a:r>
              <a:rPr lang="en-US" sz="1550" dirty="0">
                <a:solidFill>
                  <a:srgbClr val="334155"/>
                </a:solidFill>
              </a:rPr>
              <a:t>Own PIM: the role files, the bindings, the PRV groups and the approver groups</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8107680" y="1325880"/>
            <a:ext cx="3550920" cy="1645920"/>
          </a:xfrm>
          <a:prstGeom prst="roundRect">
            <a:avLst>
              <a:gd name="adj" fmla="val 4444"/>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8107680" y="1325880"/>
            <a:ext cx="82296" cy="164592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41732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ISSOs</a:t>
            </a:r>
            <a:endParaRPr lang="en-US" sz="1400" dirty="0"/>
          </a:p>
          <a:p>
            <a:pPr marL="0" indent="0">
              <a:spcAft>
                <a:spcPts val="300"/>
              </a:spcAft>
              <a:buNone/>
            </a:pPr>
            <a:r>
              <a:rPr lang="en-US" sz="1550" dirty="0">
                <a:solidFill>
                  <a:srgbClr val="334155"/>
                </a:solidFill>
              </a:rPr>
              <a:t>Review the changes: each role file by two people, each dry run before its apply</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3154680"/>
          <a:ext cx="11109960" cy="187452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557784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Identity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Holds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Used for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Reader app</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three pim-plan read permissions, nothing else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Every dry run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Writer app</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Reads plus the two pim-apply writes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-Apply, after a reviewed plan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Conversion run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RoleAssignmentSchedule.ReadWrite.Directory, only for that run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-Apply -Convert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Delegated role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Privileged Role Administrator for every write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Learn's least-privileged role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Update rules in PIM; Update rule; Create roleEligibilityScheduleRequest; Create roleAssignmentScheduleRequests. Chapter 04, “Goal and audience,” “Checklist.”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706F9395-960D-0F50-9E79-00415CD41B7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8645FE2-DC14-4949-90FB-BC77A614EA5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930"/>
    </mc:Choice>
    <mc:Fallback>
      <p:transition spd="slow" advTm="369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92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Learn's samples, permissions, a dry run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542032"/>
          </a:xfrm>
          <a:prstGeom prst="roundRect">
            <a:avLst>
              <a:gd name="adj" fmla="val 2878"/>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POWERSHELL 7.1+ WITH PESTER 5, IN examples/privileged-access</a:t>
            </a:r>
            <a:endParaRPr lang="en-US" sz="1050" dirty="0"/>
          </a:p>
        </p:txBody>
      </p:sp>
      <p:sp>
        <p:nvSpPr>
          <p:cNvPr id="7" name="Code"/>
          <p:cNvSpPr txBox="1"/>
          <p:nvPr/>
        </p:nvSpPr>
        <p:spPr>
          <a:xfrm>
            <a:off x="713232" y="1664208"/>
            <a:ext cx="10835640" cy="2157984"/>
          </a:xfrm>
          <a:prstGeom prst="rect">
            <a:avLst/>
          </a:prstGeom>
          <a:noFill/>
          <a:ln/>
        </p:spPr>
        <p:txBody>
          <a:bodyPr wrap="square" lIns="0" tIns="0" rIns="0" bIns="0" rtlCol="0" anchor="t"/>
          <a:lstStyle/>
          <a:p>
            <a:pPr marL="0" indent="0">
              <a:buNone/>
            </a:pPr>
            <a:r>
              <a:rPr lang="en-US" sz="1350" dirty="0">
                <a:solidFill>
                  <a:srgbClr val="0F766E"/>
                </a:solidFill>
                <a:latin typeface="Consolas" pitchFamily="34" charset="0"/>
                <a:ea typeface="Consolas" pitchFamily="34" charset="-122"/>
                <a:cs typeface="Consolas" pitchFamily="34" charset="-120"/>
              </a:rPr>
              <a:t># 1  Learn's samples to the fake: PassedCount 13, FailedCount 0</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Invoke-Pester -Path tests/PimEntraRoles.Tests.ps1 -FullNameFilter '*(Learn), run as published*' …</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2  The permissions each task needs</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'pim-plan','pim-apply','pim-convert' | % { (Get-PaPimRequiredPermission -Task $_).GraphPermissions }</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pim-plan: three Read.Directory permissions; pim-apply adds two ReadWrite; pim-convert one</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3  Dry-run wave 1, the pilot class (Tier 1)</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./Invoke-PaPimRoleSettings.ps1 @lab -Wave 1 -OutputPath out/pim-wave1</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Wave 1 (9 roles): 0 Finding, 13 Warn, 0 Info</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Plan: 43 rule updates, 8 eligibility requests, 2 standing assignments to convert (0 confirmed)</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Dry run: nothing was sent</a:t>
            </a:r>
            <a:endParaRPr lang="en-US" sz="1350" dirty="0"/>
          </a:p>
        </p:txBody>
      </p:sp>
      <p:sp>
        <p:nvSpPr>
          <p:cNvPr id="8" name="Callout">
            <a:extLst>
              <a:ext uri="{C183D7F6-B498-43B3-948B-1728B52AA6E4}">
                <adec:decorative xmlns:adec="http://schemas.microsoft.com/office/drawing/2017/decorative" val="1"/>
              </a:ext>
            </a:extLst>
          </p:cNvPr>
          <p:cNvSpPr/>
          <p:nvPr/>
        </p:nvSpPr>
        <p:spPr>
          <a:xfrm>
            <a:off x="548640" y="4050792"/>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Icon FaListCheck">
            <a:extLst>
              <a:ext uri="{C183D7F6-B498-43B3-948B-1728B52AA6E4}">
                <adec:decorative xmlns:adec="http://schemas.microsoft.com/office/drawing/2017/decorative" val="1"/>
              </a:ext>
            </a:extLst>
          </p:cNvPr>
          <p:cNvSpPr/>
          <p:nvPr/>
        </p:nvSpPr>
        <p:spPr>
          <a:xfrm>
            <a:off x="749808" y="4123944"/>
            <a:ext cx="606552" cy="606552"/>
          </a:xfrm>
          <a:prstGeom prst="ellipse">
            <a:avLst/>
          </a:prstGeom>
          <a:solidFill>
            <a:srgbClr val="0F766E"/>
          </a:solidFill>
          <a:ln w="12700">
            <a:solidFill>
              <a:srgbClr val="0F766E"/>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269516"/>
            <a:ext cx="315407" cy="315407"/>
          </a:xfrm>
          <a:prstGeom prst="rect">
            <a:avLst/>
          </a:prstGeom>
        </p:spPr>
      </p:pic>
      <p:sp>
        <p:nvSpPr>
          <p:cNvPr id="11" name="Callout text"/>
          <p:cNvSpPr txBox="1"/>
          <p:nvPr/>
        </p:nvSpPr>
        <p:spPr>
          <a:xfrm>
            <a:off x="1600200" y="4105656"/>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Read the fourth test: </a:t>
            </a:r>
            <a:r>
              <a:rPr lang="en-US" sz="1750" dirty="0">
                <a:solidFill>
                  <a:srgbClr val="334155"/>
                </a:solidFill>
              </a:rPr>
              <a:t>with the policy ID from the read, all six of Learn's updates apply, and Application Administrator still differs from its file in six of seven rules.</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examples/privileged-access (tests and fixtures, fictional). Chapter 04,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8AF852FC-4A59-E86E-0B7D-752665F4A68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C2E072B-7F2C-48F1-BA80-2920FE2AED0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450"/>
    </mc:Choice>
    <mc:Fallback>
      <p:transition spd="slow" advTm="364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44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reading the diff, the block and the apply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640836"/>
        </p:xfrm>
        <a:graphic>
          <a:graphicData uri="http://schemas.openxmlformats.org/drawingml/2006/table">
            <a:tbl>
              <a:tblPr firstRow="1" bandRow="1"/>
              <a:tblGrid>
                <a:gridCol w="3657600">
                  <a:extLst>
                    <a:ext uri="{9D8B030D-6E8A-4147-A177-3AD203B41FA5}">
                      <a16:colId xmlns:a16="http://schemas.microsoft.com/office/drawing/2014/main" val="20000"/>
                    </a:ext>
                  </a:extLst>
                </a:gridCol>
                <a:gridCol w="7452360">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you see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Exchange Administrator: ten diff rows in three rules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Partly set by hand: context off to c1; approval on, single-stage, by PIM-Approvers-T1; active maximum 180 days to 15. Activation and eligibility already match</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Findings name Carl Ops and Erin Patel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Tier 1 roles held standing; Carl's removal waits for his group's eligibility, Erin's for a confirmed activation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Contoso-Mail-Automation; Dana Reyes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service principal with Exchange Administrator and no exceptions-list owner; Dana eligible outside the PRV group</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Wave 2 (5 roles): 9 Finding, 5 Warn, 2 Info</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Nine PA-PIM-07, one per Tier 1 role not yet matching; the Info rows are the emergency accounts. Blocked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-Apply without -ActivationGateChecked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Stops before any write: confirm the context's policy is On (Chapter 03)</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With 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Applied: 51 requests sent; 0 differences from the role files after reading back</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Lead"/>
          <p:cNvSpPr txBox="1"/>
          <p:nvPr/>
        </p:nvSpPr>
        <p:spPr>
          <a:xfrm>
            <a:off x="548640" y="5149596"/>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Step 7, Invoke-Pester -Path tests: 330 tests passing. Delete out when you're done.</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examples/privileged-access fixtures (fictional tenant). Chapter 04, “Lab 1: fixtures, no tenant,” steps 4–7.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A737549A-BFA3-B116-9ABC-2017D7A4993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BDC3CB9-E91D-4BF7-9754-3624F8B1F25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710"/>
    </mc:Choice>
    <mc:Fallback>
      <p:transition spd="slow" advTm="367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71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one role in a test tenant, then back out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Prerequisites: </a:t>
            </a:r>
            <a:r>
              <a:rPr lang="en-US" sz="1450" dirty="0">
                <a:solidFill>
                  <a:srgbClr val="334155"/>
                </a:solidFill>
              </a:rPr>
              <a:t>Chapter 02's check shows no Finding; c1 created and PIM-Activation-c1 On (report-only doesn't count); no PA-CA-04 from Chapter 03</a:t>
            </a:r>
            <a:endParaRPr lang="en-US" sz="1450" dirty="0"/>
          </a:p>
        </p:txBody>
      </p:sp>
      <p:sp>
        <p:nvSpPr>
          <p:cNvPr id="8" name="Step 2 dot">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77568"/>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Role and groups: </a:t>
            </a:r>
            <a:r>
              <a:rPr lang="en-US" sz="1450" dirty="0">
                <a:solidFill>
                  <a:srgbClr val="334155"/>
                </a:solidFill>
              </a:rPr>
              <a:t>Copy teams-administrator.json to lab-roles; create PIM-Approvers-T1 (two approvers) and role-assignable PRV-T1-TeamsAdmin; write lab-bindings.json</a:t>
            </a:r>
            <a:endParaRPr lang="en-US" sz="1450" dirty="0"/>
          </a:p>
        </p:txBody>
      </p:sp>
      <p:sp>
        <p:nvSpPr>
          <p:cNvPr id="11" name="Step 3 dot">
            <a:extLst>
              <a:ext uri="{C183D7F6-B498-43B3-948B-1728B52AA6E4}">
                <adec:decorative xmlns:adec="http://schemas.microsoft.com/office/drawing/2017/decorative" val="1"/>
              </a:ext>
            </a:extLst>
          </p:cNvPr>
          <p:cNvSpPr/>
          <p:nvPr/>
        </p:nvSpPr>
        <p:spPr>
          <a:xfrm>
            <a:off x="548640" y="244754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447544"/>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429256"/>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Two apps: </a:t>
            </a:r>
            <a:r>
              <a:rPr lang="en-US" sz="1450" dirty="0">
                <a:solidFill>
                  <a:srgbClr val="334155"/>
                </a:solidFill>
              </a:rPr>
              <a:t>With certificates: a reader with the three pim-plan permissions; a writer with the two pim-apply writes added</a:t>
            </a:r>
            <a:endParaRPr lang="en-US" sz="1450" dirty="0"/>
          </a:p>
        </p:txBody>
      </p:sp>
      <p:sp>
        <p:nvSpPr>
          <p:cNvPr id="14" name="Step 4 dot">
            <a:extLst>
              <a:ext uri="{C183D7F6-B498-43B3-948B-1728B52AA6E4}">
                <adec:decorative xmlns:adec="http://schemas.microsoft.com/office/drawing/2017/decorative" val="1"/>
              </a:ext>
            </a:extLst>
          </p:cNvPr>
          <p:cNvSpPr/>
          <p:nvPr/>
        </p:nvSpPr>
        <p:spPr>
          <a:xfrm>
            <a:off x="548640" y="299923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999232"/>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2980944"/>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Dry-run, then apply: </a:t>
            </a:r>
            <a:r>
              <a:rPr lang="en-US" sz="1450" dirty="0">
                <a:solidFill>
                  <a:srgbClr val="334155"/>
                </a:solidFill>
              </a:rPr>
              <a:t>As the reader, read diff.csv and plan.json with a second person; as the writer, -Apply -ActivationGateChecked must end with 0 differences; rerun: no updates (research gaps, row 47)</a:t>
            </a:r>
            <a:endParaRPr lang="en-US" sz="1450" dirty="0"/>
          </a:p>
        </p:txBody>
      </p:sp>
      <p:sp>
        <p:nvSpPr>
          <p:cNvPr id="17" name="Step 5 dot">
            <a:extLst>
              <a:ext uri="{C183D7F6-B498-43B3-948B-1728B52AA6E4}">
                <adec:decorative xmlns:adec="http://schemas.microsoft.com/office/drawing/2017/decorative" val="1"/>
              </a:ext>
            </a:extLst>
          </p:cNvPr>
          <p:cNvSpPr/>
          <p:nvPr/>
        </p:nvSpPr>
        <p:spPr>
          <a:xfrm>
            <a:off x="548640" y="355092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550920"/>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532632"/>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Activate and convert: </a:t>
            </a:r>
            <a:r>
              <a:rPr lang="en-US" sz="1450" dirty="0">
                <a:solidFill>
                  <a:srgbClr val="334155"/>
                </a:solidFill>
              </a:rPr>
              <a:t>A user with standing Teams Administrator, in the PRV group, activates; one approver approves; record it with a ticket; -Apply -Convert removes the standing assignment</a:t>
            </a:r>
            <a:endParaRPr lang="en-US" sz="1450" dirty="0"/>
          </a:p>
        </p:txBody>
      </p:sp>
      <p:sp>
        <p:nvSpPr>
          <p:cNvPr id="20" name="Step 6 dot">
            <a:extLst>
              <a:ext uri="{C183D7F6-B498-43B3-948B-1728B52AA6E4}">
                <adec:decorative xmlns:adec="http://schemas.microsoft.com/office/drawing/2017/decorative" val="1"/>
              </a:ext>
            </a:extLst>
          </p:cNvPr>
          <p:cNvSpPr/>
          <p:nvPr/>
        </p:nvSpPr>
        <p:spPr>
          <a:xfrm>
            <a:off x="548640" y="410260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410260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408432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Back it out: </a:t>
            </a:r>
            <a:r>
              <a:rPr lang="en-US" sz="1450" dirty="0">
                <a:solidFill>
                  <a:srgbClr val="334155"/>
                </a:solidFill>
              </a:rPr>
              <a:t>-Apply -RestoreFrom out/lab-apply puts the seven rules back from before.json and removes the run's eligibility; delete the groups, apps and out folders</a:t>
            </a:r>
            <a:endParaRPr lang="en-US" sz="1450" dirty="0"/>
          </a:p>
        </p:txBody>
      </p:sp>
      <p:sp>
        <p:nvSpPr>
          <p:cNvPr id="23" name="Callout">
            <a:extLst>
              <a:ext uri="{C183D7F6-B498-43B3-948B-1728B52AA6E4}">
                <adec:decorative xmlns:adec="http://schemas.microsoft.com/office/drawing/2017/decorative" val="1"/>
              </a:ext>
            </a:extLst>
          </p:cNvPr>
          <p:cNvSpPr/>
          <p:nvPr/>
        </p:nvSpPr>
        <p:spPr>
          <a:xfrm>
            <a:off x="548640" y="4818888"/>
            <a:ext cx="11109960" cy="752856"/>
          </a:xfrm>
          <a:prstGeom prst="roundRect">
            <a:avLst>
              <a:gd name="adj" fmla="val 971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4892040"/>
            <a:ext cx="606552" cy="606552"/>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5037612"/>
            <a:ext cx="315407" cy="315407"/>
          </a:xfrm>
          <a:prstGeom prst="rect">
            <a:avLst/>
          </a:prstGeom>
        </p:spPr>
      </p:pic>
      <p:sp>
        <p:nvSpPr>
          <p:cNvPr id="26" name="Callout text"/>
          <p:cNvSpPr txBox="1"/>
          <p:nvPr/>
        </p:nvSpPr>
        <p:spPr>
          <a:xfrm>
            <a:off x="1600200" y="4873752"/>
            <a:ext cx="9875520" cy="643128"/>
          </a:xfrm>
          <a:prstGeom prst="rect">
            <a:avLst/>
          </a:prstGeom>
          <a:noFill/>
          <a:ln/>
        </p:spPr>
        <p:txBody>
          <a:bodyPr wrap="square" lIns="0" tIns="0" rIns="0" bIns="0" rtlCol="0" anchor="ctr"/>
          <a:lstStyle/>
          <a:p>
            <a:pPr marL="0" indent="0">
              <a:buNone/>
            </a:pPr>
            <a:r>
              <a:rPr lang="en-US" sz="1750" b="1" dirty="0">
                <a:solidFill>
                  <a:srgbClr val="B91C1C"/>
                </a:solidFill>
              </a:rPr>
              <a:t>Where: </a:t>
            </a:r>
            <a:r>
              <a:rPr lang="en-US" sz="1750" dirty="0">
                <a:solidFill>
                  <a:srgbClr val="334155"/>
                </a:solidFill>
              </a:rPr>
              <a:t>a worldwide or GCC test tenant, never production, with Entra ID P2 or ID Governance licenses. Wait five minutes after creating an assignment before removing it.</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Configure Microsoft Entra role settings in PIM; Book 04, Ch 08 Step 2. Chapter 04, “Lab 2: test tenant.”</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8ABD2203-0F79-B508-AD0C-6EDFB932BE1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A7333AE-8730-4EE2-8833-EAE67D6CD07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790"/>
    </mc:Choice>
    <mc:Fallback>
      <p:transition spd="slow" advTm="377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792"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963924"/>
        </p:xfrm>
        <a:graphic>
          <a:graphicData uri="http://schemas.openxmlformats.org/drawingml/2006/table">
            <a:tbl>
              <a:tblPr firstRow="1" bandRow="1"/>
              <a:tblGrid>
                <a:gridCol w="338328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397764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Danger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happens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The guard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Approval on before emergency accounts hold Global Administrator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documented lockout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PA-PIM-02 reads the tenant and blocks every write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Approval with no approver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default approvers are the people kept eligible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PA-PIM-01 blocks the file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Context set before its policy is 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An off or report-only policy enforces nothing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PA-PIM-05; -Apply needs -ActivationGateChecked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write nobody saw; one identity with read-write on everything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copied script changes the tenant; one stolen secret changes every role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Dry run by default; separate tasks and apps; a test pins each task's permissions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Another tenant's policy ID; portal drift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wrong-role write; the tenant isn't what was reviewed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Policy IDs only from the read; the diff every run, Chapter 08 (row 88)</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Eligibility over the tier's cap; removal before activation works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year's eligibility; an administrator stranded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Requests refused, rules set first; removal only after a confirmed activation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Tier 0 before the pilot; a back-out from memory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Mistakes hit the control plane; rules come back wrong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PA-PIM-07; before.json with -RestoreFrom</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04, “Dangers”; Learn, Configure Microsoft Entra role settings in PIM.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0BE4551-F2D5-6E7D-DB9D-F5DD25E404C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0B9E099-5893-49F4-87EE-08E98D9B26A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980"/>
    </mc:Choice>
    <mc:Fallback>
      <p:transition spd="slow" advTm="34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98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The files and the gate">
            <a:extLst>
              <a:ext uri="{C183D7F6-B498-43B3-948B-1728B52AA6E4}">
                <adec:decorative xmlns:adec="http://schemas.microsoft.com/office/drawing/2017/decorative" val="1"/>
              </a:ext>
            </a:extLst>
          </p:cNvPr>
          <p:cNvSpPr/>
          <p:nvPr/>
        </p:nvSpPr>
        <p:spPr>
          <a:xfrm>
            <a:off x="548640" y="1325880"/>
            <a:ext cx="5417820" cy="3163824"/>
          </a:xfrm>
          <a:prstGeom prst="roundRect">
            <a:avLst>
              <a:gd name="adj" fmla="val 231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files and the gate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FILES AND THE GATE</a:t>
            </a:r>
            <a:endParaRPr lang="en-US" sz="1100" dirty="0"/>
          </a:p>
        </p:txBody>
      </p:sp>
      <p:sp>
        <p:nvSpPr>
          <p:cNvPr id="7" name="Panel The files and the gate list"/>
          <p:cNvSpPr txBox="1"/>
          <p:nvPr/>
        </p:nvSpPr>
        <p:spPr>
          <a:xfrm>
            <a:off x="73152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Every role file reviewed by two people, matching Appendix B or a recorded decision</a:t>
            </a:r>
            <a:endParaRPr lang="en-US" sz="1500" dirty="0"/>
          </a:p>
          <a:p>
            <a:pPr marL="342900" indent="-342900">
              <a:spcAft>
                <a:spcPts val="400"/>
              </a:spcAft>
              <a:buSzPct val="100000"/>
              <a:buChar char="•"/>
            </a:pPr>
            <a:r>
              <a:rPr lang="en-US" sz="1500" dirty="0">
                <a:solidFill>
                  <a:srgbClr val="334155"/>
                </a:solidFill>
              </a:rPr>
              <a:t>pim-bindings.json names every alias and PRV group; no approver group is eligible for the role it approves</a:t>
            </a:r>
            <a:endParaRPr lang="en-US" sz="1500" dirty="0"/>
          </a:p>
          <a:p>
            <a:pPr marL="342900" indent="-342900">
              <a:spcAft>
                <a:spcPts val="400"/>
              </a:spcAft>
              <a:buSzPct val="100000"/>
              <a:buChar char="•"/>
            </a:pPr>
            <a:r>
              <a:rPr lang="en-US" sz="1500" dirty="0">
                <a:solidFill>
                  <a:srgbClr val="334155"/>
                </a:solidFill>
              </a:rPr>
              <a:t>Chapter 02's check shows no Finding, and PA-PIM-02 is clear</a:t>
            </a:r>
            <a:endParaRPr lang="en-US" sz="1500" dirty="0"/>
          </a:p>
          <a:p>
            <a:pPr marL="342900" indent="-342900">
              <a:spcAft>
                <a:spcPts val="400"/>
              </a:spcAft>
              <a:buSzPct val="100000"/>
              <a:buChar char="•"/>
            </a:pPr>
            <a:r>
              <a:rPr lang="en-US" sz="1500" dirty="0">
                <a:solidFill>
                  <a:srgbClr val="334155"/>
                </a:solidFill>
              </a:rPr>
              <a:t>PIM-Activation-c1 On before any run with -ActivationGateChecked</a:t>
            </a:r>
            <a:endParaRPr lang="en-US" sz="1500" dirty="0"/>
          </a:p>
        </p:txBody>
      </p:sp>
      <p:sp>
        <p:nvSpPr>
          <p:cNvPr id="8" name="Panel The runs and the evidence">
            <a:extLst>
              <a:ext uri="{C183D7F6-B498-43B3-948B-1728B52AA6E4}">
                <adec:decorative xmlns:adec="http://schemas.microsoft.com/office/drawing/2017/decorative" val="1"/>
              </a:ext>
            </a:extLst>
          </p:cNvPr>
          <p:cNvSpPr/>
          <p:nvPr/>
        </p:nvSpPr>
        <p:spPr>
          <a:xfrm>
            <a:off x="6240780" y="1325880"/>
            <a:ext cx="5417820" cy="3163824"/>
          </a:xfrm>
          <a:prstGeom prst="roundRect">
            <a:avLst>
              <a:gd name="adj" fmla="val 231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runs and the evidenc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RUNS AND THE EVIDENCE</a:t>
            </a:r>
            <a:endParaRPr lang="en-US" sz="1100" dirty="0"/>
          </a:p>
        </p:txBody>
      </p:sp>
      <p:sp>
        <p:nvSpPr>
          <p:cNvPr id="10" name="Panel The runs and the evidence list"/>
          <p:cNvSpPr txBox="1"/>
          <p:nvPr/>
        </p:nvSpPr>
        <p:spPr>
          <a:xfrm>
            <a:off x="642366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Reader holds the three pim-plan permissions; writer the pim-apply writes; only the conversion run holds RoleAssignmentSchedule.ReadWrite.Directory</a:t>
            </a:r>
            <a:endParaRPr lang="en-US" sz="1500" dirty="0"/>
          </a:p>
          <a:p>
            <a:pPr marL="342900" indent="-342900">
              <a:spcAft>
                <a:spcPts val="400"/>
              </a:spcAft>
              <a:buSzPct val="100000"/>
              <a:buChar char="•"/>
            </a:pPr>
            <a:r>
              <a:rPr lang="en-US" sz="1500" dirty="0">
                <a:solidFill>
                  <a:srgbClr val="334155"/>
                </a:solidFill>
              </a:rPr>
              <a:t>Every apply followed a reviewed dry run, and its verify.csv is empty</a:t>
            </a:r>
            <a:endParaRPr lang="en-US" sz="1500" dirty="0"/>
          </a:p>
          <a:p>
            <a:pPr marL="342900" indent="-342900">
              <a:spcAft>
                <a:spcPts val="400"/>
              </a:spcAft>
              <a:buSzPct val="100000"/>
              <a:buChar char="•"/>
            </a:pPr>
            <a:r>
              <a:rPr lang="en-US" sz="1500" dirty="0">
                <a:solidFill>
                  <a:srgbClr val="334155"/>
                </a:solidFill>
              </a:rPr>
              <a:t>Every removal has a confirmed activation and a ticket</a:t>
            </a:r>
            <a:endParaRPr lang="en-US" sz="1500" dirty="0"/>
          </a:p>
          <a:p>
            <a:pPr marL="342900" indent="-342900">
              <a:spcAft>
                <a:spcPts val="400"/>
              </a:spcAft>
              <a:buSzPct val="100000"/>
              <a:buChar char="•"/>
            </a:pPr>
            <a:r>
              <a:rPr lang="en-US" sz="1500" dirty="0">
                <a:solidFill>
                  <a:srgbClr val="334155"/>
                </a:solidFill>
              </a:rPr>
              <a:t>Each run folder, with before.json and manifest.json, kept as evidence; the pinned Learn pages match their manifest</a:t>
            </a:r>
            <a:endParaRPr lang="en-US" sz="1500" dirty="0"/>
          </a:p>
        </p:txBody>
      </p:sp>
      <p:sp>
        <p:nvSpPr>
          <p:cNvPr id="11" name="Callout">
            <a:extLst>
              <a:ext uri="{C183D7F6-B498-43B3-948B-1728B52AA6E4}">
                <adec:decorative xmlns:adec="http://schemas.microsoft.com/office/drawing/2017/decorative" val="1"/>
              </a:ext>
            </a:extLst>
          </p:cNvPr>
          <p:cNvSpPr/>
          <p:nvPr/>
        </p:nvSpPr>
        <p:spPr>
          <a:xfrm>
            <a:off x="548640" y="4672584"/>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4745736"/>
            <a:ext cx="606552" cy="60655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891308"/>
            <a:ext cx="315407" cy="315407"/>
          </a:xfrm>
          <a:prstGeom prst="rect">
            <a:avLst/>
          </a:prstGeom>
        </p:spPr>
      </p:pic>
      <p:sp>
        <p:nvSpPr>
          <p:cNvPr id="14" name="Callout text"/>
          <p:cNvSpPr txBox="1"/>
          <p:nvPr/>
        </p:nvSpPr>
        <p:spPr>
          <a:xfrm>
            <a:off x="1600200" y="4727448"/>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Next: </a:t>
            </a:r>
            <a:r>
              <a:rPr lang="en-US" sz="1750" dirty="0">
                <a:solidFill>
                  <a:srgbClr val="334155"/>
                </a:solidFill>
              </a:rPr>
              <a:t>Chapter 05 builds PIM for Groups and the PRV groups that hold these roles' eligibility.</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04, “Checklist”; “Continue the 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103BDC78-AE9D-89AA-E6A3-5F9189B8B92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4CED5FD-5D6A-4E44-9AC9-AED031AA99B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660"/>
    </mc:Choice>
    <mc:Fallback>
      <p:transition spd="slow" advTm="38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65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14272</Words>
  <Application>Microsoft Office PowerPoint</Application>
  <PresentationFormat>Widescreen</PresentationFormat>
  <Paragraphs>426</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04: PIM for Microsoft Entra Roles as Code</vt:lpstr>
      <vt:lpstr>Why role settings become code, in a fixed order</vt:lpstr>
      <vt:lpstr>Which cloud: Graph v1.0 on the worldwide host</vt:lpstr>
      <vt:lpstr>Settings are per role, and Graph calls them rules</vt:lpstr>
      <vt:lpstr>The authentication context: its policy, then PIM</vt:lpstr>
      <vt:lpstr>Learn's two samples, pinned and sent to a fake</vt:lpstr>
      <vt:lpstr>What the rules sample leaves to you</vt:lpstr>
      <vt:lpstr>What the tutorial leaves to you, and the verdict</vt:lpstr>
      <vt:lpstr>The code: one reviewed file per role, inside bounds</vt:lpstr>
      <vt:lpstr>The checks: PA-PIM-01 to PA-PIM-09</vt:lpstr>
      <vt:lpstr>The calls, and a permission for each task</vt:lpstr>
      <vt:lpstr>The diff, the plan, the read-back, the conversion</vt:lpstr>
      <vt:lpstr>Who builds it, who owns it, who reviews it</vt:lpstr>
      <vt:lpstr>Lab 1: Learn's samples, permissions, a dry run</vt:lpstr>
      <vt:lpstr>Lab 1: reading the diff, the block and the apply</vt:lpstr>
      <vt:lpstr>Lab 2: one role in a test tenant, then back out</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Privileged Access, Chapter 04 — PIM for Microsoft Entra Roles as Code</dc:title>
  <dc:subject>PptxGenJS Presentation</dc:subject>
  <dc:creator>Michael F. Stratton</dc:creator>
  <cp:lastModifiedBy>Michael F. Stratton</cp:lastModifiedBy>
  <cp:revision>2</cp:revision>
  <dcterms:created xsi:type="dcterms:W3CDTF">2026-10-31T14:33:55Z</dcterms:created>
  <dcterms:modified xsi:type="dcterms:W3CDTF">2026-10-31T16:19:06Z</dcterms:modified>
</cp:coreProperties>
</file>