
<file path=[Content_Types].xml><?xml version="1.0" encoding="utf-8"?>
<Types xmlns="http://schemas.openxmlformats.org/package/2006/content-types">
  <Default Extension="mp3" ContentType="audio/mpeg"/>
  <Default Extension="png" ContentType="image/png"/>
  <Default Extension="rels" ContentType="application/vnd.openxmlformats-package.relationships+xml"/>
  <Default Extension="xml" ContentType="application/xml"/>
  <Default Extension="vtt" ContentType="text/vtt"/>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7"/>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Why physics" id="{74BDA0A3-11D0-6198-125E-744C357D7DF5}">
          <p14:sldIdLst>
            <p14:sldId id="256"/>
            <p14:sldId id="257"/>
            <p14:sldId id="258"/>
          </p14:sldIdLst>
        </p14:section>
        <p14:section name="What changes" id="{4CF4F91A-D1F6-FE91-74DF-A00B7385528C}">
          <p14:sldIdLst>
            <p14:sldId id="259"/>
            <p14:sldId id="260"/>
            <p14:sldId id="261"/>
            <p14:sldId id="262"/>
            <p14:sldId id="263"/>
            <p14:sldId id="264"/>
          </p14:sldIdLst>
        </p14:section>
        <p14:section name="Who owns it" id="{516C87B9-0FC2-40D8-F3C4-43B9830E1872}">
          <p14:sldIdLst>
            <p14:sldId id="265"/>
          </p14:sldIdLst>
        </p14:section>
        <p14:section name="How to do it" id="{713AF59D-CDF7-2EDE-7AA2-EBEEBBB73DA8}">
          <p14:sldIdLst>
            <p14:sldId id="266"/>
            <p14:sldId id="267"/>
            <p14:sldId id="268"/>
            <p14:sldId id="269"/>
            <p14:sldId id="270"/>
          </p14:sldIdLst>
        </p14:section>
        <p14:section name="Backup" id="{36763776-8F78-6903-4D65-C52CC9C39AA2}">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176100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[0:00–0:31]  This briefing comes from Book 09 of the Federal Modernization Workbook, Network and Transport: how to move branch traffic off the long hairpin without turning a latency gain into a compliance loss.
I'll take four questions: why physics decides the architecture, what has to change, who owns the network, and how to get there.
The short version: no product shortens a fiber path, so buy transport on physics, and govern it as compliance.
Workbook: Book 09, index; Chapter 01 — Why Physics Decides the Architecture.</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[0:31–1:38]  Why does physics decide the architecture? Because part of every delay on a wide-area path is the time light takes to travel through glass. ITU-T G.114 plans on 5 microseconds per kilometer of fiber, about one millisecond for every 200 kilometers, one way. New York to London has a round-trip floor of 56 milliseconds before any equipment touches a packet. Optimization works on the gap above that floor, never on the floor.
G.114's 150 milliseconds is often quoted as the network's voice budget. It isn't. It's mouth to ear, and the terminals take 50 to 80 milliseconds of it, which leaves the network roughly 70 to 100. On the book's worked arithmetic, a Seattle office hairpinning through northern Virginia spends about 60 milliseconds one way on the detour: most of the allowance.
A synchronous commit pays a round trip every time, and no bandwidth changes that. So the answer is to need less global synchronization, not faster synchronization.
Workbook: Book 09, Chapter 01 — Why Physics Decides the Architecture.</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[1:38–2:39]  Chapter 02 pulls apart two decisions that programs keep merging. Choosing a pipe, whether fiber, MPLS, low earth orbit, 5G or direct internet access, is a physics decision. Choosing what governs the pipe is a compliance decision.
Direct internet access solves one problem, the geographic hairpin. It satisfies none of the protection controls: boundary protection, flow enforcement, transmission confidentiality, malware inspection and monitoring all come from the control layer. Transport closes exactly one control family, telecommunications diversity. So a branch moved from a governed hairpin to bare local breakout is a compliance regression with better latency.
And the governor is itself attack surface. BOD 26-02 targets end-of-support edge devices on the agency boundary. On February 25, 2026, Emergency Directive 26-03 ordered action on Cisco SD-WAN systems after actors were found compromising them and keeping long-term persistence. Protect the controller and every edge before they carry traffic.
Workbook: Book 09, Chapter 02 — Transport Is Physics, Control Is Compliance; Chapter 03 (BOD 26-02 dates).</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[2:39–3:42]  What does federal policy actually require? Read from the documents, TIC 3.0 is descriptive, not prescriptive. There are four use cases, Traditional, Branch Office, Remote User and Cloud, and no SASE use case. The Security Capabilities Catalog, version 3.3, sets goals, not methods. Two statements constrain a branch: policy enforcement parity on every path, and preserving CISA's visibility as branches connect directly.
OMB M-26-14 rescinded M-21-31 on May 22, 2026. Logs must be searchable for six months and retrievable for a year, and must show source and destination addresses, ports and session attributes. The first agency logging plan is due November 18, 2026.
When branches leave MTIPS, the sensor telemetry CISA received stops. The replacement is CLAW, CISA's Comprehensive Log Aggregation Warehouse, and onboarding needs the agency, CISA and the provider together. Keep MTIPS until CISA confirms parity.
Technology-neutral isn't requirement-free: four binding obligations still land on branch equipment.
Workbook: Book 09, Chapter 03 — What TIC 3.0 and Federal Policy Actually Require.</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[3:42–4:49]  Chapter 04 separates two meanings of centralize. Logical centralization, one authoritative source of truth with every other copy derived, is almost always right. Physical centralization, one server in one place, stops at three walls: the speed of light, blast radius and data residency.
Token-based security removes the strongest old reason to fragment. When every request carries a verifiable identity, one store can serve many trust domains. Inbound, a multitenant service checks each Entra token's tenant ID against the tenant the data was stored under. Outbound, the service signs in to its database with a short-lived token in the password field, valid 5 to 60 minutes, so the long-lived database password disappears. The price is that isolation lives in code.
Then choose the weakest consistency each flow tolerates. Azure Cosmos DB, as one documented example, puts multi-region strong write latency at twice the farthest round trip plus 10 milliseconds, and blocks strong consistency beyond 8,000 kilometers by default.
Workbook: Book 09, Chapter 04 — Logical Centralization and Token-Based Security.</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[4:49–5:54]  SD-WAN is the governor's first layer. It splits traffic into a lean class, consensus, voice and sign-in, and a bulk class, backups, patches and re-syncs, and keeps bulk transfers from queuing ahead of latency-critical packets. It recovers route inflation: Microsoft measured a median 78 milliseconds from UK South to East US, against a fiber floor of about 62. And it tightens the tail with forward error correction, packet duplication and fast failover. It reaches the floor; it never goes below it.
SASE sits above it: secure web gateway, CASB, firewall and zero trust network access. CISA lists SD-WAN among SASE's networking tools, but mandates neither, and SD-WAN alone doesn't close the boundary, flow and malware controls.
Two cautions. The enforcement point has a location, so a distant point of presence is a hairpin with a different name. And FedRAMP status differs by offering, not by vendor, so read the Marketplace when the requirement is written.
Workbook: Book 09, Chapter 05 — SD-WAN, SASE and Governed-Path Transport.</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[5:54–7:01]  Re-routing a branch breaks things for a short list of reasons, so design around the list. Proxies reap idle connections, TLS inspection breaks pinned certificates and channel-bound authentication, and a change in the client's apparent source address resets established connections. A path change doesn't break TCP sequence numbers. Address continuity is the property that matters.
Kerberos tolerates NAT under Windows defaults: the domain controller doesn't put client addresses in tickets or check them. And there's no five-millisecond requirement; the five is minutes of allowed clock skew. What genuinely needs a reachable domain controller is short: initial logon, service tickets for on-premises services, Group Policy, password change and hybrid join. Leave that path out and everything works except signing in, while Kerberos quietly falls back to NTLM.
Round trips dominate chatty applications. In the book's illustrative arithmetic, a better branch path saves 17 to 25 percent; cutting 30 sequential round trips to three saves about an order of magnitude.
Workbook: Book 09, Chapter 06 — Legacy Protocols on Re-Routed Paths.</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[7:01–8:06]  Every token in this book assumes the device on the wire is the device it claims to be. 802.1X turns that assumption into a proof at the switch port. Use EAP-TLS, mutual certificate authentication, for every managed device. Password methods are failing on their own: Credential Guard blocks PEAP-MSCHAPv2 single sign-on, and the October 2026 Windows update restricts NTLMv1-derived credentials too.
The RADIUS server is usually the last piece of the network standing on Active Directory. Windows NPS authorizes against AD computer objects, and Entra joined devices don't support that. There's no Entra RADIUS product; the NPS extension adds MFA, but NPS still authenticates against AD. And NPS has no posture engine: Network Access Protection was deprecated back in Windows Server 2012 R2.
So posture comes from Intune's compliance retrieval service, read by a NAC platform, and each device lands in production, remediation, quarantine, guest or IoT. After the Blast-RADIUS attack, require Message-Authenticator everywhere.
Workbook: Book 09, Chapter 07 — Network Access Control: 802.1X and RADIUS.</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[8:06–9:08]  Chapter 08 puts the pieces together with one rule: align each flow's consistency class with its transport class. Only authoritative writes and in-region quorum ride the lean path, and neither crosses a region synchronously.
At the branch, four patterns cover practice. A, the hairpin: assessed, but every flow pays the detour. B, bare local breakout: not an option in the TIC use case at all. C, governed local breakout, an SD-WAN edge plus a nearby SASE point of presence: the reference pattern. D, agent-delivered SASE, for small and roaming sites, if the point of presence is close and agentless devices are covered.
Five decisions carry most of the risk: one writer per region; a written path policy, which SC-7(4) already asks for; the boundary change before cutover; the governor protected before it carries traffic; and the path made evidence. Each fails quietly, so each comes with a check.
Workbook: Book 09, Chapter 08 — Reference Architecture: Consistency Classes Meet Network Classes.</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[9:08–10:11]  Who owns it? The most expensive mistakes in this book are ownership gaps: a circuit bought before anyone owned the governor, a cutover before anyone filed the boundary change, a telemetry contract cancelled before its replacement was confirmed. So the rule is one decider per row.
The sponsor and CIO decide the governor platforms and the order of branch waves. The authorizing official decides the boundary change, the SC-7(4) exception and every standing exception. The CISO sets the control requirements and owns confirming CISA telemetry parity.
The system owner decides, site by site, whether the governor is live and logging before traffic moves. Security architecture decides TIC conformance and writes target attributes into every refresh. And under the Federal Acquisition Regulation only a contracting officer can enter into or terminate a contract, so no engineer can cancel a circuit.
Network engineering and security operations do the work.
Workbook: Book 09, Chapter 09 — Who Owns the Network and Its Transport.</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[10:11–11:13]  How do you get there when the target is years away? Make the case by elimination. The legacy telecom contracts had all ended by May 31, 2026. The hairpin is still permitted, but CISA's own guidebook says it raised the cost of using cloud services. A new access point is a capital commitment, VPN backhaul is a hairpin, and Microsoft no longer recommends ExpressRoute for Microsoft 365. What's left is local breakout, a cloud security stack and a branch-edge policy layer.
Meanwhile three deadlines compete for the same staff: the M-26-14 logging plan, the M-26-15 post-quantum plan and BOD 26-04.
BOD 26-02 is the fork. End-of-support edge devices must be off agency networks by about August 5, 2027, so a refresh happens anyway. Tell whoever scopes it, in writing, what the target needs. Like-for-like spends the same money and closes the question for the life of the equipment.
Workbook: Book 09, Chapter 10 — The Long Interim.</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[11:13–12:15]  Chapter 11 is a worked case: a large field-office estate, about 1,500 offices and 70,000 endpoints, asked to fund a 50-million-dollar refresh of a Configuration Manager distribution point in every office.
Microsoft's published limit is 4,000 clients per distribution point. On capacity, the estate needs 24, two at each of 12 hubs, for 96,000 clients. The other 1,476 exist only to compensate for slow branch circuits. So fix the circuit: dedicated internet access sized to seats, a 5G continuity path, and an SD-WAN overlay.
On the book's planning assumptions, the network program needs about 10 million dollars of first-year capital and reaches a positive cumulative position in year four. But the financial case turns on one number. Breakeven is 873 dollars of current MPLS cost per office per month; below that, argue capability, not savings.
And no office's MPLS is retired until its replacement telemetry is confirmed.
Workbook: Book 09, Chapter 11 — Field Office WAN Transformation.</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[12:15–13:19]  Microsoft says to send its Optimize traffic straight to Microsoft, without TLS inspection. The boundary says inspect everything. Both positions hold up, so the gap is a decision someone signs.
Optimize is small: three endpoint sets, for Exchange Online, SharePoint and OneDrive, and Teams media, which has no names and must be steered by IP prefix. Exempting only Optimize is narrower than Microsoft asks, and it leaves sign-in on the inspected path.
Name what the bypass punctures: SI-3, SI-4(10) where it's selected, AC-4 and AU-3. SC-8 is not a gap. The vehicle is SC-7(4): each exception documented with its mission need and duration, and reviewed.
The assessor's attack is tenant-to-tenant exfiltration. Only Windows device-side tenant restrictions v2 reaches the SharePoint and Exchange data plane, so it's a precondition to cutover. Three instruments carry the decision: the authorizing official's memo, the system owner's site register and the architecture review board's determination.
Workbook: Book 09, Chapter 12 — Microsoft 365 Traffic and the Optimize Inspection Exemption; Appendix A.</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[13:19–14:23]  Order decides whether modernization is a gain or a regression. Step zero: bring the governor under vulnerability management, privileged access and logging. Then buy the pipe on measured physics, deploy the governor before production traffic, decide the boundary change before the first cutover, handle Microsoft 365 through its own exception, and register the evidence, confirming CISA telemetry parity before any legacy circuit ends. No memo mandates that order; it's an engineering dependency.
Phase inversion is what happens when cloud migration runs ahead of transport. With no transport metrics, slowness is attributed to the cloud, the remedies raise cloud spend, and the cause never enters the data. The book labels that an inference built on documented parts, and names better-evidenced competitors.
So measure in your own estate. A paired-branch study, two comparable branches instrumented for 30 days before and after a change at one, gives an effect size a budget examiner will accept.
Workbook: Book 09, Chapter 13 — Sequencing, Cost and Evidence.</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[14:23–15:24]  So, four decisions.
Adopt the sequence as policy: the governor secured and live before traffic, the boundary change decided before cutover, and CISA telemetry parity confirmed before any MTIPS or MPLS circuit ends.
Put the target attributes in writing for every BOD 26-02 replacement, before the August 2027 deadline spends the money like for like.
Decide the Microsoft 365 Optimize exception with tenant restrictions v2 from the device as a precondition.
And name one decider per row, from the authorizing official to the contracting officer.
The next step needs no award: write the application-to-path policy that SC-7(4) already asks for, and instrument a sample of branches before the next migration wave, because that baseline can't be rebuilt afterward.
Buy transport on physics and govern it as compliance, and the branch gets faster without getting weaker. Book 09 has the detail, every claim footnoted. Thank you.
Workbook: Book 09, Chapters 02, 09, 10, 12 and 13; Appendices A and B.</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731520" y="1463040"/>
            <a:ext cx="6217920" cy="1920240"/>
          </a:xfrm>
          <a:prstGeom prst="rect">
            <a:avLst/>
          </a:prstGeom>
          <a:noFill/>
          <a:ln/>
        </p:spPr>
        <p:txBody>
          <a:bodyPr wrap="square" rtlCol="0"/>
          <a:lstStyle>
            <a:lvl1pPr marL="0" indent="0" algn="l">
              <a:buNone/>
              <a:defRPr lang="en-US" sz="4400" b="1" dirty="0">
                <a:solidFill>
                  <a:schemeClr val="tx1"/>
                </a:solidFill>
                <a:latin typeface="Cambria" pitchFamily="34" charset="0"/>
                <a:ea typeface="Cambria" pitchFamily="34" charset="-122"/>
                <a:cs typeface="Cambria" pitchFamily="34" charset="-120"/>
              </a:defRPr>
            </a:lvl1pPr>
          </a:lstStyle>
          <a:p>
            <a:pPr marL="0" indent="0" algn="l">
              <a:buNone/>
            </a:pPr>
            <a:endParaRPr lang="en-US" sz="4400" dirty="0"/>
          </a:p>
        </p:txBody>
      </p:sp>
      <p:sp>
        <p:nvSpPr>
          <p:cNvPr id="3" name="Text 0"/>
          <p:cNvSpPr>
            <a:spLocks noGrp="1"/>
          </p:cNvSpPr>
          <p:nvPr>
            <p:ph type="body" idx="101" hasCustomPrompt="1"/>
          </p:nvPr>
        </p:nvSpPr>
        <p:spPr>
          <a:xfrm>
            <a:off x="731520" y="3520440"/>
            <a:ext cx="6035040" cy="822960"/>
          </a:xfrm>
          <a:prstGeom prst="rect">
            <a:avLst/>
          </a:prstGeom>
          <a:noFill/>
          <a:ln/>
        </p:spPr>
        <p:txBody>
          <a:bodyPr wrap="square" rtlCol="0"/>
          <a:lstStyle>
            <a:lvl1pPr marL="0" indent="0">
              <a:buNone/>
              <a:defRPr lang="en-US" sz="2200" dirty="0">
                <a:solidFill>
                  <a:schemeClr val="accent2"/>
                </a:solidFill>
              </a:defRPr>
            </a:lvl1pPr>
          </a:lstStyle>
          <a:p>
            <a:pPr marL="0" indent="0">
              <a:buNone/>
            </a:pPr>
            <a:endParaRPr lang="en-US" sz="22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rtlCol="0"/>
          <a:lstStyle>
            <a:lvl1pPr marL="0" indent="0" algn="ctr">
              <a:buNone/>
              <a:defRPr lang="en-US" sz="3000" b="1" dirty="0">
                <a:solidFill>
                  <a:schemeClr val="tx1"/>
                </a:solidFill>
                <a:latin typeface="Cambria" pitchFamily="34" charset="0"/>
                <a:ea typeface="Cambria" pitchFamily="34" charset="-122"/>
                <a:cs typeface="Cambria" pitchFamily="34" charset="-120"/>
              </a:defRPr>
            </a:lvl1pPr>
          </a:lstStyle>
          <a:p>
            <a:pPr marL="0" indent="0" algn="ctr">
              <a:buNone/>
            </a:pPr>
            <a:endParaRPr lang="en-US" sz="3000" dirty="0"/>
          </a:p>
        </p:txBody>
      </p:sp>
      <p:sp>
        <p:nvSpPr>
          <p:cNvPr id="3" name="Text 0"/>
          <p:cNvSpPr/>
          <p:nvPr/>
        </p:nvSpPr>
        <p:spPr>
          <a:xfrm>
            <a:off x="548640" y="6400800"/>
            <a:ext cx="8229600" cy="274320"/>
          </a:xfrm>
          <a:prstGeom prst="rect">
            <a:avLst/>
          </a:prstGeom>
          <a:noFill/>
          <a:ln/>
        </p:spPr>
        <p:txBody>
          <a:bodyPr wrap="square" lIns="0" tIns="0" rIns="0" bIns="0" rtlCol="0" anchor="ctr"/>
          <a:lstStyle/>
          <a:p>
            <a:pPr marL="0" indent="0">
              <a:buNone/>
            </a:pPr>
            <a:r>
              <a:rPr lang="en-US" sz="1000" dirty="0">
                <a:solidFill>
                  <a:schemeClr val="accent5"/>
                </a:solidFill>
              </a:rPr>
              <a:t>Federal Modernization Workbook  ·  Book 09 Network &amp; Transport</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audio" Target="../media/media1.mp3"/><Relationship Id="rId1" Type="http://schemas.microsoft.com/office/2007/relationships/media" Target="../media/media1.mp3"/><Relationship Id="rId5" Type="http://schemas.openxmlformats.org/officeDocument/2006/relationships/image" Target="../media/image3.png"/><Relationship Id="rId4" Type="http://schemas.openxmlformats.org/officeDocument/2006/relationships/notesSlide" Target="../notesSlides/notesSlide1.xml"/><Relationship Id="rId6" Type="http://schemas.microsoft.com/office/2017/04/relationships/track" Target="../media/captions_slide01.vtt"/></Relationships>
</file>

<file path=ppt/slides/_rels/slide2.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image" Target="../media/image3.png"/><Relationship Id="rId2" Type="http://schemas.openxmlformats.org/officeDocument/2006/relationships/audio" Target="../media/media2.mp3"/><Relationship Id="rId1" Type="http://schemas.microsoft.com/office/2007/relationships/media" Target="../media/media2.mp3"/><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notesSlide" Target="../notesSlides/notesSlide2.xml"/><Relationship Id="rId8" Type="http://schemas.microsoft.com/office/2017/04/relationships/track" Target="../media/captions_slide02.vtt"/></Relationships>
</file>

<file path=ppt/slides/_rels/slide3.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image" Target="../media/image3.png"/><Relationship Id="rId2" Type="http://schemas.openxmlformats.org/officeDocument/2006/relationships/audio" Target="../media/media3.mp3"/><Relationship Id="rId1" Type="http://schemas.microsoft.com/office/2007/relationships/media" Target="../media/media3.mp3"/><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notesSlide" Target="../notesSlides/notesSlide3.xml"/><Relationship Id="rId8" Type="http://schemas.microsoft.com/office/2017/04/relationships/track" Target="../media/captions_slide03.vtt"/></Relationships>
</file>

<file path=ppt/slides/_rels/slide4.xml.rels><?xml version='1.0' encoding='UTF-8' standalone='yes'?>
<Relationships xmlns="http://schemas.openxmlformats.org/package/2006/relationships"><Relationship Id="rId8" Type="http://schemas.openxmlformats.org/officeDocument/2006/relationships/image" Target="../media/image11.png"/><Relationship Id="rId3" Type="http://schemas.openxmlformats.org/officeDocument/2006/relationships/slideLayout" Target="../slideLayouts/slideLayout3.xml"/><Relationship Id="rId7" Type="http://schemas.openxmlformats.org/officeDocument/2006/relationships/image" Target="../media/image10.png"/><Relationship Id="rId2" Type="http://schemas.openxmlformats.org/officeDocument/2006/relationships/audio" Target="../media/media4.mp3"/><Relationship Id="rId1" Type="http://schemas.microsoft.com/office/2007/relationships/media" Target="../media/media4.mp3"/><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notesSlide" Target="../notesSlides/notesSlide4.xml"/><Relationship Id="rId9" Type="http://schemas.openxmlformats.org/officeDocument/2006/relationships/image" Target="../media/image3.png"/><Relationship Id="rId10" Type="http://schemas.microsoft.com/office/2017/04/relationships/track" Target="../media/captions_slide04.vtt"/></Relationships>
</file>

<file path=ppt/slides/_rels/slide5.xml.rels><?xml version='1.0' encoding='UTF-8' standalone='yes'?>
<Relationships xmlns="http://schemas.openxmlformats.org/package/2006/relationships"><Relationship Id="rId8" Type="http://schemas.openxmlformats.org/officeDocument/2006/relationships/image" Target="../media/image6.png"/><Relationship Id="rId3" Type="http://schemas.openxmlformats.org/officeDocument/2006/relationships/slideLayout" Target="../slideLayouts/slideLayout3.xml"/><Relationship Id="rId7" Type="http://schemas.openxmlformats.org/officeDocument/2006/relationships/image" Target="../media/image5.png"/><Relationship Id="rId2" Type="http://schemas.openxmlformats.org/officeDocument/2006/relationships/audio" Target="../media/media5.mp3"/><Relationship Id="rId1" Type="http://schemas.microsoft.com/office/2007/relationships/media" Target="../media/media5.mp3"/><Relationship Id="rId6" Type="http://schemas.openxmlformats.org/officeDocument/2006/relationships/image" Target="../media/image13.png"/><Relationship Id="rId5" Type="http://schemas.openxmlformats.org/officeDocument/2006/relationships/image" Target="../media/image12.png"/><Relationship Id="rId4" Type="http://schemas.openxmlformats.org/officeDocument/2006/relationships/notesSlide" Target="../notesSlides/notesSlide5.xml"/><Relationship Id="rId9" Type="http://schemas.openxmlformats.org/officeDocument/2006/relationships/image" Target="../media/image3.png"/><Relationship Id="rId10" Type="http://schemas.microsoft.com/office/2017/04/relationships/track" Target="../media/captions_slide05.vtt"/></Relationships>
</file>

<file path=ppt/slides/_rels/slide6.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image" Target="../media/image3.png"/><Relationship Id="rId2" Type="http://schemas.openxmlformats.org/officeDocument/2006/relationships/audio" Target="../media/media6.mp3"/><Relationship Id="rId1" Type="http://schemas.microsoft.com/office/2007/relationships/media" Target="../media/media6.mp3"/><Relationship Id="rId6" Type="http://schemas.openxmlformats.org/officeDocument/2006/relationships/image" Target="../media/image11.png"/><Relationship Id="rId5" Type="http://schemas.openxmlformats.org/officeDocument/2006/relationships/image" Target="../media/image14.png"/><Relationship Id="rId4" Type="http://schemas.openxmlformats.org/officeDocument/2006/relationships/notesSlide" Target="../notesSlides/notesSlide6.xml"/><Relationship Id="rId8" Type="http://schemas.microsoft.com/office/2017/04/relationships/track" Target="../media/captions_slide06.vtt"/></Relationships>
</file>

<file path=ppt/slides/_rels/slide7.xml.rels><?xml version='1.0' encoding='UTF-8' standalone='yes'?>
<Relationships xmlns="http://schemas.openxmlformats.org/package/2006/relationships"><Relationship Id="rId8" Type="http://schemas.openxmlformats.org/officeDocument/2006/relationships/image" Target="../media/image18.png"/><Relationship Id="rId3" Type="http://schemas.openxmlformats.org/officeDocument/2006/relationships/slideLayout" Target="../slideLayouts/slideLayout3.xml"/><Relationship Id="rId7" Type="http://schemas.openxmlformats.org/officeDocument/2006/relationships/image" Target="../media/image17.png"/><Relationship Id="rId2" Type="http://schemas.openxmlformats.org/officeDocument/2006/relationships/audio" Target="../media/media7.mp3"/><Relationship Id="rId1" Type="http://schemas.microsoft.com/office/2007/relationships/media" Target="../media/media7.mp3"/><Relationship Id="rId6" Type="http://schemas.openxmlformats.org/officeDocument/2006/relationships/image" Target="../media/image16.png"/><Relationship Id="rId5" Type="http://schemas.openxmlformats.org/officeDocument/2006/relationships/image" Target="../media/image15.png"/><Relationship Id="rId4" Type="http://schemas.openxmlformats.org/officeDocument/2006/relationships/notesSlide" Target="../notesSlides/notesSlide7.xml"/><Relationship Id="rId9" Type="http://schemas.openxmlformats.org/officeDocument/2006/relationships/image" Target="../media/image3.png"/><Relationship Id="rId10" Type="http://schemas.microsoft.com/office/2017/04/relationships/track" Target="../media/captions_slide07.vtt"/></Relationships>
</file>

<file path=ppt/slides/_rels/slide8.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image" Target="../media/image3.png"/><Relationship Id="rId2" Type="http://schemas.openxmlformats.org/officeDocument/2006/relationships/audio" Target="../media/media8.mp3"/><Relationship Id="rId1" Type="http://schemas.microsoft.com/office/2007/relationships/media" Target="../media/media8.mp3"/><Relationship Id="rId6" Type="http://schemas.openxmlformats.org/officeDocument/2006/relationships/image" Target="../media/image19.png"/><Relationship Id="rId5" Type="http://schemas.openxmlformats.org/officeDocument/2006/relationships/image" Target="../media/image15.png"/><Relationship Id="rId4" Type="http://schemas.openxmlformats.org/officeDocument/2006/relationships/notesSlide" Target="../notesSlides/notesSlide8.xml"/><Relationship Id="rId8" Type="http://schemas.microsoft.com/office/2017/04/relationships/track" Target="../media/captions_slide08.vtt"/></Relationships>
</file>

<file path=ppt/slides/_rels/slide9.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audio" Target="../media/media9.mp3"/><Relationship Id="rId1" Type="http://schemas.microsoft.com/office/2007/relationships/media" Target="../media/media9.mp3"/><Relationship Id="rId6" Type="http://schemas.openxmlformats.org/officeDocument/2006/relationships/image" Target="../media/image3.png"/><Relationship Id="rId5" Type="http://schemas.openxmlformats.org/officeDocument/2006/relationships/image" Target="../media/image20.png"/><Relationship Id="rId4" Type="http://schemas.openxmlformats.org/officeDocument/2006/relationships/notesSlide" Target="../notesSlides/notesSlide9.xml"/><Relationship Id="rId7" Type="http://schemas.microsoft.com/office/2017/04/relationships/track" Target="../media/captions_slide09.vtt"/></Relationships>
</file>

<file path=ppt/slides/_rels/slide10.xml.rels><?xml version='1.0' encoding='UTF-8' standalone='yes'?>
<Relationships xmlns="http://schemas.openxmlformats.org/package/2006/relationships"><Relationship Id="rId8" Type="http://schemas.openxmlformats.org/officeDocument/2006/relationships/image" Target="../media/image3.png"/><Relationship Id="rId3" Type="http://schemas.openxmlformats.org/officeDocument/2006/relationships/slideLayout" Target="../slideLayouts/slideLayout3.xml"/><Relationship Id="rId7" Type="http://schemas.openxmlformats.org/officeDocument/2006/relationships/image" Target="../media/image23.png"/><Relationship Id="rId2" Type="http://schemas.openxmlformats.org/officeDocument/2006/relationships/audio" Target="../media/media10.mp3"/><Relationship Id="rId1" Type="http://schemas.microsoft.com/office/2007/relationships/media" Target="../media/media10.mp3"/><Relationship Id="rId6" Type="http://schemas.openxmlformats.org/officeDocument/2006/relationships/image" Target="../media/image22.png"/><Relationship Id="rId5" Type="http://schemas.openxmlformats.org/officeDocument/2006/relationships/image" Target="../media/image21.png"/><Relationship Id="rId4" Type="http://schemas.openxmlformats.org/officeDocument/2006/relationships/notesSlide" Target="../notesSlides/notesSlide10.xml"/><Relationship Id="rId9" Type="http://schemas.microsoft.com/office/2017/04/relationships/track" Target="../media/captions_slide10.vtt"/></Relationships>
</file>

<file path=ppt/slides/_rels/slide1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image" Target="../media/image3.png"/><Relationship Id="rId2" Type="http://schemas.openxmlformats.org/officeDocument/2006/relationships/audio" Target="../media/media11.mp3"/><Relationship Id="rId1" Type="http://schemas.microsoft.com/office/2007/relationships/media" Target="../media/media11.mp3"/><Relationship Id="rId6" Type="http://schemas.openxmlformats.org/officeDocument/2006/relationships/image" Target="../media/image25.png"/><Relationship Id="rId5" Type="http://schemas.openxmlformats.org/officeDocument/2006/relationships/image" Target="../media/image24.png"/><Relationship Id="rId4" Type="http://schemas.openxmlformats.org/officeDocument/2006/relationships/notesSlide" Target="../notesSlides/notesSlide11.xml"/><Relationship Id="rId8" Type="http://schemas.microsoft.com/office/2017/04/relationships/track" Target="../media/captions_slide11.vtt"/></Relationships>
</file>

<file path=ppt/slides/_rels/slide12.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image" Target="../media/image3.png"/><Relationship Id="rId2" Type="http://schemas.openxmlformats.org/officeDocument/2006/relationships/audio" Target="../media/media12.mp3"/><Relationship Id="rId1" Type="http://schemas.microsoft.com/office/2007/relationships/media" Target="../media/media12.mp3"/><Relationship Id="rId6" Type="http://schemas.openxmlformats.org/officeDocument/2006/relationships/image" Target="../media/image22.png"/><Relationship Id="rId5" Type="http://schemas.openxmlformats.org/officeDocument/2006/relationships/image" Target="../media/image18.png"/><Relationship Id="rId4" Type="http://schemas.openxmlformats.org/officeDocument/2006/relationships/notesSlide" Target="../notesSlides/notesSlide12.xml"/><Relationship Id="rId8" Type="http://schemas.microsoft.com/office/2017/04/relationships/track" Target="../media/captions_slide12.vtt"/></Relationships>
</file>

<file path=ppt/slides/_rels/slide13.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image" Target="../media/image3.png"/><Relationship Id="rId2" Type="http://schemas.openxmlformats.org/officeDocument/2006/relationships/audio" Target="../media/media13.mp3"/><Relationship Id="rId1" Type="http://schemas.microsoft.com/office/2007/relationships/media" Target="../media/media13.mp3"/><Relationship Id="rId6" Type="http://schemas.openxmlformats.org/officeDocument/2006/relationships/image" Target="../media/image25.png"/><Relationship Id="rId5" Type="http://schemas.openxmlformats.org/officeDocument/2006/relationships/image" Target="../media/image26.png"/><Relationship Id="rId4" Type="http://schemas.openxmlformats.org/officeDocument/2006/relationships/notesSlide" Target="../notesSlides/notesSlide13.xml"/><Relationship Id="rId8" Type="http://schemas.microsoft.com/office/2017/04/relationships/track" Target="../media/captions_slide13.vtt"/></Relationships>
</file>

<file path=ppt/slides/_rels/slide14.xml.rels><?xml version='1.0' encoding='UTF-8' standalone='yes'?>
<Relationships xmlns="http://schemas.openxmlformats.org/package/2006/relationships"><Relationship Id="rId8" Type="http://schemas.openxmlformats.org/officeDocument/2006/relationships/image" Target="../media/image3.png"/><Relationship Id="rId3" Type="http://schemas.openxmlformats.org/officeDocument/2006/relationships/slideLayout" Target="../slideLayouts/slideLayout3.xml"/><Relationship Id="rId7" Type="http://schemas.openxmlformats.org/officeDocument/2006/relationships/image" Target="../media/image6.png"/><Relationship Id="rId2" Type="http://schemas.openxmlformats.org/officeDocument/2006/relationships/audio" Target="../media/media14.mp3"/><Relationship Id="rId1" Type="http://schemas.microsoft.com/office/2007/relationships/media" Target="../media/media14.mp3"/><Relationship Id="rId6" Type="http://schemas.openxmlformats.org/officeDocument/2006/relationships/image" Target="../media/image4.png"/><Relationship Id="rId5" Type="http://schemas.openxmlformats.org/officeDocument/2006/relationships/image" Target="../media/image5.png"/><Relationship Id="rId4" Type="http://schemas.openxmlformats.org/officeDocument/2006/relationships/notesSlide" Target="../notesSlides/notesSlide14.xml"/><Relationship Id="rId9" Type="http://schemas.microsoft.com/office/2017/04/relationships/track" Target="../media/captions_slide14.vtt"/></Relationships>
</file>

<file path=ppt/slides/_rels/slide15.xml.rels><?xml version='1.0' encoding='UTF-8' standalone='yes'?>
<Relationships xmlns="http://schemas.openxmlformats.org/package/2006/relationships"><Relationship Id="rId8" Type="http://schemas.openxmlformats.org/officeDocument/2006/relationships/image" Target="../media/image27.png"/><Relationship Id="rId3" Type="http://schemas.openxmlformats.org/officeDocument/2006/relationships/slideLayout" Target="../slideLayouts/slideLayout3.xml"/><Relationship Id="rId7" Type="http://schemas.openxmlformats.org/officeDocument/2006/relationships/image" Target="../media/image26.png"/><Relationship Id="rId2" Type="http://schemas.openxmlformats.org/officeDocument/2006/relationships/audio" Target="../media/media15.mp3"/><Relationship Id="rId1" Type="http://schemas.microsoft.com/office/2007/relationships/media" Target="../media/media15.mp3"/><Relationship Id="rId6" Type="http://schemas.openxmlformats.org/officeDocument/2006/relationships/image" Target="../media/image24.png"/><Relationship Id="rId5" Type="http://schemas.openxmlformats.org/officeDocument/2006/relationships/image" Target="../media/image25.png"/><Relationship Id="rId10" Type="http://schemas.openxmlformats.org/officeDocument/2006/relationships/image" Target="../media/image3.png"/><Relationship Id="rId4" Type="http://schemas.openxmlformats.org/officeDocument/2006/relationships/notesSlide" Target="../notesSlides/notesSlide15.xml"/><Relationship Id="rId9" Type="http://schemas.openxmlformats.org/officeDocument/2006/relationships/image" Target="../media/image18.png"/><Relationship Id="rId11" Type="http://schemas.microsoft.com/office/2017/04/relationships/track" Target="../media/captions_slide15.vtt"/></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731520" y="1463040"/>
            <a:ext cx="6217920" cy="1920240"/>
          </a:xfrm>
          <a:prstGeom prst="rect">
            <a:avLst/>
          </a:prstGeom>
          <a:noFill/>
          <a:ln/>
        </p:spPr>
        <p:txBody>
          <a:bodyPr wrap="square" lIns="0" tIns="0" rIns="0" bIns="0" rtlCol="0" anchor="b"/>
          <a:lstStyle/>
          <a:p>
            <a:pPr marL="0" indent="0" algn="l">
              <a:buNone/>
            </a:pPr>
            <a:r>
              <a:rPr lang="en-US" sz="4400" b="1" dirty="0">
                <a:solidFill>
                  <a:schemeClr val="tx1"/>
                </a:solidFill>
                <a:latin typeface="Cambria" pitchFamily="34" charset="0"/>
                <a:ea typeface="Cambria" pitchFamily="34" charset="-122"/>
                <a:cs typeface="Cambria" pitchFamily="34" charset="-120"/>
              </a:rPr>
              <a:t>Why Does Physics Decide the Architecture?</a:t>
            </a:r>
            <a:endParaRPr lang="en-US" sz="4400" dirty="0"/>
          </a:p>
        </p:txBody>
      </p:sp>
      <p:sp>
        <p:nvSpPr>
          <p:cNvPr id="3" name="Text 0"/>
          <p:cNvSpPr>
            <a:spLocks noGrp="1"/>
          </p:cNvSpPr>
          <p:nvPr>
            <p:ph type="body" idx="101" hasCustomPrompt="1"/>
          </p:nvPr>
        </p:nvSpPr>
        <p:spPr>
          <a:xfrm>
            <a:off x="731520" y="3520440"/>
            <a:ext cx="6035040" cy="822960"/>
          </a:xfrm>
          <a:prstGeom prst="rect">
            <a:avLst/>
          </a:prstGeom>
          <a:noFill/>
          <a:ln/>
        </p:spPr>
        <p:txBody>
          <a:bodyPr wrap="square" lIns="0" tIns="0" rIns="0" bIns="0" rtlCol="0" anchor="t"/>
          <a:lstStyle/>
          <a:p>
            <a:pPr marL="0" indent="0">
              <a:buNone/>
            </a:pPr>
            <a:r>
              <a:rPr lang="en-US" sz="2200" dirty="0">
                <a:solidFill>
                  <a:schemeClr val="accent2"/>
                </a:solidFill>
              </a:rPr>
              <a:t>Book 09 — Network &amp; Transport</a:t>
            </a:r>
            <a:endParaRPr lang="en-US" sz="2200" dirty="0"/>
          </a:p>
        </p:txBody>
      </p:sp>
      <p:sp>
        <p:nvSpPr>
          <p:cNvPr id="4" name="Presenter"/>
          <p:cNvSpPr txBox="1"/>
          <p:nvPr/>
        </p:nvSpPr>
        <p:spPr>
          <a:xfrm>
            <a:off x="731520" y="5897880"/>
            <a:ext cx="6858000" cy="365760"/>
          </a:xfrm>
          <a:prstGeom prst="rect">
            <a:avLst/>
          </a:prstGeom>
          <a:noFill/>
          <a:ln/>
        </p:spPr>
        <p:txBody>
          <a:bodyPr wrap="square" lIns="0" tIns="0" rIns="0" bIns="0" rtlCol="0" anchor="ctr"/>
          <a:lstStyle/>
          <a:p>
            <a:pPr marL="0" indent="0">
              <a:buNone/>
            </a:pPr>
            <a:r>
              <a:rPr lang="en-US" sz="1600" dirty="0">
                <a:solidFill>
                  <a:srgbClr val="64748B"/>
                </a:solidFill>
              </a:rPr>
              <a:t>Presented by  </a:t>
            </a:r>
            <a:r>
              <a:rPr lang="en-US" sz="1600" b="1" dirty="0">
                <a:solidFill>
                  <a:srgbClr val="1F2A44"/>
                </a:solidFill>
              </a:rPr>
              <a:t>Michael F. Stratton</a:t>
            </a:r>
            <a:endParaRPr lang="en-US" sz="1600" dirty="0"/>
          </a:p>
        </p:txBody>
      </p:sp>
      <p:sp>
        <p:nvSpPr>
          <p:cNvPr id="5" name="Disclaimer"/>
          <p:cNvSpPr txBox="1"/>
          <p:nvPr/>
        </p:nvSpPr>
        <p:spPr>
          <a:xfrm>
            <a:off x="731520" y="6309360"/>
            <a:ext cx="8686800" cy="274320"/>
          </a:xfrm>
          <a:prstGeom prst="rect">
            <a:avLst/>
          </a:prstGeom>
          <a:noFill/>
          <a:ln/>
        </p:spPr>
        <p:txBody>
          <a:bodyPr wrap="square" lIns="0" tIns="0" rIns="0" bIns="0" rtlCol="0" anchor="ctr"/>
          <a:lstStyle/>
          <a:p>
            <a:pPr marL="0" indent="0">
              <a:buNone/>
            </a:pPr>
            <a:r>
              <a:rPr lang="en-US" sz="1050" dirty="0">
                <a:solidFill>
                  <a:srgbClr val="64748B"/>
                </a:solidFill>
              </a:rPr>
              <a:t>Not an official U.S. government publication. Independent technical analysis; not reviewed or endorsed by any federal agency.</a:t>
            </a:r>
            <a:endParaRPr lang="en-US" sz="1050" dirty="0"/>
          </a:p>
        </p:txBody>
      </p:sp>
      <p:sp>
        <p:nvSpPr>
          <p:cNvPr id="6" name="Agenda line"/>
          <p:cNvSpPr txBox="1"/>
          <p:nvPr/>
        </p:nvSpPr>
        <p:spPr>
          <a:xfrm>
            <a:off x="731520" y="4297680"/>
            <a:ext cx="6035040" cy="457200"/>
          </a:xfrm>
          <a:prstGeom prst="rect">
            <a:avLst/>
          </a:prstGeom>
          <a:noFill/>
          <a:ln/>
        </p:spPr>
        <p:txBody>
          <a:bodyPr wrap="square" lIns="0" tIns="0" rIns="0" bIns="0" rtlCol="0" anchor="t"/>
          <a:lstStyle/>
          <a:p>
            <a:pPr marL="0" indent="0">
              <a:buNone/>
            </a:pPr>
            <a:r>
              <a:rPr lang="en-US" sz="2000" b="1" dirty="0">
                <a:solidFill>
                  <a:srgbClr val="B91C1C"/>
                </a:solidFill>
              </a:rPr>
              <a:t>Why</a:t>
            </a:r>
            <a:r>
              <a:rPr lang="en-US" sz="2000" dirty="0">
                <a:solidFill>
                  <a:srgbClr val="64748B"/>
                </a:solidFill>
              </a:rPr>
              <a:t>   ·   </a:t>
            </a:r>
            <a:r>
              <a:rPr lang="en-US" sz="2000" b="1" dirty="0">
                <a:solidFill>
                  <a:srgbClr val="1F2A44"/>
                </a:solidFill>
              </a:rPr>
              <a:t>What</a:t>
            </a:r>
            <a:r>
              <a:rPr lang="en-US" sz="2000" dirty="0">
                <a:solidFill>
                  <a:srgbClr val="64748B"/>
                </a:solidFill>
              </a:rPr>
              <a:t>   ·   </a:t>
            </a:r>
            <a:r>
              <a:rPr lang="en-US" sz="2000" b="1" dirty="0">
                <a:solidFill>
                  <a:srgbClr val="0F766E"/>
                </a:solidFill>
              </a:rPr>
              <a:t>Who</a:t>
            </a:r>
            <a:r>
              <a:rPr lang="en-US" sz="2000" dirty="0">
                <a:solidFill>
                  <a:srgbClr val="64748B"/>
                </a:solidFill>
              </a:rPr>
              <a:t>   ·   </a:t>
            </a:r>
            <a:r>
              <a:rPr lang="en-US" sz="2000" b="1" dirty="0">
                <a:solidFill>
                  <a:srgbClr val="B45309"/>
                </a:solidFill>
              </a:rPr>
              <a:t>How</a:t>
            </a:r>
            <a:endParaRPr lang="en-US" sz="2000" dirty="0"/>
          </a:p>
        </p:txBody>
      </p:sp>
      <p:sp>
        <p:nvSpPr>
          <p:cNvPr id="7" name="Series line"/>
          <p:cNvSpPr txBox="1"/>
          <p:nvPr/>
        </p:nvSpPr>
        <p:spPr>
          <a:xfrm>
            <a:off x="731520" y="5120640"/>
            <a:ext cx="7315200" cy="731520"/>
          </a:xfrm>
          <a:prstGeom prst="rect">
            <a:avLst/>
          </a:prstGeom>
          <a:noFill/>
          <a:ln/>
        </p:spPr>
        <p:txBody>
          <a:bodyPr wrap="square" lIns="0" tIns="0" rIns="0" bIns="0" rtlCol="0" anchor="t"/>
          <a:lstStyle/>
          <a:p>
            <a:pPr marL="0" indent="0">
              <a:buNone/>
            </a:pPr>
            <a:r>
              <a:rPr lang="en-US" sz="1600" b="1" dirty="0">
                <a:solidFill>
                  <a:srgbClr val="1F2A44"/>
                </a:solidFill>
              </a:rPr>
              <a:t>Federal Modernization Workbook</a:t>
            </a:r>
            <a:endParaRPr lang="en-US" sz="1600" dirty="0"/>
          </a:p>
          <a:p>
            <a:pPr marL="0" indent="0">
              <a:buNone/>
            </a:pPr>
            <a:r>
              <a:rPr lang="en-US" sz="1600" dirty="0">
                <a:solidFill>
                  <a:srgbClr val="64748B"/>
                </a:solidFill>
              </a:rPr>
              <a:t>A 15-minute briefing on the book's argument and plan</a:t>
            </a:r>
            <a:endParaRPr lang="en-US" sz="1600" dirty="0"/>
          </a:p>
        </p:txBody>
      </p:sp>
      <p:pic>
        <p:nvPicPr>
          <p:cNvPr id="8" name="Narration" descr="Narration for this slide; captions available">
            <a:hlinkClick r:id="" action="ppaction://media"/>
            <a:extLst>
              <a:ext uri="{FF2B5EF4-FFF2-40B4-BE49-F238E27FC236}">
                <a16:creationId xmlns:a16="http://schemas.microsoft.com/office/drawing/2014/main" id="{355EEBD8-D77F-025A-7587-D592C36221ED}"/>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1B3CCB1D-4F25-401B-A4FC-60130C63B7CC}" label="English (captions)" lang="en-US" r:embed="rId6"/>
                        </p173:trackLst>
                      </p173:tracksInfo>
                    </p:ext>
                  </p14:extLst>
                </p14:media>
              </p:ext>
            </p:extLst>
          </p:nvPr>
        </p:nvPicPr>
        <p:blipFill>
          <a:blip r:embed="rId5"/>
          <a:stretch>
            <a:fillRect/>
          </a:stretch>
        </p:blipFill>
        <p:spPr>
          <a:xfrm>
            <a:off x="127000" y="6350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28220"/>
    </mc:Choice>
    <mc:Fallback>
      <p:transition spd="slow" advTm="2822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27216" fill="hold"/>
                                        <p:tgtEl>
                                          <p:spTgt spid="8"/>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Distance sets a latency floor no product moves</a:t>
            </a:r>
            <a:endParaRPr lang="en-US" sz="3000" dirty="0"/>
          </a:p>
        </p:txBody>
      </p:sp>
      <p:sp>
        <p:nvSpPr>
          <p:cNvPr id="3" name="Tag Why">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91C1C"/>
          </a:solidFill>
          <a:ln w="12700">
            <a:solidFill>
              <a:srgbClr val="B91C1C"/>
            </a:solidFill>
            <a:prstDash val="solid"/>
          </a:ln>
        </p:spPr>
      </p:sp>
      <p:sp>
        <p:nvSpPr>
          <p:cNvPr id="4" name="Tag Why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WHY</a:t>
            </a:r>
            <a:endParaRPr lang="en-US" sz="11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548640" y="1371600"/>
          <a:ext cx="9144000" cy="914400"/>
        </p:xfrm>
        <a:graphic>
          <a:graphicData uri="http://schemas.openxmlformats.org/drawingml/2006/table">
            <a:tbl>
              <a:tblPr firstRow="1" bandRow="1"/>
              <a:tblGrid>
                <a:gridCol w="2377440">
                  <a:extLst>
                    <a:ext uri="{9D8B030D-6E8A-4147-A177-3AD203B41FA5}">
                      <a16:colId xmlns:a16="http://schemas.microsoft.com/office/drawing/2014/main" val="20000"/>
                    </a:ext>
                  </a:extLst>
                </a:gridCol>
                <a:gridCol w="1371600">
                  <a:extLst>
                    <a:ext uri="{9D8B030D-6E8A-4147-A177-3AD203B41FA5}">
                      <a16:colId xmlns:a16="http://schemas.microsoft.com/office/drawing/2014/main" val="20001"/>
                    </a:ext>
                  </a:extLst>
                </a:gridCol>
                <a:gridCol w="1143000">
                  <a:extLst>
                    <a:ext uri="{9D8B030D-6E8A-4147-A177-3AD203B41FA5}">
                      <a16:colId xmlns:a16="http://schemas.microsoft.com/office/drawing/2014/main" val="20002"/>
                    </a:ext>
                  </a:extLst>
                </a:gridCol>
                <a:gridCol w="1234440">
                  <a:extLst>
                    <a:ext uri="{9D8B030D-6E8A-4147-A177-3AD203B41FA5}">
                      <a16:colId xmlns:a16="http://schemas.microsoft.com/office/drawing/2014/main" val="20003"/>
                    </a:ext>
                  </a:extLst>
                </a:gridCol>
              </a:tblGrid>
              <a:tr h="384048">
                <a:tc>
                  <a:txBody>
                    <a:bodyPr/>
                    <a:lstStyle/>
                    <a:p>
                      <a:pPr marL="0" indent="0">
                        <a:buNone/>
                      </a:pPr>
                      <a:r>
                        <a:rPr lang="en-US" sz="1300" b="1" dirty="0">
                          <a:solidFill>
                            <a:srgbClr val="FFFFFF"/>
                          </a:solidFill>
                          <a:latin typeface="Calibri" pitchFamily="34" charset="0"/>
                          <a:ea typeface="Calibri" pitchFamily="34" charset="-122"/>
                          <a:cs typeface="Calibri" pitchFamily="34" charset="-120"/>
                        </a:rPr>
                        <a:t>Path</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300" b="1" dirty="0">
                          <a:solidFill>
                            <a:srgbClr val="FFFFFF"/>
                          </a:solidFill>
                          <a:latin typeface="Calibri" pitchFamily="34" charset="0"/>
                          <a:ea typeface="Calibri" pitchFamily="34" charset="-122"/>
                          <a:cs typeface="Calibri" pitchFamily="34" charset="-120"/>
                        </a:rPr>
                        <a:t>Great circle</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300" b="1" dirty="0">
                          <a:solidFill>
                            <a:srgbClr val="FFFFFF"/>
                          </a:solidFill>
                          <a:latin typeface="Calibri" pitchFamily="34" charset="0"/>
                          <a:ea typeface="Calibri" pitchFamily="34" charset="-122"/>
                          <a:cs typeface="Calibri" pitchFamily="34" charset="-120"/>
                        </a:rPr>
                        <a:t>One way</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300" b="1" dirty="0">
                          <a:solidFill>
                            <a:srgbClr val="FFFFFF"/>
                          </a:solidFill>
                          <a:latin typeface="Calibri" pitchFamily="34" charset="0"/>
                          <a:ea typeface="Calibri" pitchFamily="34" charset="-122"/>
                          <a:cs typeface="Calibri" pitchFamily="34" charset="-120"/>
                        </a:rPr>
                        <a:t>Round trip</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extLst>
                  <a:ext uri="{0D108BD9-81ED-4DB2-BD59-A6C34878D82A}">
                    <a16:rowId xmlns:a16="http://schemas.microsoft.com/office/drawing/2014/main" val="10000"/>
                  </a:ext>
                </a:extLst>
              </a:tr>
              <a:tr h="475488">
                <a:tc>
                  <a:txBody>
                    <a:bodyPr/>
                    <a:lstStyle/>
                    <a:p>
                      <a:pPr marL="0" indent="0">
                        <a:buNone/>
                      </a:pPr>
                      <a:r>
                        <a:rPr lang="en-US" sz="1300" b="1" dirty="0">
                          <a:solidFill>
                            <a:srgbClr val="1F2A44"/>
                          </a:solidFill>
                          <a:latin typeface="Calibri" pitchFamily="34" charset="0"/>
                          <a:ea typeface="Calibri" pitchFamily="34" charset="-122"/>
                          <a:cs typeface="Calibri" pitchFamily="34" charset="-120"/>
                        </a:rPr>
                        <a:t>Within a metro</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00" dirty="0">
                          <a:solidFill>
                            <a:srgbClr val="334155"/>
                          </a:solidFill>
                          <a:latin typeface="Calibri" pitchFamily="34" charset="0"/>
                          <a:ea typeface="Calibri" pitchFamily="34" charset="-122"/>
                          <a:cs typeface="Calibri" pitchFamily="34" charset="-120"/>
                        </a:rPr>
                        <a:t>50 km</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00" b="1" dirty="0">
                          <a:solidFill>
                            <a:srgbClr val="B91C1C"/>
                          </a:solidFill>
                          <a:latin typeface="Calibri" pitchFamily="34" charset="0"/>
                          <a:ea typeface="Calibri" pitchFamily="34" charset="-122"/>
                          <a:cs typeface="Calibri" pitchFamily="34" charset="-120"/>
                        </a:rPr>
                        <a:t>0.25 ms</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00" b="1" dirty="0">
                          <a:solidFill>
                            <a:srgbClr val="B91C1C"/>
                          </a:solidFill>
                          <a:latin typeface="Calibri" pitchFamily="34" charset="0"/>
                          <a:ea typeface="Calibri" pitchFamily="34" charset="-122"/>
                          <a:cs typeface="Calibri" pitchFamily="34" charset="-120"/>
                        </a:rPr>
                        <a:t>0.5 ms</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475488">
                <a:tc>
                  <a:txBody>
                    <a:bodyPr/>
                    <a:lstStyle/>
                    <a:p>
                      <a:pPr marL="0" indent="0">
                        <a:buNone/>
                      </a:pPr>
                      <a:r>
                        <a:rPr lang="en-US" sz="1300" b="1" dirty="0">
                          <a:solidFill>
                            <a:srgbClr val="1F2A44"/>
                          </a:solidFill>
                          <a:latin typeface="Calibri" pitchFamily="34" charset="0"/>
                          <a:ea typeface="Calibri" pitchFamily="34" charset="-122"/>
                          <a:cs typeface="Calibri" pitchFamily="34" charset="-120"/>
                        </a:rPr>
                        <a:t>Same continent</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00" dirty="0">
                          <a:solidFill>
                            <a:srgbClr val="334155"/>
                          </a:solidFill>
                          <a:latin typeface="Calibri" pitchFamily="34" charset="0"/>
                          <a:ea typeface="Calibri" pitchFamily="34" charset="-122"/>
                          <a:cs typeface="Calibri" pitchFamily="34" charset="-120"/>
                        </a:rPr>
                        <a:t>1,000 km</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00" b="1" dirty="0">
                          <a:solidFill>
                            <a:srgbClr val="B91C1C"/>
                          </a:solidFill>
                          <a:latin typeface="Calibri" pitchFamily="34" charset="0"/>
                          <a:ea typeface="Calibri" pitchFamily="34" charset="-122"/>
                          <a:cs typeface="Calibri" pitchFamily="34" charset="-120"/>
                        </a:rPr>
                        <a:t>5 ms</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00" b="1" dirty="0">
                          <a:solidFill>
                            <a:srgbClr val="B91C1C"/>
                          </a:solidFill>
                          <a:latin typeface="Calibri" pitchFamily="34" charset="0"/>
                          <a:ea typeface="Calibri" pitchFamily="34" charset="-122"/>
                          <a:cs typeface="Calibri" pitchFamily="34" charset="-120"/>
                        </a:rPr>
                        <a:t>10 ms</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475488">
                <a:tc>
                  <a:txBody>
                    <a:bodyPr/>
                    <a:lstStyle/>
                    <a:p>
                      <a:pPr marL="0" indent="0">
                        <a:buNone/>
                      </a:pPr>
                      <a:r>
                        <a:rPr lang="en-US" sz="1300" b="1" dirty="0">
                          <a:solidFill>
                            <a:srgbClr val="1F2A44"/>
                          </a:solidFill>
                          <a:latin typeface="Calibri" pitchFamily="34" charset="0"/>
                          <a:ea typeface="Calibri" pitchFamily="34" charset="-122"/>
                          <a:cs typeface="Calibri" pitchFamily="34" charset="-120"/>
                        </a:rPr>
                        <a:t>New York to London</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00" dirty="0">
                          <a:solidFill>
                            <a:srgbClr val="334155"/>
                          </a:solidFill>
                          <a:latin typeface="Calibri" pitchFamily="34" charset="0"/>
                          <a:ea typeface="Calibri" pitchFamily="34" charset="-122"/>
                          <a:cs typeface="Calibri" pitchFamily="34" charset="-120"/>
                        </a:rPr>
                        <a:t>5,570 km</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00" b="1" dirty="0">
                          <a:solidFill>
                            <a:srgbClr val="B91C1C"/>
                          </a:solidFill>
                          <a:latin typeface="Calibri" pitchFamily="34" charset="0"/>
                          <a:ea typeface="Calibri" pitchFamily="34" charset="-122"/>
                          <a:cs typeface="Calibri" pitchFamily="34" charset="-120"/>
                        </a:rPr>
                        <a:t>28 ms</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00" b="1" dirty="0">
                          <a:solidFill>
                            <a:srgbClr val="B91C1C"/>
                          </a:solidFill>
                          <a:latin typeface="Calibri" pitchFamily="34" charset="0"/>
                          <a:ea typeface="Calibri" pitchFamily="34" charset="-122"/>
                          <a:cs typeface="Calibri" pitchFamily="34" charset="-120"/>
                        </a:rPr>
                        <a:t>56 ms</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475488">
                <a:tc>
                  <a:txBody>
                    <a:bodyPr/>
                    <a:lstStyle/>
                    <a:p>
                      <a:pPr marL="0" indent="0">
                        <a:buNone/>
                      </a:pPr>
                      <a:r>
                        <a:rPr lang="en-US" sz="1300" b="1" dirty="0">
                          <a:solidFill>
                            <a:srgbClr val="1F2A44"/>
                          </a:solidFill>
                          <a:latin typeface="Calibri" pitchFamily="34" charset="0"/>
                          <a:ea typeface="Calibri" pitchFamily="34" charset="-122"/>
                          <a:cs typeface="Calibri" pitchFamily="34" charset="-120"/>
                        </a:rPr>
                        <a:t>New York to Singapore</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00" dirty="0">
                          <a:solidFill>
                            <a:srgbClr val="334155"/>
                          </a:solidFill>
                          <a:latin typeface="Calibri" pitchFamily="34" charset="0"/>
                          <a:ea typeface="Calibri" pitchFamily="34" charset="-122"/>
                          <a:cs typeface="Calibri" pitchFamily="34" charset="-120"/>
                        </a:rPr>
                        <a:t>15,330 km</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00" b="1" dirty="0">
                          <a:solidFill>
                            <a:srgbClr val="B91C1C"/>
                          </a:solidFill>
                          <a:latin typeface="Calibri" pitchFamily="34" charset="0"/>
                          <a:ea typeface="Calibri" pitchFamily="34" charset="-122"/>
                          <a:cs typeface="Calibri" pitchFamily="34" charset="-120"/>
                        </a:rPr>
                        <a:t>77 ms</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00" b="1" dirty="0">
                          <a:solidFill>
                            <a:srgbClr val="B91C1C"/>
                          </a:solidFill>
                          <a:latin typeface="Calibri" pitchFamily="34" charset="0"/>
                          <a:ea typeface="Calibri" pitchFamily="34" charset="-122"/>
                          <a:cs typeface="Calibri" pitchFamily="34" charset="-120"/>
                        </a:rPr>
                        <a:t>153 ms</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bl>
          </a:graphicData>
        </a:graphic>
      </p:graphicFrame>
      <p:sp>
        <p:nvSpPr>
          <p:cNvPr id="6" name="Table note"/>
          <p:cNvSpPr txBox="1"/>
          <p:nvPr/>
        </p:nvSpPr>
        <p:spPr>
          <a:xfrm>
            <a:off x="548640" y="3749040"/>
            <a:ext cx="6126480" cy="777240"/>
          </a:xfrm>
          <a:prstGeom prst="rect">
            <a:avLst/>
          </a:prstGeom>
          <a:noFill/>
          <a:ln/>
        </p:spPr>
        <p:txBody>
          <a:bodyPr wrap="square" lIns="0" tIns="0" rIns="0" bIns="0" rtlCol="0" anchor="t"/>
          <a:lstStyle/>
          <a:p>
            <a:pPr marL="0" indent="0">
              <a:buNone/>
            </a:pPr>
            <a:r>
              <a:rPr lang="en-US" sz="1200" i="1" dirty="0">
                <a:solidFill>
                  <a:srgbClr val="64748B"/>
                </a:solidFill>
              </a:rPr>
              <a:t>Arithmetic, not measurement: distance × ITU-T G.114's 5 µs per km of fiber. Straight-fiber minimums; measured internet paths run several times longer.</a:t>
            </a:r>
            <a:endParaRPr lang="en-US" sz="1200" dirty="0"/>
          </a:p>
        </p:txBody>
      </p:sp>
      <p:sp>
        <p:nvSpPr>
          <p:cNvPr id="7" name="Budget box">
            <a:extLst>
              <a:ext uri="{C183D7F6-B498-43B3-948B-1728B52AA6E4}">
                <adec:decorative xmlns:adec="http://schemas.microsoft.com/office/drawing/2017/decorative" val="1"/>
              </a:ext>
            </a:extLst>
          </p:cNvPr>
          <p:cNvSpPr/>
          <p:nvPr/>
        </p:nvSpPr>
        <p:spPr>
          <a:xfrm>
            <a:off x="6995160" y="1371600"/>
            <a:ext cx="4663440" cy="3246120"/>
          </a:xfrm>
          <a:prstGeom prst="roundRect">
            <a:avLst>
              <a:gd name="adj" fmla="val 2254"/>
            </a:avLst>
          </a:prstGeom>
          <a:solidFill>
            <a:srgbClr val="FBEEDC"/>
          </a:solidFill>
          <a:ln w="12700">
            <a:solidFill>
              <a:srgbClr val="FBEEDC"/>
            </a:solidFill>
            <a:prstDash val="solid"/>
          </a:ln>
          <a:effectLst>
            <a:outerShdw blurRad="76200" dist="25400" dir="5400000" algn="bl" rotWithShape="0">
              <a:srgbClr val="64748B">
                <a:alpha val="22000"/>
              </a:srgbClr>
            </a:outerShdw>
          </a:effectLst>
        </p:spPr>
      </p:sp>
      <p:sp>
        <p:nvSpPr>
          <p:cNvPr id="8" name="Icon FaChartLine">
            <a:extLst>
              <a:ext uri="{C183D7F6-B498-43B3-948B-1728B52AA6E4}">
                <adec:decorative xmlns:adec="http://schemas.microsoft.com/office/drawing/2017/decorative" val="1"/>
              </a:ext>
            </a:extLst>
          </p:cNvPr>
          <p:cNvSpPr/>
          <p:nvPr/>
        </p:nvSpPr>
        <p:spPr>
          <a:xfrm>
            <a:off x="7223760" y="1536192"/>
            <a:ext cx="566928" cy="566928"/>
          </a:xfrm>
          <a:prstGeom prst="ellipse">
            <a:avLst/>
          </a:prstGeom>
          <a:solidFill>
            <a:srgbClr val="B45309"/>
          </a:solidFill>
          <a:ln w="12700">
            <a:solidFill>
              <a:srgbClr val="B45309"/>
            </a:solidFill>
            <a:prstDash val="solid"/>
          </a:ln>
        </p:spPr>
      </p:sp>
      <p:pic>
        <p:nvPicPr>
          <p:cNvPr id="9" name="Image 0">
            <a:extLst>
              <a:ext uri="{C183D7F6-B498-43B3-948B-1728B52AA6E4}">
                <adec:decorative xmlns:adec="http://schemas.microsoft.com/office/drawing/2017/decorative" val="1"/>
              </a:ext>
            </a:extLst>
          </p:cNvPr>
          <p:cNvPicPr>
            <a:picLocks noChangeAspect="1"/>
          </p:cNvPicPr>
          <p:nvPr/>
        </p:nvPicPr>
        <p:blipFill>
          <a:blip r:embed="rId5"/>
          <a:stretch>
            <a:fillRect/>
          </a:stretch>
        </p:blipFill>
        <p:spPr>
          <a:xfrm>
            <a:off x="7359823" y="1672255"/>
            <a:ext cx="294803" cy="294803"/>
          </a:xfrm>
          <a:prstGeom prst="rect">
            <a:avLst/>
          </a:prstGeom>
        </p:spPr>
      </p:pic>
      <p:sp>
        <p:nvSpPr>
          <p:cNvPr id="10" name="Budget head"/>
          <p:cNvSpPr txBox="1"/>
          <p:nvPr/>
        </p:nvSpPr>
        <p:spPr>
          <a:xfrm>
            <a:off x="7955280" y="1536192"/>
            <a:ext cx="3611880" cy="566928"/>
          </a:xfrm>
          <a:prstGeom prst="rect">
            <a:avLst/>
          </a:prstGeom>
          <a:noFill/>
          <a:ln/>
        </p:spPr>
        <p:txBody>
          <a:bodyPr wrap="square" lIns="0" tIns="0" rIns="0" bIns="0" rtlCol="0" anchor="ctr"/>
          <a:lstStyle/>
          <a:p>
            <a:pPr marL="0" indent="0">
              <a:buNone/>
            </a:pPr>
            <a:r>
              <a:rPr lang="en-US" sz="1700" b="1" dirty="0">
                <a:solidFill>
                  <a:srgbClr val="B45309"/>
                </a:solidFill>
                <a:latin typeface="Cambria" pitchFamily="34" charset="0"/>
                <a:ea typeface="Cambria" pitchFamily="34" charset="-122"/>
                <a:cs typeface="Cambria" pitchFamily="34" charset="-120"/>
              </a:rPr>
              <a:t>The 150 ms budget, read right</a:t>
            </a:r>
            <a:endParaRPr lang="en-US" sz="1700" dirty="0"/>
          </a:p>
        </p:txBody>
      </p:sp>
      <p:sp>
        <p:nvSpPr>
          <p:cNvPr id="11" name="Budget list"/>
          <p:cNvSpPr txBox="1"/>
          <p:nvPr/>
        </p:nvSpPr>
        <p:spPr>
          <a:xfrm>
            <a:off x="7223760" y="2240280"/>
            <a:ext cx="4297680" cy="233172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chemeClr val="tx2"/>
                </a:solidFill>
              </a:rPr>
              <a:t>150 ms is mouth to ear, terminals included</a:t>
            </a:r>
            <a:endParaRPr lang="en-US" sz="1400" dirty="0"/>
          </a:p>
          <a:p>
            <a:pPr marL="342900" indent="-342900">
              <a:spcAft>
                <a:spcPts val="600"/>
              </a:spcAft>
              <a:buSzPct val="100000"/>
              <a:buChar char="•"/>
            </a:pPr>
            <a:r>
              <a:rPr lang="en-US" sz="1400" dirty="0">
                <a:solidFill>
                  <a:schemeClr val="tx2"/>
                </a:solidFill>
              </a:rPr>
              <a:t>Terminals take 50 to 80 ms</a:t>
            </a:r>
            <a:endParaRPr lang="en-US" sz="1400" dirty="0"/>
          </a:p>
          <a:p>
            <a:pPr marL="342900" indent="-342900">
              <a:spcAft>
                <a:spcPts val="600"/>
              </a:spcAft>
              <a:buSzPct val="100000"/>
              <a:buChar char="•"/>
            </a:pPr>
            <a:r>
              <a:rPr lang="en-US" sz="1400" dirty="0">
                <a:solidFill>
                  <a:schemeClr val="tx2"/>
                </a:solidFill>
              </a:rPr>
              <a:t>The network gets roughly 70 to 100 ms one way</a:t>
            </a:r>
            <a:endParaRPr lang="en-US" sz="1400" dirty="0"/>
          </a:p>
          <a:p>
            <a:pPr marL="342900" indent="-342900">
              <a:spcAft>
                <a:spcPts val="600"/>
              </a:spcAft>
              <a:buSzPct val="100000"/>
              <a:buChar char="•"/>
            </a:pPr>
            <a:r>
              <a:rPr lang="en-US" sz="1400" dirty="0">
                <a:solidFill>
                  <a:schemeClr val="tx2"/>
                </a:solidFill>
              </a:rPr>
              <a:t>Seattle hairpin via northern Virginia: about 60 ms one way, worked arithmetic</a:t>
            </a:r>
            <a:endParaRPr lang="en-US" sz="1400" dirty="0"/>
          </a:p>
        </p:txBody>
      </p:sp>
      <p:sp>
        <p:nvSpPr>
          <p:cNvPr id="12" name="Less sync">
            <a:extLst>
              <a:ext uri="{C183D7F6-B498-43B3-948B-1728B52AA6E4}">
                <adec:decorative xmlns:adec="http://schemas.microsoft.com/office/drawing/2017/decorative" val="1"/>
              </a:ext>
            </a:extLst>
          </p:cNvPr>
          <p:cNvSpPr/>
          <p:nvPr/>
        </p:nvSpPr>
        <p:spPr>
          <a:xfrm>
            <a:off x="548640" y="4800600"/>
            <a:ext cx="11109960" cy="1143000"/>
          </a:xfrm>
          <a:prstGeom prst="roundRect">
            <a:avLst>
              <a:gd name="adj" fmla="val 6400"/>
            </a:avLst>
          </a:prstGeom>
          <a:solidFill>
            <a:srgbClr val="FFFFFF"/>
          </a:solidFill>
          <a:ln w="12700">
            <a:solidFill>
              <a:srgbClr val="B91C1C"/>
            </a:solidFill>
            <a:prstDash val="solid"/>
          </a:ln>
          <a:effectLst>
            <a:outerShdw blurRad="76200" dist="25400" dir="5400000" algn="bl" rotWithShape="0">
              <a:srgbClr val="64748B">
                <a:alpha val="22000"/>
              </a:srgbClr>
            </a:outerShdw>
          </a:effectLst>
        </p:spPr>
      </p:sp>
      <p:sp>
        <p:nvSpPr>
          <p:cNvPr id="13" name="Icon FaArrowsRotate">
            <a:extLst>
              <a:ext uri="{C183D7F6-B498-43B3-948B-1728B52AA6E4}">
                <adec:decorative xmlns:adec="http://schemas.microsoft.com/office/drawing/2017/decorative" val="1"/>
              </a:ext>
            </a:extLst>
          </p:cNvPr>
          <p:cNvSpPr/>
          <p:nvPr/>
        </p:nvSpPr>
        <p:spPr>
          <a:xfrm>
            <a:off x="777240" y="5006340"/>
            <a:ext cx="731520" cy="731520"/>
          </a:xfrm>
          <a:prstGeom prst="ellipse">
            <a:avLst/>
          </a:prstGeom>
          <a:solidFill>
            <a:srgbClr val="B91C1C"/>
          </a:solidFill>
          <a:ln w="12700">
            <a:solidFill>
              <a:srgbClr val="B91C1C"/>
            </a:solidFill>
            <a:prstDash val="solid"/>
          </a:ln>
        </p:spPr>
      </p:sp>
      <p:pic>
        <p:nvPicPr>
          <p:cNvPr id="14" name="Image 1">
            <a:extLst>
              <a:ext uri="{C183D7F6-B498-43B3-948B-1728B52AA6E4}">
                <adec:decorative xmlns:adec="http://schemas.microsoft.com/office/drawing/2017/decorative" val="1"/>
              </a:ext>
            </a:extLst>
          </p:cNvPr>
          <p:cNvPicPr>
            <a:picLocks noChangeAspect="1"/>
          </p:cNvPicPr>
          <p:nvPr/>
        </p:nvPicPr>
        <p:blipFill>
          <a:blip r:embed="rId6"/>
          <a:stretch>
            <a:fillRect/>
          </a:stretch>
        </p:blipFill>
        <p:spPr>
          <a:xfrm>
            <a:off x="952805" y="5181905"/>
            <a:ext cx="380390" cy="380390"/>
          </a:xfrm>
          <a:prstGeom prst="rect">
            <a:avLst/>
          </a:prstGeom>
        </p:spPr>
      </p:pic>
      <p:sp>
        <p:nvSpPr>
          <p:cNvPr id="15" name="Less sync text"/>
          <p:cNvSpPr txBox="1"/>
          <p:nvPr/>
        </p:nvSpPr>
        <p:spPr>
          <a:xfrm>
            <a:off x="1737360" y="4846320"/>
            <a:ext cx="9738360" cy="1051560"/>
          </a:xfrm>
          <a:prstGeom prst="rect">
            <a:avLst/>
          </a:prstGeom>
          <a:noFill/>
          <a:ln/>
        </p:spPr>
        <p:txBody>
          <a:bodyPr wrap="square" lIns="0" tIns="0" rIns="0" bIns="0" rtlCol="0" anchor="ctr"/>
          <a:lstStyle/>
          <a:p>
            <a:pPr marL="0" indent="0">
              <a:buNone/>
            </a:pPr>
            <a:r>
              <a:rPr lang="en-US" sz="1650" b="1" dirty="0">
                <a:solidFill>
                  <a:srgbClr val="B91C1C"/>
                </a:solidFill>
              </a:rPr>
              <a:t>Need less global synchronization: </a:t>
            </a:r>
            <a:r>
              <a:rPr lang="en-US" sz="1650" dirty="0">
                <a:solidFill>
                  <a:schemeClr val="tx2"/>
                </a:solidFill>
              </a:rPr>
              <a:t>a synchronous commit pays a round trip every time, and bandwidth doesn't shorten it. Keep strong consistency inside a region; make long-distance copies asynchronous.</a:t>
            </a:r>
            <a:endParaRPr lang="en-US" sz="1650" dirty="0"/>
          </a:p>
        </p:txBody>
      </p:sp>
      <p:sp>
        <p:nvSpPr>
          <p:cNvPr id="16" name="Sources"/>
          <p:cNvSpPr txBox="1"/>
          <p:nvPr/>
        </p:nvSpPr>
        <p:spPr>
          <a:xfrm>
            <a:off x="548640" y="6053328"/>
            <a:ext cx="10424160" cy="292608"/>
          </a:xfrm>
          <a:prstGeom prst="rect">
            <a:avLst/>
          </a:prstGeom>
          <a:noFill/>
          <a:ln/>
        </p:spPr>
        <p:txBody>
          <a:bodyPr wrap="square" lIns="0" tIns="0" rIns="0" bIns="0" rtlCol="0" anchor="t"/>
          <a:lstStyle/>
          <a:p>
            <a:pPr marL="0" indent="0">
              <a:buNone/>
            </a:pPr>
            <a:r>
              <a:rPr lang="en-US" sz="1000" i="1" dirty="0">
                <a:solidFill>
                  <a:srgbClr val="64748B"/>
                </a:solidFill>
              </a:rPr>
              <a:t>Sources: ITU-T G.114; NIST CODATA (speed of light); Bozkurt et al., PAM 2017; Raft (Ongaro and Ousterhout); Microsoft Learn — microservices data. Book 09, Chapter 01.</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2</a:t>
            </a:fld>
            <a:endParaRPr lang="en-US"/>
          </a:p>
        </p:txBody>
      </p:sp>
      <p:pic>
        <p:nvPicPr>
          <p:cNvPr id="17" name="Narration" descr="Narration for this slide; captions available">
            <a:hlinkClick r:id="" action="ppaction://media"/>
            <a:extLst>
              <a:ext uri="{FF2B5EF4-FFF2-40B4-BE49-F238E27FC236}">
                <a16:creationId xmlns:a16="http://schemas.microsoft.com/office/drawing/2014/main" id="{CC1EAB59-9EE7-FB91-BA68-71F1A806EDDB}"/>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A5502EA8-A561-411A-BDC9-7C60DC1E571F}" label="English (captions)" lang="en-US" r:embed="rId8"/>
                        </p173:trackLst>
                      </p173:tracksInfo>
                    </p:ext>
                  </p14:extLst>
                </p14:media>
              </p:ext>
            </p:extLst>
          </p:nvPr>
        </p:nvPicPr>
        <p:blipFill>
          <a:blip r:embed="rId7"/>
          <a:stretch>
            <a:fillRect/>
          </a:stretch>
        </p:blipFill>
        <p:spPr>
          <a:xfrm>
            <a:off x="127000" y="6350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63590"/>
    </mc:Choice>
    <mc:Fallback>
      <p:transition spd="slow" advTm="6359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62592" fill="hold"/>
                                        <p:tgtEl>
                                          <p:spTgt spid="17"/>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Transport is physics; control is compliance</a:t>
            </a:r>
            <a:endParaRPr lang="en-US" sz="3000" dirty="0"/>
          </a:p>
        </p:txBody>
      </p:sp>
      <p:sp>
        <p:nvSpPr>
          <p:cNvPr id="3" name="Tag Why">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91C1C"/>
          </a:solidFill>
          <a:ln w="12700">
            <a:solidFill>
              <a:srgbClr val="B91C1C"/>
            </a:solidFill>
            <a:prstDash val="solid"/>
          </a:ln>
        </p:spPr>
      </p:sp>
      <p:sp>
        <p:nvSpPr>
          <p:cNvPr id="4" name="Tag Why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WHY</a:t>
            </a:r>
            <a:endParaRPr lang="en-US" sz="11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548640" y="1371600"/>
          <a:ext cx="9144000" cy="914400"/>
        </p:xfrm>
        <a:graphic>
          <a:graphicData uri="http://schemas.openxmlformats.org/drawingml/2006/table">
            <a:tbl>
              <a:tblPr firstRow="1" bandRow="1"/>
              <a:tblGrid>
                <a:gridCol w="1371600">
                  <a:extLst>
                    <a:ext uri="{9D8B030D-6E8A-4147-A177-3AD203B41FA5}">
                      <a16:colId xmlns:a16="http://schemas.microsoft.com/office/drawing/2014/main" val="20000"/>
                    </a:ext>
                  </a:extLst>
                </a:gridCol>
                <a:gridCol w="2514600">
                  <a:extLst>
                    <a:ext uri="{9D8B030D-6E8A-4147-A177-3AD203B41FA5}">
                      <a16:colId xmlns:a16="http://schemas.microsoft.com/office/drawing/2014/main" val="20001"/>
                    </a:ext>
                  </a:extLst>
                </a:gridCol>
                <a:gridCol w="2423160">
                  <a:extLst>
                    <a:ext uri="{9D8B030D-6E8A-4147-A177-3AD203B41FA5}">
                      <a16:colId xmlns:a16="http://schemas.microsoft.com/office/drawing/2014/main" val="20002"/>
                    </a:ext>
                  </a:extLst>
                </a:gridCol>
              </a:tblGrid>
              <a:tr h="365760">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Control</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What it asks for</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Satisfied by</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extLst>
                  <a:ext uri="{0D108BD9-81ED-4DB2-BD59-A6C34878D82A}">
                    <a16:rowId xmlns:a16="http://schemas.microsoft.com/office/drawing/2014/main" val="10000"/>
                  </a:ext>
                </a:extLst>
              </a:tr>
              <a:tr h="457200">
                <a:tc>
                  <a:txBody>
                    <a:bodyPr/>
                    <a:lstStyle/>
                    <a:p>
                      <a:pPr marL="0" indent="0">
                        <a:buNone/>
                      </a:pPr>
                      <a:r>
                        <a:rPr lang="en-US" sz="1200" b="1" dirty="0">
                          <a:solidFill>
                            <a:srgbClr val="1F2A44"/>
                          </a:solidFill>
                          <a:latin typeface="Calibri" pitchFamily="34" charset="0"/>
                          <a:ea typeface="Calibri" pitchFamily="34" charset="-122"/>
                          <a:cs typeface="Calibri" pitchFamily="34" charset="-120"/>
                        </a:rPr>
                        <a:t>SC-7</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Monitor and control external interfaces</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Enforcement point at the boundary</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457200">
                <a:tc>
                  <a:txBody>
                    <a:bodyPr/>
                    <a:lstStyle/>
                    <a:p>
                      <a:pPr marL="0" indent="0">
                        <a:buNone/>
                      </a:pPr>
                      <a:r>
                        <a:rPr lang="en-US" sz="1200" b="1" dirty="0">
                          <a:solidFill>
                            <a:srgbClr val="1F2A44"/>
                          </a:solidFill>
                          <a:latin typeface="Calibri" pitchFamily="34" charset="0"/>
                          <a:ea typeface="Calibri" pitchFamily="34" charset="-122"/>
                          <a:cs typeface="Calibri" pitchFamily="34" charset="-120"/>
                        </a:rPr>
                        <a:t>SC-7(4)</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A managed interface and flow policy per service</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The governing layer, per circuit</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457200">
                <a:tc>
                  <a:txBody>
                    <a:bodyPr/>
                    <a:lstStyle/>
                    <a:p>
                      <a:pPr marL="0" indent="0">
                        <a:buNone/>
                      </a:pPr>
                      <a:r>
                        <a:rPr lang="en-US" sz="1200" b="1" dirty="0">
                          <a:solidFill>
                            <a:srgbClr val="1F2A44"/>
                          </a:solidFill>
                          <a:latin typeface="Calibri" pitchFamily="34" charset="0"/>
                          <a:ea typeface="Calibri" pitchFamily="34" charset="-122"/>
                          <a:cs typeface="Calibri" pitchFamily="34" charset="-120"/>
                        </a:rPr>
                        <a:t>SC-8, SC-8(1)</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Protect transmitted information</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Encryption at the edge or endpoint</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457200">
                <a:tc>
                  <a:txBody>
                    <a:bodyPr/>
                    <a:lstStyle/>
                    <a:p>
                      <a:pPr marL="0" indent="0">
                        <a:buNone/>
                      </a:pPr>
                      <a:r>
                        <a:rPr lang="en-US" sz="1200" b="1" dirty="0">
                          <a:solidFill>
                            <a:srgbClr val="1F2A44"/>
                          </a:solidFill>
                          <a:latin typeface="Calibri" pitchFamily="34" charset="0"/>
                          <a:ea typeface="Calibri" pitchFamily="34" charset="-122"/>
                          <a:cs typeface="Calibri" pitchFamily="34" charset="-120"/>
                        </a:rPr>
                        <a:t>AC-4, SI-3</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Flow enforcement; malicious code</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The policy enforcement point</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457200">
                <a:tc>
                  <a:txBody>
                    <a:bodyPr/>
                    <a:lstStyle/>
                    <a:p>
                      <a:pPr marL="0" indent="0">
                        <a:buNone/>
                      </a:pPr>
                      <a:r>
                        <a:rPr lang="en-US" sz="1200" b="1" dirty="0">
                          <a:solidFill>
                            <a:srgbClr val="1F2A44"/>
                          </a:solidFill>
                          <a:latin typeface="Calibri" pitchFamily="34" charset="0"/>
                          <a:ea typeface="Calibri" pitchFamily="34" charset="-122"/>
                          <a:cs typeface="Calibri" pitchFamily="34" charset="-120"/>
                        </a:rPr>
                        <a:t>SI-4</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Detect attacks and unauthorized links</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Governor and PEP telemetry</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457200">
                <a:tc>
                  <a:txBody>
                    <a:bodyPr/>
                    <a:lstStyle/>
                    <a:p>
                      <a:pPr marL="0" indent="0">
                        <a:buNone/>
                      </a:pPr>
                      <a:r>
                        <a:rPr lang="en-US" sz="1200" b="1" dirty="0">
                          <a:solidFill>
                            <a:srgbClr val="0F766E"/>
                          </a:solidFill>
                          <a:latin typeface="Calibri" pitchFamily="34" charset="0"/>
                          <a:ea typeface="Calibri" pitchFamily="34" charset="-122"/>
                          <a:cs typeface="Calibri" pitchFamily="34" charset="-120"/>
                        </a:rPr>
                        <a:t>CP-8, SC-47</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Alternate telecommunications paths</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b="1" dirty="0">
                          <a:solidFill>
                            <a:srgbClr val="0F766E"/>
                          </a:solidFill>
                          <a:latin typeface="Calibri" pitchFamily="34" charset="0"/>
                          <a:ea typeface="Calibri" pitchFamily="34" charset="-122"/>
                          <a:cs typeface="Calibri" pitchFamily="34" charset="-120"/>
                        </a:rPr>
                        <a:t>The pipes: the one family they close</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bl>
          </a:graphicData>
        </a:graphic>
      </p:graphicFrame>
      <p:sp>
        <p:nvSpPr>
          <p:cNvPr id="6" name="Governor box">
            <a:extLst>
              <a:ext uri="{C183D7F6-B498-43B3-948B-1728B52AA6E4}">
                <adec:decorative xmlns:adec="http://schemas.microsoft.com/office/drawing/2017/decorative" val="1"/>
              </a:ext>
            </a:extLst>
          </p:cNvPr>
          <p:cNvSpPr/>
          <p:nvPr/>
        </p:nvSpPr>
        <p:spPr>
          <a:xfrm>
            <a:off x="7086600" y="1371600"/>
            <a:ext cx="4572000" cy="3154680"/>
          </a:xfrm>
          <a:prstGeom prst="roundRect">
            <a:avLst>
              <a:gd name="adj" fmla="val 2319"/>
            </a:avLst>
          </a:prstGeom>
          <a:solidFill>
            <a:srgbClr val="FBE4E4"/>
          </a:solidFill>
          <a:ln w="12700">
            <a:solidFill>
              <a:srgbClr val="FBE4E4"/>
            </a:solidFill>
            <a:prstDash val="solid"/>
          </a:ln>
          <a:effectLst>
            <a:outerShdw blurRad="76200" dist="25400" dir="5400000" algn="bl" rotWithShape="0">
              <a:srgbClr val="64748B">
                <a:alpha val="22000"/>
              </a:srgbClr>
            </a:outerShdw>
          </a:effectLst>
        </p:spPr>
      </p:sp>
      <p:sp>
        <p:nvSpPr>
          <p:cNvPr id="7" name="Icon FaTriangleExclamation">
            <a:extLst>
              <a:ext uri="{C183D7F6-B498-43B3-948B-1728B52AA6E4}">
                <adec:decorative xmlns:adec="http://schemas.microsoft.com/office/drawing/2017/decorative" val="1"/>
              </a:ext>
            </a:extLst>
          </p:cNvPr>
          <p:cNvSpPr/>
          <p:nvPr/>
        </p:nvSpPr>
        <p:spPr>
          <a:xfrm>
            <a:off x="7315200" y="1536192"/>
            <a:ext cx="548640" cy="548640"/>
          </a:xfrm>
          <a:prstGeom prst="ellipse">
            <a:avLst/>
          </a:prstGeom>
          <a:solidFill>
            <a:srgbClr val="B91C1C"/>
          </a:solidFill>
          <a:ln w="12700">
            <a:solidFill>
              <a:srgbClr val="B91C1C"/>
            </a:solidFill>
            <a:prstDash val="solid"/>
          </a:ln>
        </p:spPr>
      </p:sp>
      <p:pic>
        <p:nvPicPr>
          <p:cNvPr id="8" name="Image 0">
            <a:extLst>
              <a:ext uri="{C183D7F6-B498-43B3-948B-1728B52AA6E4}">
                <adec:decorative xmlns:adec="http://schemas.microsoft.com/office/drawing/2017/decorative" val="1"/>
              </a:ext>
            </a:extLst>
          </p:cNvPr>
          <p:cNvPicPr>
            <a:picLocks noChangeAspect="1"/>
          </p:cNvPicPr>
          <p:nvPr/>
        </p:nvPicPr>
        <p:blipFill>
          <a:blip r:embed="rId5"/>
          <a:stretch>
            <a:fillRect/>
          </a:stretch>
        </p:blipFill>
        <p:spPr>
          <a:xfrm>
            <a:off x="7446874" y="1667866"/>
            <a:ext cx="285293" cy="285293"/>
          </a:xfrm>
          <a:prstGeom prst="rect">
            <a:avLst/>
          </a:prstGeom>
        </p:spPr>
      </p:pic>
      <p:sp>
        <p:nvSpPr>
          <p:cNvPr id="9" name="Governor head"/>
          <p:cNvSpPr txBox="1"/>
          <p:nvPr/>
        </p:nvSpPr>
        <p:spPr>
          <a:xfrm>
            <a:off x="8001000" y="1536192"/>
            <a:ext cx="3566160" cy="548640"/>
          </a:xfrm>
          <a:prstGeom prst="rect">
            <a:avLst/>
          </a:prstGeom>
          <a:noFill/>
          <a:ln/>
        </p:spPr>
        <p:txBody>
          <a:bodyPr wrap="square" lIns="0" tIns="0" rIns="0" bIns="0" rtlCol="0" anchor="ctr"/>
          <a:lstStyle/>
          <a:p>
            <a:pPr marL="0" indent="0">
              <a:buNone/>
            </a:pPr>
            <a:r>
              <a:rPr lang="en-US" sz="1700" b="1" dirty="0">
                <a:solidFill>
                  <a:srgbClr val="B91C1C"/>
                </a:solidFill>
                <a:latin typeface="Cambria" pitchFamily="34" charset="0"/>
                <a:ea typeface="Cambria" pitchFamily="34" charset="-122"/>
                <a:cs typeface="Cambria" pitchFamily="34" charset="-120"/>
              </a:rPr>
              <a:t>The governor is attack surface</a:t>
            </a:r>
            <a:endParaRPr lang="en-US" sz="1700" dirty="0"/>
          </a:p>
        </p:txBody>
      </p:sp>
      <p:sp>
        <p:nvSpPr>
          <p:cNvPr id="10" name="Governor list"/>
          <p:cNvSpPr txBox="1"/>
          <p:nvPr/>
        </p:nvSpPr>
        <p:spPr>
          <a:xfrm>
            <a:off x="7315200" y="2212848"/>
            <a:ext cx="4206240" cy="2240280"/>
          </a:xfrm>
          <a:prstGeom prst="rect">
            <a:avLst/>
          </a:prstGeom>
          <a:noFill/>
          <a:ln/>
        </p:spPr>
        <p:txBody>
          <a:bodyPr wrap="square" lIns="0" tIns="0" rIns="0" bIns="0" rtlCol="0" anchor="t"/>
          <a:lstStyle/>
          <a:p>
            <a:pPr marL="342900" indent="-342900">
              <a:spcAft>
                <a:spcPts val="600"/>
              </a:spcAft>
              <a:buSzPct val="100000"/>
              <a:buChar char="•"/>
            </a:pPr>
            <a:r>
              <a:rPr lang="en-US" sz="1350" dirty="0">
                <a:solidFill>
                  <a:schemeClr val="tx2"/>
                </a:solidFill>
              </a:rPr>
              <a:t>BOD 26-02: end-of-support edge devices off by August 5, 2027</a:t>
            </a:r>
            <a:endParaRPr lang="en-US" sz="1400" dirty="0"/>
          </a:p>
          <a:p>
            <a:pPr marL="342900" indent="-342900">
              <a:spcAft>
                <a:spcPts val="600"/>
              </a:spcAft>
              <a:buSzPct val="100000"/>
              <a:buChar char="•"/>
            </a:pPr>
            <a:r>
              <a:rPr lang="en-US" sz="1350" dirty="0">
                <a:solidFill>
                  <a:schemeClr val="tx2"/>
                </a:solidFill>
              </a:rPr>
              <a:t>ED 26-03, February 25, 2026: SD-WAN systems compromised; syslog to CISA via CLAW</a:t>
            </a:r>
            <a:endParaRPr lang="en-US" sz="1400" dirty="0"/>
          </a:p>
          <a:p>
            <a:pPr marL="342900" indent="-342900">
              <a:spcAft>
                <a:spcPts val="600"/>
              </a:spcAft>
              <a:buSzPct val="100000"/>
              <a:buChar char="•"/>
            </a:pPr>
            <a:r>
              <a:rPr lang="en-US" sz="1350" dirty="0">
                <a:solidFill>
                  <a:schemeClr val="tx2"/>
                </a:solidFill>
              </a:rPr>
              <a:t>BOD 26-04: the shortest patch window is three days</a:t>
            </a:r>
            <a:endParaRPr lang="en-US" sz="1400" dirty="0"/>
          </a:p>
        </p:txBody>
      </p:sp>
      <p:sp>
        <p:nvSpPr>
          <p:cNvPr id="11" name="Regression">
            <a:extLst>
              <a:ext uri="{C183D7F6-B498-43B3-948B-1728B52AA6E4}">
                <adec:decorative xmlns:adec="http://schemas.microsoft.com/office/drawing/2017/decorative" val="1"/>
              </a:ext>
            </a:extLst>
          </p:cNvPr>
          <p:cNvSpPr/>
          <p:nvPr/>
        </p:nvSpPr>
        <p:spPr>
          <a:xfrm>
            <a:off x="548640" y="4709160"/>
            <a:ext cx="11109960" cy="1188720"/>
          </a:xfrm>
          <a:prstGeom prst="roundRect">
            <a:avLst>
              <a:gd name="adj" fmla="val 6154"/>
            </a:avLst>
          </a:prstGeom>
          <a:solidFill>
            <a:srgbClr val="FFFFFF"/>
          </a:solidFill>
          <a:ln w="12700">
            <a:solidFill>
              <a:srgbClr val="B91C1C"/>
            </a:solidFill>
            <a:prstDash val="solid"/>
          </a:ln>
          <a:effectLst>
            <a:outerShdw blurRad="76200" dist="25400" dir="5400000" algn="bl" rotWithShape="0">
              <a:srgbClr val="64748B">
                <a:alpha val="22000"/>
              </a:srgbClr>
            </a:outerShdw>
          </a:effectLst>
        </p:spPr>
      </p:sp>
      <p:sp>
        <p:nvSpPr>
          <p:cNvPr id="12" name="Icon FaDoorOpen">
            <a:extLst>
              <a:ext uri="{C183D7F6-B498-43B3-948B-1728B52AA6E4}">
                <adec:decorative xmlns:adec="http://schemas.microsoft.com/office/drawing/2017/decorative" val="1"/>
              </a:ext>
            </a:extLst>
          </p:cNvPr>
          <p:cNvSpPr/>
          <p:nvPr/>
        </p:nvSpPr>
        <p:spPr>
          <a:xfrm>
            <a:off x="777240" y="4937760"/>
            <a:ext cx="731520" cy="731520"/>
          </a:xfrm>
          <a:prstGeom prst="ellipse">
            <a:avLst/>
          </a:prstGeom>
          <a:solidFill>
            <a:srgbClr val="B91C1C"/>
          </a:solidFill>
          <a:ln w="12700">
            <a:solidFill>
              <a:srgbClr val="B91C1C"/>
            </a:solidFill>
            <a:prstDash val="solid"/>
          </a:ln>
        </p:spPr>
      </p:sp>
      <p:pic>
        <p:nvPicPr>
          <p:cNvPr id="13" name="Image 1">
            <a:extLst>
              <a:ext uri="{C183D7F6-B498-43B3-948B-1728B52AA6E4}">
                <adec:decorative xmlns:adec="http://schemas.microsoft.com/office/drawing/2017/decorative" val="1"/>
              </a:ext>
            </a:extLst>
          </p:cNvPr>
          <p:cNvPicPr>
            <a:picLocks noChangeAspect="1"/>
          </p:cNvPicPr>
          <p:nvPr/>
        </p:nvPicPr>
        <p:blipFill>
          <a:blip r:embed="rId6"/>
          <a:stretch>
            <a:fillRect/>
          </a:stretch>
        </p:blipFill>
        <p:spPr>
          <a:xfrm>
            <a:off x="952805" y="5113325"/>
            <a:ext cx="380390" cy="380390"/>
          </a:xfrm>
          <a:prstGeom prst="rect">
            <a:avLst/>
          </a:prstGeom>
        </p:spPr>
      </p:pic>
      <p:sp>
        <p:nvSpPr>
          <p:cNvPr id="14" name="Regression text"/>
          <p:cNvSpPr txBox="1"/>
          <p:nvPr/>
        </p:nvSpPr>
        <p:spPr>
          <a:xfrm>
            <a:off x="1737360" y="4754880"/>
            <a:ext cx="9738360" cy="1097280"/>
          </a:xfrm>
          <a:prstGeom prst="rect">
            <a:avLst/>
          </a:prstGeom>
          <a:noFill/>
          <a:ln/>
        </p:spPr>
        <p:txBody>
          <a:bodyPr wrap="square" lIns="0" tIns="0" rIns="0" bIns="0" rtlCol="0" anchor="ctr"/>
          <a:lstStyle/>
          <a:p>
            <a:pPr marL="0" indent="0">
              <a:buNone/>
            </a:pPr>
            <a:r>
              <a:rPr lang="en-US" sz="1650" b="1" dirty="0">
                <a:solidFill>
                  <a:srgbClr val="B91C1C"/>
                </a:solidFill>
              </a:rPr>
              <a:t>Bare local breakout is a regression: </a:t>
            </a:r>
            <a:r>
              <a:rPr lang="en-US" sz="1650" dirty="0">
                <a:solidFill>
                  <a:schemeClr val="tx2"/>
                </a:solidFill>
              </a:rPr>
              <a:t>it fixes the hairpin and loses assessed boundary protection. Buy the pipe on measured physics; take the protection controls from the governor and the security service edge above it.</a:t>
            </a:r>
            <a:endParaRPr lang="en-US" sz="1650" dirty="0"/>
          </a:p>
        </p:txBody>
      </p:sp>
      <p:sp>
        <p:nvSpPr>
          <p:cNvPr id="15" name="Sources"/>
          <p:cNvSpPr txBox="1"/>
          <p:nvPr/>
        </p:nvSpPr>
        <p:spPr>
          <a:xfrm>
            <a:off x="548640" y="6053328"/>
            <a:ext cx="10424160" cy="292608"/>
          </a:xfrm>
          <a:prstGeom prst="rect">
            <a:avLst/>
          </a:prstGeom>
          <a:noFill/>
          <a:ln/>
        </p:spPr>
        <p:txBody>
          <a:bodyPr wrap="square" lIns="0" tIns="0" rIns="0" bIns="0" rtlCol="0" anchor="t"/>
          <a:lstStyle/>
          <a:p>
            <a:pPr marL="0" indent="0">
              <a:buNone/>
            </a:pPr>
            <a:r>
              <a:rPr lang="en-US" sz="1000" i="1" dirty="0">
                <a:solidFill>
                  <a:srgbClr val="64748B"/>
                </a:solidFill>
              </a:rPr>
              <a:t>Sources: NIST SP 800-53 Rev. 5 (release 5.2.0); RFC 4364; CISA BOD 26-02, ED 26-03, BOD 26-04; TIC 3.0 Branch Office Use Case v3.0. Book 09, Chapters 02 and 03.</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3</a:t>
            </a:fld>
            <a:endParaRPr lang="en-US"/>
          </a:p>
        </p:txBody>
      </p:sp>
      <p:pic>
        <p:nvPicPr>
          <p:cNvPr id="16" name="Narration" descr="Narration for this slide; captions available">
            <a:hlinkClick r:id="" action="ppaction://media"/>
            <a:extLst>
              <a:ext uri="{FF2B5EF4-FFF2-40B4-BE49-F238E27FC236}">
                <a16:creationId xmlns:a16="http://schemas.microsoft.com/office/drawing/2014/main" id="{119863FB-C4B4-FF2F-C6F8-74D4DB0D5D66}"/>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412B565E-DAF3-4EFE-8B46-F1F5264B33B7}" label="English (captions)" lang="en-US" r:embed="rId8"/>
                        </p173:trackLst>
                      </p173:tracksInfo>
                    </p:ext>
                  </p14:extLst>
                </p14:media>
              </p:ext>
            </p:extLst>
          </p:nvPr>
        </p:nvPicPr>
        <p:blipFill>
          <a:blip r:embed="rId7"/>
          <a:stretch>
            <a:fillRect/>
          </a:stretch>
        </p:blipFill>
        <p:spPr>
          <a:xfrm>
            <a:off x="127000" y="6350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70020"/>
    </mc:Choice>
    <mc:Fallback>
      <p:transition spd="slow" advTm="7002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69024" fill="hold"/>
                                        <p:tgtEl>
                                          <p:spTgt spid="16"/>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TIC 3.0 sets goals, but it isn't requirement-free</a:t>
            </a:r>
            <a:endParaRPr lang="en-US" sz="3000" dirty="0"/>
          </a:p>
        </p:txBody>
      </p:sp>
      <p:sp>
        <p:nvSpPr>
          <p:cNvPr id="3" name="Tag What">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1F2A44"/>
          </a:solidFill>
          <a:ln w="12700">
            <a:solidFill>
              <a:srgbClr val="1F2A44"/>
            </a:solidFill>
            <a:prstDash val="solid"/>
          </a:ln>
        </p:spPr>
      </p:sp>
      <p:sp>
        <p:nvSpPr>
          <p:cNvPr id="4" name="Tag What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WHAT</a:t>
            </a:r>
            <a:endParaRPr lang="en-US" sz="1100" dirty="0"/>
          </a:p>
        </p:txBody>
      </p:sp>
      <p:sp>
        <p:nvSpPr>
          <p:cNvPr id="5" name="Policy card 1">
            <a:extLst>
              <a:ext uri="{C183D7F6-B498-43B3-948B-1728B52AA6E4}">
                <adec:decorative xmlns:adec="http://schemas.microsoft.com/office/drawing/2017/decorative" val="1"/>
              </a:ext>
            </a:extLst>
          </p:cNvPr>
          <p:cNvSpPr/>
          <p:nvPr/>
        </p:nvSpPr>
        <p:spPr>
          <a:xfrm>
            <a:off x="548640" y="1417320"/>
            <a:ext cx="3611880" cy="3246120"/>
          </a:xfrm>
          <a:prstGeom prst="roundRect">
            <a:avLst>
              <a:gd name="adj" fmla="val 2254"/>
            </a:avLst>
          </a:prstGeom>
          <a:solidFill>
            <a:srgbClr val="E4EAF4"/>
          </a:solidFill>
          <a:ln w="12700">
            <a:solidFill>
              <a:srgbClr val="E4EAF4"/>
            </a:solidFill>
            <a:prstDash val="solid"/>
          </a:ln>
          <a:effectLst>
            <a:outerShdw blurRad="76200" dist="25400" dir="5400000" algn="bl" rotWithShape="0">
              <a:srgbClr val="64748B">
                <a:alpha val="22000"/>
              </a:srgbClr>
            </a:outerShdw>
          </a:effectLst>
        </p:spPr>
      </p:sp>
      <p:sp>
        <p:nvSpPr>
          <p:cNvPr id="6" name="Icon FaBook">
            <a:extLst>
              <a:ext uri="{C183D7F6-B498-43B3-948B-1728B52AA6E4}">
                <adec:decorative xmlns:adec="http://schemas.microsoft.com/office/drawing/2017/decorative" val="1"/>
              </a:ext>
            </a:extLst>
          </p:cNvPr>
          <p:cNvSpPr/>
          <p:nvPr/>
        </p:nvSpPr>
        <p:spPr>
          <a:xfrm>
            <a:off x="749808" y="1572768"/>
            <a:ext cx="566928" cy="566928"/>
          </a:xfrm>
          <a:prstGeom prst="ellipse">
            <a:avLst/>
          </a:prstGeom>
          <a:solidFill>
            <a:srgbClr val="1F2A44"/>
          </a:solidFill>
          <a:ln w="12700">
            <a:solidFill>
              <a:srgbClr val="1F2A44"/>
            </a:solidFill>
            <a:prstDash val="solid"/>
          </a:ln>
        </p:spPr>
      </p:sp>
      <p:pic>
        <p:nvPicPr>
          <p:cNvPr id="7" name="Image 0">
            <a:extLst>
              <a:ext uri="{C183D7F6-B498-43B3-948B-1728B52AA6E4}">
                <adec:decorative xmlns:adec="http://schemas.microsoft.com/office/drawing/2017/decorative" val="1"/>
              </a:ext>
            </a:extLst>
          </p:cNvPr>
          <p:cNvPicPr>
            <a:picLocks noChangeAspect="1"/>
          </p:cNvPicPr>
          <p:nvPr/>
        </p:nvPicPr>
        <p:blipFill>
          <a:blip r:embed="rId5"/>
          <a:stretch>
            <a:fillRect/>
          </a:stretch>
        </p:blipFill>
        <p:spPr>
          <a:xfrm>
            <a:off x="885871" y="1708831"/>
            <a:ext cx="294803" cy="294803"/>
          </a:xfrm>
          <a:prstGeom prst="rect">
            <a:avLst/>
          </a:prstGeom>
        </p:spPr>
      </p:pic>
      <p:sp>
        <p:nvSpPr>
          <p:cNvPr id="8" name="Policy head 1"/>
          <p:cNvSpPr txBox="1"/>
          <p:nvPr/>
        </p:nvSpPr>
        <p:spPr>
          <a:xfrm>
            <a:off x="1463040" y="1572768"/>
            <a:ext cx="2560320" cy="566928"/>
          </a:xfrm>
          <a:prstGeom prst="rect">
            <a:avLst/>
          </a:prstGeom>
          <a:noFill/>
          <a:ln/>
        </p:spPr>
        <p:txBody>
          <a:bodyPr wrap="square" lIns="0" tIns="0" rIns="0" bIns="0" rtlCol="0" anchor="ctr"/>
          <a:lstStyle/>
          <a:p>
            <a:pPr marL="0" indent="0">
              <a:buNone/>
            </a:pPr>
            <a:r>
              <a:rPr lang="en-US" sz="1700" b="1" dirty="0">
                <a:solidFill>
                  <a:srgbClr val="1F2A44"/>
                </a:solidFill>
                <a:latin typeface="Cambria" pitchFamily="34" charset="0"/>
                <a:ea typeface="Cambria" pitchFamily="34" charset="-122"/>
                <a:cs typeface="Cambria" pitchFamily="34" charset="-120"/>
              </a:rPr>
              <a:t>TIC 3.0 as it reads</a:t>
            </a:r>
            <a:endParaRPr lang="en-US" sz="1700" dirty="0"/>
          </a:p>
        </p:txBody>
      </p:sp>
      <p:sp>
        <p:nvSpPr>
          <p:cNvPr id="9" name="Policy text 1"/>
          <p:cNvSpPr txBox="1"/>
          <p:nvPr/>
        </p:nvSpPr>
        <p:spPr>
          <a:xfrm>
            <a:off x="777240" y="2286000"/>
            <a:ext cx="3200400" cy="2286000"/>
          </a:xfrm>
          <a:prstGeom prst="rect">
            <a:avLst/>
          </a:prstGeom>
          <a:noFill/>
          <a:ln/>
        </p:spPr>
        <p:txBody>
          <a:bodyPr wrap="square" lIns="0" tIns="0" rIns="0" bIns="0" rtlCol="0" anchor="t"/>
          <a:lstStyle/>
          <a:p>
            <a:pPr marL="342900" indent="-342900">
              <a:spcAft>
                <a:spcPts val="600"/>
              </a:spcAft>
              <a:buSzPct val="100000"/>
              <a:buChar char="•"/>
            </a:pPr>
            <a:r>
              <a:rPr lang="en-US" sz="1350" dirty="0">
                <a:solidFill>
                  <a:schemeClr val="tx2"/>
                </a:solidFill>
              </a:rPr>
              <a:t>Four use cases; no SASE use case</a:t>
            </a:r>
            <a:endParaRPr lang="en-US" sz="1400" dirty="0"/>
          </a:p>
          <a:p>
            <a:pPr marL="342900" indent="-342900">
              <a:spcAft>
                <a:spcPts val="600"/>
              </a:spcAft>
              <a:buSzPct val="100000"/>
              <a:buChar char="•"/>
            </a:pPr>
            <a:r>
              <a:rPr lang="en-US" sz="1350" dirty="0">
                <a:solidFill>
                  <a:schemeClr val="tx2"/>
                </a:solidFill>
              </a:rPr>
              <a:t>Catalog v3.3: goals, not methods</a:t>
            </a:r>
            <a:endParaRPr lang="en-US" sz="1400" dirty="0"/>
          </a:p>
          <a:p>
            <a:pPr marL="342900" indent="-342900">
              <a:spcAft>
                <a:spcPts val="600"/>
              </a:spcAft>
              <a:buSzPct val="100000"/>
              <a:buChar char="•"/>
            </a:pPr>
            <a:r>
              <a:rPr lang="en-US" sz="1350" dirty="0">
                <a:solidFill>
                  <a:schemeClr val="tx2"/>
                </a:solidFill>
              </a:rPr>
              <a:t>Parity on every path</a:t>
            </a:r>
            <a:endParaRPr lang="en-US" sz="1400" dirty="0"/>
          </a:p>
          <a:p>
            <a:pPr marL="342900" indent="-342900">
              <a:spcAft>
                <a:spcPts val="600"/>
              </a:spcAft>
              <a:buSzPct val="100000"/>
              <a:buChar char="•"/>
            </a:pPr>
            <a:r>
              <a:rPr lang="en-US" sz="1350" dirty="0">
                <a:solidFill>
                  <a:schemeClr val="tx2"/>
                </a:solidFill>
              </a:rPr>
              <a:t>Preserve CISA's visibility</a:t>
            </a:r>
            <a:endParaRPr lang="en-US" sz="1400" dirty="0"/>
          </a:p>
        </p:txBody>
      </p:sp>
      <p:sp>
        <p:nvSpPr>
          <p:cNvPr id="10" name="Policy card 2">
            <a:extLst>
              <a:ext uri="{C183D7F6-B498-43B3-948B-1728B52AA6E4}">
                <adec:decorative xmlns:adec="http://schemas.microsoft.com/office/drawing/2017/decorative" val="1"/>
              </a:ext>
            </a:extLst>
          </p:cNvPr>
          <p:cNvSpPr/>
          <p:nvPr/>
        </p:nvSpPr>
        <p:spPr>
          <a:xfrm>
            <a:off x="4297680" y="1417320"/>
            <a:ext cx="3611880" cy="3246120"/>
          </a:xfrm>
          <a:prstGeom prst="roundRect">
            <a:avLst>
              <a:gd name="adj" fmla="val 2254"/>
            </a:avLst>
          </a:prstGeom>
          <a:solidFill>
            <a:srgbClr val="DCEFEC"/>
          </a:solidFill>
          <a:ln w="12700">
            <a:solidFill>
              <a:srgbClr val="DCEFEC"/>
            </a:solidFill>
            <a:prstDash val="solid"/>
          </a:ln>
          <a:effectLst>
            <a:outerShdw blurRad="76200" dist="25400" dir="5400000" algn="bl" rotWithShape="0">
              <a:srgbClr val="64748B">
                <a:alpha val="22000"/>
              </a:srgbClr>
            </a:outerShdw>
          </a:effectLst>
        </p:spPr>
      </p:sp>
      <p:sp>
        <p:nvSpPr>
          <p:cNvPr id="11" name="Icon FaFileShield">
            <a:extLst>
              <a:ext uri="{C183D7F6-B498-43B3-948B-1728B52AA6E4}">
                <adec:decorative xmlns:adec="http://schemas.microsoft.com/office/drawing/2017/decorative" val="1"/>
              </a:ext>
            </a:extLst>
          </p:cNvPr>
          <p:cNvSpPr/>
          <p:nvPr/>
        </p:nvSpPr>
        <p:spPr>
          <a:xfrm>
            <a:off x="4498848" y="1572768"/>
            <a:ext cx="566928" cy="566928"/>
          </a:xfrm>
          <a:prstGeom prst="ellipse">
            <a:avLst/>
          </a:prstGeom>
          <a:solidFill>
            <a:srgbClr val="0F766E"/>
          </a:solidFill>
          <a:ln w="12700">
            <a:solidFill>
              <a:srgbClr val="0F766E"/>
            </a:solidFill>
            <a:prstDash val="solid"/>
          </a:ln>
        </p:spPr>
      </p:sp>
      <p:pic>
        <p:nvPicPr>
          <p:cNvPr id="12" name="Image 1">
            <a:extLst>
              <a:ext uri="{C183D7F6-B498-43B3-948B-1728B52AA6E4}">
                <adec:decorative xmlns:adec="http://schemas.microsoft.com/office/drawing/2017/decorative" val="1"/>
              </a:ext>
            </a:extLst>
          </p:cNvPr>
          <p:cNvPicPr>
            <a:picLocks noChangeAspect="1"/>
          </p:cNvPicPr>
          <p:nvPr/>
        </p:nvPicPr>
        <p:blipFill>
          <a:blip r:embed="rId6"/>
          <a:stretch>
            <a:fillRect/>
          </a:stretch>
        </p:blipFill>
        <p:spPr>
          <a:xfrm>
            <a:off x="4634911" y="1708831"/>
            <a:ext cx="294803" cy="294803"/>
          </a:xfrm>
          <a:prstGeom prst="rect">
            <a:avLst/>
          </a:prstGeom>
        </p:spPr>
      </p:pic>
      <p:sp>
        <p:nvSpPr>
          <p:cNvPr id="13" name="Policy head 2"/>
          <p:cNvSpPr txBox="1"/>
          <p:nvPr/>
        </p:nvSpPr>
        <p:spPr>
          <a:xfrm>
            <a:off x="5212080" y="1572768"/>
            <a:ext cx="2560320" cy="566928"/>
          </a:xfrm>
          <a:prstGeom prst="rect">
            <a:avLst/>
          </a:prstGeom>
          <a:noFill/>
          <a:ln/>
        </p:spPr>
        <p:txBody>
          <a:bodyPr wrap="square" lIns="0" tIns="0" rIns="0" bIns="0" rtlCol="0" anchor="ctr"/>
          <a:lstStyle/>
          <a:p>
            <a:pPr marL="0" indent="0">
              <a:buNone/>
            </a:pPr>
            <a:r>
              <a:rPr lang="en-US" sz="1700" b="1" dirty="0">
                <a:solidFill>
                  <a:srgbClr val="0F766E"/>
                </a:solidFill>
                <a:latin typeface="Cambria" pitchFamily="34" charset="0"/>
                <a:ea typeface="Cambria" pitchFamily="34" charset="-122"/>
                <a:cs typeface="Cambria" pitchFamily="34" charset="-120"/>
              </a:rPr>
              <a:t>OMB M-26-14 logging</a:t>
            </a:r>
            <a:endParaRPr lang="en-US" sz="1700" dirty="0"/>
          </a:p>
        </p:txBody>
      </p:sp>
      <p:sp>
        <p:nvSpPr>
          <p:cNvPr id="14" name="Policy text 2"/>
          <p:cNvSpPr txBox="1"/>
          <p:nvPr/>
        </p:nvSpPr>
        <p:spPr>
          <a:xfrm>
            <a:off x="4526280" y="2286000"/>
            <a:ext cx="3200400" cy="2286000"/>
          </a:xfrm>
          <a:prstGeom prst="rect">
            <a:avLst/>
          </a:prstGeom>
          <a:noFill/>
          <a:ln/>
        </p:spPr>
        <p:txBody>
          <a:bodyPr wrap="square" lIns="0" tIns="0" rIns="0" bIns="0" rtlCol="0" anchor="t"/>
          <a:lstStyle/>
          <a:p>
            <a:pPr marL="342900" indent="-342900">
              <a:spcAft>
                <a:spcPts val="600"/>
              </a:spcAft>
              <a:buSzPct val="100000"/>
              <a:buChar char="•"/>
            </a:pPr>
            <a:r>
              <a:rPr lang="en-US" sz="1350" dirty="0">
                <a:solidFill>
                  <a:schemeClr val="tx2"/>
                </a:solidFill>
              </a:rPr>
              <a:t>Rescinded M-21-31, May 22, 2026</a:t>
            </a:r>
            <a:endParaRPr lang="en-US" sz="1400" dirty="0"/>
          </a:p>
          <a:p>
            <a:pPr marL="342900" indent="-342900">
              <a:spcAft>
                <a:spcPts val="600"/>
              </a:spcAft>
              <a:buSzPct val="100000"/>
              <a:buChar char="•"/>
            </a:pPr>
            <a:r>
              <a:rPr lang="en-US" sz="1350" dirty="0">
                <a:solidFill>
                  <a:schemeClr val="tx2"/>
                </a:solidFill>
              </a:rPr>
              <a:t>Searchable 6 months, retrievable 1 year</a:t>
            </a:r>
            <a:endParaRPr lang="en-US" sz="1400" dirty="0"/>
          </a:p>
          <a:p>
            <a:pPr marL="342900" indent="-342900">
              <a:spcAft>
                <a:spcPts val="600"/>
              </a:spcAft>
              <a:buSzPct val="100000"/>
              <a:buChar char="•"/>
            </a:pPr>
            <a:r>
              <a:rPr lang="en-US" sz="1350" dirty="0">
                <a:solidFill>
                  <a:schemeClr val="tx2"/>
                </a:solidFill>
              </a:rPr>
              <a:t>Addresses, ports and sessions</a:t>
            </a:r>
            <a:endParaRPr lang="en-US" sz="1400" dirty="0"/>
          </a:p>
          <a:p>
            <a:pPr marL="342900" indent="-342900">
              <a:spcAft>
                <a:spcPts val="600"/>
              </a:spcAft>
              <a:buSzPct val="100000"/>
              <a:buChar char="•"/>
            </a:pPr>
            <a:r>
              <a:rPr lang="en-US" sz="1350" dirty="0">
                <a:solidFill>
                  <a:schemeClr val="tx2"/>
                </a:solidFill>
              </a:rPr>
              <a:t>First plan due November 18, 2026</a:t>
            </a:r>
            <a:endParaRPr lang="en-US" sz="1400" dirty="0"/>
          </a:p>
        </p:txBody>
      </p:sp>
      <p:sp>
        <p:nvSpPr>
          <p:cNvPr id="15" name="Policy card 3">
            <a:extLst>
              <a:ext uri="{C183D7F6-B498-43B3-948B-1728B52AA6E4}">
                <adec:decorative xmlns:adec="http://schemas.microsoft.com/office/drawing/2017/decorative" val="1"/>
              </a:ext>
            </a:extLst>
          </p:cNvPr>
          <p:cNvSpPr/>
          <p:nvPr/>
        </p:nvSpPr>
        <p:spPr>
          <a:xfrm>
            <a:off x="8046720" y="1417320"/>
            <a:ext cx="3611880" cy="3246120"/>
          </a:xfrm>
          <a:prstGeom prst="roundRect">
            <a:avLst>
              <a:gd name="adj" fmla="val 2254"/>
            </a:avLst>
          </a:prstGeom>
          <a:solidFill>
            <a:srgbClr val="FBEEDC"/>
          </a:solidFill>
          <a:ln w="12700">
            <a:solidFill>
              <a:srgbClr val="FBEEDC"/>
            </a:solidFill>
            <a:prstDash val="solid"/>
          </a:ln>
          <a:effectLst>
            <a:outerShdw blurRad="76200" dist="25400" dir="5400000" algn="bl" rotWithShape="0">
              <a:srgbClr val="64748B">
                <a:alpha val="22000"/>
              </a:srgbClr>
            </a:outerShdw>
          </a:effectLst>
        </p:spPr>
      </p:sp>
      <p:sp>
        <p:nvSpPr>
          <p:cNvPr id="16" name="Icon FaCloudArrowUp">
            <a:extLst>
              <a:ext uri="{C183D7F6-B498-43B3-948B-1728B52AA6E4}">
                <adec:decorative xmlns:adec="http://schemas.microsoft.com/office/drawing/2017/decorative" val="1"/>
              </a:ext>
            </a:extLst>
          </p:cNvPr>
          <p:cNvSpPr/>
          <p:nvPr/>
        </p:nvSpPr>
        <p:spPr>
          <a:xfrm>
            <a:off x="8247888" y="1572768"/>
            <a:ext cx="566928" cy="566928"/>
          </a:xfrm>
          <a:prstGeom prst="ellipse">
            <a:avLst/>
          </a:prstGeom>
          <a:solidFill>
            <a:srgbClr val="B45309"/>
          </a:solidFill>
          <a:ln w="12700">
            <a:solidFill>
              <a:srgbClr val="B45309"/>
            </a:solidFill>
            <a:prstDash val="solid"/>
          </a:ln>
        </p:spPr>
      </p:sp>
      <p:pic>
        <p:nvPicPr>
          <p:cNvPr id="17" name="Image 2">
            <a:extLst>
              <a:ext uri="{C183D7F6-B498-43B3-948B-1728B52AA6E4}">
                <adec:decorative xmlns:adec="http://schemas.microsoft.com/office/drawing/2017/decorative" val="1"/>
              </a:ext>
            </a:extLst>
          </p:cNvPr>
          <p:cNvPicPr>
            <a:picLocks noChangeAspect="1"/>
          </p:cNvPicPr>
          <p:nvPr/>
        </p:nvPicPr>
        <p:blipFill>
          <a:blip r:embed="rId7"/>
          <a:stretch>
            <a:fillRect/>
          </a:stretch>
        </p:blipFill>
        <p:spPr>
          <a:xfrm>
            <a:off x="8383951" y="1708831"/>
            <a:ext cx="294803" cy="294803"/>
          </a:xfrm>
          <a:prstGeom prst="rect">
            <a:avLst/>
          </a:prstGeom>
        </p:spPr>
      </p:pic>
      <p:sp>
        <p:nvSpPr>
          <p:cNvPr id="18" name="Policy head 3"/>
          <p:cNvSpPr txBox="1"/>
          <p:nvPr/>
        </p:nvSpPr>
        <p:spPr>
          <a:xfrm>
            <a:off x="8961120" y="1572768"/>
            <a:ext cx="2560320" cy="566928"/>
          </a:xfrm>
          <a:prstGeom prst="rect">
            <a:avLst/>
          </a:prstGeom>
          <a:noFill/>
          <a:ln/>
        </p:spPr>
        <p:txBody>
          <a:bodyPr wrap="square" lIns="0" tIns="0" rIns="0" bIns="0" rtlCol="0" anchor="ctr"/>
          <a:lstStyle/>
          <a:p>
            <a:pPr marL="0" indent="0">
              <a:buNone/>
            </a:pPr>
            <a:r>
              <a:rPr lang="en-US" sz="1700" b="1" dirty="0">
                <a:solidFill>
                  <a:srgbClr val="B45309"/>
                </a:solidFill>
                <a:latin typeface="Cambria" pitchFamily="34" charset="0"/>
                <a:ea typeface="Cambria" pitchFamily="34" charset="-122"/>
                <a:cs typeface="Cambria" pitchFamily="34" charset="-120"/>
              </a:rPr>
              <a:t>CLAW, not MTIPS sensors</a:t>
            </a:r>
            <a:endParaRPr lang="en-US" sz="1700" dirty="0"/>
          </a:p>
        </p:txBody>
      </p:sp>
      <p:sp>
        <p:nvSpPr>
          <p:cNvPr id="19" name="Policy text 3"/>
          <p:cNvSpPr txBox="1"/>
          <p:nvPr/>
        </p:nvSpPr>
        <p:spPr>
          <a:xfrm>
            <a:off x="8275320" y="2286000"/>
            <a:ext cx="3200400" cy="2286000"/>
          </a:xfrm>
          <a:prstGeom prst="rect">
            <a:avLst/>
          </a:prstGeom>
          <a:noFill/>
          <a:ln/>
        </p:spPr>
        <p:txBody>
          <a:bodyPr wrap="square" lIns="0" tIns="0" rIns="0" bIns="0" rtlCol="0" anchor="t"/>
          <a:lstStyle/>
          <a:p>
            <a:pPr marL="342900" indent="-342900">
              <a:spcAft>
                <a:spcPts val="600"/>
              </a:spcAft>
              <a:buSzPct val="100000"/>
              <a:buChar char="•"/>
            </a:pPr>
            <a:r>
              <a:rPr lang="en-US" sz="1350" dirty="0">
                <a:solidFill>
                  <a:schemeClr val="tx2"/>
                </a:solidFill>
              </a:rPr>
              <a:t>Sensor feed stops at local breakout</a:t>
            </a:r>
            <a:endParaRPr lang="en-US" sz="1400" dirty="0"/>
          </a:p>
          <a:p>
            <a:pPr marL="342900" indent="-342900">
              <a:spcAft>
                <a:spcPts val="600"/>
              </a:spcAft>
              <a:buSzPct val="100000"/>
              <a:buChar char="•"/>
            </a:pPr>
            <a:r>
              <a:rPr lang="en-US" sz="1350" dirty="0">
                <a:solidFill>
                  <a:schemeClr val="tx2"/>
                </a:solidFill>
              </a:rPr>
              <a:t>Comprehensive Log Aggregation Warehouse</a:t>
            </a:r>
            <a:endParaRPr lang="en-US" sz="1400" dirty="0"/>
          </a:p>
          <a:p>
            <a:pPr marL="342900" indent="-342900">
              <a:spcAft>
                <a:spcPts val="600"/>
              </a:spcAft>
              <a:buSzPct val="100000"/>
              <a:buChar char="•"/>
            </a:pPr>
            <a:r>
              <a:rPr lang="en-US" sz="1350" dirty="0">
                <a:solidFill>
                  <a:schemeClr val="tx2"/>
                </a:solidFill>
              </a:rPr>
              <a:t>Agency, CISA and provider onboard it</a:t>
            </a:r>
            <a:endParaRPr lang="en-US" sz="1400" dirty="0"/>
          </a:p>
          <a:p>
            <a:pPr marL="342900" indent="-342900">
              <a:spcAft>
                <a:spcPts val="600"/>
              </a:spcAft>
              <a:buSzPct val="100000"/>
              <a:buChar char="•"/>
            </a:pPr>
            <a:r>
              <a:rPr lang="en-US" sz="1350" dirty="0">
                <a:solidFill>
                  <a:schemeClr val="tx2"/>
                </a:solidFill>
              </a:rPr>
              <a:t>Keep MTIPS until CISA confirms parity</a:t>
            </a:r>
            <a:endParaRPr lang="en-US" sz="1400" dirty="0"/>
          </a:p>
        </p:txBody>
      </p:sp>
      <p:sp>
        <p:nvSpPr>
          <p:cNvPr id="20" name="Obligations">
            <a:extLst>
              <a:ext uri="{C183D7F6-B498-43B3-948B-1728B52AA6E4}">
                <adec:decorative xmlns:adec="http://schemas.microsoft.com/office/drawing/2017/decorative" val="1"/>
              </a:ext>
            </a:extLst>
          </p:cNvPr>
          <p:cNvSpPr/>
          <p:nvPr/>
        </p:nvSpPr>
        <p:spPr>
          <a:xfrm>
            <a:off x="548640" y="4846320"/>
            <a:ext cx="11109960" cy="1097280"/>
          </a:xfrm>
          <a:prstGeom prst="roundRect">
            <a:avLst>
              <a:gd name="adj" fmla="val 6667"/>
            </a:avLst>
          </a:prstGeom>
          <a:solidFill>
            <a:srgbClr val="FFFFFF"/>
          </a:solidFill>
          <a:ln w="12700">
            <a:solidFill>
              <a:srgbClr val="B91C1C"/>
            </a:solidFill>
            <a:prstDash val="solid"/>
          </a:ln>
          <a:effectLst>
            <a:outerShdw blurRad="76200" dist="25400" dir="5400000" algn="bl" rotWithShape="0">
              <a:srgbClr val="64748B">
                <a:alpha val="22000"/>
              </a:srgbClr>
            </a:outerShdw>
          </a:effectLst>
        </p:spPr>
      </p:sp>
      <p:sp>
        <p:nvSpPr>
          <p:cNvPr id="21" name="Icon FaLandmark">
            <a:extLst>
              <a:ext uri="{C183D7F6-B498-43B3-948B-1728B52AA6E4}">
                <adec:decorative xmlns:adec="http://schemas.microsoft.com/office/drawing/2017/decorative" val="1"/>
              </a:ext>
            </a:extLst>
          </p:cNvPr>
          <p:cNvSpPr/>
          <p:nvPr/>
        </p:nvSpPr>
        <p:spPr>
          <a:xfrm>
            <a:off x="777240" y="5029200"/>
            <a:ext cx="731520" cy="731520"/>
          </a:xfrm>
          <a:prstGeom prst="ellipse">
            <a:avLst/>
          </a:prstGeom>
          <a:solidFill>
            <a:srgbClr val="B91C1C"/>
          </a:solidFill>
          <a:ln w="12700">
            <a:solidFill>
              <a:srgbClr val="B91C1C"/>
            </a:solidFill>
            <a:prstDash val="solid"/>
          </a:ln>
        </p:spPr>
      </p:sp>
      <p:pic>
        <p:nvPicPr>
          <p:cNvPr id="22" name="Image 3">
            <a:extLst>
              <a:ext uri="{C183D7F6-B498-43B3-948B-1728B52AA6E4}">
                <adec:decorative xmlns:adec="http://schemas.microsoft.com/office/drawing/2017/decorative" val="1"/>
              </a:ext>
            </a:extLst>
          </p:cNvPr>
          <p:cNvPicPr>
            <a:picLocks noChangeAspect="1"/>
          </p:cNvPicPr>
          <p:nvPr/>
        </p:nvPicPr>
        <p:blipFill>
          <a:blip r:embed="rId8"/>
          <a:stretch>
            <a:fillRect/>
          </a:stretch>
        </p:blipFill>
        <p:spPr>
          <a:xfrm>
            <a:off x="952805" y="5204765"/>
            <a:ext cx="380390" cy="380390"/>
          </a:xfrm>
          <a:prstGeom prst="rect">
            <a:avLst/>
          </a:prstGeom>
        </p:spPr>
      </p:pic>
      <p:sp>
        <p:nvSpPr>
          <p:cNvPr id="23" name="Obligations text"/>
          <p:cNvSpPr txBox="1"/>
          <p:nvPr/>
        </p:nvSpPr>
        <p:spPr>
          <a:xfrm>
            <a:off x="1737360" y="4892040"/>
            <a:ext cx="9738360" cy="1005840"/>
          </a:xfrm>
          <a:prstGeom prst="rect">
            <a:avLst/>
          </a:prstGeom>
          <a:noFill/>
          <a:ln/>
        </p:spPr>
        <p:txBody>
          <a:bodyPr wrap="square" lIns="0" tIns="0" rIns="0" bIns="0" rtlCol="0" anchor="ctr"/>
          <a:lstStyle/>
          <a:p>
            <a:pPr marL="0" indent="0">
              <a:buNone/>
            </a:pPr>
            <a:r>
              <a:rPr lang="en-US" sz="1650" b="1" dirty="0">
                <a:solidFill>
                  <a:srgbClr val="B91C1C"/>
                </a:solidFill>
              </a:rPr>
              <a:t>Four obligations still land on the branch: </a:t>
            </a:r>
            <a:r>
              <a:rPr lang="en-US" sz="1650" dirty="0">
                <a:solidFill>
                  <a:schemeClr val="tx2"/>
                </a:solidFill>
              </a:rPr>
              <a:t>Protective DNS for all egress DNS; BOD 23-02 for management interfaces; BOD 26-02 for end-of-support edge devices; and M-26-15 post-quantum key exchange on anything terminating TLS or IPsec.</a:t>
            </a:r>
            <a:endParaRPr lang="en-US" sz="1650" dirty="0"/>
          </a:p>
        </p:txBody>
      </p:sp>
      <p:sp>
        <p:nvSpPr>
          <p:cNvPr id="24" name="Sources"/>
          <p:cNvSpPr txBox="1"/>
          <p:nvPr/>
        </p:nvSpPr>
        <p:spPr>
          <a:xfrm>
            <a:off x="548640" y="6053328"/>
            <a:ext cx="10424160" cy="292608"/>
          </a:xfrm>
          <a:prstGeom prst="rect">
            <a:avLst/>
          </a:prstGeom>
          <a:noFill/>
          <a:ln/>
        </p:spPr>
        <p:txBody>
          <a:bodyPr wrap="square" lIns="0" tIns="0" rIns="0" bIns="0" rtlCol="0" anchor="t"/>
          <a:lstStyle/>
          <a:p>
            <a:pPr marL="0" indent="0">
              <a:buNone/>
            </a:pPr>
            <a:r>
              <a:rPr lang="en-US" sz="1000" i="1" dirty="0">
                <a:solidFill>
                  <a:srgbClr val="64748B"/>
                </a:solidFill>
              </a:rPr>
              <a:t>Sources: CISA TIC 3.0 core guidance and Branch Office Use Case v3.0; CISA SASE guide (June 2026); OMB M-26-14, M-26-15, M-22-09; BOD 23-02, BOD 26-02. Book 09, Chapter 03.</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4</a:t>
            </a:fld>
            <a:endParaRPr lang="en-US"/>
          </a:p>
        </p:txBody>
      </p:sp>
      <p:pic>
        <p:nvPicPr>
          <p:cNvPr id="26" name="Narration" descr="Narration for this slide; captions available">
            <a:hlinkClick r:id="" action="ppaction://media"/>
            <a:extLst>
              <a:ext uri="{FF2B5EF4-FFF2-40B4-BE49-F238E27FC236}">
                <a16:creationId xmlns:a16="http://schemas.microsoft.com/office/drawing/2014/main" id="{9D7B1D04-4231-4FD5-4999-6EB0A56D502B}"/>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B43E5CC2-030D-4832-B015-0F04D30E13EF}" label="English (captions)" lang="en-US" r:embed="rId10"/>
                        </p173:trackLst>
                      </p173:tracksInfo>
                    </p:ext>
                  </p14:extLst>
                </p14:media>
              </p:ext>
            </p:extLst>
          </p:nvPr>
        </p:nvPicPr>
        <p:blipFill>
          <a:blip r:embed="rId9"/>
          <a:stretch>
            <a:fillRect/>
          </a:stretch>
        </p:blipFill>
        <p:spPr>
          <a:xfrm>
            <a:off x="127000" y="6350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76100"/>
    </mc:Choice>
    <mc:Fallback>
      <p:transition spd="slow" advTm="7610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75096" fill="hold"/>
                                        <p:tgtEl>
                                          <p:spTgt spid="26"/>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Centralize the truth; let tokens carry the trust</a:t>
            </a:r>
            <a:endParaRPr lang="en-US" sz="3000" dirty="0"/>
          </a:p>
        </p:txBody>
      </p:sp>
      <p:sp>
        <p:nvSpPr>
          <p:cNvPr id="3" name="Tag What">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1F2A44"/>
          </a:solidFill>
          <a:ln w="12700">
            <a:solidFill>
              <a:srgbClr val="1F2A44"/>
            </a:solidFill>
            <a:prstDash val="solid"/>
          </a:ln>
        </p:spPr>
      </p:sp>
      <p:sp>
        <p:nvSpPr>
          <p:cNvPr id="4" name="Tag What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WHAT</a:t>
            </a:r>
            <a:endParaRPr lang="en-US" sz="1100" dirty="0"/>
          </a:p>
        </p:txBody>
      </p:sp>
      <p:sp>
        <p:nvSpPr>
          <p:cNvPr id="5" name="Data card 1">
            <a:extLst>
              <a:ext uri="{C183D7F6-B498-43B3-948B-1728B52AA6E4}">
                <adec:decorative xmlns:adec="http://schemas.microsoft.com/office/drawing/2017/decorative" val="1"/>
              </a:ext>
            </a:extLst>
          </p:cNvPr>
          <p:cNvSpPr/>
          <p:nvPr/>
        </p:nvSpPr>
        <p:spPr>
          <a:xfrm>
            <a:off x="548640" y="1417320"/>
            <a:ext cx="3611880" cy="3246120"/>
          </a:xfrm>
          <a:prstGeom prst="roundRect">
            <a:avLst>
              <a:gd name="adj" fmla="val 2254"/>
            </a:avLst>
          </a:prstGeom>
          <a:solidFill>
            <a:srgbClr val="E4EAF4"/>
          </a:solidFill>
          <a:ln w="12700">
            <a:solidFill>
              <a:srgbClr val="E4EAF4"/>
            </a:solidFill>
            <a:prstDash val="solid"/>
          </a:ln>
          <a:effectLst>
            <a:outerShdw blurRad="76200" dist="25400" dir="5400000" algn="bl" rotWithShape="0">
              <a:srgbClr val="64748B">
                <a:alpha val="22000"/>
              </a:srgbClr>
            </a:outerShdw>
          </a:effectLst>
        </p:spPr>
      </p:sp>
      <p:sp>
        <p:nvSpPr>
          <p:cNvPr id="6" name="Icon FaDatabase">
            <a:extLst>
              <a:ext uri="{C183D7F6-B498-43B3-948B-1728B52AA6E4}">
                <adec:decorative xmlns:adec="http://schemas.microsoft.com/office/drawing/2017/decorative" val="1"/>
              </a:ext>
            </a:extLst>
          </p:cNvPr>
          <p:cNvSpPr/>
          <p:nvPr/>
        </p:nvSpPr>
        <p:spPr>
          <a:xfrm>
            <a:off x="749808" y="1572768"/>
            <a:ext cx="566928" cy="566928"/>
          </a:xfrm>
          <a:prstGeom prst="ellipse">
            <a:avLst/>
          </a:prstGeom>
          <a:solidFill>
            <a:srgbClr val="1F2A44"/>
          </a:solidFill>
          <a:ln w="12700">
            <a:solidFill>
              <a:srgbClr val="1F2A44"/>
            </a:solidFill>
            <a:prstDash val="solid"/>
          </a:ln>
        </p:spPr>
      </p:sp>
      <p:pic>
        <p:nvPicPr>
          <p:cNvPr id="7" name="Image 0">
            <a:extLst>
              <a:ext uri="{C183D7F6-B498-43B3-948B-1728B52AA6E4}">
                <adec:decorative xmlns:adec="http://schemas.microsoft.com/office/drawing/2017/decorative" val="1"/>
              </a:ext>
            </a:extLst>
          </p:cNvPr>
          <p:cNvPicPr>
            <a:picLocks noChangeAspect="1"/>
          </p:cNvPicPr>
          <p:nvPr/>
        </p:nvPicPr>
        <p:blipFill>
          <a:blip r:embed="rId5"/>
          <a:stretch>
            <a:fillRect/>
          </a:stretch>
        </p:blipFill>
        <p:spPr>
          <a:xfrm>
            <a:off x="885871" y="1708831"/>
            <a:ext cx="294803" cy="294803"/>
          </a:xfrm>
          <a:prstGeom prst="rect">
            <a:avLst/>
          </a:prstGeom>
        </p:spPr>
      </p:pic>
      <p:sp>
        <p:nvSpPr>
          <p:cNvPr id="8" name="Data head 1"/>
          <p:cNvSpPr txBox="1"/>
          <p:nvPr/>
        </p:nvSpPr>
        <p:spPr>
          <a:xfrm>
            <a:off x="1463040" y="1572768"/>
            <a:ext cx="2560320" cy="566928"/>
          </a:xfrm>
          <a:prstGeom prst="rect">
            <a:avLst/>
          </a:prstGeom>
          <a:noFill/>
          <a:ln/>
        </p:spPr>
        <p:txBody>
          <a:bodyPr wrap="square" lIns="0" tIns="0" rIns="0" bIns="0" rtlCol="0" anchor="ctr"/>
          <a:lstStyle/>
          <a:p>
            <a:pPr marL="0" indent="0">
              <a:buNone/>
            </a:pPr>
            <a:r>
              <a:rPr lang="en-US" sz="1700" b="1" dirty="0">
                <a:solidFill>
                  <a:srgbClr val="1F2A44"/>
                </a:solidFill>
                <a:latin typeface="Cambria" pitchFamily="34" charset="0"/>
                <a:ea typeface="Cambria" pitchFamily="34" charset="-122"/>
                <a:cs typeface="Cambria" pitchFamily="34" charset="-120"/>
              </a:rPr>
              <a:t>Centralize the truth</a:t>
            </a:r>
            <a:endParaRPr lang="en-US" sz="1700" dirty="0"/>
          </a:p>
        </p:txBody>
      </p:sp>
      <p:sp>
        <p:nvSpPr>
          <p:cNvPr id="9" name="Data text 1"/>
          <p:cNvSpPr txBox="1"/>
          <p:nvPr/>
        </p:nvSpPr>
        <p:spPr>
          <a:xfrm>
            <a:off x="777240" y="2286000"/>
            <a:ext cx="3200400" cy="2286000"/>
          </a:xfrm>
          <a:prstGeom prst="rect">
            <a:avLst/>
          </a:prstGeom>
          <a:noFill/>
          <a:ln/>
        </p:spPr>
        <p:txBody>
          <a:bodyPr wrap="square" lIns="0" tIns="0" rIns="0" bIns="0" rtlCol="0" anchor="t"/>
          <a:lstStyle/>
          <a:p>
            <a:pPr marL="342900" indent="-342900">
              <a:spcAft>
                <a:spcPts val="600"/>
              </a:spcAft>
              <a:buSzPct val="100000"/>
              <a:buChar char="•"/>
            </a:pPr>
            <a:r>
              <a:rPr lang="en-US" sz="1350" dirty="0">
                <a:solidFill>
                  <a:schemeClr val="tx2"/>
                </a:solidFill>
              </a:rPr>
              <a:t>Logical: one writer, every copy derived</a:t>
            </a:r>
            <a:endParaRPr lang="en-US" sz="1400" dirty="0"/>
          </a:p>
          <a:p>
            <a:pPr marL="342900" indent="-342900">
              <a:spcAft>
                <a:spcPts val="600"/>
              </a:spcAft>
              <a:buSzPct val="100000"/>
              <a:buChar char="•"/>
            </a:pPr>
            <a:r>
              <a:rPr lang="en-US" sz="1350" dirty="0">
                <a:solidFill>
                  <a:schemeClr val="tx2"/>
                </a:solidFill>
              </a:rPr>
              <a:t>Physical: stopped by light, blast radius and residency</a:t>
            </a:r>
            <a:endParaRPr lang="en-US" sz="1400" dirty="0"/>
          </a:p>
          <a:p>
            <a:pPr marL="342900" indent="-342900">
              <a:spcAft>
                <a:spcPts val="600"/>
              </a:spcAft>
              <a:buSzPct val="100000"/>
              <a:buChar char="•"/>
            </a:pPr>
            <a:r>
              <a:rPr lang="en-US" sz="1350" dirty="0">
                <a:solidFill>
                  <a:schemeClr val="tx2"/>
                </a:solidFill>
              </a:rPr>
              <a:t>Small stores survive as caches</a:t>
            </a:r>
            <a:endParaRPr lang="en-US" sz="1400" dirty="0"/>
          </a:p>
        </p:txBody>
      </p:sp>
      <p:sp>
        <p:nvSpPr>
          <p:cNvPr id="10" name="Data card 2">
            <a:extLst>
              <a:ext uri="{C183D7F6-B498-43B3-948B-1728B52AA6E4}">
                <adec:decorative xmlns:adec="http://schemas.microsoft.com/office/drawing/2017/decorative" val="1"/>
              </a:ext>
            </a:extLst>
          </p:cNvPr>
          <p:cNvSpPr/>
          <p:nvPr/>
        </p:nvSpPr>
        <p:spPr>
          <a:xfrm>
            <a:off x="4297680" y="1417320"/>
            <a:ext cx="3611880" cy="3246120"/>
          </a:xfrm>
          <a:prstGeom prst="roundRect">
            <a:avLst>
              <a:gd name="adj" fmla="val 2254"/>
            </a:avLst>
          </a:prstGeom>
          <a:solidFill>
            <a:srgbClr val="DCEFEC"/>
          </a:solidFill>
          <a:ln w="12700">
            <a:solidFill>
              <a:srgbClr val="DCEFEC"/>
            </a:solidFill>
            <a:prstDash val="solid"/>
          </a:ln>
          <a:effectLst>
            <a:outerShdw blurRad="76200" dist="25400" dir="5400000" algn="bl" rotWithShape="0">
              <a:srgbClr val="64748B">
                <a:alpha val="22000"/>
              </a:srgbClr>
            </a:outerShdw>
          </a:effectLst>
        </p:spPr>
      </p:sp>
      <p:sp>
        <p:nvSpPr>
          <p:cNvPr id="11" name="Icon FaKey">
            <a:extLst>
              <a:ext uri="{C183D7F6-B498-43B3-948B-1728B52AA6E4}">
                <adec:decorative xmlns:adec="http://schemas.microsoft.com/office/drawing/2017/decorative" val="1"/>
              </a:ext>
            </a:extLst>
          </p:cNvPr>
          <p:cNvSpPr/>
          <p:nvPr/>
        </p:nvSpPr>
        <p:spPr>
          <a:xfrm>
            <a:off x="4498848" y="1572768"/>
            <a:ext cx="566928" cy="566928"/>
          </a:xfrm>
          <a:prstGeom prst="ellipse">
            <a:avLst/>
          </a:prstGeom>
          <a:solidFill>
            <a:srgbClr val="0F766E"/>
          </a:solidFill>
          <a:ln w="12700">
            <a:solidFill>
              <a:srgbClr val="0F766E"/>
            </a:solidFill>
            <a:prstDash val="solid"/>
          </a:ln>
        </p:spPr>
      </p:sp>
      <p:pic>
        <p:nvPicPr>
          <p:cNvPr id="12" name="Image 1">
            <a:extLst>
              <a:ext uri="{C183D7F6-B498-43B3-948B-1728B52AA6E4}">
                <adec:decorative xmlns:adec="http://schemas.microsoft.com/office/drawing/2017/decorative" val="1"/>
              </a:ext>
            </a:extLst>
          </p:cNvPr>
          <p:cNvPicPr>
            <a:picLocks noChangeAspect="1"/>
          </p:cNvPicPr>
          <p:nvPr/>
        </p:nvPicPr>
        <p:blipFill>
          <a:blip r:embed="rId6"/>
          <a:stretch>
            <a:fillRect/>
          </a:stretch>
        </p:blipFill>
        <p:spPr>
          <a:xfrm>
            <a:off x="4634911" y="1708831"/>
            <a:ext cx="294803" cy="294803"/>
          </a:xfrm>
          <a:prstGeom prst="rect">
            <a:avLst/>
          </a:prstGeom>
        </p:spPr>
      </p:pic>
      <p:sp>
        <p:nvSpPr>
          <p:cNvPr id="13" name="Data head 2"/>
          <p:cNvSpPr txBox="1"/>
          <p:nvPr/>
        </p:nvSpPr>
        <p:spPr>
          <a:xfrm>
            <a:off x="5212080" y="1572768"/>
            <a:ext cx="2560320" cy="566928"/>
          </a:xfrm>
          <a:prstGeom prst="rect">
            <a:avLst/>
          </a:prstGeom>
          <a:noFill/>
          <a:ln/>
        </p:spPr>
        <p:txBody>
          <a:bodyPr wrap="square" lIns="0" tIns="0" rIns="0" bIns="0" rtlCol="0" anchor="ctr"/>
          <a:lstStyle/>
          <a:p>
            <a:pPr marL="0" indent="0">
              <a:buNone/>
            </a:pPr>
            <a:r>
              <a:rPr lang="en-US" sz="1700" b="1" dirty="0">
                <a:solidFill>
                  <a:srgbClr val="0F766E"/>
                </a:solidFill>
                <a:latin typeface="Cambria" pitchFamily="34" charset="0"/>
                <a:ea typeface="Cambria" pitchFamily="34" charset="-122"/>
                <a:cs typeface="Cambria" pitchFamily="34" charset="-120"/>
              </a:rPr>
              <a:t>Tokens carry the trust</a:t>
            </a:r>
            <a:endParaRPr lang="en-US" sz="1700" dirty="0"/>
          </a:p>
        </p:txBody>
      </p:sp>
      <p:sp>
        <p:nvSpPr>
          <p:cNvPr id="14" name="Data text 2"/>
          <p:cNvSpPr txBox="1"/>
          <p:nvPr/>
        </p:nvSpPr>
        <p:spPr>
          <a:xfrm>
            <a:off x="4526280" y="2286000"/>
            <a:ext cx="3200400" cy="2286000"/>
          </a:xfrm>
          <a:prstGeom prst="rect">
            <a:avLst/>
          </a:prstGeom>
          <a:noFill/>
          <a:ln/>
        </p:spPr>
        <p:txBody>
          <a:bodyPr wrap="square" lIns="0" tIns="0" rIns="0" bIns="0" rtlCol="0" anchor="t"/>
          <a:lstStyle/>
          <a:p>
            <a:pPr marL="342900" indent="-342900">
              <a:spcAft>
                <a:spcPts val="600"/>
              </a:spcAft>
              <a:buSzPct val="100000"/>
              <a:buChar char="•"/>
            </a:pPr>
            <a:r>
              <a:rPr lang="en-US" sz="1350" dirty="0">
                <a:solidFill>
                  <a:schemeClr val="tx2"/>
                </a:solidFill>
              </a:rPr>
              <a:t>Inbound: check each token's tenant ID</a:t>
            </a:r>
            <a:endParaRPr lang="en-US" sz="1400" dirty="0"/>
          </a:p>
          <a:p>
            <a:pPr marL="342900" indent="-342900">
              <a:spcAft>
                <a:spcPts val="600"/>
              </a:spcAft>
              <a:buSzPct val="100000"/>
              <a:buChar char="•"/>
            </a:pPr>
            <a:r>
              <a:rPr lang="en-US" sz="1350" dirty="0">
                <a:solidFill>
                  <a:schemeClr val="tx2"/>
                </a:solidFill>
              </a:rPr>
              <a:t>Outbound: a token as the database password, 5 to 60 minutes</a:t>
            </a:r>
            <a:endParaRPr lang="en-US" sz="1400" dirty="0"/>
          </a:p>
          <a:p>
            <a:pPr marL="342900" indent="-342900">
              <a:spcAft>
                <a:spcPts val="600"/>
              </a:spcAft>
              <a:buSzPct val="100000"/>
              <a:buChar char="•"/>
            </a:pPr>
            <a:r>
              <a:rPr lang="en-US" sz="1350" dirty="0">
                <a:solidFill>
                  <a:schemeClr val="tx2"/>
                </a:solidFill>
              </a:rPr>
              <a:t>No long-lived secret to steal</a:t>
            </a:r>
            <a:endParaRPr lang="en-US" sz="1400" dirty="0"/>
          </a:p>
        </p:txBody>
      </p:sp>
      <p:sp>
        <p:nvSpPr>
          <p:cNvPr id="15" name="Data card 3">
            <a:extLst>
              <a:ext uri="{C183D7F6-B498-43B3-948B-1728B52AA6E4}">
                <adec:decorative xmlns:adec="http://schemas.microsoft.com/office/drawing/2017/decorative" val="1"/>
              </a:ext>
            </a:extLst>
          </p:cNvPr>
          <p:cNvSpPr/>
          <p:nvPr/>
        </p:nvSpPr>
        <p:spPr>
          <a:xfrm>
            <a:off x="8046720" y="1417320"/>
            <a:ext cx="3611880" cy="3246120"/>
          </a:xfrm>
          <a:prstGeom prst="roundRect">
            <a:avLst>
              <a:gd name="adj" fmla="val 2254"/>
            </a:avLst>
          </a:prstGeom>
          <a:solidFill>
            <a:srgbClr val="FBEEDC"/>
          </a:solidFill>
          <a:ln w="12700">
            <a:solidFill>
              <a:srgbClr val="FBEEDC"/>
            </a:solidFill>
            <a:prstDash val="solid"/>
          </a:ln>
          <a:effectLst>
            <a:outerShdw blurRad="76200" dist="25400" dir="5400000" algn="bl" rotWithShape="0">
              <a:srgbClr val="64748B">
                <a:alpha val="22000"/>
              </a:srgbClr>
            </a:outerShdw>
          </a:effectLst>
        </p:spPr>
      </p:sp>
      <p:sp>
        <p:nvSpPr>
          <p:cNvPr id="16" name="Icon FaArrowsRotate">
            <a:extLst>
              <a:ext uri="{C183D7F6-B498-43B3-948B-1728B52AA6E4}">
                <adec:decorative xmlns:adec="http://schemas.microsoft.com/office/drawing/2017/decorative" val="1"/>
              </a:ext>
            </a:extLst>
          </p:cNvPr>
          <p:cNvSpPr/>
          <p:nvPr/>
        </p:nvSpPr>
        <p:spPr>
          <a:xfrm>
            <a:off x="8247888" y="1572768"/>
            <a:ext cx="566928" cy="566928"/>
          </a:xfrm>
          <a:prstGeom prst="ellipse">
            <a:avLst/>
          </a:prstGeom>
          <a:solidFill>
            <a:srgbClr val="B45309"/>
          </a:solidFill>
          <a:ln w="12700">
            <a:solidFill>
              <a:srgbClr val="B45309"/>
            </a:solidFill>
            <a:prstDash val="solid"/>
          </a:ln>
        </p:spPr>
      </p:sp>
      <p:pic>
        <p:nvPicPr>
          <p:cNvPr id="17" name="Image 2">
            <a:extLst>
              <a:ext uri="{C183D7F6-B498-43B3-948B-1728B52AA6E4}">
                <adec:decorative xmlns:adec="http://schemas.microsoft.com/office/drawing/2017/decorative" val="1"/>
              </a:ext>
            </a:extLst>
          </p:cNvPr>
          <p:cNvPicPr>
            <a:picLocks noChangeAspect="1"/>
          </p:cNvPicPr>
          <p:nvPr/>
        </p:nvPicPr>
        <p:blipFill>
          <a:blip r:embed="rId7"/>
          <a:stretch>
            <a:fillRect/>
          </a:stretch>
        </p:blipFill>
        <p:spPr>
          <a:xfrm>
            <a:off x="8383951" y="1708831"/>
            <a:ext cx="294803" cy="294803"/>
          </a:xfrm>
          <a:prstGeom prst="rect">
            <a:avLst/>
          </a:prstGeom>
        </p:spPr>
      </p:pic>
      <p:sp>
        <p:nvSpPr>
          <p:cNvPr id="18" name="Data head 3"/>
          <p:cNvSpPr txBox="1"/>
          <p:nvPr/>
        </p:nvSpPr>
        <p:spPr>
          <a:xfrm>
            <a:off x="8961120" y="1572768"/>
            <a:ext cx="2560320" cy="566928"/>
          </a:xfrm>
          <a:prstGeom prst="rect">
            <a:avLst/>
          </a:prstGeom>
          <a:noFill/>
          <a:ln/>
        </p:spPr>
        <p:txBody>
          <a:bodyPr wrap="square" lIns="0" tIns="0" rIns="0" bIns="0" rtlCol="0" anchor="ctr"/>
          <a:lstStyle/>
          <a:p>
            <a:pPr marL="0" indent="0">
              <a:buNone/>
            </a:pPr>
            <a:r>
              <a:rPr lang="en-US" sz="1700" b="1" dirty="0">
                <a:solidFill>
                  <a:srgbClr val="B45309"/>
                </a:solidFill>
                <a:latin typeface="Cambria" pitchFamily="34" charset="0"/>
                <a:ea typeface="Cambria" pitchFamily="34" charset="-122"/>
                <a:cs typeface="Cambria" pitchFamily="34" charset="-120"/>
              </a:rPr>
              <a:t>The weakest consistency</a:t>
            </a:r>
            <a:endParaRPr lang="en-US" sz="1700" dirty="0"/>
          </a:p>
        </p:txBody>
      </p:sp>
      <p:sp>
        <p:nvSpPr>
          <p:cNvPr id="19" name="Data text 3"/>
          <p:cNvSpPr txBox="1"/>
          <p:nvPr/>
        </p:nvSpPr>
        <p:spPr>
          <a:xfrm>
            <a:off x="8275320" y="2286000"/>
            <a:ext cx="3200400" cy="2286000"/>
          </a:xfrm>
          <a:prstGeom prst="rect">
            <a:avLst/>
          </a:prstGeom>
          <a:noFill/>
          <a:ln/>
        </p:spPr>
        <p:txBody>
          <a:bodyPr wrap="square" lIns="0" tIns="0" rIns="0" bIns="0" rtlCol="0" anchor="t"/>
          <a:lstStyle/>
          <a:p>
            <a:pPr marL="342900" indent="-342900">
              <a:spcAft>
                <a:spcPts val="600"/>
              </a:spcAft>
              <a:buSzPct val="100000"/>
              <a:buChar char="•"/>
            </a:pPr>
            <a:r>
              <a:rPr lang="en-US" sz="1350" dirty="0">
                <a:solidFill>
                  <a:schemeClr val="tx2"/>
                </a:solidFill>
              </a:rPr>
              <a:t>Strong in a region, async across</a:t>
            </a:r>
            <a:endParaRPr lang="en-US" sz="1400" dirty="0"/>
          </a:p>
          <a:p>
            <a:pPr marL="342900" indent="-342900">
              <a:spcAft>
                <a:spcPts val="600"/>
              </a:spcAft>
              <a:buSzPct val="100000"/>
              <a:buChar char="•"/>
            </a:pPr>
            <a:r>
              <a:rPr lang="en-US" sz="1350" dirty="0">
                <a:solidFill>
                  <a:schemeClr val="tx2"/>
                </a:solidFill>
              </a:rPr>
              <a:t>Example: strong write = 2 × farthest RTT + 10 ms</a:t>
            </a:r>
            <a:endParaRPr lang="en-US" sz="1400" dirty="0"/>
          </a:p>
          <a:p>
            <a:pPr marL="342900" indent="-342900">
              <a:spcAft>
                <a:spcPts val="600"/>
              </a:spcAft>
              <a:buSzPct val="100000"/>
              <a:buChar char="•"/>
            </a:pPr>
            <a:r>
              <a:rPr lang="en-US" sz="1350" dirty="0">
                <a:solidFill>
                  <a:schemeClr val="tx2"/>
                </a:solidFill>
              </a:rPr>
              <a:t>Blocked beyond 8,000 km by default</a:t>
            </a:r>
            <a:endParaRPr lang="en-US" sz="1400" dirty="0"/>
          </a:p>
        </p:txBody>
      </p:sp>
      <p:sp>
        <p:nvSpPr>
          <p:cNvPr id="20" name="Risk">
            <a:extLst>
              <a:ext uri="{C183D7F6-B498-43B3-948B-1728B52AA6E4}">
                <adec:decorative xmlns:adec="http://schemas.microsoft.com/office/drawing/2017/decorative" val="1"/>
              </a:ext>
            </a:extLst>
          </p:cNvPr>
          <p:cNvSpPr/>
          <p:nvPr/>
        </p:nvSpPr>
        <p:spPr>
          <a:xfrm>
            <a:off x="548640" y="4846320"/>
            <a:ext cx="11109960" cy="1097280"/>
          </a:xfrm>
          <a:prstGeom prst="roundRect">
            <a:avLst>
              <a:gd name="adj" fmla="val 6667"/>
            </a:avLst>
          </a:prstGeom>
          <a:solidFill>
            <a:srgbClr val="FFFFFF"/>
          </a:solidFill>
          <a:ln w="12700">
            <a:solidFill>
              <a:srgbClr val="B91C1C"/>
            </a:solidFill>
            <a:prstDash val="solid"/>
          </a:ln>
          <a:effectLst>
            <a:outerShdw blurRad="76200" dist="25400" dir="5400000" algn="bl" rotWithShape="0">
              <a:srgbClr val="64748B">
                <a:alpha val="22000"/>
              </a:srgbClr>
            </a:outerShdw>
          </a:effectLst>
        </p:spPr>
      </p:sp>
      <p:sp>
        <p:nvSpPr>
          <p:cNvPr id="21" name="Icon FaTriangleExclamation">
            <a:extLst>
              <a:ext uri="{C183D7F6-B498-43B3-948B-1728B52AA6E4}">
                <adec:decorative xmlns:adec="http://schemas.microsoft.com/office/drawing/2017/decorative" val="1"/>
              </a:ext>
            </a:extLst>
          </p:cNvPr>
          <p:cNvSpPr/>
          <p:nvPr/>
        </p:nvSpPr>
        <p:spPr>
          <a:xfrm>
            <a:off x="777240" y="5029200"/>
            <a:ext cx="731520" cy="731520"/>
          </a:xfrm>
          <a:prstGeom prst="ellipse">
            <a:avLst/>
          </a:prstGeom>
          <a:solidFill>
            <a:srgbClr val="B91C1C"/>
          </a:solidFill>
          <a:ln w="12700">
            <a:solidFill>
              <a:srgbClr val="B91C1C"/>
            </a:solidFill>
            <a:prstDash val="solid"/>
          </a:ln>
        </p:spPr>
      </p:sp>
      <p:pic>
        <p:nvPicPr>
          <p:cNvPr id="22" name="Image 3">
            <a:extLst>
              <a:ext uri="{C183D7F6-B498-43B3-948B-1728B52AA6E4}">
                <adec:decorative xmlns:adec="http://schemas.microsoft.com/office/drawing/2017/decorative" val="1"/>
              </a:ext>
            </a:extLst>
          </p:cNvPr>
          <p:cNvPicPr>
            <a:picLocks noChangeAspect="1"/>
          </p:cNvPicPr>
          <p:nvPr/>
        </p:nvPicPr>
        <p:blipFill>
          <a:blip r:embed="rId8"/>
          <a:stretch>
            <a:fillRect/>
          </a:stretch>
        </p:blipFill>
        <p:spPr>
          <a:xfrm>
            <a:off x="952805" y="5204765"/>
            <a:ext cx="380390" cy="380390"/>
          </a:xfrm>
          <a:prstGeom prst="rect">
            <a:avLst/>
          </a:prstGeom>
        </p:spPr>
      </p:pic>
      <p:sp>
        <p:nvSpPr>
          <p:cNvPr id="23" name="Risk text"/>
          <p:cNvSpPr txBox="1"/>
          <p:nvPr/>
        </p:nvSpPr>
        <p:spPr>
          <a:xfrm>
            <a:off x="1737360" y="4892040"/>
            <a:ext cx="9738360" cy="1005840"/>
          </a:xfrm>
          <a:prstGeom prst="rect">
            <a:avLst/>
          </a:prstGeom>
          <a:noFill/>
          <a:ln/>
        </p:spPr>
        <p:txBody>
          <a:bodyPr wrap="square" lIns="0" tIns="0" rIns="0" bIns="0" rtlCol="0" anchor="ctr"/>
          <a:lstStyle/>
          <a:p>
            <a:pPr marL="0" indent="0">
              <a:buNone/>
            </a:pPr>
            <a:r>
              <a:rPr lang="en-US" sz="1650" b="1" dirty="0">
                <a:solidFill>
                  <a:srgbClr val="B91C1C"/>
                </a:solidFill>
              </a:rPr>
              <a:t>The risk it imports: </a:t>
            </a:r>
            <a:r>
              <a:rPr lang="en-US" sz="1650" dirty="0">
                <a:solidFill>
                  <a:schemeClr val="tx2"/>
                </a:solidFill>
              </a:rPr>
              <a:t>isolation is enforced in code, so a defect in tenant resolution is a cross-tenant exposure. Keep that path small, exhaustively tested and fail-closed.</a:t>
            </a:r>
            <a:endParaRPr lang="en-US" sz="1650" dirty="0"/>
          </a:p>
        </p:txBody>
      </p:sp>
      <p:sp>
        <p:nvSpPr>
          <p:cNvPr id="24" name="Sources"/>
          <p:cNvSpPr txBox="1"/>
          <p:nvPr/>
        </p:nvSpPr>
        <p:spPr>
          <a:xfrm>
            <a:off x="548640" y="6053328"/>
            <a:ext cx="10424160" cy="292608"/>
          </a:xfrm>
          <a:prstGeom prst="rect">
            <a:avLst/>
          </a:prstGeom>
          <a:noFill/>
          <a:ln/>
        </p:spPr>
        <p:txBody>
          <a:bodyPr wrap="square" lIns="0" tIns="0" rIns="0" bIns="0" rtlCol="0" anchor="t"/>
          <a:lstStyle/>
          <a:p>
            <a:pPr marL="0" indent="0">
              <a:buNone/>
            </a:pPr>
            <a:r>
              <a:rPr lang="en-US" sz="1000" i="1" dirty="0">
                <a:solidFill>
                  <a:srgbClr val="64748B"/>
                </a:solidFill>
              </a:rPr>
              <a:t>Sources: NIST SP 800-207; OMB M-22-09; Microsoft Learn — access token and claims validation, PostgreSQL Entra authentication, Cosmos DB consistency levels. Book 09, Chapter 04.</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5</a:t>
            </a:fld>
            <a:endParaRPr lang="en-US"/>
          </a:p>
        </p:txBody>
      </p:sp>
      <p:pic>
        <p:nvPicPr>
          <p:cNvPr id="26" name="Narration" descr="Narration for this slide; captions available">
            <a:hlinkClick r:id="" action="ppaction://media"/>
            <a:extLst>
              <a:ext uri="{FF2B5EF4-FFF2-40B4-BE49-F238E27FC236}">
                <a16:creationId xmlns:a16="http://schemas.microsoft.com/office/drawing/2014/main" id="{D2CCFB7F-F835-6CAC-4E27-4DD82635EF82}"/>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736AF983-809F-46B3-9B53-16BE300BE534}" label="English (captions)" lang="en-US" r:embed="rId10"/>
                        </p173:trackLst>
                      </p173:tracksInfo>
                    </p:ext>
                  </p14:extLst>
                </p14:media>
              </p:ext>
            </p:extLst>
          </p:nvPr>
        </p:nvPicPr>
        <p:blipFill>
          <a:blip r:embed="rId9"/>
          <a:stretch>
            <a:fillRect/>
          </a:stretch>
        </p:blipFill>
        <p:spPr>
          <a:xfrm>
            <a:off x="127000" y="6350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69740"/>
    </mc:Choice>
    <mc:Fallback>
      <p:transition spd="slow" advTm="6974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68736" fill="hold"/>
                                        <p:tgtEl>
                                          <p:spTgt spid="26"/>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SD-WAN reaches the floor; SASE makes it lawful</a:t>
            </a:r>
            <a:endParaRPr lang="en-US" sz="3000" dirty="0"/>
          </a:p>
        </p:txBody>
      </p:sp>
      <p:sp>
        <p:nvSpPr>
          <p:cNvPr id="3" name="Tag What">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1F2A44"/>
          </a:solidFill>
          <a:ln w="12700">
            <a:solidFill>
              <a:srgbClr val="1F2A44"/>
            </a:solidFill>
            <a:prstDash val="solid"/>
          </a:ln>
        </p:spPr>
      </p:sp>
      <p:sp>
        <p:nvSpPr>
          <p:cNvPr id="4" name="Tag What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WHAT</a:t>
            </a:r>
            <a:endParaRPr lang="en-US" sz="1100" dirty="0"/>
          </a:p>
        </p:txBody>
      </p:sp>
      <p:sp>
        <p:nvSpPr>
          <p:cNvPr id="5" name="Jobs head"/>
          <p:cNvSpPr txBox="1"/>
          <p:nvPr/>
        </p:nvSpPr>
        <p:spPr>
          <a:xfrm>
            <a:off x="548640" y="1417320"/>
            <a:ext cx="5669280" cy="274320"/>
          </a:xfrm>
          <a:prstGeom prst="rect">
            <a:avLst/>
          </a:prstGeom>
          <a:noFill/>
          <a:ln/>
        </p:spPr>
        <p:txBody>
          <a:bodyPr wrap="square" lIns="0" tIns="0" rIns="0" bIns="0" rtlCol="0" anchor="t"/>
          <a:lstStyle/>
          <a:p>
            <a:pPr marL="0" indent="0">
              <a:buNone/>
            </a:pPr>
            <a:r>
              <a:rPr lang="en-US" sz="1200" b="1" dirty="0">
                <a:solidFill>
                  <a:srgbClr val="64748B"/>
                </a:solidFill>
              </a:rPr>
              <a:t>WHAT SD-WAN DOES AT THE BRANCH EDGE</a:t>
            </a:r>
            <a:endParaRPr lang="en-US" sz="1200" dirty="0"/>
          </a:p>
        </p:txBody>
      </p:sp>
      <p:sp>
        <p:nvSpPr>
          <p:cNvPr id="6" name="Job 0">
            <a:extLst>
              <a:ext uri="{C183D7F6-B498-43B3-948B-1728B52AA6E4}">
                <adec:decorative xmlns:adec="http://schemas.microsoft.com/office/drawing/2017/decorative" val="1"/>
              </a:ext>
            </a:extLst>
          </p:cNvPr>
          <p:cNvSpPr/>
          <p:nvPr/>
        </p:nvSpPr>
        <p:spPr>
          <a:xfrm>
            <a:off x="548640" y="1755648"/>
            <a:ext cx="5669280" cy="438912"/>
          </a:xfrm>
          <a:prstGeom prst="roundRect">
            <a:avLst>
              <a:gd name="adj" fmla="val 16667"/>
            </a:avLst>
          </a:prstGeom>
          <a:solidFill>
            <a:srgbClr val="E9EEF4"/>
          </a:solidFill>
          <a:ln w="12700">
            <a:solidFill>
              <a:srgbClr val="E9EEF4"/>
            </a:solidFill>
            <a:prstDash val="solid"/>
          </a:ln>
          <a:effectLst>
            <a:outerShdw blurRad="76200" dist="25400" dir="5400000" algn="bl" rotWithShape="0">
              <a:srgbClr val="64748B">
                <a:alpha val="22000"/>
              </a:srgbClr>
            </a:outerShdw>
          </a:effectLst>
        </p:spPr>
      </p:sp>
      <p:sp>
        <p:nvSpPr>
          <p:cNvPr id="7" name="Job 0 text"/>
          <p:cNvSpPr txBox="1"/>
          <p:nvPr/>
        </p:nvSpPr>
        <p:spPr>
          <a:xfrm>
            <a:off x="731520" y="1755648"/>
            <a:ext cx="5394960" cy="438912"/>
          </a:xfrm>
          <a:prstGeom prst="rect">
            <a:avLst/>
          </a:prstGeom>
          <a:noFill/>
          <a:ln/>
        </p:spPr>
        <p:txBody>
          <a:bodyPr wrap="square" lIns="0" tIns="0" rIns="0" bIns="0" rtlCol="0" anchor="ctr"/>
          <a:lstStyle/>
          <a:p>
            <a:pPr marL="0" indent="0">
              <a:buNone/>
            </a:pPr>
            <a:r>
              <a:rPr lang="en-US" sz="1400" b="1" dirty="0">
                <a:solidFill>
                  <a:srgbClr val="1F2A44"/>
                </a:solidFill>
              </a:rPr>
              <a:t>Lean class   </a:t>
            </a:r>
            <a:r>
              <a:rPr lang="en-US" sz="1400" dirty="0">
                <a:solidFill>
                  <a:schemeClr val="tx2"/>
                </a:solidFill>
              </a:rPr>
              <a:t>Consensus, voice, sign-in on the short path</a:t>
            </a:r>
            <a:endParaRPr lang="en-US" sz="1400" dirty="0"/>
          </a:p>
        </p:txBody>
      </p:sp>
      <p:sp>
        <p:nvSpPr>
          <p:cNvPr id="8" name="Job 1">
            <a:extLst>
              <a:ext uri="{C183D7F6-B498-43B3-948B-1728B52AA6E4}">
                <adec:decorative xmlns:adec="http://schemas.microsoft.com/office/drawing/2017/decorative" val="1"/>
              </a:ext>
            </a:extLst>
          </p:cNvPr>
          <p:cNvSpPr/>
          <p:nvPr/>
        </p:nvSpPr>
        <p:spPr>
          <a:xfrm>
            <a:off x="548640" y="2267712"/>
            <a:ext cx="5669280" cy="438912"/>
          </a:xfrm>
          <a:prstGeom prst="roundRect">
            <a:avLst>
              <a:gd name="adj" fmla="val 16667"/>
            </a:avLst>
          </a:prstGeom>
          <a:solidFill>
            <a:srgbClr val="E4EAF4"/>
          </a:solidFill>
          <a:ln w="12700">
            <a:solidFill>
              <a:srgbClr val="E4EAF4"/>
            </a:solidFill>
            <a:prstDash val="solid"/>
          </a:ln>
          <a:effectLst>
            <a:outerShdw blurRad="76200" dist="25400" dir="5400000" algn="bl" rotWithShape="0">
              <a:srgbClr val="64748B">
                <a:alpha val="22000"/>
              </a:srgbClr>
            </a:outerShdw>
          </a:effectLst>
        </p:spPr>
      </p:sp>
      <p:sp>
        <p:nvSpPr>
          <p:cNvPr id="9" name="Job 1 text"/>
          <p:cNvSpPr txBox="1"/>
          <p:nvPr/>
        </p:nvSpPr>
        <p:spPr>
          <a:xfrm>
            <a:off x="731520" y="2267712"/>
            <a:ext cx="5394960" cy="438912"/>
          </a:xfrm>
          <a:prstGeom prst="rect">
            <a:avLst/>
          </a:prstGeom>
          <a:noFill/>
          <a:ln/>
        </p:spPr>
        <p:txBody>
          <a:bodyPr wrap="square" lIns="0" tIns="0" rIns="0" bIns="0" rtlCol="0" anchor="ctr"/>
          <a:lstStyle/>
          <a:p>
            <a:pPr marL="0" indent="0">
              <a:buNone/>
            </a:pPr>
            <a:r>
              <a:rPr lang="en-US" sz="1400" b="1" dirty="0">
                <a:solidFill>
                  <a:srgbClr val="1F2A44"/>
                </a:solidFill>
              </a:rPr>
              <a:t>Bulk class   </a:t>
            </a:r>
            <a:r>
              <a:rPr lang="en-US" sz="1400" dirty="0">
                <a:solidFill>
                  <a:schemeClr val="tx2"/>
                </a:solidFill>
              </a:rPr>
              <a:t>Backups, patches, re-syncs on the big path</a:t>
            </a:r>
            <a:endParaRPr lang="en-US" sz="1400" dirty="0"/>
          </a:p>
        </p:txBody>
      </p:sp>
      <p:sp>
        <p:nvSpPr>
          <p:cNvPr id="10" name="Job 2">
            <a:extLst>
              <a:ext uri="{C183D7F6-B498-43B3-948B-1728B52AA6E4}">
                <adec:decorative xmlns:adec="http://schemas.microsoft.com/office/drawing/2017/decorative" val="1"/>
              </a:ext>
            </a:extLst>
          </p:cNvPr>
          <p:cNvSpPr/>
          <p:nvPr/>
        </p:nvSpPr>
        <p:spPr>
          <a:xfrm>
            <a:off x="548640" y="2779776"/>
            <a:ext cx="5669280" cy="438912"/>
          </a:xfrm>
          <a:prstGeom prst="roundRect">
            <a:avLst>
              <a:gd name="adj" fmla="val 16667"/>
            </a:avLst>
          </a:prstGeom>
          <a:solidFill>
            <a:srgbClr val="E9EEF4"/>
          </a:solidFill>
          <a:ln w="12700">
            <a:solidFill>
              <a:srgbClr val="E9EEF4"/>
            </a:solidFill>
            <a:prstDash val="solid"/>
          </a:ln>
          <a:effectLst>
            <a:outerShdw blurRad="76200" dist="25400" dir="5400000" algn="bl" rotWithShape="0">
              <a:srgbClr val="64748B">
                <a:alpha val="22000"/>
              </a:srgbClr>
            </a:outerShdw>
          </a:effectLst>
        </p:spPr>
      </p:sp>
      <p:sp>
        <p:nvSpPr>
          <p:cNvPr id="11" name="Job 2 text"/>
          <p:cNvSpPr txBox="1"/>
          <p:nvPr/>
        </p:nvSpPr>
        <p:spPr>
          <a:xfrm>
            <a:off x="731520" y="2779776"/>
            <a:ext cx="5394960" cy="438912"/>
          </a:xfrm>
          <a:prstGeom prst="rect">
            <a:avLst/>
          </a:prstGeom>
          <a:noFill/>
          <a:ln/>
        </p:spPr>
        <p:txBody>
          <a:bodyPr wrap="square" lIns="0" tIns="0" rIns="0" bIns="0" rtlCol="0" anchor="ctr"/>
          <a:lstStyle/>
          <a:p>
            <a:pPr marL="0" indent="0">
              <a:buNone/>
            </a:pPr>
            <a:r>
              <a:rPr lang="en-US" sz="1400" b="1" dirty="0">
                <a:solidFill>
                  <a:srgbClr val="1F2A44"/>
                </a:solidFill>
              </a:rPr>
              <a:t>Route inflation   </a:t>
            </a:r>
            <a:r>
              <a:rPr lang="en-US" sz="1400" dirty="0">
                <a:solidFill>
                  <a:schemeClr val="tx2"/>
                </a:solidFill>
              </a:rPr>
              <a:t>A better underlay pulls toward the floor</a:t>
            </a:r>
            <a:endParaRPr lang="en-US" sz="1400" dirty="0"/>
          </a:p>
        </p:txBody>
      </p:sp>
      <p:sp>
        <p:nvSpPr>
          <p:cNvPr id="12" name="Job 3">
            <a:extLst>
              <a:ext uri="{C183D7F6-B498-43B3-948B-1728B52AA6E4}">
                <adec:decorative xmlns:adec="http://schemas.microsoft.com/office/drawing/2017/decorative" val="1"/>
              </a:ext>
            </a:extLst>
          </p:cNvPr>
          <p:cNvSpPr/>
          <p:nvPr/>
        </p:nvSpPr>
        <p:spPr>
          <a:xfrm>
            <a:off x="548640" y="3291840"/>
            <a:ext cx="5669280" cy="438912"/>
          </a:xfrm>
          <a:prstGeom prst="roundRect">
            <a:avLst>
              <a:gd name="adj" fmla="val 16667"/>
            </a:avLst>
          </a:prstGeom>
          <a:solidFill>
            <a:srgbClr val="E4EAF4"/>
          </a:solidFill>
          <a:ln w="12700">
            <a:solidFill>
              <a:srgbClr val="E4EAF4"/>
            </a:solidFill>
            <a:prstDash val="solid"/>
          </a:ln>
          <a:effectLst>
            <a:outerShdw blurRad="76200" dist="25400" dir="5400000" algn="bl" rotWithShape="0">
              <a:srgbClr val="64748B">
                <a:alpha val="22000"/>
              </a:srgbClr>
            </a:outerShdw>
          </a:effectLst>
        </p:spPr>
      </p:sp>
      <p:sp>
        <p:nvSpPr>
          <p:cNvPr id="13" name="Job 3 text"/>
          <p:cNvSpPr txBox="1"/>
          <p:nvPr/>
        </p:nvSpPr>
        <p:spPr>
          <a:xfrm>
            <a:off x="731520" y="3291840"/>
            <a:ext cx="5394960" cy="438912"/>
          </a:xfrm>
          <a:prstGeom prst="rect">
            <a:avLst/>
          </a:prstGeom>
          <a:noFill/>
          <a:ln/>
        </p:spPr>
        <p:txBody>
          <a:bodyPr wrap="square" lIns="0" tIns="0" rIns="0" bIns="0" rtlCol="0" anchor="ctr"/>
          <a:lstStyle/>
          <a:p>
            <a:pPr marL="0" indent="0">
              <a:buNone/>
            </a:pPr>
            <a:r>
              <a:rPr lang="en-US" sz="1400" b="1" dirty="0">
                <a:solidFill>
                  <a:srgbClr val="1F2A44"/>
                </a:solidFill>
              </a:rPr>
              <a:t>Tail latency   </a:t>
            </a:r>
            <a:r>
              <a:rPr lang="en-US" sz="1400" dirty="0">
                <a:solidFill>
                  <a:schemeClr val="tx2"/>
                </a:solidFill>
              </a:rPr>
              <a:t>FEC, packet duplication, fast failover</a:t>
            </a:r>
            <a:endParaRPr lang="en-US" sz="1400" dirty="0"/>
          </a:p>
        </p:txBody>
      </p:sp>
      <p:sp>
        <p:nvSpPr>
          <p:cNvPr id="14" name="Job 4">
            <a:extLst>
              <a:ext uri="{C183D7F6-B498-43B3-948B-1728B52AA6E4}">
                <adec:decorative xmlns:adec="http://schemas.microsoft.com/office/drawing/2017/decorative" val="1"/>
              </a:ext>
            </a:extLst>
          </p:cNvPr>
          <p:cNvSpPr/>
          <p:nvPr/>
        </p:nvSpPr>
        <p:spPr>
          <a:xfrm>
            <a:off x="548640" y="3803904"/>
            <a:ext cx="5669280" cy="438912"/>
          </a:xfrm>
          <a:prstGeom prst="roundRect">
            <a:avLst>
              <a:gd name="adj" fmla="val 16667"/>
            </a:avLst>
          </a:prstGeom>
          <a:solidFill>
            <a:srgbClr val="E9EEF4"/>
          </a:solidFill>
          <a:ln w="12700">
            <a:solidFill>
              <a:srgbClr val="E9EEF4"/>
            </a:solidFill>
            <a:prstDash val="solid"/>
          </a:ln>
          <a:effectLst>
            <a:outerShdw blurRad="76200" dist="25400" dir="5400000" algn="bl" rotWithShape="0">
              <a:srgbClr val="64748B">
                <a:alpha val="22000"/>
              </a:srgbClr>
            </a:outerShdw>
          </a:effectLst>
        </p:spPr>
      </p:sp>
      <p:sp>
        <p:nvSpPr>
          <p:cNvPr id="15" name="Job 4 text"/>
          <p:cNvSpPr txBox="1"/>
          <p:nvPr/>
        </p:nvSpPr>
        <p:spPr>
          <a:xfrm>
            <a:off x="731520" y="3803904"/>
            <a:ext cx="5394960" cy="438912"/>
          </a:xfrm>
          <a:prstGeom prst="rect">
            <a:avLst/>
          </a:prstGeom>
          <a:noFill/>
          <a:ln/>
        </p:spPr>
        <p:txBody>
          <a:bodyPr wrap="square" lIns="0" tIns="0" rIns="0" bIns="0" rtlCol="0" anchor="ctr"/>
          <a:lstStyle/>
          <a:p>
            <a:pPr marL="0" indent="0">
              <a:buNone/>
            </a:pPr>
            <a:r>
              <a:rPr lang="en-US" sz="1400" b="1" dirty="0">
                <a:solidFill>
                  <a:srgbClr val="1F2A44"/>
                </a:solidFill>
              </a:rPr>
              <a:t>Encryption   </a:t>
            </a:r>
            <a:r>
              <a:rPr lang="en-US" sz="1400" dirty="0">
                <a:solidFill>
                  <a:schemeClr val="tx2"/>
                </a:solidFill>
              </a:rPr>
              <a:t>Tunnels across every circuit (SC-8)</a:t>
            </a:r>
            <a:endParaRPr lang="en-US" sz="1400" dirty="0"/>
          </a:p>
        </p:txBody>
      </p:sp>
      <p:sp>
        <p:nvSpPr>
          <p:cNvPr id="16" name="Job 5">
            <a:extLst>
              <a:ext uri="{C183D7F6-B498-43B3-948B-1728B52AA6E4}">
                <adec:decorative xmlns:adec="http://schemas.microsoft.com/office/drawing/2017/decorative" val="1"/>
              </a:ext>
            </a:extLst>
          </p:cNvPr>
          <p:cNvSpPr/>
          <p:nvPr/>
        </p:nvSpPr>
        <p:spPr>
          <a:xfrm>
            <a:off x="548640" y="4315968"/>
            <a:ext cx="5669280" cy="438912"/>
          </a:xfrm>
          <a:prstGeom prst="roundRect">
            <a:avLst>
              <a:gd name="adj" fmla="val 16667"/>
            </a:avLst>
          </a:prstGeom>
          <a:solidFill>
            <a:srgbClr val="FBE4E4"/>
          </a:solidFill>
          <a:ln w="12700">
            <a:solidFill>
              <a:srgbClr val="FBE4E4"/>
            </a:solidFill>
            <a:prstDash val="solid"/>
          </a:ln>
          <a:effectLst>
            <a:outerShdw blurRad="76200" dist="25400" dir="5400000" algn="bl" rotWithShape="0">
              <a:srgbClr val="64748B">
                <a:alpha val="22000"/>
              </a:srgbClr>
            </a:outerShdw>
          </a:effectLst>
        </p:spPr>
      </p:sp>
      <p:sp>
        <p:nvSpPr>
          <p:cNvPr id="17" name="Job 5 text"/>
          <p:cNvSpPr txBox="1"/>
          <p:nvPr/>
        </p:nvSpPr>
        <p:spPr>
          <a:xfrm>
            <a:off x="731520" y="4315968"/>
            <a:ext cx="5394960" cy="438912"/>
          </a:xfrm>
          <a:prstGeom prst="rect">
            <a:avLst/>
          </a:prstGeom>
          <a:noFill/>
          <a:ln/>
        </p:spPr>
        <p:txBody>
          <a:bodyPr wrap="square" lIns="0" tIns="0" rIns="0" bIns="0" rtlCol="0" anchor="ctr"/>
          <a:lstStyle/>
          <a:p>
            <a:pPr marL="0" indent="0">
              <a:buNone/>
            </a:pPr>
            <a:r>
              <a:rPr lang="en-US" sz="1400" b="1" dirty="0">
                <a:solidFill>
                  <a:srgbClr val="B91C1C"/>
                </a:solidFill>
              </a:rPr>
              <a:t>The floor   </a:t>
            </a:r>
            <a:r>
              <a:rPr lang="en-US" sz="1400" dirty="0">
                <a:solidFill>
                  <a:schemeClr val="tx2"/>
                </a:solidFill>
              </a:rPr>
              <a:t>Reached, never beaten</a:t>
            </a:r>
            <a:endParaRPr lang="en-US" sz="1400" dirty="0"/>
          </a:p>
        </p:txBody>
      </p:sp>
      <p:sp>
        <p:nvSpPr>
          <p:cNvPr id="18" name="SASE box">
            <a:extLst>
              <a:ext uri="{C183D7F6-B498-43B3-948B-1728B52AA6E4}">
                <adec:decorative xmlns:adec="http://schemas.microsoft.com/office/drawing/2017/decorative" val="1"/>
              </a:ext>
            </a:extLst>
          </p:cNvPr>
          <p:cNvSpPr/>
          <p:nvPr/>
        </p:nvSpPr>
        <p:spPr>
          <a:xfrm>
            <a:off x="6492240" y="1417320"/>
            <a:ext cx="5166360" cy="3337560"/>
          </a:xfrm>
          <a:prstGeom prst="roundRect">
            <a:avLst>
              <a:gd name="adj" fmla="val 2192"/>
            </a:avLst>
          </a:prstGeom>
          <a:solidFill>
            <a:srgbClr val="DCEFEC"/>
          </a:solidFill>
          <a:ln w="12700">
            <a:solidFill>
              <a:srgbClr val="DCEFEC"/>
            </a:solidFill>
            <a:prstDash val="solid"/>
          </a:ln>
          <a:effectLst>
            <a:outerShdw blurRad="76200" dist="25400" dir="5400000" algn="bl" rotWithShape="0">
              <a:srgbClr val="64748B">
                <a:alpha val="22000"/>
              </a:srgbClr>
            </a:outerShdw>
          </a:effectLst>
        </p:spPr>
      </p:sp>
      <p:sp>
        <p:nvSpPr>
          <p:cNvPr id="19" name="Icon FaShieldHalved">
            <a:extLst>
              <a:ext uri="{C183D7F6-B498-43B3-948B-1728B52AA6E4}">
                <adec:decorative xmlns:adec="http://schemas.microsoft.com/office/drawing/2017/decorative" val="1"/>
              </a:ext>
            </a:extLst>
          </p:cNvPr>
          <p:cNvSpPr/>
          <p:nvPr/>
        </p:nvSpPr>
        <p:spPr>
          <a:xfrm>
            <a:off x="6720840" y="1600200"/>
            <a:ext cx="658368" cy="658368"/>
          </a:xfrm>
          <a:prstGeom prst="ellipse">
            <a:avLst/>
          </a:prstGeom>
          <a:solidFill>
            <a:srgbClr val="0F766E"/>
          </a:solidFill>
          <a:ln w="12700">
            <a:solidFill>
              <a:srgbClr val="0F766E"/>
            </a:solidFill>
            <a:prstDash val="solid"/>
          </a:ln>
        </p:spPr>
      </p:sp>
      <p:pic>
        <p:nvPicPr>
          <p:cNvPr id="20" name="Image 0">
            <a:extLst>
              <a:ext uri="{C183D7F6-B498-43B3-948B-1728B52AA6E4}">
                <adec:decorative xmlns:adec="http://schemas.microsoft.com/office/drawing/2017/decorative" val="1"/>
              </a:ext>
            </a:extLst>
          </p:cNvPr>
          <p:cNvPicPr>
            <a:picLocks noChangeAspect="1"/>
          </p:cNvPicPr>
          <p:nvPr/>
        </p:nvPicPr>
        <p:blipFill>
          <a:blip r:embed="rId5"/>
          <a:stretch>
            <a:fillRect/>
          </a:stretch>
        </p:blipFill>
        <p:spPr>
          <a:xfrm>
            <a:off x="6878848" y="1758208"/>
            <a:ext cx="342351" cy="342351"/>
          </a:xfrm>
          <a:prstGeom prst="rect">
            <a:avLst/>
          </a:prstGeom>
        </p:spPr>
      </p:pic>
      <p:sp>
        <p:nvSpPr>
          <p:cNvPr id="21" name="SASE head"/>
          <p:cNvSpPr txBox="1"/>
          <p:nvPr/>
        </p:nvSpPr>
        <p:spPr>
          <a:xfrm>
            <a:off x="7543800" y="1572768"/>
            <a:ext cx="4023360" cy="822960"/>
          </a:xfrm>
          <a:prstGeom prst="rect">
            <a:avLst/>
          </a:prstGeom>
          <a:noFill/>
          <a:ln/>
        </p:spPr>
        <p:txBody>
          <a:bodyPr wrap="square" lIns="0" tIns="0" rIns="0" bIns="0" rtlCol="0" anchor="ctr"/>
          <a:lstStyle/>
          <a:p>
            <a:pPr marL="0" indent="0">
              <a:buNone/>
            </a:pPr>
            <a:r>
              <a:rPr lang="en-US" sz="1200" b="1" dirty="0">
                <a:solidFill>
                  <a:srgbClr val="64748B"/>
                </a:solidFill>
              </a:rPr>
              <a:t>WHAT SITS ABOVE IT</a:t>
            </a:r>
            <a:endParaRPr lang="en-US" sz="1400" dirty="0"/>
          </a:p>
          <a:p>
            <a:pPr marL="0" indent="0">
              <a:buNone/>
            </a:pPr>
            <a:r>
              <a:rPr lang="en-US" sz="1800" b="1" dirty="0">
                <a:solidFill>
                  <a:srgbClr val="0F766E"/>
                </a:solidFill>
                <a:latin typeface="Cambria" pitchFamily="34" charset="0"/>
                <a:ea typeface="Cambria" pitchFamily="34" charset="-122"/>
                <a:cs typeface="Cambria" pitchFamily="34" charset="-120"/>
              </a:rPr>
              <a:t>SASE closes the boundary controls</a:t>
            </a:r>
            <a:endParaRPr lang="en-US" sz="1400" dirty="0"/>
          </a:p>
        </p:txBody>
      </p:sp>
      <p:sp>
        <p:nvSpPr>
          <p:cNvPr id="22" name="SASE list"/>
          <p:cNvSpPr txBox="1"/>
          <p:nvPr/>
        </p:nvSpPr>
        <p:spPr>
          <a:xfrm>
            <a:off x="6720840" y="2514600"/>
            <a:ext cx="4800600" cy="2194560"/>
          </a:xfrm>
          <a:prstGeom prst="rect">
            <a:avLst/>
          </a:prstGeom>
          <a:noFill/>
          <a:ln/>
        </p:spPr>
        <p:txBody>
          <a:bodyPr wrap="square" lIns="0" tIns="0" rIns="0" bIns="0" rtlCol="0" anchor="t"/>
          <a:lstStyle/>
          <a:p>
            <a:pPr marL="342900" indent="-342900">
              <a:spcAft>
                <a:spcPts val="600"/>
              </a:spcAft>
              <a:buSzPct val="100000"/>
              <a:buChar char="•"/>
            </a:pPr>
            <a:r>
              <a:rPr lang="en-US" sz="1450" dirty="0">
                <a:solidFill>
                  <a:schemeClr val="tx2"/>
                </a:solidFill>
              </a:rPr>
              <a:t>Web gateway, CASB, firewall and ZTNA</a:t>
            </a:r>
            <a:endParaRPr lang="en-US" sz="1400" dirty="0"/>
          </a:p>
          <a:p>
            <a:pPr marL="342900" indent="-342900">
              <a:spcAft>
                <a:spcPts val="600"/>
              </a:spcAft>
              <a:buSzPct val="100000"/>
              <a:buChar char="•"/>
            </a:pPr>
            <a:r>
              <a:rPr lang="en-US" sz="1450" dirty="0">
                <a:solidFill>
                  <a:schemeClr val="tx2"/>
                </a:solidFill>
              </a:rPr>
              <a:t>CISA lists SD-WAN as a SASE tool; it mandates neither</a:t>
            </a:r>
            <a:endParaRPr lang="en-US" sz="1400" dirty="0"/>
          </a:p>
          <a:p>
            <a:pPr marL="342900" indent="-342900">
              <a:spcAft>
                <a:spcPts val="600"/>
              </a:spcAft>
              <a:buSzPct val="100000"/>
              <a:buChar char="•"/>
            </a:pPr>
            <a:r>
              <a:rPr lang="en-US" sz="1450" dirty="0">
                <a:solidFill>
                  <a:schemeClr val="tx2"/>
                </a:solidFill>
              </a:rPr>
              <a:t>A distant point of presence is a hairpin</a:t>
            </a:r>
            <a:endParaRPr lang="en-US" sz="1400" dirty="0"/>
          </a:p>
          <a:p>
            <a:pPr marL="342900" indent="-342900">
              <a:spcAft>
                <a:spcPts val="600"/>
              </a:spcAft>
              <a:buSzPct val="100000"/>
              <a:buChar char="•"/>
            </a:pPr>
            <a:r>
              <a:rPr lang="en-US" sz="1450" dirty="0">
                <a:solidFill>
                  <a:schemeClr val="tx2"/>
                </a:solidFill>
              </a:rPr>
              <a:t>FedRAMP status is per offering, not per vendor</a:t>
            </a:r>
            <a:endParaRPr lang="en-US" sz="1400" dirty="0"/>
          </a:p>
        </p:txBody>
      </p:sp>
      <p:sp>
        <p:nvSpPr>
          <p:cNvPr id="23" name="Listing">
            <a:extLst>
              <a:ext uri="{C183D7F6-B498-43B3-948B-1728B52AA6E4}">
                <adec:decorative xmlns:adec="http://schemas.microsoft.com/office/drawing/2017/decorative" val="1"/>
              </a:ext>
            </a:extLst>
          </p:cNvPr>
          <p:cNvSpPr/>
          <p:nvPr/>
        </p:nvSpPr>
        <p:spPr>
          <a:xfrm>
            <a:off x="548640" y="4983480"/>
            <a:ext cx="11109960" cy="960120"/>
          </a:xfrm>
          <a:prstGeom prst="roundRect">
            <a:avLst>
              <a:gd name="adj" fmla="val 7619"/>
            </a:avLst>
          </a:prstGeom>
          <a:solidFill>
            <a:srgbClr val="FFFFFF"/>
          </a:solidFill>
          <a:ln w="12700">
            <a:solidFill>
              <a:srgbClr val="B45309"/>
            </a:solidFill>
            <a:prstDash val="solid"/>
          </a:ln>
          <a:effectLst>
            <a:outerShdw blurRad="76200" dist="25400" dir="5400000" algn="bl" rotWithShape="0">
              <a:srgbClr val="64748B">
                <a:alpha val="22000"/>
              </a:srgbClr>
            </a:outerShdw>
          </a:effectLst>
        </p:spPr>
      </p:sp>
      <p:sp>
        <p:nvSpPr>
          <p:cNvPr id="24" name="Icon FaLandmark">
            <a:extLst>
              <a:ext uri="{C183D7F6-B498-43B3-948B-1728B52AA6E4}">
                <adec:decorative xmlns:adec="http://schemas.microsoft.com/office/drawing/2017/decorative" val="1"/>
              </a:ext>
            </a:extLst>
          </p:cNvPr>
          <p:cNvSpPr/>
          <p:nvPr/>
        </p:nvSpPr>
        <p:spPr>
          <a:xfrm>
            <a:off x="777240" y="5097780"/>
            <a:ext cx="731520" cy="731520"/>
          </a:xfrm>
          <a:prstGeom prst="ellipse">
            <a:avLst/>
          </a:prstGeom>
          <a:solidFill>
            <a:srgbClr val="B45309"/>
          </a:solidFill>
          <a:ln w="12700">
            <a:solidFill>
              <a:srgbClr val="B45309"/>
            </a:solidFill>
            <a:prstDash val="solid"/>
          </a:ln>
        </p:spPr>
      </p:sp>
      <p:pic>
        <p:nvPicPr>
          <p:cNvPr id="25" name="Image 1">
            <a:extLst>
              <a:ext uri="{C183D7F6-B498-43B3-948B-1728B52AA6E4}">
                <adec:decorative xmlns:adec="http://schemas.microsoft.com/office/drawing/2017/decorative" val="1"/>
              </a:ext>
            </a:extLst>
          </p:cNvPr>
          <p:cNvPicPr>
            <a:picLocks noChangeAspect="1"/>
          </p:cNvPicPr>
          <p:nvPr/>
        </p:nvPicPr>
        <p:blipFill>
          <a:blip r:embed="rId6"/>
          <a:stretch>
            <a:fillRect/>
          </a:stretch>
        </p:blipFill>
        <p:spPr>
          <a:xfrm>
            <a:off x="952805" y="5273345"/>
            <a:ext cx="380390" cy="380390"/>
          </a:xfrm>
          <a:prstGeom prst="rect">
            <a:avLst/>
          </a:prstGeom>
        </p:spPr>
      </p:pic>
      <p:sp>
        <p:nvSpPr>
          <p:cNvPr id="26" name="Listing text"/>
          <p:cNvSpPr txBox="1"/>
          <p:nvPr/>
        </p:nvSpPr>
        <p:spPr>
          <a:xfrm>
            <a:off x="1737360" y="5029200"/>
            <a:ext cx="9738360" cy="868680"/>
          </a:xfrm>
          <a:prstGeom prst="rect">
            <a:avLst/>
          </a:prstGeom>
          <a:noFill/>
          <a:ln/>
        </p:spPr>
        <p:txBody>
          <a:bodyPr wrap="square" lIns="0" tIns="0" rIns="0" bIns="0" rtlCol="0" anchor="ctr"/>
          <a:lstStyle/>
          <a:p>
            <a:pPr marL="0" indent="0">
              <a:buNone/>
            </a:pPr>
            <a:r>
              <a:rPr lang="en-US" sz="1650" b="1" dirty="0">
                <a:solidFill>
                  <a:srgbClr val="B45309"/>
                </a:solidFill>
              </a:rPr>
              <a:t>Read the listing, not the brand: </a:t>
            </a:r>
            <a:r>
              <a:rPr lang="en-US" sz="1650" dirty="0">
                <a:solidFill>
                  <a:schemeClr val="tx2"/>
                </a:solidFill>
              </a:rPr>
              <a:t>Cisco Catalyst SD-WAN for Government is FedRAMP Certified at Class C (Moderate); Palo Alto Networks GCS-HIGH, which includes Prisma SD-WAN, at Class D (High). Examples only.</a:t>
            </a:r>
            <a:endParaRPr lang="en-US" sz="1650" dirty="0"/>
          </a:p>
        </p:txBody>
      </p:sp>
      <p:sp>
        <p:nvSpPr>
          <p:cNvPr id="27" name="Sources"/>
          <p:cNvSpPr txBox="1"/>
          <p:nvPr/>
        </p:nvSpPr>
        <p:spPr>
          <a:xfrm>
            <a:off x="548640" y="6053328"/>
            <a:ext cx="10424160" cy="292608"/>
          </a:xfrm>
          <a:prstGeom prst="rect">
            <a:avLst/>
          </a:prstGeom>
          <a:noFill/>
          <a:ln/>
        </p:spPr>
        <p:txBody>
          <a:bodyPr wrap="square" lIns="0" tIns="0" rIns="0" bIns="0" rtlCol="0" anchor="t"/>
          <a:lstStyle/>
          <a:p>
            <a:pPr marL="0" indent="0">
              <a:buNone/>
            </a:pPr>
            <a:r>
              <a:rPr lang="en-US" sz="1000" i="1" dirty="0">
                <a:solidFill>
                  <a:srgbClr val="64748B"/>
                </a:solidFill>
              </a:rPr>
              <a:t>Sources: Microsoft Learn — Azure network latency, TCP/IP tuning; Cisco SD-WAN FEC and packet duplication; CISA SASE guide (June 2026); FedRAMP Marketplace. Book 09, Chapter 05.</a:t>
            </a:r>
            <a:endParaRPr lang="en-US" sz="1000" dirty="0"/>
          </a:p>
        </p:txBody>
      </p:sp>
      <p:sp>
        <p:nvSpPr>
          <p:cNvPr id="28"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6</a:t>
            </a:fld>
            <a:endParaRPr lang="en-US"/>
          </a:p>
        </p:txBody>
      </p:sp>
      <p:pic>
        <p:nvPicPr>
          <p:cNvPr id="29" name="Narration" descr="Narration for this slide; captions available">
            <a:hlinkClick r:id="" action="ppaction://media"/>
            <a:extLst>
              <a:ext uri="{FF2B5EF4-FFF2-40B4-BE49-F238E27FC236}">
                <a16:creationId xmlns:a16="http://schemas.microsoft.com/office/drawing/2014/main" id="{FDBB6A2D-85EC-4971-2D3B-5A13E1158B13}"/>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4542AADB-75B3-4DEE-8683-A95BC4B2AD83}" label="English (captions)" lang="en-US" r:embed="rId8"/>
                        </p173:trackLst>
                      </p173:tracksInfo>
                    </p:ext>
                  </p14:extLst>
                </p14:media>
              </p:ext>
            </p:extLst>
          </p:nvPr>
        </p:nvPicPr>
        <p:blipFill>
          <a:blip r:embed="rId7"/>
          <a:stretch>
            <a:fillRect/>
          </a:stretch>
        </p:blipFill>
        <p:spPr>
          <a:xfrm>
            <a:off x="127000" y="6350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65800"/>
    </mc:Choice>
    <mc:Fallback>
      <p:transition spd="slow" advTm="6580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64800" fill="hold"/>
                                        <p:tgtEl>
                                          <p:spTgt spid="29"/>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On re-routed paths, design around the real list</a:t>
            </a:r>
            <a:endParaRPr lang="en-US" sz="3000" dirty="0"/>
          </a:p>
        </p:txBody>
      </p:sp>
      <p:sp>
        <p:nvSpPr>
          <p:cNvPr id="3" name="Tag What">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1F2A44"/>
          </a:solidFill>
          <a:ln w="12700">
            <a:solidFill>
              <a:srgbClr val="1F2A44"/>
            </a:solidFill>
            <a:prstDash val="solid"/>
          </a:ln>
        </p:spPr>
      </p:sp>
      <p:sp>
        <p:nvSpPr>
          <p:cNvPr id="4" name="Tag What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WHAT</a:t>
            </a:r>
            <a:endParaRPr lang="en-US" sz="1100" dirty="0"/>
          </a:p>
        </p:txBody>
      </p:sp>
      <p:sp>
        <p:nvSpPr>
          <p:cNvPr id="5" name="Legacy card 1">
            <a:extLst>
              <a:ext uri="{C183D7F6-B498-43B3-948B-1728B52AA6E4}">
                <adec:decorative xmlns:adec="http://schemas.microsoft.com/office/drawing/2017/decorative" val="1"/>
              </a:ext>
            </a:extLst>
          </p:cNvPr>
          <p:cNvSpPr/>
          <p:nvPr/>
        </p:nvSpPr>
        <p:spPr>
          <a:xfrm>
            <a:off x="548640" y="1417320"/>
            <a:ext cx="3611880" cy="3246120"/>
          </a:xfrm>
          <a:prstGeom prst="roundRect">
            <a:avLst>
              <a:gd name="adj" fmla="val 2254"/>
            </a:avLst>
          </a:prstGeom>
          <a:solidFill>
            <a:srgbClr val="E4EAF4"/>
          </a:solidFill>
          <a:ln w="12700">
            <a:solidFill>
              <a:srgbClr val="E4EAF4"/>
            </a:solidFill>
            <a:prstDash val="solid"/>
          </a:ln>
          <a:effectLst>
            <a:outerShdw blurRad="76200" dist="25400" dir="5400000" algn="bl" rotWithShape="0">
              <a:srgbClr val="64748B">
                <a:alpha val="22000"/>
              </a:srgbClr>
            </a:outerShdw>
          </a:effectLst>
        </p:spPr>
      </p:sp>
      <p:sp>
        <p:nvSpPr>
          <p:cNvPr id="6" name="Icon FaPlugCircleXmark">
            <a:extLst>
              <a:ext uri="{C183D7F6-B498-43B3-948B-1728B52AA6E4}">
                <adec:decorative xmlns:adec="http://schemas.microsoft.com/office/drawing/2017/decorative" val="1"/>
              </a:ext>
            </a:extLst>
          </p:cNvPr>
          <p:cNvSpPr/>
          <p:nvPr/>
        </p:nvSpPr>
        <p:spPr>
          <a:xfrm>
            <a:off x="749808" y="1572768"/>
            <a:ext cx="566928" cy="566928"/>
          </a:xfrm>
          <a:prstGeom prst="ellipse">
            <a:avLst/>
          </a:prstGeom>
          <a:solidFill>
            <a:srgbClr val="1F2A44"/>
          </a:solidFill>
          <a:ln w="12700">
            <a:solidFill>
              <a:srgbClr val="1F2A44"/>
            </a:solidFill>
            <a:prstDash val="solid"/>
          </a:ln>
        </p:spPr>
      </p:sp>
      <p:pic>
        <p:nvPicPr>
          <p:cNvPr id="7" name="Image 0">
            <a:extLst>
              <a:ext uri="{C183D7F6-B498-43B3-948B-1728B52AA6E4}">
                <adec:decorative xmlns:adec="http://schemas.microsoft.com/office/drawing/2017/decorative" val="1"/>
              </a:ext>
            </a:extLst>
          </p:cNvPr>
          <p:cNvPicPr>
            <a:picLocks noChangeAspect="1"/>
          </p:cNvPicPr>
          <p:nvPr/>
        </p:nvPicPr>
        <p:blipFill>
          <a:blip r:embed="rId5"/>
          <a:stretch>
            <a:fillRect/>
          </a:stretch>
        </p:blipFill>
        <p:spPr>
          <a:xfrm>
            <a:off x="885871" y="1708831"/>
            <a:ext cx="294803" cy="294803"/>
          </a:xfrm>
          <a:prstGeom prst="rect">
            <a:avLst/>
          </a:prstGeom>
        </p:spPr>
      </p:pic>
      <p:sp>
        <p:nvSpPr>
          <p:cNvPr id="8" name="Legacy head 1"/>
          <p:cNvSpPr txBox="1"/>
          <p:nvPr/>
        </p:nvSpPr>
        <p:spPr>
          <a:xfrm>
            <a:off x="1463040" y="1572768"/>
            <a:ext cx="2560320" cy="566928"/>
          </a:xfrm>
          <a:prstGeom prst="rect">
            <a:avLst/>
          </a:prstGeom>
          <a:noFill/>
          <a:ln/>
        </p:spPr>
        <p:txBody>
          <a:bodyPr wrap="square" lIns="0" tIns="0" rIns="0" bIns="0" rtlCol="0" anchor="ctr"/>
          <a:lstStyle/>
          <a:p>
            <a:pPr marL="0" indent="0">
              <a:buNone/>
            </a:pPr>
            <a:r>
              <a:rPr lang="en-US" sz="1700" b="1" dirty="0">
                <a:solidFill>
                  <a:srgbClr val="1F2A44"/>
                </a:solidFill>
                <a:latin typeface="Cambria" pitchFamily="34" charset="0"/>
                <a:ea typeface="Cambria" pitchFamily="34" charset="-122"/>
                <a:cs typeface="Cambria" pitchFamily="34" charset="-120"/>
              </a:rPr>
              <a:t>What actually breaks</a:t>
            </a:r>
            <a:endParaRPr lang="en-US" sz="1700" dirty="0"/>
          </a:p>
        </p:txBody>
      </p:sp>
      <p:sp>
        <p:nvSpPr>
          <p:cNvPr id="9" name="Legacy text 1"/>
          <p:cNvSpPr txBox="1"/>
          <p:nvPr/>
        </p:nvSpPr>
        <p:spPr>
          <a:xfrm>
            <a:off x="777240" y="2286000"/>
            <a:ext cx="3200400" cy="2286000"/>
          </a:xfrm>
          <a:prstGeom prst="rect">
            <a:avLst/>
          </a:prstGeom>
          <a:noFill/>
          <a:ln/>
        </p:spPr>
        <p:txBody>
          <a:bodyPr wrap="square" lIns="0" tIns="0" rIns="0" bIns="0" rtlCol="0" anchor="t"/>
          <a:lstStyle/>
          <a:p>
            <a:pPr marL="342900" indent="-342900">
              <a:spcAft>
                <a:spcPts val="600"/>
              </a:spcAft>
              <a:buSzPct val="100000"/>
              <a:buChar char="•"/>
            </a:pPr>
            <a:r>
              <a:rPr lang="en-US" sz="1350" dirty="0">
                <a:solidFill>
                  <a:schemeClr val="tx2"/>
                </a:solidFill>
              </a:rPr>
              <a:t>Idle timeouts and resets at a proxy</a:t>
            </a:r>
            <a:endParaRPr lang="en-US" sz="1400" dirty="0"/>
          </a:p>
          <a:p>
            <a:pPr marL="342900" indent="-342900">
              <a:spcAft>
                <a:spcPts val="600"/>
              </a:spcAft>
              <a:buSzPct val="100000"/>
              <a:buChar char="•"/>
            </a:pPr>
            <a:r>
              <a:rPr lang="en-US" sz="1350" dirty="0">
                <a:solidFill>
                  <a:schemeClr val="tx2"/>
                </a:solidFill>
              </a:rPr>
              <a:t>Pinned certificates, mutual TLS, channel binding</a:t>
            </a:r>
            <a:endParaRPr lang="en-US" sz="1400" dirty="0"/>
          </a:p>
          <a:p>
            <a:pPr marL="342900" indent="-342900">
              <a:spcAft>
                <a:spcPts val="600"/>
              </a:spcAft>
              <a:buSzPct val="100000"/>
              <a:buChar char="•"/>
            </a:pPr>
            <a:r>
              <a:rPr lang="en-US" sz="1350" dirty="0">
                <a:solidFill>
                  <a:schemeClr val="tx2"/>
                </a:solidFill>
              </a:rPr>
              <a:t>A changed source address</a:t>
            </a:r>
            <a:endParaRPr lang="en-US" sz="1400" dirty="0"/>
          </a:p>
          <a:p>
            <a:pPr marL="342900" indent="-342900">
              <a:spcAft>
                <a:spcPts val="600"/>
              </a:spcAft>
              <a:buSzPct val="100000"/>
              <a:buChar char="•"/>
            </a:pPr>
            <a:r>
              <a:rPr lang="en-US" sz="1350" dirty="0">
                <a:solidFill>
                  <a:schemeClr val="tx2"/>
                </a:solidFill>
              </a:rPr>
              <a:t>MTU black holes</a:t>
            </a:r>
            <a:endParaRPr lang="en-US" sz="1400" dirty="0"/>
          </a:p>
        </p:txBody>
      </p:sp>
      <p:sp>
        <p:nvSpPr>
          <p:cNvPr id="10" name="Legacy card 2">
            <a:extLst>
              <a:ext uri="{C183D7F6-B498-43B3-948B-1728B52AA6E4}">
                <adec:decorative xmlns:adec="http://schemas.microsoft.com/office/drawing/2017/decorative" val="1"/>
              </a:ext>
            </a:extLst>
          </p:cNvPr>
          <p:cNvSpPr/>
          <p:nvPr/>
        </p:nvSpPr>
        <p:spPr>
          <a:xfrm>
            <a:off x="4297680" y="1417320"/>
            <a:ext cx="3611880" cy="3246120"/>
          </a:xfrm>
          <a:prstGeom prst="roundRect">
            <a:avLst>
              <a:gd name="adj" fmla="val 2254"/>
            </a:avLst>
          </a:prstGeom>
          <a:solidFill>
            <a:srgbClr val="DCEFEC"/>
          </a:solidFill>
          <a:ln w="12700">
            <a:solidFill>
              <a:srgbClr val="DCEFEC"/>
            </a:solidFill>
            <a:prstDash val="solid"/>
          </a:ln>
          <a:effectLst>
            <a:outerShdw blurRad="76200" dist="25400" dir="5400000" algn="bl" rotWithShape="0">
              <a:srgbClr val="64748B">
                <a:alpha val="22000"/>
              </a:srgbClr>
            </a:outerShdw>
          </a:effectLst>
        </p:spPr>
      </p:sp>
      <p:sp>
        <p:nvSpPr>
          <p:cNvPr id="11" name="Icon FaServer">
            <a:extLst>
              <a:ext uri="{C183D7F6-B498-43B3-948B-1728B52AA6E4}">
                <adec:decorative xmlns:adec="http://schemas.microsoft.com/office/drawing/2017/decorative" val="1"/>
              </a:ext>
            </a:extLst>
          </p:cNvPr>
          <p:cNvSpPr/>
          <p:nvPr/>
        </p:nvSpPr>
        <p:spPr>
          <a:xfrm>
            <a:off x="4498848" y="1572768"/>
            <a:ext cx="566928" cy="566928"/>
          </a:xfrm>
          <a:prstGeom prst="ellipse">
            <a:avLst/>
          </a:prstGeom>
          <a:solidFill>
            <a:srgbClr val="0F766E"/>
          </a:solidFill>
          <a:ln w="12700">
            <a:solidFill>
              <a:srgbClr val="0F766E"/>
            </a:solidFill>
            <a:prstDash val="solid"/>
          </a:ln>
        </p:spPr>
      </p:sp>
      <p:pic>
        <p:nvPicPr>
          <p:cNvPr id="12" name="Image 1">
            <a:extLst>
              <a:ext uri="{C183D7F6-B498-43B3-948B-1728B52AA6E4}">
                <adec:decorative xmlns:adec="http://schemas.microsoft.com/office/drawing/2017/decorative" val="1"/>
              </a:ext>
            </a:extLst>
          </p:cNvPr>
          <p:cNvPicPr>
            <a:picLocks noChangeAspect="1"/>
          </p:cNvPicPr>
          <p:nvPr/>
        </p:nvPicPr>
        <p:blipFill>
          <a:blip r:embed="rId6"/>
          <a:stretch>
            <a:fillRect/>
          </a:stretch>
        </p:blipFill>
        <p:spPr>
          <a:xfrm>
            <a:off x="4634911" y="1708831"/>
            <a:ext cx="294803" cy="294803"/>
          </a:xfrm>
          <a:prstGeom prst="rect">
            <a:avLst/>
          </a:prstGeom>
        </p:spPr>
      </p:pic>
      <p:sp>
        <p:nvSpPr>
          <p:cNvPr id="13" name="Legacy head 2"/>
          <p:cNvSpPr txBox="1"/>
          <p:nvPr/>
        </p:nvSpPr>
        <p:spPr>
          <a:xfrm>
            <a:off x="5212080" y="1572768"/>
            <a:ext cx="2560320" cy="566928"/>
          </a:xfrm>
          <a:prstGeom prst="rect">
            <a:avLst/>
          </a:prstGeom>
          <a:noFill/>
          <a:ln/>
        </p:spPr>
        <p:txBody>
          <a:bodyPr wrap="square" lIns="0" tIns="0" rIns="0" bIns="0" rtlCol="0" anchor="ctr"/>
          <a:lstStyle/>
          <a:p>
            <a:pPr marL="0" indent="0">
              <a:buNone/>
            </a:pPr>
            <a:r>
              <a:rPr lang="en-US" sz="1700" b="1" dirty="0">
                <a:solidFill>
                  <a:srgbClr val="0F766E"/>
                </a:solidFill>
                <a:latin typeface="Cambria" pitchFamily="34" charset="0"/>
                <a:ea typeface="Cambria" pitchFamily="34" charset="-122"/>
                <a:cs typeface="Cambria" pitchFamily="34" charset="-120"/>
              </a:rPr>
              <a:t>What needs a DC</a:t>
            </a:r>
            <a:endParaRPr lang="en-US" sz="1700" dirty="0"/>
          </a:p>
        </p:txBody>
      </p:sp>
      <p:sp>
        <p:nvSpPr>
          <p:cNvPr id="14" name="Legacy text 2"/>
          <p:cNvSpPr txBox="1"/>
          <p:nvPr/>
        </p:nvSpPr>
        <p:spPr>
          <a:xfrm>
            <a:off x="4526280" y="2286000"/>
            <a:ext cx="3200400" cy="2286000"/>
          </a:xfrm>
          <a:prstGeom prst="rect">
            <a:avLst/>
          </a:prstGeom>
          <a:noFill/>
          <a:ln/>
        </p:spPr>
        <p:txBody>
          <a:bodyPr wrap="square" lIns="0" tIns="0" rIns="0" bIns="0" rtlCol="0" anchor="t"/>
          <a:lstStyle/>
          <a:p>
            <a:pPr marL="342900" indent="-342900">
              <a:spcAft>
                <a:spcPts val="600"/>
              </a:spcAft>
              <a:buSzPct val="100000"/>
              <a:buChar char="•"/>
            </a:pPr>
            <a:r>
              <a:rPr lang="en-US" sz="1350" dirty="0">
                <a:solidFill>
                  <a:schemeClr val="tx2"/>
                </a:solidFill>
              </a:rPr>
              <a:t>Initial logon and its TGT</a:t>
            </a:r>
            <a:endParaRPr lang="en-US" sz="1400" dirty="0"/>
          </a:p>
          <a:p>
            <a:pPr marL="342900" indent="-342900">
              <a:spcAft>
                <a:spcPts val="600"/>
              </a:spcAft>
              <a:buSzPct val="100000"/>
              <a:buChar char="•"/>
            </a:pPr>
            <a:r>
              <a:rPr lang="en-US" sz="1350" dirty="0">
                <a:solidFill>
                  <a:schemeClr val="tx2"/>
                </a:solidFill>
              </a:rPr>
              <a:t>Service tickets for on-premises services</a:t>
            </a:r>
            <a:endParaRPr lang="en-US" sz="1400" dirty="0"/>
          </a:p>
          <a:p>
            <a:pPr marL="342900" indent="-342900">
              <a:spcAft>
                <a:spcPts val="600"/>
              </a:spcAft>
              <a:buSzPct val="100000"/>
              <a:buChar char="•"/>
            </a:pPr>
            <a:r>
              <a:rPr lang="en-US" sz="1350" dirty="0">
                <a:solidFill>
                  <a:schemeClr val="tx2"/>
                </a:solidFill>
              </a:rPr>
              <a:t>Group Policy, password change, hybrid join</a:t>
            </a:r>
            <a:endParaRPr lang="en-US" sz="1400" dirty="0"/>
          </a:p>
          <a:p>
            <a:pPr marL="342900" indent="-342900">
              <a:spcAft>
                <a:spcPts val="600"/>
              </a:spcAft>
              <a:buSzPct val="100000"/>
              <a:buChar char="•"/>
            </a:pPr>
            <a:r>
              <a:rPr lang="en-US" sz="1350" dirty="0">
                <a:solidFill>
                  <a:schemeClr val="tx2"/>
                </a:solidFill>
              </a:rPr>
              <a:t>No path: Kerberos falls back to NTLM</a:t>
            </a:r>
            <a:endParaRPr lang="en-US" sz="1400" dirty="0"/>
          </a:p>
        </p:txBody>
      </p:sp>
      <p:sp>
        <p:nvSpPr>
          <p:cNvPr id="15" name="Legacy card 3">
            <a:extLst>
              <a:ext uri="{C183D7F6-B498-43B3-948B-1728B52AA6E4}">
                <adec:decorative xmlns:adec="http://schemas.microsoft.com/office/drawing/2017/decorative" val="1"/>
              </a:ext>
            </a:extLst>
          </p:cNvPr>
          <p:cNvSpPr/>
          <p:nvPr/>
        </p:nvSpPr>
        <p:spPr>
          <a:xfrm>
            <a:off x="8046720" y="1417320"/>
            <a:ext cx="3611880" cy="3246120"/>
          </a:xfrm>
          <a:prstGeom prst="roundRect">
            <a:avLst>
              <a:gd name="adj" fmla="val 2254"/>
            </a:avLst>
          </a:prstGeom>
          <a:solidFill>
            <a:srgbClr val="FBEEDC"/>
          </a:solidFill>
          <a:ln w="12700">
            <a:solidFill>
              <a:srgbClr val="FBEEDC"/>
            </a:solidFill>
            <a:prstDash val="solid"/>
          </a:ln>
          <a:effectLst>
            <a:outerShdw blurRad="76200" dist="25400" dir="5400000" algn="bl" rotWithShape="0">
              <a:srgbClr val="64748B">
                <a:alpha val="22000"/>
              </a:srgbClr>
            </a:outerShdw>
          </a:effectLst>
        </p:spPr>
      </p:sp>
      <p:sp>
        <p:nvSpPr>
          <p:cNvPr id="16" name="Icon FaRightLeft">
            <a:extLst>
              <a:ext uri="{C183D7F6-B498-43B3-948B-1728B52AA6E4}">
                <adec:decorative xmlns:adec="http://schemas.microsoft.com/office/drawing/2017/decorative" val="1"/>
              </a:ext>
            </a:extLst>
          </p:cNvPr>
          <p:cNvSpPr/>
          <p:nvPr/>
        </p:nvSpPr>
        <p:spPr>
          <a:xfrm>
            <a:off x="8247888" y="1572768"/>
            <a:ext cx="566928" cy="566928"/>
          </a:xfrm>
          <a:prstGeom prst="ellipse">
            <a:avLst/>
          </a:prstGeom>
          <a:solidFill>
            <a:srgbClr val="B45309"/>
          </a:solidFill>
          <a:ln w="12700">
            <a:solidFill>
              <a:srgbClr val="B45309"/>
            </a:solidFill>
            <a:prstDash val="solid"/>
          </a:ln>
        </p:spPr>
      </p:sp>
      <p:pic>
        <p:nvPicPr>
          <p:cNvPr id="17" name="Image 2">
            <a:extLst>
              <a:ext uri="{C183D7F6-B498-43B3-948B-1728B52AA6E4}">
                <adec:decorative xmlns:adec="http://schemas.microsoft.com/office/drawing/2017/decorative" val="1"/>
              </a:ext>
            </a:extLst>
          </p:cNvPr>
          <p:cNvPicPr>
            <a:picLocks noChangeAspect="1"/>
          </p:cNvPicPr>
          <p:nvPr/>
        </p:nvPicPr>
        <p:blipFill>
          <a:blip r:embed="rId7"/>
          <a:stretch>
            <a:fillRect/>
          </a:stretch>
        </p:blipFill>
        <p:spPr>
          <a:xfrm>
            <a:off x="8383951" y="1708831"/>
            <a:ext cx="294803" cy="294803"/>
          </a:xfrm>
          <a:prstGeom prst="rect">
            <a:avLst/>
          </a:prstGeom>
        </p:spPr>
      </p:pic>
      <p:sp>
        <p:nvSpPr>
          <p:cNvPr id="18" name="Legacy head 3"/>
          <p:cNvSpPr txBox="1"/>
          <p:nvPr/>
        </p:nvSpPr>
        <p:spPr>
          <a:xfrm>
            <a:off x="8961120" y="1572768"/>
            <a:ext cx="2560320" cy="566928"/>
          </a:xfrm>
          <a:prstGeom prst="rect">
            <a:avLst/>
          </a:prstGeom>
          <a:noFill/>
          <a:ln/>
        </p:spPr>
        <p:txBody>
          <a:bodyPr wrap="square" lIns="0" tIns="0" rIns="0" bIns="0" rtlCol="0" anchor="ctr"/>
          <a:lstStyle/>
          <a:p>
            <a:pPr marL="0" indent="0">
              <a:buNone/>
            </a:pPr>
            <a:r>
              <a:rPr lang="en-US" sz="1700" b="1" dirty="0">
                <a:solidFill>
                  <a:srgbClr val="B45309"/>
                </a:solidFill>
                <a:latin typeface="Cambria" pitchFamily="34" charset="0"/>
                <a:ea typeface="Cambria" pitchFamily="34" charset="-122"/>
                <a:cs typeface="Cambria" pitchFamily="34" charset="-120"/>
              </a:rPr>
              <a:t>Round trips dominate</a:t>
            </a:r>
            <a:endParaRPr lang="en-US" sz="1700" dirty="0"/>
          </a:p>
        </p:txBody>
      </p:sp>
      <p:sp>
        <p:nvSpPr>
          <p:cNvPr id="19" name="Legacy text 3"/>
          <p:cNvSpPr txBox="1"/>
          <p:nvPr/>
        </p:nvSpPr>
        <p:spPr>
          <a:xfrm>
            <a:off x="8275320" y="2286000"/>
            <a:ext cx="3200400" cy="2286000"/>
          </a:xfrm>
          <a:prstGeom prst="rect">
            <a:avLst/>
          </a:prstGeom>
          <a:noFill/>
          <a:ln/>
        </p:spPr>
        <p:txBody>
          <a:bodyPr wrap="square" lIns="0" tIns="0" rIns="0" bIns="0" rtlCol="0" anchor="t"/>
          <a:lstStyle/>
          <a:p>
            <a:pPr marL="342900" indent="-342900">
              <a:spcAft>
                <a:spcPts val="600"/>
              </a:spcAft>
              <a:buSzPct val="100000"/>
              <a:buChar char="•"/>
            </a:pPr>
            <a:r>
              <a:rPr lang="en-US" sz="1350" dirty="0">
                <a:solidFill>
                  <a:schemeClr val="tx2"/>
                </a:solidFill>
              </a:rPr>
              <a:t>Better branch path: 17 to 25% less time</a:t>
            </a:r>
            <a:endParaRPr lang="en-US" sz="1400" dirty="0"/>
          </a:p>
          <a:p>
            <a:pPr marL="342900" indent="-342900">
              <a:spcAft>
                <a:spcPts val="600"/>
              </a:spcAft>
              <a:buSzPct val="100000"/>
              <a:buChar char="•"/>
            </a:pPr>
            <a:r>
              <a:rPr lang="en-US" sz="1350" dirty="0">
                <a:solidFill>
                  <a:schemeClr val="tx2"/>
                </a:solidFill>
              </a:rPr>
              <a:t>30 round trips cut to 3: about ten times less</a:t>
            </a:r>
            <a:endParaRPr lang="en-US" sz="1400" dirty="0"/>
          </a:p>
          <a:p>
            <a:pPr marL="342900" indent="-342900">
              <a:spcAft>
                <a:spcPts val="600"/>
              </a:spcAft>
              <a:buSzPct val="100000"/>
              <a:buChar char="•"/>
            </a:pPr>
            <a:r>
              <a:rPr lang="en-US" sz="1350" dirty="0">
                <a:solidFill>
                  <a:schemeClr val="tx2"/>
                </a:solidFill>
              </a:rPr>
              <a:t>Illustrative inputs; measure your own</a:t>
            </a:r>
            <a:endParaRPr lang="en-US" sz="1400" dirty="0"/>
          </a:p>
        </p:txBody>
      </p:sp>
      <p:sp>
        <p:nvSpPr>
          <p:cNvPr id="20" name="Egress">
            <a:extLst>
              <a:ext uri="{C183D7F6-B498-43B3-948B-1728B52AA6E4}">
                <adec:decorative xmlns:adec="http://schemas.microsoft.com/office/drawing/2017/decorative" val="1"/>
              </a:ext>
            </a:extLst>
          </p:cNvPr>
          <p:cNvSpPr/>
          <p:nvPr/>
        </p:nvSpPr>
        <p:spPr>
          <a:xfrm>
            <a:off x="548640" y="4846320"/>
            <a:ext cx="11109960" cy="1097280"/>
          </a:xfrm>
          <a:prstGeom prst="roundRect">
            <a:avLst>
              <a:gd name="adj" fmla="val 6667"/>
            </a:avLst>
          </a:prstGeom>
          <a:solidFill>
            <a:srgbClr val="FFFFFF"/>
          </a:solidFill>
          <a:ln w="12700">
            <a:solidFill>
              <a:srgbClr val="1F2A44"/>
            </a:solidFill>
            <a:prstDash val="solid"/>
          </a:ln>
          <a:effectLst>
            <a:outerShdw blurRad="76200" dist="25400" dir="5400000" algn="bl" rotWithShape="0">
              <a:srgbClr val="64748B">
                <a:alpha val="22000"/>
              </a:srgbClr>
            </a:outerShdw>
          </a:effectLst>
        </p:spPr>
      </p:sp>
      <p:sp>
        <p:nvSpPr>
          <p:cNvPr id="21" name="Icon FaRoute">
            <a:extLst>
              <a:ext uri="{C183D7F6-B498-43B3-948B-1728B52AA6E4}">
                <adec:decorative xmlns:adec="http://schemas.microsoft.com/office/drawing/2017/decorative" val="1"/>
              </a:ext>
            </a:extLst>
          </p:cNvPr>
          <p:cNvSpPr/>
          <p:nvPr/>
        </p:nvSpPr>
        <p:spPr>
          <a:xfrm>
            <a:off x="777240" y="5029200"/>
            <a:ext cx="731520" cy="731520"/>
          </a:xfrm>
          <a:prstGeom prst="ellipse">
            <a:avLst/>
          </a:prstGeom>
          <a:solidFill>
            <a:srgbClr val="1F2A44"/>
          </a:solidFill>
          <a:ln w="12700">
            <a:solidFill>
              <a:srgbClr val="1F2A44"/>
            </a:solidFill>
            <a:prstDash val="solid"/>
          </a:ln>
        </p:spPr>
      </p:sp>
      <p:pic>
        <p:nvPicPr>
          <p:cNvPr id="22" name="Image 3">
            <a:extLst>
              <a:ext uri="{C183D7F6-B498-43B3-948B-1728B52AA6E4}">
                <adec:decorative xmlns:adec="http://schemas.microsoft.com/office/drawing/2017/decorative" val="1"/>
              </a:ext>
            </a:extLst>
          </p:cNvPr>
          <p:cNvPicPr>
            <a:picLocks noChangeAspect="1"/>
          </p:cNvPicPr>
          <p:nvPr/>
        </p:nvPicPr>
        <p:blipFill>
          <a:blip r:embed="rId8"/>
          <a:stretch>
            <a:fillRect/>
          </a:stretch>
        </p:blipFill>
        <p:spPr>
          <a:xfrm>
            <a:off x="952805" y="5204765"/>
            <a:ext cx="380390" cy="380390"/>
          </a:xfrm>
          <a:prstGeom prst="rect">
            <a:avLst/>
          </a:prstGeom>
        </p:spPr>
      </p:pic>
      <p:sp>
        <p:nvSpPr>
          <p:cNvPr id="23" name="Egress text"/>
          <p:cNvSpPr txBox="1"/>
          <p:nvPr/>
        </p:nvSpPr>
        <p:spPr>
          <a:xfrm>
            <a:off x="1737360" y="4892040"/>
            <a:ext cx="9738360" cy="1005840"/>
          </a:xfrm>
          <a:prstGeom prst="rect">
            <a:avLst/>
          </a:prstGeom>
          <a:noFill/>
          <a:ln/>
        </p:spPr>
        <p:txBody>
          <a:bodyPr wrap="square" lIns="0" tIns="0" rIns="0" bIns="0" rtlCol="0" anchor="ctr"/>
          <a:lstStyle/>
          <a:p>
            <a:pPr marL="0" indent="0">
              <a:buNone/>
            </a:pPr>
            <a:r>
              <a:rPr lang="en-US" sz="1650" b="1" dirty="0">
                <a:solidFill>
                  <a:srgbClr val="1F2A44"/>
                </a:solidFill>
              </a:rPr>
              <a:t>Keep egress deterministic: </a:t>
            </a:r>
            <a:r>
              <a:rPr lang="en-US" sz="1650" dirty="0">
                <a:solidFill>
                  <a:schemeClr val="tx2"/>
                </a:solidFill>
              </a:rPr>
              <a:t>a stable, documented source address per branch keeps address-keyed sessions alive, and lets Conditional Access location policy and continuous access evaluation mean what they say.</a:t>
            </a:r>
            <a:endParaRPr lang="en-US" sz="1650" dirty="0"/>
          </a:p>
        </p:txBody>
      </p:sp>
      <p:sp>
        <p:nvSpPr>
          <p:cNvPr id="24" name="Sources"/>
          <p:cNvSpPr txBox="1"/>
          <p:nvPr/>
        </p:nvSpPr>
        <p:spPr>
          <a:xfrm>
            <a:off x="548640" y="6053328"/>
            <a:ext cx="10424160" cy="292608"/>
          </a:xfrm>
          <a:prstGeom prst="rect">
            <a:avLst/>
          </a:prstGeom>
          <a:noFill/>
          <a:ln/>
        </p:spPr>
        <p:txBody>
          <a:bodyPr wrap="square" lIns="0" tIns="0" rIns="0" bIns="0" rtlCol="0" anchor="t"/>
          <a:lstStyle/>
          <a:p>
            <a:pPr marL="0" indent="0">
              <a:buNone/>
            </a:pPr>
            <a:r>
              <a:rPr lang="en-US" sz="1000" i="1" dirty="0">
                <a:solidFill>
                  <a:srgbClr val="64748B"/>
                </a:solidFill>
              </a:rPr>
              <a:t>Sources: RFC 9293, RFC 4120; Microsoft Learn — Kerberos registry keys, Kerberos SSP/AP, hybrid join, NTLM overview, continuous access evaluation. Book 09, Chapter 06.</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7</a:t>
            </a:fld>
            <a:endParaRPr lang="en-US"/>
          </a:p>
        </p:txBody>
      </p:sp>
      <p:pic>
        <p:nvPicPr>
          <p:cNvPr id="26" name="Narration" descr="Narration for this slide; captions available">
            <a:hlinkClick r:id="" action="ppaction://media"/>
            <a:extLst>
              <a:ext uri="{FF2B5EF4-FFF2-40B4-BE49-F238E27FC236}">
                <a16:creationId xmlns:a16="http://schemas.microsoft.com/office/drawing/2014/main" id="{358754D6-E81D-E79A-B110-1E825DD2C7F4}"/>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864C0EA5-3275-4F25-A98F-783750B88C35}" label="English (captions)" lang="en-US" r:embed="rId10"/>
                        </p173:trackLst>
                      </p173:tracksInfo>
                    </p:ext>
                  </p14:extLst>
                </p14:media>
              </p:ext>
            </p:extLst>
          </p:nvPr>
        </p:nvPicPr>
        <p:blipFill>
          <a:blip r:embed="rId9"/>
          <a:stretch>
            <a:fillRect/>
          </a:stretch>
        </p:blipFill>
        <p:spPr>
          <a:xfrm>
            <a:off x="127000" y="6350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68870"/>
    </mc:Choice>
    <mc:Fallback>
      <p:transition spd="slow" advTm="6887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67872" fill="hold"/>
                                        <p:tgtEl>
                                          <p:spTgt spid="26"/>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802.1X proves the device; NPS is the last AD tie</a:t>
            </a:r>
            <a:endParaRPr lang="en-US" sz="3000" dirty="0"/>
          </a:p>
        </p:txBody>
      </p:sp>
      <p:sp>
        <p:nvSpPr>
          <p:cNvPr id="3" name="Tag What">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1F2A44"/>
          </a:solidFill>
          <a:ln w="12700">
            <a:solidFill>
              <a:srgbClr val="1F2A44"/>
            </a:solidFill>
            <a:prstDash val="solid"/>
          </a:ln>
        </p:spPr>
      </p:sp>
      <p:sp>
        <p:nvSpPr>
          <p:cNvPr id="4" name="Tag What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WHAT</a:t>
            </a:r>
            <a:endParaRPr lang="en-US" sz="110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548640" y="1371600"/>
          <a:ext cx="9144000" cy="914400"/>
        </p:xfrm>
        <a:graphic>
          <a:graphicData uri="http://schemas.openxmlformats.org/drawingml/2006/table">
            <a:tbl>
              <a:tblPr firstRow="1" bandRow="1"/>
              <a:tblGrid>
                <a:gridCol w="1463040">
                  <a:extLst>
                    <a:ext uri="{9D8B030D-6E8A-4147-A177-3AD203B41FA5}">
                      <a16:colId xmlns:a16="http://schemas.microsoft.com/office/drawing/2014/main" val="20000"/>
                    </a:ext>
                  </a:extLst>
                </a:gridCol>
                <a:gridCol w="2514600">
                  <a:extLst>
                    <a:ext uri="{9D8B030D-6E8A-4147-A177-3AD203B41FA5}">
                      <a16:colId xmlns:a16="http://schemas.microsoft.com/office/drawing/2014/main" val="20001"/>
                    </a:ext>
                  </a:extLst>
                </a:gridCol>
                <a:gridCol w="2423160">
                  <a:extLst>
                    <a:ext uri="{9D8B030D-6E8A-4147-A177-3AD203B41FA5}">
                      <a16:colId xmlns:a16="http://schemas.microsoft.com/office/drawing/2014/main" val="20002"/>
                    </a:ext>
                  </a:extLst>
                </a:gridCol>
              </a:tblGrid>
              <a:tr h="384048">
                <a:tc>
                  <a:txBody>
                    <a:bodyPr/>
                    <a:lstStyle/>
                    <a:p>
                      <a:pPr marL="0" indent="0">
                        <a:buNone/>
                      </a:pPr>
                      <a:r>
                        <a:rPr lang="en-US" sz="1250" b="1" dirty="0">
                          <a:solidFill>
                            <a:srgbClr val="FFFFFF"/>
                          </a:solidFill>
                          <a:latin typeface="Calibri" pitchFamily="34" charset="0"/>
                          <a:ea typeface="Calibri" pitchFamily="34" charset="-122"/>
                          <a:cs typeface="Calibri" pitchFamily="34" charset="-120"/>
                        </a:rPr>
                        <a:t>Segment</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250" b="1" dirty="0">
                          <a:solidFill>
                            <a:srgbClr val="FFFFFF"/>
                          </a:solidFill>
                          <a:latin typeface="Calibri" pitchFamily="34" charset="0"/>
                          <a:ea typeface="Calibri" pitchFamily="34" charset="-122"/>
                          <a:cs typeface="Calibri" pitchFamily="34" charset="-120"/>
                        </a:rPr>
                        <a:t>Condition</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250" b="1" dirty="0">
                          <a:solidFill>
                            <a:srgbClr val="FFFFFF"/>
                          </a:solidFill>
                          <a:latin typeface="Calibri" pitchFamily="34" charset="0"/>
                          <a:ea typeface="Calibri" pitchFamily="34" charset="-122"/>
                          <a:cs typeface="Calibri" pitchFamily="34" charset="-120"/>
                        </a:rPr>
                        <a:t>Network access</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extLst>
                  <a:ext uri="{0D108BD9-81ED-4DB2-BD59-A6C34878D82A}">
                    <a16:rowId xmlns:a16="http://schemas.microsoft.com/office/drawing/2014/main" val="10000"/>
                  </a:ext>
                </a:extLst>
              </a:tr>
              <a:tr h="502920">
                <a:tc>
                  <a:txBody>
                    <a:bodyPr/>
                    <a:lstStyle/>
                    <a:p>
                      <a:pPr marL="0" indent="0">
                        <a:buNone/>
                      </a:pPr>
                      <a:r>
                        <a:rPr lang="en-US" sz="1250" b="1" dirty="0">
                          <a:solidFill>
                            <a:srgbClr val="1F2A44"/>
                          </a:solidFill>
                          <a:latin typeface="Calibri" pitchFamily="34" charset="0"/>
                          <a:ea typeface="Calibri" pitchFamily="34" charset="-122"/>
                          <a:cs typeface="Calibri" pitchFamily="34" charset="-120"/>
                        </a:rPr>
                        <a:t>Production</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Valid certificate, Intune compliant</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Agency resources, by ACL</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502920">
                <a:tc>
                  <a:txBody>
                    <a:bodyPr/>
                    <a:lstStyle/>
                    <a:p>
                      <a:pPr marL="0" indent="0">
                        <a:buNone/>
                      </a:pPr>
                      <a:r>
                        <a:rPr lang="en-US" sz="1250" b="1" dirty="0">
                          <a:solidFill>
                            <a:srgbClr val="1F2A44"/>
                          </a:solidFill>
                          <a:latin typeface="Calibri" pitchFamily="34" charset="0"/>
                          <a:ea typeface="Calibri" pitchFamily="34" charset="-122"/>
                          <a:cs typeface="Calibri" pitchFamily="34" charset="-120"/>
                        </a:rPr>
                        <a:t>Remediation</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Valid certificate, noncompliant</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Update and Intune endpoints only</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502920">
                <a:tc>
                  <a:txBody>
                    <a:bodyPr/>
                    <a:lstStyle/>
                    <a:p>
                      <a:pPr marL="0" indent="0">
                        <a:buNone/>
                      </a:pPr>
                      <a:r>
                        <a:rPr lang="en-US" sz="1250" b="1" dirty="0">
                          <a:solidFill>
                            <a:srgbClr val="B91C1C"/>
                          </a:solidFill>
                          <a:latin typeface="Calibri" pitchFamily="34" charset="0"/>
                          <a:ea typeface="Calibri" pitchFamily="34" charset="-122"/>
                          <a:cs typeface="Calibri" pitchFamily="34" charset="-120"/>
                        </a:rPr>
                        <a:t>Quarantine</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No valid certificate</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Captive portal only</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502920">
                <a:tc>
                  <a:txBody>
                    <a:bodyPr/>
                    <a:lstStyle/>
                    <a:p>
                      <a:pPr marL="0" indent="0">
                        <a:buNone/>
                      </a:pPr>
                      <a:r>
                        <a:rPr lang="en-US" sz="1250" b="1" dirty="0">
                          <a:solidFill>
                            <a:srgbClr val="1F2A44"/>
                          </a:solidFill>
                          <a:latin typeface="Calibri" pitchFamily="34" charset="0"/>
                          <a:ea typeface="Calibri" pitchFamily="34" charset="-122"/>
                          <a:cs typeface="Calibri" pitchFamily="34" charset="-120"/>
                        </a:rPr>
                        <a:t>Guest</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MAC bypass, unmanaged</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Internet only</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502920">
                <a:tc>
                  <a:txBody>
                    <a:bodyPr/>
                    <a:lstStyle/>
                    <a:p>
                      <a:pPr marL="0" indent="0">
                        <a:buNone/>
                      </a:pPr>
                      <a:r>
                        <a:rPr lang="en-US" sz="1250" b="1" dirty="0">
                          <a:solidFill>
                            <a:srgbClr val="1F2A44"/>
                          </a:solidFill>
                          <a:latin typeface="Calibri" pitchFamily="34" charset="0"/>
                          <a:ea typeface="Calibri" pitchFamily="34" charset="-122"/>
                          <a:cs typeface="Calibri" pitchFamily="34" charset="-120"/>
                        </a:rPr>
                        <a:t>IoT and OT</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MAC bypass, approved class</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Its management systems only</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bl>
          </a:graphicData>
        </a:graphic>
      </p:graphicFrame>
      <p:sp>
        <p:nvSpPr>
          <p:cNvPr id="6" name="NPS box">
            <a:extLst>
              <a:ext uri="{C183D7F6-B498-43B3-948B-1728B52AA6E4}">
                <adec:decorative xmlns:adec="http://schemas.microsoft.com/office/drawing/2017/decorative" val="1"/>
              </a:ext>
            </a:extLst>
          </p:cNvPr>
          <p:cNvSpPr/>
          <p:nvPr/>
        </p:nvSpPr>
        <p:spPr>
          <a:xfrm>
            <a:off x="7223760" y="1371600"/>
            <a:ext cx="4434840" cy="3246120"/>
          </a:xfrm>
          <a:prstGeom prst="roundRect">
            <a:avLst>
              <a:gd name="adj" fmla="val 2254"/>
            </a:avLst>
          </a:prstGeom>
          <a:solidFill>
            <a:srgbClr val="E4EAF4"/>
          </a:solidFill>
          <a:ln w="12700">
            <a:solidFill>
              <a:srgbClr val="E4EAF4"/>
            </a:solidFill>
            <a:prstDash val="solid"/>
          </a:ln>
          <a:effectLst>
            <a:outerShdw blurRad="76200" dist="25400" dir="5400000" algn="bl" rotWithShape="0">
              <a:srgbClr val="64748B">
                <a:alpha val="22000"/>
              </a:srgbClr>
            </a:outerShdw>
          </a:effectLst>
        </p:spPr>
      </p:sp>
      <p:sp>
        <p:nvSpPr>
          <p:cNvPr id="7" name="Icon FaPlugCircleXmark">
            <a:extLst>
              <a:ext uri="{C183D7F6-B498-43B3-948B-1728B52AA6E4}">
                <adec:decorative xmlns:adec="http://schemas.microsoft.com/office/drawing/2017/decorative" val="1"/>
              </a:ext>
            </a:extLst>
          </p:cNvPr>
          <p:cNvSpPr/>
          <p:nvPr/>
        </p:nvSpPr>
        <p:spPr>
          <a:xfrm>
            <a:off x="7452360" y="1536192"/>
            <a:ext cx="548640" cy="548640"/>
          </a:xfrm>
          <a:prstGeom prst="ellipse">
            <a:avLst/>
          </a:prstGeom>
          <a:solidFill>
            <a:srgbClr val="1F2A44"/>
          </a:solidFill>
          <a:ln w="12700">
            <a:solidFill>
              <a:srgbClr val="1F2A44"/>
            </a:solidFill>
            <a:prstDash val="solid"/>
          </a:ln>
        </p:spPr>
      </p:sp>
      <p:pic>
        <p:nvPicPr>
          <p:cNvPr id="8" name="Image 0">
            <a:extLst>
              <a:ext uri="{C183D7F6-B498-43B3-948B-1728B52AA6E4}">
                <adec:decorative xmlns:adec="http://schemas.microsoft.com/office/drawing/2017/decorative" val="1"/>
              </a:ext>
            </a:extLst>
          </p:cNvPr>
          <p:cNvPicPr>
            <a:picLocks noChangeAspect="1"/>
          </p:cNvPicPr>
          <p:nvPr/>
        </p:nvPicPr>
        <p:blipFill>
          <a:blip r:embed="rId5"/>
          <a:stretch>
            <a:fillRect/>
          </a:stretch>
        </p:blipFill>
        <p:spPr>
          <a:xfrm>
            <a:off x="7584034" y="1667866"/>
            <a:ext cx="285293" cy="285293"/>
          </a:xfrm>
          <a:prstGeom prst="rect">
            <a:avLst/>
          </a:prstGeom>
        </p:spPr>
      </p:pic>
      <p:sp>
        <p:nvSpPr>
          <p:cNvPr id="5" name="NPS head"/>
          <p:cNvSpPr txBox="1"/>
          <p:nvPr/>
        </p:nvSpPr>
        <p:spPr>
          <a:xfrm>
            <a:off x="8138160" y="1536192"/>
            <a:ext cx="3429000" cy="548640"/>
          </a:xfrm>
          <a:prstGeom prst="rect">
            <a:avLst/>
          </a:prstGeom>
          <a:noFill/>
          <a:ln/>
        </p:spPr>
        <p:txBody>
          <a:bodyPr wrap="square" lIns="0" tIns="0" rIns="0" bIns="0" rtlCol="0" anchor="ctr"/>
          <a:lstStyle/>
          <a:p>
            <a:pPr marL="0" indent="0">
              <a:buNone/>
            </a:pPr>
            <a:r>
              <a:rPr lang="en-US" sz="1700" b="1" dirty="0">
                <a:solidFill>
                  <a:srgbClr val="1F2A44"/>
                </a:solidFill>
                <a:latin typeface="Cambria" pitchFamily="34" charset="0"/>
                <a:ea typeface="Cambria" pitchFamily="34" charset="-122"/>
                <a:cs typeface="Cambria" pitchFamily="34" charset="-120"/>
              </a:rPr>
              <a:t>Why NPS can't follow Entra</a:t>
            </a:r>
            <a:endParaRPr lang="en-US" sz="1700" dirty="0"/>
          </a:p>
        </p:txBody>
      </p:sp>
      <p:sp>
        <p:nvSpPr>
          <p:cNvPr id="10" name="NPS list"/>
          <p:cNvSpPr txBox="1"/>
          <p:nvPr/>
        </p:nvSpPr>
        <p:spPr>
          <a:xfrm>
            <a:off x="7452360" y="2212848"/>
            <a:ext cx="4069080" cy="2331720"/>
          </a:xfrm>
          <a:prstGeom prst="rect">
            <a:avLst/>
          </a:prstGeom>
          <a:noFill/>
          <a:ln/>
        </p:spPr>
        <p:txBody>
          <a:bodyPr wrap="square" lIns="0" tIns="0" rIns="0" bIns="0" rtlCol="0" anchor="t"/>
          <a:lstStyle/>
          <a:p>
            <a:pPr marL="342900" indent="-342900">
              <a:spcAft>
                <a:spcPts val="600"/>
              </a:spcAft>
              <a:buSzPct val="100000"/>
              <a:buChar char="•"/>
            </a:pPr>
            <a:r>
              <a:rPr lang="en-US" sz="1350" dirty="0">
                <a:solidFill>
                  <a:schemeClr val="tx2"/>
                </a:solidFill>
              </a:rPr>
              <a:t>There is no Entra RADIUS product</a:t>
            </a:r>
            <a:endParaRPr lang="en-US" sz="1400" dirty="0"/>
          </a:p>
          <a:p>
            <a:pPr marL="342900" indent="-342900">
              <a:spcAft>
                <a:spcPts val="600"/>
              </a:spcAft>
              <a:buSzPct val="100000"/>
              <a:buChar char="•"/>
            </a:pPr>
            <a:r>
              <a:rPr lang="en-US" sz="1350" dirty="0">
                <a:solidFill>
                  <a:schemeClr val="tx2"/>
                </a:solidFill>
              </a:rPr>
              <a:t>NPS has no posture engine; NAP left in 2012 R2</a:t>
            </a:r>
            <a:endParaRPr lang="en-US" sz="1400" dirty="0"/>
          </a:p>
          <a:p>
            <a:pPr marL="342900" indent="-342900">
              <a:spcAft>
                <a:spcPts val="600"/>
              </a:spcAft>
              <a:buSzPct val="100000"/>
              <a:buChar char="•"/>
            </a:pPr>
            <a:r>
              <a:rPr lang="en-US" sz="1350" dirty="0">
                <a:solidFill>
                  <a:schemeClr val="tx2"/>
                </a:solidFill>
              </a:rPr>
              <a:t>Entra joined devices have no AD computer object</a:t>
            </a:r>
            <a:endParaRPr lang="en-US" sz="1400" dirty="0"/>
          </a:p>
          <a:p>
            <a:pPr marL="342900" indent="-342900">
              <a:spcAft>
                <a:spcPts val="600"/>
              </a:spcAft>
              <a:buSzPct val="100000"/>
              <a:buChar char="•"/>
            </a:pPr>
            <a:r>
              <a:rPr lang="en-US" sz="1350" dirty="0">
                <a:solidFill>
                  <a:schemeClr val="tx2"/>
                </a:solidFill>
              </a:rPr>
              <a:t>Posture comes from Intune's compliance service</a:t>
            </a:r>
            <a:endParaRPr lang="en-US" sz="1400" dirty="0"/>
          </a:p>
        </p:txBody>
      </p:sp>
      <p:sp>
        <p:nvSpPr>
          <p:cNvPr id="11" name="EAP-TLS">
            <a:extLst>
              <a:ext uri="{C183D7F6-B498-43B3-948B-1728B52AA6E4}">
                <adec:decorative xmlns:adec="http://schemas.microsoft.com/office/drawing/2017/decorative" val="1"/>
              </a:ext>
            </a:extLst>
          </p:cNvPr>
          <p:cNvSpPr/>
          <p:nvPr/>
        </p:nvSpPr>
        <p:spPr>
          <a:xfrm>
            <a:off x="548640" y="4800600"/>
            <a:ext cx="11109960" cy="1143000"/>
          </a:xfrm>
          <a:prstGeom prst="roundRect">
            <a:avLst>
              <a:gd name="adj" fmla="val 6400"/>
            </a:avLst>
          </a:prstGeom>
          <a:solidFill>
            <a:srgbClr val="FFFFFF"/>
          </a:solidFill>
          <a:ln w="12700">
            <a:solidFill>
              <a:srgbClr val="0F766E"/>
            </a:solidFill>
            <a:prstDash val="solid"/>
          </a:ln>
          <a:effectLst>
            <a:outerShdw blurRad="76200" dist="25400" dir="5400000" algn="bl" rotWithShape="0">
              <a:srgbClr val="64748B">
                <a:alpha val="22000"/>
              </a:srgbClr>
            </a:outerShdw>
          </a:effectLst>
        </p:spPr>
      </p:sp>
      <p:sp>
        <p:nvSpPr>
          <p:cNvPr id="12" name="Icon FaFingerprint">
            <a:extLst>
              <a:ext uri="{C183D7F6-B498-43B3-948B-1728B52AA6E4}">
                <adec:decorative xmlns:adec="http://schemas.microsoft.com/office/drawing/2017/decorative" val="1"/>
              </a:ext>
            </a:extLst>
          </p:cNvPr>
          <p:cNvSpPr/>
          <p:nvPr/>
        </p:nvSpPr>
        <p:spPr>
          <a:xfrm>
            <a:off x="777240" y="5006340"/>
            <a:ext cx="731520" cy="731520"/>
          </a:xfrm>
          <a:prstGeom prst="ellipse">
            <a:avLst/>
          </a:prstGeom>
          <a:solidFill>
            <a:srgbClr val="0F766E"/>
          </a:solidFill>
          <a:ln w="12700">
            <a:solidFill>
              <a:srgbClr val="0F766E"/>
            </a:solidFill>
            <a:prstDash val="solid"/>
          </a:ln>
        </p:spPr>
      </p:sp>
      <p:pic>
        <p:nvPicPr>
          <p:cNvPr id="13" name="Image 1">
            <a:extLst>
              <a:ext uri="{C183D7F6-B498-43B3-948B-1728B52AA6E4}">
                <adec:decorative xmlns:adec="http://schemas.microsoft.com/office/drawing/2017/decorative" val="1"/>
              </a:ext>
            </a:extLst>
          </p:cNvPr>
          <p:cNvPicPr>
            <a:picLocks noChangeAspect="1"/>
          </p:cNvPicPr>
          <p:nvPr/>
        </p:nvPicPr>
        <p:blipFill>
          <a:blip r:embed="rId6"/>
          <a:stretch>
            <a:fillRect/>
          </a:stretch>
        </p:blipFill>
        <p:spPr>
          <a:xfrm>
            <a:off x="952805" y="5181905"/>
            <a:ext cx="380390" cy="380390"/>
          </a:xfrm>
          <a:prstGeom prst="rect">
            <a:avLst/>
          </a:prstGeom>
        </p:spPr>
      </p:pic>
      <p:sp>
        <p:nvSpPr>
          <p:cNvPr id="14" name="EAP-TLS text"/>
          <p:cNvSpPr txBox="1"/>
          <p:nvPr/>
        </p:nvSpPr>
        <p:spPr>
          <a:xfrm>
            <a:off x="1737360" y="4846320"/>
            <a:ext cx="9738360" cy="1051560"/>
          </a:xfrm>
          <a:prstGeom prst="rect">
            <a:avLst/>
          </a:prstGeom>
          <a:noFill/>
          <a:ln/>
        </p:spPr>
        <p:txBody>
          <a:bodyPr wrap="square" lIns="0" tIns="0" rIns="0" bIns="0" rtlCol="0" anchor="ctr"/>
          <a:lstStyle/>
          <a:p>
            <a:pPr marL="0" indent="0">
              <a:buNone/>
            </a:pPr>
            <a:r>
              <a:rPr lang="en-US" sz="1650" b="1" dirty="0">
                <a:solidFill>
                  <a:srgbClr val="0F766E"/>
                </a:solidFill>
              </a:rPr>
              <a:t>EAP-TLS for every managed device: </a:t>
            </a:r>
            <a:r>
              <a:rPr lang="en-US" sz="1650" dirty="0">
                <a:solidFill>
                  <a:schemeClr val="tx2"/>
                </a:solidFill>
              </a:rPr>
              <a:t>Credential Guard already blocks PEAP-MSCHAPv2 single sign-on. After Blast-RADIUS, require Message-Authenticator everywhere and prefer RADIUS over TLS.</a:t>
            </a:r>
            <a:endParaRPr lang="en-US" sz="1650" dirty="0"/>
          </a:p>
        </p:txBody>
      </p:sp>
      <p:sp>
        <p:nvSpPr>
          <p:cNvPr id="15" name="Sources"/>
          <p:cNvSpPr txBox="1"/>
          <p:nvPr/>
        </p:nvSpPr>
        <p:spPr>
          <a:xfrm>
            <a:off x="548640" y="6053328"/>
            <a:ext cx="10424160" cy="292608"/>
          </a:xfrm>
          <a:prstGeom prst="rect">
            <a:avLst/>
          </a:prstGeom>
          <a:noFill/>
          <a:ln/>
        </p:spPr>
        <p:txBody>
          <a:bodyPr wrap="square" lIns="0" tIns="0" rIns="0" bIns="0" rtlCol="0" anchor="t"/>
          <a:lstStyle/>
          <a:p>
            <a:pPr marL="0" indent="0">
              <a:buNone/>
            </a:pPr>
            <a:r>
              <a:rPr lang="en-US" sz="1000" i="1" dirty="0">
                <a:solidFill>
                  <a:srgbClr val="64748B"/>
                </a:solidFill>
              </a:rPr>
              <a:t>Sources: IEEE 802.1X-2020; RFC 9190, RFC 3579; Microsoft Learn — NPS overview, Entra join planning, Intune NAC integration, Credential Guard; KB5040268. Book 09, Chapter 07.</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8</a:t>
            </a:fld>
            <a:endParaRPr lang="en-US"/>
          </a:p>
        </p:txBody>
      </p:sp>
      <p:pic>
        <p:nvPicPr>
          <p:cNvPr id="16" name="Narration" descr="Narration for this slide; captions available">
            <a:hlinkClick r:id="" action="ppaction://media"/>
            <a:extLst>
              <a:ext uri="{FF2B5EF4-FFF2-40B4-BE49-F238E27FC236}">
                <a16:creationId xmlns:a16="http://schemas.microsoft.com/office/drawing/2014/main" id="{BFB328AF-F2D6-0CD9-BBC2-88E9D093C91B}"/>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2F19C132-3142-4B5F-AFCC-DE10DEE41234}" label="English (captions)" lang="en-US" r:embed="rId8"/>
                        </p173:trackLst>
                      </p173:tracksInfo>
                    </p:ext>
                  </p14:extLst>
                </p14:media>
              </p:ext>
            </p:extLst>
          </p:nvPr>
        </p:nvPicPr>
        <p:blipFill>
          <a:blip r:embed="rId7"/>
          <a:stretch>
            <a:fillRect/>
          </a:stretch>
        </p:blipFill>
        <p:spPr>
          <a:xfrm>
            <a:off x="127000" y="6350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74940"/>
    </mc:Choice>
    <mc:Fallback>
      <p:transition spd="slow" advTm="7494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73944" fill="hold"/>
                                        <p:tgtEl>
                                          <p:spTgt spid="16"/>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One rule, four branch patterns, five decisions</a:t>
            </a:r>
            <a:endParaRPr lang="en-US" sz="3000" dirty="0"/>
          </a:p>
        </p:txBody>
      </p:sp>
      <p:sp>
        <p:nvSpPr>
          <p:cNvPr id="3" name="Tag What">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1F2A44"/>
          </a:solidFill>
          <a:ln w="12700">
            <a:solidFill>
              <a:srgbClr val="1F2A44"/>
            </a:solidFill>
            <a:prstDash val="solid"/>
          </a:ln>
        </p:spPr>
      </p:sp>
      <p:sp>
        <p:nvSpPr>
          <p:cNvPr id="4" name="Tag What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WHAT</a:t>
            </a:r>
            <a:endParaRPr lang="en-US" sz="1100" dirty="0"/>
          </a:p>
        </p:txBody>
      </p:sp>
      <p:sp>
        <p:nvSpPr>
          <p:cNvPr id="5" name="Pattern 1">
            <a:extLst>
              <a:ext uri="{C183D7F6-B498-43B3-948B-1728B52AA6E4}">
                <adec:decorative xmlns:adec="http://schemas.microsoft.com/office/drawing/2017/decorative" val="1"/>
              </a:ext>
            </a:extLst>
          </p:cNvPr>
          <p:cNvSpPr/>
          <p:nvPr/>
        </p:nvSpPr>
        <p:spPr>
          <a:xfrm>
            <a:off x="548640" y="1371600"/>
            <a:ext cx="2697480" cy="914400"/>
          </a:xfrm>
          <a:prstGeom prst="roundRect">
            <a:avLst>
              <a:gd name="adj" fmla="val 8000"/>
            </a:avLst>
          </a:prstGeom>
          <a:solidFill>
            <a:srgbClr val="FBEEDC"/>
          </a:solidFill>
          <a:ln w="12700">
            <a:solidFill>
              <a:srgbClr val="FBEEDC"/>
            </a:solidFill>
            <a:prstDash val="solid"/>
          </a:ln>
          <a:effectLst>
            <a:outerShdw blurRad="76200" dist="25400" dir="5400000" algn="bl" rotWithShape="0">
              <a:srgbClr val="64748B">
                <a:alpha val="22000"/>
              </a:srgbClr>
            </a:outerShdw>
          </a:effectLst>
        </p:spPr>
      </p:sp>
      <p:sp>
        <p:nvSpPr>
          <p:cNvPr id="6" name="Pattern 1 text"/>
          <p:cNvSpPr txBox="1"/>
          <p:nvPr/>
        </p:nvSpPr>
        <p:spPr>
          <a:xfrm>
            <a:off x="685800" y="1417320"/>
            <a:ext cx="2468880" cy="822960"/>
          </a:xfrm>
          <a:prstGeom prst="rect">
            <a:avLst/>
          </a:prstGeom>
          <a:noFill/>
          <a:ln/>
        </p:spPr>
        <p:txBody>
          <a:bodyPr wrap="square" lIns="0" tIns="0" rIns="0" bIns="0" rtlCol="0" anchor="ctr"/>
          <a:lstStyle/>
          <a:p>
            <a:pPr marL="0" indent="0">
              <a:buNone/>
            </a:pPr>
            <a:r>
              <a:rPr lang="en-US" sz="1500" b="1" dirty="0">
                <a:solidFill>
                  <a:srgbClr val="B45309"/>
                </a:solidFill>
              </a:rPr>
              <a:t>A · Hairpin</a:t>
            </a:r>
            <a:endParaRPr lang="en-US" sz="1400" dirty="0"/>
          </a:p>
          <a:p>
            <a:pPr marL="0" indent="0">
              <a:buNone/>
            </a:pPr>
            <a:r>
              <a:rPr lang="en-US" sz="1300" dirty="0">
                <a:solidFill>
                  <a:schemeClr val="tx2"/>
                </a:solidFill>
              </a:rPr>
              <a:t>Assessed; every flow pays the detour</a:t>
            </a:r>
            <a:endParaRPr lang="en-US" sz="1400" dirty="0"/>
          </a:p>
        </p:txBody>
      </p:sp>
      <p:sp>
        <p:nvSpPr>
          <p:cNvPr id="7" name="Pattern 2">
            <a:extLst>
              <a:ext uri="{C183D7F6-B498-43B3-948B-1728B52AA6E4}">
                <adec:decorative xmlns:adec="http://schemas.microsoft.com/office/drawing/2017/decorative" val="1"/>
              </a:ext>
            </a:extLst>
          </p:cNvPr>
          <p:cNvSpPr/>
          <p:nvPr/>
        </p:nvSpPr>
        <p:spPr>
          <a:xfrm>
            <a:off x="3360420" y="1371600"/>
            <a:ext cx="2697480" cy="914400"/>
          </a:xfrm>
          <a:prstGeom prst="roundRect">
            <a:avLst>
              <a:gd name="adj" fmla="val 8000"/>
            </a:avLst>
          </a:prstGeom>
          <a:solidFill>
            <a:srgbClr val="FBE4E4"/>
          </a:solidFill>
          <a:ln w="12700">
            <a:solidFill>
              <a:srgbClr val="FBE4E4"/>
            </a:solidFill>
            <a:prstDash val="solid"/>
          </a:ln>
          <a:effectLst>
            <a:outerShdw blurRad="76200" dist="25400" dir="5400000" algn="bl" rotWithShape="0">
              <a:srgbClr val="64748B">
                <a:alpha val="22000"/>
              </a:srgbClr>
            </a:outerShdw>
          </a:effectLst>
        </p:spPr>
      </p:sp>
      <p:sp>
        <p:nvSpPr>
          <p:cNvPr id="8" name="Pattern 2 text"/>
          <p:cNvSpPr txBox="1"/>
          <p:nvPr/>
        </p:nvSpPr>
        <p:spPr>
          <a:xfrm>
            <a:off x="3497580" y="1417320"/>
            <a:ext cx="2468880" cy="822960"/>
          </a:xfrm>
          <a:prstGeom prst="rect">
            <a:avLst/>
          </a:prstGeom>
          <a:noFill/>
          <a:ln/>
        </p:spPr>
        <p:txBody>
          <a:bodyPr wrap="square" lIns="0" tIns="0" rIns="0" bIns="0" rtlCol="0" anchor="ctr"/>
          <a:lstStyle/>
          <a:p>
            <a:pPr marL="0" indent="0">
              <a:buNone/>
            </a:pPr>
            <a:r>
              <a:rPr lang="en-US" sz="1500" b="1" dirty="0">
                <a:solidFill>
                  <a:srgbClr val="B91C1C"/>
                </a:solidFill>
              </a:rPr>
              <a:t>B · Bare breakout</a:t>
            </a:r>
            <a:endParaRPr lang="en-US" sz="1400" dirty="0"/>
          </a:p>
          <a:p>
            <a:pPr marL="0" indent="0">
              <a:buNone/>
            </a:pPr>
            <a:r>
              <a:rPr lang="en-US" sz="1300" dirty="0">
                <a:solidFill>
                  <a:schemeClr val="tx2"/>
                </a:solidFill>
              </a:rPr>
              <a:t>A regression; not a TIC option</a:t>
            </a:r>
            <a:endParaRPr lang="en-US" sz="1400" dirty="0"/>
          </a:p>
        </p:txBody>
      </p:sp>
      <p:sp>
        <p:nvSpPr>
          <p:cNvPr id="9" name="Pattern 3">
            <a:extLst>
              <a:ext uri="{C183D7F6-B498-43B3-948B-1728B52AA6E4}">
                <adec:decorative xmlns:adec="http://schemas.microsoft.com/office/drawing/2017/decorative" val="1"/>
              </a:ext>
            </a:extLst>
          </p:cNvPr>
          <p:cNvSpPr/>
          <p:nvPr/>
        </p:nvSpPr>
        <p:spPr>
          <a:xfrm>
            <a:off x="6172200" y="1371600"/>
            <a:ext cx="2697480" cy="914400"/>
          </a:xfrm>
          <a:prstGeom prst="roundRect">
            <a:avLst>
              <a:gd name="adj" fmla="val 8000"/>
            </a:avLst>
          </a:prstGeom>
          <a:solidFill>
            <a:srgbClr val="DCEFEC"/>
          </a:solidFill>
          <a:ln w="12700">
            <a:solidFill>
              <a:srgbClr val="DCEFEC"/>
            </a:solidFill>
            <a:prstDash val="solid"/>
          </a:ln>
          <a:effectLst>
            <a:outerShdw blurRad="76200" dist="25400" dir="5400000" algn="bl" rotWithShape="0">
              <a:srgbClr val="64748B">
                <a:alpha val="22000"/>
              </a:srgbClr>
            </a:outerShdw>
          </a:effectLst>
        </p:spPr>
      </p:sp>
      <p:sp>
        <p:nvSpPr>
          <p:cNvPr id="10" name="Pattern 3 text"/>
          <p:cNvSpPr txBox="1"/>
          <p:nvPr/>
        </p:nvSpPr>
        <p:spPr>
          <a:xfrm>
            <a:off x="6309360" y="1417320"/>
            <a:ext cx="2468880" cy="822960"/>
          </a:xfrm>
          <a:prstGeom prst="rect">
            <a:avLst/>
          </a:prstGeom>
          <a:noFill/>
          <a:ln/>
        </p:spPr>
        <p:txBody>
          <a:bodyPr wrap="square" lIns="0" tIns="0" rIns="0" bIns="0" rtlCol="0" anchor="ctr"/>
          <a:lstStyle/>
          <a:p>
            <a:pPr marL="0" indent="0">
              <a:buNone/>
            </a:pPr>
            <a:r>
              <a:rPr lang="en-US" sz="1500" b="1" dirty="0">
                <a:solidFill>
                  <a:srgbClr val="0F766E"/>
                </a:solidFill>
              </a:rPr>
              <a:t>C · Governed breakout</a:t>
            </a:r>
            <a:endParaRPr lang="en-US" sz="1400" dirty="0"/>
          </a:p>
          <a:p>
            <a:pPr marL="0" indent="0">
              <a:buNone/>
            </a:pPr>
            <a:r>
              <a:rPr lang="en-US" sz="1300" dirty="0">
                <a:solidFill>
                  <a:schemeClr val="tx2"/>
                </a:solidFill>
              </a:rPr>
              <a:t>Edge plus nearby SASE: the reference</a:t>
            </a:r>
            <a:endParaRPr lang="en-US" sz="1400" dirty="0"/>
          </a:p>
        </p:txBody>
      </p:sp>
      <p:sp>
        <p:nvSpPr>
          <p:cNvPr id="11" name="Pattern 4">
            <a:extLst>
              <a:ext uri="{C183D7F6-B498-43B3-948B-1728B52AA6E4}">
                <adec:decorative xmlns:adec="http://schemas.microsoft.com/office/drawing/2017/decorative" val="1"/>
              </a:ext>
            </a:extLst>
          </p:cNvPr>
          <p:cNvSpPr/>
          <p:nvPr/>
        </p:nvSpPr>
        <p:spPr>
          <a:xfrm>
            <a:off x="8983980" y="1371600"/>
            <a:ext cx="2697480" cy="914400"/>
          </a:xfrm>
          <a:prstGeom prst="roundRect">
            <a:avLst>
              <a:gd name="adj" fmla="val 8000"/>
            </a:avLst>
          </a:prstGeom>
          <a:solidFill>
            <a:srgbClr val="E4EAF4"/>
          </a:solidFill>
          <a:ln w="12700">
            <a:solidFill>
              <a:srgbClr val="E4EAF4"/>
            </a:solidFill>
            <a:prstDash val="solid"/>
          </a:ln>
          <a:effectLst>
            <a:outerShdw blurRad="76200" dist="25400" dir="5400000" algn="bl" rotWithShape="0">
              <a:srgbClr val="64748B">
                <a:alpha val="22000"/>
              </a:srgbClr>
            </a:outerShdw>
          </a:effectLst>
        </p:spPr>
      </p:sp>
      <p:sp>
        <p:nvSpPr>
          <p:cNvPr id="12" name="Pattern 4 text"/>
          <p:cNvSpPr txBox="1"/>
          <p:nvPr/>
        </p:nvSpPr>
        <p:spPr>
          <a:xfrm>
            <a:off x="9121140" y="1417320"/>
            <a:ext cx="2468880" cy="822960"/>
          </a:xfrm>
          <a:prstGeom prst="rect">
            <a:avLst/>
          </a:prstGeom>
          <a:noFill/>
          <a:ln/>
        </p:spPr>
        <p:txBody>
          <a:bodyPr wrap="square" lIns="0" tIns="0" rIns="0" bIns="0" rtlCol="0" anchor="ctr"/>
          <a:lstStyle/>
          <a:p>
            <a:pPr marL="0" indent="0">
              <a:buNone/>
            </a:pPr>
            <a:r>
              <a:rPr lang="en-US" sz="1500" b="1" dirty="0">
                <a:solidFill>
                  <a:srgbClr val="1F2A44"/>
                </a:solidFill>
              </a:rPr>
              <a:t>D · Agent SASE</a:t>
            </a:r>
            <a:endParaRPr lang="en-US" sz="1400" dirty="0"/>
          </a:p>
          <a:p>
            <a:pPr marL="0" indent="0">
              <a:buNone/>
            </a:pPr>
            <a:r>
              <a:rPr lang="en-US" sz="1300" dirty="0">
                <a:solidFill>
                  <a:schemeClr val="tx2"/>
                </a:solidFill>
              </a:rPr>
              <a:t>Small and roaming sites, if the PoP is close</a:t>
            </a:r>
            <a:endParaRPr lang="en-US" sz="1400" dirty="0"/>
          </a:p>
        </p:txBody>
      </p:sp>
      <p:sp>
        <p:nvSpPr>
          <p:cNvPr id="13" name="Decision 1">
            <a:extLst>
              <a:ext uri="{C183D7F6-B498-43B3-948B-1728B52AA6E4}">
                <adec:decorative xmlns:adec="http://schemas.microsoft.com/office/drawing/2017/decorative" val="1"/>
              </a:ext>
            </a:extLst>
          </p:cNvPr>
          <p:cNvSpPr/>
          <p:nvPr/>
        </p:nvSpPr>
        <p:spPr>
          <a:xfrm>
            <a:off x="548640" y="2468880"/>
            <a:ext cx="2103120" cy="2103120"/>
          </a:xfrm>
          <a:prstGeom prst="roundRect">
            <a:avLst>
              <a:gd name="adj" fmla="val 3478"/>
            </a:avLst>
          </a:prstGeom>
          <a:solidFill>
            <a:srgbClr val="E9EEF4"/>
          </a:solidFill>
          <a:ln w="12700">
            <a:solidFill>
              <a:srgbClr val="E9EEF4"/>
            </a:solidFill>
            <a:prstDash val="solid"/>
          </a:ln>
          <a:effectLst>
            <a:outerShdw blurRad="76200" dist="25400" dir="5400000" algn="bl" rotWithShape="0">
              <a:srgbClr val="64748B">
                <a:alpha val="22000"/>
              </a:srgbClr>
            </a:outerShdw>
          </a:effectLst>
        </p:spPr>
      </p:sp>
      <p:sp>
        <p:nvSpPr>
          <p:cNvPr id="14" name="Decision 1 text"/>
          <p:cNvSpPr txBox="1"/>
          <p:nvPr/>
        </p:nvSpPr>
        <p:spPr>
          <a:xfrm>
            <a:off x="685800" y="2560320"/>
            <a:ext cx="1828800" cy="1920240"/>
          </a:xfrm>
          <a:prstGeom prst="rect">
            <a:avLst/>
          </a:prstGeom>
          <a:noFill/>
          <a:ln/>
        </p:spPr>
        <p:txBody>
          <a:bodyPr wrap="square" lIns="0" tIns="0" rIns="0" bIns="0" rtlCol="0" anchor="t"/>
          <a:lstStyle/>
          <a:p>
            <a:pPr marL="0" indent="0">
              <a:spcAft>
                <a:spcPts val="400"/>
              </a:spcAft>
              <a:buNone/>
            </a:pPr>
            <a:r>
              <a:rPr lang="en-US" sz="2400" b="1" dirty="0">
                <a:solidFill>
                  <a:srgbClr val="B45309"/>
                </a:solidFill>
                <a:latin typeface="Cambria" pitchFamily="34" charset="0"/>
                <a:ea typeface="Cambria" pitchFamily="34" charset="-122"/>
                <a:cs typeface="Cambria" pitchFamily="34" charset="-120"/>
              </a:rPr>
              <a:t>1</a:t>
            </a:r>
            <a:endParaRPr lang="en-US" sz="1400" dirty="0"/>
          </a:p>
          <a:p>
            <a:pPr marL="0" indent="0">
              <a:spcAft>
                <a:spcPts val="400"/>
              </a:spcAft>
              <a:buNone/>
            </a:pPr>
            <a:r>
              <a:rPr lang="en-US" sz="1500" b="1" dirty="0">
                <a:solidFill>
                  <a:srgbClr val="1F2A44"/>
                </a:solidFill>
              </a:rPr>
              <a:t>One writer, one region</a:t>
            </a:r>
            <a:endParaRPr lang="en-US" sz="1400" dirty="0"/>
          </a:p>
          <a:p>
            <a:pPr marL="0" indent="0">
              <a:spcAft>
                <a:spcPts val="400"/>
              </a:spcAft>
              <a:buNone/>
            </a:pPr>
            <a:r>
              <a:rPr lang="en-US" sz="1300" dirty="0">
                <a:solidFill>
                  <a:schemeClr val="tx2"/>
                </a:solidFill>
              </a:rPr>
              <a:t>Cross-region copies asynchronous</a:t>
            </a:r>
            <a:endParaRPr lang="en-US" sz="1400" dirty="0"/>
          </a:p>
        </p:txBody>
      </p:sp>
      <p:sp>
        <p:nvSpPr>
          <p:cNvPr id="15" name="Decision 2">
            <a:extLst>
              <a:ext uri="{C183D7F6-B498-43B3-948B-1728B52AA6E4}">
                <adec:decorative xmlns:adec="http://schemas.microsoft.com/office/drawing/2017/decorative" val="1"/>
              </a:ext>
            </a:extLst>
          </p:cNvPr>
          <p:cNvSpPr/>
          <p:nvPr/>
        </p:nvSpPr>
        <p:spPr>
          <a:xfrm>
            <a:off x="2800350" y="2468880"/>
            <a:ext cx="2103120" cy="2103120"/>
          </a:xfrm>
          <a:prstGeom prst="roundRect">
            <a:avLst>
              <a:gd name="adj" fmla="val 3478"/>
            </a:avLst>
          </a:prstGeom>
          <a:solidFill>
            <a:srgbClr val="E9EEF4"/>
          </a:solidFill>
          <a:ln w="12700">
            <a:solidFill>
              <a:srgbClr val="E9EEF4"/>
            </a:solidFill>
            <a:prstDash val="solid"/>
          </a:ln>
          <a:effectLst>
            <a:outerShdw blurRad="76200" dist="25400" dir="5400000" algn="bl" rotWithShape="0">
              <a:srgbClr val="64748B">
                <a:alpha val="22000"/>
              </a:srgbClr>
            </a:outerShdw>
          </a:effectLst>
        </p:spPr>
      </p:sp>
      <p:sp>
        <p:nvSpPr>
          <p:cNvPr id="16" name="Decision 2 text"/>
          <p:cNvSpPr txBox="1"/>
          <p:nvPr/>
        </p:nvSpPr>
        <p:spPr>
          <a:xfrm>
            <a:off x="2937510" y="2560320"/>
            <a:ext cx="1828800" cy="1920240"/>
          </a:xfrm>
          <a:prstGeom prst="rect">
            <a:avLst/>
          </a:prstGeom>
          <a:noFill/>
          <a:ln/>
        </p:spPr>
        <p:txBody>
          <a:bodyPr wrap="square" lIns="0" tIns="0" rIns="0" bIns="0" rtlCol="0" anchor="t"/>
          <a:lstStyle/>
          <a:p>
            <a:pPr marL="0" indent="0">
              <a:spcAft>
                <a:spcPts val="400"/>
              </a:spcAft>
              <a:buNone/>
            </a:pPr>
            <a:r>
              <a:rPr lang="en-US" sz="2400" b="1" dirty="0">
                <a:solidFill>
                  <a:srgbClr val="B45309"/>
                </a:solidFill>
                <a:latin typeface="Cambria" pitchFamily="34" charset="0"/>
                <a:ea typeface="Cambria" pitchFamily="34" charset="-122"/>
                <a:cs typeface="Cambria" pitchFamily="34" charset="-120"/>
              </a:rPr>
              <a:t>2</a:t>
            </a:r>
            <a:endParaRPr lang="en-US" sz="1400" dirty="0"/>
          </a:p>
          <a:p>
            <a:pPr marL="0" indent="0">
              <a:spcAft>
                <a:spcPts val="400"/>
              </a:spcAft>
              <a:buNone/>
            </a:pPr>
            <a:r>
              <a:rPr lang="en-US" sz="1500" b="1" dirty="0">
                <a:solidFill>
                  <a:srgbClr val="1F2A44"/>
                </a:solidFill>
              </a:rPr>
              <a:t>Write the path policy</a:t>
            </a:r>
            <a:endParaRPr lang="en-US" sz="1400" dirty="0"/>
          </a:p>
          <a:p>
            <a:pPr marL="0" indent="0">
              <a:spcAft>
                <a:spcPts val="400"/>
              </a:spcAft>
              <a:buNone/>
            </a:pPr>
            <a:r>
              <a:rPr lang="en-US" sz="1300" dirty="0">
                <a:solidFill>
                  <a:schemeClr val="tx2"/>
                </a:solidFill>
              </a:rPr>
              <a:t>SC-7(4) already asks for it</a:t>
            </a:r>
            <a:endParaRPr lang="en-US" sz="1400" dirty="0"/>
          </a:p>
        </p:txBody>
      </p:sp>
      <p:sp>
        <p:nvSpPr>
          <p:cNvPr id="17" name="Decision 3">
            <a:extLst>
              <a:ext uri="{C183D7F6-B498-43B3-948B-1728B52AA6E4}">
                <adec:decorative xmlns:adec="http://schemas.microsoft.com/office/drawing/2017/decorative" val="1"/>
              </a:ext>
            </a:extLst>
          </p:cNvPr>
          <p:cNvSpPr/>
          <p:nvPr/>
        </p:nvSpPr>
        <p:spPr>
          <a:xfrm>
            <a:off x="5052060" y="2468880"/>
            <a:ext cx="2103120" cy="2103120"/>
          </a:xfrm>
          <a:prstGeom prst="roundRect">
            <a:avLst>
              <a:gd name="adj" fmla="val 3478"/>
            </a:avLst>
          </a:prstGeom>
          <a:solidFill>
            <a:srgbClr val="E9EEF4"/>
          </a:solidFill>
          <a:ln w="12700">
            <a:solidFill>
              <a:srgbClr val="E9EEF4"/>
            </a:solidFill>
            <a:prstDash val="solid"/>
          </a:ln>
          <a:effectLst>
            <a:outerShdw blurRad="76200" dist="25400" dir="5400000" algn="bl" rotWithShape="0">
              <a:srgbClr val="64748B">
                <a:alpha val="22000"/>
              </a:srgbClr>
            </a:outerShdw>
          </a:effectLst>
        </p:spPr>
      </p:sp>
      <p:sp>
        <p:nvSpPr>
          <p:cNvPr id="18" name="Decision 3 text"/>
          <p:cNvSpPr txBox="1"/>
          <p:nvPr/>
        </p:nvSpPr>
        <p:spPr>
          <a:xfrm>
            <a:off x="5189220" y="2560320"/>
            <a:ext cx="1828800" cy="1920240"/>
          </a:xfrm>
          <a:prstGeom prst="rect">
            <a:avLst/>
          </a:prstGeom>
          <a:noFill/>
          <a:ln/>
        </p:spPr>
        <p:txBody>
          <a:bodyPr wrap="square" lIns="0" tIns="0" rIns="0" bIns="0" rtlCol="0" anchor="t"/>
          <a:lstStyle/>
          <a:p>
            <a:pPr marL="0" indent="0">
              <a:spcAft>
                <a:spcPts val="400"/>
              </a:spcAft>
              <a:buNone/>
            </a:pPr>
            <a:r>
              <a:rPr lang="en-US" sz="2400" b="1" dirty="0">
                <a:solidFill>
                  <a:srgbClr val="B45309"/>
                </a:solidFill>
                <a:latin typeface="Cambria" pitchFamily="34" charset="0"/>
                <a:ea typeface="Cambria" pitchFamily="34" charset="-122"/>
                <a:cs typeface="Cambria" pitchFamily="34" charset="-120"/>
              </a:rPr>
              <a:t>3</a:t>
            </a:r>
            <a:endParaRPr lang="en-US" sz="1400" dirty="0"/>
          </a:p>
          <a:p>
            <a:pPr marL="0" indent="0">
              <a:spcAft>
                <a:spcPts val="400"/>
              </a:spcAft>
              <a:buNone/>
            </a:pPr>
            <a:r>
              <a:rPr lang="en-US" sz="1500" b="1" dirty="0">
                <a:solidFill>
                  <a:srgbClr val="1F2A44"/>
                </a:solidFill>
              </a:rPr>
              <a:t>Boundary change first</a:t>
            </a:r>
            <a:endParaRPr lang="en-US" sz="1400" dirty="0"/>
          </a:p>
          <a:p>
            <a:pPr marL="0" indent="0">
              <a:spcAft>
                <a:spcPts val="400"/>
              </a:spcAft>
              <a:buNone/>
            </a:pPr>
            <a:r>
              <a:rPr lang="en-US" sz="1300" dirty="0">
                <a:solidFill>
                  <a:schemeClr val="tx2"/>
                </a:solidFill>
              </a:rPr>
              <a:t>Decided before cutover</a:t>
            </a:r>
            <a:endParaRPr lang="en-US" sz="1400" dirty="0"/>
          </a:p>
        </p:txBody>
      </p:sp>
      <p:sp>
        <p:nvSpPr>
          <p:cNvPr id="19" name="Decision 4">
            <a:extLst>
              <a:ext uri="{C183D7F6-B498-43B3-948B-1728B52AA6E4}">
                <adec:decorative xmlns:adec="http://schemas.microsoft.com/office/drawing/2017/decorative" val="1"/>
              </a:ext>
            </a:extLst>
          </p:cNvPr>
          <p:cNvSpPr/>
          <p:nvPr/>
        </p:nvSpPr>
        <p:spPr>
          <a:xfrm>
            <a:off x="7303770" y="2468880"/>
            <a:ext cx="2103120" cy="2103120"/>
          </a:xfrm>
          <a:prstGeom prst="roundRect">
            <a:avLst>
              <a:gd name="adj" fmla="val 3478"/>
            </a:avLst>
          </a:prstGeom>
          <a:solidFill>
            <a:srgbClr val="E9EEF4"/>
          </a:solidFill>
          <a:ln w="12700">
            <a:solidFill>
              <a:srgbClr val="E9EEF4"/>
            </a:solidFill>
            <a:prstDash val="solid"/>
          </a:ln>
          <a:effectLst>
            <a:outerShdw blurRad="76200" dist="25400" dir="5400000" algn="bl" rotWithShape="0">
              <a:srgbClr val="64748B">
                <a:alpha val="22000"/>
              </a:srgbClr>
            </a:outerShdw>
          </a:effectLst>
        </p:spPr>
      </p:sp>
      <p:sp>
        <p:nvSpPr>
          <p:cNvPr id="20" name="Decision 4 text"/>
          <p:cNvSpPr txBox="1"/>
          <p:nvPr/>
        </p:nvSpPr>
        <p:spPr>
          <a:xfrm>
            <a:off x="7440930" y="2560320"/>
            <a:ext cx="1828800" cy="1920240"/>
          </a:xfrm>
          <a:prstGeom prst="rect">
            <a:avLst/>
          </a:prstGeom>
          <a:noFill/>
          <a:ln/>
        </p:spPr>
        <p:txBody>
          <a:bodyPr wrap="square" lIns="0" tIns="0" rIns="0" bIns="0" rtlCol="0" anchor="t"/>
          <a:lstStyle/>
          <a:p>
            <a:pPr marL="0" indent="0">
              <a:spcAft>
                <a:spcPts val="400"/>
              </a:spcAft>
              <a:buNone/>
            </a:pPr>
            <a:r>
              <a:rPr lang="en-US" sz="2400" b="1" dirty="0">
                <a:solidFill>
                  <a:srgbClr val="B45309"/>
                </a:solidFill>
                <a:latin typeface="Cambria" pitchFamily="34" charset="0"/>
                <a:ea typeface="Cambria" pitchFamily="34" charset="-122"/>
                <a:cs typeface="Cambria" pitchFamily="34" charset="-120"/>
              </a:rPr>
              <a:t>4</a:t>
            </a:r>
            <a:endParaRPr lang="en-US" sz="1400" dirty="0"/>
          </a:p>
          <a:p>
            <a:pPr marL="0" indent="0">
              <a:spcAft>
                <a:spcPts val="400"/>
              </a:spcAft>
              <a:buNone/>
            </a:pPr>
            <a:r>
              <a:rPr lang="en-US" sz="1500" b="1" dirty="0">
                <a:solidFill>
                  <a:srgbClr val="1F2A44"/>
                </a:solidFill>
              </a:rPr>
              <a:t>Protect the governor</a:t>
            </a:r>
            <a:endParaRPr lang="en-US" sz="1400" dirty="0"/>
          </a:p>
          <a:p>
            <a:pPr marL="0" indent="0">
              <a:spcAft>
                <a:spcPts val="400"/>
              </a:spcAft>
              <a:buNone/>
            </a:pPr>
            <a:r>
              <a:rPr lang="en-US" sz="1300" dirty="0">
                <a:solidFill>
                  <a:schemeClr val="tx2"/>
                </a:solidFill>
              </a:rPr>
              <a:t>Before it carries traffic</a:t>
            </a:r>
            <a:endParaRPr lang="en-US" sz="1400" dirty="0"/>
          </a:p>
        </p:txBody>
      </p:sp>
      <p:sp>
        <p:nvSpPr>
          <p:cNvPr id="21" name="Decision 5">
            <a:extLst>
              <a:ext uri="{C183D7F6-B498-43B3-948B-1728B52AA6E4}">
                <adec:decorative xmlns:adec="http://schemas.microsoft.com/office/drawing/2017/decorative" val="1"/>
              </a:ext>
            </a:extLst>
          </p:cNvPr>
          <p:cNvSpPr/>
          <p:nvPr/>
        </p:nvSpPr>
        <p:spPr>
          <a:xfrm>
            <a:off x="9555480" y="2468880"/>
            <a:ext cx="2103120" cy="2103120"/>
          </a:xfrm>
          <a:prstGeom prst="roundRect">
            <a:avLst>
              <a:gd name="adj" fmla="val 3478"/>
            </a:avLst>
          </a:prstGeom>
          <a:solidFill>
            <a:srgbClr val="E9EEF4"/>
          </a:solidFill>
          <a:ln w="12700">
            <a:solidFill>
              <a:srgbClr val="E9EEF4"/>
            </a:solidFill>
            <a:prstDash val="solid"/>
          </a:ln>
          <a:effectLst>
            <a:outerShdw blurRad="76200" dist="25400" dir="5400000" algn="bl" rotWithShape="0">
              <a:srgbClr val="64748B">
                <a:alpha val="22000"/>
              </a:srgbClr>
            </a:outerShdw>
          </a:effectLst>
        </p:spPr>
      </p:sp>
      <p:sp>
        <p:nvSpPr>
          <p:cNvPr id="22" name="Decision 5 text"/>
          <p:cNvSpPr txBox="1"/>
          <p:nvPr/>
        </p:nvSpPr>
        <p:spPr>
          <a:xfrm>
            <a:off x="9692640" y="2560320"/>
            <a:ext cx="1828800" cy="1920240"/>
          </a:xfrm>
          <a:prstGeom prst="rect">
            <a:avLst/>
          </a:prstGeom>
          <a:noFill/>
          <a:ln/>
        </p:spPr>
        <p:txBody>
          <a:bodyPr wrap="square" lIns="0" tIns="0" rIns="0" bIns="0" rtlCol="0" anchor="t"/>
          <a:lstStyle/>
          <a:p>
            <a:pPr marL="0" indent="0">
              <a:spcAft>
                <a:spcPts val="400"/>
              </a:spcAft>
              <a:buNone/>
            </a:pPr>
            <a:r>
              <a:rPr lang="en-US" sz="2400" b="1" dirty="0">
                <a:solidFill>
                  <a:srgbClr val="B45309"/>
                </a:solidFill>
                <a:latin typeface="Cambria" pitchFamily="34" charset="0"/>
                <a:ea typeface="Cambria" pitchFamily="34" charset="-122"/>
                <a:cs typeface="Cambria" pitchFamily="34" charset="-120"/>
              </a:rPr>
              <a:t>5</a:t>
            </a:r>
            <a:endParaRPr lang="en-US" sz="1400" dirty="0"/>
          </a:p>
          <a:p>
            <a:pPr marL="0" indent="0">
              <a:spcAft>
                <a:spcPts val="400"/>
              </a:spcAft>
              <a:buNone/>
            </a:pPr>
            <a:r>
              <a:rPr lang="en-US" sz="1500" b="1" dirty="0">
                <a:solidFill>
                  <a:srgbClr val="1F2A44"/>
                </a:solidFill>
              </a:rPr>
              <a:t>Make the path evidence</a:t>
            </a:r>
            <a:endParaRPr lang="en-US" sz="1400" dirty="0"/>
          </a:p>
          <a:p>
            <a:pPr marL="0" indent="0">
              <a:spcAft>
                <a:spcPts val="400"/>
              </a:spcAft>
              <a:buNone/>
            </a:pPr>
            <a:r>
              <a:rPr lang="en-US" sz="1300" dirty="0">
                <a:solidFill>
                  <a:schemeClr val="tx2"/>
                </a:solidFill>
              </a:rPr>
              <a:t>Telemetry to the SIEM and CLAW</a:t>
            </a:r>
            <a:endParaRPr lang="en-US" sz="1400" dirty="0"/>
          </a:p>
        </p:txBody>
      </p:sp>
      <p:sp>
        <p:nvSpPr>
          <p:cNvPr id="23" name="Rule">
            <a:extLst>
              <a:ext uri="{C183D7F6-B498-43B3-948B-1728B52AA6E4}">
                <adec:decorative xmlns:adec="http://schemas.microsoft.com/office/drawing/2017/decorative" val="1"/>
              </a:ext>
            </a:extLst>
          </p:cNvPr>
          <p:cNvSpPr/>
          <p:nvPr/>
        </p:nvSpPr>
        <p:spPr>
          <a:xfrm>
            <a:off x="548640" y="4754880"/>
            <a:ext cx="11109960" cy="1143000"/>
          </a:xfrm>
          <a:prstGeom prst="roundRect">
            <a:avLst>
              <a:gd name="adj" fmla="val 6400"/>
            </a:avLst>
          </a:prstGeom>
          <a:solidFill>
            <a:srgbClr val="FFFFFF"/>
          </a:solidFill>
          <a:ln w="12700">
            <a:solidFill>
              <a:srgbClr val="1F2A44"/>
            </a:solidFill>
            <a:prstDash val="solid"/>
          </a:ln>
          <a:effectLst>
            <a:outerShdw blurRad="76200" dist="25400" dir="5400000" algn="bl" rotWithShape="0">
              <a:srgbClr val="64748B">
                <a:alpha val="22000"/>
              </a:srgbClr>
            </a:outerShdw>
          </a:effectLst>
        </p:spPr>
      </p:sp>
      <p:sp>
        <p:nvSpPr>
          <p:cNvPr id="24" name="Icon FaSitemap">
            <a:extLst>
              <a:ext uri="{C183D7F6-B498-43B3-948B-1728B52AA6E4}">
                <adec:decorative xmlns:adec="http://schemas.microsoft.com/office/drawing/2017/decorative" val="1"/>
              </a:ext>
            </a:extLst>
          </p:cNvPr>
          <p:cNvSpPr/>
          <p:nvPr/>
        </p:nvSpPr>
        <p:spPr>
          <a:xfrm>
            <a:off x="777240" y="4960620"/>
            <a:ext cx="731520" cy="731520"/>
          </a:xfrm>
          <a:prstGeom prst="ellipse">
            <a:avLst/>
          </a:prstGeom>
          <a:solidFill>
            <a:srgbClr val="1F2A44"/>
          </a:solidFill>
          <a:ln w="12700">
            <a:solidFill>
              <a:srgbClr val="1F2A44"/>
            </a:solidFill>
            <a:prstDash val="solid"/>
          </a:ln>
        </p:spPr>
      </p:sp>
      <p:pic>
        <p:nvPicPr>
          <p:cNvPr id="25" name="Image 0">
            <a:extLst>
              <a:ext uri="{C183D7F6-B498-43B3-948B-1728B52AA6E4}">
                <adec:decorative xmlns:adec="http://schemas.microsoft.com/office/drawing/2017/decorative" val="1"/>
              </a:ext>
            </a:extLst>
          </p:cNvPr>
          <p:cNvPicPr>
            <a:picLocks noChangeAspect="1"/>
          </p:cNvPicPr>
          <p:nvPr/>
        </p:nvPicPr>
        <p:blipFill>
          <a:blip r:embed="rId5"/>
          <a:stretch>
            <a:fillRect/>
          </a:stretch>
        </p:blipFill>
        <p:spPr>
          <a:xfrm>
            <a:off x="952805" y="5136185"/>
            <a:ext cx="380390" cy="380390"/>
          </a:xfrm>
          <a:prstGeom prst="rect">
            <a:avLst/>
          </a:prstGeom>
        </p:spPr>
      </p:pic>
      <p:sp>
        <p:nvSpPr>
          <p:cNvPr id="26" name="Rule text"/>
          <p:cNvSpPr txBox="1"/>
          <p:nvPr/>
        </p:nvSpPr>
        <p:spPr>
          <a:xfrm>
            <a:off x="1737360" y="4800600"/>
            <a:ext cx="9738360" cy="1051560"/>
          </a:xfrm>
          <a:prstGeom prst="rect">
            <a:avLst/>
          </a:prstGeom>
          <a:noFill/>
          <a:ln/>
        </p:spPr>
        <p:txBody>
          <a:bodyPr wrap="square" lIns="0" tIns="0" rIns="0" bIns="0" rtlCol="0" anchor="ctr"/>
          <a:lstStyle/>
          <a:p>
            <a:pPr marL="0" indent="0">
              <a:buNone/>
            </a:pPr>
            <a:r>
              <a:rPr lang="en-US" sz="1650" b="1" dirty="0">
                <a:solidFill>
                  <a:srgbClr val="1F2A44"/>
                </a:solidFill>
              </a:rPr>
              <a:t>Align consistency class with transport class: </a:t>
            </a:r>
            <a:r>
              <a:rPr lang="en-US" sz="1650" dirty="0">
                <a:solidFill>
                  <a:schemeClr val="tx2"/>
                </a:solidFill>
              </a:rPr>
              <a:t>only authoritative writes and in-region quorum ride the lean path, and neither crosses a region synchronously. Everything that spans distance is asynchronous on the bulk path.</a:t>
            </a:r>
            <a:endParaRPr lang="en-US" sz="1650" dirty="0"/>
          </a:p>
        </p:txBody>
      </p:sp>
      <p:sp>
        <p:nvSpPr>
          <p:cNvPr id="27" name="Sources"/>
          <p:cNvSpPr txBox="1"/>
          <p:nvPr/>
        </p:nvSpPr>
        <p:spPr>
          <a:xfrm>
            <a:off x="548640" y="6053328"/>
            <a:ext cx="10424160" cy="292608"/>
          </a:xfrm>
          <a:prstGeom prst="rect">
            <a:avLst/>
          </a:prstGeom>
          <a:noFill/>
          <a:ln/>
        </p:spPr>
        <p:txBody>
          <a:bodyPr wrap="square" lIns="0" tIns="0" rIns="0" bIns="0" rtlCol="0" anchor="t"/>
          <a:lstStyle/>
          <a:p>
            <a:pPr marL="0" indent="0">
              <a:buNone/>
            </a:pPr>
            <a:r>
              <a:rPr lang="en-US" sz="1000" i="1" dirty="0">
                <a:solidFill>
                  <a:srgbClr val="64748B"/>
                </a:solidFill>
              </a:rPr>
              <a:t>Sources: CISA SASE guide (June 2026); TIC 3.0 Branch Office Use Case v3.0; NIST SP 800-53 SC-7(4); Microsoft Learn — PostgreSQL business continuity, read replicas. Book 09, Chapter 08.</a:t>
            </a:r>
            <a:endParaRPr lang="en-US" sz="1000" dirty="0"/>
          </a:p>
        </p:txBody>
      </p:sp>
      <p:sp>
        <p:nvSpPr>
          <p:cNvPr id="28"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9</a:t>
            </a:fld>
            <a:endParaRPr lang="en-US"/>
          </a:p>
        </p:txBody>
      </p:sp>
      <p:pic>
        <p:nvPicPr>
          <p:cNvPr id="29" name="Narration" descr="Narration for this slide; captions available">
            <a:hlinkClick r:id="" action="ppaction://media"/>
            <a:extLst>
              <a:ext uri="{FF2B5EF4-FFF2-40B4-BE49-F238E27FC236}">
                <a16:creationId xmlns:a16="http://schemas.microsoft.com/office/drawing/2014/main" id="{38B29A68-EF91-341F-312F-B0502A77D0AF}"/>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08309CDA-A3CE-4AA3-9C7E-7D4508D5482B}" label="English (captions)" lang="en-US" r:embed="rId7"/>
                        </p173:trackLst>
                      </p173:tracksInfo>
                    </p:ext>
                  </p14:extLst>
                </p14:media>
              </p:ext>
            </p:extLst>
          </p:nvPr>
        </p:nvPicPr>
        <p:blipFill>
          <a:blip r:embed="rId6"/>
          <a:stretch>
            <a:fillRect/>
          </a:stretch>
        </p:blipFill>
        <p:spPr>
          <a:xfrm>
            <a:off x="127000" y="6350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60880"/>
    </mc:Choice>
    <mc:Fallback>
      <p:transition spd="slow" advTm="6088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59880" fill="hold"/>
                                        <p:tgtEl>
                                          <p:spTgt spid="29"/>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Who decides, who does the work for the network</a:t>
            </a:r>
            <a:endParaRPr lang="en-US" sz="3000" dirty="0"/>
          </a:p>
        </p:txBody>
      </p:sp>
      <p:sp>
        <p:nvSpPr>
          <p:cNvPr id="3" name="Tag Who">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0F766E"/>
          </a:solidFill>
          <a:ln w="12700">
            <a:solidFill>
              <a:srgbClr val="0F766E"/>
            </a:solidFill>
            <a:prstDash val="solid"/>
          </a:ln>
        </p:spPr>
      </p:sp>
      <p:sp>
        <p:nvSpPr>
          <p:cNvPr id="4" name="Tag Who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WHO</a:t>
            </a:r>
            <a:endParaRPr lang="en-US" sz="1100" dirty="0"/>
          </a:p>
        </p:txBody>
      </p:sp>
      <p:sp>
        <p:nvSpPr>
          <p:cNvPr id="5" name="Who col 1">
            <a:extLst>
              <a:ext uri="{C183D7F6-B498-43B3-948B-1728B52AA6E4}">
                <adec:decorative xmlns:adec="http://schemas.microsoft.com/office/drawing/2017/decorative" val="1"/>
              </a:ext>
            </a:extLst>
          </p:cNvPr>
          <p:cNvSpPr/>
          <p:nvPr/>
        </p:nvSpPr>
        <p:spPr>
          <a:xfrm>
            <a:off x="548640" y="1371600"/>
            <a:ext cx="3611880" cy="2514600"/>
          </a:xfrm>
          <a:prstGeom prst="roundRect">
            <a:avLst>
              <a:gd name="adj" fmla="val 2909"/>
            </a:avLst>
          </a:prstGeom>
          <a:solidFill>
            <a:srgbClr val="E4EAF4"/>
          </a:solidFill>
          <a:ln w="12700">
            <a:solidFill>
              <a:srgbClr val="E4EAF4"/>
            </a:solidFill>
            <a:prstDash val="solid"/>
          </a:ln>
          <a:effectLst>
            <a:outerShdw blurRad="76200" dist="25400" dir="5400000" algn="bl" rotWithShape="0">
              <a:srgbClr val="64748B">
                <a:alpha val="22000"/>
              </a:srgbClr>
            </a:outerShdw>
          </a:effectLst>
        </p:spPr>
      </p:sp>
      <p:sp>
        <p:nvSpPr>
          <p:cNvPr id="6" name="Icon FaBuildingColumns">
            <a:extLst>
              <a:ext uri="{C183D7F6-B498-43B3-948B-1728B52AA6E4}">
                <adec:decorative xmlns:adec="http://schemas.microsoft.com/office/drawing/2017/decorative" val="1"/>
              </a:ext>
            </a:extLst>
          </p:cNvPr>
          <p:cNvSpPr/>
          <p:nvPr/>
        </p:nvSpPr>
        <p:spPr>
          <a:xfrm>
            <a:off x="749808" y="1490472"/>
            <a:ext cx="512064" cy="512064"/>
          </a:xfrm>
          <a:prstGeom prst="ellipse">
            <a:avLst/>
          </a:prstGeom>
          <a:solidFill>
            <a:srgbClr val="1F2A44"/>
          </a:solidFill>
          <a:ln w="12700">
            <a:solidFill>
              <a:srgbClr val="1F2A44"/>
            </a:solidFill>
            <a:prstDash val="solid"/>
          </a:ln>
        </p:spPr>
      </p:sp>
      <p:pic>
        <p:nvPicPr>
          <p:cNvPr id="7" name="Image 0">
            <a:extLst>
              <a:ext uri="{C183D7F6-B498-43B3-948B-1728B52AA6E4}">
                <adec:decorative xmlns:adec="http://schemas.microsoft.com/office/drawing/2017/decorative" val="1"/>
              </a:ext>
            </a:extLst>
          </p:cNvPr>
          <p:cNvPicPr>
            <a:picLocks noChangeAspect="1"/>
          </p:cNvPicPr>
          <p:nvPr/>
        </p:nvPicPr>
        <p:blipFill>
          <a:blip r:embed="rId5"/>
          <a:stretch>
            <a:fillRect/>
          </a:stretch>
        </p:blipFill>
        <p:spPr>
          <a:xfrm>
            <a:off x="872703" y="1613367"/>
            <a:ext cx="266273" cy="266273"/>
          </a:xfrm>
          <a:prstGeom prst="rect">
            <a:avLst/>
          </a:prstGeom>
        </p:spPr>
      </p:pic>
      <p:sp>
        <p:nvSpPr>
          <p:cNvPr id="8" name="Who head 1"/>
          <p:cNvSpPr txBox="1"/>
          <p:nvPr/>
        </p:nvSpPr>
        <p:spPr>
          <a:xfrm>
            <a:off x="1417320" y="1490472"/>
            <a:ext cx="2651760" cy="512064"/>
          </a:xfrm>
          <a:prstGeom prst="rect">
            <a:avLst/>
          </a:prstGeom>
          <a:noFill/>
          <a:ln/>
        </p:spPr>
        <p:txBody>
          <a:bodyPr wrap="square" lIns="0" tIns="0" rIns="0" bIns="0" rtlCol="0" anchor="ctr"/>
          <a:lstStyle/>
          <a:p>
            <a:pPr marL="0" indent="0">
              <a:buNone/>
            </a:pPr>
            <a:r>
              <a:rPr lang="en-US" sz="1800" b="1" dirty="0">
                <a:solidFill>
                  <a:srgbClr val="1F2A44"/>
                </a:solidFill>
                <a:latin typeface="Cambria" pitchFamily="34" charset="0"/>
                <a:ea typeface="Cambria" pitchFamily="34" charset="-122"/>
                <a:cs typeface="Cambria" pitchFamily="34" charset="-120"/>
              </a:rPr>
              <a:t>Decide</a:t>
            </a:r>
            <a:endParaRPr lang="en-US" sz="1800" dirty="0"/>
          </a:p>
        </p:txBody>
      </p:sp>
      <p:sp>
        <p:nvSpPr>
          <p:cNvPr id="9" name="Who text 1"/>
          <p:cNvSpPr txBox="1"/>
          <p:nvPr/>
        </p:nvSpPr>
        <p:spPr>
          <a:xfrm>
            <a:off x="777240" y="2103120"/>
            <a:ext cx="3246120" cy="1737360"/>
          </a:xfrm>
          <a:prstGeom prst="rect">
            <a:avLst/>
          </a:prstGeom>
          <a:noFill/>
          <a:ln/>
        </p:spPr>
        <p:txBody>
          <a:bodyPr wrap="square" lIns="0" tIns="0" rIns="0" bIns="0" rtlCol="0" anchor="t"/>
          <a:lstStyle/>
          <a:p>
            <a:pPr marL="0" indent="0">
              <a:spcAft>
                <a:spcPts val="400"/>
              </a:spcAft>
              <a:buNone/>
            </a:pPr>
            <a:r>
              <a:rPr lang="en-US" sz="1300" b="1" dirty="0">
                <a:solidFill>
                  <a:srgbClr val="1F2A44"/>
                </a:solidFill>
              </a:rPr>
              <a:t>Sponsor and CIO</a:t>
            </a:r>
            <a:endParaRPr lang="en-US" sz="1300" dirty="0"/>
          </a:p>
          <a:p>
            <a:pPr marL="0" indent="0">
              <a:spcAft>
                <a:spcPts val="400"/>
              </a:spcAft>
              <a:buNone/>
            </a:pPr>
            <a:r>
              <a:rPr lang="en-US" sz="1300" dirty="0">
                <a:solidFill>
                  <a:schemeClr val="tx2"/>
                </a:solidFill>
              </a:rPr>
              <a:t>Platforms, wave order, NPS retirement</a:t>
            </a:r>
            <a:endParaRPr lang="en-US" sz="1300" dirty="0"/>
          </a:p>
          <a:p>
            <a:pPr marL="0" indent="0">
              <a:spcAft>
                <a:spcPts val="400"/>
              </a:spcAft>
              <a:buNone/>
            </a:pPr>
            <a:r>
              <a:rPr lang="en-US" sz="1300" b="1" dirty="0">
                <a:solidFill>
                  <a:srgbClr val="1F2A44"/>
                </a:solidFill>
              </a:rPr>
              <a:t>Authorizing official</a:t>
            </a:r>
            <a:endParaRPr lang="en-US" sz="1300" dirty="0"/>
          </a:p>
          <a:p>
            <a:pPr marL="0" indent="0">
              <a:spcAft>
                <a:spcPts val="400"/>
              </a:spcAft>
              <a:buNone/>
            </a:pPr>
            <a:r>
              <a:rPr lang="en-US" sz="1300" dirty="0">
                <a:solidFill>
                  <a:schemeClr val="tx2"/>
                </a:solidFill>
              </a:rPr>
              <a:t>Boundary change; every exception</a:t>
            </a:r>
            <a:endParaRPr lang="en-US" sz="1300" dirty="0"/>
          </a:p>
          <a:p>
            <a:pPr marL="0" indent="0">
              <a:spcAft>
                <a:spcPts val="400"/>
              </a:spcAft>
              <a:buNone/>
            </a:pPr>
            <a:r>
              <a:rPr lang="en-US" sz="1300" b="1" dirty="0">
                <a:solidFill>
                  <a:srgbClr val="1F2A44"/>
                </a:solidFill>
              </a:rPr>
              <a:t>CISO and ISSO</a:t>
            </a:r>
            <a:endParaRPr lang="en-US" sz="1300" dirty="0"/>
          </a:p>
          <a:p>
            <a:pPr marL="0" indent="0">
              <a:spcAft>
                <a:spcPts val="400"/>
              </a:spcAft>
              <a:buNone/>
            </a:pPr>
            <a:r>
              <a:rPr lang="en-US" sz="1300" dirty="0">
                <a:solidFill>
                  <a:schemeClr val="tx2"/>
                </a:solidFill>
              </a:rPr>
              <a:t>Control requirements; telemetry parity</a:t>
            </a:r>
            <a:endParaRPr lang="en-US" sz="1300" dirty="0"/>
          </a:p>
        </p:txBody>
      </p:sp>
      <p:sp>
        <p:nvSpPr>
          <p:cNvPr id="10" name="Who col 2">
            <a:extLst>
              <a:ext uri="{C183D7F6-B498-43B3-948B-1728B52AA6E4}">
                <adec:decorative xmlns:adec="http://schemas.microsoft.com/office/drawing/2017/decorative" val="1"/>
              </a:ext>
            </a:extLst>
          </p:cNvPr>
          <p:cNvSpPr/>
          <p:nvPr/>
        </p:nvSpPr>
        <p:spPr>
          <a:xfrm>
            <a:off x="4297680" y="1371600"/>
            <a:ext cx="3611880" cy="2514600"/>
          </a:xfrm>
          <a:prstGeom prst="roundRect">
            <a:avLst>
              <a:gd name="adj" fmla="val 2909"/>
            </a:avLst>
          </a:prstGeom>
          <a:solidFill>
            <a:srgbClr val="DCEFEC"/>
          </a:solidFill>
          <a:ln w="12700">
            <a:solidFill>
              <a:srgbClr val="DCEFEC"/>
            </a:solidFill>
            <a:prstDash val="solid"/>
          </a:ln>
          <a:effectLst>
            <a:outerShdw blurRad="76200" dist="25400" dir="5400000" algn="bl" rotWithShape="0">
              <a:srgbClr val="64748B">
                <a:alpha val="22000"/>
              </a:srgbClr>
            </a:outerShdw>
          </a:effectLst>
        </p:spPr>
      </p:sp>
      <p:sp>
        <p:nvSpPr>
          <p:cNvPr id="11" name="Icon FaClipboardCheck">
            <a:extLst>
              <a:ext uri="{C183D7F6-B498-43B3-948B-1728B52AA6E4}">
                <adec:decorative xmlns:adec="http://schemas.microsoft.com/office/drawing/2017/decorative" val="1"/>
              </a:ext>
            </a:extLst>
          </p:cNvPr>
          <p:cNvSpPr/>
          <p:nvPr/>
        </p:nvSpPr>
        <p:spPr>
          <a:xfrm>
            <a:off x="4498848" y="1490472"/>
            <a:ext cx="512064" cy="512064"/>
          </a:xfrm>
          <a:prstGeom prst="ellipse">
            <a:avLst/>
          </a:prstGeom>
          <a:solidFill>
            <a:srgbClr val="0F766E"/>
          </a:solidFill>
          <a:ln w="12700">
            <a:solidFill>
              <a:srgbClr val="0F766E"/>
            </a:solidFill>
            <a:prstDash val="solid"/>
          </a:ln>
        </p:spPr>
      </p:sp>
      <p:pic>
        <p:nvPicPr>
          <p:cNvPr id="12" name="Image 1">
            <a:extLst>
              <a:ext uri="{C183D7F6-B498-43B3-948B-1728B52AA6E4}">
                <adec:decorative xmlns:adec="http://schemas.microsoft.com/office/drawing/2017/decorative" val="1"/>
              </a:ext>
            </a:extLst>
          </p:cNvPr>
          <p:cNvPicPr>
            <a:picLocks noChangeAspect="1"/>
          </p:cNvPicPr>
          <p:nvPr/>
        </p:nvPicPr>
        <p:blipFill>
          <a:blip r:embed="rId6"/>
          <a:stretch>
            <a:fillRect/>
          </a:stretch>
        </p:blipFill>
        <p:spPr>
          <a:xfrm>
            <a:off x="4621743" y="1613367"/>
            <a:ext cx="266273" cy="266273"/>
          </a:xfrm>
          <a:prstGeom prst="rect">
            <a:avLst/>
          </a:prstGeom>
        </p:spPr>
      </p:pic>
      <p:sp>
        <p:nvSpPr>
          <p:cNvPr id="13" name="Who head 2"/>
          <p:cNvSpPr txBox="1"/>
          <p:nvPr/>
        </p:nvSpPr>
        <p:spPr>
          <a:xfrm>
            <a:off x="5166360" y="1490472"/>
            <a:ext cx="2651760" cy="512064"/>
          </a:xfrm>
          <a:prstGeom prst="rect">
            <a:avLst/>
          </a:prstGeom>
          <a:noFill/>
          <a:ln/>
        </p:spPr>
        <p:txBody>
          <a:bodyPr wrap="square" lIns="0" tIns="0" rIns="0" bIns="0" rtlCol="0" anchor="ctr"/>
          <a:lstStyle/>
          <a:p>
            <a:pPr marL="0" indent="0">
              <a:buNone/>
            </a:pPr>
            <a:r>
              <a:rPr lang="en-US" sz="1800" b="1" dirty="0">
                <a:solidFill>
                  <a:srgbClr val="0F766E"/>
                </a:solidFill>
                <a:latin typeface="Cambria" pitchFamily="34" charset="0"/>
                <a:ea typeface="Cambria" pitchFamily="34" charset="-122"/>
                <a:cs typeface="Cambria" pitchFamily="34" charset="-120"/>
              </a:rPr>
              <a:t>Decide at a gate</a:t>
            </a:r>
            <a:endParaRPr lang="en-US" sz="1800" dirty="0"/>
          </a:p>
        </p:txBody>
      </p:sp>
      <p:sp>
        <p:nvSpPr>
          <p:cNvPr id="14" name="Who text 2"/>
          <p:cNvSpPr txBox="1"/>
          <p:nvPr/>
        </p:nvSpPr>
        <p:spPr>
          <a:xfrm>
            <a:off x="4526280" y="2103120"/>
            <a:ext cx="3246120" cy="1737360"/>
          </a:xfrm>
          <a:prstGeom prst="rect">
            <a:avLst/>
          </a:prstGeom>
          <a:noFill/>
          <a:ln/>
        </p:spPr>
        <p:txBody>
          <a:bodyPr wrap="square" lIns="0" tIns="0" rIns="0" bIns="0" rtlCol="0" anchor="t"/>
          <a:lstStyle/>
          <a:p>
            <a:pPr marL="0" indent="0">
              <a:spcAft>
                <a:spcPts val="400"/>
              </a:spcAft>
              <a:buNone/>
            </a:pPr>
            <a:r>
              <a:rPr lang="en-US" sz="1300" b="1" dirty="0">
                <a:solidFill>
                  <a:srgbClr val="0F766E"/>
                </a:solidFill>
              </a:rPr>
              <a:t>System owner</a:t>
            </a:r>
            <a:endParaRPr lang="en-US" sz="1300" dirty="0"/>
          </a:p>
          <a:p>
            <a:pPr marL="0" indent="0">
              <a:spcAft>
                <a:spcPts val="400"/>
              </a:spcAft>
              <a:buNone/>
            </a:pPr>
            <a:r>
              <a:rPr lang="en-US" sz="1300" dirty="0">
                <a:solidFill>
                  <a:schemeClr val="tx2"/>
                </a:solidFill>
              </a:rPr>
              <a:t>Per site: governor live before traffic</a:t>
            </a:r>
            <a:endParaRPr lang="en-US" sz="1300" dirty="0"/>
          </a:p>
          <a:p>
            <a:pPr marL="0" indent="0">
              <a:spcAft>
                <a:spcPts val="400"/>
              </a:spcAft>
              <a:buNone/>
            </a:pPr>
            <a:r>
              <a:rPr lang="en-US" sz="1300" b="1" dirty="0">
                <a:solidFill>
                  <a:srgbClr val="0F766E"/>
                </a:solidFill>
              </a:rPr>
              <a:t>Security architecture</a:t>
            </a:r>
            <a:endParaRPr lang="en-US" sz="1300" dirty="0"/>
          </a:p>
          <a:p>
            <a:pPr marL="0" indent="0">
              <a:spcAft>
                <a:spcPts val="400"/>
              </a:spcAft>
              <a:buNone/>
            </a:pPr>
            <a:r>
              <a:rPr lang="en-US" sz="1300" dirty="0">
                <a:solidFill>
                  <a:schemeClr val="tx2"/>
                </a:solidFill>
              </a:rPr>
              <a:t>TIC conformance; refresh attributes</a:t>
            </a:r>
            <a:endParaRPr lang="en-US" sz="1300" dirty="0"/>
          </a:p>
          <a:p>
            <a:pPr marL="0" indent="0">
              <a:spcAft>
                <a:spcPts val="400"/>
              </a:spcAft>
              <a:buNone/>
            </a:pPr>
            <a:r>
              <a:rPr lang="en-US" sz="1300" b="1" dirty="0">
                <a:solidFill>
                  <a:srgbClr val="0F766E"/>
                </a:solidFill>
              </a:rPr>
              <a:t>Contracting officer</a:t>
            </a:r>
            <a:endParaRPr lang="en-US" sz="1300" dirty="0"/>
          </a:p>
          <a:p>
            <a:pPr marL="0" indent="0">
              <a:spcAft>
                <a:spcPts val="400"/>
              </a:spcAft>
              <a:buNone/>
            </a:pPr>
            <a:r>
              <a:rPr lang="en-US" sz="1300" dirty="0">
                <a:solidFill>
                  <a:schemeClr val="tx2"/>
                </a:solidFill>
              </a:rPr>
              <a:t>EIS orders; ends circuits</a:t>
            </a:r>
            <a:endParaRPr lang="en-US" sz="1300" dirty="0"/>
          </a:p>
        </p:txBody>
      </p:sp>
      <p:sp>
        <p:nvSpPr>
          <p:cNvPr id="15" name="Who col 3">
            <a:extLst>
              <a:ext uri="{C183D7F6-B498-43B3-948B-1728B52AA6E4}">
                <adec:decorative xmlns:adec="http://schemas.microsoft.com/office/drawing/2017/decorative" val="1"/>
              </a:ext>
            </a:extLst>
          </p:cNvPr>
          <p:cNvSpPr/>
          <p:nvPr/>
        </p:nvSpPr>
        <p:spPr>
          <a:xfrm>
            <a:off x="8046720" y="1371600"/>
            <a:ext cx="3611880" cy="2514600"/>
          </a:xfrm>
          <a:prstGeom prst="roundRect">
            <a:avLst>
              <a:gd name="adj" fmla="val 2909"/>
            </a:avLst>
          </a:prstGeom>
          <a:solidFill>
            <a:srgbClr val="FBEEDC"/>
          </a:solidFill>
          <a:ln w="12700">
            <a:solidFill>
              <a:srgbClr val="FBEEDC"/>
            </a:solidFill>
            <a:prstDash val="solid"/>
          </a:ln>
          <a:effectLst>
            <a:outerShdw blurRad="76200" dist="25400" dir="5400000" algn="bl" rotWithShape="0">
              <a:srgbClr val="64748B">
                <a:alpha val="22000"/>
              </a:srgbClr>
            </a:outerShdw>
          </a:effectLst>
        </p:spPr>
      </p:sp>
      <p:sp>
        <p:nvSpPr>
          <p:cNvPr id="16" name="Icon FaUsersGear">
            <a:extLst>
              <a:ext uri="{C183D7F6-B498-43B3-948B-1728B52AA6E4}">
                <adec:decorative xmlns:adec="http://schemas.microsoft.com/office/drawing/2017/decorative" val="1"/>
              </a:ext>
            </a:extLst>
          </p:cNvPr>
          <p:cNvSpPr/>
          <p:nvPr/>
        </p:nvSpPr>
        <p:spPr>
          <a:xfrm>
            <a:off x="8247888" y="1490472"/>
            <a:ext cx="512064" cy="512064"/>
          </a:xfrm>
          <a:prstGeom prst="ellipse">
            <a:avLst/>
          </a:prstGeom>
          <a:solidFill>
            <a:srgbClr val="B45309"/>
          </a:solidFill>
          <a:ln w="12700">
            <a:solidFill>
              <a:srgbClr val="B45309"/>
            </a:solidFill>
            <a:prstDash val="solid"/>
          </a:ln>
        </p:spPr>
      </p:sp>
      <p:pic>
        <p:nvPicPr>
          <p:cNvPr id="17" name="Image 2">
            <a:extLst>
              <a:ext uri="{C183D7F6-B498-43B3-948B-1728B52AA6E4}">
                <adec:decorative xmlns:adec="http://schemas.microsoft.com/office/drawing/2017/decorative" val="1"/>
              </a:ext>
            </a:extLst>
          </p:cNvPr>
          <p:cNvPicPr>
            <a:picLocks noChangeAspect="1"/>
          </p:cNvPicPr>
          <p:nvPr/>
        </p:nvPicPr>
        <p:blipFill>
          <a:blip r:embed="rId7"/>
          <a:stretch>
            <a:fillRect/>
          </a:stretch>
        </p:blipFill>
        <p:spPr>
          <a:xfrm>
            <a:off x="8370783" y="1613367"/>
            <a:ext cx="266273" cy="266273"/>
          </a:xfrm>
          <a:prstGeom prst="rect">
            <a:avLst/>
          </a:prstGeom>
        </p:spPr>
      </p:pic>
      <p:sp>
        <p:nvSpPr>
          <p:cNvPr id="18" name="Who head 3"/>
          <p:cNvSpPr txBox="1"/>
          <p:nvPr/>
        </p:nvSpPr>
        <p:spPr>
          <a:xfrm>
            <a:off x="8915400" y="1490472"/>
            <a:ext cx="2651760" cy="512064"/>
          </a:xfrm>
          <a:prstGeom prst="rect">
            <a:avLst/>
          </a:prstGeom>
          <a:noFill/>
          <a:ln/>
        </p:spPr>
        <p:txBody>
          <a:bodyPr wrap="square" lIns="0" tIns="0" rIns="0" bIns="0" rtlCol="0" anchor="ctr"/>
          <a:lstStyle/>
          <a:p>
            <a:pPr marL="0" indent="0">
              <a:buNone/>
            </a:pPr>
            <a:r>
              <a:rPr lang="en-US" sz="1800" b="1" dirty="0">
                <a:solidFill>
                  <a:srgbClr val="B45309"/>
                </a:solidFill>
                <a:latin typeface="Cambria" pitchFamily="34" charset="0"/>
                <a:ea typeface="Cambria" pitchFamily="34" charset="-122"/>
                <a:cs typeface="Cambria" pitchFamily="34" charset="-120"/>
              </a:rPr>
              <a:t>Do the work</a:t>
            </a:r>
            <a:endParaRPr lang="en-US" sz="1800" dirty="0"/>
          </a:p>
        </p:txBody>
      </p:sp>
      <p:sp>
        <p:nvSpPr>
          <p:cNvPr id="19" name="Who text 3"/>
          <p:cNvSpPr txBox="1"/>
          <p:nvPr/>
        </p:nvSpPr>
        <p:spPr>
          <a:xfrm>
            <a:off x="8275320" y="2103120"/>
            <a:ext cx="3246120" cy="1737360"/>
          </a:xfrm>
          <a:prstGeom prst="rect">
            <a:avLst/>
          </a:prstGeom>
          <a:noFill/>
          <a:ln/>
        </p:spPr>
        <p:txBody>
          <a:bodyPr wrap="square" lIns="0" tIns="0" rIns="0" bIns="0" rtlCol="0" anchor="t"/>
          <a:lstStyle/>
          <a:p>
            <a:pPr marL="0" indent="0">
              <a:spcAft>
                <a:spcPts val="400"/>
              </a:spcAft>
              <a:buNone/>
            </a:pPr>
            <a:r>
              <a:rPr lang="en-US" sz="1300" b="1" dirty="0">
                <a:solidFill>
                  <a:srgbClr val="B45309"/>
                </a:solidFill>
              </a:rPr>
              <a:t>Network engineering</a:t>
            </a:r>
            <a:endParaRPr lang="en-US" sz="1300" dirty="0"/>
          </a:p>
          <a:p>
            <a:pPr marL="0" indent="0">
              <a:spcAft>
                <a:spcPts val="400"/>
              </a:spcAft>
              <a:buNone/>
            </a:pPr>
            <a:r>
              <a:rPr lang="en-US" sz="1300" dirty="0">
                <a:solidFill>
                  <a:schemeClr val="tx2"/>
                </a:solidFill>
              </a:rPr>
              <a:t>Transport, SD-WAN, switching, NAC</a:t>
            </a:r>
            <a:endParaRPr lang="en-US" sz="1300" dirty="0"/>
          </a:p>
          <a:p>
            <a:pPr marL="0" indent="0">
              <a:spcAft>
                <a:spcPts val="400"/>
              </a:spcAft>
              <a:buNone/>
            </a:pPr>
            <a:r>
              <a:rPr lang="en-US" sz="1300" b="1" dirty="0">
                <a:solidFill>
                  <a:srgbClr val="B45309"/>
                </a:solidFill>
              </a:rPr>
              <a:t>Security operations</a:t>
            </a:r>
            <a:endParaRPr lang="en-US" sz="1300" dirty="0"/>
          </a:p>
          <a:p>
            <a:pPr marL="0" indent="0">
              <a:spcAft>
                <a:spcPts val="400"/>
              </a:spcAft>
              <a:buNone/>
            </a:pPr>
            <a:r>
              <a:rPr lang="en-US" sz="1300" dirty="0">
                <a:solidFill>
                  <a:schemeClr val="tx2"/>
                </a:solidFill>
              </a:rPr>
              <a:t>Telemetry per branch; NAC alerts</a:t>
            </a:r>
            <a:endParaRPr lang="en-US" sz="1300" dirty="0"/>
          </a:p>
          <a:p>
            <a:pPr marL="0" indent="0">
              <a:spcAft>
                <a:spcPts val="400"/>
              </a:spcAft>
              <a:buNone/>
            </a:pPr>
            <a:r>
              <a:rPr lang="en-US" sz="1300" b="1" dirty="0">
                <a:solidFill>
                  <a:srgbClr val="B45309"/>
                </a:solidFill>
              </a:rPr>
              <a:t>Facilities, app owners</a:t>
            </a:r>
            <a:endParaRPr lang="en-US" sz="1300" dirty="0"/>
          </a:p>
          <a:p>
            <a:pPr marL="0" indent="0">
              <a:spcAft>
                <a:spcPts val="400"/>
              </a:spcAft>
              <a:buNone/>
            </a:pPr>
            <a:r>
              <a:rPr lang="en-US" sz="1300" dirty="0">
                <a:solidFill>
                  <a:schemeClr val="tx2"/>
                </a:solidFill>
              </a:rPr>
              <a:t>Closets, diversity; chattiness</a:t>
            </a:r>
            <a:endParaRPr lang="en-US" sz="1300" dirty="0"/>
          </a:p>
        </p:txBody>
      </p:sp>
      <p:sp>
        <p:nvSpPr>
          <p:cNvPr id="20" name="Gates head"/>
          <p:cNvSpPr txBox="1"/>
          <p:nvPr/>
        </p:nvSpPr>
        <p:spPr>
          <a:xfrm>
            <a:off x="548640" y="4041648"/>
            <a:ext cx="10972800" cy="274320"/>
          </a:xfrm>
          <a:prstGeom prst="rect">
            <a:avLst/>
          </a:prstGeom>
          <a:noFill/>
          <a:ln/>
        </p:spPr>
        <p:txBody>
          <a:bodyPr wrap="square" lIns="0" tIns="0" rIns="0" bIns="0" rtlCol="0" anchor="t"/>
          <a:lstStyle/>
          <a:p>
            <a:pPr marL="0" indent="0">
              <a:buNone/>
            </a:pPr>
            <a:r>
              <a:rPr lang="en-US" sz="1200" b="1" dirty="0">
                <a:solidFill>
                  <a:srgbClr val="64748B"/>
                </a:solidFill>
              </a:rPr>
              <a:t>THREE GATES, AND WHO SAYS EACH ONE HAS PASSED</a:t>
            </a:r>
            <a:endParaRPr lang="en-US" sz="1200" dirty="0"/>
          </a:p>
        </p:txBody>
      </p:sp>
      <p:sp>
        <p:nvSpPr>
          <p:cNvPr id="21" name="Gate 1">
            <a:extLst>
              <a:ext uri="{C183D7F6-B498-43B3-948B-1728B52AA6E4}">
                <adec:decorative xmlns:adec="http://schemas.microsoft.com/office/drawing/2017/decorative" val="1"/>
              </a:ext>
            </a:extLst>
          </p:cNvPr>
          <p:cNvSpPr/>
          <p:nvPr/>
        </p:nvSpPr>
        <p:spPr>
          <a:xfrm>
            <a:off x="548640" y="4389120"/>
            <a:ext cx="3611880" cy="1463040"/>
          </a:xfrm>
          <a:prstGeom prst="roundRect">
            <a:avLst>
              <a:gd name="adj" fmla="val 5000"/>
            </a:avLst>
          </a:prstGeom>
          <a:solidFill>
            <a:srgbClr val="FFFFFF"/>
          </a:solidFill>
          <a:ln w="12700">
            <a:solidFill>
              <a:srgbClr val="0F766E"/>
            </a:solidFill>
            <a:prstDash val="solid"/>
          </a:ln>
          <a:effectLst>
            <a:outerShdw blurRad="76200" dist="25400" dir="5400000" algn="bl" rotWithShape="0">
              <a:srgbClr val="64748B">
                <a:alpha val="22000"/>
              </a:srgbClr>
            </a:outerShdw>
          </a:effectLst>
        </p:spPr>
      </p:sp>
      <p:sp>
        <p:nvSpPr>
          <p:cNvPr id="22" name="Gate 1 text"/>
          <p:cNvSpPr txBox="1"/>
          <p:nvPr/>
        </p:nvSpPr>
        <p:spPr>
          <a:xfrm>
            <a:off x="749808" y="4462272"/>
            <a:ext cx="3246120" cy="1316736"/>
          </a:xfrm>
          <a:prstGeom prst="rect">
            <a:avLst/>
          </a:prstGeom>
          <a:noFill/>
          <a:ln/>
        </p:spPr>
        <p:txBody>
          <a:bodyPr wrap="square" lIns="0" tIns="0" rIns="0" bIns="0" rtlCol="0" anchor="ctr"/>
          <a:lstStyle/>
          <a:p>
            <a:pPr marL="0" indent="0">
              <a:buNone/>
            </a:pPr>
            <a:r>
              <a:rPr lang="en-US" sz="1400" b="1" dirty="0">
                <a:solidFill>
                  <a:srgbClr val="0F766E"/>
                </a:solidFill>
              </a:rPr>
              <a:t>Governor before traffic — </a:t>
            </a:r>
            <a:r>
              <a:rPr lang="en-US" sz="1400" dirty="0">
                <a:solidFill>
                  <a:schemeClr val="tx2"/>
                </a:solidFill>
              </a:rPr>
              <a:t>the system owner, site by site; no live, logging control layer, no new egress</a:t>
            </a:r>
            <a:endParaRPr lang="en-US" sz="1400" dirty="0"/>
          </a:p>
        </p:txBody>
      </p:sp>
      <p:sp>
        <p:nvSpPr>
          <p:cNvPr id="23" name="Gate 2">
            <a:extLst>
              <a:ext uri="{C183D7F6-B498-43B3-948B-1728B52AA6E4}">
                <adec:decorative xmlns:adec="http://schemas.microsoft.com/office/drawing/2017/decorative" val="1"/>
              </a:ext>
            </a:extLst>
          </p:cNvPr>
          <p:cNvSpPr/>
          <p:nvPr/>
        </p:nvSpPr>
        <p:spPr>
          <a:xfrm>
            <a:off x="4297680" y="4389120"/>
            <a:ext cx="3611880" cy="1463040"/>
          </a:xfrm>
          <a:prstGeom prst="roundRect">
            <a:avLst>
              <a:gd name="adj" fmla="val 5000"/>
            </a:avLst>
          </a:prstGeom>
          <a:solidFill>
            <a:srgbClr val="FFFFFF"/>
          </a:solidFill>
          <a:ln w="12700">
            <a:solidFill>
              <a:srgbClr val="1F2A44"/>
            </a:solidFill>
            <a:prstDash val="solid"/>
          </a:ln>
          <a:effectLst>
            <a:outerShdw blurRad="76200" dist="25400" dir="5400000" algn="bl" rotWithShape="0">
              <a:srgbClr val="64748B">
                <a:alpha val="22000"/>
              </a:srgbClr>
            </a:outerShdw>
          </a:effectLst>
        </p:spPr>
      </p:sp>
      <p:sp>
        <p:nvSpPr>
          <p:cNvPr id="24" name="Gate 2 text"/>
          <p:cNvSpPr txBox="1"/>
          <p:nvPr/>
        </p:nvSpPr>
        <p:spPr>
          <a:xfrm>
            <a:off x="4498848" y="4462272"/>
            <a:ext cx="3246120" cy="1316736"/>
          </a:xfrm>
          <a:prstGeom prst="rect">
            <a:avLst/>
          </a:prstGeom>
          <a:noFill/>
          <a:ln/>
        </p:spPr>
        <p:txBody>
          <a:bodyPr wrap="square" lIns="0" tIns="0" rIns="0" bIns="0" rtlCol="0" anchor="ctr"/>
          <a:lstStyle/>
          <a:p>
            <a:pPr marL="0" indent="0">
              <a:buNone/>
            </a:pPr>
            <a:r>
              <a:rPr lang="en-US" sz="1400" b="1" dirty="0">
                <a:solidFill>
                  <a:srgbClr val="1F2A44"/>
                </a:solidFill>
              </a:rPr>
              <a:t>Boundary before cutover — </a:t>
            </a:r>
            <a:r>
              <a:rPr lang="en-US" sz="1400" dirty="0">
                <a:solidFill>
                  <a:schemeClr val="tx2"/>
                </a:solidFill>
              </a:rPr>
              <a:t>the authorizing official, before the first production cutover, not after</a:t>
            </a:r>
            <a:endParaRPr lang="en-US" sz="1400" dirty="0"/>
          </a:p>
        </p:txBody>
      </p:sp>
      <p:sp>
        <p:nvSpPr>
          <p:cNvPr id="25" name="Gate 3">
            <a:extLst>
              <a:ext uri="{C183D7F6-B498-43B3-948B-1728B52AA6E4}">
                <adec:decorative xmlns:adec="http://schemas.microsoft.com/office/drawing/2017/decorative" val="1"/>
              </a:ext>
            </a:extLst>
          </p:cNvPr>
          <p:cNvSpPr/>
          <p:nvPr/>
        </p:nvSpPr>
        <p:spPr>
          <a:xfrm>
            <a:off x="8046720" y="4389120"/>
            <a:ext cx="3611880" cy="1463040"/>
          </a:xfrm>
          <a:prstGeom prst="roundRect">
            <a:avLst>
              <a:gd name="adj" fmla="val 5000"/>
            </a:avLst>
          </a:prstGeom>
          <a:solidFill>
            <a:srgbClr val="FFFFFF"/>
          </a:solidFill>
          <a:ln w="12700">
            <a:solidFill>
              <a:srgbClr val="B91C1C"/>
            </a:solidFill>
            <a:prstDash val="solid"/>
          </a:ln>
          <a:effectLst>
            <a:outerShdw blurRad="76200" dist="25400" dir="5400000" algn="bl" rotWithShape="0">
              <a:srgbClr val="64748B">
                <a:alpha val="22000"/>
              </a:srgbClr>
            </a:outerShdw>
          </a:effectLst>
        </p:spPr>
      </p:sp>
      <p:sp>
        <p:nvSpPr>
          <p:cNvPr id="26" name="Gate 3 text"/>
          <p:cNvSpPr txBox="1"/>
          <p:nvPr/>
        </p:nvSpPr>
        <p:spPr>
          <a:xfrm>
            <a:off x="8247888" y="4462272"/>
            <a:ext cx="3246120" cy="1316736"/>
          </a:xfrm>
          <a:prstGeom prst="rect">
            <a:avLst/>
          </a:prstGeom>
          <a:noFill/>
          <a:ln/>
        </p:spPr>
        <p:txBody>
          <a:bodyPr wrap="square" lIns="0" tIns="0" rIns="0" bIns="0" rtlCol="0" anchor="ctr"/>
          <a:lstStyle/>
          <a:p>
            <a:pPr marL="0" indent="0">
              <a:buNone/>
            </a:pPr>
            <a:r>
              <a:rPr lang="en-US" sz="1400" b="1" dirty="0">
                <a:solidFill>
                  <a:srgbClr val="B91C1C"/>
                </a:solidFill>
              </a:rPr>
              <a:t>Circuit ends after parity — </a:t>
            </a:r>
            <a:r>
              <a:rPr lang="en-US" sz="1400" dirty="0">
                <a:solidFill>
                  <a:schemeClr val="tx2"/>
                </a:solidFill>
              </a:rPr>
              <a:t>the CISO decides, security operations confirms, the contracting officer terminates</a:t>
            </a:r>
            <a:endParaRPr lang="en-US" sz="1400" dirty="0"/>
          </a:p>
        </p:txBody>
      </p:sp>
      <p:sp>
        <p:nvSpPr>
          <p:cNvPr id="27" name="Sources"/>
          <p:cNvSpPr txBox="1"/>
          <p:nvPr/>
        </p:nvSpPr>
        <p:spPr>
          <a:xfrm>
            <a:off x="548640" y="6053328"/>
            <a:ext cx="10424160" cy="292608"/>
          </a:xfrm>
          <a:prstGeom prst="rect">
            <a:avLst/>
          </a:prstGeom>
          <a:noFill/>
          <a:ln/>
        </p:spPr>
        <p:txBody>
          <a:bodyPr wrap="square" lIns="0" tIns="0" rIns="0" bIns="0" rtlCol="0" anchor="t"/>
          <a:lstStyle/>
          <a:p>
            <a:pPr marL="0" indent="0">
              <a:buNone/>
            </a:pPr>
            <a:r>
              <a:rPr lang="en-US" sz="1000" i="1" dirty="0">
                <a:solidFill>
                  <a:srgbClr val="64748B"/>
                </a:solidFill>
              </a:rPr>
              <a:t>Sources: NIST SP 800-37 Rev. 2; SP 800-53 SC-7(4) and CP-8; FAR 1.602-1; GSA EIS; CISA SASE guide (June 2026). Book 09, Chapter 09.</a:t>
            </a:r>
            <a:endParaRPr lang="en-US" sz="1000" dirty="0"/>
          </a:p>
        </p:txBody>
      </p:sp>
      <p:sp>
        <p:nvSpPr>
          <p:cNvPr id="28"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10</a:t>
            </a:fld>
            <a:endParaRPr lang="en-US"/>
          </a:p>
        </p:txBody>
      </p:sp>
      <p:pic>
        <p:nvPicPr>
          <p:cNvPr id="29" name="Narration" descr="Narration for this slide; captions available">
            <a:hlinkClick r:id="" action="ppaction://media"/>
            <a:extLst>
              <a:ext uri="{FF2B5EF4-FFF2-40B4-BE49-F238E27FC236}">
                <a16:creationId xmlns:a16="http://schemas.microsoft.com/office/drawing/2014/main" id="{178B0A28-7BD3-4F00-28AA-4396EB531F9E}"/>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0FC7B8A6-0DD9-4CC9-AD79-4070AB539DB2}" label="English (captions)" lang="en-US" r:embed="rId9"/>
                        </p173:trackLst>
                      </p173:tracksInfo>
                    </p:ext>
                  </p14:extLst>
                </p14:media>
              </p:ext>
            </p:extLst>
          </p:nvPr>
        </p:nvPicPr>
        <p:blipFill>
          <a:blip r:embed="rId8"/>
          <a:stretch>
            <a:fillRect/>
          </a:stretch>
        </p:blipFill>
        <p:spPr>
          <a:xfrm>
            <a:off x="127000" y="6350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63380"/>
    </mc:Choice>
    <mc:Fallback>
      <p:transition spd="slow" advTm="6338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62376" fill="hold"/>
                                        <p:tgtEl>
                                          <p:spTgt spid="29"/>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The long interim: the refresh is the fork</a:t>
            </a:r>
            <a:endParaRPr lang="en-US" sz="3000" dirty="0"/>
          </a:p>
        </p:txBody>
      </p:sp>
      <p:sp>
        <p:nvSpPr>
          <p:cNvPr id="3" name="Tag How">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45309"/>
          </a:solidFill>
          <a:ln w="12700">
            <a:solidFill>
              <a:srgbClr val="B45309"/>
            </a:solidFill>
            <a:prstDash val="solid"/>
          </a:ln>
        </p:spPr>
      </p:sp>
      <p:sp>
        <p:nvSpPr>
          <p:cNvPr id="4" name="Tag How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HOW</a:t>
            </a:r>
            <a:endParaRPr lang="en-US" sz="1100" dirty="0"/>
          </a:p>
        </p:txBody>
      </p:sp>
      <p:sp>
        <p:nvSpPr>
          <p:cNvPr id="5" name="Alts head"/>
          <p:cNvSpPr txBox="1"/>
          <p:nvPr/>
        </p:nvSpPr>
        <p:spPr>
          <a:xfrm>
            <a:off x="548640" y="1417320"/>
            <a:ext cx="5669280" cy="274320"/>
          </a:xfrm>
          <a:prstGeom prst="rect">
            <a:avLst/>
          </a:prstGeom>
          <a:noFill/>
          <a:ln/>
        </p:spPr>
        <p:txBody>
          <a:bodyPr wrap="square" lIns="0" tIns="0" rIns="0" bIns="0" rtlCol="0" anchor="t"/>
          <a:lstStyle/>
          <a:p>
            <a:pPr marL="0" indent="0">
              <a:buNone/>
            </a:pPr>
            <a:r>
              <a:rPr lang="en-US" sz="1200" b="1" dirty="0">
                <a:solidFill>
                  <a:srgbClr val="64748B"/>
                </a:solidFill>
              </a:rPr>
              <a:t>WHY EACH ALTERNATIVE HAS CLOSED</a:t>
            </a:r>
            <a:endParaRPr lang="en-US" sz="1200" dirty="0"/>
          </a:p>
        </p:txBody>
      </p:sp>
      <p:sp>
        <p:nvSpPr>
          <p:cNvPr id="6" name="Alt 0">
            <a:extLst>
              <a:ext uri="{C183D7F6-B498-43B3-948B-1728B52AA6E4}">
                <adec:decorative xmlns:adec="http://schemas.microsoft.com/office/drawing/2017/decorative" val="1"/>
              </a:ext>
            </a:extLst>
          </p:cNvPr>
          <p:cNvSpPr/>
          <p:nvPr/>
        </p:nvSpPr>
        <p:spPr>
          <a:xfrm>
            <a:off x="548640" y="1755648"/>
            <a:ext cx="5669280" cy="512064"/>
          </a:xfrm>
          <a:prstGeom prst="roundRect">
            <a:avLst>
              <a:gd name="adj" fmla="val 14286"/>
            </a:avLst>
          </a:prstGeom>
          <a:solidFill>
            <a:srgbClr val="E9EEF4"/>
          </a:solidFill>
          <a:ln w="12700">
            <a:solidFill>
              <a:srgbClr val="E9EEF4"/>
            </a:solidFill>
            <a:prstDash val="solid"/>
          </a:ln>
          <a:effectLst>
            <a:outerShdw blurRad="76200" dist="25400" dir="5400000" algn="bl" rotWithShape="0">
              <a:srgbClr val="64748B">
                <a:alpha val="22000"/>
              </a:srgbClr>
            </a:outerShdw>
          </a:effectLst>
        </p:spPr>
      </p:sp>
      <p:sp>
        <p:nvSpPr>
          <p:cNvPr id="7" name="Alt 0 text"/>
          <p:cNvSpPr txBox="1"/>
          <p:nvPr/>
        </p:nvSpPr>
        <p:spPr>
          <a:xfrm>
            <a:off x="731520" y="1755648"/>
            <a:ext cx="5394960" cy="512064"/>
          </a:xfrm>
          <a:prstGeom prst="rect">
            <a:avLst/>
          </a:prstGeom>
          <a:noFill/>
          <a:ln/>
        </p:spPr>
        <p:txBody>
          <a:bodyPr wrap="square" lIns="0" tIns="0" rIns="0" bIns="0" rtlCol="0" anchor="ctr"/>
          <a:lstStyle/>
          <a:p>
            <a:pPr marL="0" indent="0">
              <a:buNone/>
            </a:pPr>
            <a:r>
              <a:rPr lang="en-US" sz="1400" b="1" dirty="0">
                <a:solidFill>
                  <a:srgbClr val="1F2A44"/>
                </a:solidFill>
              </a:rPr>
              <a:t>Legacy vehicles   </a:t>
            </a:r>
            <a:r>
              <a:rPr lang="en-US" sz="1400" dirty="0">
                <a:solidFill>
                  <a:schemeClr val="tx2"/>
                </a:solidFill>
              </a:rPr>
              <a:t>All ended by May 31, 2026</a:t>
            </a:r>
            <a:endParaRPr lang="en-US" sz="1400" dirty="0"/>
          </a:p>
        </p:txBody>
      </p:sp>
      <p:sp>
        <p:nvSpPr>
          <p:cNvPr id="8" name="Alt 1">
            <a:extLst>
              <a:ext uri="{C183D7F6-B498-43B3-948B-1728B52AA6E4}">
                <adec:decorative xmlns:adec="http://schemas.microsoft.com/office/drawing/2017/decorative" val="1"/>
              </a:ext>
            </a:extLst>
          </p:cNvPr>
          <p:cNvSpPr/>
          <p:nvPr/>
        </p:nvSpPr>
        <p:spPr>
          <a:xfrm>
            <a:off x="548640" y="2359152"/>
            <a:ext cx="5669280" cy="512064"/>
          </a:xfrm>
          <a:prstGeom prst="roundRect">
            <a:avLst>
              <a:gd name="adj" fmla="val 14286"/>
            </a:avLst>
          </a:prstGeom>
          <a:solidFill>
            <a:srgbClr val="E4EAF4"/>
          </a:solidFill>
          <a:ln w="12700">
            <a:solidFill>
              <a:srgbClr val="E4EAF4"/>
            </a:solidFill>
            <a:prstDash val="solid"/>
          </a:ln>
          <a:effectLst>
            <a:outerShdw blurRad="76200" dist="25400" dir="5400000" algn="bl" rotWithShape="0">
              <a:srgbClr val="64748B">
                <a:alpha val="22000"/>
              </a:srgbClr>
            </a:outerShdw>
          </a:effectLst>
        </p:spPr>
      </p:sp>
      <p:sp>
        <p:nvSpPr>
          <p:cNvPr id="9" name="Alt 1 text"/>
          <p:cNvSpPr txBox="1"/>
          <p:nvPr/>
        </p:nvSpPr>
        <p:spPr>
          <a:xfrm>
            <a:off x="731520" y="2359152"/>
            <a:ext cx="5394960" cy="512064"/>
          </a:xfrm>
          <a:prstGeom prst="rect">
            <a:avLst/>
          </a:prstGeom>
          <a:noFill/>
          <a:ln/>
        </p:spPr>
        <p:txBody>
          <a:bodyPr wrap="square" lIns="0" tIns="0" rIns="0" bIns="0" rtlCol="0" anchor="ctr"/>
          <a:lstStyle/>
          <a:p>
            <a:pPr marL="0" indent="0">
              <a:buNone/>
            </a:pPr>
            <a:r>
              <a:rPr lang="en-US" sz="1400" b="1" dirty="0">
                <a:solidFill>
                  <a:srgbClr val="1F2A44"/>
                </a:solidFill>
              </a:rPr>
              <a:t>Hairpin   </a:t>
            </a:r>
            <a:r>
              <a:rPr lang="en-US" sz="1400" dirty="0">
                <a:solidFill>
                  <a:schemeClr val="tx2"/>
                </a:solidFill>
              </a:rPr>
              <a:t>Permitted; CISA says it raised cloud cost</a:t>
            </a:r>
            <a:endParaRPr lang="en-US" sz="1400" dirty="0"/>
          </a:p>
        </p:txBody>
      </p:sp>
      <p:sp>
        <p:nvSpPr>
          <p:cNvPr id="10" name="Alt 2">
            <a:extLst>
              <a:ext uri="{C183D7F6-B498-43B3-948B-1728B52AA6E4}">
                <adec:decorative xmlns:adec="http://schemas.microsoft.com/office/drawing/2017/decorative" val="1"/>
              </a:ext>
            </a:extLst>
          </p:cNvPr>
          <p:cNvSpPr/>
          <p:nvPr/>
        </p:nvSpPr>
        <p:spPr>
          <a:xfrm>
            <a:off x="548640" y="2962656"/>
            <a:ext cx="5669280" cy="512064"/>
          </a:xfrm>
          <a:prstGeom prst="roundRect">
            <a:avLst>
              <a:gd name="adj" fmla="val 14286"/>
            </a:avLst>
          </a:prstGeom>
          <a:solidFill>
            <a:srgbClr val="E9EEF4"/>
          </a:solidFill>
          <a:ln w="12700">
            <a:solidFill>
              <a:srgbClr val="E9EEF4"/>
            </a:solidFill>
            <a:prstDash val="solid"/>
          </a:ln>
          <a:effectLst>
            <a:outerShdw blurRad="76200" dist="25400" dir="5400000" algn="bl" rotWithShape="0">
              <a:srgbClr val="64748B">
                <a:alpha val="22000"/>
              </a:srgbClr>
            </a:outerShdw>
          </a:effectLst>
        </p:spPr>
      </p:sp>
      <p:sp>
        <p:nvSpPr>
          <p:cNvPr id="11" name="Alt 2 text"/>
          <p:cNvSpPr txBox="1"/>
          <p:nvPr/>
        </p:nvSpPr>
        <p:spPr>
          <a:xfrm>
            <a:off x="731520" y="2962656"/>
            <a:ext cx="5394960" cy="512064"/>
          </a:xfrm>
          <a:prstGeom prst="rect">
            <a:avLst/>
          </a:prstGeom>
          <a:noFill/>
          <a:ln/>
        </p:spPr>
        <p:txBody>
          <a:bodyPr wrap="square" lIns="0" tIns="0" rIns="0" bIns="0" rtlCol="0" anchor="ctr"/>
          <a:lstStyle/>
          <a:p>
            <a:pPr marL="0" indent="0">
              <a:buNone/>
            </a:pPr>
            <a:r>
              <a:rPr lang="en-US" sz="1400" b="1" dirty="0">
                <a:solidFill>
                  <a:srgbClr val="1F2A44"/>
                </a:solidFill>
              </a:rPr>
              <a:t>New access point   </a:t>
            </a:r>
            <a:r>
              <a:rPr lang="en-US" sz="1400" dirty="0">
                <a:solidFill>
                  <a:schemeClr val="tx2"/>
                </a:solidFill>
              </a:rPr>
              <a:t>Capital, floor space, round-the-clock staff</a:t>
            </a:r>
            <a:endParaRPr lang="en-US" sz="1400" dirty="0"/>
          </a:p>
        </p:txBody>
      </p:sp>
      <p:sp>
        <p:nvSpPr>
          <p:cNvPr id="12" name="Alt 3">
            <a:extLst>
              <a:ext uri="{C183D7F6-B498-43B3-948B-1728B52AA6E4}">
                <adec:decorative xmlns:adec="http://schemas.microsoft.com/office/drawing/2017/decorative" val="1"/>
              </a:ext>
            </a:extLst>
          </p:cNvPr>
          <p:cNvSpPr/>
          <p:nvPr/>
        </p:nvSpPr>
        <p:spPr>
          <a:xfrm>
            <a:off x="548640" y="3566160"/>
            <a:ext cx="5669280" cy="512064"/>
          </a:xfrm>
          <a:prstGeom prst="roundRect">
            <a:avLst>
              <a:gd name="adj" fmla="val 14286"/>
            </a:avLst>
          </a:prstGeom>
          <a:solidFill>
            <a:srgbClr val="E4EAF4"/>
          </a:solidFill>
          <a:ln w="12700">
            <a:solidFill>
              <a:srgbClr val="E4EAF4"/>
            </a:solidFill>
            <a:prstDash val="solid"/>
          </a:ln>
          <a:effectLst>
            <a:outerShdw blurRad="76200" dist="25400" dir="5400000" algn="bl" rotWithShape="0">
              <a:srgbClr val="64748B">
                <a:alpha val="22000"/>
              </a:srgbClr>
            </a:outerShdw>
          </a:effectLst>
        </p:spPr>
      </p:sp>
      <p:sp>
        <p:nvSpPr>
          <p:cNvPr id="13" name="Alt 3 text"/>
          <p:cNvSpPr txBox="1"/>
          <p:nvPr/>
        </p:nvSpPr>
        <p:spPr>
          <a:xfrm>
            <a:off x="731520" y="3566160"/>
            <a:ext cx="5394960" cy="512064"/>
          </a:xfrm>
          <a:prstGeom prst="rect">
            <a:avLst/>
          </a:prstGeom>
          <a:noFill/>
          <a:ln/>
        </p:spPr>
        <p:txBody>
          <a:bodyPr wrap="square" lIns="0" tIns="0" rIns="0" bIns="0" rtlCol="0" anchor="ctr"/>
          <a:lstStyle/>
          <a:p>
            <a:pPr marL="0" indent="0">
              <a:buNone/>
            </a:pPr>
            <a:r>
              <a:rPr lang="en-US" sz="1400" b="1" dirty="0">
                <a:solidFill>
                  <a:srgbClr val="1F2A44"/>
                </a:solidFill>
              </a:rPr>
              <a:t>VPN backhaul   </a:t>
            </a:r>
            <a:r>
              <a:rPr lang="en-US" sz="1400" dirty="0">
                <a:solidFill>
                  <a:schemeClr val="tx2"/>
                </a:solidFill>
              </a:rPr>
              <a:t>A hairpin under another name</a:t>
            </a:r>
            <a:endParaRPr lang="en-US" sz="1400" dirty="0"/>
          </a:p>
        </p:txBody>
      </p:sp>
      <p:sp>
        <p:nvSpPr>
          <p:cNvPr id="14" name="Alt 4">
            <a:extLst>
              <a:ext uri="{C183D7F6-B498-43B3-948B-1728B52AA6E4}">
                <adec:decorative xmlns:adec="http://schemas.microsoft.com/office/drawing/2017/decorative" val="1"/>
              </a:ext>
            </a:extLst>
          </p:cNvPr>
          <p:cNvSpPr/>
          <p:nvPr/>
        </p:nvSpPr>
        <p:spPr>
          <a:xfrm>
            <a:off x="548640" y="4169664"/>
            <a:ext cx="5669280" cy="512064"/>
          </a:xfrm>
          <a:prstGeom prst="roundRect">
            <a:avLst>
              <a:gd name="adj" fmla="val 14286"/>
            </a:avLst>
          </a:prstGeom>
          <a:solidFill>
            <a:srgbClr val="E9EEF4"/>
          </a:solidFill>
          <a:ln w="12700">
            <a:solidFill>
              <a:srgbClr val="E9EEF4"/>
            </a:solidFill>
            <a:prstDash val="solid"/>
          </a:ln>
          <a:effectLst>
            <a:outerShdw blurRad="76200" dist="25400" dir="5400000" algn="bl" rotWithShape="0">
              <a:srgbClr val="64748B">
                <a:alpha val="22000"/>
              </a:srgbClr>
            </a:outerShdw>
          </a:effectLst>
        </p:spPr>
      </p:sp>
      <p:sp>
        <p:nvSpPr>
          <p:cNvPr id="15" name="Alt 4 text"/>
          <p:cNvSpPr txBox="1"/>
          <p:nvPr/>
        </p:nvSpPr>
        <p:spPr>
          <a:xfrm>
            <a:off x="731520" y="4169664"/>
            <a:ext cx="5394960" cy="512064"/>
          </a:xfrm>
          <a:prstGeom prst="rect">
            <a:avLst/>
          </a:prstGeom>
          <a:noFill/>
          <a:ln/>
        </p:spPr>
        <p:txBody>
          <a:bodyPr wrap="square" lIns="0" tIns="0" rIns="0" bIns="0" rtlCol="0" anchor="ctr"/>
          <a:lstStyle/>
          <a:p>
            <a:pPr marL="0" indent="0">
              <a:buNone/>
            </a:pPr>
            <a:r>
              <a:rPr lang="en-US" sz="1400" b="1" dirty="0">
                <a:solidFill>
                  <a:srgbClr val="1F2A44"/>
                </a:solidFill>
              </a:rPr>
              <a:t>ExpressRoute for M365   </a:t>
            </a:r>
            <a:r>
              <a:rPr lang="en-US" sz="1400" dirty="0">
                <a:solidFill>
                  <a:schemeClr val="tx2"/>
                </a:solidFill>
              </a:rPr>
              <a:t>No longer recommended by Microsoft</a:t>
            </a:r>
            <a:endParaRPr lang="en-US" sz="1400" dirty="0"/>
          </a:p>
        </p:txBody>
      </p:sp>
      <p:sp>
        <p:nvSpPr>
          <p:cNvPr id="16" name="Fork box">
            <a:extLst>
              <a:ext uri="{C183D7F6-B498-43B3-948B-1728B52AA6E4}">
                <adec:decorative xmlns:adec="http://schemas.microsoft.com/office/drawing/2017/decorative" val="1"/>
              </a:ext>
            </a:extLst>
          </p:cNvPr>
          <p:cNvSpPr/>
          <p:nvPr/>
        </p:nvSpPr>
        <p:spPr>
          <a:xfrm>
            <a:off x="6492240" y="1417320"/>
            <a:ext cx="5166360" cy="3337560"/>
          </a:xfrm>
          <a:prstGeom prst="roundRect">
            <a:avLst>
              <a:gd name="adj" fmla="val 2192"/>
            </a:avLst>
          </a:prstGeom>
          <a:solidFill>
            <a:srgbClr val="FBEEDC"/>
          </a:solidFill>
          <a:ln w="12700">
            <a:solidFill>
              <a:srgbClr val="FBEEDC"/>
            </a:solidFill>
            <a:prstDash val="solid"/>
          </a:ln>
          <a:effectLst>
            <a:outerShdw blurRad="76200" dist="25400" dir="5400000" algn="bl" rotWithShape="0">
              <a:srgbClr val="64748B">
                <a:alpha val="22000"/>
              </a:srgbClr>
            </a:outerShdw>
          </a:effectLst>
        </p:spPr>
      </p:sp>
      <p:sp>
        <p:nvSpPr>
          <p:cNvPr id="17" name="Icon FaCodeBranch">
            <a:extLst>
              <a:ext uri="{C183D7F6-B498-43B3-948B-1728B52AA6E4}">
                <adec:decorative xmlns:adec="http://schemas.microsoft.com/office/drawing/2017/decorative" val="1"/>
              </a:ext>
            </a:extLst>
          </p:cNvPr>
          <p:cNvSpPr/>
          <p:nvPr/>
        </p:nvSpPr>
        <p:spPr>
          <a:xfrm>
            <a:off x="6720840" y="1600200"/>
            <a:ext cx="658368" cy="658368"/>
          </a:xfrm>
          <a:prstGeom prst="ellipse">
            <a:avLst/>
          </a:prstGeom>
          <a:solidFill>
            <a:srgbClr val="B45309"/>
          </a:solidFill>
          <a:ln w="12700">
            <a:solidFill>
              <a:srgbClr val="B45309"/>
            </a:solidFill>
            <a:prstDash val="solid"/>
          </a:ln>
        </p:spPr>
      </p:sp>
      <p:pic>
        <p:nvPicPr>
          <p:cNvPr id="18" name="Image 0">
            <a:extLst>
              <a:ext uri="{C183D7F6-B498-43B3-948B-1728B52AA6E4}">
                <adec:decorative xmlns:adec="http://schemas.microsoft.com/office/drawing/2017/decorative" val="1"/>
              </a:ext>
            </a:extLst>
          </p:cNvPr>
          <p:cNvPicPr>
            <a:picLocks noChangeAspect="1"/>
          </p:cNvPicPr>
          <p:nvPr/>
        </p:nvPicPr>
        <p:blipFill>
          <a:blip r:embed="rId5"/>
          <a:stretch>
            <a:fillRect/>
          </a:stretch>
        </p:blipFill>
        <p:spPr>
          <a:xfrm>
            <a:off x="6878848" y="1758208"/>
            <a:ext cx="342351" cy="342351"/>
          </a:xfrm>
          <a:prstGeom prst="rect">
            <a:avLst/>
          </a:prstGeom>
        </p:spPr>
      </p:pic>
      <p:sp>
        <p:nvSpPr>
          <p:cNvPr id="19" name="Fork head"/>
          <p:cNvSpPr txBox="1"/>
          <p:nvPr/>
        </p:nvSpPr>
        <p:spPr>
          <a:xfrm>
            <a:off x="7543800" y="1572768"/>
            <a:ext cx="4023360" cy="822960"/>
          </a:xfrm>
          <a:prstGeom prst="rect">
            <a:avLst/>
          </a:prstGeom>
          <a:noFill/>
          <a:ln/>
        </p:spPr>
        <p:txBody>
          <a:bodyPr wrap="square" lIns="0" tIns="0" rIns="0" bIns="0" rtlCol="0" anchor="ctr"/>
          <a:lstStyle/>
          <a:p>
            <a:pPr marL="0" indent="0">
              <a:buNone/>
            </a:pPr>
            <a:r>
              <a:rPr lang="en-US" sz="1200" b="1" dirty="0">
                <a:solidFill>
                  <a:srgbClr val="64748B"/>
                </a:solidFill>
              </a:rPr>
              <a:t>BOD 26-02: OFF BY AUGUST 5, 2027</a:t>
            </a:r>
            <a:endParaRPr lang="en-US" sz="1400" dirty="0"/>
          </a:p>
          <a:p>
            <a:pPr marL="0" indent="0">
              <a:buNone/>
            </a:pPr>
            <a:r>
              <a:rPr lang="en-US" sz="1800" b="1" dirty="0">
                <a:solidFill>
                  <a:srgbClr val="B45309"/>
                </a:solidFill>
                <a:latin typeface="Cambria" pitchFamily="34" charset="0"/>
                <a:ea typeface="Cambria" pitchFamily="34" charset="-122"/>
                <a:cs typeface="Cambria" pitchFamily="34" charset="-120"/>
              </a:rPr>
              <a:t>Write the target into the refresh</a:t>
            </a:r>
            <a:endParaRPr lang="en-US" sz="1400" dirty="0"/>
          </a:p>
        </p:txBody>
      </p:sp>
      <p:sp>
        <p:nvSpPr>
          <p:cNvPr id="20" name="Fork list"/>
          <p:cNvSpPr txBox="1"/>
          <p:nvPr/>
        </p:nvSpPr>
        <p:spPr>
          <a:xfrm>
            <a:off x="6720840" y="2514600"/>
            <a:ext cx="4800600" cy="2194560"/>
          </a:xfrm>
          <a:prstGeom prst="rect">
            <a:avLst/>
          </a:prstGeom>
          <a:noFill/>
          <a:ln/>
        </p:spPr>
        <p:txBody>
          <a:bodyPr wrap="square" lIns="0" tIns="0" rIns="0" bIns="0" rtlCol="0" anchor="t"/>
          <a:lstStyle/>
          <a:p>
            <a:pPr marL="342900" indent="-342900">
              <a:spcAft>
                <a:spcPts val="600"/>
              </a:spcAft>
              <a:buSzPct val="100000"/>
              <a:buChar char="•"/>
            </a:pPr>
            <a:r>
              <a:rPr lang="en-US" sz="1450" dirty="0">
                <a:solidFill>
                  <a:schemeClr val="tx2"/>
                </a:solidFill>
              </a:rPr>
              <a:t>Application-aware steering, path measurement</a:t>
            </a:r>
            <a:endParaRPr lang="en-US" sz="1400" dirty="0"/>
          </a:p>
          <a:p>
            <a:pPr marL="342900" indent="-342900">
              <a:spcAft>
                <a:spcPts val="600"/>
              </a:spcAft>
              <a:buSzPct val="100000"/>
              <a:buChar char="•"/>
            </a:pPr>
            <a:r>
              <a:rPr lang="en-US" sz="1450" dirty="0">
                <a:solidFill>
                  <a:schemeClr val="tx2"/>
                </a:solidFill>
              </a:rPr>
              <a:t>Deterministic egress; exportable telemetry</a:t>
            </a:r>
            <a:endParaRPr lang="en-US" sz="1400" dirty="0"/>
          </a:p>
          <a:p>
            <a:pPr marL="342900" indent="-342900">
              <a:spcAft>
                <a:spcPts val="600"/>
              </a:spcAft>
              <a:buSzPct val="100000"/>
              <a:buChar char="•"/>
            </a:pPr>
            <a:r>
              <a:rPr lang="en-US" sz="1450" dirty="0">
                <a:solidFill>
                  <a:schemeClr val="tx2"/>
                </a:solidFill>
              </a:rPr>
              <a:t>PQC-capable key exchange (M-26-15)</a:t>
            </a:r>
            <a:endParaRPr lang="en-US" sz="1400" dirty="0"/>
          </a:p>
          <a:p>
            <a:pPr marL="342900" indent="-342900">
              <a:spcAft>
                <a:spcPts val="600"/>
              </a:spcAft>
              <a:buSzPct val="100000"/>
              <a:buChar char="•"/>
            </a:pPr>
            <a:r>
              <a:rPr lang="en-US" sz="1450" dirty="0">
                <a:solidFill>
                  <a:schemeClr val="tx2"/>
                </a:solidFill>
              </a:rPr>
              <a:t>Management plane that meets BOD 23-02</a:t>
            </a:r>
            <a:endParaRPr lang="en-US" sz="1400" dirty="0"/>
          </a:p>
        </p:txBody>
      </p:sp>
      <p:sp>
        <p:nvSpPr>
          <p:cNvPr id="21" name="Interim">
            <a:extLst>
              <a:ext uri="{C183D7F6-B498-43B3-948B-1728B52AA6E4}">
                <adec:decorative xmlns:adec="http://schemas.microsoft.com/office/drawing/2017/decorative" val="1"/>
              </a:ext>
            </a:extLst>
          </p:cNvPr>
          <p:cNvSpPr/>
          <p:nvPr/>
        </p:nvSpPr>
        <p:spPr>
          <a:xfrm>
            <a:off x="548640" y="4983480"/>
            <a:ext cx="11109960" cy="960120"/>
          </a:xfrm>
          <a:prstGeom prst="roundRect">
            <a:avLst>
              <a:gd name="adj" fmla="val 7619"/>
            </a:avLst>
          </a:prstGeom>
          <a:solidFill>
            <a:srgbClr val="FFFFFF"/>
          </a:solidFill>
          <a:ln w="12700">
            <a:solidFill>
              <a:srgbClr val="1F2A44"/>
            </a:solidFill>
            <a:prstDash val="solid"/>
          </a:ln>
          <a:effectLst>
            <a:outerShdw blurRad="76200" dist="25400" dir="5400000" algn="bl" rotWithShape="0">
              <a:srgbClr val="64748B">
                <a:alpha val="22000"/>
              </a:srgbClr>
            </a:outerShdw>
          </a:effectLst>
        </p:spPr>
      </p:sp>
      <p:sp>
        <p:nvSpPr>
          <p:cNvPr id="22" name="Icon FaListCheck">
            <a:extLst>
              <a:ext uri="{C183D7F6-B498-43B3-948B-1728B52AA6E4}">
                <adec:decorative xmlns:adec="http://schemas.microsoft.com/office/drawing/2017/decorative" val="1"/>
              </a:ext>
            </a:extLst>
          </p:cNvPr>
          <p:cNvSpPr/>
          <p:nvPr/>
        </p:nvSpPr>
        <p:spPr>
          <a:xfrm>
            <a:off x="777240" y="5097780"/>
            <a:ext cx="731520" cy="731520"/>
          </a:xfrm>
          <a:prstGeom prst="ellipse">
            <a:avLst/>
          </a:prstGeom>
          <a:solidFill>
            <a:srgbClr val="1F2A44"/>
          </a:solidFill>
          <a:ln w="12700">
            <a:solidFill>
              <a:srgbClr val="1F2A44"/>
            </a:solidFill>
            <a:prstDash val="solid"/>
          </a:ln>
        </p:spPr>
      </p:sp>
      <p:pic>
        <p:nvPicPr>
          <p:cNvPr id="23" name="Image 1">
            <a:extLst>
              <a:ext uri="{C183D7F6-B498-43B3-948B-1728B52AA6E4}">
                <adec:decorative xmlns:adec="http://schemas.microsoft.com/office/drawing/2017/decorative" val="1"/>
              </a:ext>
            </a:extLst>
          </p:cNvPr>
          <p:cNvPicPr>
            <a:picLocks noChangeAspect="1"/>
          </p:cNvPicPr>
          <p:nvPr/>
        </p:nvPicPr>
        <p:blipFill>
          <a:blip r:embed="rId6"/>
          <a:stretch>
            <a:fillRect/>
          </a:stretch>
        </p:blipFill>
        <p:spPr>
          <a:xfrm>
            <a:off x="952805" y="5273345"/>
            <a:ext cx="380390" cy="380390"/>
          </a:xfrm>
          <a:prstGeom prst="rect">
            <a:avLst/>
          </a:prstGeom>
        </p:spPr>
      </p:pic>
      <p:sp>
        <p:nvSpPr>
          <p:cNvPr id="24" name="Interim text"/>
          <p:cNvSpPr txBox="1"/>
          <p:nvPr/>
        </p:nvSpPr>
        <p:spPr>
          <a:xfrm>
            <a:off x="1737360" y="5029200"/>
            <a:ext cx="9738360" cy="868680"/>
          </a:xfrm>
          <a:prstGeom prst="rect">
            <a:avLst/>
          </a:prstGeom>
          <a:noFill/>
          <a:ln/>
        </p:spPr>
        <p:txBody>
          <a:bodyPr wrap="square" lIns="0" tIns="0" rIns="0" bIns="0" rtlCol="0" anchor="ctr"/>
          <a:lstStyle/>
          <a:p>
            <a:pPr marL="0" indent="0">
              <a:buNone/>
            </a:pPr>
            <a:r>
              <a:rPr lang="en-US" sz="1650" b="1" dirty="0">
                <a:solidFill>
                  <a:srgbClr val="1F2A44"/>
                </a:solidFill>
              </a:rPr>
              <a:t>Ten actions need no award: </a:t>
            </a:r>
            <a:r>
              <a:rPr lang="en-US" sz="1650" dirty="0">
                <a:solidFill>
                  <a:schemeClr val="tx2"/>
                </a:solidFill>
              </a:rPr>
              <a:t>write the path policy, measure a sample of branches, fix egress, register cleartext protocols, verify the DNS path, and record the gap as an accepted risk.</a:t>
            </a:r>
            <a:endParaRPr lang="en-US" sz="1650" dirty="0"/>
          </a:p>
        </p:txBody>
      </p:sp>
      <p:sp>
        <p:nvSpPr>
          <p:cNvPr id="25" name="Sources"/>
          <p:cNvSpPr txBox="1"/>
          <p:nvPr/>
        </p:nvSpPr>
        <p:spPr>
          <a:xfrm>
            <a:off x="548640" y="6053328"/>
            <a:ext cx="10424160" cy="292608"/>
          </a:xfrm>
          <a:prstGeom prst="rect">
            <a:avLst/>
          </a:prstGeom>
          <a:noFill/>
          <a:ln/>
        </p:spPr>
        <p:txBody>
          <a:bodyPr wrap="square" lIns="0" tIns="0" rIns="0" bIns="0" rtlCol="0" anchor="t"/>
          <a:lstStyle/>
          <a:p>
            <a:pPr marL="0" indent="0">
              <a:buNone/>
            </a:pPr>
            <a:r>
              <a:rPr lang="en-US" sz="1000" i="1" dirty="0">
                <a:solidFill>
                  <a:srgbClr val="64748B"/>
                </a:solidFill>
              </a:rPr>
              <a:t>Sources: GSA EIS transition report; OMB M-19-26, M-26-14, M-26-15; CISA TIC Program Guidebook, BOD 23-02, BOD 26-02, BOD 26-04; Microsoft Learn — ExpressRoute for Microsoft 365. Book 09, Chapter 10.</a:t>
            </a:r>
            <a:endParaRPr lang="en-US" sz="1000" dirty="0"/>
          </a:p>
        </p:txBody>
      </p:sp>
      <p:sp>
        <p:nvSpPr>
          <p:cNvPr id="26"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11</a:t>
            </a:fld>
            <a:endParaRPr lang="en-US"/>
          </a:p>
        </p:txBody>
      </p:sp>
      <p:pic>
        <p:nvPicPr>
          <p:cNvPr id="27" name="Narration" descr="Narration for this slide; captions available">
            <a:hlinkClick r:id="" action="ppaction://media"/>
            <a:extLst>
              <a:ext uri="{FF2B5EF4-FFF2-40B4-BE49-F238E27FC236}">
                <a16:creationId xmlns:a16="http://schemas.microsoft.com/office/drawing/2014/main" id="{0AB35C7F-94EA-7169-88A0-8D6A2DF3B128}"/>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1EB52D75-25E7-41D4-9593-45A9BB737EA3}" label="English (captions)" lang="en-US" r:embed="rId8"/>
                        </p173:trackLst>
                      </p173:tracksInfo>
                    </p:ext>
                  </p14:extLst>
                </p14:media>
              </p:ext>
            </p:extLst>
          </p:nvPr>
        </p:nvPicPr>
        <p:blipFill>
          <a:blip r:embed="rId7"/>
          <a:stretch>
            <a:fillRect/>
          </a:stretch>
        </p:blipFill>
        <p:spPr>
          <a:xfrm>
            <a:off x="127000" y="6350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65820"/>
    </mc:Choice>
    <mc:Fallback>
      <p:transition spd="slow" advTm="6582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64824" fill="hold"/>
                                        <p:tgtEl>
                                          <p:spTgt spid="27"/>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Field offices: fix the circuit, not the content</a:t>
            </a:r>
            <a:endParaRPr lang="en-US" sz="3000" dirty="0"/>
          </a:p>
        </p:txBody>
      </p:sp>
      <p:sp>
        <p:nvSpPr>
          <p:cNvPr id="3" name="Tag How">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45309"/>
          </a:solidFill>
          <a:ln w="12700">
            <a:solidFill>
              <a:srgbClr val="B45309"/>
            </a:solidFill>
            <a:prstDash val="solid"/>
          </a:ln>
        </p:spPr>
      </p:sp>
      <p:sp>
        <p:nvSpPr>
          <p:cNvPr id="4" name="Tag How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HOW</a:t>
            </a:r>
            <a:endParaRPr lang="en-US" sz="1100" dirty="0"/>
          </a:p>
        </p:txBody>
      </p:sp>
      <p:graphicFrame>
        <p:nvGraphicFramePr>
          <p:cNvPr id="13" name="Table 0"/>
          <p:cNvGraphicFramePr>
            <a:graphicFrameLocks noGrp="1"/>
          </p:cNvGraphicFramePr>
          <p:nvPr>
            <p:extLst>
              <p:ext uri="{D42A27DB-BD31-4B8C-83A1-F6EECF244321}">
                <p14:modId xmlns:p14="http://schemas.microsoft.com/office/powerpoint/2010/main" val="1579011935"/>
              </p:ext>
            </p:extLst>
          </p:nvPr>
        </p:nvGraphicFramePr>
        <p:xfrm>
          <a:off x="548640" y="1371600"/>
          <a:ext cx="9144000" cy="914400"/>
        </p:xfrm>
        <a:graphic>
          <a:graphicData uri="http://schemas.openxmlformats.org/drawingml/2006/table">
            <a:tbl>
              <a:tblPr firstRow="1" bandRow="1"/>
              <a:tblGrid>
                <a:gridCol w="3200400">
                  <a:extLst>
                    <a:ext uri="{9D8B030D-6E8A-4147-A177-3AD203B41FA5}">
                      <a16:colId xmlns:a16="http://schemas.microsoft.com/office/drawing/2014/main" val="20000"/>
                    </a:ext>
                  </a:extLst>
                </a:gridCol>
                <a:gridCol w="3017520">
                  <a:extLst>
                    <a:ext uri="{9D8B030D-6E8A-4147-A177-3AD203B41FA5}">
                      <a16:colId xmlns:a16="http://schemas.microsoft.com/office/drawing/2014/main" val="20001"/>
                    </a:ext>
                  </a:extLst>
                </a:gridCol>
              </a:tblGrid>
              <a:tr h="384048">
                <a:tc>
                  <a:txBody>
                    <a:bodyPr/>
                    <a:lstStyle/>
                    <a:p>
                      <a:pPr marL="0" indent="0">
                        <a:buNone/>
                      </a:pPr>
                      <a:r>
                        <a:rPr lang="en-US" sz="1300" b="1" dirty="0">
                          <a:solidFill>
                            <a:srgbClr val="FFFFFF"/>
                          </a:solidFill>
                          <a:latin typeface="Calibri" pitchFamily="34" charset="0"/>
                          <a:ea typeface="Calibri" pitchFamily="34" charset="-122"/>
                          <a:cs typeface="Calibri" pitchFamily="34" charset="-120"/>
                        </a:rPr>
                        <a:t>Worked case, about 1,500 offices</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300" b="1" dirty="0">
                          <a:solidFill>
                            <a:srgbClr val="FFFFFF"/>
                          </a:solidFill>
                          <a:latin typeface="Calibri" pitchFamily="34" charset="0"/>
                          <a:ea typeface="Calibri" pitchFamily="34" charset="-122"/>
                          <a:cs typeface="Calibri" pitchFamily="34" charset="-120"/>
                        </a:rPr>
                        <a:t>Value</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extLst>
                  <a:ext uri="{0D108BD9-81ED-4DB2-BD59-A6C34878D82A}">
                    <a16:rowId xmlns:a16="http://schemas.microsoft.com/office/drawing/2014/main" val="10000"/>
                  </a:ext>
                </a:extLst>
              </a:tr>
              <a:tr h="457200">
                <a:tc>
                  <a:txBody>
                    <a:bodyPr/>
                    <a:lstStyle/>
                    <a:p>
                      <a:pPr marL="0" indent="0">
                        <a:buNone/>
                      </a:pPr>
                      <a:r>
                        <a:rPr lang="en-US" sz="1300" b="1" dirty="0">
                          <a:solidFill>
                            <a:srgbClr val="1F2A44"/>
                          </a:solidFill>
                          <a:latin typeface="Calibri" pitchFamily="34" charset="0"/>
                          <a:ea typeface="Calibri" pitchFamily="34" charset="-122"/>
                          <a:cs typeface="Calibri" pitchFamily="34" charset="-120"/>
                        </a:rPr>
                        <a:t>Clients per distribution point</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00" dirty="0">
                          <a:solidFill>
                            <a:srgbClr val="334155"/>
                          </a:solidFill>
                          <a:latin typeface="Calibri" pitchFamily="34" charset="0"/>
                          <a:ea typeface="Calibri" pitchFamily="34" charset="-122"/>
                          <a:cs typeface="Calibri" pitchFamily="34" charset="-120"/>
                        </a:rPr>
                        <a:t>4,000, Microsoft's published limit</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457200">
                <a:tc>
                  <a:txBody>
                    <a:bodyPr/>
                    <a:lstStyle/>
                    <a:p>
                      <a:pPr marL="0" indent="0">
                        <a:buNone/>
                      </a:pPr>
                      <a:r>
                        <a:rPr lang="en-US" sz="1300" b="1" dirty="0">
                          <a:solidFill>
                            <a:srgbClr val="1F2A44"/>
                          </a:solidFill>
                          <a:latin typeface="Calibri" pitchFamily="34" charset="0"/>
                          <a:ea typeface="Calibri" pitchFamily="34" charset="-122"/>
                          <a:cs typeface="Calibri" pitchFamily="34" charset="-120"/>
                        </a:rPr>
                        <a:t>Distribution points needed</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00" dirty="0">
                          <a:solidFill>
                            <a:srgbClr val="334155"/>
                          </a:solidFill>
                          <a:latin typeface="Calibri" pitchFamily="34" charset="0"/>
                          <a:ea typeface="Calibri" pitchFamily="34" charset="-122"/>
                          <a:cs typeface="Calibri" pitchFamily="34" charset="-120"/>
                        </a:rPr>
                        <a:t>24: two at each of 12 hubs</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457200">
                <a:tc>
                  <a:txBody>
                    <a:bodyPr/>
                    <a:lstStyle/>
                    <a:p>
                      <a:pPr marL="0" indent="0">
                        <a:buNone/>
                      </a:pPr>
                      <a:r>
                        <a:rPr lang="en-US" sz="1300" b="1" dirty="0">
                          <a:solidFill>
                            <a:srgbClr val="1F2A44"/>
                          </a:solidFill>
                          <a:latin typeface="Calibri" pitchFamily="34" charset="0"/>
                          <a:ea typeface="Calibri" pitchFamily="34" charset="-122"/>
                          <a:cs typeface="Calibri" pitchFamily="34" charset="-120"/>
                        </a:rPr>
                        <a:t>Capacity at 70,000 endpoints</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00" dirty="0">
                          <a:solidFill>
                            <a:srgbClr val="334155"/>
                          </a:solidFill>
                          <a:latin typeface="Calibri" pitchFamily="34" charset="0"/>
                          <a:ea typeface="Calibri" pitchFamily="34" charset="-122"/>
                          <a:cs typeface="Calibri" pitchFamily="34" charset="-120"/>
                        </a:rPr>
                        <a:t>96,000 clients, 73% used</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457200">
                <a:tc>
                  <a:txBody>
                    <a:bodyPr/>
                    <a:lstStyle/>
                    <a:p>
                      <a:pPr marL="0" indent="0">
                        <a:buNone/>
                      </a:pPr>
                      <a:r>
                        <a:rPr lang="en-US" sz="1300" b="1" dirty="0">
                          <a:solidFill>
                            <a:srgbClr val="1F2A44"/>
                          </a:solidFill>
                          <a:latin typeface="Calibri" pitchFamily="34" charset="0"/>
                          <a:ea typeface="Calibri" pitchFamily="34" charset="-122"/>
                          <a:cs typeface="Calibri" pitchFamily="34" charset="-120"/>
                        </a:rPr>
                        <a:t>Refresh proposal</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00" dirty="0">
                          <a:solidFill>
                            <a:srgbClr val="334155"/>
                          </a:solidFill>
                          <a:latin typeface="Calibri" pitchFamily="34" charset="0"/>
                          <a:ea typeface="Calibri" pitchFamily="34" charset="-122"/>
                          <a:cs typeface="Calibri" pitchFamily="34" charset="-120"/>
                        </a:rPr>
                        <a:t>About $50M, one per office</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457200">
                <a:tc>
                  <a:txBody>
                    <a:bodyPr/>
                    <a:lstStyle/>
                    <a:p>
                      <a:pPr marL="0" indent="0">
                        <a:buNone/>
                      </a:pPr>
                      <a:r>
                        <a:rPr lang="en-US" sz="1300" b="1" dirty="0">
                          <a:solidFill>
                            <a:srgbClr val="1F2A44"/>
                          </a:solidFill>
                          <a:latin typeface="Calibri" pitchFamily="34" charset="0"/>
                          <a:ea typeface="Calibri" pitchFamily="34" charset="-122"/>
                          <a:cs typeface="Calibri" pitchFamily="34" charset="-120"/>
                        </a:rPr>
                        <a:t>Network program, Year 1 capital</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00" b="1" dirty="0">
                          <a:solidFill>
                            <a:srgbClr val="334155"/>
                          </a:solidFill>
                          <a:latin typeface="Calibri" pitchFamily="34" charset="0"/>
                          <a:ea typeface="Calibri" pitchFamily="34" charset="-122"/>
                          <a:cs typeface="Calibri" pitchFamily="34" charset="-120"/>
                        </a:rPr>
                        <a:t>About $10.0M</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457200">
                <a:tc>
                  <a:txBody>
                    <a:bodyPr/>
                    <a:lstStyle/>
                    <a:p>
                      <a:pPr marL="0" indent="0">
                        <a:buNone/>
                      </a:pPr>
                      <a:r>
                        <a:rPr lang="en-US" sz="1300" b="1" dirty="0">
                          <a:solidFill>
                            <a:srgbClr val="1F2A44"/>
                          </a:solidFill>
                          <a:latin typeface="Calibri" pitchFamily="34" charset="0"/>
                          <a:ea typeface="Calibri" pitchFamily="34" charset="-122"/>
                          <a:cs typeface="Calibri" pitchFamily="34" charset="-120"/>
                        </a:rPr>
                        <a:t>Breakeven current MPLS cost</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00" b="1" dirty="0">
                          <a:solidFill>
                            <a:srgbClr val="B91C1C"/>
                          </a:solidFill>
                          <a:latin typeface="Calibri" pitchFamily="34" charset="0"/>
                          <a:ea typeface="Calibri" pitchFamily="34" charset="-122"/>
                          <a:cs typeface="Calibri" pitchFamily="34" charset="-120"/>
                        </a:rPr>
                        <a:t>$873 per office per month</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bl>
          </a:graphicData>
        </a:graphic>
      </p:graphicFrame>
      <p:sp>
        <p:nvSpPr>
          <p:cNvPr id="6" name="Transport box">
            <a:extLst>
              <a:ext uri="{C183D7F6-B498-43B3-948B-1728B52AA6E4}">
                <adec:decorative xmlns:adec="http://schemas.microsoft.com/office/drawing/2017/decorative" val="1"/>
              </a:ext>
            </a:extLst>
          </p:cNvPr>
          <p:cNvSpPr/>
          <p:nvPr/>
        </p:nvSpPr>
        <p:spPr>
          <a:xfrm>
            <a:off x="7086600" y="1371600"/>
            <a:ext cx="4572000" cy="3200400"/>
          </a:xfrm>
          <a:prstGeom prst="roundRect">
            <a:avLst>
              <a:gd name="adj" fmla="val 2286"/>
            </a:avLst>
          </a:prstGeom>
          <a:solidFill>
            <a:srgbClr val="DCEFEC"/>
          </a:solidFill>
          <a:ln w="12700">
            <a:solidFill>
              <a:srgbClr val="DCEFEC"/>
            </a:solidFill>
            <a:prstDash val="solid"/>
          </a:ln>
          <a:effectLst>
            <a:outerShdw blurRad="76200" dist="25400" dir="5400000" algn="bl" rotWithShape="0">
              <a:srgbClr val="64748B">
                <a:alpha val="22000"/>
              </a:srgbClr>
            </a:outerShdw>
          </a:effectLst>
        </p:spPr>
      </p:sp>
      <p:sp>
        <p:nvSpPr>
          <p:cNvPr id="7" name="Icon FaRoute">
            <a:extLst>
              <a:ext uri="{C183D7F6-B498-43B3-948B-1728B52AA6E4}">
                <adec:decorative xmlns:adec="http://schemas.microsoft.com/office/drawing/2017/decorative" val="1"/>
              </a:ext>
            </a:extLst>
          </p:cNvPr>
          <p:cNvSpPr/>
          <p:nvPr/>
        </p:nvSpPr>
        <p:spPr>
          <a:xfrm>
            <a:off x="7315200" y="1536192"/>
            <a:ext cx="548640" cy="548640"/>
          </a:xfrm>
          <a:prstGeom prst="ellipse">
            <a:avLst/>
          </a:prstGeom>
          <a:solidFill>
            <a:srgbClr val="0F766E"/>
          </a:solidFill>
          <a:ln w="12700">
            <a:solidFill>
              <a:srgbClr val="0F766E"/>
            </a:solidFill>
            <a:prstDash val="solid"/>
          </a:ln>
        </p:spPr>
      </p:sp>
      <p:pic>
        <p:nvPicPr>
          <p:cNvPr id="8" name="Image 0">
            <a:extLst>
              <a:ext uri="{C183D7F6-B498-43B3-948B-1728B52AA6E4}">
                <adec:decorative xmlns:adec="http://schemas.microsoft.com/office/drawing/2017/decorative" val="1"/>
              </a:ext>
            </a:extLst>
          </p:cNvPr>
          <p:cNvPicPr>
            <a:picLocks noChangeAspect="1"/>
          </p:cNvPicPr>
          <p:nvPr/>
        </p:nvPicPr>
        <p:blipFill>
          <a:blip r:embed="rId5"/>
          <a:stretch>
            <a:fillRect/>
          </a:stretch>
        </p:blipFill>
        <p:spPr>
          <a:xfrm>
            <a:off x="7446874" y="1667866"/>
            <a:ext cx="285293" cy="285293"/>
          </a:xfrm>
          <a:prstGeom prst="rect">
            <a:avLst/>
          </a:prstGeom>
        </p:spPr>
      </p:pic>
      <p:sp>
        <p:nvSpPr>
          <p:cNvPr id="9" name="Transport head"/>
          <p:cNvSpPr txBox="1"/>
          <p:nvPr/>
        </p:nvSpPr>
        <p:spPr>
          <a:xfrm>
            <a:off x="8001000" y="1536192"/>
            <a:ext cx="3566160" cy="548640"/>
          </a:xfrm>
          <a:prstGeom prst="rect">
            <a:avLst/>
          </a:prstGeom>
          <a:noFill/>
          <a:ln/>
        </p:spPr>
        <p:txBody>
          <a:bodyPr wrap="square" lIns="0" tIns="0" rIns="0" bIns="0" rtlCol="0" anchor="ctr"/>
          <a:lstStyle/>
          <a:p>
            <a:pPr marL="0" indent="0">
              <a:buNone/>
            </a:pPr>
            <a:r>
              <a:rPr lang="en-US" sz="1700" b="1" dirty="0">
                <a:solidFill>
                  <a:srgbClr val="0F766E"/>
                </a:solidFill>
                <a:latin typeface="Cambria" pitchFamily="34" charset="0"/>
                <a:ea typeface="Cambria" pitchFamily="34" charset="-122"/>
                <a:cs typeface="Cambria" pitchFamily="34" charset="-120"/>
              </a:rPr>
              <a:t>Solve it at the transport layer</a:t>
            </a:r>
            <a:endParaRPr lang="en-US" sz="1700" dirty="0"/>
          </a:p>
        </p:txBody>
      </p:sp>
      <p:sp>
        <p:nvSpPr>
          <p:cNvPr id="10" name="Transport list"/>
          <p:cNvSpPr txBox="1"/>
          <p:nvPr/>
        </p:nvSpPr>
        <p:spPr>
          <a:xfrm>
            <a:off x="7315200" y="2212848"/>
            <a:ext cx="4206240" cy="2286000"/>
          </a:xfrm>
          <a:prstGeom prst="rect">
            <a:avLst/>
          </a:prstGeom>
          <a:noFill/>
          <a:ln/>
        </p:spPr>
        <p:txBody>
          <a:bodyPr wrap="square" lIns="0" tIns="0" rIns="0" bIns="0" rtlCol="0" anchor="t"/>
          <a:lstStyle/>
          <a:p>
            <a:pPr marL="342900" indent="-342900">
              <a:spcAft>
                <a:spcPts val="600"/>
              </a:spcAft>
              <a:buSzPct val="100000"/>
              <a:buChar char="•"/>
            </a:pPr>
            <a:r>
              <a:rPr lang="en-US" sz="1350" dirty="0">
                <a:solidFill>
                  <a:schemeClr val="tx2"/>
                </a:solidFill>
              </a:rPr>
              <a:t>Internet access sized to seats, plus 5G for continuity</a:t>
            </a:r>
            <a:endParaRPr lang="en-US" sz="1400" dirty="0"/>
          </a:p>
          <a:p>
            <a:pPr marL="342900" indent="-342900">
              <a:spcAft>
                <a:spcPts val="600"/>
              </a:spcAft>
              <a:buSzPct val="100000"/>
              <a:buChar char="•"/>
            </a:pPr>
            <a:r>
              <a:rPr lang="en-US" sz="1350" dirty="0">
                <a:solidFill>
                  <a:schemeClr val="tx2"/>
                </a:solidFill>
              </a:rPr>
              <a:t>SD-WAN overlay; breakout at 12 hubs first</a:t>
            </a:r>
            <a:endParaRPr lang="en-US" sz="1400" dirty="0"/>
          </a:p>
          <a:p>
            <a:pPr marL="342900" indent="-342900">
              <a:spcAft>
                <a:spcPts val="600"/>
              </a:spcAft>
              <a:buSzPct val="100000"/>
              <a:buChar char="•"/>
            </a:pPr>
            <a:r>
              <a:rPr lang="en-US" sz="1350" dirty="0">
                <a:solidFill>
                  <a:schemeClr val="tx2"/>
                </a:solidFill>
              </a:rPr>
              <a:t>Waves keyed to MPLS renewal dates</a:t>
            </a:r>
            <a:endParaRPr lang="en-US" sz="1400" dirty="0"/>
          </a:p>
          <a:p>
            <a:pPr marL="342900" indent="-342900">
              <a:spcAft>
                <a:spcPts val="600"/>
              </a:spcAft>
              <a:buSzPct val="100000"/>
              <a:buChar char="•"/>
            </a:pPr>
            <a:r>
              <a:rPr lang="en-US" sz="1350" dirty="0">
                <a:solidFill>
                  <a:schemeClr val="tx2"/>
                </a:solidFill>
              </a:rPr>
              <a:t>Peer caching keeps one WAN copy per site</a:t>
            </a:r>
            <a:endParaRPr lang="en-US" sz="1400" dirty="0"/>
          </a:p>
        </p:txBody>
      </p:sp>
      <p:sp>
        <p:nvSpPr>
          <p:cNvPr id="11" name="Gates">
            <a:extLst>
              <a:ext uri="{C183D7F6-B498-43B3-948B-1728B52AA6E4}">
                <adec:decorative xmlns:adec="http://schemas.microsoft.com/office/drawing/2017/decorative" val="1"/>
              </a:ext>
            </a:extLst>
          </p:cNvPr>
          <p:cNvSpPr/>
          <p:nvPr/>
        </p:nvSpPr>
        <p:spPr>
          <a:xfrm>
            <a:off x="548640" y="4754880"/>
            <a:ext cx="11109960" cy="1188720"/>
          </a:xfrm>
          <a:prstGeom prst="roundRect">
            <a:avLst>
              <a:gd name="adj" fmla="val 6154"/>
            </a:avLst>
          </a:prstGeom>
          <a:solidFill>
            <a:srgbClr val="FFFFFF"/>
          </a:solidFill>
          <a:ln w="12700">
            <a:solidFill>
              <a:srgbClr val="B91C1C"/>
            </a:solidFill>
            <a:prstDash val="solid"/>
          </a:ln>
          <a:effectLst>
            <a:outerShdw blurRad="76200" dist="25400" dir="5400000" algn="bl" rotWithShape="0">
              <a:srgbClr val="64748B">
                <a:alpha val="22000"/>
              </a:srgbClr>
            </a:outerShdw>
          </a:effectLst>
        </p:spPr>
      </p:sp>
      <p:sp>
        <p:nvSpPr>
          <p:cNvPr id="12" name="Icon FaClipboardCheck">
            <a:extLst>
              <a:ext uri="{C183D7F6-B498-43B3-948B-1728B52AA6E4}">
                <adec:decorative xmlns:adec="http://schemas.microsoft.com/office/drawing/2017/decorative" val="1"/>
              </a:ext>
            </a:extLst>
          </p:cNvPr>
          <p:cNvSpPr/>
          <p:nvPr/>
        </p:nvSpPr>
        <p:spPr>
          <a:xfrm>
            <a:off x="777240" y="4983480"/>
            <a:ext cx="731520" cy="731520"/>
          </a:xfrm>
          <a:prstGeom prst="ellipse">
            <a:avLst/>
          </a:prstGeom>
          <a:solidFill>
            <a:srgbClr val="B91C1C"/>
          </a:solidFill>
          <a:ln w="12700">
            <a:solidFill>
              <a:srgbClr val="B91C1C"/>
            </a:solidFill>
            <a:prstDash val="solid"/>
          </a:ln>
        </p:spPr>
      </p:sp>
      <p:pic>
        <p:nvPicPr>
          <p:cNvPr id="5" name="Image 1">
            <a:extLst>
              <a:ext uri="{C183D7F6-B498-43B3-948B-1728B52AA6E4}">
                <adec:decorative xmlns:adec="http://schemas.microsoft.com/office/drawing/2017/decorative" val="1"/>
              </a:ext>
            </a:extLst>
          </p:cNvPr>
          <p:cNvPicPr>
            <a:picLocks noChangeAspect="1"/>
          </p:cNvPicPr>
          <p:nvPr/>
        </p:nvPicPr>
        <p:blipFill>
          <a:blip r:embed="rId6"/>
          <a:stretch>
            <a:fillRect/>
          </a:stretch>
        </p:blipFill>
        <p:spPr>
          <a:xfrm>
            <a:off x="952805" y="5159045"/>
            <a:ext cx="380390" cy="380390"/>
          </a:xfrm>
          <a:prstGeom prst="rect">
            <a:avLst/>
          </a:prstGeom>
        </p:spPr>
      </p:pic>
      <p:sp>
        <p:nvSpPr>
          <p:cNvPr id="14" name="Gates text"/>
          <p:cNvSpPr txBox="1"/>
          <p:nvPr/>
        </p:nvSpPr>
        <p:spPr>
          <a:xfrm>
            <a:off x="1737360" y="4800600"/>
            <a:ext cx="9738360" cy="1097280"/>
          </a:xfrm>
          <a:prstGeom prst="rect">
            <a:avLst/>
          </a:prstGeom>
          <a:noFill/>
          <a:ln/>
        </p:spPr>
        <p:txBody>
          <a:bodyPr wrap="square" lIns="0" tIns="0" rIns="0" bIns="0" rtlCol="0" anchor="ctr"/>
          <a:lstStyle/>
          <a:p>
            <a:pPr marL="0" indent="0">
              <a:buNone/>
            </a:pPr>
            <a:r>
              <a:rPr lang="en-US" sz="1650" b="1" dirty="0">
                <a:solidFill>
                  <a:srgbClr val="B91C1C"/>
                </a:solidFill>
              </a:rPr>
              <a:t>Gates, not dates: </a:t>
            </a:r>
            <a:r>
              <a:rPr lang="en-US" sz="1650" dirty="0">
                <a:solidFill>
                  <a:schemeClr val="tx2"/>
                </a:solidFill>
              </a:rPr>
              <a:t>no office's MPLS is retired until its replacement telemetry is confirmed, and the last distribution point retires only when five content gates close. Every cost is a planning assumption to replace.</a:t>
            </a:r>
            <a:endParaRPr lang="en-US" sz="1650" dirty="0"/>
          </a:p>
        </p:txBody>
      </p:sp>
      <p:sp>
        <p:nvSpPr>
          <p:cNvPr id="15" name="Sources"/>
          <p:cNvSpPr txBox="1"/>
          <p:nvPr/>
        </p:nvSpPr>
        <p:spPr>
          <a:xfrm>
            <a:off x="548640" y="6053328"/>
            <a:ext cx="10424160" cy="292608"/>
          </a:xfrm>
          <a:prstGeom prst="rect">
            <a:avLst/>
          </a:prstGeom>
          <a:noFill/>
          <a:ln/>
        </p:spPr>
        <p:txBody>
          <a:bodyPr wrap="square" lIns="0" tIns="0" rIns="0" bIns="0" rtlCol="0" anchor="t"/>
          <a:lstStyle/>
          <a:p>
            <a:pPr marL="0" indent="0">
              <a:buNone/>
            </a:pPr>
            <a:r>
              <a:rPr lang="en-US" sz="1000" i="1" dirty="0">
                <a:solidFill>
                  <a:srgbClr val="64748B"/>
                </a:solidFill>
              </a:rPr>
              <a:t>Sources: Microsoft Learn — Configuration Manager size and scale, peer cache, Connected Cache, co-management workloads; Cisco Catalyst 8000 data sheets and licensing. Book 09, Chapter 11.</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12</a:t>
            </a:fld>
            <a:endParaRPr lang="en-US"/>
          </a:p>
        </p:txBody>
      </p:sp>
      <p:pic>
        <p:nvPicPr>
          <p:cNvPr id="16" name="Narration" descr="Narration for this slide; captions available">
            <a:hlinkClick r:id="" action="ppaction://media"/>
            <a:extLst>
              <a:ext uri="{FF2B5EF4-FFF2-40B4-BE49-F238E27FC236}">
                <a16:creationId xmlns:a16="http://schemas.microsoft.com/office/drawing/2014/main" id="{5F727B9B-5CBD-C585-76DC-75667028BC51}"/>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032A91FA-3CB4-48DC-B59B-C998CF9BD507}" label="English (captions)" lang="en-US" r:embed="rId8"/>
                        </p173:trackLst>
                      </p173:tracksInfo>
                    </p:ext>
                  </p14:extLst>
                </p14:media>
              </p:ext>
            </p:extLst>
          </p:nvPr>
        </p:nvPicPr>
        <p:blipFill>
          <a:blip r:embed="rId7"/>
          <a:stretch>
            <a:fillRect/>
          </a:stretch>
        </p:blipFill>
        <p:spPr>
          <a:xfrm>
            <a:off x="127000" y="6350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67940"/>
    </mc:Choice>
    <mc:Fallback>
      <p:transition spd="slow" advTm="6794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66936" fill="hold"/>
                                        <p:tgtEl>
                                          <p:spTgt spid="16"/>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Microsoft 365 Optimize: a signed SC-7(4) exception</a:t>
            </a:r>
            <a:endParaRPr lang="en-US" sz="3000" dirty="0"/>
          </a:p>
        </p:txBody>
      </p:sp>
      <p:sp>
        <p:nvSpPr>
          <p:cNvPr id="3" name="Tag How">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45309"/>
          </a:solidFill>
          <a:ln w="12700">
            <a:solidFill>
              <a:srgbClr val="B45309"/>
            </a:solidFill>
            <a:prstDash val="solid"/>
          </a:ln>
        </p:spPr>
      </p:sp>
      <p:sp>
        <p:nvSpPr>
          <p:cNvPr id="4" name="Tag How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HOW</a:t>
            </a:r>
            <a:endParaRPr lang="en-US" sz="1100" dirty="0"/>
          </a:p>
        </p:txBody>
      </p:sp>
      <p:graphicFrame>
        <p:nvGraphicFramePr>
          <p:cNvPr id="14" name="Table 0"/>
          <p:cNvGraphicFramePr>
            <a:graphicFrameLocks noGrp="1"/>
          </p:cNvGraphicFramePr>
          <p:nvPr>
            <p:extLst>
              <p:ext uri="{D42A27DB-BD31-4B8C-83A1-F6EECF244321}">
                <p14:modId xmlns:p14="http://schemas.microsoft.com/office/powerpoint/2010/main" val="1579011935"/>
              </p:ext>
            </p:extLst>
          </p:nvPr>
        </p:nvGraphicFramePr>
        <p:xfrm>
          <a:off x="548640" y="1371600"/>
          <a:ext cx="9144000" cy="914400"/>
        </p:xfrm>
        <a:graphic>
          <a:graphicData uri="http://schemas.openxmlformats.org/drawingml/2006/table">
            <a:tbl>
              <a:tblPr firstRow="1" bandRow="1"/>
              <a:tblGrid>
                <a:gridCol w="731520">
                  <a:extLst>
                    <a:ext uri="{9D8B030D-6E8A-4147-A177-3AD203B41FA5}">
                      <a16:colId xmlns:a16="http://schemas.microsoft.com/office/drawing/2014/main" val="20000"/>
                    </a:ext>
                  </a:extLst>
                </a:gridCol>
                <a:gridCol w="2926080">
                  <a:extLst>
                    <a:ext uri="{9D8B030D-6E8A-4147-A177-3AD203B41FA5}">
                      <a16:colId xmlns:a16="http://schemas.microsoft.com/office/drawing/2014/main" val="20001"/>
                    </a:ext>
                  </a:extLst>
                </a:gridCol>
                <a:gridCol w="2651760">
                  <a:extLst>
                    <a:ext uri="{9D8B030D-6E8A-4147-A177-3AD203B41FA5}">
                      <a16:colId xmlns:a16="http://schemas.microsoft.com/office/drawing/2014/main" val="20002"/>
                    </a:ext>
                  </a:extLst>
                </a:gridCol>
              </a:tblGrid>
              <a:tr h="384048">
                <a:tc>
                  <a:txBody>
                    <a:bodyPr/>
                    <a:lstStyle/>
                    <a:p>
                      <a:pPr marL="0" indent="0">
                        <a:buNone/>
                      </a:pPr>
                      <a:r>
                        <a:rPr lang="en-US" sz="1300" b="1" dirty="0">
                          <a:solidFill>
                            <a:srgbClr val="FFFFFF"/>
                          </a:solidFill>
                          <a:latin typeface="Calibri" pitchFamily="34" charset="0"/>
                          <a:ea typeface="Calibri" pitchFamily="34" charset="-122"/>
                          <a:cs typeface="Calibri" pitchFamily="34" charset="-120"/>
                        </a:rPr>
                        <a:t>Set</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300" b="1" dirty="0">
                          <a:solidFill>
                            <a:srgbClr val="FFFFFF"/>
                          </a:solidFill>
                          <a:latin typeface="Calibri" pitchFamily="34" charset="0"/>
                          <a:ea typeface="Calibri" pitchFamily="34" charset="-122"/>
                          <a:cs typeface="Calibri" pitchFamily="34" charset="-120"/>
                        </a:rPr>
                        <a:t>Optimize service</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300" b="1" dirty="0">
                          <a:solidFill>
                            <a:srgbClr val="FFFFFF"/>
                          </a:solidFill>
                          <a:latin typeface="Calibri" pitchFamily="34" charset="0"/>
                          <a:ea typeface="Calibri" pitchFamily="34" charset="-122"/>
                          <a:cs typeface="Calibri" pitchFamily="34" charset="-120"/>
                        </a:rPr>
                        <a:t>Steer by</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extLst>
                  <a:ext uri="{0D108BD9-81ED-4DB2-BD59-A6C34878D82A}">
                    <a16:rowId xmlns:a16="http://schemas.microsoft.com/office/drawing/2014/main" val="10000"/>
                  </a:ext>
                </a:extLst>
              </a:tr>
              <a:tr h="457200">
                <a:tc>
                  <a:txBody>
                    <a:bodyPr/>
                    <a:lstStyle/>
                    <a:p>
                      <a:pPr marL="0" indent="0">
                        <a:buNone/>
                      </a:pPr>
                      <a:r>
                        <a:rPr lang="en-US" sz="1300" b="1" dirty="0">
                          <a:solidFill>
                            <a:srgbClr val="1F2A44"/>
                          </a:solidFill>
                          <a:latin typeface="Calibri" pitchFamily="34" charset="0"/>
                          <a:ea typeface="Calibri" pitchFamily="34" charset="-122"/>
                          <a:cs typeface="Calibri" pitchFamily="34" charset="-120"/>
                        </a:rPr>
                        <a:t>1</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00" b="1" dirty="0">
                          <a:solidFill>
                            <a:srgbClr val="1F2A44"/>
                          </a:solidFill>
                          <a:latin typeface="Calibri" pitchFamily="34" charset="0"/>
                          <a:ea typeface="Calibri" pitchFamily="34" charset="-122"/>
                          <a:cs typeface="Calibri" pitchFamily="34" charset="-120"/>
                        </a:rPr>
                        <a:t>Exchange Online</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00" dirty="0">
                          <a:solidFill>
                            <a:srgbClr val="334155"/>
                          </a:solidFill>
                          <a:latin typeface="Calibri" pitchFamily="34" charset="0"/>
                          <a:ea typeface="Calibri" pitchFamily="34" charset="-122"/>
                          <a:cs typeface="Calibri" pitchFamily="34" charset="-120"/>
                        </a:rPr>
                        <a:t>Names and IP ranges</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457200">
                <a:tc>
                  <a:txBody>
                    <a:bodyPr/>
                    <a:lstStyle/>
                    <a:p>
                      <a:pPr marL="0" indent="0">
                        <a:buNone/>
                      </a:pPr>
                      <a:r>
                        <a:rPr lang="en-US" sz="1300" b="1" dirty="0">
                          <a:solidFill>
                            <a:srgbClr val="1F2A44"/>
                          </a:solidFill>
                          <a:latin typeface="Calibri" pitchFamily="34" charset="0"/>
                          <a:ea typeface="Calibri" pitchFamily="34" charset="-122"/>
                          <a:cs typeface="Calibri" pitchFamily="34" charset="-120"/>
                        </a:rPr>
                        <a:t>31</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00" b="1" dirty="0">
                          <a:solidFill>
                            <a:srgbClr val="1F2A44"/>
                          </a:solidFill>
                          <a:latin typeface="Calibri" pitchFamily="34" charset="0"/>
                          <a:ea typeface="Calibri" pitchFamily="34" charset="-122"/>
                          <a:cs typeface="Calibri" pitchFamily="34" charset="-120"/>
                        </a:rPr>
                        <a:t>SharePoint and OneDrive</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00" dirty="0">
                          <a:solidFill>
                            <a:srgbClr val="334155"/>
                          </a:solidFill>
                          <a:latin typeface="Calibri" pitchFamily="34" charset="0"/>
                          <a:ea typeface="Calibri" pitchFamily="34" charset="-122"/>
                          <a:cs typeface="Calibri" pitchFamily="34" charset="-120"/>
                        </a:rPr>
                        <a:t>Names and IP ranges</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457200">
                <a:tc>
                  <a:txBody>
                    <a:bodyPr/>
                    <a:lstStyle/>
                    <a:p>
                      <a:pPr marL="0" indent="0">
                        <a:buNone/>
                      </a:pPr>
                      <a:r>
                        <a:rPr lang="en-US" sz="1300" b="1" dirty="0">
                          <a:solidFill>
                            <a:srgbClr val="1F2A44"/>
                          </a:solidFill>
                          <a:latin typeface="Calibri" pitchFamily="34" charset="0"/>
                          <a:ea typeface="Calibri" pitchFamily="34" charset="-122"/>
                          <a:cs typeface="Calibri" pitchFamily="34" charset="-120"/>
                        </a:rPr>
                        <a:t>11</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00" b="1" dirty="0">
                          <a:solidFill>
                            <a:srgbClr val="1F2A44"/>
                          </a:solidFill>
                          <a:latin typeface="Calibri" pitchFamily="34" charset="0"/>
                          <a:ea typeface="Calibri" pitchFamily="34" charset="-122"/>
                          <a:cs typeface="Calibri" pitchFamily="34" charset="-120"/>
                        </a:rPr>
                        <a:t>Teams media, UDP 3478–3481</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00" b="1" dirty="0">
                          <a:solidFill>
                            <a:srgbClr val="B91C1C"/>
                          </a:solidFill>
                          <a:latin typeface="Calibri" pitchFamily="34" charset="0"/>
                          <a:ea typeface="Calibri" pitchFamily="34" charset="-122"/>
                          <a:cs typeface="Calibri" pitchFamily="34" charset="-120"/>
                        </a:rPr>
                        <a:t>IP prefix only; no names</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bl>
          </a:graphicData>
        </a:graphic>
      </p:graphicFrame>
      <p:sp>
        <p:nvSpPr>
          <p:cNvPr id="6" name="Controls box">
            <a:extLst>
              <a:ext uri="{C183D7F6-B498-43B3-948B-1728B52AA6E4}">
                <adec:decorative xmlns:adec="http://schemas.microsoft.com/office/drawing/2017/decorative" val="1"/>
              </a:ext>
            </a:extLst>
          </p:cNvPr>
          <p:cNvSpPr/>
          <p:nvPr/>
        </p:nvSpPr>
        <p:spPr>
          <a:xfrm>
            <a:off x="548640" y="3291840"/>
            <a:ext cx="6309360" cy="1325880"/>
          </a:xfrm>
          <a:prstGeom prst="roundRect">
            <a:avLst>
              <a:gd name="adj" fmla="val 5517"/>
            </a:avLst>
          </a:prstGeom>
          <a:solidFill>
            <a:srgbClr val="FBE4E4"/>
          </a:solidFill>
          <a:ln w="12700">
            <a:solidFill>
              <a:srgbClr val="FBE4E4"/>
            </a:solidFill>
            <a:prstDash val="solid"/>
          </a:ln>
          <a:effectLst>
            <a:outerShdw blurRad="76200" dist="25400" dir="5400000" algn="bl" rotWithShape="0">
              <a:srgbClr val="64748B">
                <a:alpha val="22000"/>
              </a:srgbClr>
            </a:outerShdw>
          </a:effectLst>
        </p:spPr>
      </p:sp>
      <p:sp>
        <p:nvSpPr>
          <p:cNvPr id="7" name="Controls text"/>
          <p:cNvSpPr txBox="1"/>
          <p:nvPr/>
        </p:nvSpPr>
        <p:spPr>
          <a:xfrm>
            <a:off x="731520" y="3337560"/>
            <a:ext cx="5943600" cy="1234440"/>
          </a:xfrm>
          <a:prstGeom prst="rect">
            <a:avLst/>
          </a:prstGeom>
          <a:noFill/>
          <a:ln/>
        </p:spPr>
        <p:txBody>
          <a:bodyPr wrap="square" lIns="0" tIns="0" rIns="0" bIns="0" rtlCol="0" anchor="ctr"/>
          <a:lstStyle/>
          <a:p>
            <a:pPr marL="0" indent="0">
              <a:buNone/>
            </a:pPr>
            <a:r>
              <a:rPr lang="en-US" sz="1500" b="1" dirty="0">
                <a:solidFill>
                  <a:srgbClr val="B91C1C"/>
                </a:solidFill>
              </a:rPr>
              <a:t>What the bypass punctures, named</a:t>
            </a:r>
            <a:endParaRPr lang="en-US" sz="1400" dirty="0"/>
          </a:p>
          <a:p>
            <a:pPr marL="0" indent="0">
              <a:buNone/>
            </a:pPr>
            <a:r>
              <a:rPr lang="en-US" sz="1400" dirty="0">
                <a:solidFill>
                  <a:schemeClr val="tx2"/>
                </a:solidFill>
              </a:rPr>
              <a:t>SI-3, SI-4(10) where selected, AC-4 and AU-3. SC-8 is not a gap: the flows carry TLS or SRTP.</a:t>
            </a:r>
            <a:endParaRPr lang="en-US" sz="1400" dirty="0"/>
          </a:p>
        </p:txBody>
      </p:sp>
      <p:sp>
        <p:nvSpPr>
          <p:cNvPr id="8" name="Instruments box">
            <a:extLst>
              <a:ext uri="{C183D7F6-B498-43B3-948B-1728B52AA6E4}">
                <adec:decorative xmlns:adec="http://schemas.microsoft.com/office/drawing/2017/decorative" val="1"/>
              </a:ext>
            </a:extLst>
          </p:cNvPr>
          <p:cNvSpPr/>
          <p:nvPr/>
        </p:nvSpPr>
        <p:spPr>
          <a:xfrm>
            <a:off x="7086600" y="1371600"/>
            <a:ext cx="4572000" cy="3246120"/>
          </a:xfrm>
          <a:prstGeom prst="roundRect">
            <a:avLst>
              <a:gd name="adj" fmla="val 2254"/>
            </a:avLst>
          </a:prstGeom>
          <a:solidFill>
            <a:srgbClr val="E4EAF4"/>
          </a:solidFill>
          <a:ln w="12700">
            <a:solidFill>
              <a:srgbClr val="E4EAF4"/>
            </a:solidFill>
            <a:prstDash val="solid"/>
          </a:ln>
          <a:effectLst>
            <a:outerShdw blurRad="76200" dist="25400" dir="5400000" algn="bl" rotWithShape="0">
              <a:srgbClr val="64748B">
                <a:alpha val="22000"/>
              </a:srgbClr>
            </a:outerShdw>
          </a:effectLst>
        </p:spPr>
      </p:sp>
      <p:sp>
        <p:nvSpPr>
          <p:cNvPr id="9" name="Icon FaScaleBalanced">
            <a:extLst>
              <a:ext uri="{C183D7F6-B498-43B3-948B-1728B52AA6E4}">
                <adec:decorative xmlns:adec="http://schemas.microsoft.com/office/drawing/2017/decorative" val="1"/>
              </a:ext>
            </a:extLst>
          </p:cNvPr>
          <p:cNvSpPr/>
          <p:nvPr/>
        </p:nvSpPr>
        <p:spPr>
          <a:xfrm>
            <a:off x="7315200" y="1536192"/>
            <a:ext cx="548640" cy="548640"/>
          </a:xfrm>
          <a:prstGeom prst="ellipse">
            <a:avLst/>
          </a:prstGeom>
          <a:solidFill>
            <a:srgbClr val="1F2A44"/>
          </a:solidFill>
          <a:ln w="12700">
            <a:solidFill>
              <a:srgbClr val="1F2A44"/>
            </a:solidFill>
            <a:prstDash val="solid"/>
          </a:ln>
        </p:spPr>
      </p:sp>
      <p:pic>
        <p:nvPicPr>
          <p:cNvPr id="10" name="Image 0">
            <a:extLst>
              <a:ext uri="{C183D7F6-B498-43B3-948B-1728B52AA6E4}">
                <adec:decorative xmlns:adec="http://schemas.microsoft.com/office/drawing/2017/decorative" val="1"/>
              </a:ext>
            </a:extLst>
          </p:cNvPr>
          <p:cNvPicPr>
            <a:picLocks noChangeAspect="1"/>
          </p:cNvPicPr>
          <p:nvPr/>
        </p:nvPicPr>
        <p:blipFill>
          <a:blip r:embed="rId5"/>
          <a:stretch>
            <a:fillRect/>
          </a:stretch>
        </p:blipFill>
        <p:spPr>
          <a:xfrm>
            <a:off x="7446874" y="1667866"/>
            <a:ext cx="285293" cy="285293"/>
          </a:xfrm>
          <a:prstGeom prst="rect">
            <a:avLst/>
          </a:prstGeom>
        </p:spPr>
      </p:pic>
      <p:sp>
        <p:nvSpPr>
          <p:cNvPr id="11" name="Instruments head"/>
          <p:cNvSpPr txBox="1"/>
          <p:nvPr/>
        </p:nvSpPr>
        <p:spPr>
          <a:xfrm>
            <a:off x="8001000" y="1536192"/>
            <a:ext cx="3566160" cy="548640"/>
          </a:xfrm>
          <a:prstGeom prst="rect">
            <a:avLst/>
          </a:prstGeom>
          <a:noFill/>
          <a:ln/>
        </p:spPr>
        <p:txBody>
          <a:bodyPr wrap="square" lIns="0" tIns="0" rIns="0" bIns="0" rtlCol="0" anchor="ctr"/>
          <a:lstStyle/>
          <a:p>
            <a:pPr marL="0" indent="0">
              <a:buNone/>
            </a:pPr>
            <a:r>
              <a:rPr lang="en-US" sz="1700" b="1" dirty="0">
                <a:solidFill>
                  <a:srgbClr val="1F2A44"/>
                </a:solidFill>
                <a:latin typeface="Cambria" pitchFamily="34" charset="0"/>
                <a:ea typeface="Cambria" pitchFamily="34" charset="-122"/>
                <a:cs typeface="Cambria" pitchFamily="34" charset="-120"/>
              </a:rPr>
              <a:t>Three instruments, three signers</a:t>
            </a:r>
            <a:endParaRPr lang="en-US" sz="1700" dirty="0"/>
          </a:p>
        </p:txBody>
      </p:sp>
      <p:sp>
        <p:nvSpPr>
          <p:cNvPr id="12" name="Instruments list"/>
          <p:cNvSpPr txBox="1"/>
          <p:nvPr/>
        </p:nvSpPr>
        <p:spPr>
          <a:xfrm>
            <a:off x="7315200" y="2212848"/>
            <a:ext cx="4206240" cy="2331720"/>
          </a:xfrm>
          <a:prstGeom prst="rect">
            <a:avLst/>
          </a:prstGeom>
          <a:noFill/>
          <a:ln/>
        </p:spPr>
        <p:txBody>
          <a:bodyPr wrap="square" lIns="0" tIns="0" rIns="0" bIns="0" rtlCol="0" anchor="t"/>
          <a:lstStyle/>
          <a:p>
            <a:pPr marL="342900" indent="-342900">
              <a:spcAft>
                <a:spcPts val="600"/>
              </a:spcAft>
              <a:buSzPct val="100000"/>
              <a:buChar char="•"/>
            </a:pPr>
            <a:r>
              <a:rPr lang="en-US" sz="1350" dirty="0">
                <a:solidFill>
                  <a:schemeClr val="tx2"/>
                </a:solidFill>
              </a:rPr>
              <a:t>Exception memo: the authorizing official</a:t>
            </a:r>
            <a:endParaRPr lang="en-US" sz="1400" dirty="0"/>
          </a:p>
          <a:p>
            <a:pPr marL="342900" indent="-342900">
              <a:spcAft>
                <a:spcPts val="600"/>
              </a:spcAft>
              <a:buSzPct val="100000"/>
              <a:buChar char="•"/>
            </a:pPr>
            <a:r>
              <a:rPr lang="en-US" sz="1350" dirty="0">
                <a:solidFill>
                  <a:schemeClr val="tx2"/>
                </a:solidFill>
              </a:rPr>
              <a:t>Site register: the system owner</a:t>
            </a:r>
            <a:endParaRPr lang="en-US" sz="1400" dirty="0"/>
          </a:p>
          <a:p>
            <a:pPr marL="342900" indent="-342900">
              <a:spcAft>
                <a:spcPts val="600"/>
              </a:spcAft>
              <a:buSzPct val="100000"/>
              <a:buChar char="•"/>
            </a:pPr>
            <a:r>
              <a:rPr lang="en-US" sz="1350" dirty="0">
                <a:solidFill>
                  <a:schemeClr val="tx2"/>
                </a:solidFill>
              </a:rPr>
              <a:t>Architecture review: the review board</a:t>
            </a:r>
            <a:endParaRPr lang="en-US" sz="1400" dirty="0"/>
          </a:p>
          <a:p>
            <a:pPr marL="342900" indent="-342900">
              <a:spcAft>
                <a:spcPts val="600"/>
              </a:spcAft>
              <a:buSzPct val="100000"/>
              <a:buChar char="•"/>
            </a:pPr>
            <a:r>
              <a:rPr lang="en-US" sz="1350" dirty="0">
                <a:solidFill>
                  <a:schemeClr val="tx2"/>
                </a:solidFill>
              </a:rPr>
              <a:t>Precondition: tenant restrictions v2 from the device</a:t>
            </a:r>
            <a:endParaRPr lang="en-US" sz="1400" dirty="0"/>
          </a:p>
        </p:txBody>
      </p:sp>
      <p:sp>
        <p:nvSpPr>
          <p:cNvPr id="13" name="SC-7(4)">
            <a:extLst>
              <a:ext uri="{C183D7F6-B498-43B3-948B-1728B52AA6E4}">
                <adec:decorative xmlns:adec="http://schemas.microsoft.com/office/drawing/2017/decorative" val="1"/>
              </a:ext>
            </a:extLst>
          </p:cNvPr>
          <p:cNvSpPr/>
          <p:nvPr/>
        </p:nvSpPr>
        <p:spPr>
          <a:xfrm>
            <a:off x="548640" y="4800600"/>
            <a:ext cx="11109960" cy="1143000"/>
          </a:xfrm>
          <a:prstGeom prst="roundRect">
            <a:avLst>
              <a:gd name="adj" fmla="val 6400"/>
            </a:avLst>
          </a:prstGeom>
          <a:solidFill>
            <a:srgbClr val="FFFFFF"/>
          </a:solidFill>
          <a:ln w="12700">
            <a:solidFill>
              <a:srgbClr val="B45309"/>
            </a:solidFill>
            <a:prstDash val="solid"/>
          </a:ln>
          <a:effectLst>
            <a:outerShdw blurRad="76200" dist="25400" dir="5400000" algn="bl" rotWithShape="0">
              <a:srgbClr val="64748B">
                <a:alpha val="22000"/>
              </a:srgbClr>
            </a:outerShdw>
          </a:effectLst>
        </p:spPr>
      </p:sp>
      <p:sp>
        <p:nvSpPr>
          <p:cNvPr id="5" name="Icon FaListCheck">
            <a:extLst>
              <a:ext uri="{C183D7F6-B498-43B3-948B-1728B52AA6E4}">
                <adec:decorative xmlns:adec="http://schemas.microsoft.com/office/drawing/2017/decorative" val="1"/>
              </a:ext>
            </a:extLst>
          </p:cNvPr>
          <p:cNvSpPr/>
          <p:nvPr/>
        </p:nvSpPr>
        <p:spPr>
          <a:xfrm>
            <a:off x="777240" y="5006340"/>
            <a:ext cx="731520" cy="731520"/>
          </a:xfrm>
          <a:prstGeom prst="ellipse">
            <a:avLst/>
          </a:prstGeom>
          <a:solidFill>
            <a:srgbClr val="B45309"/>
          </a:solidFill>
          <a:ln w="12700">
            <a:solidFill>
              <a:srgbClr val="B45309"/>
            </a:solidFill>
            <a:prstDash val="solid"/>
          </a:ln>
        </p:spPr>
      </p:sp>
      <p:pic>
        <p:nvPicPr>
          <p:cNvPr id="15" name="Image 1">
            <a:extLst>
              <a:ext uri="{C183D7F6-B498-43B3-948B-1728B52AA6E4}">
                <adec:decorative xmlns:adec="http://schemas.microsoft.com/office/drawing/2017/decorative" val="1"/>
              </a:ext>
            </a:extLst>
          </p:cNvPr>
          <p:cNvPicPr>
            <a:picLocks noChangeAspect="1"/>
          </p:cNvPicPr>
          <p:nvPr/>
        </p:nvPicPr>
        <p:blipFill>
          <a:blip r:embed="rId6"/>
          <a:stretch>
            <a:fillRect/>
          </a:stretch>
        </p:blipFill>
        <p:spPr>
          <a:xfrm>
            <a:off x="952805" y="5181905"/>
            <a:ext cx="380390" cy="380390"/>
          </a:xfrm>
          <a:prstGeom prst="rect">
            <a:avLst/>
          </a:prstGeom>
        </p:spPr>
      </p:pic>
      <p:sp>
        <p:nvSpPr>
          <p:cNvPr id="16" name="SC-7(4) text"/>
          <p:cNvSpPr txBox="1"/>
          <p:nvPr/>
        </p:nvSpPr>
        <p:spPr>
          <a:xfrm>
            <a:off x="1737360" y="4846320"/>
            <a:ext cx="9738360" cy="1051560"/>
          </a:xfrm>
          <a:prstGeom prst="rect">
            <a:avLst/>
          </a:prstGeom>
          <a:noFill/>
          <a:ln/>
        </p:spPr>
        <p:txBody>
          <a:bodyPr wrap="square" lIns="0" tIns="0" rIns="0" bIns="0" rtlCol="0" anchor="ctr"/>
          <a:lstStyle/>
          <a:p>
            <a:pPr marL="0" indent="0">
              <a:buNone/>
            </a:pPr>
            <a:r>
              <a:rPr lang="en-US" sz="1650" b="1" dirty="0">
                <a:solidFill>
                  <a:srgbClr val="B45309"/>
                </a:solidFill>
              </a:rPr>
              <a:t>SC-7(4)(d) and (e): </a:t>
            </a:r>
            <a:r>
              <a:rPr lang="en-US" sz="1650" dirty="0">
                <a:solidFill>
                  <a:schemeClr val="tx2"/>
                </a:solidFill>
              </a:rPr>
              <a:t>each exception is documented with its mission need and duration, reviewed on a stated cadence and removed when the need lapses. Informed network routing isn't available to GCC Moderate tenants.</a:t>
            </a:r>
            <a:endParaRPr lang="en-US" sz="1650" dirty="0"/>
          </a:p>
        </p:txBody>
      </p:sp>
      <p:sp>
        <p:nvSpPr>
          <p:cNvPr id="17" name="Sources"/>
          <p:cNvSpPr txBox="1"/>
          <p:nvPr/>
        </p:nvSpPr>
        <p:spPr>
          <a:xfrm>
            <a:off x="548640" y="6053328"/>
            <a:ext cx="10424160" cy="292608"/>
          </a:xfrm>
          <a:prstGeom prst="rect">
            <a:avLst/>
          </a:prstGeom>
          <a:noFill/>
          <a:ln/>
        </p:spPr>
        <p:txBody>
          <a:bodyPr wrap="square" lIns="0" tIns="0" rIns="0" bIns="0" rtlCol="0" anchor="t"/>
          <a:lstStyle/>
          <a:p>
            <a:pPr marL="0" indent="0">
              <a:buNone/>
            </a:pPr>
            <a:r>
              <a:rPr lang="en-US" sz="1000" i="1" dirty="0">
                <a:solidFill>
                  <a:srgbClr val="64748B"/>
                </a:solidFill>
              </a:rPr>
              <a:t>Sources: Microsoft Learn — Microsoft 365 URLs and IP ranges, connectivity principles, tenant restrictions v2, informed network routing; NIST SP 800-53 SC-7(4). Book 09, Chapter 12; Appendix A.</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13</a:t>
            </a:fld>
            <a:endParaRPr lang="en-US"/>
          </a:p>
        </p:txBody>
      </p:sp>
      <p:pic>
        <p:nvPicPr>
          <p:cNvPr id="18" name="Narration" descr="Narration for this slide; captions available">
            <a:hlinkClick r:id="" action="ppaction://media"/>
            <a:extLst>
              <a:ext uri="{FF2B5EF4-FFF2-40B4-BE49-F238E27FC236}">
                <a16:creationId xmlns:a16="http://schemas.microsoft.com/office/drawing/2014/main" id="{ADA25220-7767-1FA4-E74E-82FB891087AD}"/>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FE44DF87-4264-4072-8B18-3E5EC8E4AB9D}" label="English (captions)" lang="en-US" r:embed="rId8"/>
                        </p173:trackLst>
                      </p173:tracksInfo>
                    </p:ext>
                  </p14:extLst>
                </p14:media>
              </p:ext>
            </p:extLst>
          </p:nvPr>
        </p:nvPicPr>
        <p:blipFill>
          <a:blip r:embed="rId7"/>
          <a:stretch>
            <a:fillRect/>
          </a:stretch>
        </p:blipFill>
        <p:spPr>
          <a:xfrm>
            <a:off x="127000" y="6350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70140"/>
    </mc:Choice>
    <mc:Fallback>
      <p:transition spd="slow" advTm="7014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69144" fill="hold"/>
                                        <p:tgtEl>
                                          <p:spTgt spid="18"/>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Governor before traffic, boundary before cutover</a:t>
            </a:r>
            <a:endParaRPr lang="en-US" sz="3000" dirty="0"/>
          </a:p>
        </p:txBody>
      </p:sp>
      <p:sp>
        <p:nvSpPr>
          <p:cNvPr id="3" name="Tag How">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45309"/>
          </a:solidFill>
          <a:ln w="12700">
            <a:solidFill>
              <a:srgbClr val="B45309"/>
            </a:solidFill>
            <a:prstDash val="solid"/>
          </a:ln>
        </p:spPr>
      </p:sp>
      <p:sp>
        <p:nvSpPr>
          <p:cNvPr id="4" name="Tag How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HOW</a:t>
            </a:r>
            <a:endParaRPr lang="en-US" sz="1100" dirty="0"/>
          </a:p>
        </p:txBody>
      </p:sp>
      <p:sp>
        <p:nvSpPr>
          <p:cNvPr id="5" name="Step 0">
            <a:extLst>
              <a:ext uri="{C183D7F6-B498-43B3-948B-1728B52AA6E4}">
                <adec:decorative xmlns:adec="http://schemas.microsoft.com/office/drawing/2017/decorative" val="1"/>
              </a:ext>
            </a:extLst>
          </p:cNvPr>
          <p:cNvSpPr/>
          <p:nvPr/>
        </p:nvSpPr>
        <p:spPr>
          <a:xfrm>
            <a:off x="548640" y="1371600"/>
            <a:ext cx="1755648" cy="1234440"/>
          </a:xfrm>
          <a:prstGeom prst="roundRect">
            <a:avLst>
              <a:gd name="adj" fmla="val 5926"/>
            </a:avLst>
          </a:prstGeom>
          <a:solidFill>
            <a:srgbClr val="FBE4E4"/>
          </a:solidFill>
          <a:ln w="12700">
            <a:solidFill>
              <a:srgbClr val="FBE4E4"/>
            </a:solidFill>
            <a:prstDash val="solid"/>
          </a:ln>
          <a:effectLst>
            <a:outerShdw blurRad="76200" dist="25400" dir="5400000" algn="bl" rotWithShape="0">
              <a:srgbClr val="64748B">
                <a:alpha val="22000"/>
              </a:srgbClr>
            </a:outerShdw>
          </a:effectLst>
        </p:spPr>
      </p:sp>
      <p:sp>
        <p:nvSpPr>
          <p:cNvPr id="6" name="Step 0 text"/>
          <p:cNvSpPr txBox="1"/>
          <p:nvPr/>
        </p:nvSpPr>
        <p:spPr>
          <a:xfrm>
            <a:off x="658368" y="1417320"/>
            <a:ext cx="1554480" cy="1143000"/>
          </a:xfrm>
          <a:prstGeom prst="rect">
            <a:avLst/>
          </a:prstGeom>
          <a:noFill/>
          <a:ln/>
        </p:spPr>
        <p:txBody>
          <a:bodyPr wrap="square" lIns="0" tIns="0" rIns="0" bIns="0" rtlCol="0" anchor="ctr"/>
          <a:lstStyle/>
          <a:p>
            <a:pPr marL="0" indent="0">
              <a:buNone/>
            </a:pPr>
            <a:r>
              <a:rPr lang="en-US" sz="2000" b="1" dirty="0">
                <a:solidFill>
                  <a:srgbClr val="B45309"/>
                </a:solidFill>
                <a:latin typeface="Cambria" pitchFamily="34" charset="0"/>
                <a:ea typeface="Cambria" pitchFamily="34" charset="-122"/>
                <a:cs typeface="Cambria" pitchFamily="34" charset="-120"/>
              </a:rPr>
              <a:t>0</a:t>
            </a:r>
            <a:endParaRPr lang="en-US" sz="1400" dirty="0"/>
          </a:p>
          <a:p>
            <a:pPr marL="0" indent="0">
              <a:buNone/>
            </a:pPr>
            <a:r>
              <a:rPr lang="en-US" sz="1300" b="1" dirty="0">
                <a:solidFill>
                  <a:srgbClr val="1F2A44"/>
                </a:solidFill>
              </a:rPr>
              <a:t>Secure the governor</a:t>
            </a:r>
            <a:endParaRPr lang="en-US" sz="1400" dirty="0"/>
          </a:p>
        </p:txBody>
      </p:sp>
      <p:sp>
        <p:nvSpPr>
          <p:cNvPr id="7" name="Step 1">
            <a:extLst>
              <a:ext uri="{C183D7F6-B498-43B3-948B-1728B52AA6E4}">
                <adec:decorative xmlns:adec="http://schemas.microsoft.com/office/drawing/2017/decorative" val="1"/>
              </a:ext>
            </a:extLst>
          </p:cNvPr>
          <p:cNvSpPr/>
          <p:nvPr/>
        </p:nvSpPr>
        <p:spPr>
          <a:xfrm>
            <a:off x="2418588" y="1371600"/>
            <a:ext cx="1755648" cy="1234440"/>
          </a:xfrm>
          <a:prstGeom prst="roundRect">
            <a:avLst>
              <a:gd name="adj" fmla="val 5926"/>
            </a:avLst>
          </a:prstGeom>
          <a:solidFill>
            <a:srgbClr val="E9EEF4"/>
          </a:solidFill>
          <a:ln w="12700">
            <a:solidFill>
              <a:srgbClr val="E9EEF4"/>
            </a:solidFill>
            <a:prstDash val="solid"/>
          </a:ln>
          <a:effectLst>
            <a:outerShdw blurRad="76200" dist="25400" dir="5400000" algn="bl" rotWithShape="0">
              <a:srgbClr val="64748B">
                <a:alpha val="22000"/>
              </a:srgbClr>
            </a:outerShdw>
          </a:effectLst>
        </p:spPr>
      </p:sp>
      <p:sp>
        <p:nvSpPr>
          <p:cNvPr id="8" name="Step 1 text"/>
          <p:cNvSpPr txBox="1"/>
          <p:nvPr/>
        </p:nvSpPr>
        <p:spPr>
          <a:xfrm>
            <a:off x="2528316" y="1417320"/>
            <a:ext cx="1554480" cy="1143000"/>
          </a:xfrm>
          <a:prstGeom prst="rect">
            <a:avLst/>
          </a:prstGeom>
          <a:noFill/>
          <a:ln/>
        </p:spPr>
        <p:txBody>
          <a:bodyPr wrap="square" lIns="0" tIns="0" rIns="0" bIns="0" rtlCol="0" anchor="ctr"/>
          <a:lstStyle/>
          <a:p>
            <a:pPr marL="0" indent="0">
              <a:buNone/>
            </a:pPr>
            <a:r>
              <a:rPr lang="en-US" sz="2000" b="1" dirty="0">
                <a:solidFill>
                  <a:srgbClr val="B45309"/>
                </a:solidFill>
                <a:latin typeface="Cambria" pitchFamily="34" charset="0"/>
                <a:ea typeface="Cambria" pitchFamily="34" charset="-122"/>
                <a:cs typeface="Cambria" pitchFamily="34" charset="-120"/>
              </a:rPr>
              <a:t>1</a:t>
            </a:r>
            <a:endParaRPr lang="en-US" sz="1400" dirty="0"/>
          </a:p>
          <a:p>
            <a:pPr marL="0" indent="0">
              <a:buNone/>
            </a:pPr>
            <a:r>
              <a:rPr lang="en-US" sz="1300" b="1" dirty="0">
                <a:solidFill>
                  <a:srgbClr val="1F2A44"/>
                </a:solidFill>
              </a:rPr>
              <a:t>Buy the pipe on measured physics</a:t>
            </a:r>
            <a:endParaRPr lang="en-US" sz="1400" dirty="0"/>
          </a:p>
        </p:txBody>
      </p:sp>
      <p:sp>
        <p:nvSpPr>
          <p:cNvPr id="9" name="Step 2">
            <a:extLst>
              <a:ext uri="{C183D7F6-B498-43B3-948B-1728B52AA6E4}">
                <adec:decorative xmlns:adec="http://schemas.microsoft.com/office/drawing/2017/decorative" val="1"/>
              </a:ext>
            </a:extLst>
          </p:cNvPr>
          <p:cNvSpPr/>
          <p:nvPr/>
        </p:nvSpPr>
        <p:spPr>
          <a:xfrm>
            <a:off x="4288536" y="1371600"/>
            <a:ext cx="1755648" cy="1234440"/>
          </a:xfrm>
          <a:prstGeom prst="roundRect">
            <a:avLst>
              <a:gd name="adj" fmla="val 5926"/>
            </a:avLst>
          </a:prstGeom>
          <a:solidFill>
            <a:srgbClr val="E4EAF4"/>
          </a:solidFill>
          <a:ln w="12700">
            <a:solidFill>
              <a:srgbClr val="E4EAF4"/>
            </a:solidFill>
            <a:prstDash val="solid"/>
          </a:ln>
          <a:effectLst>
            <a:outerShdw blurRad="76200" dist="25400" dir="5400000" algn="bl" rotWithShape="0">
              <a:srgbClr val="64748B">
                <a:alpha val="22000"/>
              </a:srgbClr>
            </a:outerShdw>
          </a:effectLst>
        </p:spPr>
      </p:sp>
      <p:sp>
        <p:nvSpPr>
          <p:cNvPr id="10" name="Step 2 text"/>
          <p:cNvSpPr txBox="1"/>
          <p:nvPr/>
        </p:nvSpPr>
        <p:spPr>
          <a:xfrm>
            <a:off x="4398264" y="1417320"/>
            <a:ext cx="1554480" cy="1143000"/>
          </a:xfrm>
          <a:prstGeom prst="rect">
            <a:avLst/>
          </a:prstGeom>
          <a:noFill/>
          <a:ln/>
        </p:spPr>
        <p:txBody>
          <a:bodyPr wrap="square" lIns="0" tIns="0" rIns="0" bIns="0" rtlCol="0" anchor="ctr"/>
          <a:lstStyle/>
          <a:p>
            <a:pPr marL="0" indent="0">
              <a:buNone/>
            </a:pPr>
            <a:r>
              <a:rPr lang="en-US" sz="2000" b="1" dirty="0">
                <a:solidFill>
                  <a:srgbClr val="B45309"/>
                </a:solidFill>
                <a:latin typeface="Cambria" pitchFamily="34" charset="0"/>
                <a:ea typeface="Cambria" pitchFamily="34" charset="-122"/>
                <a:cs typeface="Cambria" pitchFamily="34" charset="-120"/>
              </a:rPr>
              <a:t>2</a:t>
            </a:r>
            <a:endParaRPr lang="en-US" sz="1400" dirty="0"/>
          </a:p>
          <a:p>
            <a:pPr marL="0" indent="0">
              <a:buNone/>
            </a:pPr>
            <a:r>
              <a:rPr lang="en-US" sz="1300" b="1" dirty="0">
                <a:solidFill>
                  <a:srgbClr val="1F2A44"/>
                </a:solidFill>
              </a:rPr>
              <a:t>Governor live before traffic</a:t>
            </a:r>
            <a:endParaRPr lang="en-US" sz="1400" dirty="0"/>
          </a:p>
        </p:txBody>
      </p:sp>
      <p:sp>
        <p:nvSpPr>
          <p:cNvPr id="11" name="Step 3">
            <a:extLst>
              <a:ext uri="{C183D7F6-B498-43B3-948B-1728B52AA6E4}">
                <adec:decorative xmlns:adec="http://schemas.microsoft.com/office/drawing/2017/decorative" val="1"/>
              </a:ext>
            </a:extLst>
          </p:cNvPr>
          <p:cNvSpPr/>
          <p:nvPr/>
        </p:nvSpPr>
        <p:spPr>
          <a:xfrm>
            <a:off x="6158484" y="1371600"/>
            <a:ext cx="1755648" cy="1234440"/>
          </a:xfrm>
          <a:prstGeom prst="roundRect">
            <a:avLst>
              <a:gd name="adj" fmla="val 5926"/>
            </a:avLst>
          </a:prstGeom>
          <a:solidFill>
            <a:srgbClr val="E4EAF4"/>
          </a:solidFill>
          <a:ln w="12700">
            <a:solidFill>
              <a:srgbClr val="E4EAF4"/>
            </a:solidFill>
            <a:prstDash val="solid"/>
          </a:ln>
          <a:effectLst>
            <a:outerShdw blurRad="76200" dist="25400" dir="5400000" algn="bl" rotWithShape="0">
              <a:srgbClr val="64748B">
                <a:alpha val="22000"/>
              </a:srgbClr>
            </a:outerShdw>
          </a:effectLst>
        </p:spPr>
      </p:sp>
      <p:sp>
        <p:nvSpPr>
          <p:cNvPr id="12" name="Step 3 text"/>
          <p:cNvSpPr txBox="1"/>
          <p:nvPr/>
        </p:nvSpPr>
        <p:spPr>
          <a:xfrm>
            <a:off x="6268212" y="1417320"/>
            <a:ext cx="1554480" cy="1143000"/>
          </a:xfrm>
          <a:prstGeom prst="rect">
            <a:avLst/>
          </a:prstGeom>
          <a:noFill/>
          <a:ln/>
        </p:spPr>
        <p:txBody>
          <a:bodyPr wrap="square" lIns="0" tIns="0" rIns="0" bIns="0" rtlCol="0" anchor="ctr"/>
          <a:lstStyle/>
          <a:p>
            <a:pPr marL="0" indent="0">
              <a:buNone/>
            </a:pPr>
            <a:r>
              <a:rPr lang="en-US" sz="2000" b="1" dirty="0">
                <a:solidFill>
                  <a:srgbClr val="B45309"/>
                </a:solidFill>
                <a:latin typeface="Cambria" pitchFamily="34" charset="0"/>
                <a:ea typeface="Cambria" pitchFamily="34" charset="-122"/>
                <a:cs typeface="Cambria" pitchFamily="34" charset="-120"/>
              </a:rPr>
              <a:t>3</a:t>
            </a:r>
            <a:endParaRPr lang="en-US" sz="1400" dirty="0"/>
          </a:p>
          <a:p>
            <a:pPr marL="0" indent="0">
              <a:buNone/>
            </a:pPr>
            <a:r>
              <a:rPr lang="en-US" sz="1300" b="1" dirty="0">
                <a:solidFill>
                  <a:srgbClr val="1F2A44"/>
                </a:solidFill>
              </a:rPr>
              <a:t>Boundary change before cutover</a:t>
            </a:r>
            <a:endParaRPr lang="en-US" sz="1400" dirty="0"/>
          </a:p>
        </p:txBody>
      </p:sp>
      <p:sp>
        <p:nvSpPr>
          <p:cNvPr id="13" name="Step 4">
            <a:extLst>
              <a:ext uri="{C183D7F6-B498-43B3-948B-1728B52AA6E4}">
                <adec:decorative xmlns:adec="http://schemas.microsoft.com/office/drawing/2017/decorative" val="1"/>
              </a:ext>
            </a:extLst>
          </p:cNvPr>
          <p:cNvSpPr/>
          <p:nvPr/>
        </p:nvSpPr>
        <p:spPr>
          <a:xfrm>
            <a:off x="8028432" y="1371600"/>
            <a:ext cx="1755648" cy="1234440"/>
          </a:xfrm>
          <a:prstGeom prst="roundRect">
            <a:avLst>
              <a:gd name="adj" fmla="val 5926"/>
            </a:avLst>
          </a:prstGeom>
          <a:solidFill>
            <a:srgbClr val="E9EEF4"/>
          </a:solidFill>
          <a:ln w="12700">
            <a:solidFill>
              <a:srgbClr val="E9EEF4"/>
            </a:solidFill>
            <a:prstDash val="solid"/>
          </a:ln>
          <a:effectLst>
            <a:outerShdw blurRad="76200" dist="25400" dir="5400000" algn="bl" rotWithShape="0">
              <a:srgbClr val="64748B">
                <a:alpha val="22000"/>
              </a:srgbClr>
            </a:outerShdw>
          </a:effectLst>
        </p:spPr>
      </p:sp>
      <p:sp>
        <p:nvSpPr>
          <p:cNvPr id="14" name="Step 4 text"/>
          <p:cNvSpPr txBox="1"/>
          <p:nvPr/>
        </p:nvSpPr>
        <p:spPr>
          <a:xfrm>
            <a:off x="8138160" y="1417320"/>
            <a:ext cx="1554480" cy="1143000"/>
          </a:xfrm>
          <a:prstGeom prst="rect">
            <a:avLst/>
          </a:prstGeom>
          <a:noFill/>
          <a:ln/>
        </p:spPr>
        <p:txBody>
          <a:bodyPr wrap="square" lIns="0" tIns="0" rIns="0" bIns="0" rtlCol="0" anchor="ctr"/>
          <a:lstStyle/>
          <a:p>
            <a:pPr marL="0" indent="0">
              <a:buNone/>
            </a:pPr>
            <a:r>
              <a:rPr lang="en-US" sz="2000" b="1" dirty="0">
                <a:solidFill>
                  <a:srgbClr val="B45309"/>
                </a:solidFill>
                <a:latin typeface="Cambria" pitchFamily="34" charset="0"/>
                <a:ea typeface="Cambria" pitchFamily="34" charset="-122"/>
                <a:cs typeface="Cambria" pitchFamily="34" charset="-120"/>
              </a:rPr>
              <a:t>4</a:t>
            </a:r>
            <a:endParaRPr lang="en-US" sz="1400" dirty="0"/>
          </a:p>
          <a:p>
            <a:pPr marL="0" indent="0">
              <a:buNone/>
            </a:pPr>
            <a:r>
              <a:rPr lang="en-US" sz="1300" b="1" dirty="0">
                <a:solidFill>
                  <a:srgbClr val="1F2A44"/>
                </a:solidFill>
              </a:rPr>
              <a:t>Microsoft 365 by its own exception</a:t>
            </a:r>
            <a:endParaRPr lang="en-US" sz="1400" dirty="0"/>
          </a:p>
        </p:txBody>
      </p:sp>
      <p:sp>
        <p:nvSpPr>
          <p:cNvPr id="15" name="Step 5">
            <a:extLst>
              <a:ext uri="{C183D7F6-B498-43B3-948B-1728B52AA6E4}">
                <adec:decorative xmlns:adec="http://schemas.microsoft.com/office/drawing/2017/decorative" val="1"/>
              </a:ext>
            </a:extLst>
          </p:cNvPr>
          <p:cNvSpPr/>
          <p:nvPr/>
        </p:nvSpPr>
        <p:spPr>
          <a:xfrm>
            <a:off x="9898380" y="1371600"/>
            <a:ext cx="1755648" cy="1234440"/>
          </a:xfrm>
          <a:prstGeom prst="roundRect">
            <a:avLst>
              <a:gd name="adj" fmla="val 5926"/>
            </a:avLst>
          </a:prstGeom>
          <a:solidFill>
            <a:srgbClr val="E9EEF4"/>
          </a:solidFill>
          <a:ln w="12700">
            <a:solidFill>
              <a:srgbClr val="E9EEF4"/>
            </a:solidFill>
            <a:prstDash val="solid"/>
          </a:ln>
          <a:effectLst>
            <a:outerShdw blurRad="76200" dist="25400" dir="5400000" algn="bl" rotWithShape="0">
              <a:srgbClr val="64748B">
                <a:alpha val="22000"/>
              </a:srgbClr>
            </a:outerShdw>
          </a:effectLst>
        </p:spPr>
      </p:sp>
      <p:sp>
        <p:nvSpPr>
          <p:cNvPr id="16" name="Step 5 text"/>
          <p:cNvSpPr txBox="1"/>
          <p:nvPr/>
        </p:nvSpPr>
        <p:spPr>
          <a:xfrm>
            <a:off x="10008108" y="1417320"/>
            <a:ext cx="1554480" cy="1143000"/>
          </a:xfrm>
          <a:prstGeom prst="rect">
            <a:avLst/>
          </a:prstGeom>
          <a:noFill/>
          <a:ln/>
        </p:spPr>
        <p:txBody>
          <a:bodyPr wrap="square" lIns="0" tIns="0" rIns="0" bIns="0" rtlCol="0" anchor="ctr"/>
          <a:lstStyle/>
          <a:p>
            <a:pPr marL="0" indent="0">
              <a:buNone/>
            </a:pPr>
            <a:r>
              <a:rPr lang="en-US" sz="2000" b="1" dirty="0">
                <a:solidFill>
                  <a:srgbClr val="B45309"/>
                </a:solidFill>
                <a:latin typeface="Cambria" pitchFamily="34" charset="0"/>
                <a:ea typeface="Cambria" pitchFamily="34" charset="-122"/>
                <a:cs typeface="Cambria" pitchFamily="34" charset="-120"/>
              </a:rPr>
              <a:t>5</a:t>
            </a:r>
            <a:endParaRPr lang="en-US" sz="1400" dirty="0"/>
          </a:p>
          <a:p>
            <a:pPr marL="0" indent="0">
              <a:buNone/>
            </a:pPr>
            <a:r>
              <a:rPr lang="en-US" sz="1300" b="1" dirty="0">
                <a:solidFill>
                  <a:srgbClr val="1F2A44"/>
                </a:solidFill>
              </a:rPr>
              <a:t>Evidence; CISA parity first</a:t>
            </a:r>
            <a:endParaRPr lang="en-US" sz="1400" dirty="0"/>
          </a:p>
        </p:txBody>
      </p:sp>
      <p:sp>
        <p:nvSpPr>
          <p:cNvPr id="17" name="Panel 1">
            <a:extLst>
              <a:ext uri="{C183D7F6-B498-43B3-948B-1728B52AA6E4}">
                <adec:decorative xmlns:adec="http://schemas.microsoft.com/office/drawing/2017/decorative" val="1"/>
              </a:ext>
            </a:extLst>
          </p:cNvPr>
          <p:cNvSpPr/>
          <p:nvPr/>
        </p:nvSpPr>
        <p:spPr>
          <a:xfrm>
            <a:off x="548640" y="2788920"/>
            <a:ext cx="5486400" cy="1828800"/>
          </a:xfrm>
          <a:prstGeom prst="roundRect">
            <a:avLst>
              <a:gd name="adj" fmla="val 4000"/>
            </a:avLst>
          </a:prstGeom>
          <a:solidFill>
            <a:srgbClr val="FBE4E4"/>
          </a:solidFill>
          <a:ln w="12700">
            <a:solidFill>
              <a:srgbClr val="FBE4E4"/>
            </a:solidFill>
            <a:prstDash val="solid"/>
          </a:ln>
          <a:effectLst>
            <a:outerShdw blurRad="76200" dist="25400" dir="5400000" algn="bl" rotWithShape="0">
              <a:srgbClr val="64748B">
                <a:alpha val="22000"/>
              </a:srgbClr>
            </a:outerShdw>
          </a:effectLst>
        </p:spPr>
      </p:sp>
      <p:sp>
        <p:nvSpPr>
          <p:cNvPr id="18" name="Icon FaArrowsRotate">
            <a:extLst>
              <a:ext uri="{C183D7F6-B498-43B3-948B-1728B52AA6E4}">
                <adec:decorative xmlns:adec="http://schemas.microsoft.com/office/drawing/2017/decorative" val="1"/>
              </a:ext>
            </a:extLst>
          </p:cNvPr>
          <p:cNvSpPr/>
          <p:nvPr/>
        </p:nvSpPr>
        <p:spPr>
          <a:xfrm>
            <a:off x="731520" y="2862072"/>
            <a:ext cx="512064" cy="512064"/>
          </a:xfrm>
          <a:prstGeom prst="ellipse">
            <a:avLst/>
          </a:prstGeom>
          <a:solidFill>
            <a:srgbClr val="B91C1C"/>
          </a:solidFill>
          <a:ln w="12700">
            <a:solidFill>
              <a:srgbClr val="B91C1C"/>
            </a:solidFill>
            <a:prstDash val="solid"/>
          </a:ln>
        </p:spPr>
      </p:sp>
      <p:pic>
        <p:nvPicPr>
          <p:cNvPr id="19" name="Image 0">
            <a:extLst>
              <a:ext uri="{C183D7F6-B498-43B3-948B-1728B52AA6E4}">
                <adec:decorative xmlns:adec="http://schemas.microsoft.com/office/drawing/2017/decorative" val="1"/>
              </a:ext>
            </a:extLst>
          </p:cNvPr>
          <p:cNvPicPr>
            <a:picLocks noChangeAspect="1"/>
          </p:cNvPicPr>
          <p:nvPr/>
        </p:nvPicPr>
        <p:blipFill>
          <a:blip r:embed="rId5"/>
          <a:stretch>
            <a:fillRect/>
          </a:stretch>
        </p:blipFill>
        <p:spPr>
          <a:xfrm>
            <a:off x="854415" y="2984967"/>
            <a:ext cx="266273" cy="266273"/>
          </a:xfrm>
          <a:prstGeom prst="rect">
            <a:avLst/>
          </a:prstGeom>
        </p:spPr>
      </p:pic>
      <p:sp>
        <p:nvSpPr>
          <p:cNvPr id="20" name="Panel head 1"/>
          <p:cNvSpPr txBox="1"/>
          <p:nvPr/>
        </p:nvSpPr>
        <p:spPr>
          <a:xfrm>
            <a:off x="1417320" y="2862072"/>
            <a:ext cx="4480560" cy="512064"/>
          </a:xfrm>
          <a:prstGeom prst="rect">
            <a:avLst/>
          </a:prstGeom>
          <a:noFill/>
          <a:ln/>
        </p:spPr>
        <p:txBody>
          <a:bodyPr wrap="square" lIns="0" tIns="0" rIns="0" bIns="0" rtlCol="0" anchor="ctr"/>
          <a:lstStyle/>
          <a:p>
            <a:pPr marL="0" indent="0">
              <a:buNone/>
            </a:pPr>
            <a:r>
              <a:rPr lang="en-US" sz="1700" b="1" dirty="0">
                <a:solidFill>
                  <a:srgbClr val="B91C1C"/>
                </a:solidFill>
                <a:latin typeface="Cambria" pitchFamily="34" charset="0"/>
                <a:ea typeface="Cambria" pitchFamily="34" charset="-122"/>
                <a:cs typeface="Cambria" pitchFamily="34" charset="-120"/>
              </a:rPr>
              <a:t>Phase inversion</a:t>
            </a:r>
            <a:endParaRPr lang="en-US" sz="1700" dirty="0"/>
          </a:p>
        </p:txBody>
      </p:sp>
      <p:sp>
        <p:nvSpPr>
          <p:cNvPr id="21" name="Panel text 1"/>
          <p:cNvSpPr txBox="1"/>
          <p:nvPr/>
        </p:nvSpPr>
        <p:spPr>
          <a:xfrm>
            <a:off x="777240" y="3429000"/>
            <a:ext cx="5120640" cy="1161288"/>
          </a:xfrm>
          <a:prstGeom prst="rect">
            <a:avLst/>
          </a:prstGeom>
          <a:noFill/>
          <a:ln/>
        </p:spPr>
        <p:txBody>
          <a:bodyPr wrap="square" lIns="0" tIns="0" rIns="0" bIns="0" rtlCol="0" anchor="t"/>
          <a:lstStyle/>
          <a:p>
            <a:pPr marL="342900" indent="-342900">
              <a:spcAft>
                <a:spcPts val="200"/>
              </a:spcAft>
              <a:buSzPct val="100000"/>
              <a:buChar char="•"/>
            </a:pPr>
            <a:r>
              <a:rPr lang="en-US" sz="1300" dirty="0">
                <a:solidFill>
                  <a:schemeClr val="tx2"/>
                </a:solidFill>
              </a:rPr>
              <a:t>Cloud migrates before transport is measured</a:t>
            </a:r>
            <a:endParaRPr lang="en-US" sz="1400" dirty="0"/>
          </a:p>
          <a:p>
            <a:pPr marL="342900" indent="-342900">
              <a:spcAft>
                <a:spcPts val="200"/>
              </a:spcAft>
              <a:buSzPct val="100000"/>
              <a:buChar char="•"/>
            </a:pPr>
            <a:r>
              <a:rPr lang="en-US" sz="1300" dirty="0">
                <a:solidFill>
                  <a:schemeClr val="tx2"/>
                </a:solidFill>
              </a:rPr>
              <a:t>Slowness is blamed on the cloud</a:t>
            </a:r>
            <a:endParaRPr lang="en-US" sz="1400" dirty="0"/>
          </a:p>
          <a:p>
            <a:pPr marL="342900" indent="-342900">
              <a:spcAft>
                <a:spcPts val="200"/>
              </a:spcAft>
              <a:buSzPct val="100000"/>
              <a:buChar char="•"/>
            </a:pPr>
            <a:r>
              <a:rPr lang="en-US" sz="1300" dirty="0">
                <a:solidFill>
                  <a:schemeClr val="tx2"/>
                </a:solidFill>
              </a:rPr>
              <a:t>Remedies raise cloud spend</a:t>
            </a:r>
            <a:endParaRPr lang="en-US" sz="1400" dirty="0"/>
          </a:p>
          <a:p>
            <a:pPr marL="342900" indent="-342900">
              <a:spcAft>
                <a:spcPts val="200"/>
              </a:spcAft>
              <a:buSzPct val="100000"/>
              <a:buChar char="•"/>
            </a:pPr>
            <a:r>
              <a:rPr lang="en-US" sz="1300" dirty="0">
                <a:solidFill>
                  <a:schemeClr val="tx2"/>
                </a:solidFill>
              </a:rPr>
              <a:t>The book's inference, labeled as one</a:t>
            </a:r>
            <a:endParaRPr lang="en-US" sz="1400" dirty="0"/>
          </a:p>
        </p:txBody>
      </p:sp>
      <p:sp>
        <p:nvSpPr>
          <p:cNvPr id="22" name="Panel 2">
            <a:extLst>
              <a:ext uri="{C183D7F6-B498-43B3-948B-1728B52AA6E4}">
                <adec:decorative xmlns:adec="http://schemas.microsoft.com/office/drawing/2017/decorative" val="1"/>
              </a:ext>
            </a:extLst>
          </p:cNvPr>
          <p:cNvSpPr/>
          <p:nvPr/>
        </p:nvSpPr>
        <p:spPr>
          <a:xfrm>
            <a:off x="6172200" y="2788920"/>
            <a:ext cx="5486400" cy="1828800"/>
          </a:xfrm>
          <a:prstGeom prst="roundRect">
            <a:avLst>
              <a:gd name="adj" fmla="val 4000"/>
            </a:avLst>
          </a:prstGeom>
          <a:solidFill>
            <a:srgbClr val="DCEFEC"/>
          </a:solidFill>
          <a:ln w="12700">
            <a:solidFill>
              <a:srgbClr val="DCEFEC"/>
            </a:solidFill>
            <a:prstDash val="solid"/>
          </a:ln>
          <a:effectLst>
            <a:outerShdw blurRad="76200" dist="25400" dir="5400000" algn="bl" rotWithShape="0">
              <a:srgbClr val="64748B">
                <a:alpha val="22000"/>
              </a:srgbClr>
            </a:outerShdw>
          </a:effectLst>
        </p:spPr>
      </p:sp>
      <p:sp>
        <p:nvSpPr>
          <p:cNvPr id="23" name="Icon FaChartLine">
            <a:extLst>
              <a:ext uri="{C183D7F6-B498-43B3-948B-1728B52AA6E4}">
                <adec:decorative xmlns:adec="http://schemas.microsoft.com/office/drawing/2017/decorative" val="1"/>
              </a:ext>
            </a:extLst>
          </p:cNvPr>
          <p:cNvSpPr/>
          <p:nvPr/>
        </p:nvSpPr>
        <p:spPr>
          <a:xfrm>
            <a:off x="6355080" y="2862072"/>
            <a:ext cx="512064" cy="512064"/>
          </a:xfrm>
          <a:prstGeom prst="ellipse">
            <a:avLst/>
          </a:prstGeom>
          <a:solidFill>
            <a:srgbClr val="0F766E"/>
          </a:solidFill>
          <a:ln w="12700">
            <a:solidFill>
              <a:srgbClr val="0F766E"/>
            </a:solidFill>
            <a:prstDash val="solid"/>
          </a:ln>
        </p:spPr>
      </p:sp>
      <p:pic>
        <p:nvPicPr>
          <p:cNvPr id="24" name="Image 1">
            <a:extLst>
              <a:ext uri="{C183D7F6-B498-43B3-948B-1728B52AA6E4}">
                <adec:decorative xmlns:adec="http://schemas.microsoft.com/office/drawing/2017/decorative" val="1"/>
              </a:ext>
            </a:extLst>
          </p:cNvPr>
          <p:cNvPicPr>
            <a:picLocks noChangeAspect="1"/>
          </p:cNvPicPr>
          <p:nvPr/>
        </p:nvPicPr>
        <p:blipFill>
          <a:blip r:embed="rId6"/>
          <a:stretch>
            <a:fillRect/>
          </a:stretch>
        </p:blipFill>
        <p:spPr>
          <a:xfrm>
            <a:off x="6477975" y="2984967"/>
            <a:ext cx="266273" cy="266273"/>
          </a:xfrm>
          <a:prstGeom prst="rect">
            <a:avLst/>
          </a:prstGeom>
        </p:spPr>
      </p:pic>
      <p:sp>
        <p:nvSpPr>
          <p:cNvPr id="25" name="Panel head 2"/>
          <p:cNvSpPr txBox="1"/>
          <p:nvPr/>
        </p:nvSpPr>
        <p:spPr>
          <a:xfrm>
            <a:off x="7040880" y="2862072"/>
            <a:ext cx="4480560" cy="512064"/>
          </a:xfrm>
          <a:prstGeom prst="rect">
            <a:avLst/>
          </a:prstGeom>
          <a:noFill/>
          <a:ln/>
        </p:spPr>
        <p:txBody>
          <a:bodyPr wrap="square" lIns="0" tIns="0" rIns="0" bIns="0" rtlCol="0" anchor="ctr"/>
          <a:lstStyle/>
          <a:p>
            <a:pPr marL="0" indent="0">
              <a:buNone/>
            </a:pPr>
            <a:r>
              <a:rPr lang="en-US" sz="1700" b="1" dirty="0">
                <a:solidFill>
                  <a:srgbClr val="0F766E"/>
                </a:solidFill>
                <a:latin typeface="Cambria" pitchFamily="34" charset="0"/>
                <a:ea typeface="Cambria" pitchFamily="34" charset="-122"/>
                <a:cs typeface="Cambria" pitchFamily="34" charset="-120"/>
              </a:rPr>
              <a:t>Confirm it in your estate</a:t>
            </a:r>
            <a:endParaRPr lang="en-US" sz="1700" dirty="0"/>
          </a:p>
        </p:txBody>
      </p:sp>
      <p:sp>
        <p:nvSpPr>
          <p:cNvPr id="26" name="Panel text 2"/>
          <p:cNvSpPr txBox="1"/>
          <p:nvPr/>
        </p:nvSpPr>
        <p:spPr>
          <a:xfrm>
            <a:off x="6400800" y="3429000"/>
            <a:ext cx="5120640" cy="1161288"/>
          </a:xfrm>
          <a:prstGeom prst="rect">
            <a:avLst/>
          </a:prstGeom>
          <a:noFill/>
          <a:ln/>
        </p:spPr>
        <p:txBody>
          <a:bodyPr wrap="square" lIns="0" tIns="0" rIns="0" bIns="0" rtlCol="0" anchor="t"/>
          <a:lstStyle/>
          <a:p>
            <a:pPr marL="342900" indent="-342900">
              <a:spcAft>
                <a:spcPts val="200"/>
              </a:spcAft>
              <a:buSzPct val="100000"/>
              <a:buChar char="•"/>
            </a:pPr>
            <a:r>
              <a:rPr lang="en-US" sz="1300" dirty="0">
                <a:solidFill>
                  <a:schemeClr val="tx2"/>
                </a:solidFill>
              </a:rPr>
              <a:t>Two comparable branches, 30 days</a:t>
            </a:r>
            <a:endParaRPr lang="en-US" sz="1400" dirty="0"/>
          </a:p>
          <a:p>
            <a:pPr marL="342900" indent="-342900">
              <a:spcAft>
                <a:spcPts val="200"/>
              </a:spcAft>
              <a:buSzPct val="100000"/>
              <a:buChar char="•"/>
            </a:pPr>
            <a:r>
              <a:rPr lang="en-US" sz="1300" dirty="0">
                <a:solidFill>
                  <a:schemeClr val="tx2"/>
                </a:solidFill>
              </a:rPr>
              <a:t>Change one; 30 more days</a:t>
            </a:r>
            <a:endParaRPr lang="en-US" sz="1400" dirty="0"/>
          </a:p>
          <a:p>
            <a:pPr marL="342900" indent="-342900">
              <a:spcAft>
                <a:spcPts val="200"/>
              </a:spcAft>
              <a:buSzPct val="100000"/>
              <a:buChar char="•"/>
            </a:pPr>
            <a:r>
              <a:rPr lang="en-US" sz="1300" dirty="0">
                <a:solidFill>
                  <a:schemeClr val="tx2"/>
                </a:solidFill>
              </a:rPr>
              <a:t>Difference in differences: the effect</a:t>
            </a:r>
            <a:endParaRPr lang="en-US" sz="1400" dirty="0"/>
          </a:p>
          <a:p>
            <a:pPr marL="342900" indent="-342900">
              <a:spcAft>
                <a:spcPts val="200"/>
              </a:spcAft>
              <a:buSzPct val="100000"/>
              <a:buChar char="•"/>
            </a:pPr>
            <a:r>
              <a:rPr lang="en-US" sz="1300" dirty="0">
                <a:solidFill>
                  <a:schemeClr val="tx2"/>
                </a:solidFill>
              </a:rPr>
              <a:t>Agency-specific and defensible</a:t>
            </a:r>
            <a:endParaRPr lang="en-US" sz="1400" dirty="0"/>
          </a:p>
        </p:txBody>
      </p:sp>
      <p:sp>
        <p:nvSpPr>
          <p:cNvPr id="27" name="Stop">
            <a:extLst>
              <a:ext uri="{C183D7F6-B498-43B3-948B-1728B52AA6E4}">
                <adec:decorative xmlns:adec="http://schemas.microsoft.com/office/drawing/2017/decorative" val="1"/>
              </a:ext>
            </a:extLst>
          </p:cNvPr>
          <p:cNvSpPr/>
          <p:nvPr/>
        </p:nvSpPr>
        <p:spPr>
          <a:xfrm>
            <a:off x="548640" y="4800600"/>
            <a:ext cx="11109960" cy="1143000"/>
          </a:xfrm>
          <a:prstGeom prst="roundRect">
            <a:avLst>
              <a:gd name="adj" fmla="val 6400"/>
            </a:avLst>
          </a:prstGeom>
          <a:solidFill>
            <a:srgbClr val="FFFFFF"/>
          </a:solidFill>
          <a:ln w="12700">
            <a:solidFill>
              <a:srgbClr val="B45309"/>
            </a:solidFill>
            <a:prstDash val="solid"/>
          </a:ln>
          <a:effectLst>
            <a:outerShdw blurRad="76200" dist="25400" dir="5400000" algn="bl" rotWithShape="0">
              <a:srgbClr val="64748B">
                <a:alpha val="22000"/>
              </a:srgbClr>
            </a:outerShdw>
          </a:effectLst>
        </p:spPr>
      </p:sp>
      <p:sp>
        <p:nvSpPr>
          <p:cNvPr id="28" name="Icon FaTriangleExclamation">
            <a:extLst>
              <a:ext uri="{C183D7F6-B498-43B3-948B-1728B52AA6E4}">
                <adec:decorative xmlns:adec="http://schemas.microsoft.com/office/drawing/2017/decorative" val="1"/>
              </a:ext>
            </a:extLst>
          </p:cNvPr>
          <p:cNvSpPr/>
          <p:nvPr/>
        </p:nvSpPr>
        <p:spPr>
          <a:xfrm>
            <a:off x="777240" y="5006340"/>
            <a:ext cx="731520" cy="731520"/>
          </a:xfrm>
          <a:prstGeom prst="ellipse">
            <a:avLst/>
          </a:prstGeom>
          <a:solidFill>
            <a:srgbClr val="B45309"/>
          </a:solidFill>
          <a:ln w="12700">
            <a:solidFill>
              <a:srgbClr val="B45309"/>
            </a:solidFill>
            <a:prstDash val="solid"/>
          </a:ln>
        </p:spPr>
      </p:sp>
      <p:pic>
        <p:nvPicPr>
          <p:cNvPr id="29" name="Image 2">
            <a:extLst>
              <a:ext uri="{C183D7F6-B498-43B3-948B-1728B52AA6E4}">
                <adec:decorative xmlns:adec="http://schemas.microsoft.com/office/drawing/2017/decorative" val="1"/>
              </a:ext>
            </a:extLst>
          </p:cNvPr>
          <p:cNvPicPr>
            <a:picLocks noChangeAspect="1"/>
          </p:cNvPicPr>
          <p:nvPr/>
        </p:nvPicPr>
        <p:blipFill>
          <a:blip r:embed="rId7"/>
          <a:stretch>
            <a:fillRect/>
          </a:stretch>
        </p:blipFill>
        <p:spPr>
          <a:xfrm>
            <a:off x="952805" y="5181905"/>
            <a:ext cx="380390" cy="380390"/>
          </a:xfrm>
          <a:prstGeom prst="rect">
            <a:avLst/>
          </a:prstGeom>
        </p:spPr>
      </p:pic>
      <p:sp>
        <p:nvSpPr>
          <p:cNvPr id="30" name="Stop text"/>
          <p:cNvSpPr txBox="1"/>
          <p:nvPr/>
        </p:nvSpPr>
        <p:spPr>
          <a:xfrm>
            <a:off x="1737360" y="4846320"/>
            <a:ext cx="9738360" cy="1051560"/>
          </a:xfrm>
          <a:prstGeom prst="rect">
            <a:avLst/>
          </a:prstGeom>
          <a:noFill/>
          <a:ln/>
        </p:spPr>
        <p:txBody>
          <a:bodyPr wrap="square" lIns="0" tIns="0" rIns="0" bIns="0" rtlCol="0" anchor="ctr"/>
          <a:lstStyle/>
          <a:p>
            <a:pPr marL="0" indent="0">
              <a:buNone/>
            </a:pPr>
            <a:r>
              <a:rPr lang="en-US" sz="1650" b="1" dirty="0">
                <a:solidFill>
                  <a:srgbClr val="B45309"/>
                </a:solidFill>
              </a:rPr>
              <a:t>An engineering dependency, not a mandate: </a:t>
            </a:r>
            <a:r>
              <a:rPr lang="en-US" sz="1650" dirty="0">
                <a:solidFill>
                  <a:schemeClr val="tx2"/>
                </a:solidFill>
              </a:rPr>
              <a:t>no memo sets this order, which is why it survives review. Price your own circuits, and put only measured figures, with their method, in the business case.</a:t>
            </a:r>
            <a:endParaRPr lang="en-US" sz="1650" dirty="0"/>
          </a:p>
        </p:txBody>
      </p:sp>
      <p:sp>
        <p:nvSpPr>
          <p:cNvPr id="31" name="Sources"/>
          <p:cNvSpPr txBox="1"/>
          <p:nvPr/>
        </p:nvSpPr>
        <p:spPr>
          <a:xfrm>
            <a:off x="548640" y="6053328"/>
            <a:ext cx="10424160" cy="292608"/>
          </a:xfrm>
          <a:prstGeom prst="rect">
            <a:avLst/>
          </a:prstGeom>
          <a:noFill/>
          <a:ln/>
        </p:spPr>
        <p:txBody>
          <a:bodyPr wrap="square" lIns="0" tIns="0" rIns="0" bIns="0" rtlCol="0" anchor="t"/>
          <a:lstStyle/>
          <a:p>
            <a:pPr marL="0" indent="0">
              <a:buNone/>
            </a:pPr>
            <a:r>
              <a:rPr lang="en-US" sz="1000" i="1" dirty="0">
                <a:solidFill>
                  <a:srgbClr val="64748B"/>
                </a:solidFill>
              </a:rPr>
              <a:t>Sources: NIST SP 800-37 Rev. 2, SP 800-53 SC-7(4); GAO-19-58, GAO-22-106195, GAO-26-107530; CISA TIC Program Guidebook; GSA EIS Public Pricer. Book 09, Chapter 13.</a:t>
            </a:r>
            <a:endParaRPr lang="en-US" sz="1000" dirty="0"/>
          </a:p>
        </p:txBody>
      </p:sp>
      <p:sp>
        <p:nvSpPr>
          <p:cNvPr id="32"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14</a:t>
            </a:fld>
            <a:endParaRPr lang="en-US"/>
          </a:p>
        </p:txBody>
      </p:sp>
      <p:pic>
        <p:nvPicPr>
          <p:cNvPr id="33" name="Narration" descr="Narration for this slide; captions available">
            <a:hlinkClick r:id="" action="ppaction://media"/>
            <a:extLst>
              <a:ext uri="{FF2B5EF4-FFF2-40B4-BE49-F238E27FC236}">
                <a16:creationId xmlns:a16="http://schemas.microsoft.com/office/drawing/2014/main" id="{7ED8A157-4488-BD99-9D73-B5004418D343}"/>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68629E90-708E-4FE7-9075-FEEB2F89FB3C}" label="English (captions)" lang="en-US" r:embed="rId9"/>
                        </p173:trackLst>
                      </p173:tracksInfo>
                    </p:ext>
                  </p14:extLst>
                </p14:media>
              </p:ext>
            </p:extLst>
          </p:nvPr>
        </p:nvPicPr>
        <p:blipFill>
          <a:blip r:embed="rId8"/>
          <a:stretch>
            <a:fillRect/>
          </a:stretch>
        </p:blipFill>
        <p:spPr>
          <a:xfrm>
            <a:off x="127000" y="6350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62490"/>
    </mc:Choice>
    <mc:Fallback>
      <p:transition spd="slow" advTm="6249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61488" fill="hold"/>
                                        <p:tgtEl>
                                          <p:spTgt spid="33"/>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Decisions to make, and next steps</a:t>
            </a:r>
            <a:endParaRPr lang="en-US" sz="3000" dirty="0"/>
          </a:p>
        </p:txBody>
      </p:sp>
      <p:sp>
        <p:nvSpPr>
          <p:cNvPr id="3" name="Tag How">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45309"/>
          </a:solidFill>
          <a:ln w="12700">
            <a:solidFill>
              <a:srgbClr val="B45309"/>
            </a:solidFill>
            <a:prstDash val="solid"/>
          </a:ln>
        </p:spPr>
      </p:sp>
      <p:sp>
        <p:nvSpPr>
          <p:cNvPr id="4" name="Tag How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HOW</a:t>
            </a:r>
            <a:endParaRPr lang="en-US" sz="1100" dirty="0"/>
          </a:p>
        </p:txBody>
      </p:sp>
      <p:sp>
        <p:nvSpPr>
          <p:cNvPr id="5" name="Ask 1">
            <a:extLst>
              <a:ext uri="{C183D7F6-B498-43B3-948B-1728B52AA6E4}">
                <adec:decorative xmlns:adec="http://schemas.microsoft.com/office/drawing/2017/decorative" val="1"/>
              </a:ext>
            </a:extLst>
          </p:cNvPr>
          <p:cNvSpPr/>
          <p:nvPr/>
        </p:nvSpPr>
        <p:spPr>
          <a:xfrm>
            <a:off x="548640" y="1417320"/>
            <a:ext cx="5486400" cy="1417320"/>
          </a:xfrm>
          <a:prstGeom prst="roundRect">
            <a:avLst>
              <a:gd name="adj" fmla="val 5161"/>
            </a:avLst>
          </a:prstGeom>
          <a:solidFill>
            <a:srgbClr val="E4EAF4"/>
          </a:solidFill>
          <a:ln w="12700">
            <a:solidFill>
              <a:srgbClr val="E4EAF4"/>
            </a:solidFill>
            <a:prstDash val="solid"/>
          </a:ln>
          <a:effectLst>
            <a:outerShdw blurRad="76200" dist="25400" dir="5400000" algn="bl" rotWithShape="0">
              <a:srgbClr val="64748B">
                <a:alpha val="22000"/>
              </a:srgbClr>
            </a:outerShdw>
          </a:effectLst>
        </p:spPr>
      </p:sp>
      <p:sp>
        <p:nvSpPr>
          <p:cNvPr id="6" name="Icon FaListCheck">
            <a:extLst>
              <a:ext uri="{C183D7F6-B498-43B3-948B-1728B52AA6E4}">
                <adec:decorative xmlns:adec="http://schemas.microsoft.com/office/drawing/2017/decorative" val="1"/>
              </a:ext>
            </a:extLst>
          </p:cNvPr>
          <p:cNvSpPr/>
          <p:nvPr/>
        </p:nvSpPr>
        <p:spPr>
          <a:xfrm>
            <a:off x="777240" y="1764792"/>
            <a:ext cx="685800" cy="685800"/>
          </a:xfrm>
          <a:prstGeom prst="ellipse">
            <a:avLst/>
          </a:prstGeom>
          <a:solidFill>
            <a:srgbClr val="1F2A44"/>
          </a:solidFill>
          <a:ln w="12700">
            <a:solidFill>
              <a:srgbClr val="1F2A44"/>
            </a:solidFill>
            <a:prstDash val="solid"/>
          </a:ln>
        </p:spPr>
      </p:sp>
      <p:pic>
        <p:nvPicPr>
          <p:cNvPr id="7" name="Image 0">
            <a:extLst>
              <a:ext uri="{C183D7F6-B498-43B3-948B-1728B52AA6E4}">
                <adec:decorative xmlns:adec="http://schemas.microsoft.com/office/drawing/2017/decorative" val="1"/>
              </a:ext>
            </a:extLst>
          </p:cNvPr>
          <p:cNvPicPr>
            <a:picLocks noChangeAspect="1"/>
          </p:cNvPicPr>
          <p:nvPr/>
        </p:nvPicPr>
        <p:blipFill>
          <a:blip r:embed="rId5"/>
          <a:stretch>
            <a:fillRect/>
          </a:stretch>
        </p:blipFill>
        <p:spPr>
          <a:xfrm>
            <a:off x="941832" y="1929384"/>
            <a:ext cx="356616" cy="356616"/>
          </a:xfrm>
          <a:prstGeom prst="rect">
            <a:avLst/>
          </a:prstGeom>
        </p:spPr>
      </p:pic>
      <p:sp>
        <p:nvSpPr>
          <p:cNvPr id="8" name="Ask 1 text"/>
          <p:cNvSpPr txBox="1"/>
          <p:nvPr/>
        </p:nvSpPr>
        <p:spPr>
          <a:xfrm>
            <a:off x="1645920" y="1554480"/>
            <a:ext cx="4206240" cy="1188720"/>
          </a:xfrm>
          <a:prstGeom prst="rect">
            <a:avLst/>
          </a:prstGeom>
          <a:noFill/>
          <a:ln/>
        </p:spPr>
        <p:txBody>
          <a:bodyPr wrap="square" lIns="0" tIns="0" rIns="0" bIns="0" rtlCol="0" anchor="t"/>
          <a:lstStyle/>
          <a:p>
            <a:pPr marL="0" indent="0">
              <a:buNone/>
            </a:pPr>
            <a:r>
              <a:rPr lang="en-US" sz="1800" b="1" dirty="0">
                <a:solidFill>
                  <a:srgbClr val="1F2A44"/>
                </a:solidFill>
                <a:latin typeface="Cambria" pitchFamily="34" charset="0"/>
                <a:ea typeface="Cambria" pitchFamily="34" charset="-122"/>
                <a:cs typeface="Cambria" pitchFamily="34" charset="-120"/>
              </a:rPr>
              <a:t>Adopt the sequence</a:t>
            </a:r>
            <a:endParaRPr lang="en-US" sz="1400" dirty="0"/>
          </a:p>
          <a:p>
            <a:pPr marL="0" indent="0">
              <a:buNone/>
            </a:pPr>
            <a:r>
              <a:rPr lang="en-US" sz="1450" dirty="0">
                <a:solidFill>
                  <a:schemeClr val="tx2"/>
                </a:solidFill>
              </a:rPr>
              <a:t>Governor before traffic; boundary before cutover; parity before circuits end</a:t>
            </a:r>
            <a:endParaRPr lang="en-US" sz="1400" dirty="0"/>
          </a:p>
        </p:txBody>
      </p:sp>
      <p:sp>
        <p:nvSpPr>
          <p:cNvPr id="9" name="Ask 2">
            <a:extLst>
              <a:ext uri="{C183D7F6-B498-43B3-948B-1728B52AA6E4}">
                <adec:decorative xmlns:adec="http://schemas.microsoft.com/office/drawing/2017/decorative" val="1"/>
              </a:ext>
            </a:extLst>
          </p:cNvPr>
          <p:cNvSpPr/>
          <p:nvPr/>
        </p:nvSpPr>
        <p:spPr>
          <a:xfrm>
            <a:off x="6144768" y="1417320"/>
            <a:ext cx="5486400" cy="1417320"/>
          </a:xfrm>
          <a:prstGeom prst="roundRect">
            <a:avLst>
              <a:gd name="adj" fmla="val 5161"/>
            </a:avLst>
          </a:prstGeom>
          <a:solidFill>
            <a:srgbClr val="DCEFEC"/>
          </a:solidFill>
          <a:ln w="12700">
            <a:solidFill>
              <a:srgbClr val="DCEFEC"/>
            </a:solidFill>
            <a:prstDash val="solid"/>
          </a:ln>
          <a:effectLst>
            <a:outerShdw blurRad="76200" dist="25400" dir="5400000" algn="bl" rotWithShape="0">
              <a:srgbClr val="64748B">
                <a:alpha val="22000"/>
              </a:srgbClr>
            </a:outerShdw>
          </a:effectLst>
        </p:spPr>
      </p:sp>
      <p:sp>
        <p:nvSpPr>
          <p:cNvPr id="10" name="Icon FaCodeBranch">
            <a:extLst>
              <a:ext uri="{C183D7F6-B498-43B3-948B-1728B52AA6E4}">
                <adec:decorative xmlns:adec="http://schemas.microsoft.com/office/drawing/2017/decorative" val="1"/>
              </a:ext>
            </a:extLst>
          </p:cNvPr>
          <p:cNvSpPr/>
          <p:nvPr/>
        </p:nvSpPr>
        <p:spPr>
          <a:xfrm>
            <a:off x="6373368" y="1764792"/>
            <a:ext cx="685800" cy="685800"/>
          </a:xfrm>
          <a:prstGeom prst="ellipse">
            <a:avLst/>
          </a:prstGeom>
          <a:solidFill>
            <a:srgbClr val="0F766E"/>
          </a:solidFill>
          <a:ln w="12700">
            <a:solidFill>
              <a:srgbClr val="0F766E"/>
            </a:solidFill>
            <a:prstDash val="solid"/>
          </a:ln>
        </p:spPr>
      </p:sp>
      <p:pic>
        <p:nvPicPr>
          <p:cNvPr id="11" name="Image 1">
            <a:extLst>
              <a:ext uri="{C183D7F6-B498-43B3-948B-1728B52AA6E4}">
                <adec:decorative xmlns:adec="http://schemas.microsoft.com/office/drawing/2017/decorative" val="1"/>
              </a:ext>
            </a:extLst>
          </p:cNvPr>
          <p:cNvPicPr>
            <a:picLocks noChangeAspect="1"/>
          </p:cNvPicPr>
          <p:nvPr/>
        </p:nvPicPr>
        <p:blipFill>
          <a:blip r:embed="rId6"/>
          <a:stretch>
            <a:fillRect/>
          </a:stretch>
        </p:blipFill>
        <p:spPr>
          <a:xfrm>
            <a:off x="6537960" y="1929384"/>
            <a:ext cx="356616" cy="356616"/>
          </a:xfrm>
          <a:prstGeom prst="rect">
            <a:avLst/>
          </a:prstGeom>
        </p:spPr>
      </p:pic>
      <p:sp>
        <p:nvSpPr>
          <p:cNvPr id="12" name="Ask 2 text"/>
          <p:cNvSpPr txBox="1"/>
          <p:nvPr/>
        </p:nvSpPr>
        <p:spPr>
          <a:xfrm>
            <a:off x="7242048" y="1554480"/>
            <a:ext cx="4206240" cy="1188720"/>
          </a:xfrm>
          <a:prstGeom prst="rect">
            <a:avLst/>
          </a:prstGeom>
          <a:noFill/>
          <a:ln/>
        </p:spPr>
        <p:txBody>
          <a:bodyPr wrap="square" lIns="0" tIns="0" rIns="0" bIns="0" rtlCol="0" anchor="t"/>
          <a:lstStyle/>
          <a:p>
            <a:pPr marL="0" indent="0">
              <a:buNone/>
            </a:pPr>
            <a:r>
              <a:rPr lang="en-US" sz="1800" b="1" dirty="0">
                <a:solidFill>
                  <a:srgbClr val="0F766E"/>
                </a:solidFill>
                <a:latin typeface="Cambria" pitchFamily="34" charset="0"/>
                <a:ea typeface="Cambria" pitchFamily="34" charset="-122"/>
                <a:cs typeface="Cambria" pitchFamily="34" charset="-120"/>
              </a:rPr>
              <a:t>Specify the BOD 26-02 refresh</a:t>
            </a:r>
            <a:endParaRPr lang="en-US" sz="1400" dirty="0"/>
          </a:p>
          <a:p>
            <a:pPr marL="0" indent="0">
              <a:buNone/>
            </a:pPr>
            <a:r>
              <a:rPr lang="en-US" sz="1450" dirty="0">
                <a:solidFill>
                  <a:schemeClr val="tx2"/>
                </a:solidFill>
              </a:rPr>
              <a:t>Target attributes in writing, before August 5, 2027</a:t>
            </a:r>
            <a:endParaRPr lang="en-US" sz="1400" dirty="0"/>
          </a:p>
        </p:txBody>
      </p:sp>
      <p:sp>
        <p:nvSpPr>
          <p:cNvPr id="13" name="Ask 3">
            <a:extLst>
              <a:ext uri="{C183D7F6-B498-43B3-948B-1728B52AA6E4}">
                <adec:decorative xmlns:adec="http://schemas.microsoft.com/office/drawing/2017/decorative" val="1"/>
              </a:ext>
            </a:extLst>
          </p:cNvPr>
          <p:cNvSpPr/>
          <p:nvPr/>
        </p:nvSpPr>
        <p:spPr>
          <a:xfrm>
            <a:off x="548640" y="2990088"/>
            <a:ext cx="5486400" cy="1417320"/>
          </a:xfrm>
          <a:prstGeom prst="roundRect">
            <a:avLst>
              <a:gd name="adj" fmla="val 5161"/>
            </a:avLst>
          </a:prstGeom>
          <a:solidFill>
            <a:srgbClr val="FBEEDC"/>
          </a:solidFill>
          <a:ln w="12700">
            <a:solidFill>
              <a:srgbClr val="FBEEDC"/>
            </a:solidFill>
            <a:prstDash val="solid"/>
          </a:ln>
          <a:effectLst>
            <a:outerShdw blurRad="76200" dist="25400" dir="5400000" algn="bl" rotWithShape="0">
              <a:srgbClr val="64748B">
                <a:alpha val="22000"/>
              </a:srgbClr>
            </a:outerShdw>
          </a:effectLst>
        </p:spPr>
      </p:sp>
      <p:sp>
        <p:nvSpPr>
          <p:cNvPr id="14" name="Icon FaScaleBalanced">
            <a:extLst>
              <a:ext uri="{C183D7F6-B498-43B3-948B-1728B52AA6E4}">
                <adec:decorative xmlns:adec="http://schemas.microsoft.com/office/drawing/2017/decorative" val="1"/>
              </a:ext>
            </a:extLst>
          </p:cNvPr>
          <p:cNvSpPr/>
          <p:nvPr/>
        </p:nvSpPr>
        <p:spPr>
          <a:xfrm>
            <a:off x="777240" y="3337560"/>
            <a:ext cx="685800" cy="685800"/>
          </a:xfrm>
          <a:prstGeom prst="ellipse">
            <a:avLst/>
          </a:prstGeom>
          <a:solidFill>
            <a:srgbClr val="B45309"/>
          </a:solidFill>
          <a:ln w="12700">
            <a:solidFill>
              <a:srgbClr val="B45309"/>
            </a:solidFill>
            <a:prstDash val="solid"/>
          </a:ln>
        </p:spPr>
      </p:sp>
      <p:pic>
        <p:nvPicPr>
          <p:cNvPr id="15" name="Image 2">
            <a:extLst>
              <a:ext uri="{C183D7F6-B498-43B3-948B-1728B52AA6E4}">
                <adec:decorative xmlns:adec="http://schemas.microsoft.com/office/drawing/2017/decorative" val="1"/>
              </a:ext>
            </a:extLst>
          </p:cNvPr>
          <p:cNvPicPr>
            <a:picLocks noChangeAspect="1"/>
          </p:cNvPicPr>
          <p:nvPr/>
        </p:nvPicPr>
        <p:blipFill>
          <a:blip r:embed="rId7"/>
          <a:stretch>
            <a:fillRect/>
          </a:stretch>
        </p:blipFill>
        <p:spPr>
          <a:xfrm>
            <a:off x="941832" y="3502152"/>
            <a:ext cx="356616" cy="356616"/>
          </a:xfrm>
          <a:prstGeom prst="rect">
            <a:avLst/>
          </a:prstGeom>
        </p:spPr>
      </p:pic>
      <p:sp>
        <p:nvSpPr>
          <p:cNvPr id="16" name="Ask 3 text"/>
          <p:cNvSpPr txBox="1"/>
          <p:nvPr/>
        </p:nvSpPr>
        <p:spPr>
          <a:xfrm>
            <a:off x="1645920" y="3127248"/>
            <a:ext cx="4206240" cy="1188720"/>
          </a:xfrm>
          <a:prstGeom prst="rect">
            <a:avLst/>
          </a:prstGeom>
          <a:noFill/>
          <a:ln/>
        </p:spPr>
        <p:txBody>
          <a:bodyPr wrap="square" lIns="0" tIns="0" rIns="0" bIns="0" rtlCol="0" anchor="t"/>
          <a:lstStyle/>
          <a:p>
            <a:pPr marL="0" indent="0">
              <a:buNone/>
            </a:pPr>
            <a:r>
              <a:rPr lang="en-US" sz="1800" b="1" dirty="0">
                <a:solidFill>
                  <a:srgbClr val="B45309"/>
                </a:solidFill>
                <a:latin typeface="Cambria" pitchFamily="34" charset="0"/>
                <a:ea typeface="Cambria" pitchFamily="34" charset="-122"/>
                <a:cs typeface="Cambria" pitchFamily="34" charset="-120"/>
              </a:rPr>
              <a:t>Decide the Optimize exception</a:t>
            </a:r>
            <a:endParaRPr lang="en-US" sz="1400" dirty="0"/>
          </a:p>
          <a:p>
            <a:pPr marL="0" indent="0">
              <a:buNone/>
            </a:pPr>
            <a:r>
              <a:rPr lang="en-US" sz="1450" dirty="0">
                <a:solidFill>
                  <a:schemeClr val="tx2"/>
                </a:solidFill>
              </a:rPr>
              <a:t>Memo, register and review; device-side tenant restrictions first</a:t>
            </a:r>
            <a:endParaRPr lang="en-US" sz="1400" dirty="0"/>
          </a:p>
        </p:txBody>
      </p:sp>
      <p:sp>
        <p:nvSpPr>
          <p:cNvPr id="17" name="Ask 4">
            <a:extLst>
              <a:ext uri="{C183D7F6-B498-43B3-948B-1728B52AA6E4}">
                <adec:decorative xmlns:adec="http://schemas.microsoft.com/office/drawing/2017/decorative" val="1"/>
              </a:ext>
            </a:extLst>
          </p:cNvPr>
          <p:cNvSpPr/>
          <p:nvPr/>
        </p:nvSpPr>
        <p:spPr>
          <a:xfrm>
            <a:off x="6144768" y="2990088"/>
            <a:ext cx="5486400" cy="1417320"/>
          </a:xfrm>
          <a:prstGeom prst="roundRect">
            <a:avLst>
              <a:gd name="adj" fmla="val 5161"/>
            </a:avLst>
          </a:prstGeom>
          <a:solidFill>
            <a:srgbClr val="FBE4E4"/>
          </a:solidFill>
          <a:ln w="12700">
            <a:solidFill>
              <a:srgbClr val="FBE4E4"/>
            </a:solidFill>
            <a:prstDash val="solid"/>
          </a:ln>
          <a:effectLst>
            <a:outerShdw blurRad="76200" dist="25400" dir="5400000" algn="bl" rotWithShape="0">
              <a:srgbClr val="64748B">
                <a:alpha val="22000"/>
              </a:srgbClr>
            </a:outerShdw>
          </a:effectLst>
        </p:spPr>
      </p:sp>
      <p:sp>
        <p:nvSpPr>
          <p:cNvPr id="18" name="Icon FaUserCheck">
            <a:extLst>
              <a:ext uri="{C183D7F6-B498-43B3-948B-1728B52AA6E4}">
                <adec:decorative xmlns:adec="http://schemas.microsoft.com/office/drawing/2017/decorative" val="1"/>
              </a:ext>
            </a:extLst>
          </p:cNvPr>
          <p:cNvSpPr/>
          <p:nvPr/>
        </p:nvSpPr>
        <p:spPr>
          <a:xfrm>
            <a:off x="6373368" y="3337560"/>
            <a:ext cx="685800" cy="685800"/>
          </a:xfrm>
          <a:prstGeom prst="ellipse">
            <a:avLst/>
          </a:prstGeom>
          <a:solidFill>
            <a:srgbClr val="B91C1C"/>
          </a:solidFill>
          <a:ln w="12700">
            <a:solidFill>
              <a:srgbClr val="B91C1C"/>
            </a:solidFill>
            <a:prstDash val="solid"/>
          </a:ln>
        </p:spPr>
      </p:sp>
      <p:pic>
        <p:nvPicPr>
          <p:cNvPr id="19" name="Image 3">
            <a:extLst>
              <a:ext uri="{C183D7F6-B498-43B3-948B-1728B52AA6E4}">
                <adec:decorative xmlns:adec="http://schemas.microsoft.com/office/drawing/2017/decorative" val="1"/>
              </a:ext>
            </a:extLst>
          </p:cNvPr>
          <p:cNvPicPr>
            <a:picLocks noChangeAspect="1"/>
          </p:cNvPicPr>
          <p:nvPr/>
        </p:nvPicPr>
        <p:blipFill>
          <a:blip r:embed="rId8"/>
          <a:stretch>
            <a:fillRect/>
          </a:stretch>
        </p:blipFill>
        <p:spPr>
          <a:xfrm>
            <a:off x="6537960" y="3502152"/>
            <a:ext cx="356616" cy="356616"/>
          </a:xfrm>
          <a:prstGeom prst="rect">
            <a:avLst/>
          </a:prstGeom>
        </p:spPr>
      </p:pic>
      <p:sp>
        <p:nvSpPr>
          <p:cNvPr id="20" name="Ask 4 text"/>
          <p:cNvSpPr txBox="1"/>
          <p:nvPr/>
        </p:nvSpPr>
        <p:spPr>
          <a:xfrm>
            <a:off x="7242048" y="3127248"/>
            <a:ext cx="4206240" cy="1188720"/>
          </a:xfrm>
          <a:prstGeom prst="rect">
            <a:avLst/>
          </a:prstGeom>
          <a:noFill/>
          <a:ln/>
        </p:spPr>
        <p:txBody>
          <a:bodyPr wrap="square" lIns="0" tIns="0" rIns="0" bIns="0" rtlCol="0" anchor="t"/>
          <a:lstStyle/>
          <a:p>
            <a:pPr marL="0" indent="0">
              <a:buNone/>
            </a:pPr>
            <a:r>
              <a:rPr lang="en-US" sz="1800" b="1" dirty="0">
                <a:solidFill>
                  <a:srgbClr val="B91C1C"/>
                </a:solidFill>
                <a:latin typeface="Cambria" pitchFamily="34" charset="0"/>
                <a:ea typeface="Cambria" pitchFamily="34" charset="-122"/>
                <a:cs typeface="Cambria" pitchFamily="34" charset="-120"/>
              </a:rPr>
              <a:t>Name one decider per row</a:t>
            </a:r>
            <a:endParaRPr lang="en-US" sz="1400" dirty="0"/>
          </a:p>
          <a:p>
            <a:pPr marL="0" indent="0">
              <a:buNone/>
            </a:pPr>
            <a:r>
              <a:rPr lang="en-US" sz="1450" dirty="0">
                <a:solidFill>
                  <a:schemeClr val="tx2"/>
                </a:solidFill>
              </a:rPr>
              <a:t>From the authorizing official to the contracting officer</a:t>
            </a:r>
            <a:endParaRPr lang="en-US" sz="1400" dirty="0"/>
          </a:p>
        </p:txBody>
      </p:sp>
      <p:sp>
        <p:nvSpPr>
          <p:cNvPr id="21" name="Next">
            <a:extLst>
              <a:ext uri="{C183D7F6-B498-43B3-948B-1728B52AA6E4}">
                <adec:decorative xmlns:adec="http://schemas.microsoft.com/office/drawing/2017/decorative" val="1"/>
              </a:ext>
            </a:extLst>
          </p:cNvPr>
          <p:cNvSpPr/>
          <p:nvPr/>
        </p:nvSpPr>
        <p:spPr>
          <a:xfrm>
            <a:off x="548640" y="4709160"/>
            <a:ext cx="11109960" cy="1280160"/>
          </a:xfrm>
          <a:prstGeom prst="roundRect">
            <a:avLst>
              <a:gd name="adj" fmla="val 5714"/>
            </a:avLst>
          </a:prstGeom>
          <a:solidFill>
            <a:srgbClr val="FFFFFF"/>
          </a:solidFill>
          <a:ln w="12700">
            <a:solidFill>
              <a:srgbClr val="1F2A44"/>
            </a:solidFill>
            <a:prstDash val="solid"/>
          </a:ln>
          <a:effectLst>
            <a:outerShdw blurRad="76200" dist="25400" dir="5400000" algn="bl" rotWithShape="0">
              <a:srgbClr val="64748B">
                <a:alpha val="22000"/>
              </a:srgbClr>
            </a:outerShdw>
          </a:effectLst>
        </p:spPr>
      </p:sp>
      <p:sp>
        <p:nvSpPr>
          <p:cNvPr id="22" name="Icon FaRoute">
            <a:extLst>
              <a:ext uri="{C183D7F6-B498-43B3-948B-1728B52AA6E4}">
                <adec:decorative xmlns:adec="http://schemas.microsoft.com/office/drawing/2017/decorative" val="1"/>
              </a:ext>
            </a:extLst>
          </p:cNvPr>
          <p:cNvSpPr/>
          <p:nvPr/>
        </p:nvSpPr>
        <p:spPr>
          <a:xfrm>
            <a:off x="777240" y="4983480"/>
            <a:ext cx="731520" cy="731520"/>
          </a:xfrm>
          <a:prstGeom prst="ellipse">
            <a:avLst/>
          </a:prstGeom>
          <a:solidFill>
            <a:srgbClr val="1F2A44"/>
          </a:solidFill>
          <a:ln w="12700">
            <a:solidFill>
              <a:srgbClr val="1F2A44"/>
            </a:solidFill>
            <a:prstDash val="solid"/>
          </a:ln>
        </p:spPr>
      </p:sp>
      <p:pic>
        <p:nvPicPr>
          <p:cNvPr id="23" name="Image 4">
            <a:extLst>
              <a:ext uri="{C183D7F6-B498-43B3-948B-1728B52AA6E4}">
                <adec:decorative xmlns:adec="http://schemas.microsoft.com/office/drawing/2017/decorative" val="1"/>
              </a:ext>
            </a:extLst>
          </p:cNvPr>
          <p:cNvPicPr>
            <a:picLocks noChangeAspect="1"/>
          </p:cNvPicPr>
          <p:nvPr/>
        </p:nvPicPr>
        <p:blipFill>
          <a:blip r:embed="rId9"/>
          <a:stretch>
            <a:fillRect/>
          </a:stretch>
        </p:blipFill>
        <p:spPr>
          <a:xfrm>
            <a:off x="952805" y="5159045"/>
            <a:ext cx="380390" cy="380390"/>
          </a:xfrm>
          <a:prstGeom prst="rect">
            <a:avLst/>
          </a:prstGeom>
        </p:spPr>
      </p:pic>
      <p:sp>
        <p:nvSpPr>
          <p:cNvPr id="24" name="Next text"/>
          <p:cNvSpPr txBox="1"/>
          <p:nvPr/>
        </p:nvSpPr>
        <p:spPr>
          <a:xfrm>
            <a:off x="1737360" y="4754880"/>
            <a:ext cx="9738360" cy="1188720"/>
          </a:xfrm>
          <a:prstGeom prst="rect">
            <a:avLst/>
          </a:prstGeom>
          <a:noFill/>
          <a:ln/>
        </p:spPr>
        <p:txBody>
          <a:bodyPr wrap="square" lIns="0" tIns="0" rIns="0" bIns="0" rtlCol="0" anchor="ctr"/>
          <a:lstStyle/>
          <a:p>
            <a:pPr marL="0" indent="0">
              <a:buNone/>
            </a:pPr>
            <a:r>
              <a:rPr lang="en-US" sz="1650" b="1" dirty="0">
                <a:solidFill>
                  <a:srgbClr val="1F2A44"/>
                </a:solidFill>
              </a:rPr>
              <a:t>Next step, no award needed: </a:t>
            </a:r>
            <a:r>
              <a:rPr lang="en-US" sz="1650" dirty="0">
                <a:solidFill>
                  <a:schemeClr val="tx2"/>
                </a:solidFill>
              </a:rPr>
              <a:t>write the application-to-path policy that SC-7(4) already asks for, and instrument a sample of branches before the next migration wave; that baseline can't be rebuilt afterward.</a:t>
            </a:r>
            <a:endParaRPr lang="en-US" sz="1650" dirty="0"/>
          </a:p>
        </p:txBody>
      </p:sp>
      <p:sp>
        <p:nvSpPr>
          <p:cNvPr id="25" name="Sources"/>
          <p:cNvSpPr txBox="1"/>
          <p:nvPr/>
        </p:nvSpPr>
        <p:spPr>
          <a:xfrm>
            <a:off x="548640" y="6053328"/>
            <a:ext cx="10424160" cy="292608"/>
          </a:xfrm>
          <a:prstGeom prst="rect">
            <a:avLst/>
          </a:prstGeom>
          <a:noFill/>
          <a:ln/>
        </p:spPr>
        <p:txBody>
          <a:bodyPr wrap="square" lIns="0" tIns="0" rIns="0" bIns="0" rtlCol="0" anchor="t"/>
          <a:lstStyle/>
          <a:p>
            <a:pPr marL="0" indent="0">
              <a:buNone/>
            </a:pPr>
            <a:r>
              <a:rPr lang="en-US" sz="1000" i="1" dirty="0">
                <a:solidFill>
                  <a:srgbClr val="64748B"/>
                </a:solidFill>
              </a:rPr>
              <a:t>Sources: NIST SP 800-53 SC-7(4); CISA BOD 26-02; Microsoft Learn — tenant restrictions v2; FAR 1.602-1. Book 09, Chapters 02, 09, 10, 12 and 13.</a:t>
            </a:r>
            <a:endParaRPr lang="en-US" sz="1000" dirty="0"/>
          </a:p>
        </p:txBody>
      </p:sp>
      <p:sp>
        <p:nvSpPr>
          <p:cNvPr id="26"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15</a:t>
            </a:fld>
            <a:endParaRPr lang="en-US"/>
          </a:p>
        </p:txBody>
      </p:sp>
      <p:pic>
        <p:nvPicPr>
          <p:cNvPr id="27" name="Narration" descr="Narration for this slide; captions available">
            <a:hlinkClick r:id="" action="ppaction://media"/>
            <a:extLst>
              <a:ext uri="{FF2B5EF4-FFF2-40B4-BE49-F238E27FC236}">
                <a16:creationId xmlns:a16="http://schemas.microsoft.com/office/drawing/2014/main" id="{0B158E72-A75C-E770-6E8D-713051D71B9D}"/>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2BA89E88-BD1D-4BA3-953A-6D072859D9C0}" label="English (captions)" lang="en-US" r:embed="rId11"/>
                        </p173:trackLst>
                      </p173:tracksInfo>
                    </p:ext>
                  </p14:extLst>
                </p14:media>
              </p:ext>
            </p:extLst>
          </p:nvPr>
        </p:nvPicPr>
        <p:blipFill>
          <a:blip r:embed="rId10"/>
          <a:stretch>
            <a:fillRect/>
          </a:stretch>
        </p:blipFill>
        <p:spPr>
          <a:xfrm>
            <a:off x="127000" y="6350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63420"/>
    </mc:Choice>
    <mc:Fallback>
      <p:transition spd="slow" advTm="6342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62424" fill="hold"/>
                                        <p:tgtEl>
                                          <p:spTgt spid="27"/>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Federal Modernization Workbook">
  <a:themeElements>
    <a:clrScheme name="Federal Modernization Workbook">
      <a:dk1>
        <a:srgbClr val="1F2A44"/>
      </a:dk1>
      <a:lt1>
        <a:srgbClr val="FFFFFF"/>
      </a:lt1>
      <a:dk2>
        <a:srgbClr val="334155"/>
      </a:dk2>
      <a:lt2>
        <a:srgbClr val="F1F5F9"/>
      </a:lt2>
      <a:accent1>
        <a:srgbClr val="1F2A44"/>
      </a:accent1>
      <a:accent2>
        <a:srgbClr val="0F766E"/>
      </a:accent2>
      <a:accent3>
        <a:srgbClr val="B45309"/>
      </a:accent3>
      <a:accent4>
        <a:srgbClr val="B91C1C"/>
      </a:accent4>
      <a:accent5>
        <a:srgbClr val="64748B"/>
      </a:accent5>
      <a:accent6>
        <a:srgbClr val="E6F2F1"/>
      </a:accent6>
      <a:hlink>
        <a:srgbClr val="0F766E"/>
      </a:hlink>
      <a:folHlink>
        <a:srgbClr val="334155"/>
      </a:folHlink>
    </a:clrScheme>
    <a:fontScheme name="Federal Modernization Workbook">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0</TotalTime>
  <Words>5509</Words>
  <Application>Microsoft Office PowerPoint</Application>
  <PresentationFormat>Widescreen</PresentationFormat>
  <Paragraphs>362</Paragraphs>
  <Slides>15</Slides>
  <Notes>15</Notes>
  <HiddenSlides>0</HiddenSlides>
  <MMClips>15</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15</vt:i4>
      </vt:variant>
    </vt:vector>
  </HeadingPairs>
  <TitlesOfParts>
    <vt:vector size="19" baseType="lpstr">
      <vt:lpstr>Arial</vt:lpstr>
      <vt:lpstr>Calibri</vt:lpstr>
      <vt:lpstr>Cambria</vt:lpstr>
      <vt:lpstr>Federal Modernization Workbook</vt:lpstr>
      <vt:lpstr>Why Does Physics Decide the Architecture?</vt:lpstr>
      <vt:lpstr>Distance sets a latency floor no product moves</vt:lpstr>
      <vt:lpstr>Transport is physics; control is compliance</vt:lpstr>
      <vt:lpstr>TIC 3.0 sets goals, but it isn't requirement-free</vt:lpstr>
      <vt:lpstr>Centralize the truth; let tokens carry the trust</vt:lpstr>
      <vt:lpstr>SD-WAN reaches the floor; SASE makes it lawful</vt:lpstr>
      <vt:lpstr>On re-routed paths, design around the real list</vt:lpstr>
      <vt:lpstr>802.1X proves the device; NPS is the last AD tie</vt:lpstr>
      <vt:lpstr>One rule, four branch patterns, five decisions</vt:lpstr>
      <vt:lpstr>Who decides, who does the work for the network</vt:lpstr>
      <vt:lpstr>The long interim: the refresh is the fork</vt:lpstr>
      <vt:lpstr>Field offices: fix the circuit, not the content</vt:lpstr>
      <vt:lpstr>Microsoft 365 Optimize: a signed SC-7(4) exception</vt:lpstr>
      <vt:lpstr>Governor before traffic, boundary before cutover</vt:lpstr>
      <vt:lpstr>Decisions to make, and next steps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Book 09 — Network &amp; Transport</dc:title>
  <dc:subject>PptxGenJS Presentation</dc:subject>
  <dc:creator>Michael F. Stratton</dc:creator>
  <cp:lastModifiedBy>Michael F. Stratton</cp:lastModifiedBy>
  <cp:revision>2</cp:revision>
  <dcterms:created xsi:type="dcterms:W3CDTF">2026-10-21T13:59:23Z</dcterms:created>
  <dcterms:modified xsi:type="dcterms:W3CDTF">2026-10-21T14:36:14Z</dcterms:modified>
</cp:coreProperties>
</file>