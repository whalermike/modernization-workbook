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20434f-8dac-8a39-762e-f6f388b121e2}">
          <p14:sldIdLst>
            <p14:sldId id="256"/>
          </p14:sldIdLst>
        </p14:section>
        <p14:section name="Why" id="{72ea52f1-1791-b1a4-e529-d1bb7e1d43e1}">
          <p14:sldIdLst>
            <p14:sldId id="257"/>
            <p14:sldId id="258"/>
            <p14:sldId id="259"/>
          </p14:sldIdLst>
        </p14:section>
        <p14:section name="What" id="{cda757c6-0e13-7b52-e57d-de22818803f4}">
          <p14:sldIdLst>
            <p14:sldId id="260"/>
            <p14:sldId id="261"/>
            <p14:sldId id="262"/>
            <p14:sldId id="263"/>
            <p14:sldId id="264"/>
            <p14:sldId id="265"/>
            <p14:sldId id="266"/>
            <p14:sldId id="267"/>
          </p14:sldIdLst>
        </p14:section>
        <p14:section name="Who" id="{bf106368-1b33-ef0c-4908-b3fdd3d16cd0}">
          <p14:sldIdLst>
            <p14:sldId id="268"/>
          </p14:sldIdLst>
        </p14:section>
        <p14:section name="How" id="{e3e3fe00-1f61-81c5-ffb0-9a386e1bea81}">
          <p14:sldIdLst>
            <p14:sldId id="269"/>
            <p14:sldId id="270"/>
            <p14:sldId id="271"/>
            <p14:sldId id="272"/>
            <p14:sldId id="273"/>
          </p14:sldIdLst>
        </p14:section>
        <p14:section name="Backup" id="{7b55a345-66d0-55b1-ffe8-b3846ac4926d}">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7: machine configuration packages. Learn's cmdlets will build you a package and a policy definition, but nothing in them says whether this is the package you reviewed, whether it leaks details of the machine that built it, or whether it will reach servers another tool owns. That check is the pipeline's job. We'll follow Learn's procedure and Microsoft's sample, see what they leave out, then walk the build, two labs and the dangers. One note before we begin: the code is illustrative, tested against fixtures.
Detail: How a server setting becomes Azure Machine Configuration content: a DSC configuration compiled to a MOF, packaged with New-GuestConfigurationPackage, tested, published, signed, and turned into an Azure Policy definition with New-GuestConfigurationPolicy. You follow Learn's procedure and run Microsoft's own sample project, which the repository keeps as a pinned copy, and see what the cmdlets do on their own. Then you build on examples/machine-configuration for what they leave to you: a cleaned, repeatable MOF, package and definition checks against a release registry, the owner tag filter, Arc and Azure Government scope, and a provenance manifest. Lab 1 runs offline on a laptop; Lab 2 uses a test subscription and a disposable server. Goal: by the end of this chapter you can take a server setting from a DSC configuration to an assigned policy using Learn's cmdlets, you know what those cmdlets don't check, and you can run, change and test the build that checks it. For every rule in the build you can say whether it is Microsoft's contract, Microsoft's procedure, or the program's own design.
Sources: Microsoft Learn, "How to develop a custom machine configuration package," https://learn.microsoft.com/azure/governance/machine-configuration/how-to/develop-custom-package/overview (accessed Oct 30, 2026). · 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
Workbook: Building the Attribute-Driven Migration, Chapter 07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package need a pipeline around it? Because three questions go unanswered by Microsoft's tools. Is the package going out the one somebody reviewed? Does it carry details of the person and machine that built it, into a file every server can read? And will an enforcing policy reach servers that another tool is supposed to own? On the Arc track, every setting has exactly one owning tool, recorded in the configuration database and mirrored in a tag. For the settings machine configuration owns, the code is a desired state configuration, and Azure Policy delivers it.
Detail: Learn's cmdlets build a package and a policy definition; nothing in them says whether this package is the one you reviewed, whether it leaks the build host, or whether it will reach servers another tool owns. That check is the pipeline's job. The Arc track puts each server under one owning tool per setting, recorded as config_owner in the CMDB and mirrored in the ConfigOwner tag (Ansible guide). For the settings machine configuration owns, the code is a DSC configuration, and Azure Policy delivers it. From the gap table: the compiled MOF records the user name, host name, date and full script path, and that MOF goes into the package, which goes to a blob the machines read; New-GuestConfigurationPackage writes a different .zip each run, so a rebuilt package doesn't match the hash in the reviewed definition; an enforcing definition reaches every machine in scope, so two tools on one setting flip it back and forth.
Sources: Building the Attribute-Driven Migration, Chapter 07, docs/project-plans/developer-workbooks/attribute-driven-migration/07-machine-configuration-packages.md
Workbook: Building the Attribute-Driven Migration, Chapter 07 — Opening; “Where machine configuration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Learn's model, in three parts. A package says what the machine should look like. A policy definition points at that package by its address and its hash. And when the definition is assigned, every machine in scope gets a guest assignment: the agent downloads the package, evaluates it and reports back. Each assignment is one of three types: audit only, apply once and report drift, or apply and keep correcting. The spelling is case sensitive, which will matter later. Custom content for audit and apply is generally available, with minimum agent versions on the slide.
Detail: Learn's model has three parts. A package (a .zip with the compiled MOF and the DSC resource modules it uses) says what the machine should look like. A policy definition in the category Guest Configuration points at the package by URI and hash. When the definition is assigned, the service creates a guest assignment (Microsoft.GuestConfiguration/guestConfigurationAssignments) on each machine in scope, and the agent on the machine downloads the package, evaluates it and reports compliance. A machine can hold up to 50 guest assignments. Each assignment has one of three types, and the spelling is case sensitive: Audit reports and changes nothing; ApplyAndMonitor applies once, then reports drift without correcting it; ApplyAndAutoCorrect applies, and corrects drift at the next evaluation. Custom packages that audit and apply, and custom definitions with AuditIfNotExists or DeployIfNotExists, are generally available. Applying needs guest configuration extension 1.26.24 or later on Azure VMs, or Arc agent 1.10.0 or later.
Sources: Microsoft Learn, "What is Azure Machine Configuration?," https://learn.microsoft.com/azure/governance/machine-configuration/overview/01-overview-concepts (accessed Oct 30, 2026). · Microsoft Learn, "Understand machine configuration assignment resources," https://learn.microsoft.com/azure/governance/machine-configuration/concepts/assignments (accessed Oct 30, 2026). · Microsoft Learn, "Remediation options for machine configuration," https://learn.microsoft.com/azure/governance/machine-configuration/concepts/remediation-options (accessed Oct 30, 2026). · Microsoft Learn, "How to develop a custom machine configuration package," https://learn.microsoft.com/azure/governance/machine-configuration/how-to/develop-custom-package/overview (accessed Oct 30, 2026).
Workbook: Building the Attribute-Driven Migration, Chapter 07 — “Where machine configuration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matters here in three ways. The endpoints differ: servers in Azure Government reach a government machine configuration host, with regional endpoints in the US Gov regions. The way machines read the package matters: the build uses each machine's own system identity, because Learn says a user-assigned identity doesn't work for Arc-enabled servers. And cost: for Arc-enabled Windows servers with the right licensing, it's included, but that activation isn't offered in two of the US Gov regions, so plan to buy it there. This estate's servers report to commercial Azure.
Detail: In Azure Government, sign in with Connect-AzAccount -Environment AzureUSGovernment, and check the server can reach the cloud's machine configuration endpoints. For Azure Government, Learn lists *.guestconfiguration.azure.us for Arc-enabled servers and regional endpoints for US Gov Arizona, Texas and Virginia. Package access: system-assigned identity works for Arc-enabled servers; user-assigned identity doesn't, and needs -ExcludeArcMachines; either needs Storage Blob Data Reader and anonymous blob access disabled. The release registry's identity: system builds definitions that read the package with each machine's system-assigned identity. Cost on Arc: included at no extra cost for Arc-enabled Windows servers with Software Assurance or a subscription license once attested, or enrolled in Windows Server pay-as-you-go; otherwise purchased separately. Activation isn't available in US Gov Virginia or US Gov Arizona (Learn lists those and three China regions as the exceptions), so in those regions plan to buy it. For this estate: the GCC tenant uses commercial Azure, so its Arc-enabled servers and this build use the commercial cloud; the Azure Government rows apply to a subscription there.
Sources: Microsoft Learn, "Connected Machine agent network requirements," https://learn.microsoft.com/azure/azure-arc/servers/network-requirements (accessed Oct 30, 2026). · Microsoft Learn, "Azure Machine Configuration network requirements," https://learn.microsoft.com/azure/governance/machine-configuration/overview/03-network-requirements (accessed Oct 30, 2026). · Microsoft Learn, "How to provide secure access to custom machine configuration packages," https://learn.microsoft.com/azure/governance/machine-configuration/how-to/develop-custom-package/5-access-package (accessed Oct 30, 2026). · Microsoft Learn, "How to create custom machine configuration policy definitions," https://learn.microsoft.com/azure/governance/machine-configuration/how-to/create-policy-definition (accessed Oct 30, 2026). · Microsoft Learn, "Windows Server Management enabled by Azure Arc," https://learn.microsoft.com/azure/azure-arc/servers/windows-server-management-overview, section "Requirements" (accessed Oct 31, 2026).
Workbook: Building the Attribute-Driven Migration, Chapter 07 — “Lab 2,” step 2;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documents the whole procedure, one page per step, and the build follows it exactly. You set up an authoring environment, write a desired state configuration and compile it. You package it, and test it with the same agent the servers run. You publish the package to storage, optionally sign it, and generate a policy definition that records the package's hash. Then you publish the definition to Azure. That's eight steps and eight commands, all on the slide. The build replaces none of them. What it adds goes between them.
Detail: Learn documents the whole procedure, one page a step. Set up: Install-Module GuestConfiguration; on Windows, PSDesiredStateConfiguration 2.0.7; the authoring environment, PowerShell 7.1.3 or later on Windows, 7.2.4 or later on Ubuntu 20+ (the 3.0.0 prerelease of PSDesiredStateConfiguration for Linux). Author: Configuration MyConfig { ... }, then dot-source the script; produces localhost.mof. Package: New-GuestConfigurationPackage -Name -Configuration -Type Audit or AuditAndSet; produces &lt;Name&gt;.zip with the MOF, a metaconfig.json holding type and version, and the modules. Test: Get-GuestConfigurationPackageComplianceStatus, then Start-GuestConfigurationPackageRemediation for AuditAndSet; compliance per resource, from the same agent the machines run. Publish: Set-AzStorageBlobContent, optionally New-AzStorageBlobSASToken; an HTTPS URI the machines can read. Sign: Protect-GuestConfigurationPackage, and the GuestConfigPolicyCertificateValidation tag on machines; a signed package that tagged machines will insist on (public key in Trusted Publishers on Windows or /usr/local/share/ca-certificates/gc on Linux; tag value enabled). Define: New-GuestConfigurationPolicy -PolicyId -ContentUri -Mode -Platform -PolicyVersion; definition JSON, with contentHash filled in. Publish the definition: New-AzPolicyDefinition, with Resource Policy Contributor as the recommended role; the definition in Azure, ready to assign.
Sources: Microsoft Learn, "How to develop a custom machine configuration package," https://learn.microsoft.com/azure/governance/machine-configuration/how-to/develop-custom-package/overview (accessed Oct 30, 2026). · Microsoft Learn, "How to set up a machine configuration authoring environment," https://learn.microsoft.com/azure/governance/machine-configuration/how-to/develop-custom-package/1-set-up-authoring-environment (accessed Oct 30, 2026). · Microsoft Learn, "How to create custom machine configuration package artifacts," https://learn.microsoft.com/azure/governance/machine-configuration/how-to/develop-custom-package/2-create-package (accessed Oct 30, 2026). · Microsoft Learn, "How to test machine configuration package artifacts," https://learn.microsoft.com/azure/governance/machine-configuration/how-to/develop-custom-package/3-test-package (accessed Oct 30, 2026). · Microsoft Learn, "How to publish custom machine configuration package artifacts," https://learn.microsoft.com/azure/governance/machine-configuration/how-to/develop-custom-package/4-publish-package (accessed Oct 30, 2026). · Microsoft Learn, "How to sign machine configuration packages," https://learn.microsoft.com/azure/governance/machine-configuration/how-to/develop-custom-package/6-sign-package (accessed Oct 30, 2026). · Microsoft Learn, "How to create custom machine configuration policy definitions," https://learn.microsoft.com/azure/governance/machine-configuration/how-to/create-policy-definition (accessed Oct 30, 2026).
Workbook: Building the Attribute-Driven Migration, Chapter 07 — “What Learn gives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is clear about three things you must not do. Don't put secrets in a package. Don't exceed a hundred megabytes. And when you release a new version, give the package a new name but keep the same policy identifier, raise the version, and let the hash be recomputed; change only the address and the agent rejects it. The repository also pins Microsoft's sample project, with hashes a test checks. It's five years older than the module the chapter uses, and two things in it no longer hold, including a renamed cmdlet. Its compiled file still packages.
Detail: Learn is clear about some things you must not do. Don't put secrets or confidential information in a package. The package can't exceed 100 MB uncompressed. To release a new version, give the package a new name (Learn suggests PackageName_1.0.0), keep the same PolicyId, raise the version, and let the cmdlet recompute contentHash. If only the URI changes and not the hash, the extension rejects the package. The pinned sample: Learn's overview lists Microsoft's sample DSC resource modules among its machine configuration samples. The repository keeps an unmodified copy of that repository's worked example project in examples/third_party/guest-configuration-samples, pinned at commit ca85d61 of August 4, 2021, with its MIT license. It is createPackage.ps1, a compiled AdministratorsGroupMembers.mof that audits the members of the local Administrators group, and the LocalGroup resource module it imports. snapshot.json records the commit and the SHA-256 of every file, and a unit test fails if one changes. The weekly source watch reports new upstream commits, both to the samples and to the GuestConfiguration module's own repository. Updating either is a reviewed pull request, the same pattern as Chapter 01. The sample is five years older than the module the chapter uses (GuestConfiguration 4.12.0, published June 22, 2026, on the PowerShell Gallery; the gallery isn't a Learn page). Two things in it no longer hold. Its script calls Test-GuestConfigurationPackage, which 4.12.0 doesn't export: the current name is Get-GuestConfigurationPackageComplianceStatus. It also appends to PSModulePath with :, the Linux separator. Its MOF and module still package with 4.12.0. tests/LearnBaseline.Tests.ps1 pins all three facts.
Sources: Microsoft Learn, "How to develop a custom machine configuration package," https://learn.microsoft.com/azure/governance/machine-configuration/how-to/develop-custom-package/overview (accessed Oct 30, 2026). · Microsoft Learn, "How to create custom machine configuration package artifacts," https://learn.microsoft.com/azure/governance/machine-configuration/how-to/develop-custom-package/2-create-package (accessed Oct 30, 2026). · Microsoft Learn, "How to create custom machine configuration policy definitions," https://learn.microsoft.com/azure/governance/machine-configuration/how-to/create-policy-definition (accessed Oct 30, 2026). · Microsoft Learn, "What is Azure Machine Configuration?," https://learn.microsoft.com/azure/governance/machine-configuration/overview/01-overview-concepts (accessed Oct 30, 2026). · 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 · PowerShell Gallery, "GuestConfiguration 4.12.0," https://www.powershellgallery.com/packages/GuestConfiguration/4.12.0 (accessed Oct 30, 2026). Not a Learn page: Learn's setup page installs the module from the gallery without naming a current version.
Workbook: Building the Attribute-Driven Migration, Chapter 07 — “What Learn gives you”; “The pinned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Learn's commands offline shows what they don't do, and the first set of gaps is about the package itself. The compiled file records who built it, on which machine, and where, and that file goes to storage the whole fleet can read. Compiling twice gives different bytes, and so does packaging twice, so a reviewer can't tell a real change from noise, and a rebuilt package won't match the reviewed hash. Nothing scans for secrets. And module versions float. Each gap has a fix in the example, pinned by a test.
Detail: Running Learn's commands offline, on the sample and on this chapter's configuration, shows what the cmdlets don't do. Each row is pinned by a test that runs the cmdlets. The compiled MOF records the user name, host name, date and full script path (@GeneratedBy, @GenerationHost, SourceInfo): that MOF goes into the package, and the package goes to a blob the machines read: it publishes who built it and where: ConvertTo-McCleanMof removes them; rule MC-PKG-04 refuses a package that still has them. Compiling writes each resource's properties in a different order each run: the MOF's hash changes with no change to the configuration, so a reviewer can't tell a real change from noise: the cleaner sorts properties, so the same source gives the same MOF bytes on any host. New-GuestConfigurationPackage writes a different .zip each run, even from the same MOF: a rebuilt package doesn't match the hash in the reviewed definition: build once, check, publish those exact bytes; provenance.json records both hashes. Nothing checks for secrets, although Learn says not to include them: a credential in a MOF is readable by anyone who can read the blob: MC-PKG-05 scans the MOF for credential properties, SAS signatures, account keys and private keys. Module versions float: a rebuild a month later compiles against different resources: RequiredModules.psd1 pins them; the build stops if one is missing.
Sources: Microsoft Learn, "How to develop a custom machine configuration package," https://learn.microsoft.com/azure/governance/machine-configuration/how-to/develop-custom-package/overview (accessed Oct 30, 2026).
Workbook: Building the Attribute-Driven Migration, Chapter 07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set of gaps is in the policy definition. The cmdlet accepts whatever identifier and version you give it, so a fresh identifier quietly creates a second definition instead of updating the first. An enforcing definition reaches every machine in scope, whoever owns the setting. The switch that includes Arc-enabled servers defaults to off, and nothing tells you. And Learn's storage token example lasts three years. The verdict is simple: Learn's procedure is the procedure, and the build replaces none of it. It cleans, checks and records in between the steps.
Detail: New-GuestConfigurationPolicy takes whatever -PolicyId and -PolicyVersion it's given; Learn says to generate a GUID with New-Guid for a new definition and reuse it for updates, but nothing records it: a new GUID creates a second definition instead of updating the first; a version that doesn't rise breaks the release: config/releases.json holds the fixed policy ID, mode and published version; MC-POL-05 to MC-POL-07 compare against it. An enforcing definition reaches every machine in scope: two tools on one setting flip it back and forth, each reporting success: MC-POL-08 requires the ConfigOwner tag filter on ApplyAnd* definitions, the same rule VK-ARC-07 checks after the fact. The generated definition's IncludeArcMachines parameter defaults to "false": an assignment made with defaults leaves every Arc-enabled server out of scope, and nothing reports it: MC-POL-09 reminds on every build meant for Arc. Learn's SAS example lasts three years: a read token in a definition outlives the package, the server and the people who made it: managed identity by default; MC-POL-03 warns on any SAS and refuses one longer than 90 days (design guidance). The verdict: Learn's procedure is the procedure: the build calls its cmdlets in its order and replaces none of them. What the build adds sits between the steps: clean the MOF before packaging, check the package before defining, check the definition before publishing, and record what was built.
Sources: Microsoft Learn, "How to create custom machine configuration policy definitions," https://learn.microsoft.com/azure/governance/machine-configuration/how-to/create-policy-definition (accessed Oct 30, 2026). · Microsoft Learn, "How to publish custom machine configuration package artifacts," https://learn.microsoft.com/azure/governance/machine-configuration/how-to/develop-custom-package/4-publish-package (accessed Oct 30, 2026).
Workbook: Building the Attribute-Driven Migration, Chapter 07 — “What it leaves to you”;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current module also turned up a few places where it differs from Learn's text. The file names, a parameter's shape and the package contents aren't quite what Learn describes. The package works either way, and the test pins what the module actually does. The bigger one is a role. An enforcing definition grants its remediation identity a role named only by an identifier that Learn's built-in roles reference doesn't list. Microsoft's own role tables name it. So before relying on it, read the role in a test subscription and record what it can do.
Detail: Two smaller differences from Learn's text, found by running 4.12.0 and pinned in the baseline test. The definition file is named &lt;package&gt;_AuditIfNotExists.json or &lt;package&gt;_DeployIfNotExists.json, not auditIfNotExists.json as Learn's page says. The -Tag parameter takes one hashtable; the array of hashtables Learn describes fails to bind. The package also holds only the configuration's own resource module, not the GuestConfiguration and DscNativeResources folders Learn lists in a package's expected contents. The package works either way; the test pins what 4.12.0 does. An enforcing definition also grants its remediation identity a role, and the generated DeployIfNotExists definition names it only by ID: 088ab73d-1256-47ae-bea9-9de8e7131f31. Learn's built-in roles reference doesn't list that ID. Microsoft's own role tables name it Guest Configuration Resource Contributor, "Lets you read, write Guest Configuration Resource", and a Learn page for Azure Local tells you to pick that role by name for machine configuration policy definitions. Before an assignment relies on it, read the definition in the test subscription with Get-AzRoleDefinition -Id 088ab73d-1256-47ae-bea9-9de8e7131f31 and record its name and actions. The test pins that 4.12.0 grants this one role and no other. The GuestConfiguration module version, its command list and its behavior come from the PowerShell Gallery and from running it, not from Learn.
Sources: Microsoft Learn, "How to create custom machine configuration policy definitions," https://learn.microsoft.com/azure/governance/machine-configuration/how-to/create-policy-definition (accessed Oct 30, 2026). · Microsoft Learn, "How to create custom machine configuration package artifacts," https://learn.microsoft.com/azure/governance/machine-configuration/how-to/develop-custom-package/2-create-package (accessed Oct 30, 2026). · Microsoft, Azure/Azure-Sentinel, Sample Data/Feeds/AzureBuiltInRole.csv at commit 16a027b6208ceb97869df85ea2e1ce4d0cad3408 (August 28, 2026), row "Guest Configuration Resource Contributor", and MicrosoftDocs/entra-docs, .docutune/dictionaries/known-guids.json at commit 4ed6827815ecbf4e021fc736d75fdda6a2fd6272 (October 28, 2026), both mapping the name to 088ab73d-1256-47ae-bea9-9de8e7131f31, read with gh api (accessed Oct 30, 2026). Not Learn pages: Learn's "Azure built-in roles" and its Management and governance page don't list the ID (searched Oct 30, 2026). · Microsoft Learn, "Enable Insights for Azure Local at scale using Azure policies," https://learn.microsoft.com/azure/azure-local/manage/monitor-multi-azure-policies (accessed Oct 30, 2026); it names the role but not its ID. · PowerShell Gallery, "GuestConfiguration 4.12.0," https://www.powershellgallery.com/packages/GuestConfiguration/4.12.0 (accessed Oct 30, 2026). Not a Learn page: Learn's setup page installs the module from the gallery without naming a current version.
Workbook: Building the Attribute-Driven Migration, Chapter 07 — “What it leaves to you” — the smaller differences and the remediation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example add? One configuration, which audits that old protocol versions are explicitly switched off on servers. It's audit only, and a server with no explicit setting counts as non-compliant, on purpose, because the baseline wants the setting on record. A module of checks, and a build script that runs the whole thing offline. The heart of it is the release registry: the reviewed record of what's in production. It fixes the policy identifier forever, the mode, the published version, the identity, and the owner tag that keeps other tools' servers out.
Detail: examples/machine-configuration has one configuration, one module of checks, one build script and two test files. configurations/TlsServerProtocols.ps1 audits that the server side of TLS 1.0 and TLS 1.1 is explicitly disabled in SCHANNEL, using the Registry resource from PSDscResources. It is audit only. It reports a machine with no explicit setting as non-compliant, which is the intent: the baseline wants the setting on record. powershell/McPipeline.psm1 holds the checks and the provenance manifest. None of it needs the GuestConfiguration module, Azure or a network. powershell/Invoke-McBuild.ps1 runs the whole build offline: compile, clean, package, define, check, write provenance.json. It exits 0 if the build passed (warnings allowed), 2 on findings, and 1 on error. config/releases.json is the reviewed record of what is in production, one entry per configuration: TlsServerProtocols with policyId ca593085-dfcb-425d-ac9c-12870a55bbaa, platform Windows, mode Audit, published 0.0.0, identity system, include_arc true, owner_tag ConfigOwner = ArcMachineConfiguration. The policy ID never changes; Learn says to reuse it so updates replace the definition. mode is checked case-sensitively against the three assignment types. published moves up in the same pull request that publishes a new version, so a second build of 1.0.0 fails MC-POL-06. identity: system builds definitions that read the package with each machine's system-assigned identity, which Learn says works for Arc-enabled servers; a user-assigned identity doesn't. The owner tag value is the one the Arc track uses.
Sources: Microsoft Learn, "How to create custom machine configuration policy definitions," https://learn.microsoft.com/azure/governance/machine-configuration/how-to/create-policy-definition (accessed Oct 30, 2026). · Microsoft Learn, "How to provide secure access to custom machine configuration packages," https://learn.microsoft.com/azure/governance/machine-configuration/how-to/develop-custom-package/5-access-package (accessed Oct 30, 2026).
Workbook: Building the Attribute-Driven Migration, Chapter 07 — “The code: what examples/machine-configuration adds”; “The release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the build adds is a cleaner. It rewrites the compiled file into one canonical form: it strips out who built it and when, keeps source references in the short form Microsoft's own sample uses, and sorts everything. Compile three times and you get three different files, but one cleaned file. A test confirms the cleaned file means the same thing to the desired state engine. Then the package check opens the zip in memory and applies seven rules, from its layout and size to secrets and module versions.
Detail: ConvertTo-McCleanMof rewrites the compiled MOF into one canonical form. It drops the header comment and the configuration document's Author, GenerationDate and GenerationHost. It keeps SourceInfo as ::line::column::resource, the form Microsoft's own sample MOF uses. It sorts each instance's properties and writes LF line endings. Compiled three times, the configuration gives three different MOFs and one cleaned MOF. The baseline test parses the compiled and cleaned files with DSC's own MOF deserializer and checks that the resources and values are the same, apart from the fields removed on purpose. Test-McPackage opens the .zip in memory and applies seven rules. The MOF and metaconfig must be at the root (MC-PKG-01), and the type must be the one the registry mode needs (MC-PKG-02). The package must stay within the 100 MB limit (MC-PKG-03). The MOF must carry no build-host data (MC-PKG-04) and nothing that looks like a secret (MC-PKG-05). Every module the MOF imports must be in the package at the version it was compiled against (MC-PKG-06). The package name must carry a version (MC-PKG-07, a warning).
Sources: Microsoft Learn, "How to create custom machine configuration package artifacts," https://learn.microsoft.com/azure/governance/machine-configuration/how-to/develop-custom-package/2-create-package (accessed Oct 30, 2026). · Microsoft Learn, "How to develop a custom machine configuration package," https://learn.microsoft.com/azure/governance/machine-configuration/how-to/develop-custom-package/overview (accessed Oct 30, 2026).
Workbook: Building the Attribute-Driven Migration, Chapter 07 — “Clean the MOF”; “Check the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build checks the definition against the package and the registry, with nine rules. The one that catches the most is the hash check: an enforcing definition carries the package hash in four places, and every copy must match this exact package. So a hand edit or a rebuild fails here, not on a server. Then the build writes a provenance record. Notice there are two kinds of hash. The cleaned file's hash is reproducible, so a reviewer can rebuild and match it. The package hash identifies the bytes that shipped, so the security officer can match the published file.
Detail: Test-McPolicy reads the definition New-GuestConfigurationPolicy wrote, with the package and the registry entry, and applies nine rules (MC-POL-01 to MC-POL-09; the README lists them). The one that catches the most is MC-POL-02. contentHash appears four times in an enforcing definition (once in the metadata, once per machine type in the deployment template), and every copy must be this package's SHA-256. A hand-edited definition or a rebuilt package fails here, not on a server. provenance.json follows the pattern of Book 13, Chapter 04: what was built, from what, and what shipped. Fields: schema fmp-mc-provenance/1; configuration TlsServerProtocols; version 1.0.0; policy_id ca593085-dfcb-425d-ac9c-12870a55bbaa; mode Audit; mof file TlsServerProtocols_1.0.0.mof with sha256 ecffd795…; package file TlsServerProtocols_1.0.0.zip with sha256 and bytes 341673; policy file TlsServerProtocols_1.0.0_AuditIfNotExists.json with sha256; modules GuestConfiguration 4.12.0, PSDesiredStateConfiguration 2.0.7, PSDscResources 2.12.0.0; findings Finding 0, Warn 0, Info 1. The MOF hash is the reviewable one: it is the same for anyone who builds the same commit. The package and definition hashes identify the bytes that shipped; an ISSO can download the published blob, hash it, and match it here. Chapter 09 carries this file into the evidence package. The tests: tests/McPipeline.Tests.ps1 has 49 fixture tests and needs no module: it zips packages in a temporary folder and uses two definitions 4.12.0 wrote, with the package hash replaced by a placeholder. tests/LearnBaseline.Tests.ps1 has 16 tests that run Learn's cmdlets and the pinned sample offline. They skip unless the pinned module versions are found.
Sources: Building the Attribute-Driven Migration, Chapter 07, docs/project-plans/developer-workbooks/attribute-driven-migration/07-machine-configuration-packages.md
Workbook: Building the Attribute-Driven Migration, Chapter 07 — “Check the definition”; “The provenance manifest”;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this for? The developers and platform engineers who write server baselines for the Arc track, and the engineers and security officers who review them. You'll want to be comfortable in PowerShell and know what a desired state configuration is; the chapter covers the parts of Azure Policy you need. The roles are few and narrow. Publishing a definition needs the policy contributor role. Machines read the package with their own identity and a read-only storage role, never a token. And the remediation role is the one to confirm before you rely on it.
Detail: Audience: developers and platform engineers who write server baselines for the Arc track, and the engineers and ISSOs who review them. You should be comfortable in PowerShell 7 and know what a DSC configuration is. You don't need to know Azure Policy in depth: the chapter covers the parts machine configuration uses. Publish the definition with Resource Policy Contributor on the test subscription, Learn's recommended role. The definition uses each machine's system-assigned identity, so assign Storage Blob Data Reader on the storage account to the server's identity, as Learn describes for this option; no SAS token goes in the definition. An enforcing definition's remediation identity is granted 088ab73d-1256-47ae-bea9-9de8e7131f31, Guest Configuration Resource Contributor (name from Microsoft's role tables, not Learn's built-in roles reference; confirm with Get-AzRoleDefinition in Lab 2). Learn says local testing runs the same agent as the machines, installs it under C:\ProgramData\GuestConfig\bin on first use, and needs elevation; Start-GuestConfigurationPackageRemediation changes the machine it runs on.
Sources: Microsoft Learn, "How to create custom machine configuration policy definitions," https://learn.microsoft.com/azure/governance/machine-configuration/how-to/create-policy-definition (accessed Oct 30, 2026). · Microsoft Learn, "How to test machine configuration package artifacts," https://learn.microsoft.com/azure/governance/machine-configuration/how-to/develop-custom-package/3-test-package (accessed Oct 30, 2026). · Microsoft, Azure/Azure-Sentinel, Sample Data/Feeds/AzureBuiltInRole.csv at commit 16a027b6208ceb97869df85ea2e1ce4d0cad3408 (August 28, 2026), row "Guest Configuration Resource Contributor", and MicrosoftDocs/entra-docs, .docutune/dictionaries/known-guids.json at commit 4ed6827815ecbf4e021fc736d75fdda6a2fd6272 (October 28, 2026), both mapping the name to 088ab73d-1256-47ae-bea9-9de8e7131f31, read with gh api (accessed Oct 30, 2026). Not Learn pages: Learn's "Azure built-in roles" and its Management and governance page don't list the ID (searched Oct 30, 2026).
Workbook: Building the Attribute-Driven Migration, Chapter 07 — “Goal and audience”; “Lab 2”;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Windows laptop and never signs in, uploads or installs the agent. You save the pinned modules to a folder rather than installing them. Then you follow Learn's steps by hand: compile once, package twice, and you get two different hashes from the same file. Open the compiled file and you'll find your own user name, computer name and folder path. The checks catch exactly that. Then you run Microsoft's old sample with the current module: it still packages, its cmdlet has been renamed, and its published file is already clean.
Detail: You need Windows with PowerShell 7.1 or later and Pester 5. Nothing in this lab signs in, uploads, or installs the machine configuration agent. Step 1, save the pinned modules to a folder rather than installing them, from examples/machine-configuration: Save-Module GuestConfiguration -RequiredVersion 4.12.0 -Path ./mcmods; Save-Module PSDesiredStateConfiguration -RequiredVersion 2.0.7 -Path ./mcmods; Save-Module PSDscResources -RequiredVersion 2.12.0.0 -Path ./mcmods; $env:PSModulePath = (Resolve-Path ./mcmods).Path + ';' + $env:PSModulePath; Import-Module PSDesiredStateConfiguration -RequiredVersion 2.0.7. Step 2, follow Learn's steps by hand: . ./configurations/TlsServerProtocols.ps1; TlsServerProtocols -OutputPath ./lab/compiled; New-GuestConfigurationPackage -Name TlsServerProtocols -Configuration ./lab/compiled/localhost.mof -Type Audit -Path ./lab/p1 -Force, and again with -Path ./lab/p2; Get-FileHash on both zips. Two packages from one MOF, with two different hashes. Open ./lab/compiled/localhost.mof: your user name and computer name are in the header, and your folder path is in every SourceInfo. Step 3, see what the checks say about Learn's output: Import-Module ./powershell/McPipeline.psm1; Test-McPackage -Path ./lab/p1/TlsServerProtocols.zip -Name TlsServerProtocols -ExpectedType Audit. Three rows: two MC-PKG-04 findings (build-host data, absolute path) and the MC-PKG-07 warning (no version in the name). Step 4, run Microsoft's pinned sample with the current module: cd ../third_party/guest-configuration-samples/package-samples/.example-project; $env:PSModulePath = "$PWD/Modules;" + $env:PSModulePath; New-GuestConfigurationPackage -Name AdministratorsGroupMembers -Configuration ./AdministratorsGroupMembers.mof -Path $env:TEMP/ms -Force; Get-Command Test-GuestConfigurationPackage -ErrorAction SilentlyContinue returns nothing: renamed; cd back to machine-configuration. The package builds. Test-McMofText on the sample's AdministratorsGroupMembers.mof returns nothing: Microsoft's published MOF carries no build-host data, which is the form the cleaner produces.
Sources: Microsoft Learn, "How to create custom machine configuration package artifacts," https://learn.microsoft.com/azure/governance/machine-configuration/how-to/develop-custom-package/2-create-package (accessed Oct 30, 2026). · 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
Workbook: Building the Attribute-Driven Migration, Chapter 07 — “Lab 1: offline, no subscription,” steps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checked build. It runs offline, passes, and gives one reminder: the switch for Arc-enabled servers defaults to off. Build it a second time and compare the two provenance records. The cleaned file's hash matches across builds; the package hashes don't. That's exactly why you publish the bytes you checked, and never rebuild. Then break it on purpose: reuse a version, mistype the mode's capital letter, or enforce without the owner tag, and each one fails for its own reason. Run the tests, and sixty-five pass.
Detail: Step 5, run the checked build: pwsh ./powershell/Invoke-McBuild.ps1 -Name TlsServerProtocols -Version 1.0.0 -ContentUri https://stcontosomc.blob.core.windows.net/machine-configuration -ModulePath ./mcmods -OutputPath ./out. It exits 0 with one information row, MC-POL-09: IncludeArcMachines defaults to false. Open out/TlsServerProtocols_1.0.0/TlsServerProtocols_1.0.0_AuditIfNotExists.json under policy, and find contentHash and the IncludeArcMachines parameter. Run the build again into ./out2 and compare the two provenance.json files: the mof.sha256 values match (ecffd795…), and the package hashes don't. Step 6, break something on purpose: in a copy of config/releases.json, change published to 1.0.0 and pass it with -Registry: exit 2, MC-POL-06. Change mode to applyAndAutoCorrect (lower-case a): exit 1, because the mode is case sensitive. Change it to ApplyAndAutoCorrect and remove owner_tag: exit 2, MC-POL-08. Step 7, run the tests: $env:MC_MODULE_PATH = (Resolve-Path ./mcmods).Path; Invoke-Pester ./tests. Expected result: 65 tests passing (49 if MC_MODULE_PATH isn't set, with 16 skipped), and each difference in the gap table seen with your own eyes. Illustrative code: the build runs Learn's cmdlets as the module publishes them, and its checks are tested against fixtures and offline runs, not against a production subscription. The cleaned MOF parses the same with DSC's deserializer, but its acceptance by the agent on a real machine is shown in Lab 2. Review the code, and run Lab 2, before it builds a production baseline.
Sources: Building the Attribute-Driven Migration, Chapter 07, docs/project-plans/developer-workbooks/attribute-driven-migration/07-machine-configuration-packages.md
Workbook: Building the Attribute-Driven Migration, Chapter 07 — “Lab 1: offline, no subscription,” steps 5–7;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needs a test subscription and a server you can throw away, because local testing changes the machine it runs on. First you test the package on that server: it should fail on a default build and pass once both settings are off. That's what proves the agent accepts the cleaned file. Then you upload the exact package from Lab 1, never a rebuild, and check its hash. Machines read it with their own identity. Publish, assign with Arc servers included, read the result, and back it all out, including any leftover guest assignments.
Detail: Use a test subscription and a server you can rebuild, never production. Learn says local testing runs the same agent as the machines, installs it under C:\ProgramData\GuestConfig\bin on first use, and needs elevation; Start-GuestConfigurationPackageRemediation changes the machine it runs on. 1 Test the package on the disposable server: copy TlsServerProtocols_1.0.0.zip from Lab 1 to it and, in an elevated PowerShell 7 session with the pinned modules, run Get-GuestConfigurationPackageComplianceStatus -Path ./TlsServerProtocols_1.0.0.zip. Expect complianceStatus False on a default server, with a reason per registry key, and True after you set both Enabled values to 0. This is the step that shows the agent accepts the cleaned MOF. 2 Sign in to the right cloud: in Azure Government, Connect-AzAccount -Environment AzureUSGovernment. Check the server can reach the cloud's machine configuration endpoints. For Azure Government, Learn lists *.guestconfiguration.azure.us for Arc-enabled servers and regional endpoints for US Gov Arizona, Texas and Virginia. 3 Publish the exact bytes: create a storage account and container in the test subscription with anonymous blob access disabled, and upload the package Lab 1 built with Learn's Set-AzStorageBlobContent step. Don't rebuild it. Download it back and compare its SHA-256 with package.sha256 in provenance.json. 4 Grant read access to the machines, not a token: the definition uses each machine's system-assigned identity, so assign Storage Blob Data Reader on the storage account to the test server's identity, as Learn describes for this option. No SAS token goes in the definition. 5 Publish the definition: with Resource Policy Contributor on the test subscription, run New-AzPolicyDefinition -Name &lt;registry policyId&gt; -Policy ./out/TlsServerProtocols_1.0.0/policy/TlsServerProtocols_1.0.0_AuditIfNotExists.json. Using the registry's policy ID as the name means the next version updates this definition. 6 Assign it to the test resource group with IncludeArcMachines set to true. If the test server is Arc-enabled and you leave the default, nothing happens and nothing says so. 7 Read the result: within a few evaluation cycles the guest assignment appears with a compliance status. Read it in the portal's guest assignments page or through Resource Graph, the way VK-ARC-03 and VK-ARC-07 in Chapter 03's validation kit do. Record the assignment's contentHash and compare it with provenance.json. 8 Back it out: delete the policy assignment; Learn says that deletes the guest assignment it created, but a definition removed from an initiative leaves its guest assignments behind to delete by hand. Then delete the definition, the blob and the role assignment, and rebuild the disposable server. To try an enforcing version, rebuild with the registry mode set to ApplyAndMonitor, a new version and a new package name. Tag the test server ConfigOwner = ArcMachineConfiguration; an untagged server stays out of scope, which is the point.
Sources: Microsoft Learn, "How to test machine configuration package artifacts," https://learn.microsoft.com/azure/governance/machine-configuration/how-to/develop-custom-package/3-test-package (accessed Oct 30, 2026). · Microsoft Learn, "Connected Machine agent network requirements," https://learn.microsoft.com/azure/azure-arc/servers/network-requirements (accessed Oct 30, 2026). · Microsoft Learn, "Azure Machine Configuration network requirements," https://learn.microsoft.com/azure/governance/machine-configuration/overview/03-network-requirements (accessed Oct 30, 2026). · Microsoft Learn, "How to publish custom machine configuration package artifacts," https://learn.microsoft.com/azure/governance/machine-configuration/how-to/develop-custom-package/4-publish-package (accessed Oct 30, 2026). · Microsoft Learn, "How to create custom machine configuration policy definitions," https://learn.microsoft.com/azure/governance/machine-configuration/how-to/create-policy-definition (accessed Oct 30, 2026). · Microsoft Learn, "Understand machine configuration assignment resources," https://learn.microsoft.com/azure/governance/machine-configuration/concepts/assignments (accessed Oct 30, 2026).
Workbook: Building the Attribute-Driven Migration, Chapter 07 — “Lab 2: test subscription and a disposable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and they cluster around a few ideas. One owning tool per setting, enforced by a tag filter at build time and checked again after assignment. Never rebuild at release time: publish the bytes you checked, and match their hash. Keep build-host details and secrets out of the package. Use the machine's own identity rather than a long-lived token. Remember the Arc switch is off by default. And if signing is required, sign first, then generate the definition from the signed file, so the hash is the one that ships.
Detail: Two tools on one setting: under ApplyAndAutoCorrect, machine configuration and another tool flip a value back and forth, both reporting success; guard: MC-POL-08 owner tag filter at build time; VK-ARC-07 after assignment. Rebuilding at release time: the package published isn't the package reviewed, or its hash no longer matches the definition; guard: publish the bytes the build checked; MC-POL-02; compare the downloaded blob with provenance.json. Build-host data in a published package: user names, host names and folder paths in a blob the whole fleet can read; guard: ConvertTo-McCleanMof; MC-PKG-04. A secret in a MOF: Learn says don't; a credential compiled into a resource is in every copy of the package; guard: MC-PKG-05; parameters through Azure Policy for values that vary. A long-lived SAS token: Learn's example lasts three years; the URI in the definition is a standing read grant; guard: system-assigned identity with Storage Blob Data Reader; MC-POL-03. Arc servers silently out of scope: IncludeArcMachines defaults to "false"; guard: MC-POL-09 on every build; Lab 2 step 6. A new GUID for an update: a second definition, and two assignments on the same machines; guard: fixed policy ID in the registry; MC-POL-05. Enforcing by accident: an AuditAndSet package and an apply mode change servers that were only meant to be measured; guard: registry mode reviewed; MC-PKG-02 and MC-POL-07; the cmdlet itself refuses an apply mode for an audit-only package. Leftover guest assignments: removing a definition from an initiative leaves its guest assignments in place; guard: a back-out step that lists and deletes them. A floating module: a rebuild compiles against different resources; guard: RequiredModules.psd1; the baseline tests on every module update. Unsigned content where signing is required: tagged machines refuse it; guard: sign before publishing, as Learn says, and generate the definition from the file you publish, so contentHash is the hash of the signed package (design guidance). Turning off remediation of custom content on one machine: tag CustomGuestConfigurationSetPolicy = disable.
Sources: Microsoft Learn, "Understand machine configuration assignment resources," https://learn.microsoft.com/azure/governance/machine-configuration/concepts/assignments (accessed Oct 30, 2026). · Microsoft Learn, "How to sign machine configuration packages," https://learn.microsoft.com/azure/governance/machine-configuration/how-to/develop-custom-package/6-sign-package (accessed Oct 30, 2026). · Microsoft Learn, "How to publish custom machine configuration package artifacts," https://learn.microsoft.com/azure/governance/machine-configuration/how-to/develop-custom-package/4-publish-package (accessed Oct 30, 2026). · Microsoft Learn, "How to develop a custom machine configuration package," https://learn.microsoft.com/azure/governance/machine-configuration/how-to/develop-custom-package/overview (accessed Oct 30, 2026). · Microsoft Learn, "Remediation options for machine configuration," https://learn.microsoft.com/azure/governance/machine-configuration/concepts/remediation-options (accessed Oct 30, 2026).
Workbook: Building the Attribute-Driven Migration, Chapter 07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configuration and its registry entry arrive in the same pull request. The build used the pinned modules and found nothing. Anyone can rebuild the commit and match the cleaned file's hash. The package was tested on a throwaway server, and the published file's hash matches the record and the definition everywhere. No long-lived token, the owner tag filter on anything that enforces, Arc servers included where they belong, and the records filed as evidence. Next, Chapter 8 puts Ansible beside Arc. Thanks for watching.
Detail: Checklist: the configuration is in Git, with the registry entry in the same pull request: fixed policy ID, mode, published version, owner tag, identity. The build ran from the pinned module versions and exited 0; findings.json has no findings. The cleaned MOF's hash in provenance.json matches a rebuild of the same commit. The package was tested on a disposable server with Get-GuestConfigurationPackageComplianceStatus (and Start-GuestConfigurationPackageRemediation for AuditAndSet). The published blob's SHA-256 matches package.sha256, and the definition's contentHash matches it everywhere it appears. No SAS token in the definition, or one that expires within 90 days with a recorded reason. Enforcing definitions filter on ConfigOwner, and VK-ARC-07 is clean after assignment. The assignment sets IncludeArcMachines to true where Arc-enabled servers are in scope. Signed content, where required: signed after the checks, definition generated from the signed file, machines tagged. The pinned sample matches its manifest, and every upstream commit to the samples and the module since the pin has been reviewed. provenance.json and findings.json are in the evidence store. Next: Chapter 08 — Ansible Beside Arc.
Sources: Microsoft Learn, "How to test machine configuration package artifacts," https://learn.microsoft.com/azure/governance/machine-configuration/how-to/develop-custom-package/3-test-package (accessed Oct 30, 2026). · Microsoft Learn, "How to sign machine configuration packages," https://learn.microsoft.com/azure/governance/machine-configuration/how-to/develop-custom-package/6-sign-package (accessed Oct 30, 2026).
Workbook: Building the Attribute-Driven Migration, Chapter 07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docs/project-plans/developer-workbooks/attribute-driven-migration/07-machine-configuration-packages.md.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docs/project-plans/developer-workbooks/attribute-driven-migration/07-machine-configuration-packages.md.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07: Machine Configuration Packages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Learn's model and procedure · what the cmdlets leave to you · clean, check, record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build needs checks between Learn's steps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Learn's cmdlets build a package and a definition. Nothing in them says whether it's the one you reviewed.</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2112264"/>
            <a:ext cx="3550920" cy="1653540"/>
          </a:xfrm>
          <a:prstGeom prst="roundRect">
            <a:avLst>
              <a:gd name="adj" fmla="val 442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2112264"/>
            <a:ext cx="82296" cy="165354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4249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Is it the reviewed package?</a:t>
            </a:r>
            <a:endParaRPr lang="en-US" sz="1400" dirty="0"/>
          </a:p>
          <a:p>
            <a:pPr indent="0" marL="0">
              <a:spcAft>
                <a:spcPts val="300"/>
              </a:spcAft>
              <a:buNone/>
            </a:pPr>
            <a:r>
              <a:rPr lang="en-US" sz="1550" dirty="0">
                <a:solidFill>
                  <a:srgbClr val="334155"/>
                </a:solidFill>
              </a:rPr>
              <a:t>A rebuilt package doesn't match the hash in the reviewed definition</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328160" y="2112264"/>
            <a:ext cx="3550920" cy="1653540"/>
          </a:xfrm>
          <a:prstGeom prst="roundRect">
            <a:avLst>
              <a:gd name="adj" fmla="val 442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4328160" y="2112264"/>
            <a:ext cx="82296" cy="1653540"/>
          </a:xfrm>
          <a:prstGeom prst="rect">
            <a:avLst/>
          </a:prstGeom>
          <a:solidFill>
            <a:srgbClr val="B91C1C"/>
          </a:solidFill>
          <a:ln w="12700">
            <a:solidFill>
              <a:srgbClr val="B91C1C"/>
            </a:solidFill>
            <a:prstDash val="solid"/>
          </a:ln>
        </p:spPr>
      </p:sp>
      <p:sp>
        <p:nvSpPr>
          <p:cNvPr id="11" name="Card 2 text"/>
          <p:cNvSpPr txBox="1"/>
          <p:nvPr/>
        </p:nvSpPr>
        <p:spPr>
          <a:xfrm>
            <a:off x="4556760" y="2249424"/>
            <a:ext cx="3185160" cy="14249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Does it leak the build host?</a:t>
            </a:r>
            <a:endParaRPr lang="en-US" sz="1400" dirty="0"/>
          </a:p>
          <a:p>
            <a:pPr indent="0" marL="0">
              <a:spcAft>
                <a:spcPts val="300"/>
              </a:spcAft>
              <a:buNone/>
            </a:pPr>
            <a:r>
              <a:rPr lang="en-US" sz="1550" dirty="0">
                <a:solidFill>
                  <a:srgbClr val="334155"/>
                </a:solidFill>
              </a:rPr>
              <a:t>The compiled MOF records user, host, date and script path, and goes to a blob the fleet reads</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107680" y="2112264"/>
            <a:ext cx="3550920" cy="1653540"/>
          </a:xfrm>
          <a:prstGeom prst="roundRect">
            <a:avLst>
              <a:gd name="adj" fmla="val 442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8107680" y="2112264"/>
            <a:ext cx="82296" cy="165354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4249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Will it reach another tool's servers?</a:t>
            </a:r>
            <a:endParaRPr lang="en-US" sz="1400" dirty="0"/>
          </a:p>
          <a:p>
            <a:pPr indent="0" marL="0">
              <a:spcAft>
                <a:spcPts val="300"/>
              </a:spcAft>
              <a:buNone/>
            </a:pPr>
            <a:r>
              <a:rPr lang="en-US" sz="1550" dirty="0">
                <a:solidFill>
                  <a:srgbClr val="334155"/>
                </a:solidFill>
              </a:rPr>
              <a:t>An enforcing definition reaches every machine in scope, whatever owns the setting</a:t>
            </a:r>
            <a:endParaRPr lang="en-US" sz="1400" dirty="0"/>
          </a:p>
        </p:txBody>
      </p:sp>
      <p:sp>
        <p:nvSpPr>
          <p:cNvPr id="15" name="Callout" descr="">
            <a:extLst>
              <a:ext uri="{C183D7F6-B498-43B3-948B-1728B52AA6E4}">
                <adec:decorative xmlns:adec="http://schemas.microsoft.com/office/drawing/2017/decorative" val="1"/>
              </a:ext>
            </a:extLst>
          </p:cNvPr>
          <p:cNvSpPr/>
          <p:nvPr/>
        </p:nvSpPr>
        <p:spPr>
          <a:xfrm>
            <a:off x="548640" y="3948684"/>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6" name="Icon FaSitemap" descr="">
            <a:extLst>
              <a:ext uri="{C183D7F6-B498-43B3-948B-1728B52AA6E4}">
                <adec:decorative xmlns:adec="http://schemas.microsoft.com/office/drawing/2017/decorative" val="1"/>
              </a:ext>
            </a:extLst>
          </p:cNvPr>
          <p:cNvSpPr/>
          <p:nvPr/>
        </p:nvSpPr>
        <p:spPr>
          <a:xfrm>
            <a:off x="749808" y="4138422"/>
            <a:ext cx="640080" cy="640080"/>
          </a:xfrm>
          <a:prstGeom prst="ellipse">
            <a:avLst/>
          </a:prstGeom>
          <a:solidFill>
            <a:srgbClr val="0F766E"/>
          </a:solidFill>
          <a:ln w="12700">
            <a:solidFill>
              <a:srgbClr val="0F766E"/>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292041"/>
            <a:ext cx="332842" cy="332842"/>
          </a:xfrm>
          <a:prstGeom prst="rect">
            <a:avLst/>
          </a:prstGeom>
        </p:spPr>
      </p:pic>
      <p:sp>
        <p:nvSpPr>
          <p:cNvPr id="18" name="Callout text"/>
          <p:cNvSpPr txBox="1"/>
          <p:nvPr/>
        </p:nvSpPr>
        <p:spPr>
          <a:xfrm>
            <a:off x="1600200" y="4003548"/>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Where it sits: </a:t>
            </a:r>
            <a:pPr indent="0" marL="0">
              <a:buNone/>
            </a:pPr>
            <a:r>
              <a:rPr lang="en-US" sz="1750" dirty="0">
                <a:solidFill>
                  <a:srgbClr val="334155"/>
                </a:solidFill>
              </a:rPr>
              <a:t>the Arc track puts each server under one owning tool per setting: config_owner in the CMDB, mirrored in the ConfigOwner tag. For settings machine configuration owns, the code is a DSC configuration, and Azure Policy delivers it.</a:t>
            </a:r>
            <a:endParaRPr lang="en-US" sz="17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Arc track implementation guide; Ansible guide, one owning tool per setting. Chapter 07, opening; “Where machine configuration sits”;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model: package, definition, guest assignment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91084" cy="29108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Package: </a:t>
            </a:r>
            <a:pPr indent="0" marL="0">
              <a:buNone/>
            </a:pPr>
            <a:r>
              <a:rPr lang="en-US" sz="1550" dirty="0">
                <a:solidFill>
                  <a:srgbClr val="334155"/>
                </a:solidFill>
              </a:rPr>
              <a:t>a .zip with the compiled MOF and the DSC resource modules it uses: what the machine should look like</a:t>
            </a:r>
            <a:endParaRPr lang="en-US" sz="1550" dirty="0"/>
          </a:p>
        </p:txBody>
      </p:sp>
      <p:sp>
        <p:nvSpPr>
          <p:cNvPr id="8" name="Step 2 dot" descr="">
            <a:extLst>
              <a:ext uri="{C183D7F6-B498-43B3-948B-1728B52AA6E4}">
                <adec:decorative xmlns:adec="http://schemas.microsoft.com/office/drawing/2017/decorative" val="1"/>
              </a:ext>
            </a:extLst>
          </p:cNvPr>
          <p:cNvSpPr/>
          <p:nvPr/>
        </p:nvSpPr>
        <p:spPr>
          <a:xfrm>
            <a:off x="548640" y="1926336"/>
            <a:ext cx="291084" cy="291084"/>
          </a:xfrm>
          <a:prstGeom prst="ellipse">
            <a:avLst/>
          </a:prstGeom>
          <a:solidFill>
            <a:srgbClr val="B45309"/>
          </a:solidFill>
          <a:ln w="12700">
            <a:solidFill>
              <a:srgbClr val="B45309"/>
            </a:solidFill>
            <a:prstDash val="solid"/>
          </a:ln>
        </p:spPr>
      </p:sp>
      <p:sp>
        <p:nvSpPr>
          <p:cNvPr id="9" name="Step 2 number"/>
          <p:cNvSpPr txBox="1"/>
          <p:nvPr/>
        </p:nvSpPr>
        <p:spPr>
          <a:xfrm>
            <a:off x="548640" y="1926336"/>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908048"/>
            <a:ext cx="10561320" cy="345948"/>
          </a:xfrm>
          <a:prstGeom prst="rect">
            <a:avLst/>
          </a:prstGeom>
          <a:noFill/>
          <a:ln/>
        </p:spPr>
        <p:txBody>
          <a:bodyPr wrap="square" lIns="0" tIns="0" rIns="0" bIns="0" rtlCol="0" anchor="t"/>
          <a:lstStyle/>
          <a:p>
            <a:pPr indent="0" marL="0">
              <a:buNone/>
            </a:pPr>
            <a:r>
              <a:rPr lang="en-US" sz="1550" b="1" dirty="0">
                <a:solidFill>
                  <a:srgbClr val="1F2A44"/>
                </a:solidFill>
              </a:rPr>
              <a:t>Policy definition: </a:t>
            </a:r>
            <a:pPr indent="0" marL="0">
              <a:buNone/>
            </a:pPr>
            <a:r>
              <a:rPr lang="en-US" sz="1550" dirty="0">
                <a:solidFill>
                  <a:srgbClr val="334155"/>
                </a:solidFill>
              </a:rPr>
              <a:t>category Guest Configuration; points at the package by URI and hash</a:t>
            </a:r>
            <a:endParaRPr lang="en-US" sz="1550" dirty="0"/>
          </a:p>
        </p:txBody>
      </p:sp>
      <p:sp>
        <p:nvSpPr>
          <p:cNvPr id="11" name="Step 3 dot" descr="">
            <a:extLst>
              <a:ext uri="{C183D7F6-B498-43B3-948B-1728B52AA6E4}">
                <adec:decorative xmlns:adec="http://schemas.microsoft.com/office/drawing/2017/decorative" val="1"/>
              </a:ext>
            </a:extLst>
          </p:cNvPr>
          <p:cNvSpPr/>
          <p:nvPr/>
        </p:nvSpPr>
        <p:spPr>
          <a:xfrm>
            <a:off x="548640" y="2272284"/>
            <a:ext cx="291084" cy="291084"/>
          </a:xfrm>
          <a:prstGeom prst="ellipse">
            <a:avLst/>
          </a:prstGeom>
          <a:solidFill>
            <a:srgbClr val="B45309"/>
          </a:solidFill>
          <a:ln w="12700">
            <a:solidFill>
              <a:srgbClr val="B45309"/>
            </a:solidFill>
            <a:prstDash val="solid"/>
          </a:ln>
        </p:spPr>
      </p:sp>
      <p:sp>
        <p:nvSpPr>
          <p:cNvPr id="12" name="Step 3 number"/>
          <p:cNvSpPr txBox="1"/>
          <p:nvPr/>
        </p:nvSpPr>
        <p:spPr>
          <a:xfrm>
            <a:off x="548640" y="2272284"/>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253996"/>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Guest assignment: </a:t>
            </a:r>
            <a:pPr indent="0" marL="0">
              <a:buNone/>
            </a:pPr>
            <a:r>
              <a:rPr lang="en-US" sz="1550" dirty="0">
                <a:solidFill>
                  <a:srgbClr val="334155"/>
                </a:solidFill>
              </a:rPr>
              <a:t>created on each machine in scope when the definition is assigned; the agent downloads the package, evaluates it, reports compliance. Up to 50 per machine</a:t>
            </a:r>
            <a:endParaRPr lang="en-US" sz="155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3019044"/>
          <a:ext cx="5634533" cy="1985772"/>
        </p:xfrm>
        <a:graphic>
          <a:graphicData uri="http://schemas.openxmlformats.org/drawingml/2006/table">
            <a:tbl>
              <a:tblPr firstRow="1" bandRow="1"/>
              <a:tblGrid>
                <a:gridCol w="2641187"/>
                <a:gridCol w="2993346"/>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Assignment type (case sensitive)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agent does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Audit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Reports; changes nothing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ApplyAndMonitor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Applies once, then reports drift without correcting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ApplyAndAutoCorrect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Applies, and corrects drift at the next evaluation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Panel Release stage" descr="">
            <a:extLst>
              <a:ext uri="{C183D7F6-B498-43B3-948B-1728B52AA6E4}">
                <adec:decorative xmlns:adec="http://schemas.microsoft.com/office/drawing/2017/decorative" val="1"/>
              </a:ext>
            </a:extLst>
          </p:cNvPr>
          <p:cNvSpPr/>
          <p:nvPr/>
        </p:nvSpPr>
        <p:spPr>
          <a:xfrm>
            <a:off x="6457493" y="3019044"/>
            <a:ext cx="5201107" cy="1985772"/>
          </a:xfrm>
          <a:prstGeom prst="roundRect">
            <a:avLst>
              <a:gd name="adj" fmla="val 368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6" name="Panel Release stage label"/>
          <p:cNvSpPr txBox="1"/>
          <p:nvPr/>
        </p:nvSpPr>
        <p:spPr>
          <a:xfrm>
            <a:off x="6640373" y="3128772"/>
            <a:ext cx="4835347" cy="274320"/>
          </a:xfrm>
          <a:prstGeom prst="rect">
            <a:avLst/>
          </a:prstGeom>
          <a:noFill/>
          <a:ln/>
        </p:spPr>
        <p:txBody>
          <a:bodyPr wrap="square" lIns="0" tIns="0" rIns="0" bIns="0" rtlCol="0" anchor="t"/>
          <a:lstStyle/>
          <a:p>
            <a:pPr indent="0" marL="0">
              <a:buNone/>
            </a:pPr>
            <a:r>
              <a:rPr lang="en-US" sz="1100" b="1" spc="50" kern="0" dirty="0">
                <a:solidFill>
                  <a:srgbClr val="0F766E"/>
                </a:solidFill>
              </a:rPr>
              <a:t>RELEASE STAGE</a:t>
            </a:r>
            <a:endParaRPr lang="en-US" sz="1100" dirty="0"/>
          </a:p>
        </p:txBody>
      </p:sp>
      <p:sp>
        <p:nvSpPr>
          <p:cNvPr id="17" name="Panel Release stage list"/>
          <p:cNvSpPr txBox="1"/>
          <p:nvPr/>
        </p:nvSpPr>
        <p:spPr>
          <a:xfrm>
            <a:off x="6640373" y="3430524"/>
            <a:ext cx="4881067" cy="152857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Custom packages that audit and apply, and custom AuditIfNotExists or DeployIfNotExists definitions: generally available</a:t>
            </a:r>
            <a:endParaRPr lang="en-US" sz="1500" dirty="0"/>
          </a:p>
          <a:p>
            <a:pPr marL="342900" indent="-342900">
              <a:spcAft>
                <a:spcPts val="400"/>
              </a:spcAft>
              <a:buSzPct val="100000"/>
              <a:buChar char="•"/>
            </a:pPr>
            <a:r>
              <a:rPr lang="en-US" sz="1500" dirty="0">
                <a:solidFill>
                  <a:srgbClr val="334155"/>
                </a:solidFill>
              </a:rPr>
              <a:t>Applying needs the guest configuration extension 1.26.24+ on Azure VMs, or Arc agent 1.10.0+</a:t>
            </a:r>
            <a:endParaRPr lang="en-US" sz="150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What is Azure Machine Configuration; assignment resources; Remediation options; Develop a custom package. Chapter 07, “Where machine configuration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endpoints, package access and cost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58440"/>
        </p:xfrm>
        <a:graphic>
          <a:graphicData uri="http://schemas.openxmlformats.org/drawingml/2006/table">
            <a:tbl>
              <a:tblPr firstRow="1" bandRow="1"/>
              <a:tblGrid>
                <a:gridCol w="2651760"/>
                <a:gridCol w="84582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Learn says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Sign-in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 Azure Government, Connect-AzAccount -Environment AzureUSGovernment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Endpoints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Arc-enabled servers in Azure Government need *.guestconfiguration.azure.us; machine configuration endpoints are listed for US Gov Arizona, Texas and Virginia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Package access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system-assigned identity works for Arc-enabled servers; a user-assigned identity doesn't, and needs -ExcludeArcMachines. Either needs Storage Blob Data Reader and anonymous blob access disabled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Cost on Arc</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extra cost for Arc-enabled Windows servers with Software Assurance or a subscription license once attested, or on Windows Server pay-as-you-go; otherwise bought separately. Activation isn't available in US Gov Virginia or US Gov Arizona, so plan to buy it there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26720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34035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85924"/>
            <a:ext cx="315407" cy="315407"/>
          </a:xfrm>
          <a:prstGeom prst="rect">
            <a:avLst/>
          </a:prstGeom>
        </p:spPr>
      </p:pic>
      <p:sp>
        <p:nvSpPr>
          <p:cNvPr id="9" name="Callout text"/>
          <p:cNvSpPr txBox="1"/>
          <p:nvPr/>
        </p:nvSpPr>
        <p:spPr>
          <a:xfrm>
            <a:off x="1600200" y="432206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servers report to commercial Azure, so its build signs in to the commercial cloud; the Azure Government rows apply to a subscription there.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Arc agent network requirements; Machine Configuration network needs; Secure package access; Windows Server Management by Arc. Chapter 07,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gives you: the procedure, step by step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01312"/>
        </p:xfrm>
        <a:graphic>
          <a:graphicData uri="http://schemas.openxmlformats.org/drawingml/2006/table">
            <a:tbl>
              <a:tblPr firstRow="1" bandRow="1"/>
              <a:tblGrid>
                <a:gridCol w="1554480"/>
                <a:gridCol w="5394960"/>
                <a:gridCol w="41605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command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produces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Set 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Install-Module GuestConfiguration; on Windows, PSDesiredStateConfiguration 2.0.7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PowerShell 7.1.3+ on Windows, 7.2.4+ on Ubuntu 20+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Author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Configuration MyConfig { ... }, then dot-source the script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localhost.mof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Package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New-GuestConfigurationPackage -Name -Configuration -Type Audit or AuditAndSet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&lt;Name&gt;.zip: the MOF, metaconfig.json (type, version), the modules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Get-GuestConfigurationPackageComplianceStatus; Start-…Remediation for AuditAndSet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Compliance per resource, from the machines' own agent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Publish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Set-AzStorageBlobContent, optionally New-AzStorageBlobSASToken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HTTPS URI the machines can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Sign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Protect-GuestConfigurationPackage; the GuestConfigPolicyCertificateValidation tag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signed package tagged machines insist 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Define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New-GuestConfigurationPolicy -PolicyId -ContentUri -Mode -Platform -PolicyVersion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Definition JSON, with contentHash filled in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Publish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New-AzPolicyDefinition; Resource Policy Contributor recommended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definition in Azure, ready to assign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Develop a custom package; Set up authoring; Create package artifacts; Test; Publish; Sign; Create policy definitions. Chapter 07,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three don'ts, and the pinned sample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says not to do" descr="">
            <a:extLst>
              <a:ext uri="{C183D7F6-B498-43B3-948B-1728B52AA6E4}">
                <adec:decorative xmlns:adec="http://schemas.microsoft.com/office/drawing/2017/decorative" val="1"/>
              </a:ext>
            </a:extLst>
          </p:cNvPr>
          <p:cNvSpPr/>
          <p:nvPr/>
        </p:nvSpPr>
        <p:spPr>
          <a:xfrm>
            <a:off x="548640" y="1325880"/>
            <a:ext cx="5417820" cy="2467356"/>
          </a:xfrm>
          <a:prstGeom prst="roundRect">
            <a:avLst>
              <a:gd name="adj" fmla="val 296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What Learn says not to do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WHAT LEARN SAYS NOT TO DO</a:t>
            </a:r>
            <a:endParaRPr lang="en-US" sz="1100" dirty="0"/>
          </a:p>
        </p:txBody>
      </p:sp>
      <p:sp>
        <p:nvSpPr>
          <p:cNvPr id="7" name="Panel What Learn says not to do list"/>
          <p:cNvSpPr txBox="1"/>
          <p:nvPr/>
        </p:nvSpPr>
        <p:spPr>
          <a:xfrm>
            <a:off x="73152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 secrets or confidential information in a package</a:t>
            </a:r>
            <a:endParaRPr lang="en-US" sz="1550" dirty="0"/>
          </a:p>
          <a:p>
            <a:pPr marL="342900" indent="-342900">
              <a:spcAft>
                <a:spcPts val="400"/>
              </a:spcAft>
              <a:buSzPct val="100000"/>
              <a:buChar char="•"/>
            </a:pPr>
            <a:r>
              <a:rPr lang="en-US" sz="1550" dirty="0">
                <a:solidFill>
                  <a:srgbClr val="334155"/>
                </a:solidFill>
              </a:rPr>
              <a:t>At most 100 MB uncompressed</a:t>
            </a:r>
            <a:endParaRPr lang="en-US" sz="1550" dirty="0"/>
          </a:p>
          <a:p>
            <a:pPr marL="342900" indent="-342900">
              <a:spcAft>
                <a:spcPts val="400"/>
              </a:spcAft>
              <a:buSzPct val="100000"/>
              <a:buChar char="•"/>
            </a:pPr>
            <a:r>
              <a:rPr lang="en-US" sz="1550" dirty="0">
                <a:solidFill>
                  <a:srgbClr val="334155"/>
                </a:solidFill>
              </a:rPr>
              <a:t>A new version: a new package name (PackageName_1.0.0), the same PolicyId, a higher version, contentHash recomputed. If only the URI changes and not the hash, the extension rejects it</a:t>
            </a:r>
            <a:endParaRPr lang="en-US" sz="1550" dirty="0"/>
          </a:p>
        </p:txBody>
      </p:sp>
      <p:sp>
        <p:nvSpPr>
          <p:cNvPr id="8" name="Panel The pinned sample" descr="">
            <a:extLst>
              <a:ext uri="{C183D7F6-B498-43B3-948B-1728B52AA6E4}">
                <adec:decorative xmlns:adec="http://schemas.microsoft.com/office/drawing/2017/decorative" val="1"/>
              </a:ext>
            </a:extLst>
          </p:cNvPr>
          <p:cNvSpPr/>
          <p:nvPr/>
        </p:nvSpPr>
        <p:spPr>
          <a:xfrm>
            <a:off x="6240780" y="1325880"/>
            <a:ext cx="5417820" cy="2467356"/>
          </a:xfrm>
          <a:prstGeom prst="roundRect">
            <a:avLst>
              <a:gd name="adj" fmla="val 29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sampl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SAMPLE</a:t>
            </a:r>
            <a:endParaRPr lang="en-US" sz="1100" dirty="0"/>
          </a:p>
        </p:txBody>
      </p:sp>
      <p:sp>
        <p:nvSpPr>
          <p:cNvPr id="10" name="Panel The pinned sample list"/>
          <p:cNvSpPr txBox="1"/>
          <p:nvPr/>
        </p:nvSpPr>
        <p:spPr>
          <a:xfrm>
            <a:off x="642366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Azure/azure-policy's worked example project, commit ca85d61 (Aug 4, 2021), MIT: createPackage.ps1, AdministratorsGroupMembers.mof and the LocalGroup module</a:t>
            </a:r>
            <a:endParaRPr lang="en-US" sz="1550" dirty="0"/>
          </a:p>
          <a:p>
            <a:pPr marL="342900" indent="-342900">
              <a:spcAft>
                <a:spcPts val="400"/>
              </a:spcAft>
              <a:buSzPct val="100000"/>
              <a:buChar char="•"/>
            </a:pPr>
            <a:r>
              <a:rPr lang="en-US" sz="1550" dirty="0">
                <a:solidFill>
                  <a:srgbClr val="334155"/>
                </a:solidFill>
              </a:rPr>
              <a:t>snapshot.json holds the SHA-256 of every file; a unit test fails on change; the source watch reports upstream commits, to the samples and the module</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3976116"/>
            <a:ext cx="11109960" cy="1286256"/>
          </a:xfrm>
          <a:prstGeom prst="roundRect">
            <a:avLst>
              <a:gd name="adj" fmla="val 568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4299204"/>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452823"/>
            <a:ext cx="332842" cy="332842"/>
          </a:xfrm>
          <a:prstGeom prst="rect">
            <a:avLst/>
          </a:prstGeom>
        </p:spPr>
      </p:pic>
      <p:sp>
        <p:nvSpPr>
          <p:cNvPr id="14" name="Callout text"/>
          <p:cNvSpPr txBox="1"/>
          <p:nvPr/>
        </p:nvSpPr>
        <p:spPr>
          <a:xfrm>
            <a:off x="1600200" y="4030980"/>
            <a:ext cx="9875520" cy="1176528"/>
          </a:xfrm>
          <a:prstGeom prst="rect">
            <a:avLst/>
          </a:prstGeom>
          <a:noFill/>
          <a:ln/>
        </p:spPr>
        <p:txBody>
          <a:bodyPr wrap="square" lIns="0" tIns="0" rIns="0" bIns="0" rtlCol="0" anchor="ctr"/>
          <a:lstStyle/>
          <a:p>
            <a:pPr indent="0" marL="0">
              <a:buNone/>
            </a:pPr>
            <a:r>
              <a:rPr lang="en-US" sz="1750" b="1" dirty="0">
                <a:solidFill>
                  <a:srgbClr val="B45309"/>
                </a:solidFill>
              </a:rPr>
              <a:t>Two things no longer hold: </a:t>
            </a:r>
            <a:pPr indent="0" marL="0">
              <a:buNone/>
            </a:pPr>
            <a:r>
              <a:rPr lang="en-US" sz="1750" dirty="0">
                <a:solidFill>
                  <a:srgbClr val="334155"/>
                </a:solidFill>
              </a:rPr>
              <a:t>the sample is five years older than GuestConfiguration 4.12.0 (June 22, 2026, PowerShell Gallery). Its script calls Test-GuestConfigurationPackage, now Get-GuestConfigurationPackageComplianceStatus, and appends to PSModulePath with the Linux separator. Its MOF and module still package.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Develop a package; Create artifacts; Create policy definitions; overview; Azure/azure-policy at ca85d61; PowerShell Gallery. Chapter 07, “The pinned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cmdlets leave to you: the package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3749040"/>
                <a:gridCol w="3840480"/>
                <a:gridCol w="35204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cmdlets, on their own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compiled MOF records user, host, date and full script path (@GeneratedBy, @GenerationHost, SourceInfo)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package goes to a blob the machines read: it publishes who built it and 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ConvertTo-McCleanMof removes them; MC-PKG-04 refuses a package that still has them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Compiling writes each resource's properties in a different order each run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hash changes with no change; a reviewer can't tell a real change from noise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cleaner sorts properties: same source, same MOF bytes, any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New-GuestConfigurationPackage writes a different .zip each run, even from one MOF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rebuilt package doesn't match the reviewed definition's hash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Build once, check, publish those exact bytes; provenance.json records both hashes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Nothing checks for secrets, although Learn says not to include them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credential in a MOF is readable by anyone who can read the blob</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MC-PKG-05 scans for credential properties, SAS signatures, account keys, private keys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Module versions float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rebuild a month later compiles against different resources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RequiredModules.psd1 pins them; the build stops if one is missing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Develop a custom package (no secrets); Learn's cmdlets run offline with GuestConfiguration 4.12.0. Chapter 07,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cmdlets leave to you: the definition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22320"/>
        </p:xfrm>
        <a:graphic>
          <a:graphicData uri="http://schemas.openxmlformats.org/drawingml/2006/table">
            <a:tbl>
              <a:tblPr firstRow="1" bandRow="1"/>
              <a:tblGrid>
                <a:gridCol w="3749040"/>
                <a:gridCol w="3840480"/>
                <a:gridCol w="35204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cmdlets, on their own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New-GuestConfigurationPolicy takes any -PolicyId and -PolicyVersion; Learn says New-Guid once, reuse it for updates, but nothing records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new GUID creates a second definition; a version that doesn't rise breaks the release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config/releases.json holds policy ID, mode and published version; MC-POL-05 to 07 compare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An enforcing definition reaches every machine in scope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tools on one setting flip it back and forth, each reporting success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MC-POL-08 requires the ConfigOwner tag filter on ApplyAnd*; VK-ARC-07 checks after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IncludeArcMachines defaults to "false"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Arc-enabled server left out, and nothing reports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MC-POL-09 reminds on every build meant for Arc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Learn's SAS example lasts three years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read token outlives the package, the server and its makers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Managed identity by default; MC-POL-03 warns on any SAS, refuses over 90 days (design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831080"/>
            <a:ext cx="11109960" cy="996696"/>
          </a:xfrm>
          <a:prstGeom prst="roundRect">
            <a:avLst>
              <a:gd name="adj" fmla="val 733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5009388"/>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63007"/>
            <a:ext cx="332842" cy="332842"/>
          </a:xfrm>
          <a:prstGeom prst="rect">
            <a:avLst/>
          </a:prstGeom>
        </p:spPr>
      </p:pic>
      <p:sp>
        <p:nvSpPr>
          <p:cNvPr id="9" name="Callout text"/>
          <p:cNvSpPr txBox="1"/>
          <p:nvPr/>
        </p:nvSpPr>
        <p:spPr>
          <a:xfrm>
            <a:off x="1600200" y="4885944"/>
            <a:ext cx="9875520" cy="886968"/>
          </a:xfrm>
          <a:prstGeom prst="rect">
            <a:avLst/>
          </a:prstGeom>
          <a:noFill/>
          <a:ln/>
        </p:spPr>
        <p:txBody>
          <a:bodyPr wrap="square" lIns="0" tIns="0" rIns="0" bIns="0" rtlCol="0" anchor="ctr"/>
          <a:lstStyle/>
          <a:p>
            <a:pPr indent="0" marL="0">
              <a:buNone/>
            </a:pPr>
            <a:r>
              <a:rPr lang="en-US" sz="1700" b="1" dirty="0">
                <a:solidFill>
                  <a:srgbClr val="1F2A44"/>
                </a:solidFill>
              </a:rPr>
              <a:t>Verdict: </a:t>
            </a:r>
            <a:pPr indent="0" marL="0">
              <a:buNone/>
            </a:pPr>
            <a:r>
              <a:rPr lang="en-US" sz="1700" dirty="0">
                <a:solidFill>
                  <a:srgbClr val="334155"/>
                </a:solidFill>
              </a:rPr>
              <a:t>Learn's procedure is the procedure: the build calls its cmdlets in its order and replaces none. It adds what sits between: clean the MOF, check the package, check the definition, record what was built.</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custom machine configuration policy definitions; Publish package artifacts (SAS example). Chapter 07,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4.12.0 differs from Learn's text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543812"/>
        </p:xfrm>
        <a:graphic>
          <a:graphicData uri="http://schemas.openxmlformats.org/drawingml/2006/table">
            <a:tbl>
              <a:tblPr firstRow="1" bandRow="1"/>
              <a:tblGrid>
                <a:gridCol w="4572000"/>
                <a:gridCol w="65379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text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4.12.0 does (pinned in the baseline test)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definition file is auditIfNotExists.json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&lt;package&gt;_AuditIfNotExists.json or &lt;package&gt;_DeployIfNotExists.json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-Tag takes an array of hashtables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-Tag takes one hashtable; the array fails to bind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 package holds the GuestConfiguration and DscNativeResources folders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Only the configuration's own resource module; the package works either way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e remediation role" descr="">
            <a:extLst>
              <a:ext uri="{C183D7F6-B498-43B3-948B-1728B52AA6E4}">
                <adec:decorative xmlns:adec="http://schemas.microsoft.com/office/drawing/2017/decorative" val="1"/>
              </a:ext>
            </a:extLst>
          </p:cNvPr>
          <p:cNvSpPr/>
          <p:nvPr/>
        </p:nvSpPr>
        <p:spPr>
          <a:xfrm>
            <a:off x="548640" y="3052572"/>
            <a:ext cx="5417820" cy="2642616"/>
          </a:xfrm>
          <a:prstGeom prst="roundRect">
            <a:avLst>
              <a:gd name="adj" fmla="val 276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Panel The remediation role label"/>
          <p:cNvSpPr txBox="1"/>
          <p:nvPr/>
        </p:nvSpPr>
        <p:spPr>
          <a:xfrm>
            <a:off x="731520" y="3162300"/>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THE REMEDIATION ROLE</a:t>
            </a:r>
            <a:endParaRPr lang="en-US" sz="1100" dirty="0"/>
          </a:p>
        </p:txBody>
      </p:sp>
      <p:sp>
        <p:nvSpPr>
          <p:cNvPr id="8" name="Panel The remediation role list"/>
          <p:cNvSpPr txBox="1"/>
          <p:nvPr/>
        </p:nvSpPr>
        <p:spPr>
          <a:xfrm>
            <a:off x="731520" y="3464052"/>
            <a:ext cx="5097780" cy="21854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An enforcing definition grants its remediation identity a role, named only by ID: 088ab73d-1256-47ae-bea9-9de8e7131f31</a:t>
            </a:r>
            <a:endParaRPr lang="en-US" sz="1500" dirty="0"/>
          </a:p>
          <a:p>
            <a:pPr marL="342900" indent="-342900">
              <a:spcAft>
                <a:spcPts val="400"/>
              </a:spcAft>
              <a:buSzPct val="100000"/>
              <a:buChar char="•"/>
            </a:pPr>
            <a:r>
              <a:rPr lang="en-US" sz="1500" dirty="0">
                <a:solidFill>
                  <a:srgbClr val="334155"/>
                </a:solidFill>
              </a:rPr>
              <a:t>Learn's built-in roles reference doesn't list that ID</a:t>
            </a:r>
            <a:endParaRPr lang="en-US" sz="1500" dirty="0"/>
          </a:p>
          <a:p>
            <a:pPr marL="342900" indent="-342900">
              <a:spcAft>
                <a:spcPts val="400"/>
              </a:spcAft>
              <a:buSzPct val="100000"/>
              <a:buChar char="•"/>
            </a:pPr>
            <a:r>
              <a:rPr lang="en-US" sz="1500" dirty="0">
                <a:solidFill>
                  <a:srgbClr val="334155"/>
                </a:solidFill>
              </a:rPr>
              <a:t>Microsoft's role tables name it Guest Configuration Resource Contributor; a Learn page for Azure Local picks that role by name</a:t>
            </a:r>
            <a:endParaRPr lang="en-US" sz="1500" dirty="0"/>
          </a:p>
        </p:txBody>
      </p:sp>
      <p:sp>
        <p:nvSpPr>
          <p:cNvPr id="9" name="Panel Confirm it" descr="">
            <a:extLst>
              <a:ext uri="{C183D7F6-B498-43B3-948B-1728B52AA6E4}">
                <adec:decorative xmlns:adec="http://schemas.microsoft.com/office/drawing/2017/decorative" val="1"/>
              </a:ext>
            </a:extLst>
          </p:cNvPr>
          <p:cNvSpPr/>
          <p:nvPr/>
        </p:nvSpPr>
        <p:spPr>
          <a:xfrm>
            <a:off x="6240780" y="3052572"/>
            <a:ext cx="5417820" cy="2642616"/>
          </a:xfrm>
          <a:prstGeom prst="roundRect">
            <a:avLst>
              <a:gd name="adj" fmla="val 276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Confirm it label"/>
          <p:cNvSpPr txBox="1"/>
          <p:nvPr/>
        </p:nvSpPr>
        <p:spPr>
          <a:xfrm>
            <a:off x="6423660" y="3162300"/>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CONFIRM IT</a:t>
            </a:r>
            <a:endParaRPr lang="en-US" sz="1100" dirty="0"/>
          </a:p>
        </p:txBody>
      </p:sp>
      <p:sp>
        <p:nvSpPr>
          <p:cNvPr id="11" name="Panel Confirm it list"/>
          <p:cNvSpPr txBox="1"/>
          <p:nvPr/>
        </p:nvSpPr>
        <p:spPr>
          <a:xfrm>
            <a:off x="6423660" y="3464052"/>
            <a:ext cx="5097780" cy="21854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Before an assignment relies on it, read it in the test subscription: Get-AzRoleDefinition -Id 088ab73d-…</a:t>
            </a:r>
            <a:endParaRPr lang="en-US" sz="1500" dirty="0"/>
          </a:p>
          <a:p>
            <a:pPr marL="342900" indent="-342900">
              <a:spcAft>
                <a:spcPts val="400"/>
              </a:spcAft>
              <a:buSzPct val="100000"/>
              <a:buChar char="•"/>
            </a:pPr>
            <a:r>
              <a:rPr lang="en-US" sz="1500" dirty="0">
                <a:solidFill>
                  <a:srgbClr val="334155"/>
                </a:solidFill>
              </a:rPr>
              <a:t>Record its name and actions</a:t>
            </a:r>
            <a:endParaRPr lang="en-US" sz="1500" dirty="0"/>
          </a:p>
          <a:p>
            <a:pPr marL="342900" indent="-342900">
              <a:spcAft>
                <a:spcPts val="400"/>
              </a:spcAft>
              <a:buSzPct val="100000"/>
              <a:buChar char="•"/>
            </a:pPr>
            <a:r>
              <a:rPr lang="en-US" sz="1500" dirty="0">
                <a:solidFill>
                  <a:srgbClr val="334155"/>
                </a:solidFill>
              </a:rPr>
              <a:t>The test pins that 4.12.0 grants this one role and no other</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policy definitions; Create package artifacts; Microsoft role tables (not Learn); Learn, Azure Local Insights policies. Chapter 07,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and the release registry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examples/machine-configuration" descr="">
            <a:extLst>
              <a:ext uri="{C183D7F6-B498-43B3-948B-1728B52AA6E4}">
                <adec:decorative xmlns:adec="http://schemas.microsoft.com/office/drawing/2017/decorative" val="1"/>
              </a:ext>
            </a:extLst>
          </p:cNvPr>
          <p:cNvSpPr/>
          <p:nvPr/>
        </p:nvSpPr>
        <p:spPr>
          <a:xfrm>
            <a:off x="548640" y="1325880"/>
            <a:ext cx="5417820" cy="2871216"/>
          </a:xfrm>
          <a:prstGeom prst="roundRect">
            <a:avLst>
              <a:gd name="adj" fmla="val 254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examples/machine-configuratio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EXAMPLES/MACHINE-CONFIGURATION</a:t>
            </a:r>
            <a:endParaRPr lang="en-US" sz="1100" dirty="0"/>
          </a:p>
        </p:txBody>
      </p:sp>
      <p:sp>
        <p:nvSpPr>
          <p:cNvPr id="7" name="Panel examples/machine-configuration list"/>
          <p:cNvSpPr txBox="1"/>
          <p:nvPr/>
        </p:nvSpPr>
        <p:spPr>
          <a:xfrm>
            <a:off x="73152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TlsServerProtocols.ps1</a:t>
            </a:r>
            <a:pPr indent="0" marL="0">
              <a:spcAft>
                <a:spcPts val="400"/>
              </a:spcAft>
              <a:buNone/>
            </a:pPr>
            <a:r>
              <a:rPr lang="en-US" sz="1500" dirty="0">
                <a:solidFill>
                  <a:srgbClr val="334155"/>
                </a:solidFill>
              </a:rPr>
              <a:t>: audits that the server side of TLS 1.0 and 1.1 is explicitly disabled in SCHANNEL (PSDscResources Registry). Audit only; no explicit setting is non-compliant, on purpose</a:t>
            </a:r>
            <a:endParaRPr lang="en-US" sz="1500" dirty="0"/>
          </a:p>
          <a:p>
            <a:pPr marL="342900" indent="-342900">
              <a:spcAft>
                <a:spcPts val="400"/>
              </a:spcAft>
              <a:buSzPct val="100000"/>
              <a:buChar char="•"/>
            </a:pPr>
            <a:r>
              <a:rPr lang="en-US" sz="1500" b="1" dirty="0">
                <a:solidFill>
                  <a:srgbClr val="1F2A44"/>
                </a:solidFill>
              </a:rPr>
              <a:t>McPipeline.psm1</a:t>
            </a:r>
            <a:pPr indent="0" marL="0">
              <a:spcAft>
                <a:spcPts val="400"/>
              </a:spcAft>
              <a:buNone/>
            </a:pPr>
            <a:r>
              <a:rPr lang="en-US" sz="1500" dirty="0">
                <a:solidFill>
                  <a:srgbClr val="334155"/>
                </a:solidFill>
              </a:rPr>
              <a:t>: the checks and the manifest; needs no GuestConfiguration module, Azure or network</a:t>
            </a:r>
            <a:endParaRPr lang="en-US" sz="1500" dirty="0"/>
          </a:p>
          <a:p>
            <a:pPr marL="342900" indent="-342900">
              <a:spcAft>
                <a:spcPts val="400"/>
              </a:spcAft>
              <a:buSzPct val="100000"/>
              <a:buChar char="•"/>
            </a:pPr>
            <a:r>
              <a:rPr lang="en-US" sz="1500" b="1" dirty="0">
                <a:solidFill>
                  <a:srgbClr val="1F2A44"/>
                </a:solidFill>
              </a:rPr>
              <a:t>Invoke-McBuild.ps1</a:t>
            </a:r>
            <a:pPr indent="0" marL="0">
              <a:spcAft>
                <a:spcPts val="400"/>
              </a:spcAft>
              <a:buNone/>
            </a:pPr>
            <a:r>
              <a:rPr lang="en-US" sz="1500" dirty="0">
                <a:solidFill>
                  <a:srgbClr val="334155"/>
                </a:solidFill>
              </a:rPr>
              <a:t>: compile, clean, package, define, check, write provenance.json. Exit 0 passed, 2 findings, 1 error</a:t>
            </a:r>
            <a:endParaRPr lang="en-US" sz="1500" dirty="0"/>
          </a:p>
        </p:txBody>
      </p:sp>
      <p:sp>
        <p:nvSpPr>
          <p:cNvPr id="8" name="Code panel" descr="">
            <a:extLst>
              <a:ext uri="{C183D7F6-B498-43B3-948B-1728B52AA6E4}">
                <adec:decorative xmlns:adec="http://schemas.microsoft.com/office/drawing/2017/decorative" val="1"/>
              </a:ext>
            </a:extLst>
          </p:cNvPr>
          <p:cNvSpPr/>
          <p:nvPr/>
        </p:nvSpPr>
        <p:spPr>
          <a:xfrm>
            <a:off x="6240780" y="1325880"/>
            <a:ext cx="5417820" cy="2130552"/>
          </a:xfrm>
          <a:prstGeom prst="roundRect">
            <a:avLst>
              <a:gd name="adj" fmla="val 343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label"/>
          <p:cNvSpPr txBox="1"/>
          <p:nvPr/>
        </p:nvSpPr>
        <p:spPr>
          <a:xfrm>
            <a:off x="6405372" y="1399032"/>
            <a:ext cx="5088636" cy="228600"/>
          </a:xfrm>
          <a:prstGeom prst="rect">
            <a:avLst/>
          </a:prstGeom>
          <a:noFill/>
          <a:ln/>
        </p:spPr>
        <p:txBody>
          <a:bodyPr wrap="square" lIns="0" tIns="0" rIns="0" bIns="0" rtlCol="0" anchor="t"/>
          <a:lstStyle/>
          <a:p>
            <a:pPr indent="0" marL="0">
              <a:buNone/>
            </a:pPr>
            <a:r>
              <a:rPr lang="en-US" sz="1050" b="1" dirty="0">
                <a:solidFill>
                  <a:srgbClr val="64748B"/>
                </a:solidFill>
              </a:rPr>
              <a:t>config/releases.json</a:t>
            </a:r>
            <a:endParaRPr lang="en-US" sz="1050" dirty="0"/>
          </a:p>
        </p:txBody>
      </p:sp>
      <p:sp>
        <p:nvSpPr>
          <p:cNvPr id="10" name="Code"/>
          <p:cNvSpPr txBox="1"/>
          <p:nvPr/>
        </p:nvSpPr>
        <p:spPr>
          <a:xfrm>
            <a:off x="6405372" y="1664208"/>
            <a:ext cx="5143500" cy="1746504"/>
          </a:xfrm>
          <a:prstGeom prst="rect">
            <a:avLst/>
          </a:prstGeom>
          <a:noFill/>
          <a:ln/>
        </p:spPr>
        <p:txBody>
          <a:bodyPr wrap="square" lIns="0" tIns="0" rIns="0" bIns="0" rtlCol="0" anchor="t"/>
          <a:lstStyle/>
          <a:p>
            <a:pPr indent="0" marL="0">
              <a:buNone/>
            </a:pPr>
            <a:r>
              <a:rPr lang="en-US" sz="1200" dirty="0">
                <a:solidFill>
                  <a:srgbClr val="334155"/>
                </a:solidFill>
                <a:latin typeface="Consolas" pitchFamily="34" charset="0"/>
                <a:ea typeface="Consolas" pitchFamily="34" charset="-122"/>
                <a:cs typeface="Consolas" pitchFamily="34" charset="-120"/>
              </a:rPr>
              <a:t>"TlsServerProtocols":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"policyId": "ca593085-dfcb-425d-ac9c-12870a55bbaa",</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"platform": "Windows",</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"mode": "Audit",</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"published": "0.0.0",</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"identity": "system",</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"include_arc": true,</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"owner_tag": { "ConfigOwner": "ArcMachineConfiguration"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a:t>
            </a:r>
            <a:endParaRPr lang="en-US" sz="1200" dirty="0"/>
          </a:p>
        </p:txBody>
      </p:sp>
      <p:sp>
        <p:nvSpPr>
          <p:cNvPr id="11" name="Lead"/>
          <p:cNvSpPr txBox="1"/>
          <p:nvPr/>
        </p:nvSpPr>
        <p:spPr>
          <a:xfrm>
            <a:off x="548640" y="4379976"/>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Policy ID never changes; mode checked case-sensitively; published rises in the publishing PR, so a second 1.0.0 fails MC-POL-06.</a:t>
            </a:r>
            <a:endParaRPr lang="en-US" sz="18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policy definitions (reuse the ID); Secure access to packages (system identity for Arc). Chapter 07, “The code,” “The release registry.”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Clean the MOF, then check the package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ConvertTo-McCleanMof" descr="">
            <a:extLst>
              <a:ext uri="{C183D7F6-B498-43B3-948B-1728B52AA6E4}">
                <adec:decorative xmlns:adec="http://schemas.microsoft.com/office/drawing/2017/decorative" val="1"/>
              </a:ext>
            </a:extLst>
          </p:cNvPr>
          <p:cNvSpPr/>
          <p:nvPr/>
        </p:nvSpPr>
        <p:spPr>
          <a:xfrm>
            <a:off x="548640" y="1325880"/>
            <a:ext cx="5417820" cy="2999232"/>
          </a:xfrm>
          <a:prstGeom prst="roundRect">
            <a:avLst>
              <a:gd name="adj" fmla="val 243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ConvertTo-McCleanMof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CONVERTTO-MCCLEANMOF</a:t>
            </a:r>
            <a:endParaRPr lang="en-US" sz="1100" dirty="0"/>
          </a:p>
        </p:txBody>
      </p:sp>
      <p:sp>
        <p:nvSpPr>
          <p:cNvPr id="7" name="Panel ConvertTo-McCleanMof list"/>
          <p:cNvSpPr txBox="1"/>
          <p:nvPr/>
        </p:nvSpPr>
        <p:spPr>
          <a:xfrm>
            <a:off x="73152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Drops the header comment, and the document's Author, GenerationDate and GenerationHost</a:t>
            </a:r>
            <a:endParaRPr lang="en-US" sz="1500" dirty="0"/>
          </a:p>
          <a:p>
            <a:pPr marL="342900" indent="-342900">
              <a:spcAft>
                <a:spcPts val="400"/>
              </a:spcAft>
              <a:buSzPct val="100000"/>
              <a:buChar char="•"/>
            </a:pPr>
            <a:r>
              <a:rPr lang="en-US" sz="1500" dirty="0">
                <a:solidFill>
                  <a:srgbClr val="334155"/>
                </a:solidFill>
              </a:rPr>
              <a:t>Keeps SourceInfo as ::line::column::resource, the form Microsoft's own sample MOF uses</a:t>
            </a:r>
            <a:endParaRPr lang="en-US" sz="1500" dirty="0"/>
          </a:p>
          <a:p>
            <a:pPr marL="342900" indent="-342900">
              <a:spcAft>
                <a:spcPts val="400"/>
              </a:spcAft>
              <a:buSzPct val="100000"/>
              <a:buChar char="•"/>
            </a:pPr>
            <a:r>
              <a:rPr lang="en-US" sz="1500" dirty="0">
                <a:solidFill>
                  <a:srgbClr val="334155"/>
                </a:solidFill>
              </a:rPr>
              <a:t>Sorts each instance's properties; LF line endings</a:t>
            </a:r>
            <a:endParaRPr lang="en-US" sz="1500" dirty="0"/>
          </a:p>
          <a:p>
            <a:pPr marL="342900" indent="-342900">
              <a:spcAft>
                <a:spcPts val="400"/>
              </a:spcAft>
              <a:buSzPct val="100000"/>
              <a:buChar char="•"/>
            </a:pPr>
            <a:r>
              <a:rPr lang="en-US" sz="1500" dirty="0">
                <a:solidFill>
                  <a:srgbClr val="334155"/>
                </a:solidFill>
              </a:rPr>
              <a:t>Compiled three times: three MOFs, one cleaned MOF</a:t>
            </a:r>
            <a:endParaRPr lang="en-US" sz="1500" dirty="0"/>
          </a:p>
          <a:p>
            <a:pPr marL="342900" indent="-342900">
              <a:spcAft>
                <a:spcPts val="400"/>
              </a:spcAft>
              <a:buSzPct val="100000"/>
              <a:buChar char="•"/>
            </a:pPr>
            <a:r>
              <a:rPr lang="en-US" sz="1500" dirty="0">
                <a:solidFill>
                  <a:srgbClr val="334155"/>
                </a:solidFill>
              </a:rPr>
              <a:t>The baseline test parses both with DSC's own deserializer: same resources and values, apart from fields removed on purpose</a:t>
            </a:r>
            <a:endParaRPr lang="en-US" sz="15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240780" y="1325880"/>
          <a:ext cx="5417820" cy="2866644"/>
        </p:xfrm>
        <a:graphic>
          <a:graphicData uri="http://schemas.openxmlformats.org/drawingml/2006/table">
            <a:tbl>
              <a:tblPr firstRow="1" bandRow="1"/>
              <a:tblGrid>
                <a:gridCol w="1444752"/>
                <a:gridCol w="3973068"/>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Test-McPackage checks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MOF and metaconfig at the root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Type matches what the registry mode needs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Within the 100 MB limit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MC-PKG-04</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build-host data in the MOF</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that looks like a secret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imported module, at its compiled version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MC-PKG-07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version in the package name (warning)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custom machine configuration package artifacts (100 MB); Develop a custom package (no secrets). Chapter 07, “Clean the MOF,” “Check the package.”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Check the definition, and record what shipped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Check the definition" descr="">
            <a:extLst>
              <a:ext uri="{C183D7F6-B498-43B3-948B-1728B52AA6E4}">
                <adec:decorative xmlns:adec="http://schemas.microsoft.com/office/drawing/2017/decorative" val="1"/>
              </a:ext>
            </a:extLst>
          </p:cNvPr>
          <p:cNvSpPr/>
          <p:nvPr/>
        </p:nvSpPr>
        <p:spPr>
          <a:xfrm>
            <a:off x="548640" y="1325880"/>
            <a:ext cx="4984394" cy="2642616"/>
          </a:xfrm>
          <a:prstGeom prst="roundRect">
            <a:avLst>
              <a:gd name="adj" fmla="val 276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Check the definition label"/>
          <p:cNvSpPr txBox="1"/>
          <p:nvPr/>
        </p:nvSpPr>
        <p:spPr>
          <a:xfrm>
            <a:off x="731520" y="1435608"/>
            <a:ext cx="4618634" cy="274320"/>
          </a:xfrm>
          <a:prstGeom prst="rect">
            <a:avLst/>
          </a:prstGeom>
          <a:noFill/>
          <a:ln/>
        </p:spPr>
        <p:txBody>
          <a:bodyPr wrap="square" lIns="0" tIns="0" rIns="0" bIns="0" rtlCol="0" anchor="t"/>
          <a:lstStyle/>
          <a:p>
            <a:pPr indent="0" marL="0">
              <a:buNone/>
            </a:pPr>
            <a:r>
              <a:rPr lang="en-US" sz="1100" b="1" spc="50" kern="0" dirty="0">
                <a:solidFill>
                  <a:srgbClr val="64748B"/>
                </a:solidFill>
              </a:rPr>
              <a:t>CHECK THE DEFINITION</a:t>
            </a:r>
            <a:endParaRPr lang="en-US" sz="1100" dirty="0"/>
          </a:p>
        </p:txBody>
      </p:sp>
      <p:sp>
        <p:nvSpPr>
          <p:cNvPr id="7" name="Panel Check the definition list"/>
          <p:cNvSpPr txBox="1"/>
          <p:nvPr/>
        </p:nvSpPr>
        <p:spPr>
          <a:xfrm>
            <a:off x="731520" y="1737360"/>
            <a:ext cx="4664354" cy="21854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Test-McPolicy reads the generated definition with the package and the registry entry: nine rules, MC-POL-01 to MC-POL-09</a:t>
            </a:r>
            <a:endParaRPr lang="en-US" sz="1500" dirty="0"/>
          </a:p>
          <a:p>
            <a:pPr marL="342900" indent="-342900">
              <a:spcAft>
                <a:spcPts val="400"/>
              </a:spcAft>
              <a:buSzPct val="100000"/>
              <a:buChar char="•"/>
            </a:pPr>
            <a:r>
              <a:rPr lang="en-US" sz="1500" b="1" dirty="0">
                <a:solidFill>
                  <a:srgbClr val="1F2A44"/>
                </a:solidFill>
              </a:rPr>
              <a:t>MC-POL-02</a:t>
            </a:r>
            <a:pPr indent="0" marL="0">
              <a:spcAft>
                <a:spcPts val="400"/>
              </a:spcAft>
              <a:buNone/>
            </a:pPr>
            <a:r>
              <a:rPr lang="en-US" sz="1500" dirty="0">
                <a:solidFill>
                  <a:srgbClr val="334155"/>
                </a:solidFill>
              </a:rPr>
              <a:t> catches the most: contentHash appears four times in an enforcing definition, and every copy must be this package's SHA-256</a:t>
            </a:r>
            <a:endParaRPr lang="en-US" sz="1500" dirty="0"/>
          </a:p>
          <a:p>
            <a:pPr marL="342900" indent="-342900">
              <a:spcAft>
                <a:spcPts val="400"/>
              </a:spcAft>
              <a:buSzPct val="100000"/>
              <a:buChar char="•"/>
            </a:pPr>
            <a:r>
              <a:rPr lang="en-US" sz="1500" dirty="0">
                <a:solidFill>
                  <a:srgbClr val="334155"/>
                </a:solidFill>
              </a:rPr>
              <a:t>A hand-edited definition or a rebuilt package fails here, not on a server</a:t>
            </a:r>
            <a:endParaRPr lang="en-US" sz="1500" dirty="0"/>
          </a:p>
        </p:txBody>
      </p:sp>
      <p:sp>
        <p:nvSpPr>
          <p:cNvPr id="8" name="Code panel" descr="">
            <a:extLst>
              <a:ext uri="{C183D7F6-B498-43B3-948B-1728B52AA6E4}">
                <adec:decorative xmlns:adec="http://schemas.microsoft.com/office/drawing/2017/decorative" val="1"/>
              </a:ext>
            </a:extLst>
          </p:cNvPr>
          <p:cNvSpPr/>
          <p:nvPr/>
        </p:nvSpPr>
        <p:spPr>
          <a:xfrm>
            <a:off x="5807354" y="1325880"/>
            <a:ext cx="5851246" cy="2069592"/>
          </a:xfrm>
          <a:prstGeom prst="roundRect">
            <a:avLst>
              <a:gd name="adj" fmla="val 353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label"/>
          <p:cNvSpPr txBox="1"/>
          <p:nvPr/>
        </p:nvSpPr>
        <p:spPr>
          <a:xfrm>
            <a:off x="5971946" y="1399032"/>
            <a:ext cx="5522062" cy="228600"/>
          </a:xfrm>
          <a:prstGeom prst="rect">
            <a:avLst/>
          </a:prstGeom>
          <a:noFill/>
          <a:ln/>
        </p:spPr>
        <p:txBody>
          <a:bodyPr wrap="square" lIns="0" tIns="0" rIns="0" bIns="0" rtlCol="0" anchor="t"/>
          <a:lstStyle/>
          <a:p>
            <a:pPr indent="0" marL="0">
              <a:buNone/>
            </a:pPr>
            <a:r>
              <a:rPr lang="en-US" sz="1050" b="1" dirty="0">
                <a:solidFill>
                  <a:srgbClr val="64748B"/>
                </a:solidFill>
              </a:rPr>
              <a:t>provenance.json (abridged)</a:t>
            </a:r>
            <a:endParaRPr lang="en-US" sz="1050" dirty="0"/>
          </a:p>
        </p:txBody>
      </p:sp>
      <p:sp>
        <p:nvSpPr>
          <p:cNvPr id="10" name="Code"/>
          <p:cNvSpPr txBox="1"/>
          <p:nvPr/>
        </p:nvSpPr>
        <p:spPr>
          <a:xfrm>
            <a:off x="5971946" y="1664208"/>
            <a:ext cx="5576926" cy="168554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"schema": "fmp-mc-provenance/1",</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"configuration": "TlsServerProtocols", "version": "1.0.0",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"policy_id": "ca593085-…", "mode": "Audit",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"mof":     { "sha256": "ecffd795…"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"package": { "sha256": "…", "bytes": 341673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 "file": "…_AuditIfNotExists.json"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"modules": { "GuestConfiguration": "4.12.0", …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"findings": { "Finding": 0, "Warn": 0, "Info": 1 }</a:t>
            </a:r>
            <a:endParaRPr lang="en-US" sz="1300" dirty="0"/>
          </a:p>
        </p:txBody>
      </p:sp>
      <p:sp>
        <p:nvSpPr>
          <p:cNvPr id="11" name="Callout" descr="">
            <a:extLst>
              <a:ext uri="{C183D7F6-B498-43B3-948B-1728B52AA6E4}">
                <adec:decorative xmlns:adec="http://schemas.microsoft.com/office/drawing/2017/decorative" val="1"/>
              </a:ext>
            </a:extLst>
          </p:cNvPr>
          <p:cNvSpPr/>
          <p:nvPr/>
        </p:nvSpPr>
        <p:spPr>
          <a:xfrm>
            <a:off x="548640" y="4151376"/>
            <a:ext cx="11109960" cy="1286256"/>
          </a:xfrm>
          <a:prstGeom prst="roundRect">
            <a:avLst>
              <a:gd name="adj" fmla="val 568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Fingerprint" descr="">
            <a:extLst>
              <a:ext uri="{C183D7F6-B498-43B3-948B-1728B52AA6E4}">
                <adec:decorative xmlns:adec="http://schemas.microsoft.com/office/drawing/2017/decorative" val="1"/>
              </a:ext>
            </a:extLst>
          </p:cNvPr>
          <p:cNvSpPr/>
          <p:nvPr/>
        </p:nvSpPr>
        <p:spPr>
          <a:xfrm>
            <a:off x="749808" y="4474464"/>
            <a:ext cx="640080" cy="640080"/>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628083"/>
            <a:ext cx="332842" cy="332842"/>
          </a:xfrm>
          <a:prstGeom prst="rect">
            <a:avLst/>
          </a:prstGeom>
        </p:spPr>
      </p:pic>
      <p:sp>
        <p:nvSpPr>
          <p:cNvPr id="14" name="Callout text"/>
          <p:cNvSpPr txBox="1"/>
          <p:nvPr/>
        </p:nvSpPr>
        <p:spPr>
          <a:xfrm>
            <a:off x="1600200" y="4206240"/>
            <a:ext cx="9875520" cy="1176528"/>
          </a:xfrm>
          <a:prstGeom prst="rect">
            <a:avLst/>
          </a:prstGeom>
          <a:noFill/>
          <a:ln/>
        </p:spPr>
        <p:txBody>
          <a:bodyPr wrap="square" lIns="0" tIns="0" rIns="0" bIns="0" rtlCol="0" anchor="ctr"/>
          <a:lstStyle/>
          <a:p>
            <a:pPr indent="0" marL="0">
              <a:buNone/>
            </a:pPr>
            <a:r>
              <a:rPr lang="en-US" sz="1750" b="1" dirty="0">
                <a:solidFill>
                  <a:srgbClr val="0F766E"/>
                </a:solidFill>
              </a:rPr>
              <a:t>Two kinds of hash: </a:t>
            </a:r>
            <a:pPr indent="0" marL="0">
              <a:buNone/>
            </a:pPr>
            <a:r>
              <a:rPr lang="en-US" sz="1750" dirty="0">
                <a:solidFill>
                  <a:srgbClr val="334155"/>
                </a:solidFill>
              </a:rPr>
              <a:t>the MOF hash is the reviewable one, the same for anyone who builds the commit. The package and definition hashes identify the bytes that shipped: an ISSO can download the blob, hash it and match it. Chapter 09 carries this file into the evidence package.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07, “Check the definition,” “The provenance manifest”; Book 13, Ch 04, change control and provenance.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writes baselines, who reviews, which roles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5440680" cy="1409700"/>
          </a:xfrm>
          <a:prstGeom prst="roundRect">
            <a:avLst>
              <a:gd name="adj" fmla="val 51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5074920" cy="11811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 and platform engineers</a:t>
            </a:r>
            <a:endParaRPr lang="en-US" sz="1400" dirty="0"/>
          </a:p>
          <a:p>
            <a:pPr indent="0" marL="0">
              <a:spcAft>
                <a:spcPts val="300"/>
              </a:spcAft>
              <a:buNone/>
            </a:pPr>
            <a:r>
              <a:rPr lang="en-US" sz="1550" dirty="0">
                <a:solidFill>
                  <a:srgbClr val="334155"/>
                </a:solidFill>
              </a:rPr>
              <a:t>Write server baselines for the Arc track; comfortable in PowerShell 7; know what a DSC configuration is. Azure Policy in depth isn't needed</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6217920" y="1325880"/>
            <a:ext cx="5440680" cy="1409700"/>
          </a:xfrm>
          <a:prstGeom prst="roundRect">
            <a:avLst>
              <a:gd name="adj" fmla="val 51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621792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6446520" y="1463040"/>
            <a:ext cx="5074920" cy="11811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Engineers and ISSOs who review</a:t>
            </a:r>
            <a:endParaRPr lang="en-US" sz="1400" dirty="0"/>
          </a:p>
          <a:p>
            <a:pPr indent="0" marL="0">
              <a:spcAft>
                <a:spcPts val="300"/>
              </a:spcAft>
              <a:buNone/>
            </a:pPr>
            <a:r>
              <a:rPr lang="en-US" sz="1550" dirty="0">
                <a:solidFill>
                  <a:srgbClr val="334155"/>
                </a:solidFill>
              </a:rPr>
              <a:t>Review the registry entry and the build; the ISSO matches a published blob's hash to provenance.json</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2537460"/>
        </p:xfrm>
        <a:graphic>
          <a:graphicData uri="http://schemas.openxmlformats.org/drawingml/2006/table">
            <a:tbl>
              <a:tblPr firstRow="1" bandRow="1"/>
              <a:tblGrid>
                <a:gridCol w="3931920"/>
                <a:gridCol w="717804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Publish a definition (New-AzPolicyDefinition)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Resource Policy Contributor, Learn's recommended 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Machines read the package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Storage Blob Data Reader on the storage account, to each machine's system-assigned identity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An enforcing definition's remediation identity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088ab73d-…, Guest Configuration Resource Contributor by Microsoft's role tables: confirm with Get-AzRoleDefinition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Test a package locally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Elevation; Start-GuestConfigurationPackageRemediation changes the machine it runs 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policy definitions; Test package artifacts; Microsoft role tables (not Learn). Chapter 07, “Goal and audience,”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follow Learn by hand, and see the gaps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WINDOWS, POWERSHELL 7.1+, PESTER 5 (abridged)</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Save the pinned modules to ./mcmods (GuestConfiguration 4.12.0, PSDSC 2.0.7, PSDscResources)</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Learn's steps: compile once, package twice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./configurations/TlsServerProtocols.ps1; TlsServerProtocols -OutputPath ./lab/compiled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New-GuestConfigurationPackage -Name TlsServerProtocols -Configuration ./lab/compiled/localhost.mof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-Type Audit -Path ./lab/p1 -Force          # and again into ./lab/p2</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What the checks say about Learn's output</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Test-McPackage -Path ./lab/p1/TlsServerProtocols.zip -Name TlsServerProtocols -ExpectedType Audit</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4  Microsoft's pinned sample with the current module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Get-Command Test-GuestConfigurationPackage -ErrorAction SilentlyContinue   # nothing: renamed</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845052"/>
          <a:ext cx="11109960" cy="1292352"/>
        </p:xfrm>
        <a:graphic>
          <a:graphicData uri="http://schemas.openxmlformats.org/drawingml/2006/table">
            <a:tbl>
              <a:tblPr firstRow="1" bandRow="1"/>
              <a:tblGrid>
                <a:gridCol w="1097280"/>
                <a:gridCol w="100126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packages, two hashes, one MOF; your user, computer name and folder path are in the MOF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MC-PKG-04 findings (build-host data, absolute path) and the MC-PKG-07 warning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sample packages; Test-McMofText on Microsoft's MOF returns nothing: no build-host data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custom machine configuration package artifacts; Azure/azure-policy sample at ca85d61. Chapter 07, “Lab 1: offline, no subscription,”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checked build, and breaking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764792"/>
          </a:xfrm>
          <a:prstGeom prst="roundRect">
            <a:avLst>
              <a:gd name="adj" fmla="val 414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IN examples/machine-configuration</a:t>
            </a:r>
            <a:endParaRPr lang="en-US" sz="1050" dirty="0"/>
          </a:p>
        </p:txBody>
      </p:sp>
      <p:sp>
        <p:nvSpPr>
          <p:cNvPr id="7" name="Code"/>
          <p:cNvSpPr txBox="1"/>
          <p:nvPr/>
        </p:nvSpPr>
        <p:spPr>
          <a:xfrm>
            <a:off x="713232" y="1664208"/>
            <a:ext cx="10835640" cy="1380744"/>
          </a:xfrm>
          <a:prstGeom prst="rect">
            <a:avLst/>
          </a:prstGeom>
          <a:noFill/>
          <a:ln/>
        </p:spPr>
        <p:txBody>
          <a:bodyPr wrap="square" lIns="0" tIns="0" rIns="0" bIns="0" rtlCol="0" anchor="t"/>
          <a:lstStyle/>
          <a:p>
            <a:pPr indent="0" marL="0">
              <a:buNone/>
            </a:pPr>
            <a:r>
              <a:rPr lang="en-US" sz="1400" dirty="0">
                <a:solidFill>
                  <a:srgbClr val="0F766E"/>
                </a:solidFill>
                <a:latin typeface="Consolas" pitchFamily="34" charset="0"/>
                <a:ea typeface="Consolas" pitchFamily="34" charset="-122"/>
                <a:cs typeface="Consolas" pitchFamily="34" charset="-120"/>
              </a:rPr>
              <a:t># 5  The checked build</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pwsh ./powershell/Invoke-McBuild.ps1 -Name TlsServerProtocols -Version 1.0.0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-ContentUri https://stcontosomc.blob.core.windows.net/machine-configuration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-ModulePath ./mcmods -OutputPath ./out</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7  The tests</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$env:MC_MODULE_PATH = (Resolve-Path ./mcmods).Path; Invoke-Pester ./tests</a:t>
            </a:r>
            <a:endParaRPr lang="en-US" sz="14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273552"/>
          <a:ext cx="11109960" cy="1764792"/>
        </p:xfrm>
        <a:graphic>
          <a:graphicData uri="http://schemas.openxmlformats.org/drawingml/2006/table">
            <a:tbl>
              <a:tblPr firstRow="1" bandRow="1"/>
              <a:tblGrid>
                <a:gridCol w="1097280"/>
                <a:gridCol w="100126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Expected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Exit 0 with one Info row, MC-POL-09: IncludeArcMachines defaults to false. Build again into ./out2: mof.sha256 matches (ecffd795…), package hashes don't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 a copied registry: published 1.0.0 gives exit 2, MC-POL-06. mode applyAndAutoCorrect (lower-case a) gives exit 1: case sensitive. ApplyAndAutoCorrect without owner_tag gives exit 2, MC-POL-08</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65 tests passing (49 if MC_MODULE_PATH isn't set, with 16 skipped)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examples/machine-configuration (offline build, fictional storage account). Chapter 07, “Lab 1: offline, no subscription,” steps 5–7;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subscription and a disposable server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Test on the server: </a:t>
            </a:r>
            <a:pPr indent="0" marL="0">
              <a:buNone/>
            </a:pPr>
            <a:r>
              <a:rPr lang="en-US" sz="1450" dirty="0">
                <a:solidFill>
                  <a:srgbClr val="334155"/>
                </a:solidFill>
              </a:rPr>
              <a:t>Elevated, Get-GuestConfigurationPackageComplianceStatus on the Lab 1 zip: False on a default server, True once both Enabled values are 0. Shows the agent accepts the cleaned MOF</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Right cloud, exact bytes: </a:t>
            </a:r>
            <a:pPr indent="0" marL="0">
              <a:buNone/>
            </a:pPr>
            <a:r>
              <a:rPr lang="en-US" sz="1450" dirty="0">
                <a:solidFill>
                  <a:srgbClr val="334155"/>
                </a:solidFill>
              </a:rPr>
              <a:t>Sign in to the cloud the server reports to; upload the Lab 1 package, anonymous access off, without rebuilding; download it and match package.sha256</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Identity, not a token: </a:t>
            </a:r>
            <a:pPr indent="0" marL="0">
              <a:buNone/>
            </a:pPr>
            <a:r>
              <a:rPr lang="en-US" sz="1450" dirty="0">
                <a:solidFill>
                  <a:srgbClr val="334155"/>
                </a:solidFill>
              </a:rPr>
              <a:t>Storage Blob Data Reader to the server's system-assigned identity; no SAS in the definition</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Publish and assign: </a:t>
            </a:r>
            <a:pPr indent="0" marL="0">
              <a:buNone/>
            </a:pPr>
            <a:r>
              <a:rPr lang="en-US" sz="1450" dirty="0">
                <a:solidFill>
                  <a:srgbClr val="334155"/>
                </a:solidFill>
              </a:rPr>
              <a:t>New-AzPolicyDefinition named by the registry's policy ID; assign to the test resource group with IncludeArcMachines true</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Read the result: </a:t>
            </a:r>
            <a:pPr indent="0" marL="0">
              <a:buNone/>
            </a:pPr>
            <a:r>
              <a:rPr lang="en-US" sz="1450" dirty="0">
                <a:solidFill>
                  <a:srgbClr val="334155"/>
                </a:solidFill>
              </a:rPr>
              <a:t>The guest assignment's compliance, in the portal or Resource Graph as VK-ARC-03 and 07 do; match its contentHash to provenance.json</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Back it out: </a:t>
            </a:r>
            <a:pPr indent="0" marL="0">
              <a:buNone/>
            </a:pPr>
            <a:r>
              <a:rPr lang="en-US" sz="1450" dirty="0">
                <a:solidFill>
                  <a:srgbClr val="334155"/>
                </a:solidFill>
              </a:rPr>
              <a:t>Delete the assignment (its guest assignment goes too; from an initiative they stay), the definition, blob and role assignment; rebuild the server</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500862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62245"/>
            <a:ext cx="332842" cy="332842"/>
          </a:xfrm>
          <a:prstGeom prst="rect">
            <a:avLst/>
          </a:prstGeom>
        </p:spPr>
      </p:pic>
      <p:sp>
        <p:nvSpPr>
          <p:cNvPr id="26" name="Callout text"/>
          <p:cNvSpPr txBox="1"/>
          <p:nvPr/>
        </p:nvSpPr>
        <p:spPr>
          <a:xfrm>
            <a:off x="1600200" y="487375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test subscription and a server you can rebuild, never production. To try enforcing: ApplyAndMonitor, a new version and package name, and tag the server ConfigOwner = ArcMachineConfiguration.</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Test package artifacts; Publish; Create policy definitions; assignment resources; Arc and Machine Configuration network requirements. Chapter 07,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85132"/>
        </p:xfrm>
        <a:graphic>
          <a:graphicData uri="http://schemas.openxmlformats.org/drawingml/2006/table">
            <a:tbl>
              <a:tblPr firstRow="1" bandRow="1"/>
              <a:tblGrid>
                <a:gridCol w="3017520"/>
                <a:gridCol w="4206240"/>
                <a:gridCol w="38862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Two tools on one setting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Under ApplyAndAutoCorrect, both flip a value, both report success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MC-POL-08 owner tag filter; VK-ARC-07 after assignment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Rebuilding at release time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package published isn't the one reviewed, or its hash no longer matches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Publish the checked bytes; MC-POL-02; match the blob to provenance.json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Build-host data, or a secret, in a MOF</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Names and paths, or a credential, in every copy of the package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ConvertTo-McCleanMof, MC-PKG-04; MC-PKG-05, Azure Policy parameters for values that vary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long-lived SAS token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Learn's example lasts three years: a standing read grant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System identity with Storage Blob Data Reader; MC-POL-03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Arc servers silently out of scope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IncludeArcMachines defaults to "false"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MC-POL-09 every build; Lab 2 step 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new GUID for an update; enforcing by accident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second definition and two assignments; servers changed that were only to be measured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Fixed ID, MC-POL-05; MC-PKG-02 and MC-POL-07; the cmdlet refuses apply for audit-only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Leftover guest assignments; a floating module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Left in place after an initiative change; a rebuild compiles differently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back-out step that deletes them; RequiredModules.psd1 and baseline tests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Unsigned content where signing is required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Tagged machines refuse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Sign before publishing; generate the definition from the signed file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07, “Dangers”; Learn, assignment resources; Sign packages; Publish package artifacts; Develop a custom package.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build" descr="">
            <a:extLst>
              <a:ext uri="{C183D7F6-B498-43B3-948B-1728B52AA6E4}">
                <adec:decorative xmlns:adec="http://schemas.microsoft.com/office/drawing/2017/decorative" val="1"/>
              </a:ext>
            </a:extLst>
          </p:cNvPr>
          <p:cNvSpPr/>
          <p:nvPr/>
        </p:nvSpPr>
        <p:spPr>
          <a:xfrm>
            <a:off x="548640" y="1325880"/>
            <a:ext cx="5417820" cy="3456432"/>
          </a:xfrm>
          <a:prstGeom prst="roundRect">
            <a:avLst>
              <a:gd name="adj" fmla="val 21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build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BUILD</a:t>
            </a:r>
            <a:endParaRPr lang="en-US" sz="1100" dirty="0"/>
          </a:p>
        </p:txBody>
      </p:sp>
      <p:sp>
        <p:nvSpPr>
          <p:cNvPr id="7" name="Panel The build list"/>
          <p:cNvSpPr txBox="1"/>
          <p:nvPr/>
        </p:nvSpPr>
        <p:spPr>
          <a:xfrm>
            <a:off x="731520" y="1737360"/>
            <a:ext cx="5097780"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Configuration in Git, registry entry in the same PR: fixed policy ID, mode, published version, owner tag, identity</a:t>
            </a:r>
            <a:endParaRPr lang="en-US" sz="1500" dirty="0"/>
          </a:p>
          <a:p>
            <a:pPr marL="342900" indent="-342900">
              <a:spcAft>
                <a:spcPts val="400"/>
              </a:spcAft>
              <a:buSzPct val="100000"/>
              <a:buChar char="•"/>
            </a:pPr>
            <a:r>
              <a:rPr lang="en-US" sz="1500" dirty="0">
                <a:solidFill>
                  <a:srgbClr val="334155"/>
                </a:solidFill>
              </a:rPr>
              <a:t>Built from the pinned modules, exit 0; findings.json has no findings</a:t>
            </a:r>
            <a:endParaRPr lang="en-US" sz="1500" dirty="0"/>
          </a:p>
          <a:p>
            <a:pPr marL="342900" indent="-342900">
              <a:spcAft>
                <a:spcPts val="400"/>
              </a:spcAft>
              <a:buSzPct val="100000"/>
              <a:buChar char="•"/>
            </a:pPr>
            <a:r>
              <a:rPr lang="en-US" sz="1500" dirty="0">
                <a:solidFill>
                  <a:srgbClr val="334155"/>
                </a:solidFill>
              </a:rPr>
              <a:t>The cleaned MOF's hash matches a rebuild of the same commit</a:t>
            </a:r>
            <a:endParaRPr lang="en-US" sz="1500" dirty="0"/>
          </a:p>
          <a:p>
            <a:pPr marL="342900" indent="-342900">
              <a:spcAft>
                <a:spcPts val="400"/>
              </a:spcAft>
              <a:buSzPct val="100000"/>
              <a:buChar char="•"/>
            </a:pPr>
            <a:r>
              <a:rPr lang="en-US" sz="1500" dirty="0">
                <a:solidFill>
                  <a:srgbClr val="334155"/>
                </a:solidFill>
              </a:rPr>
              <a:t>Tested on a disposable server (and remediated for AuditAndSet)</a:t>
            </a:r>
            <a:endParaRPr lang="en-US" sz="1500" dirty="0"/>
          </a:p>
          <a:p>
            <a:pPr marL="342900" indent="-342900">
              <a:spcAft>
                <a:spcPts val="400"/>
              </a:spcAft>
              <a:buSzPct val="100000"/>
              <a:buChar char="•"/>
            </a:pPr>
            <a:r>
              <a:rPr lang="en-US" sz="1500" dirty="0">
                <a:solidFill>
                  <a:srgbClr val="334155"/>
                </a:solidFill>
              </a:rPr>
              <a:t>The blob's SHA-256 matches package.sha256, and contentHash matches everywhere</a:t>
            </a:r>
            <a:endParaRPr lang="en-US" sz="1500" dirty="0"/>
          </a:p>
        </p:txBody>
      </p:sp>
      <p:sp>
        <p:nvSpPr>
          <p:cNvPr id="8" name="Panel The release" descr="">
            <a:extLst>
              <a:ext uri="{C183D7F6-B498-43B3-948B-1728B52AA6E4}">
                <adec:decorative xmlns:adec="http://schemas.microsoft.com/office/drawing/2017/decorative" val="1"/>
              </a:ext>
            </a:extLst>
          </p:cNvPr>
          <p:cNvSpPr/>
          <p:nvPr/>
        </p:nvSpPr>
        <p:spPr>
          <a:xfrm>
            <a:off x="6240780" y="1325880"/>
            <a:ext cx="5417820" cy="3456432"/>
          </a:xfrm>
          <a:prstGeom prst="roundRect">
            <a:avLst>
              <a:gd name="adj" fmla="val 21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eleas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RELEASE</a:t>
            </a:r>
            <a:endParaRPr lang="en-US" sz="1100" dirty="0"/>
          </a:p>
        </p:txBody>
      </p:sp>
      <p:sp>
        <p:nvSpPr>
          <p:cNvPr id="10" name="Panel The release list"/>
          <p:cNvSpPr txBox="1"/>
          <p:nvPr/>
        </p:nvSpPr>
        <p:spPr>
          <a:xfrm>
            <a:off x="6423660" y="1737360"/>
            <a:ext cx="5097780"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No SAS token, or one under 90 days with a recorded reason</a:t>
            </a:r>
            <a:endParaRPr lang="en-US" sz="1500" dirty="0"/>
          </a:p>
          <a:p>
            <a:pPr marL="342900" indent="-342900">
              <a:spcAft>
                <a:spcPts val="400"/>
              </a:spcAft>
              <a:buSzPct val="100000"/>
              <a:buChar char="•"/>
            </a:pPr>
            <a:r>
              <a:rPr lang="en-US" sz="1500" dirty="0">
                <a:solidFill>
                  <a:srgbClr val="334155"/>
                </a:solidFill>
              </a:rPr>
              <a:t>Enforcing definitions filter on ConfigOwner; VK-ARC-07 clean after assignment</a:t>
            </a:r>
            <a:endParaRPr lang="en-US" sz="1500" dirty="0"/>
          </a:p>
          <a:p>
            <a:pPr marL="342900" indent="-342900">
              <a:spcAft>
                <a:spcPts val="400"/>
              </a:spcAft>
              <a:buSzPct val="100000"/>
              <a:buChar char="•"/>
            </a:pPr>
            <a:r>
              <a:rPr lang="en-US" sz="1500" dirty="0">
                <a:solidFill>
                  <a:srgbClr val="334155"/>
                </a:solidFill>
              </a:rPr>
              <a:t>IncludeArcMachines true where Arc-enabled servers are in scope</a:t>
            </a:r>
            <a:endParaRPr lang="en-US" sz="1500" dirty="0"/>
          </a:p>
          <a:p>
            <a:pPr marL="342900" indent="-342900">
              <a:spcAft>
                <a:spcPts val="400"/>
              </a:spcAft>
              <a:buSzPct val="100000"/>
              <a:buChar char="•"/>
            </a:pPr>
            <a:r>
              <a:rPr lang="en-US" sz="1500" dirty="0">
                <a:solidFill>
                  <a:srgbClr val="334155"/>
                </a:solidFill>
              </a:rPr>
              <a:t>Signed where required: after the checks, definition from the signed file, machines tagged</a:t>
            </a:r>
            <a:endParaRPr lang="en-US" sz="1500" dirty="0"/>
          </a:p>
          <a:p>
            <a:pPr marL="342900" indent="-342900">
              <a:spcAft>
                <a:spcPts val="400"/>
              </a:spcAft>
              <a:buSzPct val="100000"/>
              <a:buChar char="•"/>
            </a:pPr>
            <a:r>
              <a:rPr lang="en-US" sz="1500" dirty="0">
                <a:solidFill>
                  <a:srgbClr val="334155"/>
                </a:solidFill>
              </a:rPr>
              <a:t>Pinned sample matches its manifest; upstream commits reviewed; provenance.json and findings.json in the evidence store</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96519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503834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178796"/>
            <a:ext cx="304312" cy="304312"/>
          </a:xfrm>
          <a:prstGeom prst="rect">
            <a:avLst/>
          </a:prstGeom>
        </p:spPr>
      </p:pic>
      <p:sp>
        <p:nvSpPr>
          <p:cNvPr id="14" name="Callout text"/>
          <p:cNvSpPr txBox="1"/>
          <p:nvPr/>
        </p:nvSpPr>
        <p:spPr>
          <a:xfrm>
            <a:off x="1600200" y="502005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08, Ansible Beside Arc.</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07, “Checklist”; Learn, Test package artifacts; Sign packages.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c07-overview  </a:t>
            </a:r>
            <a:pPr indent="0" marL="0">
              <a:spcAft>
                <a:spcPts val="300"/>
              </a:spcAft>
              <a:buNone/>
            </a:pPr>
            <a:r>
              <a:rPr lang="en-US" sz="1050" dirty="0">
                <a:solidFill>
                  <a:srgbClr val="334155"/>
                </a:solidFill>
              </a:rPr>
              <a:t>Microsoft Learn, "What is Azure Machine Configuration?," https://learn.microsoft.com/azure/governance/machine-configuration/overview/01-overview-concepts (accessed Oct 30, 2026).</a:t>
            </a:r>
            <a:endParaRPr lang="en-US" sz="1050" dirty="0"/>
          </a:p>
          <a:p>
            <a:pPr indent="0" marL="0">
              <a:spcAft>
                <a:spcPts val="300"/>
              </a:spcAft>
              <a:buNone/>
            </a:pPr>
            <a:r>
              <a:rPr lang="en-US" sz="1050" b="1" dirty="0">
                <a:solidFill>
                  <a:srgbClr val="1F2A44"/>
                </a:solidFill>
              </a:rPr>
              <a:t>c07-assignments  </a:t>
            </a:r>
            <a:pPr indent="0" marL="0">
              <a:spcAft>
                <a:spcPts val="300"/>
              </a:spcAft>
              <a:buNone/>
            </a:pPr>
            <a:r>
              <a:rPr lang="en-US" sz="1050" dirty="0">
                <a:solidFill>
                  <a:srgbClr val="334155"/>
                </a:solidFill>
              </a:rPr>
              <a:t>Microsoft Learn, "Understand machine configuration assignment resources," https://learn.microsoft.com/azure/governance/machine-configuration/concepts/assignments (accessed Oct 30, 2026).</a:t>
            </a:r>
            <a:endParaRPr lang="en-US" sz="1050" dirty="0"/>
          </a:p>
          <a:p>
            <a:pPr indent="0" marL="0">
              <a:spcAft>
                <a:spcPts val="300"/>
              </a:spcAft>
              <a:buNone/>
            </a:pPr>
            <a:r>
              <a:rPr lang="en-US" sz="1050" b="1" dirty="0">
                <a:solidFill>
                  <a:srgbClr val="1F2A44"/>
                </a:solidFill>
              </a:rPr>
              <a:t>c07-remediation  </a:t>
            </a:r>
            <a:pPr indent="0" marL="0">
              <a:spcAft>
                <a:spcPts val="300"/>
              </a:spcAft>
              <a:buNone/>
            </a:pPr>
            <a:r>
              <a:rPr lang="en-US" sz="1050" dirty="0">
                <a:solidFill>
                  <a:srgbClr val="334155"/>
                </a:solidFill>
              </a:rPr>
              <a:t>Microsoft Learn, "Remediation options for machine configuration," https://learn.microsoft.com/azure/governance/machine-configuration/concepts/remediation-options (accessed Oct 30, 2026).</a:t>
            </a:r>
            <a:endParaRPr lang="en-US" sz="1050" dirty="0"/>
          </a:p>
          <a:p>
            <a:pPr indent="0" marL="0">
              <a:spcAft>
                <a:spcPts val="300"/>
              </a:spcAft>
              <a:buNone/>
            </a:pPr>
            <a:r>
              <a:rPr lang="en-US" sz="1050" b="1" dirty="0">
                <a:solidFill>
                  <a:srgbClr val="1F2A44"/>
                </a:solidFill>
              </a:rPr>
              <a:t>c07-develop  </a:t>
            </a:r>
            <a:pPr indent="0" marL="0">
              <a:spcAft>
                <a:spcPts val="300"/>
              </a:spcAft>
              <a:buNone/>
            </a:pPr>
            <a:r>
              <a:rPr lang="en-US" sz="1050" dirty="0">
                <a:solidFill>
                  <a:srgbClr val="334155"/>
                </a:solidFill>
              </a:rPr>
              <a:t>Microsoft Learn, "How to develop a custom machine configuration package," https://learn.microsoft.com/azure/governance/machine-configuration/how-to/develop-custom-package/overview (accessed Oct 30, 2026).</a:t>
            </a:r>
            <a:endParaRPr lang="en-US" sz="1050" dirty="0"/>
          </a:p>
          <a:p>
            <a:pPr indent="0" marL="0">
              <a:spcAft>
                <a:spcPts val="300"/>
              </a:spcAft>
              <a:buNone/>
            </a:pPr>
            <a:r>
              <a:rPr lang="en-US" sz="1050" b="1" dirty="0">
                <a:solidFill>
                  <a:srgbClr val="1F2A44"/>
                </a:solidFill>
              </a:rPr>
              <a:t>c07-setup  </a:t>
            </a:r>
            <a:pPr indent="0" marL="0">
              <a:spcAft>
                <a:spcPts val="300"/>
              </a:spcAft>
              <a:buNone/>
            </a:pPr>
            <a:r>
              <a:rPr lang="en-US" sz="1050" dirty="0">
                <a:solidFill>
                  <a:srgbClr val="334155"/>
                </a:solidFill>
              </a:rPr>
              <a:t>Microsoft Learn, "How to set up a machine configuration authoring environment," https://learn.microsoft.com/azure/governance/machine-configuration/how-to/develop-custom-package/1-set-up-authoring-environment (accessed Oct 30, 2026).</a:t>
            </a:r>
            <a:endParaRPr lang="en-US" sz="1050" dirty="0"/>
          </a:p>
          <a:p>
            <a:pPr indent="0" marL="0">
              <a:spcAft>
                <a:spcPts val="300"/>
              </a:spcAft>
              <a:buNone/>
            </a:pPr>
            <a:r>
              <a:rPr lang="en-US" sz="1050" b="1" dirty="0">
                <a:solidFill>
                  <a:srgbClr val="1F2A44"/>
                </a:solidFill>
              </a:rPr>
              <a:t>c07-create  </a:t>
            </a:r>
            <a:pPr indent="0" marL="0">
              <a:spcAft>
                <a:spcPts val="300"/>
              </a:spcAft>
              <a:buNone/>
            </a:pPr>
            <a:r>
              <a:rPr lang="en-US" sz="1050" dirty="0">
                <a:solidFill>
                  <a:srgbClr val="334155"/>
                </a:solidFill>
              </a:rPr>
              <a:t>Microsoft Learn, "How to create custom machine configuration package artifacts," https://learn.microsoft.com/azure/governance/machine-configuration/how-to/develop-custom-package/2-create-package (accessed Oct 30, 2026).</a:t>
            </a:r>
            <a:endParaRPr lang="en-US" sz="1050" dirty="0"/>
          </a:p>
          <a:p>
            <a:pPr indent="0" marL="0">
              <a:spcAft>
                <a:spcPts val="300"/>
              </a:spcAft>
              <a:buNone/>
            </a:pPr>
            <a:r>
              <a:rPr lang="en-US" sz="1050" b="1" dirty="0">
                <a:solidFill>
                  <a:srgbClr val="1F2A44"/>
                </a:solidFill>
              </a:rPr>
              <a:t>c07-test  </a:t>
            </a:r>
            <a:pPr indent="0" marL="0">
              <a:spcAft>
                <a:spcPts val="300"/>
              </a:spcAft>
              <a:buNone/>
            </a:pPr>
            <a:r>
              <a:rPr lang="en-US" sz="1050" dirty="0">
                <a:solidFill>
                  <a:srgbClr val="334155"/>
                </a:solidFill>
              </a:rPr>
              <a:t>Microsoft Learn, "How to test machine configuration package artifacts," https://learn.microsoft.com/azure/governance/machine-configuration/how-to/develop-custom-package/3-test-package (accessed Oct 30, 2026).</a:t>
            </a:r>
            <a:endParaRPr lang="en-US" sz="1050" dirty="0"/>
          </a:p>
          <a:p>
            <a:pPr indent="0" marL="0">
              <a:spcAft>
                <a:spcPts val="300"/>
              </a:spcAft>
              <a:buNone/>
            </a:pPr>
            <a:r>
              <a:rPr lang="en-US" sz="1050" b="1" dirty="0">
                <a:solidFill>
                  <a:srgbClr val="1F2A44"/>
                </a:solidFill>
              </a:rPr>
              <a:t>c07-publish  </a:t>
            </a:r>
            <a:pPr indent="0" marL="0">
              <a:spcAft>
                <a:spcPts val="300"/>
              </a:spcAft>
              <a:buNone/>
            </a:pPr>
            <a:r>
              <a:rPr lang="en-US" sz="1050" dirty="0">
                <a:solidFill>
                  <a:srgbClr val="334155"/>
                </a:solidFill>
              </a:rPr>
              <a:t>Microsoft Learn, "How to publish custom machine configuration package artifacts," https://learn.microsoft.com/azure/governance/machine-configuration/how-to/develop-custom-package/4-publish-package (accessed Oct 30, 2026).</a:t>
            </a:r>
            <a:endParaRPr lang="en-US" sz="1050" dirty="0"/>
          </a:p>
          <a:p>
            <a:pPr indent="0" marL="0">
              <a:spcAft>
                <a:spcPts val="300"/>
              </a:spcAft>
              <a:buNone/>
            </a:pPr>
            <a:r>
              <a:rPr lang="en-US" sz="1050" b="1" dirty="0">
                <a:solidFill>
                  <a:srgbClr val="1F2A44"/>
                </a:solidFill>
              </a:rPr>
              <a:t>c07-access  </a:t>
            </a:r>
            <a:pPr indent="0" marL="0">
              <a:spcAft>
                <a:spcPts val="300"/>
              </a:spcAft>
              <a:buNone/>
            </a:pPr>
            <a:r>
              <a:rPr lang="en-US" sz="1050" dirty="0">
                <a:solidFill>
                  <a:srgbClr val="334155"/>
                </a:solidFill>
              </a:rPr>
              <a:t>Microsoft Learn, "How to provide secure access to custom machine configuration packages," https://learn.microsoft.com/azure/governance/machine-configuration/how-to/develop-custom-package/5-access-package (accessed Oct 30, 2026).</a:t>
            </a:r>
            <a:endParaRPr lang="en-US" sz="1050" dirty="0"/>
          </a:p>
          <a:p>
            <a:pPr indent="0" marL="0">
              <a:spcAft>
                <a:spcPts val="300"/>
              </a:spcAft>
              <a:buNone/>
            </a:pPr>
            <a:r>
              <a:rPr lang="en-US" sz="1050" b="1" dirty="0">
                <a:solidFill>
                  <a:srgbClr val="1F2A44"/>
                </a:solidFill>
              </a:rPr>
              <a:t>c07-sign  </a:t>
            </a:r>
            <a:pPr indent="0" marL="0">
              <a:spcAft>
                <a:spcPts val="300"/>
              </a:spcAft>
              <a:buNone/>
            </a:pPr>
            <a:r>
              <a:rPr lang="en-US" sz="1050" dirty="0">
                <a:solidFill>
                  <a:srgbClr val="334155"/>
                </a:solidFill>
              </a:rPr>
              <a:t>Microsoft Learn, "How to sign machine configuration packages," https://learn.microsoft.com/azure/governance/machine-configuration/how-to/develop-custom-package/6-sign-package (accessed Oct 30, 2026).</a:t>
            </a:r>
            <a:endParaRPr lang="en-US" sz="1050" dirty="0"/>
          </a:p>
          <a:p>
            <a:pPr indent="0" marL="0">
              <a:spcAft>
                <a:spcPts val="300"/>
              </a:spcAft>
              <a:buNone/>
            </a:pPr>
            <a:r>
              <a:rPr lang="en-US" sz="1050" b="1" dirty="0">
                <a:solidFill>
                  <a:srgbClr val="1F2A44"/>
                </a:solidFill>
              </a:rPr>
              <a:t>c07-policy  </a:t>
            </a:r>
            <a:pPr indent="0" marL="0">
              <a:spcAft>
                <a:spcPts val="300"/>
              </a:spcAft>
              <a:buNone/>
            </a:pPr>
            <a:r>
              <a:rPr lang="en-US" sz="1050" dirty="0">
                <a:solidFill>
                  <a:srgbClr val="334155"/>
                </a:solidFill>
              </a:rPr>
              <a:t>Microsoft Learn, "How to create custom machine configuration policy definitions," https://learn.microsoft.com/azure/governance/machine-configuration/how-to/create-policy-definition (accessed Oct 30, 2026).</a:t>
            </a:r>
            <a:endParaRPr lang="en-US" sz="1050" dirty="0"/>
          </a:p>
          <a:p>
            <a:pPr indent="0" marL="0">
              <a:spcAft>
                <a:spcPts val="300"/>
              </a:spcAft>
              <a:buNone/>
            </a:pPr>
            <a:r>
              <a:rPr lang="en-US" sz="1050" b="1" dirty="0">
                <a:solidFill>
                  <a:srgbClr val="1F2A44"/>
                </a:solidFill>
              </a:rPr>
              <a:t>c07-network  </a:t>
            </a:r>
            <a:pPr indent="0" marL="0">
              <a:spcAft>
                <a:spcPts val="300"/>
              </a:spcAft>
              <a:buNone/>
            </a:pPr>
            <a:r>
              <a:rPr lang="en-US" sz="1050" dirty="0">
                <a:solidFill>
                  <a:srgbClr val="334155"/>
                </a:solidFill>
              </a:rPr>
              <a:t>Microsoft Learn, "Azure Machine Configuration network requirements," https://learn.microsoft.com/azure/governance/machine-configuration/overview/03-network-requirements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c07-arcnet  </a:t>
            </a:r>
            <a:pPr indent="0" marL="0">
              <a:spcAft>
                <a:spcPts val="300"/>
              </a:spcAft>
              <a:buNone/>
            </a:pPr>
            <a:r>
              <a:rPr lang="en-US" sz="1050" dirty="0">
                <a:solidFill>
                  <a:srgbClr val="334155"/>
                </a:solidFill>
              </a:rPr>
              <a:t>Microsoft Learn, "Connected Machine agent network requirements," https://learn.microsoft.com/azure/azure-arc/servers/network-requirements (accessed Oct 30, 2026).</a:t>
            </a:r>
            <a:endParaRPr lang="en-US" sz="1050" dirty="0"/>
          </a:p>
          <a:p>
            <a:pPr indent="0" marL="0">
              <a:spcAft>
                <a:spcPts val="300"/>
              </a:spcAft>
              <a:buNone/>
            </a:pPr>
            <a:r>
              <a:rPr lang="en-US" sz="1050" b="1" dirty="0">
                <a:solidFill>
                  <a:srgbClr val="1F2A44"/>
                </a:solidFill>
              </a:rPr>
              <a:t>c07-billing  </a:t>
            </a:r>
            <a:pPr indent="0" marL="0">
              <a:spcAft>
                <a:spcPts val="300"/>
              </a:spcAft>
              <a:buNone/>
            </a:pPr>
            <a:r>
              <a:rPr lang="en-US" sz="1050" dirty="0">
                <a:solidFill>
                  <a:srgbClr val="334155"/>
                </a:solidFill>
              </a:rPr>
              <a:t>Microsoft Learn, "Windows Server Management enabled by Azure Arc," https://learn.microsoft.com/azure/azure-arc/servers/windows-server-management-overview, section "Requirements" (accessed Oct 31, 2026).</a:t>
            </a:r>
            <a:endParaRPr lang="en-US" sz="1050" dirty="0"/>
          </a:p>
          <a:p>
            <a:pPr indent="0" marL="0">
              <a:spcAft>
                <a:spcPts val="300"/>
              </a:spcAft>
              <a:buNone/>
            </a:pPr>
            <a:r>
              <a:rPr lang="en-US" sz="1050" b="1" dirty="0">
                <a:solidFill>
                  <a:srgbClr val="1F2A44"/>
                </a:solidFill>
              </a:rPr>
              <a:t>c07-samples-code  </a:t>
            </a:r>
            <a:pPr indent="0" marL="0">
              <a:spcAft>
                <a:spcPts val="300"/>
              </a:spcAft>
              <a:buNone/>
            </a:pPr>
            <a:r>
              <a:rPr lang="en-US" sz="1050" dirty="0">
                <a:solidFill>
                  <a:srgbClr val="334155"/>
                </a:solidFill>
              </a:rPr>
              <a:t>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a:t>
            </a:r>
            <a:endParaRPr lang="en-US" sz="1050" dirty="0"/>
          </a:p>
          <a:p>
            <a:pPr indent="0" marL="0">
              <a:spcAft>
                <a:spcPts val="300"/>
              </a:spcAft>
              <a:buNone/>
            </a:pPr>
            <a:r>
              <a:rPr lang="en-US" sz="1050" b="1" dirty="0">
                <a:solidFill>
                  <a:srgbClr val="1F2A44"/>
                </a:solidFill>
              </a:rPr>
              <a:t>c07-gcrole  </a:t>
            </a:r>
            <a:pPr indent="0" marL="0">
              <a:spcAft>
                <a:spcPts val="300"/>
              </a:spcAft>
              <a:buNone/>
            </a:pPr>
            <a:r>
              <a:rPr lang="en-US" sz="1050" dirty="0">
                <a:solidFill>
                  <a:srgbClr val="334155"/>
                </a:solidFill>
              </a:rPr>
              <a:t>Microsoft, Azure/Azure-Sentinel, Sample Data/Feeds/AzureBuiltInRole.csv at commit 16a027b6208ceb97869df85ea2e1ce4d0cad3408 (August 28, 2026), row "Guest Configuration Resource Contributor", and MicrosoftDocs/entra-docs, .docutune/dictionaries/known-guids.json at commit 4ed6827815ecbf4e021fc736d75fdda6a2fd6272 (October 28, 2026), both mapping the name to 088ab73d-1256-47ae-bea9-9de8e7131f31, read with gh api (accessed Oct 30, 2026). Not Learn pages: Learn's "Azure built-in roles" and its Management and governance page don't list the ID (searched Oct 30, 2026).</a:t>
            </a:r>
            <a:endParaRPr lang="en-US" sz="1050" dirty="0"/>
          </a:p>
          <a:p>
            <a:pPr indent="0" marL="0">
              <a:spcAft>
                <a:spcPts val="300"/>
              </a:spcAft>
              <a:buNone/>
            </a:pPr>
            <a:r>
              <a:rPr lang="en-US" sz="1050" b="1" dirty="0">
                <a:solidFill>
                  <a:srgbClr val="1F2A44"/>
                </a:solidFill>
              </a:rPr>
              <a:t>c07-gcrole-learn  </a:t>
            </a:r>
            <a:pPr indent="0" marL="0">
              <a:spcAft>
                <a:spcPts val="300"/>
              </a:spcAft>
              <a:buNone/>
            </a:pPr>
            <a:r>
              <a:rPr lang="en-US" sz="1050" dirty="0">
                <a:solidFill>
                  <a:srgbClr val="334155"/>
                </a:solidFill>
              </a:rPr>
              <a:t>Microsoft Learn, "Enable Insights for Azure Local at scale using Azure policies," https://learn.microsoft.com/azure/azure-local/manage/monitor-multi-azure-policies (accessed Oct 30, 2026); it names the role but not its ID.</a:t>
            </a:r>
            <a:endParaRPr lang="en-US" sz="1050" dirty="0"/>
          </a:p>
          <a:p>
            <a:pPr indent="0" marL="0">
              <a:spcAft>
                <a:spcPts val="300"/>
              </a:spcAft>
              <a:buNone/>
            </a:pPr>
            <a:r>
              <a:rPr lang="en-US" sz="1050" b="1" dirty="0">
                <a:solidFill>
                  <a:srgbClr val="1F2A44"/>
                </a:solidFill>
              </a:rPr>
              <a:t>c07-module  </a:t>
            </a:r>
            <a:pPr indent="0" marL="0">
              <a:spcAft>
                <a:spcPts val="300"/>
              </a:spcAft>
              <a:buNone/>
            </a:pPr>
            <a:r>
              <a:rPr lang="en-US" sz="1050" dirty="0">
                <a:solidFill>
                  <a:srgbClr val="334155"/>
                </a:solidFill>
              </a:rPr>
              <a:t>PowerShell Gallery, "GuestConfiguration 4.12.0," https://www.powershellgallery.com/packages/GuestConfiguration/4.12.0 (accessed Oct 30, 2026). Not a Learn page: Learn's setup page installs the module from the gallery without naming a current version.</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07 — Machine Configuration Packages</dc:title>
  <dc:subject>PptxGenJS Presentation</dc:subject>
  <dc:creator>Michael F. Stratton</dc:creator>
  <cp:lastModifiedBy>Michael F. Stratton</cp:lastModifiedBy>
  <cp:revision>1</cp:revision>
  <dcterms:created xsi:type="dcterms:W3CDTF">2026-10-31T14:33:36Z</dcterms:created>
  <dcterms:modified xsi:type="dcterms:W3CDTF">2026-10-31T14:33:36Z</dcterms:modified>
</cp:coreProperties>
</file>