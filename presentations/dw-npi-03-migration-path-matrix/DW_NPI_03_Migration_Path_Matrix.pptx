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16a8a95-fce3-64a0-2dea-34524742c1ed}">
          <p14:sldIdLst>
            <p14:sldId id="256"/>
          </p14:sldIdLst>
        </p14:section>
        <p14:section name="Why" id="{e76175bb-1079-9759-d506-541d3ef36377}">
          <p14:sldIdLst>
            <p14:sldId id="257"/>
            <p14:sldId id="258"/>
          </p14:sldIdLst>
        </p14:section>
        <p14:section name="What" id="{61751588-cf40-a9b2-9f1d-1b4b95c62029}">
          <p14:sldIdLst>
            <p14:sldId id="259"/>
            <p14:sldId id="260"/>
            <p14:sldId id="261"/>
            <p14:sldId id="262"/>
            <p14:sldId id="263"/>
            <p14:sldId id="264"/>
            <p14:sldId id="265"/>
            <p14:sldId id="266"/>
          </p14:sldIdLst>
        </p14:section>
        <p14:section name="Who" id="{8b1cd8f4-e693-9fd5-3122-6e8a705c9e3e}">
          <p14:sldIdLst>
            <p14:sldId id="267"/>
          </p14:sldIdLst>
        </p14:section>
        <p14:section name="How" id="{53c267dc-b915-c25d-2a02-b62dd7868928}">
          <p14:sldIdLst>
            <p14:sldId id="268"/>
            <p14:sldId id="269"/>
            <p14:sldId id="270"/>
            <p14:sldId id="271"/>
            <p14:sldId id="272"/>
            <p14:sldId id="273"/>
          </p14:sldIdLst>
        </p14:section>
        <p14:section name="Backup" id="{214411b5-d92a-470b-66b6-ec9197c5e35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3: the migration path matrix as code. Every service account and app needs a decision before anything is converted, and this chapter turns the book's matrix into reviewed data and code that proposes a target, checks the owner's choice, sequences the waves and checks the gate. We'll start from Learn's own decision tables, see what they leave out, then walk the code, two labs and the dangers. One note before we begin: the code is illustrative, tested against fixtures.
Detail: The chapter delivers the decisions behind the project plan's Gate 2, "every account has a decision." It starts with Learn's own decision tables for choosing a service account on premises and in Microsoft Entra ID, and its Workload ID FAQ, which the repository keeps as pinned copies, and evaluates them as published against the fixture estate to see what they decide and what they leave to you. Then examples/non-person-identity adds the rest: Book 02's migration path matrix as reviewed data, a proposed target for every identity in Chapter 01's register, the application owner's disposition checked against it, the conversion waves with HIGH-risk accounts first and a rollback per wave, and the Workload ID Premium scope as a decision file. The code reads two things from the tenant and writes nothing. Lab 1 runs on a laptop with no tenant; Lab 2 uses a test tenant.
Sources: 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
Workbook: Building Non-Person Identity, Chapter 03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three different things get blurred together, and the code keeps them apart. The matrix proposes a target for each account, based on what it is, where it runs and what credential it holds. The application owner decides, and may disagree, as long as the reason is on the record. And the security officer's gate checks that every account has both, that the riskiest go first, and that there's a way back. Treat a proposal as a decision and you convert accounts nobody agreed to. First, which cloud this runs against.
Detail: Goal: by the end of the chapter you can produce, from code, what the plan's Phase 2 tasks and decisions ask for: N2.1, "target set per account from the migration path matrix: app registration, managed identity, gMSA or dMSA, or retirement"; D-N3, "retire, re-platform or keep, account by account"; N2.2, "conversion waves sequenced: HIGH-risk accounts first (password never expires, over-privileged); rollback recorded per wave"; and D-N4, the Workload ID Premium licensing scope. You can show the ISSO, for Gate 2, which accounts still lack a decision and why, and say for each rule whether it is Learn's, Learn's table, or the program's design. The proposal (N2.1) comes from the matrix: Book 02's migration path matrix and the implementation guide's Step 2 give the rule: no stored secrets; managed identities for Azure-hosted workloads; federation where the workload already has a trusted issuer; certificates only where neither applies; on premises, a gMSA, or a dMSA on a Windows Server 2025 domain (design guidance). The disposition (D-N3) is the application owner's: retire (unused or unowned); re-platform to a managed identity, a gMSA or dMSA, or an app registration with a federated credential or certificate; or keep on Kerberos with an SPN, islanded with an end date the authorizing official accepts. An owner may choose a target the matrix didn't propose, with a reason on the record. The gate (Gate 2) is the ISSO's: "every account in the register has a disposition (retire, re-platform, or keep with an end date) and a target from the matrix; HIGH-risk accounts in the first wave; every kept Kerberos account has an SPN owner; waves and their rollback recorded."
Sources: Building Non-Person Identity, Chapter 03, docs/project-plans/developer-workbooks/non-person-identity/03-the-migration-path-matrix-as-code.md
Workbook: Building Non-Person Identity, Chapter 03 — Opening line; “Goal and audience”; “The decisions the code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Most of this chapter never touches a cloud at all: the matrix is offline logic over the files from the first two chapters. It makes just two reads, both to Microsoft Graph, and for a GCC tenant like this estate's, that's the worldwide endpoint. The higher government clouds have their own hosts. One open question is the licensing trial: Learn says there's no free trial in the Azure Government clouds, but a GCC tenant signs in to the worldwide cloud, so the chapter leaves it as something to check in the test tenant. Now, what Microsoft gives you.
Detail: The matrix is offline logic over Chapters 01 and 02's files. Its two reads go to Graph at graph.microsoft.com for the target estate, Microsoft 365 GCC; GCC High and DoD use graph.microsoft.us and dod-graph.microsoft.us. List subscribedSkus lists the global service, US Government L4 and US Government L5. Workload ID Premium is available to Azure Government customers through their account manager, and its free trial isn't available in the Azure Government clouds. A GCC tenant signs in to the worldwide cloud, so the trial question for it is a Lab 2 check (research gaps, row 28).
Sources: Microsoft Learn, "Microsoft Graph national cloud deployments," https://learn.microsoft.com/graph/deployments (accessed Oct 30, 2026). · Microsoft Learn, "List subscribedSkus," national cloud table, permissions, optional query parameters, https://learn.microsoft.com/graph/api/subscribedsku-list?view=graph-rest-1.0 (accessed Oct 30, 2026). · Microsoft Learn, "Frequently asked questions about Microsoft Entra Workload ID," https://learn.microsoft.com/entra/workload-id/workload-identities-faqs (accessed Oct 30, 2026).
Workbook: Building Non-Person Identity, Chapter 03 — “Which cloud, for these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and its order of preference is one the matrix keeps. On premises, a group managed service account whenever possible, and a plain user account only as a last resort. In the cloud, a managed identity if the service runs in Azure and supports one, a service principal otherwise, never a user account. Windows Server adds the delegated managed service account, which has real limits: you can't move a managed service account onto one, and delegation stops working. Learn turns this into two decision tables, but no code. So the repository pins the pages unmodified, and a small harness evaluates each table exactly as published.
Detail: On premises, use a gMSA whenever possible, an sMSA if not, and a computer or user account only if no managed service account will run the service; test the service with a managed service account first. In Microsoft Entra ID, use a managed identity for a service hosted in Azure if the service supports one, a service principal otherwise, and never a user account. Windows Server's own account guide adds the dMSA, for a single server and for high-security scenarios that must prevent credential harvesting. A dMSA supersedes a traditional account and disables its password, but you can't migrate a managed service account or a gMSA to one, every machine that uses the account must support dMSAs, unconstrained delegation stops working once the migration completes, and each service account needs its own dMSA. Workload identity federation lets an app registration or a user-assigned managed identity trust an external issuer, including an app on Azure compute that authenticates as an app registration by trusting a user-assigned managed identity. Verified facts: on-premises choice GA, no privileged groups; cloud choice includes certificates over secrets; dMSA needs Windows Server 2025 and a Windows Server 2025 domain controller, GA; workload identity federation supports GitHub Actions, Kubernetes, other clouds and other OIDC issuers, GA. Learn's service account series has two decision tables. "Securing on-premises service accounts" has "Choose the right type of service account": for each criterion (a single server, several servers, a load balancer, Windows Server 2008 R2 or 2012, a requirement to restrict the account to one server) it says whether a gMSA, an sMSA, a computer account or a user account will do, and the page says to use gMSAs whenever possible. "Securing cloud-based service accounts" has the same for the cloud: a managed identity, a service principal or a user account, by whether the service is hosted in Azure or is multitenant. For D-N4, the Workload ID FAQ has the Free and Premium capability table and the licensing answers. Microsoft publishes no code that applies these tables to an inventory; the tables are the sample. The repository pins the pages' source, unmodified, in examples/third_party/entra-service-account-choice-pages: service-accounts-on-premises.md, secure-service-accounts.md and workload-identities-faqs.md from MicrosoftDocs/entra-docs at commit 7f78b50 (October 30, 2026), the commit Chapter 01 pinned, retrieved October 30, 2026, with the repository's MIT licenses. snapshot.json records each file's SHA-256, checked against the upstream git blob hashes, and a unit test checks them. The weekly source watch reports new commits to each of the three pages. Updating the copy is a reviewed pull request. tests/NpiMatrixSampleHarness.ps1 reads each table from the pinned page at test time and evaluates it as published: on premises, a column is admissible when every criterion that applies says "Yes", and the first admissible column in the page's order is the choice; in the cloud, the column marked "Recommended" wins. Nothing is installed and nothing signs in.
Sources: Microsoft Learn, "Securing on-premises service accounts," types of on-premises service accounts; choose the right type of service account, https://learn.microsoft.com/entra/architecture/service-accounts-on-premises (accessed Oct 30, 2026). · Microsoft Learn, "Secure group managed service accounts," using gMSAs, https://learn.microsoft.com/entra/architecture/service-accounts-group-managed (accessed Oct 30, 2026). · Microsoft Learn, "Securing cloud-based service accounts," types of Microsoft Entra service accounts; service principals, https://learn.microsoft.com/entra/architecture/secure-service-accounts (accessed Oct 30, 2026). · Microsoft Learn, "Service accounts" (Windows Server), choosing your service account, https://learn.microsoft.com/windows-server/identity/ad-ds/manage/understand-service-accounts (accessed Oct 30, 2026). · Microsoft Learn, "Delegated Managed Service Accounts overview," migration flow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"Workload identity federation concepts," supported scenarios, https://learn.microsoft.com/entra/workload-id/workload-identity-federation (accessed Oct 30, 2026). · Microsoft Learn, "Frequently asked questions about Microsoft Entra Workload ID," https://learn.microsoft.com/entra/workload-id/workload-identities-faqs (accessed Oct 30, 2026). · 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
Workbook: Building Non-Person Identity, Chapter 03 — “The decisions the code holds”;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in two parts. Learn's ordering is kept as the model. But the on-premises table has no column for the delegated managed service account at all, so the best target on a new domain never comes out of it. It admits a plain user account in every situation, so it never tells you to move off one. It has no way to say retire, so an orphaned or disabled account would just get a new account type. And it decides on facts like server counts that no register holds. The code fills each gap, and a test pins every row.
Detail: Each row is pinned by a test in tests/NpiMatrix.Tests.ps1: the twelve in its three "Chapter 03" blocks for the tables, the rest for the example. Chooses a gMSA for a single-server or load-balanced app; a managed identity in Azure, a service principal outside it: kept as the model; the Kerberos rows and the Entra rows of config/migration-matrix.json follow the same order. Has no dMSA column; Windows Server's own guide has one: a Windows Server 2025 domain's best target for a traditional account never comes out of the table; row M06: a traditional Kerberos account goes to a dMSA when the workload facts record a Windows Server 2025 domain controller and dMSA-capable hosts, with Learn's cautions on the proposal. Admits a user account in every situation ("Use an MSA if possible"): the table never says to move off one; no matrix row targets a traditional account; keeping one is KeepKerberos, an exception with an end date, the authorizing official's acceptance and an SPN owner. Has no retire outcome, and no criterion for an owner or for use: an unowned or disabled account gets a new account type; Retire is proposed for an orphan candidate from Chapter 02 (unless excepted or claimed) and for a disabled account, with a stale-lead caution. Decides by servers, load balancer and Windows Server 2008 R2 or 2012, not by the account's type, credential or risk: the facts it needs aren't in any register, and HIGH-risk accounts get no priority; the account's type and credential from Chapter 01, workload facts from the owner (workloads.csv), and waves with HIGH first.
Sources: Microsoft Learn, "Securing on-premises service accounts," types of on-premises service accounts; choose the right type of service account, https://learn.microsoft.com/entra/architecture/service-accounts-on-premises (accessed Oct 30, 2026). · Microsoft Learn, "Service accounts" (Windows Server), choosing your service account, https://learn.microsoft.com/windows-server/identity/ad-ds/manage/understand-service-accounts (accessed Oct 30, 2026). · Microsoft Learn, "Delegated Managed Service Accounts overview," migration flow for dMSA, https://learn.microsoft.com/windows-server/identity/ad-ds/manage/delegated-managed-service-accounts/delegated-managed-service-accounts-overview (accessed Oct 30, 2026).
Workbook: Building Non-Person Identity, Chapter 03 — “What it leaves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side has gaps too. The table recommends a managed identity if the service supports one, but leaves you to find out whether it does, so the code makes that a required fact. It offers a service principal only certificates and secrets, missing federation, which the book prefers. It happily recommends a service principal for a multitenant app, without saying that Conditional Access can't cover one, so you could license something and buy nothing. And nothing records a decision at all. The verdict: Learn's tables define preference, but they aren't the matrix. Let's look at the code.
Detail: "Recommended if the service supports a Managed Identity": whether it does is left to you; MiSupported is a required fact for an Azure workload; without it, no proposal (NPI-MAT-02); with No, an app registration trusting a user-assigned managed identity. Offers a service principal only client certificates and client secrets: federation, Book 02's preference over a certificate, is missing; rows M04, M10 and M15 propose a federated credential where the workload has an OIDC issuer. Recommends a service principal for a multitenant service, without saying Conditional Access can't cover it: a multitenant app can be put in the Workload ID Premium scope and buy nothing; the D-N4 scope checks each Tier 1 identity is a single-tenant service principal registered in the tenant (NPI-MAT-09). The FAQ lists what Premium adds, and says both "one license in the tenant unlocks all features for all workload identities" and that only eligible identities need licensing: the count to buy isn't stated as a rule; the scope counts eligible identities now and after conversion, compares them with the tenant's enabled units, and warns; the count stays open (research gaps, row 26). Nothing records a decision, an end date, an SPN owner, a wave or a rollback: Gate 2 is left to you; the code adds all of them, as files a reviewer reads, with findings NPI-MAT-01 to -09 and Gate 2's criteria. The verdict: use Learn's tables as the definition of preference: gMSA before anything else on premises, managed identity before a service principal in Azure, never a user account. Don't use them as the matrix: they miss the dMSA and federation, never retire anything, and know nothing about the account in front of them.
Sources: Microsoft Learn, "Securing cloud-based service accounts," types of Microsoft Entra service accounts; service principals, https://learn.microsoft.com/entra/architecture/secure-service-accounts (accessed Oct 30, 2026). · Microsoft Learn, "Workload identity federation concepts," supported scenarios, https://learn.microsoft.com/entra/workload-id/workload-identity-federation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“What it leaves to you,” rows 6–10;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One module and an entry script, built on the module from Chapter 2, and changing nothing in the earlier chapters. What matters most is who keeps each input. The matrix itself belongs to identity engineering and changes only in a reviewed pull request. The application owners keep two files: where each workload runs, and what they decided for each account. The waves, the program's dates and the licensing decision each have their own keeper. And the earlier chapters' outputs are refused if their hashes don't match the manifests, so nobody decides on evidence the reviewer never saw.
Detail: This chapter's code is powershell/NpiMatrix/NpiMatrix.psm1, the entry script Invoke-NpiMatrix.ps1, the matrix config/migration-matrix.json, its own call list config/calls-ch03.json, and the inputs under tests/fixtures/ch03. It imports Chapter 02's module for Import-NpiRegister and changes neither earlier chapter. Inputs: Chapter 01's run folder (the pipeline): register.json and manifest.json; refused if the register's SHA-256 isn't the manifest's. Chapter 02's run folder (the pipeline): ownership.json, orphan-plan.json and manifest.json; refused if a file's SHA-256 isn't the manifest's, or if the run checked a different register. config/migration-matrix.json (identity engineering, in a reviewed pull request): the matrix rows (type, workload location, credential kind, facts, target, source), the targets with their rollback, the disposition vocabulary, the combinations never allowed. workloads.csv (application owners): for each account, Location (Azure, ArcServer, OidcIssuer, EntraApiNoIssuer, OnPremKerberos, Hybrid), MiSupported, Dmsa, Issuer. dispositions.csv (application owners, D-N3): Disposition (Retire, Replatform, Keep, KeepKerberos), Target, Wave, DecidedBy, DecidedOn, EndDate, AoAcceptedBy, SpnOwnerUpn, Reason. waves.csv (identity engineering, N2.2): Wave, Name, Starts, ParallelRunDays, RollbackOwnerUpn, RollbackReviewedOn. program-dates.json (the program master schedule): D08 (end dates for legacy authentication) and G5 (AD retired). workload-id-premium.json (the CISO, D-N4): decision (Tier1, Wide or None), decidedBy, decidedOn, the Tier 1 identities, compensating controls.
Sources: Building Non-Person Identity, Chapter 03, docs/project-plans/developer-workbooks/non-person-identity/03-the-migration-path-matrix-as-code.md
Workbook: Building Non-Person Identity, Chapter 03 — “The code: what examples/non-person-identity adds”;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proposal is made. First, scope: some accounts belong to another plan, some are covered by their app registration, and some are out of scope with a reason written down. Then retirement comes first: if Chapter 2 found an account unowned, or it's already disabled, the proposal is to retire it. Otherwise, the first matrix row that matches the account's type, where it runs and its credential proposes the target. And each proposal carries Learn's cautions, like the fact that an Arc server's managed identity is shared by every app its administrators allow.
Detail: Get-NpiMatrixProposal gives every row of the register a scope and, in scope, a proposal. SQL Server accounts are handed off to the Data Platform plan and not counted against Gate 2 (research gaps, row 25); service principals of the tenant's own apps are covered by their app registration's row; external service principals and AI agents are out of scope with a reason; an account found only by a password that never expires waits for confirmation. For the rest, Retire comes first, for an account Chapter 02 found unowned (and nobody claimed or excepted) or one already disabled. Otherwise the first matrix row that matches the account's type, its workload's location and facts, and its credential kind proposes the target. M01 to M05: Traditional; Azure, Arc-enabled server, OIDC issuer, Entra API with no issuer; managed identity, app registration with a federated credential, app registration with a certificate; Book 02, the guide, Learn. M06, M07: Traditional; on premises, Kerberos; dMSA where the domain and hosts allow it, otherwise gMSA; Book 02, Learn. M08 to M13: MSA, gMSA, dMSA; on premises, hybrid, moving to the cloud; MSA to gMSA, keep a gMSA or dMSA, gMSA plus an app registration, managed identity or federation once moved; Book 02. M14 to M18: app registration, legacy service principal; any; a secret goes to a managed identity, then federation, then a certificate; a certificate or federated credential stays; Book 02, Book 04. M19: managed identity; Azure; keep; Book 02. A proposal carries Learn's cautions where they apply: every host must support dMSAs, unconstrained delegation stops working under one, and an Arc-enabled server's identity is the server's, shared by every app its administrators let request tokens. Learn's cloud service account page says managed identities can't be used for services hosted outside Azure; its Arc pages give every Arc-enabled server one. The code proposes it with the caution (research gaps, row 23). Verified facts: managed identity on an Arc-enabled server is system-assigned, one per server; local administrators and the extension applications group can request tokens; GA.
Sources: Microsoft Learn, "Securing cloud-based service accounts," types of Microsoft Entra service accounts; service principals, https://learn.microsoft.com/entra/architecture/secure-service-accounts (accessed Oct 30, 2026). · Microsoft Learn, "Workload identity federation concepts," supported scenarios, https://learn.microsoft.com/entra/workload-id/workload-identity-federation (accessed Oct 30, 2026). · Microsoft Learn, "Securing on-premises service accounts," types of on-premises service accounts; choose the right type of service account, https://learn.microsoft.com/entra/architecture/service-accounts-on-premises (accessed Oct 30, 2026). · Microsoft Learn, "Delegated Managed Service Accounts overview," migration flow for dMSA, https://learn.microsoft.com/windows-server/identity/ad-ds/manage/delegated-managed-service-accounts/delegated-managed-service-accounts-overview (accessed Oct 30, 2026). · Microsoft Learn, "Access Azure resources by using managed identity on Azure Arc-enabled servers," https://learn.microsoft.com/azure/azure-arc/servers/managed-identity-authentication (accessed Oct 30, 2026). · Microsoft Learn, "Identity and authorization" (Azure Arc-enabled servers), Microsoft Entra ID managed identity, https://learn.microsoft.com/azure/azure-arc/servers/security-identity-authorization (accessed Oct 30, 2026).
Workbook: Building Non-Person Identity, Chapter 03 — “The proposal (N2.1)”.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check reads each owner's row and turns what's missing or wrong into findings with stable IDs. In plain terms: every account needs a decision; every account needs enough facts for a proposal; the target has to fit the decision, and Learn's delegated account limits are enforced; an owner who departs from the matrix has to say why; anything kept needs an end date, and anything kept on Kerberos needs an owner for its service principal name; high-risk accounts go first; every wave needs a way back; and the licensing scope has to make sense. The exact wording is on the slide.
Detail: Test-NpiMigrationDecision reads each owner's row and turns what's missing or wrong into findings with stable IDs (&lt;rule&gt;:&lt;identity&gt;, or &lt;rule&gt;:wave-N). NPI-MAT-01, Finding (Info for an account to confirm first): no disposition recorded, or one the code doesn't know; D-N3, Gate 2. NPI-MAT-02, Finding: no proposal: the workload facts are missing or incomplete, or no row matches; N2.1. NPI-MAT-03, Finding (Warn for delegation): a target that doesn't belong to the disposition; an MSA or gMSA sent to a dMSA; a dMSA without the facts that allow one; unconstrained delegation under a dMSA; Learn (research gaps, row 29). NPI-MAT-04, Warn (Finding with no reason): the owner chose a target the matrix didn't propose; design guidance. NPI-MAT-05, Finding (Warn with no program dates): an account kept in Active Directory with no end date, one past, or one after G5; one kept on Kerberos after D08 or without the authorizing official's acceptance; D-N3, N3.6, N7.3 (design guidance; research gaps, row 24). NPI-MAT-06, Finding: an account kept on Kerberos, or a kept account with an SPN, with no SPN owner who is an enabled member; Gate 2, Chapter 02's owner rule. NPI-MAT-07, Finding (Warn when kept): a HIGH-risk account re-platformed outside wave 1; a HIGH-risk account kept, whose risk stays until its privilege is cut; N2.2, Book 02, Chapter 10. NPI-MAT-08, Finding: a wave with members and no rollback owner who is an enabled member, no review date, or a parallel run under 30 days; N2.2, the guide's Step 5. NPI-MAT-09, Finding, Warn or Info: the D-N4 scope: no decision; a Tier 1 identity Conditional Access can't cover; one whose decision takes it out of scope; no license or too few enabled units; None without compensating controls; D-N4, Learn.
Sources: Microsoft Learn, "Delegated Managed Service Accounts overview," migration flow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“The disposition (D-N3) and the waves (N2.2)”.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conversion with no way back turns a failed change into an outage, so the waves get as much attention as the targets. Every rollback owner and service principal name owner is looked up once, and counts only if they're an enabled member, the same rule as Chapter 2. An account the owner didn't place in a wave is proposed for the first wave if it's high-risk, the second otherwise. And each wave's rollback is assembled from its members' targets, including Learn's own undo for a delegated account migration, which keeps the old account rather than deleting it.
Detail: Each SPN owner and rollback owner is read once, with GET /users/{id} and $select=id,userPrincipalName,userType,accountEnabled, and counts only as an enabled member, Chapter 02's rule. A re-platformed account the owner left without a wave goes to wave 1 if it is HIGH-risk and wave 2 otherwise, marked as proposed. Each wave's rollback is assembled from its members' targets in config/migration-matrix.json: re-enable the legacy account and revert the application's configuration (Book 02's Phase 4), and for a dMSA, Learn's Undo-ADServiceAccountMigration, with the superseded account kept, which Learn says never to delete. NPI-MAT-08 flags a wave with members and no rollback owner who is an enabled member, no review date, or a parallel run under 30 days. Verified facts: Get a user, application User.Read.All, $select for userType and accountEnabled, v1.0.
Sources: Microsoft Learn, "Get a user," permissions, https://learn.microsoft.com/graph/api/user-get?view=graph-rest-1.0 (accessed Oct 30, 2026; read for Chapter 02). · Microsoft Learn, "Setting up delegated Managed Service Accounts," migrate to a dMSA; complete account migration, https://learn.microsoft.com/windows-server/identity/ad-ds/manage/delegated-managed-service-accounts/delegated-managed-service-accounts-set-up-dmsa (accessed Oct 30, 2026). · Microsoft Learn, "Delegated Managed Service Accounts FAQ," general; migration, https://learn.microsoft.com/windows-server/identity/ad-ds/manage/delegated-managed-service-accounts/delegated-managed-service-accounts-faq (accessed Oct 30, 2026).
Workbook: Building Non-Person Identity, Chapter 03 — “The disposition (D-N3) and the waves (N2.2)”.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licensing decision belongs to the chief information security officer, and the code makes it checkable. Premium adds things like Conditional Access for workload identities, but that only covers single-tenant service principals: not managed identities, and not multitenant apps. So the code works out who could be covered today and who will leave or join after conversion, reads the tenant's subscriptions once, and checks the decision file against both. It never buys or assigns anything. Then the gate check reports Gate 2's five criteria, and the gate is met only when no finding is open. Who's involved?
Detail: Learn lists what Premium adds over the free edition: access reviews for service principals in privileged roles, app health recommendations, Conditional Access for workload identities and ID Protection for workload identities. Conditional Access covers only single-tenant service principals registered in the tenant; Microsoft and third-party SaaS apps, multitenant apps and managed identities aren't covered, and creating or changing such a policy needs Workload Identities Premium licenses; assignment is direct, not through a group. ID Protection covers single-tenant and multitenant apps but not managed identities. The program's position is to license the single-tenant service principals the identity governance officer classified Tier 1 (Book 04, Chapter 05; Chapter 06); the plan's options are Tier 1, wider, or none with app management policies and owner reviews in its place (design guidance). Get-NpiWorkloadIdScope computes, from the register, which identities Conditional Access for workload identities can cover now (the tenant's own single-tenant app registrations), which ID Protection can, and which will leave or join after conversion (an app moving to a managed identity leaves; a traditional account moving to an app registration joins). It reads the tenant's subscriptions once, with GET /subscribedSkus?$select=… and LicenseAssignment.Read.All ($select only, no $filter), finds Workload ID Premium by its service plan IDs (AAD_WRKLDID_P1 and AAD_WRKLDID_P2; products Workload_Identities_P2 and Workload_Identities_Premium_CN), and checks the CISO's decision file against both. The code doesn't buy, assign or change anything; Learn says no per-identity license assignment is needed. Test-NpiGate2 reports Gate 2's five criteria, each with its open findings, and is met only when no finding of severity Finding is open. The run writes proposals.json, decisions.json, waves.json, workload-id-premium.json, findings.json, gate2.json and manifest.json, which records the task, the cloud, the tenant, the two permissions, every request, and the SHA-256 of the register, of Chapter 02's files, of the matrix, of each input and of each file written. The same inputs give the same decisions, byte for byte.
Sources: Microsoft Learn, "Frequently asked questions about Microsoft Entra Workload ID," https://learn.microsoft.com/entra/workload-id/workload-identities-faqs (accessed Oct 30, 2026). · Microsoft Learn, "Conditional Access for workload identities," overview, https://learn.microsoft.com/entra/identity/conditional-access/workload-identity (accessed Oct 30, 2026). · Microsoft Learn, "Securing workload identities" (Microsoft Entra ID Protection), https://learn.microsoft.com/entra/id-protection/concept-workload-identity-risk (accessed Oct 30, 2026). · Microsoft Learn, "List subscribedSkus," national cloud table, permissions, optional query parameters, https://learn.microsoft.com/graph/api/subscribedsku-list?view=graph-rest-1.0 (accessed Oct 30, 2026). · Microsoft Learn, "Product names and service plan identifiers for licensing," Microsoft Entra Workload ID and Workload Identities Premium, https://learn.microsoft.com/entra/identity/users/licensing-service-plan-reference (accessed Oct 30, 2026).
Workbook: Building Non-Person Identity, Chapter 03 — “Workload ID Premium (D-N4)”; “The Workload ID Premium scope (D-N4)”; “Gate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this for? Developers build the decision records. Identity engineers propose the targets and keep the matrix itself. The application owners make the real call, account by account, and say where each workload runs. The chief information security officer decides the licensing scope, and the security officer for the system approves the gate. As for the tenant, the code asks for very little: two read permissions, one to look up the owners and one to read the subscriptions, and it only ever reads.
Detail: Audience: developers who build the project's decision records, the identity engineers who propose targets, the application owners who decide, the CISO who decides D-N4, and the ISSO who approves Gate 2. You should read PowerShell 7 and know Chapters 01 and 02. You don't need a tenant until Lab 2. The config/migration-matrix.json is kept by identity engineering in a reviewed pull request; workloads.csv and dispositions.csv by application owners; waves.csv by identity engineering; program-dates.json by the program master schedule; workload-id-premium.json by the CISO. Task migration-matrix (read, config/calls-ch03.json): GET /users/{id} with User.Read.All; GET /subscribedSkus with LicenseAssignment.Read.All. List subscribedSkus: $select only, no $filter; Global Reader or Directory Readers for delegated access.
Sources: Microsoft Learn, "Get a user," permissions, https://learn.microsoft.com/graph/api/user-get?view=graph-rest-1.0 (accessed Oct 30, 2026; read for Chapter 02). · Microsoft Learn, "List subscribedSkus," national cloud table, permissions, optional query parameters, https://learn.microsoft.com/graph/api/subscribedsku-list?view=graph-rest-1.0 (accessed Oct 30, 2026).
Workbook: Building Non-Person Identity, Chapter 03 — “Goal and audience”; “Gate 2” — task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and no tenant. First you run Learn's tables exactly as published, and one test makes the point plainly: the on-premises table never rules out a user account. Then you list what the task needs, two read permissions and nothing but reads. Then you run the first two chapters and the matrix over the fictional estate. The summary tells you how many identities are in scope and proposed, how many owners have decided, and that the gate isn't met yet, which is exactly what we want to read next.
Detail: You need PowerShell 7.1 or later with Pester 5. Work in examples/non-person-identity. Step 1, evaluate Learn's tables as published: Invoke-Pester -Path tests/NpiMatrix.Tests.ps1 -FullNameFilter '*Chapter 03*' -Output None -PassThru | Select-Object PassedCount, FailedCount, NotRunCount gives PassedCount 12, FailedCount 0, NotRunCount 31 (the 31 are the example's). Read the test "admits a user account in every situation": Learn's table never rules one out. Step 2, list what the task needs: Import-Module ./powershell/NpiMatrix/NpiMatrix.psm1; $p = Get-NpiMatrixRequiredPermission; $p.GraphPermissions -join ', '; $p.Methods -join ', ' gives LicenseAssignment.Read.All, User.Read.All and GET. Step 3, run Chapters 01 and 02, then the matrix: ./Invoke-NpiInventory.ps1 -Cloud gcc -FixturePath tests/fixtures/estate.json -OutputPath out/inventory | Out-Null; ./Invoke-NpiOwnership.ps1 -Cloud gcc -RegisterRun out/inventory -FixturePath tests/fixtures/estate.json -InputPath tests/fixtures/inputs -OutputPath out/ownership | Out-Null; ./Invoke-NpiMatrix.ps1 -Cloud gcc -RegisterRun out/inventory -OwnershipRun out/ownership -InputPath tests/fixtures/ch03/inputs -FixturePath tests/fixtures/estate.json -SkuFixturePath tests/fixtures/ch03/subscribed-skus.json -OutputPath out/matrix. Output: "Matrix: 21 identities in scope, 20 proposed (1 AppRegistrationFederated, 2 dMSA, 2 gMSA, 7 Keep, 2 ManagedIdentity, 6 Retire); 3 handed off, 1 to confirm first, 10 out of scope". "Dispositions: 18 decided of 22; waves 1 (1, 1 HIGH), 2 (3, 1 HIGH)". "Workload ID Premium (D-N4): Tier1, 2 in scope; tenant holds 2 enabled units". "Findings: 7 Finding, 4 Warn, 1 Info". "Gate 2: not met (Every account has a disposition and a target from the matrix: 3; HIGH-risk accounts in the first wave: 1; Every kept Kerberos account has an SPN owner: 1; Waves and their rollback recorded: 1; Workload ID Premium scope decided (D-N4): 1)". The commands evaluate Learn's pinned tables and run the example against a fictional estate served by fakes. They show what the code does, not that a tenant returns the same shapes. Review the code, and run Lab 2 in a test tenant, before it reads a real one.
Sources: Building Non-Person Identity, Chapter 03, docs/project-plans/developer-workbooks/non-person-identity/03-the-migration-path-matrix-as-code.md
Workbook: Building Non-Person Identity, Chapter 03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output is where the rules turn real. Six accounts are proposed for retirement, the orphans and the disabled ones from Chapter 2. Others go to delegated or group managed accounts, some are kept, and one app has no proposal because nobody recorded where it runs. The findings tell the story: a high-risk account scheduled too late, a Kerberos account kept with no owner for its service principal name, an owner who overrode the matrix but gave a reason, and two apps on the licensing list that Conditional Access can't actually protect.
Detail: Step 4, read the proposals: Get-Content out/matrix/proposals.json -Raw | ConvertFrom-Json | Where-Object Scope -eq 'Matrix' | Format-Table Name, Risk, Location, MatrixRow, Proposed. Six Retire (svc-backup, svc-oldftp, svc-reports, sa-printsvc, Legacy Reports and Old SAML Connector: Chapter 02's orphans and the disabled accounts); svc-hrsync and svc-webfront to a dMSA (M06); svc-intranet and msa-print01$ to a gMSA; gmsa-web$, gmsa-ops$ (under a dated exception, so not retired), dmsa-hrsync$, Build Pipeline, Vendor Portal and both managed identities kept; Payroll Export and Deploy Bot to a managed identity (M14); Mail Automation to a federated credential (M15). HR Connector has no proposal: nobody recorded where it runs. Step 5, read the findings: Get-Content out/matrix/findings.json -Raw | ConvertFrom-Json | Format-Table Rule, Severity, Object. NPI-MAT-07 Finding svc-hrsync (Traditional); NPI-MAT-01 Finding svc-oldftp (Traditional); NPI-MAT-01 Info jdoe (Traditional); NPI-MAT-06 Finding svc-webfront (Traditional); NPI-MAT-07 Warn svc-webfront (Traditional); NPI-MAT-07 Warn gmsa-ops$ (gMSA); NPI-MAT-05 Finding dmsa-hrsync$ (dMSA); NPI-MAT-02 Finding HR Connector (AppRegistration); NPI-MAT-04 Warn Deploy Bot (AppRegistration); NPI-MAT-08 Finding Wave 2; NPI-MAT-09 Warn Payroll Export (AppRegistration); NPI-MAT-09 Finding Vendor Portal (AppRegistration). svc-hrsync is HIGH-risk but scheduled in wave 2. svc-webfront is kept on Kerberos with the authorizing official's acceptance but no SPN owner. dmsa-hrsync$ is kept with no end date before G5. Deploy Bot's owner kept its certificate, with a reason, where the matrix proposed a managed identity. Payroll Export is on the Tier 1 list but its own decision moves it to a managed identity, which Conditional Access can't cover; Vendor Portal is multitenant and can't be covered at all.
Sources: Building Non-Person Identity, Chapter 03, docs/project-plans/developer-workbooks/non-person-identity/03-the-migration-path-matrix-as-code.md
Workbook: Building Non-Person Identity, Chapter 03 — “Lab 1: fixtures, no tenant,” steps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waves. The first wave has a named rollback owner and a clear way back. The second has an empty owner, which is exactly why it drew a finding a moment ago. Then the licensing scope: six apps could be covered by Conditional Access today, but only four after conversion, because one moves to a managed identity and one is retired. That's the kind of thing you'd want to know before buying licenses. Finally, run the whole suite: five hundred thirteen tests pass, and the run made just three requests, all reads.
Detail: Step 6, read the waves and their rollback: Get-Content out/matrix/waves.json -Raw | ConvertFrom-Json | ForEach-Object { "Wave $($_.Wave): …; rollback owner '$($_.RollbackOwner)'"; $_.Rollback | ForEach-Object { "  $_" } }. Wave 1: Mail Automation; rollback owner 'carol@contoso.example'; AppRegistrationFederated: Re-enable the legacy account or credential; revert the application's configuration; remove the federated credential. Wave 2: svc-hrsync, msa-print01$, Payroll Export; rollback owner ''; dMSA: Undo-ADServiceAccountMigration (Learn's undo for a dMSA migration); the superseded account is kept, never deleted; gMSA: Re-enable the legacy account; set the service back to it; ManagedIdentity: Re-enable the legacy account; revert the application's configuration to it. Step 7, read the Workload ID Premium scope: $s = Get-Content out/matrix/workload-id-premium.json -Raw | ConvertFrom-Json; $s.conditionalAccessEligibleNow.Count; $s.conditionalAccessEligibleAfter.Count; $s.options | ConvertTo-Json -Compress gives 6, 4 and {"Tier1":2,"Wide":4,"None":0}. Six single-tenant app registrations can be covered today; four after conversion, because Payroll Export moves to a managed identity and Legacy Reports is retired. Step 8, run the tests: Invoke-Pester -Path tests. Expected result: 513 tests passing, and out/matrix/manifest.json listing three requests, all GET: two user reads (the SPN owner and the rollback owner) and one read of the subscriptions. Delete out when you're done: it names accounts and owners. The tests: Pester 5 under PowerShell 7. This chapter's are 43 in tests/NpiMatrix.Tests.ps1: 12 for Learn's tables, run as published, and 31 for the call list (the task's declaration equals the union of its calls, GET only, no id that collides with config/calls.json), the inputs' hashes, each matrix row family, each rule, the waves and their rollback, the D-N4 scope and its one read, Gate 2, stable IDs and the entry script.
Sources: Microsoft Learn, "Setting up delegated Managed Service Accounts," migrate to a dMSA; complete account migration, https://learn.microsoft.com/windows-server/identity/ad-ds/manage/delegated-managed-service-accounts/delegated-managed-service-accounts-set-up-dmsa (accessed Oct 30, 2026).
Workbook: Building Non-Person Identity, Chapter 03 — “Lab 1: fixtures, no tenant,” steps 6–8;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people, never production, and it still only reads. You grant the same two read permissions, write a small set of inputs for the test accounts, and run it. Then come two checks the chapter couldn't settle from the documentation: what the license read actually shows in a GCC tenant, including whether a trial appears, and which identities the Conditional Access screen really lets you pick. Record both, discard the draft policy, and back everything out.
Detail: Use a test tenant in the worldwide or GCC cloud, never production, with fictional people, and the Lab 2 runs of Chapters 01 and 02 (out/inventory-test, out/ownership-test). The run only reads. 1 Grant the two application permissions from Lab 1, step 2, to the app Chapter 01's Lab 2 registered, with admin consent. Nothing else. 2 Write the inputs for the test accounts: a workloads.csv row and a dispositions.csv row for each, a waves.csv with one wave and a rollback owner who is an enabled test user, program-dates.json, and a workload-id-premium.json listing one single-tenant test app as Tier 1. 3 Run it, signed in as in Chapter 01: Connect-MgGraph -Environment Global -TenantId &lt;tenant-id&gt; -ClientId &lt;app-id&gt; -CertificateThumbprint &lt;thumbprint&gt;; ./Invoke-NpiMatrix.ps1 -Cloud gcc -RegisterRun out/inventory-test -OwnershipRun out/ownership-test -InputPath &lt;inputs&gt; -OutputPath out/matrix-test. 4 Check the license read: record what workload-id-premium.json's tenant section shows: the skuPartNumber and service plans of any Workload ID subscription, or none, and whether a trial appears (research gaps, row 28). 5 Check eligibility against the admin center: on Conditional Access, start a new policy, choose Workload identities, and confirm the single-tenant test app can be selected and a managed identity can't; check whether a legacy service principal is offered (row 27). Discard the draft. 6 Back it out: remove the two permissions, and delete out/matrix-test: it lists the accounts kept on Kerberos and who owns them.
Sources: Microsoft Learn, "List subscribedSkus," national cloud table, permissions, optional query parameters, https://learn.microsoft.com/graph/api/subscribedsku-list?view=graph-rest-1.0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biggest is treating the matrix's proposal as the owner's decision, so they live in separate files, and the check flags every account until its owner signs. A guess about where a workload runs gets no proposal at all. Learn's limits on delegated accounts are enforced, not just noted. Kerberos accounts can't be kept forever, high-risk accounts can't wait, and no wave goes ahead without a way back. And this code never deletes anything: retirement still goes through Chapter 2's rule and the reviewed decommission process.
Detail: The matrix's proposal treated as the decision: accounts are converted without an owner who agreed; guard: the proposal and the disposition are separate files; NPI-MAT-01 until the owner records one, with who and when. A guess at where the workload runs: a managed identity proposed for a service that can't use one; guard: no proposal without the owner's workload facts (NPI-MAT-02); MiSupported, Dmsa and Issuer required where they decide. An MSA or gMSA sent to a dMSA: the migration can't be done; the wave stalls; guard: never allowed (NPI-MAT-03), from Learn. A dMSA where a host can't use it, or with unconstrained delegation: authentication fails once the old account is disabled; delegation stops; guard: proposed only with Dmsa recorded; both cautions on the proposal; NPI-MAT-03. A Kerberos account kept forever: it outlives the domain, and the program's SPN retirement has no list; guard: KeepKerberos needs an end date by D08, the authorizing official and an SPN owner; any account kept in AD needs an end date by G5 (NPI-MAT-05, -06). HIGH-risk accounts left for later: the riskiest credentials live longest; guard: HIGH re-platformed outside wave 1 is a Finding; HIGH kept is a Warning naming the privilege to cut (NPI-MAT-07). A wave with no way back: a failed conversion becomes an outage; guard: each wave's rollback from its members' targets, a named rollback owner who is an enabled member, a review date and a 30-day parallel run (NPI-MAT-08). Workload ID Premium bought for identities it can't cover: money spent on managed identities or multitenant apps; Tier 1 apps left unprotected after conversion; guard: eligibility from the register; Tier 1 entries checked now and after conversion; units compared (NPI-MAT-09). Inputs that changed after review: a decision on evidence the ISSO never saw; guard: register and ownership files checked against their manifests; every input's SHA-256 in this run's manifest. Retirement by this code: an account deleted on a proposal; guard: nothing here writes; Retire goes through Chapter 02's orphan rule and the reviewed decommission process. Where Learn's pages differ: the on-premises table has no dMSA column where Windows Server's guide has one (research gaps, row 21); the cloud table offers a service principal only certificates and secrets where the federation page offers federated credentials (row 22); the cloud page says managed identities can't be used outside Azure where the Arc pages give every Arc-enabled server one (row 23); and the Workload ID FAQ says one license unlocks every workload identity, that only eligible identities need licenses, and that Premium is priced per workload identity (row 26). The code follows the stricter reading or holds the point open, and a test pins each.
Sources: Microsoft Learn, "Delegated Managed Service Accounts overview," migration flow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“Dangers”; “Verified facts” — where Learn's pages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account has a proposal, or a finding that names the missing fact. Every account has its owner's decision, with any departure from the matrix explained. Nothing kept lives forever, and every Kerberos keep has an owner and an accepted end date. The high-risk accounts go first, every wave has a way back, and the licensing scope holds only identities it can actually protect. With every account decided, Chapter 4 moves on to app management policies and certificate rotation. Thanks for watching.
Detail: Checklist: every account in the register has a proposal, or a finding naming the missing workload fact, and every out-of-scope row has its reason. Every account in scope has a disposition from its application owner, with who and when, and every target that differs from the matrix has a reason. No MSA or gMSA is planned for a dMSA, and every dMSA has its domain and host facts recorded. Every account kept on Kerberos has an SPN owner who is an enabled member, an end date by D08 and the authorizing official's acceptance; every account kept in AD ends by G5. Every HIGH-risk account is in wave 1, retired, or kept with the privilege cut assigned. Every wave has its rollback, a rollback owner, a review date and a 30-day parallel run. The D-N4 decision is the CISO's, its Tier 1 list holds only eligible identities, and the tenant's units cover it. config/migration-matrix.json changed only in a reviewed pull request, and the manifest's hashes match the files handed to the ISSO. The pinned Learn pages match their manifest, and every upstream commit since the pin has been reviewed. Next: Chapter 04 — App Management Policies and Certificate Rotation.
Sources: Microsoft Learn, "Delegated Managed Service Accounts overview," migration flow for dMSA, https://learn.microsoft.com/windows-server/identity/ad-ds/manage/delegated-managed-service-accounts/delegated-managed-service-accounts-overview (accessed Oct 30, 2026). · Microsoft Learn, "Frequently asked questions about Microsoft Entra Workload ID," https://learn.microsoft.com/entra/workload-id/workload-identities-faqs (accessed Oct 30, 2026). · 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
Workbook: Building Non-Person Identity, Chapter 03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docs/project-plans/developer-workbooks/non-person-identity/03-the-migration-path-matrix-as-code.md.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docs/project-plans/developer-workbooks/non-person-identity/03-the-migration-path-matrix-as-code.md.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03: The Migration Path Matrix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Proposal, disposition, gate · Learn's tables and their gaps · the matrix, rules, waves, D-N4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things to keep apart: proposal, decision, gate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 matrix in a book proposes; an owner decides; a gate checks that every account has both.</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1837944"/>
            <a:ext cx="3550920" cy="2758440"/>
          </a:xfrm>
          <a:prstGeom prst="roundRect">
            <a:avLst>
              <a:gd name="adj" fmla="val 265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1837944"/>
            <a:ext cx="82296" cy="2758440"/>
          </a:xfrm>
          <a:prstGeom prst="rect">
            <a:avLst/>
          </a:prstGeom>
          <a:solidFill>
            <a:srgbClr val="1F2A44"/>
          </a:solidFill>
          <a:ln w="12700">
            <a:solidFill>
              <a:srgbClr val="1F2A44"/>
            </a:solidFill>
            <a:prstDash val="solid"/>
          </a:ln>
        </p:spPr>
      </p:sp>
      <p:sp>
        <p:nvSpPr>
          <p:cNvPr id="8" name="Card 1 text"/>
          <p:cNvSpPr txBox="1"/>
          <p:nvPr/>
        </p:nvSpPr>
        <p:spPr>
          <a:xfrm>
            <a:off x="777240" y="1975104"/>
            <a:ext cx="3185160" cy="2529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The proposal (N2.1)</a:t>
            </a:r>
            <a:endParaRPr lang="en-US" sz="1400" dirty="0"/>
          </a:p>
          <a:p>
            <a:pPr indent="0" marL="0">
              <a:spcAft>
                <a:spcPts val="300"/>
              </a:spcAft>
              <a:buNone/>
            </a:pPr>
            <a:r>
              <a:rPr lang="en-US" sz="1500" dirty="0">
                <a:solidFill>
                  <a:srgbClr val="334155"/>
                </a:solidFill>
              </a:rPr>
              <a:t>From the matrix: a target per account, by its type, where its workload runs and its credential. No stored secrets; managed identity in Azure; federation where there's an issuer; certificates only otherwise; gMSA, or dMSA on a Windows Server 2025 domain. *Design guidance.*</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328160" y="1837944"/>
            <a:ext cx="3550920" cy="2758440"/>
          </a:xfrm>
          <a:prstGeom prst="roundRect">
            <a:avLst>
              <a:gd name="adj" fmla="val 265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4328160" y="1837944"/>
            <a:ext cx="82296" cy="2758440"/>
          </a:xfrm>
          <a:prstGeom prst="rect">
            <a:avLst/>
          </a:prstGeom>
          <a:solidFill>
            <a:srgbClr val="0F766E"/>
          </a:solidFill>
          <a:ln w="12700">
            <a:solidFill>
              <a:srgbClr val="0F766E"/>
            </a:solidFill>
            <a:prstDash val="solid"/>
          </a:ln>
        </p:spPr>
      </p:sp>
      <p:sp>
        <p:nvSpPr>
          <p:cNvPr id="11" name="Card 2 text"/>
          <p:cNvSpPr txBox="1"/>
          <p:nvPr/>
        </p:nvSpPr>
        <p:spPr>
          <a:xfrm>
            <a:off x="4556760" y="1975104"/>
            <a:ext cx="3185160" cy="2529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The disposition (D-N3)</a:t>
            </a:r>
            <a:endParaRPr lang="en-US" sz="1400" dirty="0"/>
          </a:p>
          <a:p>
            <a:pPr indent="0" marL="0">
              <a:spcAft>
                <a:spcPts val="300"/>
              </a:spcAft>
              <a:buNone/>
            </a:pPr>
            <a:r>
              <a:rPr lang="en-US" sz="1500" dirty="0">
                <a:solidFill>
                  <a:srgbClr val="334155"/>
                </a:solidFill>
              </a:rPr>
              <a:t>The application owner's, account by account: retire, re-platform, or keep on Kerberos with an SPN, islanded, with an end date the authorizing official accepts. An owner may choose another target, with a reason.</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107680" y="1837944"/>
            <a:ext cx="3550920" cy="2758440"/>
          </a:xfrm>
          <a:prstGeom prst="roundRect">
            <a:avLst>
              <a:gd name="adj" fmla="val 265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8107680" y="1837944"/>
            <a:ext cx="82296" cy="2758440"/>
          </a:xfrm>
          <a:prstGeom prst="rect">
            <a:avLst/>
          </a:prstGeom>
          <a:solidFill>
            <a:srgbClr val="B45309"/>
          </a:solidFill>
          <a:ln w="12700">
            <a:solidFill>
              <a:srgbClr val="B45309"/>
            </a:solidFill>
            <a:prstDash val="solid"/>
          </a:ln>
        </p:spPr>
      </p:sp>
      <p:sp>
        <p:nvSpPr>
          <p:cNvPr id="14" name="Card 3 text"/>
          <p:cNvSpPr txBox="1"/>
          <p:nvPr/>
        </p:nvSpPr>
        <p:spPr>
          <a:xfrm>
            <a:off x="8336280" y="1975104"/>
            <a:ext cx="3185160" cy="25298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gate (Gate 2)</a:t>
            </a:r>
            <a:endParaRPr lang="en-US" sz="1400" dirty="0"/>
          </a:p>
          <a:p>
            <a:pPr indent="0" marL="0">
              <a:spcAft>
                <a:spcPts val="300"/>
              </a:spcAft>
              <a:buNone/>
            </a:pPr>
            <a:r>
              <a:rPr lang="en-US" sz="1500" dirty="0">
                <a:solidFill>
                  <a:srgbClr val="334155"/>
                </a:solidFill>
              </a:rPr>
              <a:t>The ISSO's: every account has a disposition and a target; HIGH-risk accounts in the first wave; every kept Kerberos account has an SPN owner; waves and rollback recorded.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the migration path matrix; the implementation guide, Step 2; the project plan, Gate 2. Chapter 03, “The decisions the code holds.”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hosts, licenses and the trial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194560"/>
                <a:gridCol w="4572000"/>
                <a:gridCol w="434340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(the target estate)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matrix</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Offline logic over Chapters 01 and 02's files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same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two reads go to</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Microsoft Graph at graph.microsoft.com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List subscribedSkus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Global service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US Government L4 and L5</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Workload ID Premium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 GCC tenant signs in to the worldwide cloud: whether the trial appears is a Lab 2 check (research gaps, row 28)</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Through the account manager; no free trial in the Azure Government clouds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tenant is GCC on the worldwide endpoints, so both reads use graph.microsoft.com, run with -Cloud gcc.</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List subscribedSkus; Workload ID FAQ. Chapter 03, “Which cloud, for these reads.”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gives: a preference order and two tables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392424"/>
          </a:xfrm>
          <a:prstGeom prst="roundRect">
            <a:avLst>
              <a:gd name="adj" fmla="val 21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On premises: a gMSA whenever possible; an sMSA if not; a computer or user account only if no MSA will run the service</a:t>
            </a:r>
            <a:endParaRPr lang="en-US" sz="1500" dirty="0"/>
          </a:p>
          <a:p>
            <a:pPr marL="342900" indent="-342900">
              <a:spcAft>
                <a:spcPts val="400"/>
              </a:spcAft>
              <a:buSzPct val="100000"/>
              <a:buChar char="•"/>
            </a:pPr>
            <a:r>
              <a:rPr lang="en-US" sz="1500" dirty="0">
                <a:solidFill>
                  <a:srgbClr val="334155"/>
                </a:solidFill>
              </a:rPr>
              <a:t>In Entra: a managed identity in Azure if supported; a service principal otherwise; never a user account</a:t>
            </a:r>
            <a:endParaRPr lang="en-US" sz="1500" dirty="0"/>
          </a:p>
          <a:p>
            <a:pPr marL="342900" indent="-342900">
              <a:spcAft>
                <a:spcPts val="400"/>
              </a:spcAft>
              <a:buSzPct val="100000"/>
              <a:buChar char="•"/>
            </a:pPr>
            <a:r>
              <a:rPr lang="en-US" sz="1500" dirty="0">
                <a:solidFill>
                  <a:srgbClr val="334155"/>
                </a:solidFill>
              </a:rPr>
              <a:t>Windows Server adds the dMSA; federation lets an app registration or user-assigned MI trust an external issuer</a:t>
            </a:r>
            <a:endParaRPr lang="en-US" sz="1500" dirty="0"/>
          </a:p>
          <a:p>
            <a:pPr marL="342900" indent="-342900">
              <a:spcAft>
                <a:spcPts val="400"/>
              </a:spcAft>
              <a:buSzPct val="100000"/>
              <a:buChar char="•"/>
            </a:pPr>
            <a:r>
              <a:rPr lang="en-US" sz="1500" dirty="0">
                <a:solidFill>
                  <a:srgbClr val="334155"/>
                </a:solidFill>
              </a:rPr>
              <a:t>Two decision tables (by servers, load balancer, old Windows; by Azure-hosted or multitenant) and the Workload ID FAQ</a:t>
            </a:r>
            <a:endParaRPr lang="en-US" sz="150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392424"/>
          </a:xfrm>
          <a:prstGeom prst="roundRect">
            <a:avLst>
              <a:gd name="adj" fmla="val 21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Three pages pinned unmodified in examples/third_party/entra-service-account-choice-pages, entra-docs at 7f78b50 (Oct 30, 2026)</a:t>
            </a:r>
            <a:endParaRPr lang="en-US" sz="1500" dirty="0"/>
          </a:p>
          <a:p>
            <a:pPr marL="342900" indent="-342900">
              <a:spcAft>
                <a:spcPts val="400"/>
              </a:spcAft>
              <a:buSzPct val="100000"/>
              <a:buChar char="•"/>
            </a:pPr>
            <a:r>
              <a:rPr lang="en-US" sz="1500" dirty="0">
                <a:solidFill>
                  <a:srgbClr val="334155"/>
                </a:solidFill>
              </a:rPr>
              <a:t>snapshot.json holds each SHA-256; a unit test checks it; the weekly source watch reports new commits</a:t>
            </a:r>
            <a:endParaRPr lang="en-US" sz="1500" dirty="0"/>
          </a:p>
          <a:p>
            <a:pPr marL="342900" indent="-342900">
              <a:spcAft>
                <a:spcPts val="400"/>
              </a:spcAft>
              <a:buSzPct val="100000"/>
              <a:buChar char="•"/>
            </a:pPr>
            <a:r>
              <a:rPr lang="en-US" sz="1500" dirty="0">
                <a:solidFill>
                  <a:srgbClr val="334155"/>
                </a:solidFill>
              </a:rPr>
              <a:t>NpiMatrixSampleHarness.ps1: on premises, the first column where every applicable criterion says “Yes”; in the cloud, “Recommended”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901184"/>
            <a:ext cx="11109960" cy="928116"/>
          </a:xfrm>
          <a:prstGeom prst="roundRect">
            <a:avLst>
              <a:gd name="adj" fmla="val 788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504520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98821"/>
            <a:ext cx="332842" cy="332842"/>
          </a:xfrm>
          <a:prstGeom prst="rect">
            <a:avLst/>
          </a:prstGeom>
        </p:spPr>
      </p:pic>
      <p:sp>
        <p:nvSpPr>
          <p:cNvPr id="14" name="Callout text"/>
          <p:cNvSpPr txBox="1"/>
          <p:nvPr/>
        </p:nvSpPr>
        <p:spPr>
          <a:xfrm>
            <a:off x="1600200" y="4956048"/>
            <a:ext cx="9875520" cy="818388"/>
          </a:xfrm>
          <a:prstGeom prst="rect">
            <a:avLst/>
          </a:prstGeom>
          <a:noFill/>
          <a:ln/>
        </p:spPr>
        <p:txBody>
          <a:bodyPr wrap="square" lIns="0" tIns="0" rIns="0" bIns="0" rtlCol="0" anchor="ctr"/>
          <a:lstStyle/>
          <a:p>
            <a:pPr indent="0" marL="0">
              <a:buNone/>
            </a:pPr>
            <a:r>
              <a:rPr lang="en-US" sz="1550" b="1" dirty="0">
                <a:solidFill>
                  <a:srgbClr val="B45309"/>
                </a:solidFill>
              </a:rPr>
              <a:t>Limits: </a:t>
            </a:r>
            <a:pPr indent="0" marL="0">
              <a:buNone/>
            </a:pPr>
            <a:r>
              <a:rPr lang="en-US" sz="1550" dirty="0">
                <a:solidFill>
                  <a:srgbClr val="334155"/>
                </a:solidFill>
              </a:rPr>
              <a:t>a dMSA disables the old password, but an MSA or gMSA can't migrate to one, every host must support it, unconstrained delegation stops, one per account. No code applies the tables: the tables are the sample.</a:t>
            </a:r>
            <a:endParaRPr lang="en-US" sz="15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on-premises and cloud service accounts; gMSAs; WS service accounts; dMSA; federation; Workload ID FAQ; entra-docs at 7f78b50. Chapter 03,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Learn's tables miss: dMSA, retire, the facts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15028"/>
        </p:xfrm>
        <a:graphic>
          <a:graphicData uri="http://schemas.openxmlformats.org/drawingml/2006/table">
            <a:tbl>
              <a:tblPr firstRow="1" bandRow="1"/>
              <a:tblGrid>
                <a:gridCol w="3383280"/>
                <a:gridCol w="3657600"/>
                <a:gridCol w="40690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table,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examples/non-person-identity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gMSA for one server or a load balancer; managed identity in Azure, service principal outside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the matrix's Kerberos and Entra rows follow the same order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dMSA column; Windows Server's guide has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Windows Server 2025 domain's best target never comes out of the table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Row M06: dMSA when the facts record a 2025 domain controller and capable hosts, with Learn's cautions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Admits a user account in every situation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table never says to move off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row targets a traditional account; keeping one is KeepKerberos, an exception with an end date, AO acceptance and an SPN owner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retire outcome; no criterion for owner or use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 unowned or disabled account gets a new account type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Retire for Chapter 02's orphan candidates and disabled accounts, with a stale-lead caution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Decides by servers, load balancer and old Windows versions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Those facts aren't in any register; HIGH-risk gets no priority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Type and credential from Chapter 01, workloads.csv from the owner, waves with HIGH first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on-premises service accounts; Windows Server service accounts; dMSA overview. Chapter 03, “What it leaves to you” (tests in NpiMatrix.Tests.ps1).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they miss: federation, coverage, a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3068"/>
        </p:xfrm>
        <a:graphic>
          <a:graphicData uri="http://schemas.openxmlformats.org/drawingml/2006/table">
            <a:tbl>
              <a:tblPr firstRow="1" bandRow="1"/>
              <a:tblGrid>
                <a:gridCol w="3566160"/>
                <a:gridCol w="3657600"/>
                <a:gridCol w="38862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table or FAQ,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code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“Recommended if the service supports a Managed Identity”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Whether it does is left to you</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MiSupported required for an Azure workload (NPI-MAT-02); with No, an app registration trusting a user-assigned managed identity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 service principal gets only client certificates and secrets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Federation, Book 02's preference over a certificate, is missing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Rows M04, M10 and M15 propose a federated credential where there's an OIDC issuer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Recommends a service principal for a multitenant service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Conditional Access can't cover it: Premium buys nothing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D-N4 scope checks each Tier 1 identity is single-tenant (NPI-MAT-09)</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FAQ: one license unlocks all, yet only eligible identities need licensing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count to buy isn't stated as a rule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Counts eligible identities now and after conversion, compares enabled units, warns; held open (research gaps, row 26)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Nothing records a decision, end date, SPN owner, wave or rollback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Gate 2 is left to you</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 of them, as files a reviewer reads; NPI-MAT-01 to -09 and Gate 2's criteria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481828"/>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Verdict: Learn's tables define preference; don't use them as the matrix.</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cloud service accounts; workload identity federation; Conditional Access for workload identities; Workload ID FAQ. Chapter 03,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and the inputs it reads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NpiMatrix.psm1 and Invoke-NpiMatrix.ps1; imports Chapter 02's Import-NpiRegister and changes neither earlier chapter.</a:t>
            </a:r>
            <a:endParaRPr lang="en-US" sz="17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2097024"/>
          <a:ext cx="11109960" cy="3758184"/>
        </p:xfrm>
        <a:graphic>
          <a:graphicData uri="http://schemas.openxmlformats.org/drawingml/2006/table">
            <a:tbl>
              <a:tblPr firstRow="1" bandRow="1"/>
              <a:tblGrid>
                <a:gridCol w="2651760"/>
                <a:gridCol w="2651760"/>
                <a:gridCol w="58064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keeps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holds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Chapter 01 and 02 run folders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pipeline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register.json, ownership.json, orphan-plan.json; refused if a SHA-256 isn't the manifest's, or Chapter 02 checked another register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config/migration-matrix.json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 engineering, reviewed PR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Rows (type, location, credential, facts, target, source), targets with rollback, dispositions, combinations never allowed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workloads.csv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 owners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Location (Azure, ArcServer, OidcIssuer, EntraApiNoIssuer, OnPremKerberos, Hybrid), MiSupported, Dmsa, Issuer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dispositions.csv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 owners (D-N3)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Retire, Replatform, Keep, KeepKerberos; Target, Wave, DecidedBy/On, EndDate, AoAcceptedBy, SpnOwnerUpn, Reason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waves.csv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 engineering (N2.2)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Wave, Name, Starts, ParallelRunDays, RollbackOwnerUpn, RollbackReviewedOn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program-dates.json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Master schedule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D08 (legacy authentication end dates) and G5 (AD retired)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workload-id-premium.json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CISO (D-N4)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Tier1, Wide or None; decidedBy, decidedOn; the Tier 1 identities; compensating controls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(NpiMatrix module, config, fixtures). Chapter 03, “The code,”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proposal: scope first, then the matrix rows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ist"/>
          <p:cNvSpPr txBox="1"/>
          <p:nvPr/>
        </p:nvSpPr>
        <p:spPr>
          <a:xfrm>
            <a:off x="548640" y="1325880"/>
            <a:ext cx="11109960" cy="7178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34155"/>
                </a:solidFill>
              </a:rPr>
              <a:t>Scope first: SQL Server accounts handed to the Data Platform plan (row 25); own apps' service principals covered by their app registration; external service principals and AI agents out of scope, with a reason; a password-never-expires-only find waits for confirmation</a:t>
            </a:r>
            <a:endParaRPr lang="en-US" sz="1250" dirty="0"/>
          </a:p>
          <a:p>
            <a:pPr marL="342900" indent="-342900">
              <a:spcAft>
                <a:spcPts val="400"/>
              </a:spcAft>
              <a:buSzPct val="100000"/>
              <a:buChar char="•"/>
            </a:pPr>
            <a:r>
              <a:rPr lang="en-US" sz="1250" dirty="0">
                <a:solidFill>
                  <a:srgbClr val="334155"/>
                </a:solidFill>
              </a:rPr>
              <a:t>Then </a:t>
            </a:r>
            <a:pPr indent="0" marL="0">
              <a:spcAft>
                <a:spcPts val="400"/>
              </a:spcAft>
              <a:buNone/>
            </a:pPr>
            <a:r>
              <a:rPr lang="en-US" sz="1250" b="1" dirty="0">
                <a:solidFill>
                  <a:srgbClr val="1F2A44"/>
                </a:solidFill>
              </a:rPr>
              <a:t>Retire</a:t>
            </a:r>
            <a:pPr indent="0" marL="0">
              <a:spcAft>
                <a:spcPts val="400"/>
              </a:spcAft>
              <a:buNone/>
            </a:pPr>
            <a:r>
              <a:rPr lang="en-US" sz="1250" dirty="0">
                <a:solidFill>
                  <a:srgbClr val="334155"/>
                </a:solidFill>
              </a:rPr>
              <a:t> first: Chapter 02's unowned accounts (unless claimed or excepted) and disabled ones; otherwise the first matching row</a:t>
            </a:r>
            <a:endParaRPr lang="en-US" sz="12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226564"/>
          <a:ext cx="11109960" cy="2426208"/>
        </p:xfrm>
        <a:graphic>
          <a:graphicData uri="http://schemas.openxmlformats.org/drawingml/2006/table">
            <a:tbl>
              <a:tblPr firstRow="1" bandRow="1"/>
              <a:tblGrid>
                <a:gridCol w="1280160"/>
                <a:gridCol w="2103120"/>
                <a:gridCol w="2377440"/>
                <a:gridCol w="3886200"/>
                <a:gridCol w="14630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Proposed target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M01–M05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Arc server, OIDC issuer, Entra API, no issuer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identity; app registration with a federated credential; with a 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02; guide; Learn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M06, M07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 premises, Kerberos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dMSA where the domain and hosts allow; otherwise gMSA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02; Learn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M08–M13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MSA, gMSA, dMSA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 premises, hybrid, moving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MSA to gMSA; keep a gMSA or dMSA; gMSA plus app registration; MI or federation once moved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M14–M18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 registration, legacy SP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secret goes to MI, then federation, then a certificate; certificate or federated credential stays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02; Book 04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M19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llout" descr="">
            <a:extLst>
              <a:ext uri="{C183D7F6-B498-43B3-948B-1728B52AA6E4}">
                <adec:decorative xmlns:adec="http://schemas.microsoft.com/office/drawing/2017/decorative" val="1"/>
              </a:ext>
            </a:extLst>
          </p:cNvPr>
          <p:cNvSpPr/>
          <p:nvPr/>
        </p:nvSpPr>
        <p:spPr>
          <a:xfrm>
            <a:off x="548640" y="483565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TriangleExclamation" descr="">
            <a:extLst>
              <a:ext uri="{C183D7F6-B498-43B3-948B-1728B52AA6E4}">
                <adec:decorative xmlns:adec="http://schemas.microsoft.com/office/drawing/2017/decorative" val="1"/>
              </a:ext>
            </a:extLst>
          </p:cNvPr>
          <p:cNvSpPr/>
          <p:nvPr/>
        </p:nvSpPr>
        <p:spPr>
          <a:xfrm>
            <a:off x="749808" y="4908804"/>
            <a:ext cx="585216" cy="585216"/>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049256"/>
            <a:ext cx="304312" cy="304312"/>
          </a:xfrm>
          <a:prstGeom prst="rect">
            <a:avLst/>
          </a:prstGeom>
        </p:spPr>
      </p:pic>
      <p:sp>
        <p:nvSpPr>
          <p:cNvPr id="10" name="Callout text"/>
          <p:cNvSpPr txBox="1"/>
          <p:nvPr/>
        </p:nvSpPr>
        <p:spPr>
          <a:xfrm>
            <a:off x="1600200" y="4890516"/>
            <a:ext cx="9875520" cy="621792"/>
          </a:xfrm>
          <a:prstGeom prst="rect">
            <a:avLst/>
          </a:prstGeom>
          <a:noFill/>
          <a:ln/>
        </p:spPr>
        <p:txBody>
          <a:bodyPr wrap="square" lIns="0" tIns="0" rIns="0" bIns="0" rtlCol="0" anchor="ctr"/>
          <a:lstStyle/>
          <a:p>
            <a:pPr indent="0" marL="0">
              <a:buNone/>
            </a:pPr>
            <a:r>
              <a:rPr lang="en-US" sz="1250" b="1" dirty="0">
                <a:solidFill>
                  <a:srgbClr val="B45309"/>
                </a:solidFill>
              </a:rPr>
              <a:t>Cautions carried: </a:t>
            </a:r>
            <a:pPr indent="0" marL="0">
              <a:buNone/>
            </a:pPr>
            <a:r>
              <a:rPr lang="en-US" sz="1250" dirty="0">
                <a:solidFill>
                  <a:srgbClr val="334155"/>
                </a:solidFill>
              </a:rPr>
              <a:t>dMSA hosts and delegation; an Arc server's identity is the server's, shared by every app its administrators allow (research gaps, row 23).</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cloud and on-premises service accounts; federation; dMSA overview; Arc managed identity; Arc identity. Chapter 03, “The proposal (N2.1).”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decision check: nine rules, NPI-MAT-01 to -09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1234440"/>
                <a:gridCol w="2011680"/>
                <a:gridCol w="5760720"/>
                <a:gridCol w="210312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(Info: confirm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disposition recorded, or one the code doesn't know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D-N3; Gate 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proposal: workload facts missing or incomplete, or no row matches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(Warn: delegation)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Target outside the disposition; an MSA or gMSA sent to a dMSA; a dMSA without its facts; unconstrained delegation under 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(row 29)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 (Finding: no reason)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owner chose a target the matrix didn't propose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(Warn: no 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Kept in AD with no end date, one past, or after G5; kept on Kerberos after D08 or without AO acceptance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D-N3; N3.6; N7.3 (row 24)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Kept on Kerberos, or kept with an SPN, without an SPN owner who is an enabled member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Gate 2; Chapter 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(Warn: kept)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HIGH-risk re-platformed outside wave 1; HIGH-risk kept, its risk staying until the privilege is cut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N2.2; Book 02, Ch 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wave with members and no enabled rollback owner, no review date, or a parallel run under 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N2.2; guide Step 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NPI-MAT-09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Warn or Info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D-N4: no decision; a Tier 1 identity CA can't cover or that leaves scope; too few units; None without controls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D-N4; Learn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dMSA overview and FAQ; Conditional Access for workload identities; Workload ID FAQ; design guidance as labeled. Chapter 03, “The disposition and the waves.”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Waves and their rollback (N2.2)</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Owners and waves" descr="">
            <a:extLst>
              <a:ext uri="{C183D7F6-B498-43B3-948B-1728B52AA6E4}">
                <adec:decorative xmlns:adec="http://schemas.microsoft.com/office/drawing/2017/decorative" val="1"/>
              </a:ext>
            </a:extLst>
          </p:cNvPr>
          <p:cNvSpPr/>
          <p:nvPr/>
        </p:nvSpPr>
        <p:spPr>
          <a:xfrm>
            <a:off x="548640" y="1325880"/>
            <a:ext cx="5417820" cy="2467356"/>
          </a:xfrm>
          <a:prstGeom prst="roundRect">
            <a:avLst>
              <a:gd name="adj" fmla="val 29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Owners and wa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OWNERS AND WAVES</a:t>
            </a:r>
            <a:endParaRPr lang="en-US" sz="1100" dirty="0"/>
          </a:p>
        </p:txBody>
      </p:sp>
      <p:sp>
        <p:nvSpPr>
          <p:cNvPr id="7" name="Panel Owners and waves list"/>
          <p:cNvSpPr txBox="1"/>
          <p:nvPr/>
        </p:nvSpPr>
        <p:spPr>
          <a:xfrm>
            <a:off x="73152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Each SPN owner and rollback owner read once: GET /users/{id}, $select=id,userPrincipalName,userType,accountEnabled</a:t>
            </a:r>
            <a:endParaRPr lang="en-US" sz="1550" dirty="0"/>
          </a:p>
          <a:p>
            <a:pPr marL="342900" indent="-342900">
              <a:spcAft>
                <a:spcPts val="400"/>
              </a:spcAft>
              <a:buSzPct val="100000"/>
              <a:buChar char="•"/>
            </a:pPr>
            <a:r>
              <a:rPr lang="en-US" sz="1550" dirty="0">
                <a:solidFill>
                  <a:srgbClr val="334155"/>
                </a:solidFill>
              </a:rPr>
              <a:t>Counts only as an </a:t>
            </a:r>
            <a:pPr indent="0" marL="0">
              <a:spcAft>
                <a:spcPts val="400"/>
              </a:spcAft>
              <a:buNone/>
            </a:pPr>
            <a:r>
              <a:rPr lang="en-US" sz="1550" b="1" dirty="0">
                <a:solidFill>
                  <a:srgbClr val="1F2A44"/>
                </a:solidFill>
              </a:rPr>
              <a:t>enabled member</a:t>
            </a:r>
            <a:pPr indent="0" marL="0">
              <a:spcAft>
                <a:spcPts val="400"/>
              </a:spcAft>
              <a:buNone/>
            </a:pPr>
            <a:r>
              <a:rPr lang="en-US" sz="1550" dirty="0">
                <a:solidFill>
                  <a:srgbClr val="334155"/>
                </a:solidFill>
              </a:rPr>
              <a:t>: Chapter 02's rule</a:t>
            </a:r>
            <a:endParaRPr lang="en-US" sz="1550" dirty="0"/>
          </a:p>
          <a:p>
            <a:pPr marL="342900" indent="-342900">
              <a:spcAft>
                <a:spcPts val="400"/>
              </a:spcAft>
              <a:buSzPct val="100000"/>
              <a:buChar char="•"/>
            </a:pPr>
            <a:r>
              <a:rPr lang="en-US" sz="1550" dirty="0">
                <a:solidFill>
                  <a:srgbClr val="334155"/>
                </a:solidFill>
              </a:rPr>
              <a:t>A re-platformed account with no wave: wave 1 if HIGH-risk, wave 2 otherwise, marked as proposed</a:t>
            </a:r>
            <a:endParaRPr lang="en-US" sz="1550" dirty="0"/>
          </a:p>
        </p:txBody>
      </p:sp>
      <p:sp>
        <p:nvSpPr>
          <p:cNvPr id="8" name="Panel Each wave's rollback" descr="">
            <a:extLst>
              <a:ext uri="{C183D7F6-B498-43B3-948B-1728B52AA6E4}">
                <adec:decorative xmlns:adec="http://schemas.microsoft.com/office/drawing/2017/decorative" val="1"/>
              </a:ext>
            </a:extLst>
          </p:cNvPr>
          <p:cNvSpPr/>
          <p:nvPr/>
        </p:nvSpPr>
        <p:spPr>
          <a:xfrm>
            <a:off x="6240780" y="1325880"/>
            <a:ext cx="5417820" cy="2467356"/>
          </a:xfrm>
          <a:prstGeom prst="roundRect">
            <a:avLst>
              <a:gd name="adj" fmla="val 29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Each wave&amp;apos;s rollback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EACH WAVE'S ROLLBACK</a:t>
            </a:r>
            <a:endParaRPr lang="en-US" sz="1100" dirty="0"/>
          </a:p>
        </p:txBody>
      </p:sp>
      <p:sp>
        <p:nvSpPr>
          <p:cNvPr id="10" name="Panel Each wave's rollback list"/>
          <p:cNvSpPr txBox="1"/>
          <p:nvPr/>
        </p:nvSpPr>
        <p:spPr>
          <a:xfrm>
            <a:off x="642366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Assembled from the members' targets in config/migration-matrix.json</a:t>
            </a:r>
            <a:endParaRPr lang="en-US" sz="1550" dirty="0"/>
          </a:p>
          <a:p>
            <a:pPr marL="342900" indent="-342900">
              <a:spcAft>
                <a:spcPts val="400"/>
              </a:spcAft>
              <a:buSzPct val="100000"/>
              <a:buChar char="•"/>
            </a:pPr>
            <a:r>
              <a:rPr lang="en-US" sz="1550" dirty="0">
                <a:solidFill>
                  <a:srgbClr val="334155"/>
                </a:solidFill>
              </a:rPr>
              <a:t>Re-enable the legacy account and revert the application's configuration (Book 02, Phase 4)</a:t>
            </a:r>
            <a:endParaRPr lang="en-US" sz="1550" dirty="0"/>
          </a:p>
          <a:p>
            <a:pPr marL="342900" indent="-342900">
              <a:spcAft>
                <a:spcPts val="400"/>
              </a:spcAft>
              <a:buSzPct val="100000"/>
              <a:buChar char="•"/>
            </a:pPr>
            <a:r>
              <a:rPr lang="en-US" sz="1550" dirty="0">
                <a:solidFill>
                  <a:srgbClr val="334155"/>
                </a:solidFill>
              </a:rPr>
              <a:t>For a dMSA: Learn's Undo-ADServiceAccountMigration, keeping the superseded account, which Learn says never to delete</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3976116"/>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49808" y="4049268"/>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194840"/>
            <a:ext cx="315407" cy="315407"/>
          </a:xfrm>
          <a:prstGeom prst="rect">
            <a:avLst/>
          </a:prstGeom>
        </p:spPr>
      </p:pic>
      <p:sp>
        <p:nvSpPr>
          <p:cNvPr id="14" name="Callout text"/>
          <p:cNvSpPr txBox="1"/>
          <p:nvPr/>
        </p:nvSpPr>
        <p:spPr>
          <a:xfrm>
            <a:off x="1600200" y="4030980"/>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Every wave with members needs </a:t>
            </a:r>
            <a:pPr indent="0" marL="0">
              <a:buNone/>
            </a:pPr>
            <a:r>
              <a:rPr lang="en-US" sz="1750" dirty="0">
                <a:solidFill>
                  <a:srgbClr val="334155"/>
                </a:solidFill>
              </a:rPr>
              <a:t>a named rollback owner who is an enabled member, a review date and a parallel run of at least 30 days, or NPI-MAT-08 is a Finding.</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a user; Setting up dMSAs; dMSA FAQ. Book 02, Phase 4. Chapter 03, “The disposition (D-N3) and the waves (N2.2).”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Workload ID Premium scope (D-N4) and Gate 2</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D-N4: the CISO's decision" descr="">
            <a:extLst>
              <a:ext uri="{C183D7F6-B498-43B3-948B-1728B52AA6E4}">
                <adec:decorative xmlns:adec="http://schemas.microsoft.com/office/drawing/2017/decorative" val="1"/>
              </a:ext>
            </a:extLst>
          </p:cNvPr>
          <p:cNvSpPr/>
          <p:nvPr/>
        </p:nvSpPr>
        <p:spPr>
          <a:xfrm>
            <a:off x="548640" y="1325880"/>
            <a:ext cx="5417820" cy="3087624"/>
          </a:xfrm>
          <a:prstGeom prst="roundRect">
            <a:avLst>
              <a:gd name="adj" fmla="val 236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D-N4: the CISO&amp;apos;s decisio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D-N4: THE CISO'S DECISION</a:t>
            </a:r>
            <a:endParaRPr lang="en-US" sz="1100" dirty="0"/>
          </a:p>
        </p:txBody>
      </p:sp>
      <p:sp>
        <p:nvSpPr>
          <p:cNvPr id="7" name="Panel D-N4: the CISO's decision list"/>
          <p:cNvSpPr txBox="1"/>
          <p:nvPr/>
        </p:nvSpPr>
        <p:spPr>
          <a:xfrm>
            <a:off x="731520" y="1737360"/>
            <a:ext cx="5097780" cy="26304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Premium adds access reviews of privileged service principals, app health recommendations, CA and ID Protection for workload identities</a:t>
            </a:r>
            <a:endParaRPr lang="en-US" sz="1450" dirty="0"/>
          </a:p>
          <a:p>
            <a:pPr marL="342900" indent="-342900">
              <a:spcAft>
                <a:spcPts val="400"/>
              </a:spcAft>
              <a:buSzPct val="100000"/>
              <a:buChar char="•"/>
            </a:pPr>
            <a:r>
              <a:rPr lang="en-US" sz="1450" dirty="0">
                <a:solidFill>
                  <a:srgbClr val="334155"/>
                </a:solidFill>
              </a:rPr>
              <a:t>CA covers single-tenant service principals only: not SaaS, multitenant apps or managed identities; ID Protection: not managed identities</a:t>
            </a:r>
            <a:endParaRPr lang="en-US" sz="1450" dirty="0"/>
          </a:p>
          <a:p>
            <a:pPr marL="342900" indent="-342900">
              <a:spcAft>
                <a:spcPts val="400"/>
              </a:spcAft>
              <a:buSzPct val="100000"/>
              <a:buChar char="•"/>
            </a:pPr>
            <a:r>
              <a:rPr lang="en-US" sz="1450" dirty="0">
                <a:solidFill>
                  <a:srgbClr val="334155"/>
                </a:solidFill>
              </a:rPr>
              <a:t>Get-NpiWorkloadIdScope: who CA and ID Protection cover now, and who leaves or joins after conversion</a:t>
            </a:r>
            <a:endParaRPr lang="en-US" sz="1450" dirty="0"/>
          </a:p>
          <a:p>
            <a:pPr marL="342900" indent="-342900">
              <a:spcAft>
                <a:spcPts val="400"/>
              </a:spcAft>
              <a:buSzPct val="100000"/>
              <a:buChar char="•"/>
            </a:pPr>
            <a:r>
              <a:rPr lang="en-US" sz="1450" dirty="0">
                <a:solidFill>
                  <a:srgbClr val="334155"/>
                </a:solidFill>
              </a:rPr>
              <a:t>One read of subscribedSkus; finds AAD_WRKLDID_P1 and P2; buys, assigns and changes nothing</a:t>
            </a:r>
            <a:endParaRPr lang="en-US" sz="1450" dirty="0"/>
          </a:p>
        </p:txBody>
      </p:sp>
      <p:sp>
        <p:nvSpPr>
          <p:cNvPr id="8" name="Panel Position and Gate 2" descr="">
            <a:extLst>
              <a:ext uri="{C183D7F6-B498-43B3-948B-1728B52AA6E4}">
                <adec:decorative xmlns:adec="http://schemas.microsoft.com/office/drawing/2017/decorative" val="1"/>
              </a:ext>
            </a:extLst>
          </p:cNvPr>
          <p:cNvSpPr/>
          <p:nvPr/>
        </p:nvSpPr>
        <p:spPr>
          <a:xfrm>
            <a:off x="6240780" y="1325880"/>
            <a:ext cx="5417820" cy="3087624"/>
          </a:xfrm>
          <a:prstGeom prst="roundRect">
            <a:avLst>
              <a:gd name="adj" fmla="val 236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osition and Gate 2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POSITION AND GATE 2</a:t>
            </a:r>
            <a:endParaRPr lang="en-US" sz="1100" dirty="0"/>
          </a:p>
        </p:txBody>
      </p:sp>
      <p:sp>
        <p:nvSpPr>
          <p:cNvPr id="10" name="Panel Position and Gate 2 list"/>
          <p:cNvSpPr txBox="1"/>
          <p:nvPr/>
        </p:nvSpPr>
        <p:spPr>
          <a:xfrm>
            <a:off x="6423660" y="1737360"/>
            <a:ext cx="5097780" cy="26304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program's position: license the Tier 1 single-tenant service principals (*design guidance*); the plan's options are Tier 1, wider, or none</a:t>
            </a:r>
            <a:endParaRPr lang="en-US" sz="1450" dirty="0"/>
          </a:p>
          <a:p>
            <a:pPr marL="342900" indent="-342900">
              <a:spcAft>
                <a:spcPts val="400"/>
              </a:spcAft>
              <a:buSzPct val="100000"/>
              <a:buChar char="•"/>
            </a:pPr>
            <a:r>
              <a:rPr lang="en-US" sz="1450" dirty="0">
                <a:solidFill>
                  <a:srgbClr val="334155"/>
                </a:solidFill>
              </a:rPr>
              <a:t>Test-NpiGate2: five criteria, met only with no open Finding</a:t>
            </a:r>
            <a:endParaRPr lang="en-US" sz="1450" dirty="0"/>
          </a:p>
          <a:p>
            <a:pPr marL="342900" indent="-342900">
              <a:spcAft>
                <a:spcPts val="400"/>
              </a:spcAft>
              <a:buSzPct val="100000"/>
              <a:buChar char="•"/>
            </a:pPr>
            <a:r>
              <a:rPr lang="en-US" sz="1450" dirty="0">
                <a:solidFill>
                  <a:srgbClr val="334155"/>
                </a:solidFill>
              </a:rPr>
              <a:t>Writes proposals, decisions, waves, workload-id-premium, findings, gate2 and a manifest of every request and SHA-256</a:t>
            </a:r>
            <a:endParaRPr lang="en-US" sz="1450" dirty="0"/>
          </a:p>
          <a:p>
            <a:pPr marL="342900" indent="-342900">
              <a:spcAft>
                <a:spcPts val="400"/>
              </a:spcAft>
              <a:buSzPct val="100000"/>
              <a:buChar char="•"/>
            </a:pPr>
            <a:r>
              <a:rPr lang="en-US" sz="1450" dirty="0">
                <a:solidFill>
                  <a:srgbClr val="334155"/>
                </a:solidFill>
              </a:rPr>
              <a:t>The same inputs give the same decisions, byte for byte</a:t>
            </a:r>
            <a:endParaRPr lang="en-US" sz="14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Workload ID FAQ; CA and ID Protection for workload identities; List subscribedSkus; service plan IDs. Chapter 03, “The Workload ID Premium scope,” “Gate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proposes, decides, approves, and what it reads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1584960"/>
          </a:xfrm>
          <a:prstGeom prst="roundRect">
            <a:avLst>
              <a:gd name="adj" fmla="val 461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5849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450" dirty="0">
                <a:solidFill>
                  <a:srgbClr val="334155"/>
                </a:solidFill>
              </a:rPr>
              <a:t>Build the decision records; read PowerShell 7, know Chapters 01 and 02;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1584960"/>
          </a:xfrm>
          <a:prstGeom prst="roundRect">
            <a:avLst>
              <a:gd name="adj" fmla="val 461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158496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450" dirty="0">
                <a:solidFill>
                  <a:srgbClr val="334155"/>
                </a:solidFill>
              </a:rPr>
              <a:t>Propose targets; keep the matrix (reviewed PRs) and the waves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1584960"/>
          </a:xfrm>
          <a:prstGeom prst="roundRect">
            <a:avLst>
              <a:gd name="adj" fmla="val 461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158496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indent="0" marL="0">
              <a:spcAft>
                <a:spcPts val="300"/>
              </a:spcAft>
              <a:buNone/>
            </a:pPr>
            <a:r>
              <a:rPr lang="en-US" sz="1450" dirty="0">
                <a:solidFill>
                  <a:srgbClr val="334155"/>
                </a:solidFill>
              </a:rPr>
              <a:t>Decide D-N3, account by account; record workload facts</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1584960"/>
          </a:xfrm>
          <a:prstGeom prst="roundRect">
            <a:avLst>
              <a:gd name="adj" fmla="val 461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158496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CISO and ISSO</a:t>
            </a:r>
            <a:endParaRPr lang="en-US" sz="1400" dirty="0"/>
          </a:p>
          <a:p>
            <a:pPr indent="0" marL="0">
              <a:spcAft>
                <a:spcPts val="300"/>
              </a:spcAft>
              <a:buNone/>
            </a:pPr>
            <a:r>
              <a:rPr lang="en-US" sz="1450" dirty="0">
                <a:solidFill>
                  <a:srgbClr val="334155"/>
                </a:solidFill>
              </a:rPr>
              <a:t>The CISO decides D-N4; the ISSO approves Gate 2</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3093720"/>
          <a:ext cx="11109960" cy="1655064"/>
        </p:xfrm>
        <a:graphic>
          <a:graphicData uri="http://schemas.openxmlformats.org/drawingml/2006/table">
            <a:tbl>
              <a:tblPr firstRow="1" bandRow="1"/>
              <a:tblGrid>
                <a:gridCol w="4023360"/>
                <a:gridCol w="3566160"/>
                <a:gridCol w="352044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Calls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Permissions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migration-matrix (read, config/calls-ch03.json)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/users/{id}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User.Read.All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/subscribedSkus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LicenseAssignment.Read.All (delegated: Global Reader or Directory Readers)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a user (permissions); Learn, List subscribedSkus (permissions). Chapter 03, “Goal and audience,” “Gate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tables, then the matrix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862072"/>
          </a:xfrm>
          <a:prstGeom prst="roundRect">
            <a:avLst>
              <a:gd name="adj" fmla="val 255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47802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Learn's tables as published: PassedCount 12, FailedCount 0, NotRunCount 31</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tests/NpiMatrix.Tests.ps1 -FullNameFilter '*Chapter 03*' -Output None -PassThru</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What the task needs: LicenseAssignment.Read.All, User.Read.All; GET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 = Get-NpiMatrixRequiredPermission; $p.GraphPermissions -join ', '; $p.Methods -join ',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Chapters 01 and 02, then the matrix</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./Invoke-NpiInventory.ps1 -Cloud gcc -FixturePath tests/fixtures/estate.json -OutputPath out/inventory</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./Invoke-NpiOwnership.ps1 -Cloud gcc -RegisterRun out/inventory … -OutputPath out/ownership</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./Invoke-NpiMatrix.ps1 -Cloud gcc -RegisterRun out/inventory -OwnershipRun out/ownership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Matrix: 21 identities in scope, 20 proposed; 3 handed off, 1 to confirm first, 10 out of scope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Dispositions: 18 decided of 22; waves 1 (1, 1 HIGH), 2 (3, 1 HIGH)</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Workload ID Premium (D-N4): Tier1, 2 in scope; tenant holds 2 enabled units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Findings: 7 Finding, 4 Warn, 1 Info    Gate 2: not met</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4370832"/>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443984"/>
            <a:ext cx="585216" cy="585216"/>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584436"/>
            <a:ext cx="304312" cy="304312"/>
          </a:xfrm>
          <a:prstGeom prst="rect">
            <a:avLst/>
          </a:prstGeom>
        </p:spPr>
      </p:pic>
      <p:sp>
        <p:nvSpPr>
          <p:cNvPr id="11" name="Callout text"/>
          <p:cNvSpPr txBox="1"/>
          <p:nvPr/>
        </p:nvSpPr>
        <p:spPr>
          <a:xfrm>
            <a:off x="1600200" y="4425696"/>
            <a:ext cx="9875520" cy="621792"/>
          </a:xfrm>
          <a:prstGeom prst="rect">
            <a:avLst/>
          </a:prstGeom>
          <a:noFill/>
          <a:ln/>
        </p:spPr>
        <p:txBody>
          <a:bodyPr wrap="square" lIns="0" tIns="0" rIns="0" bIns="0" rtlCol="0" anchor="ctr"/>
          <a:lstStyle/>
          <a:p>
            <a:pPr indent="0" marL="0">
              <a:buNone/>
            </a:pPr>
            <a:r>
              <a:rPr lang="en-US" sz="1550" b="1" dirty="0">
                <a:solidFill>
                  <a:srgbClr val="0F766E"/>
                </a:solidFill>
              </a:rPr>
              <a:t>What step 1 shows: </a:t>
            </a:r>
            <a:pPr indent="0" marL="0">
              <a:buNone/>
            </a:pPr>
            <a:r>
              <a:rPr lang="en-US" sz="1550" dirty="0">
                <a:solidFill>
                  <a:srgbClr val="334155"/>
                </a:solidFill>
              </a:rPr>
              <a:t>read the test “admits a user account in every situation”: Learn's table never rules one out.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03,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proposals and the findings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Step 4: the proposals" descr="">
            <a:extLst>
              <a:ext uri="{C183D7F6-B498-43B3-948B-1728B52AA6E4}">
                <adec:decorative xmlns:adec="http://schemas.microsoft.com/office/drawing/2017/decorative" val="1"/>
              </a:ext>
            </a:extLst>
          </p:cNvPr>
          <p:cNvSpPr/>
          <p:nvPr/>
        </p:nvSpPr>
        <p:spPr>
          <a:xfrm>
            <a:off x="548640" y="1325880"/>
            <a:ext cx="5092751" cy="4183380"/>
          </a:xfrm>
          <a:prstGeom prst="roundRect">
            <a:avLst>
              <a:gd name="adj" fmla="val 174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Step 4: the proposals label"/>
          <p:cNvSpPr txBox="1"/>
          <p:nvPr/>
        </p:nvSpPr>
        <p:spPr>
          <a:xfrm>
            <a:off x="731520" y="1435608"/>
            <a:ext cx="4726991" cy="274320"/>
          </a:xfrm>
          <a:prstGeom prst="rect">
            <a:avLst/>
          </a:prstGeom>
          <a:noFill/>
          <a:ln/>
        </p:spPr>
        <p:txBody>
          <a:bodyPr wrap="square" lIns="0" tIns="0" rIns="0" bIns="0" rtlCol="0" anchor="t"/>
          <a:lstStyle/>
          <a:p>
            <a:pPr indent="0" marL="0">
              <a:buNone/>
            </a:pPr>
            <a:r>
              <a:rPr lang="en-US" sz="1100" b="1" spc="50" kern="0" dirty="0">
                <a:solidFill>
                  <a:srgbClr val="64748B"/>
                </a:solidFill>
              </a:rPr>
              <a:t>STEP 4: THE PROPOSALS</a:t>
            </a:r>
            <a:endParaRPr lang="en-US" sz="1100" dirty="0"/>
          </a:p>
        </p:txBody>
      </p:sp>
      <p:sp>
        <p:nvSpPr>
          <p:cNvPr id="7" name="Panel Step 4: the proposals list"/>
          <p:cNvSpPr txBox="1"/>
          <p:nvPr/>
        </p:nvSpPr>
        <p:spPr>
          <a:xfrm>
            <a:off x="731520" y="1737360"/>
            <a:ext cx="4772711" cy="37261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Six Retire: svc-backup, svc-oldftp, svc-reports, sa-printsvc, Legacy Reports, Old SAML Connector</a:t>
            </a:r>
            <a:endParaRPr lang="en-US" sz="1400" dirty="0"/>
          </a:p>
          <a:p>
            <a:pPr marL="342900" indent="-342900">
              <a:spcAft>
                <a:spcPts val="400"/>
              </a:spcAft>
              <a:buSzPct val="100000"/>
              <a:buChar char="•"/>
            </a:pPr>
            <a:r>
              <a:rPr lang="en-US" sz="1400" dirty="0">
                <a:solidFill>
                  <a:srgbClr val="334155"/>
                </a:solidFill>
              </a:rPr>
              <a:t>svc-hrsync and svc-webfront to a dMSA (M06); svc-intranet and msa-print01$ to a gMSA</a:t>
            </a:r>
            <a:endParaRPr lang="en-US" sz="1400" dirty="0"/>
          </a:p>
          <a:p>
            <a:pPr marL="342900" indent="-342900">
              <a:spcAft>
                <a:spcPts val="400"/>
              </a:spcAft>
              <a:buSzPct val="100000"/>
              <a:buChar char="•"/>
            </a:pPr>
            <a:r>
              <a:rPr lang="en-US" sz="1400" dirty="0">
                <a:solidFill>
                  <a:srgbClr val="334155"/>
                </a:solidFill>
              </a:rPr>
              <a:t>Kept: gmsa-web$, gmsa-ops$ (dated exception), dmsa-hrsync$, Build Pipeline, Vendor Portal, both managed identities</a:t>
            </a:r>
            <a:endParaRPr lang="en-US" sz="1400" dirty="0"/>
          </a:p>
          <a:p>
            <a:pPr marL="342900" indent="-342900">
              <a:spcAft>
                <a:spcPts val="400"/>
              </a:spcAft>
              <a:buSzPct val="100000"/>
              <a:buChar char="•"/>
            </a:pPr>
            <a:r>
              <a:rPr lang="en-US" sz="1400" dirty="0">
                <a:solidFill>
                  <a:srgbClr val="334155"/>
                </a:solidFill>
              </a:rPr>
              <a:t>Payroll Export, Deploy Bot to a managed identity (M14); Mail Automation to federation (M15)</a:t>
            </a:r>
            <a:endParaRPr lang="en-US" sz="1400" dirty="0"/>
          </a:p>
          <a:p>
            <a:pPr marL="342900" indent="-342900">
              <a:spcAft>
                <a:spcPts val="400"/>
              </a:spcAft>
              <a:buSzPct val="100000"/>
              <a:buChar char="•"/>
            </a:pPr>
            <a:r>
              <a:rPr lang="en-US" sz="1400" dirty="0">
                <a:solidFill>
                  <a:srgbClr val="334155"/>
                </a:solidFill>
              </a:rPr>
              <a:t>HR Connector: no proposal; nobody recorded where it runs</a:t>
            </a:r>
            <a:endParaRPr lang="en-US" sz="14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915711" y="1325880"/>
          <a:ext cx="5742889" cy="4183380"/>
        </p:xfrm>
        <a:graphic>
          <a:graphicData uri="http://schemas.openxmlformats.org/drawingml/2006/table">
            <a:tbl>
              <a:tblPr firstRow="1" bandRow="1"/>
              <a:tblGrid>
                <a:gridCol w="1625346"/>
                <a:gridCol w="1300277"/>
                <a:gridCol w="2817266"/>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Object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svc-hrsync: HIGH, in wave 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svc-oldftp; jdoe (confirm first)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svc-webfront: kept, no SPN 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svc-webfront; gmsa-ops$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dmsa-hrsync$: no end date before G5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Connector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Deploy Bot: kept its certificate, with a reason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Wave 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NPI-MAT-09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Payroll Export (moves to MI); Vendor Portal (multitenant)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estate). Chapter 03, “Lab 1: fixtures, no tenant,” steps 4 and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waves, the D-N4 scope, the tests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924812"/>
          </a:xfrm>
          <a:prstGeom prst="roundRect">
            <a:avLst>
              <a:gd name="adj" fmla="val 380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STEP 6: THE WAVES AND THEIR ROLLBACK</a:t>
            </a:r>
            <a:endParaRPr lang="en-US" sz="1050" dirty="0"/>
          </a:p>
        </p:txBody>
      </p:sp>
      <p:sp>
        <p:nvSpPr>
          <p:cNvPr id="7" name="Code"/>
          <p:cNvSpPr txBox="1"/>
          <p:nvPr/>
        </p:nvSpPr>
        <p:spPr>
          <a:xfrm>
            <a:off x="713232" y="1664208"/>
            <a:ext cx="10835640" cy="1540764"/>
          </a:xfrm>
          <a:prstGeom prst="rect">
            <a:avLst/>
          </a:prstGeom>
          <a:noFill/>
          <a:ln/>
        </p:spPr>
        <p:txBody>
          <a:bodyPr wrap="square" lIns="0" tIns="0" rIns="0" bIns="0" rtlCol="0" anchor="t"/>
          <a:lstStyle/>
          <a:p>
            <a:pPr indent="0" marL="0">
              <a:buNone/>
            </a:pPr>
            <a:r>
              <a:rPr lang="en-US" sz="1350" dirty="0">
                <a:solidFill>
                  <a:srgbClr val="334155"/>
                </a:solidFill>
                <a:latin typeface="Consolas" pitchFamily="34" charset="0"/>
                <a:ea typeface="Consolas" pitchFamily="34" charset="-122"/>
                <a:cs typeface="Consolas" pitchFamily="34" charset="-120"/>
              </a:rPr>
              <a:t>Wave 1: Mail Automation; rollback owner 'carol@contoso.example'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AppRegistrationFederated: Re-enable the legacy account or credential; revert the app's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configuration; remove the federated credential</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Wave 2: svc-hrsync, msa-print01$, Payroll Export; rollback owner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dMSA: Undo-ADServiceAccountMigration; the superseded account is kept, never deleted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gMSA: Re-enable the legacy account; set the service back to it</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ManagedIdentity: Re-enable the legacy account; revert the application's configuration</a:t>
            </a:r>
            <a:endParaRPr lang="en-US" sz="1350" dirty="0"/>
          </a:p>
        </p:txBody>
      </p:sp>
      <p:sp>
        <p:nvSpPr>
          <p:cNvPr id="8" name="Panel Step 7: the D-N4 scope" descr="">
            <a:extLst>
              <a:ext uri="{C183D7F6-B498-43B3-948B-1728B52AA6E4}">
                <adec:decorative xmlns:adec="http://schemas.microsoft.com/office/drawing/2017/decorative" val="1"/>
              </a:ext>
            </a:extLst>
          </p:cNvPr>
          <p:cNvSpPr/>
          <p:nvPr/>
        </p:nvSpPr>
        <p:spPr>
          <a:xfrm>
            <a:off x="548640" y="3433572"/>
            <a:ext cx="5417820" cy="2139696"/>
          </a:xfrm>
          <a:prstGeom prst="roundRect">
            <a:avLst>
              <a:gd name="adj" fmla="val 341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Step 7: the D-N4 scope label"/>
          <p:cNvSpPr txBox="1"/>
          <p:nvPr/>
        </p:nvSpPr>
        <p:spPr>
          <a:xfrm>
            <a:off x="731520" y="3543300"/>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STEP 7: THE D-N4 SCOPE</a:t>
            </a:r>
            <a:endParaRPr lang="en-US" sz="1100" dirty="0"/>
          </a:p>
        </p:txBody>
      </p:sp>
      <p:sp>
        <p:nvSpPr>
          <p:cNvPr id="10" name="Panel Step 7: the D-N4 scope list"/>
          <p:cNvSpPr txBox="1"/>
          <p:nvPr/>
        </p:nvSpPr>
        <p:spPr>
          <a:xfrm>
            <a:off x="731520" y="3845052"/>
            <a:ext cx="5097780" cy="16824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Six single-tenant app registrations CA can cover today; four after conversion</a:t>
            </a:r>
            <a:endParaRPr lang="en-US" sz="1450" dirty="0"/>
          </a:p>
          <a:p>
            <a:pPr marL="342900" indent="-342900">
              <a:spcAft>
                <a:spcPts val="400"/>
              </a:spcAft>
              <a:buSzPct val="100000"/>
              <a:buChar char="•"/>
            </a:pPr>
            <a:r>
              <a:rPr lang="en-US" sz="1450" dirty="0">
                <a:solidFill>
                  <a:srgbClr val="334155"/>
                </a:solidFill>
              </a:rPr>
              <a:t>Payroll Export moves to a managed identity; Legacy Reports is retired</a:t>
            </a:r>
            <a:endParaRPr lang="en-US" sz="1450" dirty="0"/>
          </a:p>
          <a:p>
            <a:pPr marL="342900" indent="-342900">
              <a:spcAft>
                <a:spcPts val="400"/>
              </a:spcAft>
              <a:buSzPct val="100000"/>
              <a:buChar char="•"/>
            </a:pPr>
            <a:r>
              <a:rPr lang="en-US" sz="1450" dirty="0">
                <a:solidFill>
                  <a:srgbClr val="334155"/>
                </a:solidFill>
              </a:rPr>
              <a:t>Options: {"Tier1":2,"Wide":4,"None":0}</a:t>
            </a:r>
            <a:endParaRPr lang="en-US" sz="1450" dirty="0"/>
          </a:p>
        </p:txBody>
      </p:sp>
      <p:sp>
        <p:nvSpPr>
          <p:cNvPr id="11" name="Panel Step 8: the tests" descr="">
            <a:extLst>
              <a:ext uri="{C183D7F6-B498-43B3-948B-1728B52AA6E4}">
                <adec:decorative xmlns:adec="http://schemas.microsoft.com/office/drawing/2017/decorative" val="1"/>
              </a:ext>
            </a:extLst>
          </p:cNvPr>
          <p:cNvSpPr/>
          <p:nvPr/>
        </p:nvSpPr>
        <p:spPr>
          <a:xfrm>
            <a:off x="6240780" y="3433572"/>
            <a:ext cx="5417820" cy="2139696"/>
          </a:xfrm>
          <a:prstGeom prst="roundRect">
            <a:avLst>
              <a:gd name="adj" fmla="val 34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Panel Step 8: the tests label"/>
          <p:cNvSpPr txBox="1"/>
          <p:nvPr/>
        </p:nvSpPr>
        <p:spPr>
          <a:xfrm>
            <a:off x="6423660" y="3543300"/>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STEP 8: THE TESTS</a:t>
            </a:r>
            <a:endParaRPr lang="en-US" sz="1100" dirty="0"/>
          </a:p>
        </p:txBody>
      </p:sp>
      <p:sp>
        <p:nvSpPr>
          <p:cNvPr id="13" name="Panel Step 8: the tests list"/>
          <p:cNvSpPr txBox="1"/>
          <p:nvPr/>
        </p:nvSpPr>
        <p:spPr>
          <a:xfrm>
            <a:off x="6423660" y="3845052"/>
            <a:ext cx="5097780" cy="16824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Invoke-Pester -Path tests: </a:t>
            </a:r>
            <a:pPr indent="0" marL="0">
              <a:spcAft>
                <a:spcPts val="400"/>
              </a:spcAft>
              <a:buNone/>
            </a:pPr>
            <a:r>
              <a:rPr lang="en-US" sz="1450" b="1" dirty="0">
                <a:solidFill>
                  <a:srgbClr val="1F2A44"/>
                </a:solidFill>
              </a:rPr>
              <a:t>513 tests passing</a:t>
            </a:r>
            <a:pPr indent="0" marL="0">
              <a:spcAft>
                <a:spcPts val="400"/>
              </a:spcAft>
              <a:buNone/>
            </a:pPr>
            <a:r>
              <a:rPr lang="en-US" sz="1450" dirty="0">
                <a:solidFill>
                  <a:srgbClr val="334155"/>
                </a:solidFill>
              </a:rPr>
              <a:t>; the chapter's own are 43</a:t>
            </a:r>
            <a:endParaRPr lang="en-US" sz="1450" dirty="0"/>
          </a:p>
          <a:p>
            <a:pPr marL="342900" indent="-342900">
              <a:spcAft>
                <a:spcPts val="400"/>
              </a:spcAft>
              <a:buSzPct val="100000"/>
              <a:buChar char="•"/>
            </a:pPr>
            <a:r>
              <a:rPr lang="en-US" sz="1450" dirty="0">
                <a:solidFill>
                  <a:srgbClr val="334155"/>
                </a:solidFill>
              </a:rPr>
              <a:t>manifest.json lists three requests, all GET: two user reads and one subscriptions read</a:t>
            </a:r>
            <a:endParaRPr lang="en-US" sz="1450" dirty="0"/>
          </a:p>
          <a:p>
            <a:pPr marL="342900" indent="-342900">
              <a:spcAft>
                <a:spcPts val="400"/>
              </a:spcAft>
              <a:buSzPct val="100000"/>
              <a:buChar char="•"/>
            </a:pPr>
            <a:r>
              <a:rPr lang="en-US" sz="1450" dirty="0">
                <a:solidFill>
                  <a:srgbClr val="334155"/>
                </a:solidFill>
              </a:rPr>
              <a:t>Delete out when you're done: it names accounts and owners</a:t>
            </a:r>
            <a:endParaRPr lang="en-US" sz="14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Chapter 03, “Lab 1: fixtures, no tenant,” steps 6–8;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read only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Grant two permissions: </a:t>
            </a:r>
            <a:pPr indent="0" marL="0">
              <a:buNone/>
            </a:pPr>
            <a:r>
              <a:rPr lang="en-US" sz="1500" dirty="0">
                <a:solidFill>
                  <a:srgbClr val="334155"/>
                </a:solidFill>
              </a:rPr>
              <a:t>The two application permissions from Lab 1, step 2, to Chapter 01's Lab 2 app, with admin consent; nothing else</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Write the inputs: </a:t>
            </a:r>
            <a:pPr indent="0" marL="0">
              <a:buNone/>
            </a:pPr>
            <a:r>
              <a:rPr lang="en-US" sz="1500" dirty="0">
                <a:solidFill>
                  <a:srgbClr val="334155"/>
                </a:solidFill>
              </a:rPr>
              <a:t>A workloads.csv and dispositions.csv row per test account; one wave with an enabled rollback owner; program-dates.json; one single-tenant test app as Tier 1</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Run it: </a:t>
            </a:r>
            <a:pPr indent="0" marL="0">
              <a:buNone/>
            </a:pPr>
            <a:r>
              <a:rPr lang="en-US" sz="1500" dirty="0">
                <a:solidFill>
                  <a:srgbClr val="334155"/>
                </a:solidFill>
              </a:rPr>
              <a:t>Connect-MgGraph -Environment Global …, then Invoke-NpiMatrix.ps1 -Cloud gcc with out/inventory-test and out/ownership-test</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Check the license read: </a:t>
            </a:r>
            <a:pPr indent="0" marL="0">
              <a:buNone/>
            </a:pPr>
            <a:r>
              <a:rPr lang="en-US" sz="1500" dirty="0">
                <a:solidFill>
                  <a:srgbClr val="334155"/>
                </a:solidFill>
              </a:rPr>
              <a:t>Record the tenant section: skuPartNumber and service plans of any Workload ID subscription, or none, and whether a trial appears (row 28)</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Check eligibility in the admin center: </a:t>
            </a:r>
            <a:pPr indent="0" marL="0">
              <a:buNone/>
            </a:pPr>
            <a:r>
              <a:rPr lang="en-US" sz="1500" dirty="0">
                <a:solidFill>
                  <a:srgbClr val="334155"/>
                </a:solidFill>
              </a:rPr>
              <a:t>New Conditional Access policy, Workload identities: the single-tenant app selectable, a managed identity not; a legacy service principal? (row 27). Discard the draft</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Back it out: </a:t>
            </a:r>
            <a:pPr indent="0" marL="0">
              <a:buNone/>
            </a:pPr>
            <a:r>
              <a:rPr lang="en-US" sz="1500" dirty="0">
                <a:solidFill>
                  <a:srgbClr val="334155"/>
                </a:solidFill>
              </a:rPr>
              <a:t>Remove the two permissions; delete out/matrix-test: it lists the accounts kept on Kerberos and who owns them</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910328"/>
            <a:ext cx="11109960" cy="731520"/>
          </a:xfrm>
          <a:prstGeom prst="roundRect">
            <a:avLst>
              <a:gd name="adj" fmla="val 10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983480"/>
            <a:ext cx="585216" cy="585216"/>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123932"/>
            <a:ext cx="304312" cy="304312"/>
          </a:xfrm>
          <a:prstGeom prst="rect">
            <a:avLst/>
          </a:prstGeom>
        </p:spPr>
      </p:pic>
      <p:sp>
        <p:nvSpPr>
          <p:cNvPr id="26" name="Callout text"/>
          <p:cNvSpPr txBox="1"/>
          <p:nvPr/>
        </p:nvSpPr>
        <p:spPr>
          <a:xfrm>
            <a:off x="1600200" y="4965192"/>
            <a:ext cx="9875520" cy="621792"/>
          </a:xfrm>
          <a:prstGeom prst="rect">
            <a:avLst/>
          </a:prstGeom>
          <a:noFill/>
          <a:ln/>
        </p:spPr>
        <p:txBody>
          <a:bodyPr wrap="square" lIns="0" tIns="0" rIns="0" bIns="0" rtlCol="0" anchor="ctr"/>
          <a:lstStyle/>
          <a:p>
            <a:pPr indent="0" marL="0">
              <a:buNone/>
            </a:pPr>
            <a:r>
              <a:rPr lang="en-US" sz="1550" b="1" dirty="0">
                <a:solidFill>
                  <a:srgbClr val="B91C1C"/>
                </a:solidFill>
              </a:rPr>
              <a:t>Where: </a:t>
            </a:r>
            <a:pPr indent="0" marL="0">
              <a:buNone/>
            </a:pPr>
            <a:r>
              <a:rPr lang="en-US" sz="1550" dirty="0">
                <a:solidFill>
                  <a:srgbClr val="334155"/>
                </a:solidFill>
              </a:rPr>
              <a:t>a worldwide or GCC test tenant with fictional people, never production, and the Lab 2 runs of Chapters 01 and 02.</a:t>
            </a:r>
            <a:endParaRPr lang="en-US" sz="15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subscribedSkus; Learn, Conditional Access for workload identities; Workload ID FAQ. Chapter 03,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85132"/>
        </p:xfrm>
        <a:graphic>
          <a:graphicData uri="http://schemas.openxmlformats.org/drawingml/2006/table">
            <a:tbl>
              <a:tblPr firstRow="1" bandRow="1"/>
              <a:tblGrid>
                <a:gridCol w="3200400"/>
                <a:gridCol w="3566160"/>
                <a:gridCol w="43434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proposal treated as the decision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Accounts converted without an owner who agreed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Separate files; NPI-MAT-01 until the owner records who and when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guess at where the workload runs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managed identity for a service that can't use 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proposal without the owner's facts (NPI-MAT-02)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MSA or gMSA sent to a dMSA; a host that can't use one; delegation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wave stalls; authentication fails once the old account is disabled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Never allowed, from Learn; Dmsa recorded; both cautions on the proposal (NPI-MAT-03)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Kerberos account kept forever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It outlives the domain; SPN retirement has no list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End date by D08, AO acceptance, SPN owner; anything kept in AD ends by G5 (-05, -06)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HIGH-risk accounts left for later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riskiest credentials live longest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Outside wave 1 is a Finding; kept is a Warning naming the privilege to cut (-07)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wave with no way back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failed conversion becomes an outage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Rollback from targets, enabled owner, review date, 30-day parallel run (-08)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Premium bought for identities it can't cover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Money on MIs or multitenant apps; Tier 1 unprotected later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Eligibility now and after conversion; units compared (-09)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Inputs changed after review; retirement by this code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Decisions on unseen evidence; an account deleted on a proposal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Manifests and SHA-256s; nothing here writes: Retire goes through Chapter 02 and decommissioning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03, “Dangers”; Learn, dMSA overview and FAQ; Conditional Access for workload identities; Workload ID FAQ.</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decisions" descr="">
            <a:extLst>
              <a:ext uri="{C183D7F6-B498-43B3-948B-1728B52AA6E4}">
                <adec:decorative xmlns:adec="http://schemas.microsoft.com/office/drawing/2017/decorative" val="1"/>
              </a:ext>
            </a:extLst>
          </p:cNvPr>
          <p:cNvSpPr/>
          <p:nvPr/>
        </p:nvSpPr>
        <p:spPr>
          <a:xfrm>
            <a:off x="548640" y="1325880"/>
            <a:ext cx="5417820" cy="2935224"/>
          </a:xfrm>
          <a:prstGeom prst="roundRect">
            <a:avLst>
              <a:gd name="adj" fmla="val 24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decision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DECISIONS</a:t>
            </a:r>
            <a:endParaRPr lang="en-US" sz="1100" dirty="0"/>
          </a:p>
        </p:txBody>
      </p:sp>
      <p:sp>
        <p:nvSpPr>
          <p:cNvPr id="7" name="Panel The decisions list"/>
          <p:cNvSpPr txBox="1"/>
          <p:nvPr/>
        </p:nvSpPr>
        <p:spPr>
          <a:xfrm>
            <a:off x="73152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account has a proposal or a finding naming the missing fact; every out-of-scope row has its reason</a:t>
            </a:r>
            <a:endParaRPr lang="en-US" sz="1500" dirty="0"/>
          </a:p>
          <a:p>
            <a:pPr marL="342900" indent="-342900">
              <a:spcAft>
                <a:spcPts val="400"/>
              </a:spcAft>
              <a:buSzPct val="100000"/>
              <a:buChar char="•"/>
            </a:pPr>
            <a:r>
              <a:rPr lang="en-US" sz="1500" dirty="0">
                <a:solidFill>
                  <a:srgbClr val="334155"/>
                </a:solidFill>
              </a:rPr>
              <a:t>Every account in scope has its owner's disposition, with who and when; every departure has a reason</a:t>
            </a:r>
            <a:endParaRPr lang="en-US" sz="1500" dirty="0"/>
          </a:p>
          <a:p>
            <a:pPr marL="342900" indent="-342900">
              <a:spcAft>
                <a:spcPts val="400"/>
              </a:spcAft>
              <a:buSzPct val="100000"/>
              <a:buChar char="•"/>
            </a:pPr>
            <a:r>
              <a:rPr lang="en-US" sz="1500" dirty="0">
                <a:solidFill>
                  <a:srgbClr val="334155"/>
                </a:solidFill>
              </a:rPr>
              <a:t>No MSA or gMSA planned for a dMSA; every dMSA has its domain and host facts</a:t>
            </a:r>
            <a:endParaRPr lang="en-US" sz="1500" dirty="0"/>
          </a:p>
          <a:p>
            <a:pPr marL="342900" indent="-342900">
              <a:spcAft>
                <a:spcPts val="400"/>
              </a:spcAft>
              <a:buSzPct val="100000"/>
              <a:buChar char="•"/>
            </a:pPr>
            <a:r>
              <a:rPr lang="en-US" sz="1500" dirty="0">
                <a:solidFill>
                  <a:srgbClr val="334155"/>
                </a:solidFill>
              </a:rPr>
              <a:t>Every Kerberos keep: an enabled SPN owner, an end date by D08, AO acceptance; every AD keep ends by G5</a:t>
            </a:r>
            <a:endParaRPr lang="en-US" sz="1500" dirty="0"/>
          </a:p>
        </p:txBody>
      </p:sp>
      <p:sp>
        <p:nvSpPr>
          <p:cNvPr id="8" name="Panel Waves, licensing, evidence" descr="">
            <a:extLst>
              <a:ext uri="{C183D7F6-B498-43B3-948B-1728B52AA6E4}">
                <adec:decorative xmlns:adec="http://schemas.microsoft.com/office/drawing/2017/decorative" val="1"/>
              </a:ext>
            </a:extLst>
          </p:cNvPr>
          <p:cNvSpPr/>
          <p:nvPr/>
        </p:nvSpPr>
        <p:spPr>
          <a:xfrm>
            <a:off x="6240780" y="1325880"/>
            <a:ext cx="5417820" cy="2935224"/>
          </a:xfrm>
          <a:prstGeom prst="roundRect">
            <a:avLst>
              <a:gd name="adj" fmla="val 24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Waves, licensing,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WAVES, LICENSING, EVIDENCE</a:t>
            </a:r>
            <a:endParaRPr lang="en-US" sz="1100" dirty="0"/>
          </a:p>
        </p:txBody>
      </p:sp>
      <p:sp>
        <p:nvSpPr>
          <p:cNvPr id="10" name="Panel Waves, licensing, evidence list"/>
          <p:cNvSpPr txBox="1"/>
          <p:nvPr/>
        </p:nvSpPr>
        <p:spPr>
          <a:xfrm>
            <a:off x="642366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HIGH-risk account in wave 1, retired, or kept with the privilege cut assigned</a:t>
            </a:r>
            <a:endParaRPr lang="en-US" sz="1500" dirty="0"/>
          </a:p>
          <a:p>
            <a:pPr marL="342900" indent="-342900">
              <a:spcAft>
                <a:spcPts val="400"/>
              </a:spcAft>
              <a:buSzPct val="100000"/>
              <a:buChar char="•"/>
            </a:pPr>
            <a:r>
              <a:rPr lang="en-US" sz="1500" dirty="0">
                <a:solidFill>
                  <a:srgbClr val="334155"/>
                </a:solidFill>
              </a:rPr>
              <a:t>Every wave: rollback, rollback owner, review date, 30-day parallel run</a:t>
            </a:r>
            <a:endParaRPr lang="en-US" sz="1500" dirty="0"/>
          </a:p>
          <a:p>
            <a:pPr marL="342900" indent="-342900">
              <a:spcAft>
                <a:spcPts val="400"/>
              </a:spcAft>
              <a:buSzPct val="100000"/>
              <a:buChar char="•"/>
            </a:pPr>
            <a:r>
              <a:rPr lang="en-US" sz="1500" dirty="0">
                <a:solidFill>
                  <a:srgbClr val="334155"/>
                </a:solidFill>
              </a:rPr>
              <a:t>D-N4 is the CISO's; Tier 1 holds only eligible identities; the units cover it</a:t>
            </a:r>
            <a:endParaRPr lang="en-US" sz="1500" dirty="0"/>
          </a:p>
          <a:p>
            <a:pPr marL="342900" indent="-342900">
              <a:spcAft>
                <a:spcPts val="400"/>
              </a:spcAft>
              <a:buSzPct val="100000"/>
              <a:buChar char="•"/>
            </a:pPr>
            <a:r>
              <a:rPr lang="en-US" sz="1500" dirty="0">
                <a:solidFill>
                  <a:srgbClr val="334155"/>
                </a:solidFill>
              </a:rPr>
              <a:t>The matrix changed only by reviewed PR; manifest hashes match; pinned pages match and upstream commits reviewed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443984"/>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17136"/>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657588"/>
            <a:ext cx="304312" cy="304312"/>
          </a:xfrm>
          <a:prstGeom prst="rect">
            <a:avLst/>
          </a:prstGeom>
        </p:spPr>
      </p:pic>
      <p:sp>
        <p:nvSpPr>
          <p:cNvPr id="14" name="Callout text"/>
          <p:cNvSpPr txBox="1"/>
          <p:nvPr/>
        </p:nvSpPr>
        <p:spPr>
          <a:xfrm>
            <a:off x="1600200" y="4498848"/>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04 builds app management policies and certificate rotation.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03, “Checklist”; Learn, dMSA overview; Workload ID FAQ; pinned Learn pages at 7f78b50.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np03-onprem  </a:t>
            </a:r>
            <a:pPr indent="0" marL="0">
              <a:spcAft>
                <a:spcPts val="300"/>
              </a:spcAft>
              <a:buNone/>
            </a:pPr>
            <a:r>
              <a:rPr lang="en-US" sz="1050" dirty="0">
                <a:solidFill>
                  <a:srgbClr val="334155"/>
                </a:solidFill>
              </a:rPr>
              <a:t>Microsoft Learn, "Securing on-premises service accounts," types of on-premises service accounts; choose the right type of service account, https://learn.microsoft.com/entra/architecture/service-accounts-on-premises (accessed Oct 30, 2026).</a:t>
            </a:r>
            <a:endParaRPr lang="en-US" sz="1050" dirty="0"/>
          </a:p>
          <a:p>
            <a:pPr indent="0" marL="0">
              <a:spcAft>
                <a:spcPts val="300"/>
              </a:spcAft>
              <a:buNone/>
            </a:pPr>
            <a:r>
              <a:rPr lang="en-US" sz="1050" b="1" dirty="0">
                <a:solidFill>
                  <a:srgbClr val="1F2A44"/>
                </a:solidFill>
              </a:rPr>
              <a:t>np03-gmsa  </a:t>
            </a:r>
            <a:pPr indent="0" marL="0">
              <a:spcAft>
                <a:spcPts val="300"/>
              </a:spcAft>
              <a:buNone/>
            </a:pPr>
            <a:r>
              <a:rPr lang="en-US" sz="1050" dirty="0">
                <a:solidFill>
                  <a:srgbClr val="334155"/>
                </a:solidFill>
              </a:rPr>
              <a:t>Microsoft Learn, "Secure group managed service accounts," using gMSAs, https://learn.microsoft.com/entra/architecture/service-accounts-group-managed (accessed Oct 30, 2026).</a:t>
            </a:r>
            <a:endParaRPr lang="en-US" sz="1050" dirty="0"/>
          </a:p>
          <a:p>
            <a:pPr indent="0" marL="0">
              <a:spcAft>
                <a:spcPts val="300"/>
              </a:spcAft>
              <a:buNone/>
            </a:pPr>
            <a:r>
              <a:rPr lang="en-US" sz="1050" b="1" dirty="0">
                <a:solidFill>
                  <a:srgbClr val="1F2A44"/>
                </a:solidFill>
              </a:rPr>
              <a:t>np03-cloud  </a:t>
            </a:r>
            <a:pPr indent="0" marL="0">
              <a:spcAft>
                <a:spcPts val="300"/>
              </a:spcAft>
              <a:buNone/>
            </a:pPr>
            <a:r>
              <a:rPr lang="en-US" sz="1050" dirty="0">
                <a:solidFill>
                  <a:srgbClr val="334155"/>
                </a:solidFill>
              </a:rPr>
              <a:t>Microsoft Learn, "Securing cloud-based service accounts," types of Microsoft Entra service accounts; service principals, https://learn.microsoft.com/entra/architecture/secure-service-accounts (accessed Oct 30, 2026).</a:t>
            </a:r>
            <a:endParaRPr lang="en-US" sz="1050" dirty="0"/>
          </a:p>
          <a:p>
            <a:pPr indent="0" marL="0">
              <a:spcAft>
                <a:spcPts val="300"/>
              </a:spcAft>
              <a:buNone/>
            </a:pPr>
            <a:r>
              <a:rPr lang="en-US" sz="1050" b="1" dirty="0">
                <a:solidFill>
                  <a:srgbClr val="1F2A44"/>
                </a:solidFill>
              </a:rPr>
              <a:t>np03-ws-accounts  </a:t>
            </a:r>
            <a:pPr indent="0" marL="0">
              <a:spcAft>
                <a:spcPts val="300"/>
              </a:spcAft>
              <a:buNone/>
            </a:pPr>
            <a:r>
              <a:rPr lang="en-US" sz="1050" dirty="0">
                <a:solidFill>
                  <a:srgbClr val="334155"/>
                </a:solidFill>
              </a:rPr>
              <a:t>Microsoft Learn, "Service accounts" (Windows Server), choosing your service account, https://learn.microsoft.com/windows-server/identity/ad-ds/manage/understand-service-accounts (accessed Oct 30, 2026).</a:t>
            </a:r>
            <a:endParaRPr lang="en-US" sz="1050" dirty="0"/>
          </a:p>
          <a:p>
            <a:pPr indent="0" marL="0">
              <a:spcAft>
                <a:spcPts val="300"/>
              </a:spcAft>
              <a:buNone/>
            </a:pPr>
            <a:r>
              <a:rPr lang="en-US" sz="1050" b="1" dirty="0">
                <a:solidFill>
                  <a:srgbClr val="1F2A44"/>
                </a:solidFill>
              </a:rPr>
              <a:t>np03-dmsa  </a:t>
            </a:r>
            <a:pPr indent="0" marL="0">
              <a:spcAft>
                <a:spcPts val="300"/>
              </a:spcAft>
              <a:buNone/>
            </a:pPr>
            <a:r>
              <a:rPr lang="en-US" sz="1050" dirty="0">
                <a:solidFill>
                  <a:srgbClr val="334155"/>
                </a:solidFill>
              </a:rPr>
              <a:t>Microsoft Learn, "Delegated Managed Service Accounts overview," migration flow for dMSA, https://learn.microsoft.com/windows-server/identity/ad-ds/manage/delegated-managed-service-accounts/delegated-managed-service-accounts-overview (accessed Oct 30, 2026).</a:t>
            </a:r>
            <a:endParaRPr lang="en-US" sz="1050" dirty="0"/>
          </a:p>
          <a:p>
            <a:pPr indent="0" marL="0">
              <a:spcAft>
                <a:spcPts val="300"/>
              </a:spcAft>
              <a:buNone/>
            </a:pPr>
            <a:r>
              <a:rPr lang="en-US" sz="1050" b="1" dirty="0">
                <a:solidFill>
                  <a:srgbClr val="1F2A44"/>
                </a:solidFill>
              </a:rPr>
              <a:t>np03-dmsa-setup  </a:t>
            </a:r>
            <a:pPr indent="0" marL="0">
              <a:spcAft>
                <a:spcPts val="300"/>
              </a:spcAft>
              <a:buNone/>
            </a:pPr>
            <a:r>
              <a:rPr lang="en-US" sz="1050" dirty="0">
                <a:solidFill>
                  <a:srgbClr val="334155"/>
                </a:solidFill>
              </a:rPr>
              <a:t>Microsoft Learn, "Setting up delegated Managed Service Accounts," migrate to a dMSA; complete account migration, https://learn.microsoft.com/windows-server/identity/ad-ds/manage/delegated-managed-service-accounts/delegated-managed-service-accounts-set-up-dmsa (accessed Oct 30, 2026).</a:t>
            </a:r>
            <a:endParaRPr lang="en-US" sz="1050" dirty="0"/>
          </a:p>
          <a:p>
            <a:pPr indent="0" marL="0">
              <a:spcAft>
                <a:spcPts val="300"/>
              </a:spcAft>
              <a:buNone/>
            </a:pPr>
            <a:r>
              <a:rPr lang="en-US" sz="1050" b="1" dirty="0">
                <a:solidFill>
                  <a:srgbClr val="1F2A44"/>
                </a:solidFill>
              </a:rPr>
              <a:t>np03-dmsa-faq  </a:t>
            </a:r>
            <a:pPr indent="0" marL="0">
              <a:spcAft>
                <a:spcPts val="300"/>
              </a:spcAft>
              <a:buNone/>
            </a:pPr>
            <a:r>
              <a:rPr lang="en-US" sz="1050" dirty="0">
                <a:solidFill>
                  <a:srgbClr val="334155"/>
                </a:solidFill>
              </a:rPr>
              <a:t>Microsoft Learn, "Delegated Managed Service Accounts FAQ," general; migration, https://learn.microsoft.com/windows-server/identity/ad-ds/manage/delegated-managed-service-accounts/delegated-managed-service-accounts-faq (accessed Oct 30, 2026).</a:t>
            </a:r>
            <a:endParaRPr lang="en-US" sz="1050" dirty="0"/>
          </a:p>
          <a:p>
            <a:pPr indent="0" marL="0">
              <a:spcAft>
                <a:spcPts val="300"/>
              </a:spcAft>
              <a:buNone/>
            </a:pPr>
            <a:r>
              <a:rPr lang="en-US" sz="1050" b="1" dirty="0">
                <a:solidFill>
                  <a:srgbClr val="1F2A44"/>
                </a:solidFill>
              </a:rPr>
              <a:t>np03-wif  </a:t>
            </a:r>
            <a:pPr indent="0" marL="0">
              <a:spcAft>
                <a:spcPts val="300"/>
              </a:spcAft>
              <a:buNone/>
            </a:pPr>
            <a:r>
              <a:rPr lang="en-US" sz="1050" dirty="0">
                <a:solidFill>
                  <a:srgbClr val="334155"/>
                </a:solidFill>
              </a:rPr>
              <a:t>Microsoft Learn, "Workload identity federation concepts," supported scenarios, https://learn.microsoft.com/entra/workload-id/workload-identity-federation (accessed Oct 30, 2026).</a:t>
            </a:r>
            <a:endParaRPr lang="en-US" sz="1050" dirty="0"/>
          </a:p>
          <a:p>
            <a:pPr indent="0" marL="0">
              <a:spcAft>
                <a:spcPts val="300"/>
              </a:spcAft>
              <a:buNone/>
            </a:pPr>
            <a:r>
              <a:rPr lang="en-US" sz="1050" b="1" dirty="0">
                <a:solidFill>
                  <a:srgbClr val="1F2A44"/>
                </a:solidFill>
              </a:rPr>
              <a:t>np03-arc-mi  </a:t>
            </a:r>
            <a:pPr indent="0" marL="0">
              <a:spcAft>
                <a:spcPts val="300"/>
              </a:spcAft>
              <a:buNone/>
            </a:pPr>
            <a:r>
              <a:rPr lang="en-US" sz="1050" dirty="0">
                <a:solidFill>
                  <a:srgbClr val="334155"/>
                </a:solidFill>
              </a:rPr>
              <a:t>Microsoft Learn, "Access Azure resources by using managed identity on Azure Arc-enabled servers," https://learn.microsoft.com/azure/azure-arc/servers/managed-identity-authentication (accessed Oct 30, 2026).</a:t>
            </a:r>
            <a:endParaRPr lang="en-US" sz="1050" dirty="0"/>
          </a:p>
          <a:p>
            <a:pPr indent="0" marL="0">
              <a:spcAft>
                <a:spcPts val="300"/>
              </a:spcAft>
              <a:buNone/>
            </a:pPr>
            <a:r>
              <a:rPr lang="en-US" sz="1050" b="1" dirty="0">
                <a:solidFill>
                  <a:srgbClr val="1F2A44"/>
                </a:solidFill>
              </a:rPr>
              <a:t>np03-arc-identity  </a:t>
            </a:r>
            <a:pPr indent="0" marL="0">
              <a:spcAft>
                <a:spcPts val="300"/>
              </a:spcAft>
              <a:buNone/>
            </a:pPr>
            <a:r>
              <a:rPr lang="en-US" sz="1050" dirty="0">
                <a:solidFill>
                  <a:srgbClr val="334155"/>
                </a:solidFill>
              </a:rPr>
              <a:t>Microsoft Learn, "Identity and authorization" (Azure Arc-enabled servers), Microsoft Entra ID managed identity, https://learn.microsoft.com/azure/azure-arc/servers/security-identity-authorization (accessed Oct 30, 2026).</a:t>
            </a:r>
            <a:endParaRPr lang="en-US" sz="1050" dirty="0"/>
          </a:p>
          <a:p>
            <a:pPr indent="0" marL="0">
              <a:spcAft>
                <a:spcPts val="300"/>
              </a:spcAft>
              <a:buNone/>
            </a:pPr>
            <a:r>
              <a:rPr lang="en-US" sz="1050" b="1" dirty="0">
                <a:solidFill>
                  <a:srgbClr val="1F2A44"/>
                </a:solidFill>
              </a:rPr>
              <a:t>np03-wid-faq  </a:t>
            </a:r>
            <a:pPr indent="0" marL="0">
              <a:spcAft>
                <a:spcPts val="300"/>
              </a:spcAft>
              <a:buNone/>
            </a:pPr>
            <a:r>
              <a:rPr lang="en-US" sz="1050" dirty="0">
                <a:solidFill>
                  <a:srgbClr val="334155"/>
                </a:solidFill>
              </a:rPr>
              <a:t>Microsoft Learn, "Frequently asked questions about Microsoft Entra Workload ID," https://learn.microsoft.com/entra/workload-id/workload-identities-faqs (accessed Oct 30, 2026).</a:t>
            </a:r>
            <a:endParaRPr lang="en-US" sz="1050" dirty="0"/>
          </a:p>
          <a:p>
            <a:pPr indent="0" marL="0">
              <a:spcAft>
                <a:spcPts val="300"/>
              </a:spcAft>
              <a:buNone/>
            </a:pPr>
            <a:r>
              <a:rPr lang="en-US" sz="1050" b="1" dirty="0">
                <a:solidFill>
                  <a:srgbClr val="1F2A44"/>
                </a:solidFill>
              </a:rPr>
              <a:t>np03-ca-wid  </a:t>
            </a:r>
            <a:pPr indent="0" marL="0">
              <a:spcAft>
                <a:spcPts val="300"/>
              </a:spcAft>
              <a:buNone/>
            </a:pPr>
            <a:r>
              <a:rPr lang="en-US" sz="1050" dirty="0">
                <a:solidFill>
                  <a:srgbClr val="334155"/>
                </a:solidFill>
              </a:rPr>
              <a:t>Microsoft Learn, "Conditional Access for workload identities," overview, https://learn.microsoft.com/entra/identity/conditional-access/workload-identity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np03-idp-wid  </a:t>
            </a:r>
            <a:pPr indent="0" marL="0">
              <a:spcAft>
                <a:spcPts val="300"/>
              </a:spcAft>
              <a:buNone/>
            </a:pPr>
            <a:r>
              <a:rPr lang="en-US" sz="1050" dirty="0">
                <a:solidFill>
                  <a:srgbClr val="334155"/>
                </a:solidFill>
              </a:rPr>
              <a:t>Microsoft Learn, "Securing workload identities" (Microsoft Entra ID Protection), https://learn.microsoft.com/entra/id-protection/concept-workload-identity-risk (accessed Oct 30, 2026).</a:t>
            </a:r>
            <a:endParaRPr lang="en-US" sz="1050" dirty="0"/>
          </a:p>
          <a:p>
            <a:pPr indent="0" marL="0">
              <a:spcAft>
                <a:spcPts val="300"/>
              </a:spcAft>
              <a:buNone/>
            </a:pPr>
            <a:r>
              <a:rPr lang="en-US" sz="1050" b="1" dirty="0">
                <a:solidFill>
                  <a:srgbClr val="1F2A44"/>
                </a:solidFill>
              </a:rPr>
              <a:t>np03-skus  </a:t>
            </a:r>
            <a:pPr indent="0" marL="0">
              <a:spcAft>
                <a:spcPts val="300"/>
              </a:spcAft>
              <a:buNone/>
            </a:pPr>
            <a:r>
              <a:rPr lang="en-US" sz="1050" dirty="0">
                <a:solidFill>
                  <a:srgbClr val="334155"/>
                </a:solidFill>
              </a:rPr>
              <a:t>Microsoft Learn, "List subscribedSkus," national cloud table, permissions, optional query parameters, https://learn.microsoft.com/graph/api/subscribedsku-list?view=graph-rest-1.0 (accessed Oct 30, 2026).</a:t>
            </a:r>
            <a:endParaRPr lang="en-US" sz="1050" dirty="0"/>
          </a:p>
          <a:p>
            <a:pPr indent="0" marL="0">
              <a:spcAft>
                <a:spcPts val="300"/>
              </a:spcAft>
              <a:buNone/>
            </a:pPr>
            <a:r>
              <a:rPr lang="en-US" sz="1050" b="1" dirty="0">
                <a:solidFill>
                  <a:srgbClr val="1F2A44"/>
                </a:solidFill>
              </a:rPr>
              <a:t>np03-sku-ref  </a:t>
            </a:r>
            <a:pPr indent="0" marL="0">
              <a:spcAft>
                <a:spcPts val="300"/>
              </a:spcAft>
              <a:buNone/>
            </a:pPr>
            <a:r>
              <a:rPr lang="en-US" sz="1050" dirty="0">
                <a:solidFill>
                  <a:srgbClr val="334155"/>
                </a:solidFill>
              </a:rPr>
              <a:t>Microsoft Learn, "Product names and service plan identifiers for licensing," Microsoft Entra Workload ID and Workload Identities Premium, https://learn.microsoft.com/entra/identity/users/licensing-service-plan-reference (accessed Oct 30, 2026).</a:t>
            </a:r>
            <a:endParaRPr lang="en-US" sz="1050" dirty="0"/>
          </a:p>
          <a:p>
            <a:pPr indent="0" marL="0">
              <a:spcAft>
                <a:spcPts val="300"/>
              </a:spcAft>
              <a:buNone/>
            </a:pPr>
            <a:r>
              <a:rPr lang="en-US" sz="1050" b="1" dirty="0">
                <a:solidFill>
                  <a:srgbClr val="1F2A44"/>
                </a:solidFill>
              </a:rPr>
              <a:t>np03-user-get  </a:t>
            </a:r>
            <a:pPr indent="0" marL="0">
              <a:spcAft>
                <a:spcPts val="300"/>
              </a:spcAft>
              <a:buNone/>
            </a:pPr>
            <a:r>
              <a:rPr lang="en-US" sz="1050" dirty="0">
                <a:solidFill>
                  <a:srgbClr val="334155"/>
                </a:solidFill>
              </a:rPr>
              <a:t>Microsoft Learn, "Get a user," permissions, https://learn.microsoft.com/graph/api/user-get?view=graph-rest-1.0 (accessed Oct 30, 2026; read for Chapter 02).</a:t>
            </a:r>
            <a:endParaRPr lang="en-US" sz="1050" dirty="0"/>
          </a:p>
          <a:p>
            <a:pPr indent="0" marL="0">
              <a:spcAft>
                <a:spcPts val="300"/>
              </a:spcAft>
              <a:buNone/>
            </a:pPr>
            <a:r>
              <a:rPr lang="en-US" sz="1050" b="1" dirty="0">
                <a:solidFill>
                  <a:srgbClr val="1F2A44"/>
                </a:solidFill>
              </a:rPr>
              <a:t>np03-deployments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np03-src  </a:t>
            </a:r>
            <a:pPr indent="0" marL="0">
              <a:spcAft>
                <a:spcPts val="300"/>
              </a:spcAft>
              <a:buNone/>
            </a:pPr>
            <a:r>
              <a:rPr lang="en-US" sz="1050" dirty="0">
                <a:solidFill>
                  <a:srgbClr val="334155"/>
                </a:solidFill>
              </a:rPr>
              <a:t>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03 — The Migration Path Matrix as Code</dc:title>
  <dc:subject>PptxGenJS Presentation</dc:subject>
  <dc:creator>Michael F. Stratton</dc:creator>
  <cp:lastModifiedBy>Michael F. Stratton</cp:lastModifiedBy>
  <cp:revision>1</cp:revision>
  <dcterms:created xsi:type="dcterms:W3CDTF">2026-10-31T14:33:42Z</dcterms:created>
  <dcterms:modified xsi:type="dcterms:W3CDTF">2026-10-31T14:33:42Z</dcterms:modified>
</cp:coreProperties>
</file>