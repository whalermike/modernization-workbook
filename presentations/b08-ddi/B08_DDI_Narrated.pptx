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DNS" id="{62A3ADAE-79A4-58C1-6296-103739FBE93B}">
          <p14:sldIdLst>
            <p14:sldId id="256"/>
            <p14:sldId id="257"/>
            <p14:sldId id="258"/>
            <p14:sldId id="259"/>
          </p14:sldIdLst>
        </p14:section>
        <p14:section name="What changes" id="{7DC38332-3A38-F2F8-3ACC-E7237E0456E1}">
          <p14:sldIdLst>
            <p14:sldId id="260"/>
            <p14:sldId id="261"/>
            <p14:sldId id="262"/>
            <p14:sldId id="263"/>
            <p14:sldId id="264"/>
          </p14:sldIdLst>
        </p14:section>
        <p14:section name="Who owns it" id="{8E1C0807-E971-BF99-7C17-11191FB26F83}">
          <p14:sldIdLst>
            <p14:sldId id="265"/>
          </p14:sldIdLst>
        </p14:section>
        <p14:section name="How to do it" id="{830377C8-9AE9-05CD-1275-6C5C62EA3570}">
          <p14:sldIdLst>
            <p14:sldId id="266"/>
            <p14:sldId id="267"/>
            <p14:sldId id="268"/>
            <p14:sldId id="269"/>
          </p14:sldIdLst>
        </p14:section>
        <p14:section name="Backup" id="{513DC6AD-4991-8E23-DCC0-E81F52F841A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284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[0:00–0:33]  This briefing comes from Book 08 of the Federal Modernization Workbook, DNS, DHCP and IPAM: governing the name and address layer as one control plane across the data center, every cloud and the branch edge.
I'll take four questions: why DNS is now the control plane, what has to change, who owns it, and how to migrate and run it.
The short version: every connection starts with a name, so whoever governs the name layer governs the enterprise.
Workbook: Book 08, index; Chapter 01 — DNS Is Now the Control Plane.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[0:33–1:41]  Why is DNS now the control plane? OMB said it back in 2008: almost every network connection begins with a DNS query. What has changed is how much the answer decides.
In a hybrid multi-cloud agency, DNS does six jobs its designers never anticipated. It publishes private endpoints: one storage name answers privately inside its network and publicly everywhere else. It selects which SaaS front door a user reaches. It enforces security policy, blocking a known-bad domain before the connection is made. It carries certificate validation, because OCSP responders and CRL distribution points are DNS names. It's the stable service identity that Zero Trust policy is written against. And a wildcard declares a whole namespace of applications.
NIST's 2026 deployment guide says DNS has become more than a service; it's a security control. Yet most agencies run it on as many as five platforms that share no state. The answer is one authoritative DDI policy plane, a requirement rather than a product.
Workbook: Book 08, Chapter 01 — DNS Is Now the Control Plane.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[1:41–2:51]  Run those platforms independently and you get split-brain DNS: the same name returning different answers depending on where the query starts. Designed split-horizon is fine. The problem is unintentional drift between systems with no shared state.
It takes three forms. Private-IP split-brain: an EC2 instance gets an Azure private endpoint's private address only through a Route 53 forwarding rule. If the rule is missing or stale, the name still resolves, to the public address. Microsoft attributes roughly 70 percent of private-endpoint access-denied cases to exactly that. SaaS split-brain: GCC uses the Worldwide endpoint list, so the risk is path consistency, a stale forwarder or browser DoH to a public resolver. And security-policy split-brain: a block applies only on the resolver that answers, so the posture is the weakest resolver a client can reach.
The failure is silent, the change rate outruns any manual process, and every system has its own timing. Only a control plane that holds the policy objects keeps them in step.
Workbook: Book 08, Chapter 02 — Split-Brain DNS: The Structural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[2:51–4:03]  The federal mandates never name a product, but together they describe a governed name layer. It's worth being precise about who requires what.
OMB M-22-09 requires encrypted DNS wherever it's technically supported, with endpoints explicitly configured to use agency-designated resolvers. It also notes that DNS must already be routed through CISA-operated infrastructure. The requirement that all egress resolution go through Protective DNS comes from CISA's own guidance, which cites the statute. OMB M-26-14, which rescinded M-21-31 in May 2026, doesn't name DNS, but it requires logs that show source and destination addresses, protocols, ports and sessions, searchable for six months and retrievable for a year. M-08-23 and SP 800-53 carry DNSSEC. And version 3.3 of the TIC 3.0 catalog, published in September 2026, lists five DNS capabilities, from sinkholing to Protective DNS.
NIST SP 800-81 Revision 3, final on March 19, 2026, is the practical guide to all of this: guidance, not a mandate. And FedRAMP certifies a cloud service, not an architecture; the agency still authorizes its own DDI system.
Workbook: Book 08, Chapter 03 — Federal Requirements: NIST SP 800-81, FedRAMP and Zero Trust.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[4:03–5:08]  What has to change starts with Active Directory. For twenty years AD has been the hidden DNS service of the on-premises network: a domain's name becomes a zone, and every domain-joined machine points at the domain controllers for all of its resolution.
Netlogon on each domain controller registers the SRV locator records that clients use to find LDAP, Kerberos and the global catalog. Secure dynamic update keeps those records current. Forwarders, GlobalNames, reverse and signed zones each need a decision.
Microsoft Entra ID inherits none of it. It hosts no zones and publishes no locator records, yet hybrid-joined devices still look for a domain controller, and Entra Domain Services adds a DNS authority of its own.
So the locator records stay where domain controllers can register them securely, on AD DNS or a DDI platform that accepts GSS-TSIG updates, until the last domain controller goes. Everything else moves zone by zone, once it's inventoried.
Workbook: Book 08, Chapter 04 — The Active Directory DNS Departure.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[5:08–6:17]  Every control in the policy plane assumes the query reaches it. Three ordinary mechanisms decide whether it does, and none of them reports when it doesn't.
First, the edge. Cisco Catalyst SD-WAN's redirect-dns action, as one example, sends branch DNS to a policy-designated resolver, IPv4 and UDP only. It must be a network-addressable agency resolver, not a loopback agent on the device, and any SASE resolver belongs behind it.
Second, encrypted DNS. DNS over TLS and DNS over QUIC use port 853, so block them except to approved resolvers. DNS over HTTPS shares port 443 with all web traffic, so it's governed at the endpoint: Windows DoH policy, the Edge and Chrome DoH mode, and an NXDOMAIN answer for Firefox's canary domain.
Third, rogue DHCP. One rogue server handing out its own resolver in option 6 moves a whole subnet at once, and rogue IPv6 router advertisements do the same. AD authorization doesn't stop them; DHCP snooping and RA Guard on the switches do.
Workbook: Book 08, Chapter 05 — Edge Interception, Encrypted DNS and Rogue DHCP.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[6:17–7:25]  A certificate can be valid, unrevoked and issued for the right name, and still fail, because every check that makes it trustworthy starts with a DNS lookup: the endpoint, the revocation endpoints, the FQDN that policy names, and the sign-in endpoint for the token's cloud.
If an agency CRL name exists only in AD DNS, a workload in AWS can't resolve it without a forwarding rule. The revocation check fails, the ticket is opened against PKI, and the root cause can take days to find.
DNSSEC adds origin authentication and integrity, not encryption. The program's position follows NIST: sign external zones and the dot-gov delegations, always. Validate on every agency resolver, with the root trust anchor. And sign internal zones only where the system's authorization requires it; NIST calls internal signing of limited value for most organizations. Validation stays on agency resolvers because Azure DNS and Route 53 sign public zones only, and the default Azure resolver doesn't validate.
Workbook: Book 08, Chapter 06 — DNS Identity, Certificates and DNSSEC.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[7:25–8:35]  Azure private endpoints are the commonest source of private-IP split-brain.
When a private endpoint is created, Azure writes its A record into a privatelink zone, and public DNS carries a CNAME into that name. The private answer comes back only when the query reaches a resolver linked to the zone. So every origin, on-premises, the other clouds and the branch path, forwards the service's public zone, such as database.windows.net, to the DNS Private Resolver's inbound endpoint. Not the privatelink zone. Azure Government uses different zone names, so commercial rules don't carry over.
The Private Resolver is a recursive bridge, not an authority: reach it by forwarding, never by delegation. Give each endpoint a dedicated subnet and a static address, avoid ruleset loops, and deploy one per region.
Addresses need the same discipline, with the enterprise IPAM as the authority for address blocks. AWS VPC IPAM can allocate from an external IPAM in commercial Regions, but not in GovCloud; on Azure and Google Cloud, mirror the reservations and reconcile.
Workbook: Book 08, Chapter 07 — Cloud Private Endpoints, SDN and IPAM Consistency.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[8:35–9:35]  A branch client's query passes the SD-WAN edge to an agency-controlled resolver, then the DDI policy plane, with its response policy zones, DNSSEC, IPAM and forwarding rules, then the per-cloud private zones. Internet-bound recursion leaves through CISA's Protective DNS.
Five decisions carry almost all of the operational risk. One: the redirect-dns target is a network-addressable agency resolver. Two: the agency resolver is the first hop, and any other resolver is its forwarder. Three: the policy plane holds every per-cloud conditional forwarding rule. Four: AD DNS is inventoried and reprovisioned before any domain controller goes. Five: OCSP and CRL endpoints resolve from every origin.
Each fails silently: the query still resolves, just outside policy or to the wrong address. So each comes with a check, run in the live configuration rather than the design document, before the next SD-WAN or DDI change.
Workbook: Book 08, Chapter 08 — Reference Architecture and the Five Critical Decisions.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[9:35–10:46]  Who owns it? In an AD estate, DNS belonged to whoever ran the domain controllers; DnsAdmins has full control of every zone by default. A single policy plane concentrates that authority, so its owners have to be named on purpose, one decider per decision.
The sponsor and CIO decide the platform model and when AD DNS and Windows DHCP retire. The CISO and ISSO set the requirements: designated resolvers, allowed transports, DNSSEC and logging. The authorizing official accepts residual risk, including every standing exception.
The DNS/DDI team runs the policy plane and decides what the edge points at; network engineering configures it. AD administrators own the inventory until AD DNS retires, and cloud teams run their DNS as consumers of the plane.
Record changes come in three classes. Standard changes inside a delegated namespace are pre-approved. Policy-driven records, like private endpoint entries, need no per-change approval, but the policy itself is change-controlled. High-impact changes, zones, delegations, forwarding, SRV, wildcards and response policy, go to the change board.
Workbook: Book 08, Chapter 09 — Who Owns DNS, DHCP and IPAM.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[10:46–11:57]  How do you get there? In six phases: inventory, coexist, migrate authority, federate the clouds, decommission AD DNS and DHCP, then harden and evidence. Each phase ends with a rollback point and a resolution test from every origin, not a calendar date.
Every move of authority, whether a zone, a forwarder, a DHCP scope or a wave of clients, runs the same loop. Lower the TTL to 300 seconds at least 48 hours ahead. Import with a dry run, never moving the SOA, apex NS or AD locator records. Validate from every origin. Switch, then hold and observe, while the old authority keeps answering.
In Azure Private DNS, removing a virtual network link deletes the records autoregistered through it, and Microsoft says they can't be restored. So unlinking is safe only for zones without autoregistration.
Decommissioning is gated, never scheduled: the inventory reconciles, every critical SRV record resolves for 30 consecutive days, 90 days of parallel operation pass cleanly, failover is tested, and the old servers are idle.
Workbook: Book 08, Chapter 10 — The Migration Sequence.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[11:57–13:13]  Once it's running, one policy plane is only an improvement if divisions can still run their own networks through it. So each division gets a scope covering its own zones, IP spaces and DHCP scopes, with manager, operator and auditor roles, and automation accounts are held to the same scopes. Infrastructure as code, ITSM workflows and ACME DNS-01 certificate automation all go through one API and one audit trail.
Locator records are resolved every 15 minutes from every site and virtual network until the last domain controller retires. Drift reports compare the source of truth with every copy, and hygiene jobs catch stale records and dangling CNAMEs.
The evidence floor is M-26-14. It doesn't name DNS, but it requires logs that show source and destination addresses, ports and sessions, searchable for six months and retrievable for a year, and readily available to the agency's top-level security operations center. Query logs, encrypted queries included, and DHCP lease history with MAC and IP addresses are how the name layer meets it. The lease history is what turns an address into a device.
Workbook: Book 08, Chapter 11 — Operating the Control Plane: Delegation, Automation and Evidence.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[13:13–14:22]  Choose the platform on the evidence it produces for your own boundary.
Commercial DDI licensing is quoted per agency, so get every quote on the same assumptions. The cloud-native pieces have public meters, and appear in every model. Azure DNS Private Resolver charges per endpoint: 180 dollars a month for each inbound endpoint and each outbound endpoint, plus 2 dollars 50 per ruleset. A hub with one of each is about 362 dollars 50 a month per region, and a second region doubles it.
Authorization belongs to an offering, not a vendor. As one example, Infoblox Government Cloud has been FedRAMP Certified at Moderate since December 15, 2022. BlueCat and EfficientIP have no Marketplace listing, so they run inside the agency's boundary. And a Moderate authorization doesn't cover GCC High or DoD.
Some risk remains. Sync lag becomes the new source of divergence. A management-plane outage blocks changes, though resolution continues from local state. And encrypted DNS bypass stays possible wherever endpoint controls are incomplete.
Workbook: Book 08, Chapter 12 — Platform Selection, Cost and Residual Risk; Chapters 03 and 08.</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[14:22–15:27]  So, four decisions.
Authorize a single authoritative DDI policy plane, and assign an owner, typically the enterprise architecture or network operations lead.
Have that owner settle the five configuration decisions within 90 days, and report the residual risk to the authorizing official.
Choose the platform model on evidence: authorization at the right impact level, and quotes on the same assumptions.
And name the owners, one decider per row, with the DNS/DDI team deciding what every branch edge points at.
The next step is Phase 1, the inventory: export every AD DNS zone, SRV record, conditional forwarder and DHCP scope, and every redirect-dns target and revocation endpoint, before anyone touches a domain controller. It's read-only, and it's the one step whose omission can't be repaired later.
Govern the name layer as one plane, and it can carry the cloud, branch and identity transitions. Book 08 has the detail, every claim footnoted. Thank you.
Workbook: Book 08, Chapters 01, 08, 09, 10 and 12; Appendices B and 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08 DNS, DHCP &amp; IPAM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9" Type="http://schemas.openxmlformats.org/officeDocument/2006/relationships/image" Target="../media/image3.png"/><Relationship Id="rId10"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6.xml"/><Relationship Id="rId9" Type="http://schemas.openxmlformats.org/officeDocument/2006/relationships/image" Target="../media/image3.png"/><Relationship Id="rId10"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9.png"/><Relationship Id="rId5" Type="http://schemas.openxmlformats.org/officeDocument/2006/relationships/image" Target="../media/image13.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9.png"/><Relationship Id="rId5" Type="http://schemas.openxmlformats.org/officeDocument/2006/relationships/image" Target="../media/image24.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3.xml"/><Relationship Id="rId7" Type="http://schemas.openxmlformats.org/officeDocument/2006/relationships/image" Target="../media/image26.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5.png"/><Relationship Id="rId5" Type="http://schemas.openxmlformats.org/officeDocument/2006/relationships/image" Target="../media/image5.png"/><Relationship Id="rId10" Type="http://schemas.openxmlformats.org/officeDocument/2006/relationships/image" Target="../media/image3.png"/><Relationship Id="rId4" Type="http://schemas.openxmlformats.org/officeDocument/2006/relationships/notesSlide" Target="../notesSlides/notesSlide12.xml"/><Relationship Id="rId9" Type="http://schemas.openxmlformats.org/officeDocument/2006/relationships/image" Target="../media/image27.png"/><Relationship Id="rId11"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8.png"/><Relationship Id="rId5" Type="http://schemas.openxmlformats.org/officeDocument/2006/relationships/image" Target="../media/image11.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slideLayout" Target="../slideLayouts/slideLayout3.xml"/><Relationship Id="rId7" Type="http://schemas.openxmlformats.org/officeDocument/2006/relationships/image" Target="../media/image28.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7.png"/><Relationship Id="rId5" Type="http://schemas.openxmlformats.org/officeDocument/2006/relationships/image" Target="../media/image5.png"/><Relationship Id="rId10" Type="http://schemas.openxmlformats.org/officeDocument/2006/relationships/image" Target="../media/image3.png"/><Relationship Id="rId4" Type="http://schemas.openxmlformats.org/officeDocument/2006/relationships/notesSlide" Target="../notesSlides/notesSlide14.xml"/><Relationship Id="rId9" Type="http://schemas.openxmlformats.org/officeDocument/2006/relationships/image" Target="../media/image14.png"/><Relationship Id="rId11" Type="http://schemas.microsoft.com/office/2017/04/relationships/track" Target="../media/captions_slide14.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Is DNS Now the Control Plane?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08 — DNS, DHCP &amp; IPAM</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B01A5EF2-D799-41D8-78A3-000E4A602BF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1B970BA-2744-449B-AC3B-99107D3B08D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350"/>
    </mc:Choice>
    <mc:Fallback>
      <p:transition spd="slow" advTm="30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35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 now does six jobs it was never designed for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Jobs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THE ANSWER TO A QUERY NOW DECIDES</a:t>
            </a:r>
            <a:endParaRPr lang="en-US" sz="1200" dirty="0"/>
          </a:p>
        </p:txBody>
      </p:sp>
      <p:sp>
        <p:nvSpPr>
          <p:cNvPr id="6" name="Job 0">
            <a:extLst>
              <a:ext uri="{C183D7F6-B498-43B3-948B-1728B52AA6E4}">
                <adec:decorative xmlns:adec="http://schemas.microsoft.com/office/drawing/2017/decorative" val="1"/>
              </a:ext>
            </a:extLst>
          </p:cNvPr>
          <p:cNvSpPr/>
          <p:nvPr/>
        </p:nvSpPr>
        <p:spPr>
          <a:xfrm>
            <a:off x="548640" y="1755648"/>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Job 0 text"/>
          <p:cNvSpPr txBox="1"/>
          <p:nvPr/>
        </p:nvSpPr>
        <p:spPr>
          <a:xfrm>
            <a:off x="731520" y="1755648"/>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Private endpoints   </a:t>
            </a:r>
            <a:r>
              <a:rPr lang="en-US" sz="1400" dirty="0">
                <a:solidFill>
                  <a:schemeClr val="tx2"/>
                </a:solidFill>
              </a:rPr>
              <a:t>Private answer inside, public outside</a:t>
            </a:r>
            <a:endParaRPr lang="en-US" sz="1400" dirty="0"/>
          </a:p>
        </p:txBody>
      </p:sp>
      <p:sp>
        <p:nvSpPr>
          <p:cNvPr id="8" name="Job 1">
            <a:extLst>
              <a:ext uri="{C183D7F6-B498-43B3-948B-1728B52AA6E4}">
                <adec:decorative xmlns:adec="http://schemas.microsoft.com/office/drawing/2017/decorative" val="1"/>
              </a:ext>
            </a:extLst>
          </p:cNvPr>
          <p:cNvSpPr/>
          <p:nvPr/>
        </p:nvSpPr>
        <p:spPr>
          <a:xfrm>
            <a:off x="548640" y="2267712"/>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Job 1 text"/>
          <p:cNvSpPr txBox="1"/>
          <p:nvPr/>
        </p:nvSpPr>
        <p:spPr>
          <a:xfrm>
            <a:off x="731520" y="2267712"/>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SaaS front doors   </a:t>
            </a:r>
            <a:r>
              <a:rPr lang="en-US" sz="1400" dirty="0">
                <a:solidFill>
                  <a:schemeClr val="tx2"/>
                </a:solidFill>
              </a:rPr>
              <a:t>The answer picks the endpoint</a:t>
            </a:r>
            <a:endParaRPr lang="en-US" sz="1400" dirty="0"/>
          </a:p>
        </p:txBody>
      </p:sp>
      <p:sp>
        <p:nvSpPr>
          <p:cNvPr id="10" name="Job 2">
            <a:extLst>
              <a:ext uri="{C183D7F6-B498-43B3-948B-1728B52AA6E4}">
                <adec:decorative xmlns:adec="http://schemas.microsoft.com/office/drawing/2017/decorative" val="1"/>
              </a:ext>
            </a:extLst>
          </p:cNvPr>
          <p:cNvSpPr/>
          <p:nvPr/>
        </p:nvSpPr>
        <p:spPr>
          <a:xfrm>
            <a:off x="548640" y="2779776"/>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Job 2 text"/>
          <p:cNvSpPr txBox="1"/>
          <p:nvPr/>
        </p:nvSpPr>
        <p:spPr>
          <a:xfrm>
            <a:off x="731520" y="2779776"/>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Security policy   </a:t>
            </a:r>
            <a:r>
              <a:rPr lang="en-US" sz="1400" dirty="0">
                <a:solidFill>
                  <a:schemeClr val="tx2"/>
                </a:solidFill>
              </a:rPr>
              <a:t>Blocks before the connection is made</a:t>
            </a:r>
            <a:endParaRPr lang="en-US" sz="1400" dirty="0"/>
          </a:p>
        </p:txBody>
      </p:sp>
      <p:sp>
        <p:nvSpPr>
          <p:cNvPr id="12" name="Job 3">
            <a:extLst>
              <a:ext uri="{C183D7F6-B498-43B3-948B-1728B52AA6E4}">
                <adec:decorative xmlns:adec="http://schemas.microsoft.com/office/drawing/2017/decorative" val="1"/>
              </a:ext>
            </a:extLst>
          </p:cNvPr>
          <p:cNvSpPr/>
          <p:nvPr/>
        </p:nvSpPr>
        <p:spPr>
          <a:xfrm>
            <a:off x="548640" y="3291840"/>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Job 3 text"/>
          <p:cNvSpPr txBox="1"/>
          <p:nvPr/>
        </p:nvSpPr>
        <p:spPr>
          <a:xfrm>
            <a:off x="731520" y="3291840"/>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Certificate checks   </a:t>
            </a:r>
            <a:r>
              <a:rPr lang="en-US" sz="1400" dirty="0">
                <a:solidFill>
                  <a:schemeClr val="tx2"/>
                </a:solidFill>
              </a:rPr>
              <a:t>OCSP and CRL are DNS names</a:t>
            </a:r>
            <a:endParaRPr lang="en-US" sz="1400" dirty="0"/>
          </a:p>
        </p:txBody>
      </p:sp>
      <p:sp>
        <p:nvSpPr>
          <p:cNvPr id="14" name="Job 4">
            <a:extLst>
              <a:ext uri="{C183D7F6-B498-43B3-948B-1728B52AA6E4}">
                <adec:decorative xmlns:adec="http://schemas.microsoft.com/office/drawing/2017/decorative" val="1"/>
              </a:ext>
            </a:extLst>
          </p:cNvPr>
          <p:cNvSpPr/>
          <p:nvPr/>
        </p:nvSpPr>
        <p:spPr>
          <a:xfrm>
            <a:off x="548640" y="3803904"/>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Job 4 text"/>
          <p:cNvSpPr txBox="1"/>
          <p:nvPr/>
        </p:nvSpPr>
        <p:spPr>
          <a:xfrm>
            <a:off x="731520" y="3803904"/>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Service identity   </a:t>
            </a:r>
            <a:r>
              <a:rPr lang="en-US" sz="1400" dirty="0">
                <a:solidFill>
                  <a:schemeClr val="tx2"/>
                </a:solidFill>
              </a:rPr>
              <a:t>Policy names the FQDN, not the IP</a:t>
            </a:r>
            <a:endParaRPr lang="en-US" sz="1400" dirty="0"/>
          </a:p>
        </p:txBody>
      </p:sp>
      <p:sp>
        <p:nvSpPr>
          <p:cNvPr id="16" name="Job 5">
            <a:extLst>
              <a:ext uri="{C183D7F6-B498-43B3-948B-1728B52AA6E4}">
                <adec:decorative xmlns:adec="http://schemas.microsoft.com/office/drawing/2017/decorative" val="1"/>
              </a:ext>
            </a:extLst>
          </p:cNvPr>
          <p:cNvSpPr/>
          <p:nvPr/>
        </p:nvSpPr>
        <p:spPr>
          <a:xfrm>
            <a:off x="548640" y="4315968"/>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Job 5 text"/>
          <p:cNvSpPr txBox="1"/>
          <p:nvPr/>
        </p:nvSpPr>
        <p:spPr>
          <a:xfrm>
            <a:off x="731520" y="4315968"/>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Application surface   </a:t>
            </a:r>
            <a:r>
              <a:rPr lang="en-US" sz="1400" dirty="0">
                <a:solidFill>
                  <a:schemeClr val="tx2"/>
                </a:solidFill>
              </a:rPr>
              <a:t>A wildcard declares a namespace</a:t>
            </a:r>
            <a:endParaRPr lang="en-US" sz="1400" dirty="0"/>
          </a:p>
        </p:txBody>
      </p:sp>
      <p:sp>
        <p:nvSpPr>
          <p:cNvPr id="18" name="Platforms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9" name="Icon FaCubes">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45309"/>
          </a:solidFill>
          <a:ln w="12700">
            <a:solidFill>
              <a:srgbClr val="B45309"/>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21" name="Platforms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HOW MOST AGENCIES STILL RUN IT</a:t>
            </a:r>
            <a:endParaRPr lang="en-US" sz="1400" dirty="0"/>
          </a:p>
          <a:p>
            <a:pPr marL="0" indent="0">
              <a:buNone/>
            </a:pPr>
            <a:r>
              <a:rPr lang="en-US" sz="1800" b="1" dirty="0">
                <a:solidFill>
                  <a:srgbClr val="B45309"/>
                </a:solidFill>
                <a:latin typeface="Cambria" pitchFamily="34" charset="0"/>
                <a:ea typeface="Cambria" pitchFamily="34" charset="-122"/>
                <a:cs typeface="Cambria" pitchFamily="34" charset="-120"/>
              </a:rPr>
              <a:t>Five platforms, no shared state</a:t>
            </a:r>
            <a:endParaRPr lang="en-US" sz="1400" dirty="0"/>
          </a:p>
        </p:txBody>
      </p:sp>
      <p:sp>
        <p:nvSpPr>
          <p:cNvPr id="22" name="Platform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Active Directory DNS or an on-premises DDI grid</a:t>
            </a:r>
            <a:endParaRPr lang="en-US" sz="1400" dirty="0"/>
          </a:p>
          <a:p>
            <a:pPr marL="342900" indent="-342900">
              <a:spcAft>
                <a:spcPts val="600"/>
              </a:spcAft>
              <a:buSzPct val="100000"/>
              <a:buChar char="•"/>
            </a:pPr>
            <a:r>
              <a:rPr lang="en-US" sz="1450" dirty="0">
                <a:solidFill>
                  <a:schemeClr val="tx2"/>
                </a:solidFill>
              </a:rPr>
              <a:t>Amazon Route 53</a:t>
            </a:r>
            <a:endParaRPr lang="en-US" sz="1400" dirty="0"/>
          </a:p>
          <a:p>
            <a:pPr marL="342900" indent="-342900">
              <a:spcAft>
                <a:spcPts val="600"/>
              </a:spcAft>
              <a:buSzPct val="100000"/>
              <a:buChar char="•"/>
            </a:pPr>
            <a:r>
              <a:rPr lang="en-US" sz="1450" dirty="0">
                <a:solidFill>
                  <a:schemeClr val="tx2"/>
                </a:solidFill>
              </a:rPr>
              <a:t>Azure DNS and Azure Private DNS</a:t>
            </a:r>
            <a:endParaRPr lang="en-US" sz="1400" dirty="0"/>
          </a:p>
          <a:p>
            <a:pPr marL="342900" indent="-342900">
              <a:spcAft>
                <a:spcPts val="600"/>
              </a:spcAft>
              <a:buSzPct val="100000"/>
              <a:buChar char="•"/>
            </a:pPr>
            <a:r>
              <a:rPr lang="en-US" sz="1450" dirty="0">
                <a:solidFill>
                  <a:schemeClr val="tx2"/>
                </a:solidFill>
              </a:rPr>
              <a:t>Google Cloud DNS</a:t>
            </a:r>
            <a:endParaRPr lang="en-US" sz="1400" dirty="0"/>
          </a:p>
          <a:p>
            <a:pPr marL="342900" indent="-342900">
              <a:spcAft>
                <a:spcPts val="600"/>
              </a:spcAft>
              <a:buSzPct val="100000"/>
              <a:buChar char="•"/>
            </a:pPr>
            <a:r>
              <a:rPr lang="en-US" sz="1450" dirty="0">
                <a:solidFill>
                  <a:schemeClr val="tx2"/>
                </a:solidFill>
              </a:rPr>
              <a:t>VMware NSX DNS forwarder</a:t>
            </a:r>
            <a:endParaRPr lang="en-US" sz="1400" dirty="0"/>
          </a:p>
        </p:txBody>
      </p:sp>
      <p:sp>
        <p:nvSpPr>
          <p:cNvPr id="23" name="One plane">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Sitemap">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26" name="One plane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91C1C"/>
                </a:solidFill>
              </a:rPr>
              <a:t>One authoritative policy plane: </a:t>
            </a:r>
            <a:r>
              <a:rPr lang="en-US" sz="1650" dirty="0">
                <a:solidFill>
                  <a:schemeClr val="tx2"/>
                </a:solidFill>
              </a:rPr>
              <a:t>DNS, DHCP and IPAM governed as one control plane that propagates state to every resolution surface. An architectural requirement, not a product.</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M-08-23; NIST SP 800-81 Rev. 3; Microsoft Learn — Azure Storage private endpoints, Microsoft 365 endpoints. Book 08, Chapter 01.</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7823A4D0-12F3-CC8D-B736-63C183A9D61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64FBBBF-1C48-4240-8D6B-DB3C805AA4DE}"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230"/>
    </mc:Choice>
    <mc:Fallback>
      <p:transition spd="slow" advTm="69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23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Split-brain DNS fails quietly, as something else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Form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Cloud">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Form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Private-IP split-brain</a:t>
            </a:r>
            <a:endParaRPr lang="en-US" sz="1700" dirty="0"/>
          </a:p>
        </p:txBody>
      </p:sp>
      <p:sp>
        <p:nvSpPr>
          <p:cNvPr id="9" name="Form text 1"/>
          <p:cNvSpPr txBox="1"/>
          <p:nvPr/>
        </p:nvSpPr>
        <p:spPr>
          <a:xfrm>
            <a:off x="777240" y="2286000"/>
            <a:ext cx="3200400" cy="2286000"/>
          </a:xfrm>
          <a:prstGeom prst="rect">
            <a:avLst/>
          </a:prstGeom>
          <a:noFill/>
          <a:ln/>
        </p:spPr>
        <p:txBody>
          <a:bodyPr wrap="square" lIns="0" tIns="0" rIns="0" bIns="0" rtlCol="0" anchor="t"/>
          <a:lstStyle/>
          <a:p>
            <a:pPr marL="0" indent="0">
              <a:buNone/>
            </a:pPr>
            <a:r>
              <a:rPr lang="en-US" sz="1400" dirty="0">
                <a:solidFill>
                  <a:schemeClr val="tx2"/>
                </a:solidFill>
              </a:rPr>
              <a:t>An EC2 instance gets an Azure private endpoint's private address only through a forwarding rule. Without it, the name resolves to the public address. Microsoft puts roughly 70% of private-endpoint 403 errors down to that.</a:t>
            </a:r>
            <a:endParaRPr lang="en-US" sz="1400" dirty="0"/>
          </a:p>
        </p:txBody>
      </p:sp>
      <p:sp>
        <p:nvSpPr>
          <p:cNvPr id="10" name="Form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Globe">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Form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SaaS split-brain</a:t>
            </a:r>
            <a:endParaRPr lang="en-US" sz="1700" dirty="0"/>
          </a:p>
        </p:txBody>
      </p:sp>
      <p:sp>
        <p:nvSpPr>
          <p:cNvPr id="14" name="Form text 2"/>
          <p:cNvSpPr txBox="1"/>
          <p:nvPr/>
        </p:nvSpPr>
        <p:spPr>
          <a:xfrm>
            <a:off x="4526280" y="2286000"/>
            <a:ext cx="3200400" cy="2286000"/>
          </a:xfrm>
          <a:prstGeom prst="rect">
            <a:avLst/>
          </a:prstGeom>
          <a:noFill/>
          <a:ln/>
        </p:spPr>
        <p:txBody>
          <a:bodyPr wrap="square" lIns="0" tIns="0" rIns="0" bIns="0" rtlCol="0" anchor="t"/>
          <a:lstStyle/>
          <a:p>
            <a:pPr marL="0" indent="0">
              <a:buNone/>
            </a:pPr>
            <a:r>
              <a:rPr lang="en-US" sz="1400" dirty="0">
                <a:solidFill>
                  <a:schemeClr val="tx2"/>
                </a:solidFill>
              </a:rPr>
              <a:t>GCC uses the Worldwide endpoint list, so the risk is path consistency: a stale forwarder, or a browser sending DoH to a public resolver. GCC High and DoD have their own .us namespaces.</a:t>
            </a:r>
            <a:endParaRPr lang="en-US" sz="1400" dirty="0"/>
          </a:p>
        </p:txBody>
      </p:sp>
      <p:sp>
        <p:nvSpPr>
          <p:cNvPr id="15" name="Form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Icon FaShieldHalved">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Form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Policy split-brain</a:t>
            </a:r>
            <a:endParaRPr lang="en-US" sz="1700" dirty="0"/>
          </a:p>
        </p:txBody>
      </p:sp>
      <p:sp>
        <p:nvSpPr>
          <p:cNvPr id="19" name="Form text 3"/>
          <p:cNvSpPr txBox="1"/>
          <p:nvPr/>
        </p:nvSpPr>
        <p:spPr>
          <a:xfrm>
            <a:off x="8275320" y="2286000"/>
            <a:ext cx="3200400" cy="2286000"/>
          </a:xfrm>
          <a:prstGeom prst="rect">
            <a:avLst/>
          </a:prstGeom>
          <a:noFill/>
          <a:ln/>
        </p:spPr>
        <p:txBody>
          <a:bodyPr wrap="square" lIns="0" tIns="0" rIns="0" bIns="0" rtlCol="0" anchor="t"/>
          <a:lstStyle/>
          <a:p>
            <a:pPr marL="0" indent="0">
              <a:buNone/>
            </a:pPr>
            <a:r>
              <a:rPr lang="en-US" sz="1400" dirty="0">
                <a:solidFill>
                  <a:schemeClr val="tx2"/>
                </a:solidFill>
              </a:rPr>
              <a:t>A block applies only on the resolver that answers. If the cloud resolvers' rules were never created or have drifted, the posture is the weakest resolver a client can reach.</a:t>
            </a:r>
            <a:endParaRPr lang="en-US" sz="1400" dirty="0"/>
          </a:p>
        </p:txBody>
      </p:sp>
      <p:sp>
        <p:nvSpPr>
          <p:cNvPr id="20" name="Structur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Structur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Process can't fix structure: </a:t>
            </a:r>
            <a:r>
              <a:rPr lang="en-US" sz="1650" dirty="0">
                <a:solidFill>
                  <a:schemeClr val="tx2"/>
                </a:solidFill>
              </a:rPr>
              <a:t>the failure is silent, the change rate outruns any runbook, and every system has its own API and timing. Only a control plane that holds the policy objects keeps them in step.</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Private Endpoint DNS, private-endpoint 403 troubleshooting, Microsoft 365 endpoints; NIST SP 800-81 Rev. 3. Book 08,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C77D24EC-DDF2-661C-E823-9B34E5165B9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E74749-2DCA-4E21-9327-1EEEA8D988BD}"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750"/>
    </mc:Choice>
    <mc:Fallback>
      <p:transition spd="slow" advTm="68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75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mandates name no product, but describe one layer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requires of the name layer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M-22-09 (January 2022)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Encrypted DNS wherever technically supported; endpoints set to agency-designated resolvers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CISA encrypted DNS guidance (May 2024)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Protective DNS for all egress DNS resolution, citing 6 U.S.C. § 663 note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M-26-14 (May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Logs of source and destination address, port and session; searchable 6 months, retrievable 1 year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M-08-23; SP 800-53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DNSSEC: sign agency zones (SC-20) and validate on resolvers (SC-21)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TIC 3.0 catalog v3.3 (September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Five DNS capabilities: sinkholing, DNSSEC validation and signing, domain monitoring, Protective DNS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NIST box">
            <a:extLst>
              <a:ext uri="{C183D7F6-B498-43B3-948B-1728B52AA6E4}">
                <adec:decorative xmlns:adec="http://schemas.microsoft.com/office/drawing/2017/decorative" val="1"/>
              </a:ext>
            </a:extLst>
          </p:cNvPr>
          <p:cNvSpPr/>
          <p:nvPr/>
        </p:nvSpPr>
        <p:spPr>
          <a:xfrm>
            <a:off x="7726680" y="1371600"/>
            <a:ext cx="3931920" cy="3200400"/>
          </a:xfrm>
          <a:prstGeom prst="roundRect">
            <a:avLst>
              <a:gd name="adj" fmla="val 2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955280" y="1536192"/>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086954" y="1667866"/>
            <a:ext cx="285293" cy="285293"/>
          </a:xfrm>
          <a:prstGeom prst="rect">
            <a:avLst/>
          </a:prstGeom>
        </p:spPr>
      </p:pic>
      <p:sp>
        <p:nvSpPr>
          <p:cNvPr id="9" name="NIST head"/>
          <p:cNvSpPr txBox="1"/>
          <p:nvPr/>
        </p:nvSpPr>
        <p:spPr>
          <a:xfrm>
            <a:off x="8641080" y="1536192"/>
            <a:ext cx="292608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NIST SP 800-81 Rev. 3</a:t>
            </a:r>
            <a:endParaRPr lang="en-US" sz="1700" dirty="0"/>
          </a:p>
        </p:txBody>
      </p:sp>
      <p:sp>
        <p:nvSpPr>
          <p:cNvPr id="10" name="NIST list"/>
          <p:cNvSpPr txBox="1"/>
          <p:nvPr/>
        </p:nvSpPr>
        <p:spPr>
          <a:xfrm>
            <a:off x="7955280" y="2212848"/>
            <a:ext cx="356616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Final March 19, 2026; supersedes SP 800-81-2</a:t>
            </a:r>
            <a:endParaRPr lang="en-US" sz="1400" dirty="0"/>
          </a:p>
          <a:p>
            <a:pPr marL="342900" indent="-342900">
              <a:spcAft>
                <a:spcPts val="600"/>
              </a:spcAft>
              <a:buSzPct val="100000"/>
              <a:buChar char="•"/>
            </a:pPr>
            <a:r>
              <a:rPr lang="en-US" sz="1300" dirty="0">
                <a:solidFill>
                  <a:schemeClr val="tx2"/>
                </a:solidFill>
              </a:rPr>
              <a:t>Guidance, not a mandate</a:t>
            </a:r>
            <a:endParaRPr lang="en-US" sz="1400" dirty="0"/>
          </a:p>
          <a:p>
            <a:pPr marL="342900" indent="-342900">
              <a:spcAft>
                <a:spcPts val="600"/>
              </a:spcAft>
              <a:buSzPct val="100000"/>
              <a:buChar char="•"/>
            </a:pPr>
            <a:r>
              <a:rPr lang="en-US" sz="1300" dirty="0">
                <a:solidFill>
                  <a:schemeClr val="tx2"/>
                </a:solidFill>
              </a:rPr>
              <a:t>Protective DNS, encryption, DNSSEC, dedicated servers</a:t>
            </a:r>
            <a:endParaRPr lang="en-US" sz="1400" dirty="0"/>
          </a:p>
          <a:p>
            <a:pPr marL="342900" indent="-342900">
              <a:spcAft>
                <a:spcPts val="600"/>
              </a:spcAft>
              <a:buSzPct val="100000"/>
              <a:buChar char="•"/>
            </a:pPr>
            <a:r>
              <a:rPr lang="en-US" sz="1300" dirty="0">
                <a:solidFill>
                  <a:schemeClr val="tx2"/>
                </a:solidFill>
              </a:rPr>
              <a:t>Block DoT, DoH and DoQ to unauthorized resolvers</a:t>
            </a:r>
            <a:endParaRPr lang="en-US" sz="1400" dirty="0"/>
          </a:p>
        </p:txBody>
      </p:sp>
      <p:sp>
        <p:nvSpPr>
          <p:cNvPr id="11" name="FedRAMP">
            <a:extLst>
              <a:ext uri="{C183D7F6-B498-43B3-948B-1728B52AA6E4}">
                <adec:decorative xmlns:adec="http://schemas.microsoft.com/office/drawing/2017/decorative" val="1"/>
              </a:ext>
            </a:extLst>
          </p:cNvPr>
          <p:cNvSpPr/>
          <p:nvPr/>
        </p:nvSpPr>
        <p:spPr>
          <a:xfrm>
            <a:off x="548640" y="475488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Landmark">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1F2A44"/>
          </a:solidFill>
          <a:ln w="12700">
            <a:solidFill>
              <a:srgbClr val="1F2A44"/>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36185"/>
            <a:ext cx="380390" cy="380390"/>
          </a:xfrm>
          <a:prstGeom prst="rect">
            <a:avLst/>
          </a:prstGeom>
        </p:spPr>
      </p:pic>
      <p:sp>
        <p:nvSpPr>
          <p:cNvPr id="14" name="FedRAMP text"/>
          <p:cNvSpPr txBox="1"/>
          <p:nvPr/>
        </p:nvSpPr>
        <p:spPr>
          <a:xfrm>
            <a:off x="1737360" y="480060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FedRAMP certifies a service, not an architecture: </a:t>
            </a:r>
            <a:r>
              <a:rPr lang="en-US" sz="1650" dirty="0">
                <a:solidFill>
                  <a:schemeClr val="tx2"/>
                </a:solidFill>
              </a:rPr>
              <a:t>the agency still authorizes its own DDI system. A cloud-delivered policy plane is an external dependency; resolvers in data centers, branches and cloud tenants stay inside the agency's boundary.</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800-81 Rev. 3; OMB M-22-09, M-26-14, M-08-23; CISA Encrypted DNS Implementation Guidance; TIC 3.0 Catalog v3.3; FedRAMP. Book 08,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CA872FD9-F29F-E707-8BDC-F75731D6B7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9E34B4A-962F-4B05-AB2D-7BF7537D9F7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9200"/>
    </mc:Choice>
    <mc:Fallback>
      <p:transition spd="slow" advTm="89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820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Entra ID inherits none of what AD DNS does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rts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AD-INTEGRATED DNS DOES FOR A DOMAIN</a:t>
            </a:r>
            <a:endParaRPr lang="en-US" sz="1200" dirty="0"/>
          </a:p>
        </p:txBody>
      </p:sp>
      <p:sp>
        <p:nvSpPr>
          <p:cNvPr id="6" name="Part 0">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art 0 text"/>
          <p:cNvSpPr txBox="1"/>
          <p:nvPr/>
        </p:nvSpPr>
        <p:spPr>
          <a:xfrm>
            <a:off x="731520" y="175564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Locator records   </a:t>
            </a:r>
            <a:r>
              <a:rPr lang="en-US" sz="1400" dirty="0">
                <a:solidFill>
                  <a:schemeClr val="tx2"/>
                </a:solidFill>
              </a:rPr>
              <a:t>SRV records that Netlogon registers</a:t>
            </a:r>
            <a:endParaRPr lang="en-US" sz="1400" dirty="0"/>
          </a:p>
        </p:txBody>
      </p:sp>
      <p:sp>
        <p:nvSpPr>
          <p:cNvPr id="8" name="Part 1">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art 1 text"/>
          <p:cNvSpPr txBox="1"/>
          <p:nvPr/>
        </p:nvSpPr>
        <p:spPr>
          <a:xfrm>
            <a:off x="731520" y="235915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Secure dynamic update   </a:t>
            </a:r>
            <a:r>
              <a:rPr lang="en-US" sz="1400" dirty="0">
                <a:solidFill>
                  <a:schemeClr val="tx2"/>
                </a:solidFill>
              </a:rPr>
              <a:t>GSS-TSIG; the DHCP credential decides trust</a:t>
            </a:r>
            <a:endParaRPr lang="en-US" sz="1400" dirty="0"/>
          </a:p>
        </p:txBody>
      </p:sp>
      <p:sp>
        <p:nvSpPr>
          <p:cNvPr id="10" name="Part 2">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art 2 text"/>
          <p:cNvSpPr txBox="1"/>
          <p:nvPr/>
        </p:nvSpPr>
        <p:spPr>
          <a:xfrm>
            <a:off x="731520" y="296265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Conditional forwarders   </a:t>
            </a:r>
            <a:r>
              <a:rPr lang="en-US" sz="1400" dirty="0">
                <a:solidFill>
                  <a:schemeClr val="tx2"/>
                </a:solidFill>
              </a:rPr>
              <a:t>Easy to list, hard to justify</a:t>
            </a:r>
            <a:endParaRPr lang="en-US" sz="1400" dirty="0"/>
          </a:p>
        </p:txBody>
      </p:sp>
      <p:sp>
        <p:nvSpPr>
          <p:cNvPr id="12" name="Part 3">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art 3 text"/>
          <p:cNvSpPr txBox="1"/>
          <p:nvPr/>
        </p:nvSpPr>
        <p:spPr>
          <a:xfrm>
            <a:off x="731520" y="356616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GlobalNames, reverse, signed   </a:t>
            </a:r>
            <a:r>
              <a:rPr lang="en-US" sz="1400" dirty="0">
                <a:solidFill>
                  <a:schemeClr val="tx2"/>
                </a:solidFill>
              </a:rPr>
              <a:t>Each moves by its own method</a:t>
            </a:r>
            <a:endParaRPr lang="en-US" sz="1400" dirty="0"/>
          </a:p>
        </p:txBody>
      </p:sp>
      <p:sp>
        <p:nvSpPr>
          <p:cNvPr id="14" name="Part 4">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art 4 text"/>
          <p:cNvSpPr txBox="1"/>
          <p:nvPr/>
        </p:nvSpPr>
        <p:spPr>
          <a:xfrm>
            <a:off x="731520" y="416966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The internal namespace   </a:t>
            </a:r>
            <a:r>
              <a:rPr lang="en-US" sz="1400" dirty="0">
                <a:solidFill>
                  <a:schemeClr val="tx2"/>
                </a:solidFill>
              </a:rPr>
              <a:t>Nothing creates it by default</a:t>
            </a:r>
            <a:endParaRPr lang="en-US" sz="1400" dirty="0"/>
          </a:p>
        </p:txBody>
      </p:sp>
      <p:sp>
        <p:nvSpPr>
          <p:cNvPr id="16" name="Entra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PlugCircleXmark">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Entra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WHAT MICROSOFT ENTRA ID DOES NOT CARRY</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Identities move; the records don't</a:t>
            </a:r>
            <a:endParaRPr lang="en-US" sz="1400" dirty="0"/>
          </a:p>
        </p:txBody>
      </p:sp>
      <p:sp>
        <p:nvSpPr>
          <p:cNvPr id="20" name="Entra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No zones and no locator records</a:t>
            </a:r>
            <a:endParaRPr lang="en-US" sz="1400" dirty="0"/>
          </a:p>
          <a:p>
            <a:pPr marL="342900" indent="-342900">
              <a:spcAft>
                <a:spcPts val="600"/>
              </a:spcAft>
              <a:buSzPct val="100000"/>
              <a:buChar char="•"/>
            </a:pPr>
            <a:r>
              <a:rPr lang="en-US" sz="1450" dirty="0">
                <a:solidFill>
                  <a:schemeClr val="tx2"/>
                </a:solidFill>
              </a:rPr>
              <a:t>Hybrid-joined devices still look for a domain controller</a:t>
            </a:r>
            <a:endParaRPr lang="en-US" sz="1400" dirty="0"/>
          </a:p>
          <a:p>
            <a:pPr marL="342900" indent="-342900">
              <a:spcAft>
                <a:spcPts val="600"/>
              </a:spcAft>
              <a:buSzPct val="100000"/>
              <a:buChar char="•"/>
            </a:pPr>
            <a:r>
              <a:rPr lang="en-US" sz="1450" dirty="0">
                <a:solidFill>
                  <a:schemeClr val="tx2"/>
                </a:solidFill>
              </a:rPr>
              <a:t>Kerberos pockets keep their DNS dependencies</a:t>
            </a:r>
            <a:endParaRPr lang="en-US" sz="1400" dirty="0"/>
          </a:p>
          <a:p>
            <a:pPr marL="342900" indent="-342900">
              <a:spcAft>
                <a:spcPts val="600"/>
              </a:spcAft>
              <a:buSzPct val="100000"/>
              <a:buChar char="•"/>
            </a:pPr>
            <a:r>
              <a:rPr lang="en-US" sz="1450" dirty="0">
                <a:solidFill>
                  <a:schemeClr val="tx2"/>
                </a:solidFill>
              </a:rPr>
              <a:t>Entra Domain Services adds a DNS authority of its own</a:t>
            </a:r>
            <a:endParaRPr lang="en-US" sz="1400" dirty="0"/>
          </a:p>
        </p:txBody>
      </p:sp>
      <p:sp>
        <p:nvSpPr>
          <p:cNvPr id="21" name="Locators last">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Serve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24" name="Locators last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1F2A44"/>
                </a:solidFill>
              </a:rPr>
              <a:t>Locator records move last: </a:t>
            </a:r>
            <a:r>
              <a:rPr lang="en-US" sz="1650" dirty="0">
                <a:solidFill>
                  <a:schemeClr val="tx2"/>
                </a:solidFill>
              </a:rPr>
              <a:t>they live only where domain controllers can register them securely, on AD DNS or a DDI platform that accepts GSS-TSIG, until the last DC goes. Everything else moves zone by zone.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DNS and AD DS, DC locator, dynamic update, Entra Domain Services DNS; RFC 3645 (GSS-TSIG). Book 08, Chapter 04.</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3EC20881-9D52-A0C6-C45D-A59F3165315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16EBED-EF98-4AD2-A0BD-1EDD6F03306A}"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140"/>
    </mc:Choice>
    <mc:Fallback>
      <p:transition spd="slow" advTm="64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14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ways a query escapes the governed path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th col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Route">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Path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The SD-WAN edge</a:t>
            </a:r>
            <a:endParaRPr lang="en-US" sz="1900" dirty="0"/>
          </a:p>
        </p:txBody>
      </p:sp>
      <p:sp>
        <p:nvSpPr>
          <p:cNvPr id="9" name="Path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redirect-dns sends branch DNS to one resolver</a:t>
            </a:r>
            <a:endParaRPr lang="en-US" sz="1400" dirty="0"/>
          </a:p>
          <a:p>
            <a:pPr marL="342900" indent="-342900">
              <a:spcAft>
                <a:spcPts val="600"/>
              </a:spcAft>
              <a:buSzPct val="100000"/>
              <a:buChar char="•"/>
            </a:pPr>
            <a:r>
              <a:rPr lang="en-US" sz="1350" dirty="0">
                <a:solidFill>
                  <a:schemeClr val="tx2"/>
                </a:solidFill>
              </a:rPr>
              <a:t>IPv4 and UDP only; TCP DNS isn't redirected</a:t>
            </a:r>
            <a:endParaRPr lang="en-US" sz="1400" dirty="0"/>
          </a:p>
          <a:p>
            <a:pPr marL="342900" indent="-342900">
              <a:spcAft>
                <a:spcPts val="600"/>
              </a:spcAft>
              <a:buSzPct val="100000"/>
              <a:buChar char="•"/>
            </a:pPr>
            <a:r>
              <a:rPr lang="en-US" sz="1350" dirty="0">
                <a:solidFill>
                  <a:schemeClr val="tx2"/>
                </a:solidFill>
              </a:rPr>
              <a:t>Target: an agency resolver, never a loopback agent</a:t>
            </a:r>
            <a:endParaRPr lang="en-US" sz="1400" dirty="0"/>
          </a:p>
          <a:p>
            <a:pPr marL="342900" indent="-342900">
              <a:spcAft>
                <a:spcPts val="600"/>
              </a:spcAft>
              <a:buSzPct val="100000"/>
              <a:buChar char="•"/>
            </a:pPr>
            <a:r>
              <a:rPr lang="en-US" sz="1350" dirty="0">
                <a:solidFill>
                  <a:schemeClr val="tx2"/>
                </a:solidFill>
              </a:rPr>
              <a:t>SASE resolvers forward behind it</a:t>
            </a:r>
            <a:endParaRPr lang="en-US" sz="1400" dirty="0"/>
          </a:p>
        </p:txBody>
      </p:sp>
      <p:sp>
        <p:nvSpPr>
          <p:cNvPr id="10" name="Path col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Lock">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Path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Encrypted DNS</a:t>
            </a:r>
            <a:endParaRPr lang="en-US" sz="1900" dirty="0"/>
          </a:p>
        </p:txBody>
      </p:sp>
      <p:sp>
        <p:nvSpPr>
          <p:cNvPr id="14" name="Path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DoT and DoQ on port 853: block except to approved resolvers</a:t>
            </a:r>
            <a:endParaRPr lang="en-US" sz="1400" dirty="0"/>
          </a:p>
          <a:p>
            <a:pPr marL="342900" indent="-342900">
              <a:spcAft>
                <a:spcPts val="600"/>
              </a:spcAft>
              <a:buSzPct val="100000"/>
              <a:buChar char="•"/>
            </a:pPr>
            <a:r>
              <a:rPr lang="en-US" sz="1350" dirty="0">
                <a:solidFill>
                  <a:schemeClr val="tx2"/>
                </a:solidFill>
              </a:rPr>
              <a:t>DoH on 443: govern it at the endpoint</a:t>
            </a:r>
            <a:endParaRPr lang="en-US" sz="1400" dirty="0"/>
          </a:p>
          <a:p>
            <a:pPr marL="342900" indent="-342900">
              <a:spcAft>
                <a:spcPts val="600"/>
              </a:spcAft>
              <a:buSzPct val="100000"/>
              <a:buChar char="•"/>
            </a:pPr>
            <a:r>
              <a:rPr lang="en-US" sz="1350" dirty="0">
                <a:solidFill>
                  <a:schemeClr val="tx2"/>
                </a:solidFill>
              </a:rPr>
              <a:t>Windows DoH policy; Edge and Chrome DoH mode</a:t>
            </a:r>
            <a:endParaRPr lang="en-US" sz="1400" dirty="0"/>
          </a:p>
          <a:p>
            <a:pPr marL="342900" indent="-342900">
              <a:spcAft>
                <a:spcPts val="600"/>
              </a:spcAft>
              <a:buSzPct val="100000"/>
              <a:buChar char="•"/>
            </a:pPr>
            <a:r>
              <a:rPr lang="en-US" sz="1350" dirty="0">
                <a:solidFill>
                  <a:schemeClr val="tx2"/>
                </a:solidFill>
              </a:rPr>
              <a:t>IPsec isn't a substitute, per CISA</a:t>
            </a:r>
            <a:endParaRPr lang="en-US" sz="1400" dirty="0"/>
          </a:p>
        </p:txBody>
      </p:sp>
      <p:sp>
        <p:nvSpPr>
          <p:cNvPr id="15" name="Path col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Icon FaUserXmark">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Path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900" b="1" dirty="0">
                <a:solidFill>
                  <a:srgbClr val="B91C1C"/>
                </a:solidFill>
                <a:latin typeface="Cambria" pitchFamily="34" charset="0"/>
                <a:ea typeface="Cambria" pitchFamily="34" charset="-122"/>
                <a:cs typeface="Cambria" pitchFamily="34" charset="-120"/>
              </a:rPr>
              <a:t>Rogue DHCP</a:t>
            </a:r>
            <a:endParaRPr lang="en-US" sz="1900" dirty="0"/>
          </a:p>
        </p:txBody>
      </p:sp>
      <p:sp>
        <p:nvSpPr>
          <p:cNvPr id="19" name="Path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Option 6 moves a whole subnet at once</a:t>
            </a:r>
            <a:endParaRPr lang="en-US" sz="1400" dirty="0"/>
          </a:p>
          <a:p>
            <a:pPr marL="342900" indent="-342900">
              <a:spcAft>
                <a:spcPts val="600"/>
              </a:spcAft>
              <a:buSzPct val="100000"/>
              <a:buChar char="•"/>
            </a:pPr>
            <a:r>
              <a:rPr lang="en-US" sz="1350" dirty="0">
                <a:solidFill>
                  <a:schemeClr val="tx2"/>
                </a:solidFill>
              </a:rPr>
              <a:t>Rogue IPv6 router advertisements do the same</a:t>
            </a:r>
            <a:endParaRPr lang="en-US" sz="1400" dirty="0"/>
          </a:p>
          <a:p>
            <a:pPr marL="342900" indent="-342900">
              <a:spcAft>
                <a:spcPts val="600"/>
              </a:spcAft>
              <a:buSzPct val="100000"/>
              <a:buChar char="•"/>
            </a:pPr>
            <a:r>
              <a:rPr lang="en-US" sz="1350" dirty="0">
                <a:solidFill>
                  <a:schemeClr val="tx2"/>
                </a:solidFill>
              </a:rPr>
              <a:t>AD authorization stops only Windows DHCP servers</a:t>
            </a:r>
            <a:endParaRPr lang="en-US" sz="1400" dirty="0"/>
          </a:p>
          <a:p>
            <a:pPr marL="342900" indent="-342900">
              <a:spcAft>
                <a:spcPts val="600"/>
              </a:spcAft>
              <a:buSzPct val="100000"/>
              <a:buChar char="•"/>
            </a:pPr>
            <a:r>
              <a:rPr lang="en-US" sz="1350" dirty="0">
                <a:solidFill>
                  <a:schemeClr val="tx2"/>
                </a:solidFill>
              </a:rPr>
              <a:t>DHCP snooping and RA Guard close the gap</a:t>
            </a:r>
            <a:endParaRPr lang="en-US" sz="1400" dirty="0"/>
          </a:p>
        </p:txBody>
      </p:sp>
      <p:sp>
        <p:nvSpPr>
          <p:cNvPr id="20" name="Silent">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Silent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None of them raises an alarm: </a:t>
            </a:r>
            <a:r>
              <a:rPr lang="en-US" sz="1650" dirty="0">
                <a:solidFill>
                  <a:schemeClr val="tx2"/>
                </a:solidFill>
              </a:rPr>
              <a:t>the client gets a normal-looking answer and the agency resolver logs nothing. So the program also alerts on hosts whose queries never reach the governed resolvers.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Cisco Catalyst SD-WAN redirect DNS; CISA Encrypted DNS Implementation Guidance; NIST SP 800-81 Rev. 3; MITRE ATT&amp;CK T1557.003; RFC 6105. Book 08,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4CD63B58-B1A8-FE44-F691-D47800B3FB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0713D1E-685E-43DE-87B9-52B3E72F498E}"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250"/>
    </mc:Choice>
    <mc:Fallback>
      <p:transition spd="slow" advTm="74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324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certificate check starts with a DNS lookup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hain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TRUST CHAIN STARTS WITH A LOOKUP</a:t>
            </a:r>
            <a:endParaRPr lang="en-US" sz="1200" dirty="0"/>
          </a:p>
        </p:txBody>
      </p:sp>
      <p:sp>
        <p:nvSpPr>
          <p:cNvPr id="6" name="Step 0">
            <a:extLst>
              <a:ext uri="{C183D7F6-B498-43B3-948B-1728B52AA6E4}">
                <adec:decorative xmlns:adec="http://schemas.microsoft.com/office/drawing/2017/decorative" val="1"/>
              </a:ext>
            </a:extLst>
          </p:cNvPr>
          <p:cNvSpPr/>
          <p:nvPr/>
        </p:nvSpPr>
        <p:spPr>
          <a:xfrm>
            <a:off x="548640" y="1755648"/>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Step 0 text"/>
          <p:cNvSpPr txBox="1"/>
          <p:nvPr/>
        </p:nvSpPr>
        <p:spPr>
          <a:xfrm>
            <a:off x="731520" y="1755648"/>
            <a:ext cx="5394960" cy="603504"/>
          </a:xfrm>
          <a:prstGeom prst="rect">
            <a:avLst/>
          </a:prstGeom>
          <a:noFill/>
          <a:ln/>
        </p:spPr>
        <p:txBody>
          <a:bodyPr wrap="square" lIns="0" tIns="0" rIns="0" bIns="0" rtlCol="0" anchor="ctr"/>
          <a:lstStyle/>
          <a:p>
            <a:pPr marL="0" indent="0">
              <a:buNone/>
            </a:pPr>
            <a:r>
              <a:rPr lang="en-US" sz="1500" b="1" dirty="0">
                <a:solidFill>
                  <a:srgbClr val="1F2A44"/>
                </a:solidFill>
              </a:rPr>
              <a:t>1   Name   </a:t>
            </a:r>
            <a:r>
              <a:rPr lang="en-US" sz="1500" dirty="0">
                <a:solidFill>
                  <a:schemeClr val="tx2"/>
                </a:solidFill>
              </a:rPr>
              <a:t>Resolves to the authentic endpoint</a:t>
            </a:r>
            <a:endParaRPr lang="en-US" sz="1500" dirty="0"/>
          </a:p>
        </p:txBody>
      </p:sp>
      <p:sp>
        <p:nvSpPr>
          <p:cNvPr id="8" name="Step 1">
            <a:extLst>
              <a:ext uri="{C183D7F6-B498-43B3-948B-1728B52AA6E4}">
                <adec:decorative xmlns:adec="http://schemas.microsoft.com/office/drawing/2017/decorative" val="1"/>
              </a:ext>
            </a:extLst>
          </p:cNvPr>
          <p:cNvSpPr/>
          <p:nvPr/>
        </p:nvSpPr>
        <p:spPr>
          <a:xfrm>
            <a:off x="548640" y="2487168"/>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Step 1 text"/>
          <p:cNvSpPr txBox="1"/>
          <p:nvPr/>
        </p:nvSpPr>
        <p:spPr>
          <a:xfrm>
            <a:off x="731520" y="2487168"/>
            <a:ext cx="5394960" cy="603504"/>
          </a:xfrm>
          <a:prstGeom prst="rect">
            <a:avLst/>
          </a:prstGeom>
          <a:noFill/>
          <a:ln/>
        </p:spPr>
        <p:txBody>
          <a:bodyPr wrap="square" lIns="0" tIns="0" rIns="0" bIns="0" rtlCol="0" anchor="ctr"/>
          <a:lstStyle/>
          <a:p>
            <a:pPr marL="0" indent="0">
              <a:buNone/>
            </a:pPr>
            <a:r>
              <a:rPr lang="en-US" sz="1500" b="1" dirty="0">
                <a:solidFill>
                  <a:srgbClr val="1F2A44"/>
                </a:solidFill>
              </a:rPr>
              <a:t>2   Certificate   </a:t>
            </a:r>
            <a:r>
              <a:rPr lang="en-US" sz="1500" dirty="0">
                <a:solidFill>
                  <a:schemeClr val="tx2"/>
                </a:solidFill>
              </a:rPr>
              <a:t>SAN, OCSP and CRL, CAA, ACME dns-01</a:t>
            </a:r>
            <a:endParaRPr lang="en-US" sz="1500" dirty="0"/>
          </a:p>
        </p:txBody>
      </p:sp>
      <p:sp>
        <p:nvSpPr>
          <p:cNvPr id="10" name="Step 2">
            <a:extLst>
              <a:ext uri="{C183D7F6-B498-43B3-948B-1728B52AA6E4}">
                <adec:decorative xmlns:adec="http://schemas.microsoft.com/office/drawing/2017/decorative" val="1"/>
              </a:ext>
            </a:extLst>
          </p:cNvPr>
          <p:cNvSpPr/>
          <p:nvPr/>
        </p:nvSpPr>
        <p:spPr>
          <a:xfrm>
            <a:off x="548640" y="3218688"/>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Step 2 text"/>
          <p:cNvSpPr txBox="1"/>
          <p:nvPr/>
        </p:nvSpPr>
        <p:spPr>
          <a:xfrm>
            <a:off x="731520" y="3218688"/>
            <a:ext cx="5394960" cy="603504"/>
          </a:xfrm>
          <a:prstGeom prst="rect">
            <a:avLst/>
          </a:prstGeom>
          <a:noFill/>
          <a:ln/>
        </p:spPr>
        <p:txBody>
          <a:bodyPr wrap="square" lIns="0" tIns="0" rIns="0" bIns="0" rtlCol="0" anchor="ctr"/>
          <a:lstStyle/>
          <a:p>
            <a:pPr marL="0" indent="0">
              <a:buNone/>
            </a:pPr>
            <a:r>
              <a:rPr lang="en-US" sz="1500" b="1" dirty="0">
                <a:solidFill>
                  <a:srgbClr val="1F2A44"/>
                </a:solidFill>
              </a:rPr>
              <a:t>3   Policy   </a:t>
            </a:r>
            <a:r>
              <a:rPr lang="en-US" sz="1500" dirty="0">
                <a:solidFill>
                  <a:schemeClr val="tx2"/>
                </a:solidFill>
              </a:rPr>
              <a:t>FQDN-based ZTNA and app networking</a:t>
            </a:r>
            <a:endParaRPr lang="en-US" sz="1500" dirty="0"/>
          </a:p>
        </p:txBody>
      </p:sp>
      <p:sp>
        <p:nvSpPr>
          <p:cNvPr id="12" name="Step 3">
            <a:extLst>
              <a:ext uri="{C183D7F6-B498-43B3-948B-1728B52AA6E4}">
                <adec:decorative xmlns:adec="http://schemas.microsoft.com/office/drawing/2017/decorative" val="1"/>
              </a:ext>
            </a:extLst>
          </p:cNvPr>
          <p:cNvSpPr/>
          <p:nvPr/>
        </p:nvSpPr>
        <p:spPr>
          <a:xfrm>
            <a:off x="548640" y="3950208"/>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Step 3 text"/>
          <p:cNvSpPr txBox="1"/>
          <p:nvPr/>
        </p:nvSpPr>
        <p:spPr>
          <a:xfrm>
            <a:off x="731520" y="3950208"/>
            <a:ext cx="5394960" cy="603504"/>
          </a:xfrm>
          <a:prstGeom prst="rect">
            <a:avLst/>
          </a:prstGeom>
          <a:noFill/>
          <a:ln/>
        </p:spPr>
        <p:txBody>
          <a:bodyPr wrap="square" lIns="0" tIns="0" rIns="0" bIns="0" rtlCol="0" anchor="ctr"/>
          <a:lstStyle/>
          <a:p>
            <a:pPr marL="0" indent="0">
              <a:buNone/>
            </a:pPr>
            <a:r>
              <a:rPr lang="en-US" sz="1500" b="1" dirty="0">
                <a:solidFill>
                  <a:srgbClr val="1F2A44"/>
                </a:solidFill>
              </a:rPr>
              <a:t>4   Token   </a:t>
            </a:r>
            <a:r>
              <a:rPr lang="en-US" sz="1500" dirty="0">
                <a:solidFill>
                  <a:schemeClr val="tx2"/>
                </a:solidFill>
              </a:rPr>
              <a:t>Reaches the right sign-in endpoint</a:t>
            </a:r>
            <a:endParaRPr lang="en-US" sz="1500" dirty="0"/>
          </a:p>
        </p:txBody>
      </p:sp>
      <p:sp>
        <p:nvSpPr>
          <p:cNvPr id="14" name="DNSSEC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Icon FaFileShield">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DNSSEC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THE PROGRAM'S DNSSEC POSITION</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Validate under agency control</a:t>
            </a:r>
            <a:endParaRPr lang="en-US" sz="1400" dirty="0"/>
          </a:p>
        </p:txBody>
      </p:sp>
      <p:sp>
        <p:nvSpPr>
          <p:cNvPr id="18" name="DNSSEC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Sign external zones and .gov delegations, always</a:t>
            </a:r>
            <a:endParaRPr lang="en-US" sz="1400" dirty="0"/>
          </a:p>
          <a:p>
            <a:pPr marL="342900" indent="-342900">
              <a:spcAft>
                <a:spcPts val="600"/>
              </a:spcAft>
              <a:buSzPct val="100000"/>
              <a:buChar char="•"/>
            </a:pPr>
            <a:r>
              <a:rPr lang="en-US" sz="1400" dirty="0">
                <a:solidFill>
                  <a:schemeClr val="tx2"/>
                </a:solidFill>
              </a:rPr>
              <a:t>Validate on every agency resolver, with the root trust anchor</a:t>
            </a:r>
            <a:endParaRPr lang="en-US" sz="1400" dirty="0"/>
          </a:p>
          <a:p>
            <a:pPr marL="342900" indent="-342900">
              <a:spcAft>
                <a:spcPts val="600"/>
              </a:spcAft>
              <a:buSzPct val="100000"/>
              <a:buChar char="•"/>
            </a:pPr>
            <a:r>
              <a:rPr lang="en-US" sz="1400" dirty="0">
                <a:solidFill>
                  <a:schemeClr val="tx2"/>
                </a:solidFill>
              </a:rPr>
              <a:t>Sign internal zones only where the authorization requires it</a:t>
            </a:r>
            <a:endParaRPr lang="en-US" sz="1400" dirty="0"/>
          </a:p>
          <a:p>
            <a:pPr marL="342900" indent="-342900">
              <a:spcAft>
                <a:spcPts val="600"/>
              </a:spcAft>
              <a:buSzPct val="100000"/>
              <a:buChar char="•"/>
            </a:pPr>
            <a:r>
              <a:rPr lang="en-US" sz="1400" dirty="0">
                <a:solidFill>
                  <a:schemeClr val="tx2"/>
                </a:solidFill>
              </a:rPr>
              <a:t>Azure DNS and Route 53 sign public zones only</a:t>
            </a:r>
            <a:endParaRPr lang="en-US" sz="1400" dirty="0"/>
          </a:p>
        </p:txBody>
      </p:sp>
      <p:sp>
        <p:nvSpPr>
          <p:cNvPr id="19" name="Cert split-brain">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0" name="Icon FaKey">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22" name="Cert split-brain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91C1C"/>
                </a:solidFill>
              </a:rPr>
              <a:t>It looks like a PKI failure: </a:t>
            </a:r>
            <a:r>
              <a:rPr lang="en-US" sz="1650" dirty="0">
                <a:solidFill>
                  <a:schemeClr val="tx2"/>
                </a:solidFill>
              </a:rPr>
              <a:t>if a CRL name exists only in AD DNS, an AWS workload can't resolve it, the revocation check fails, and the ticket is opened against PKI. Decision 5 exists for this.</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800-81 Rev. 3; SP 800-53 SC-20 and SC-21; RFC 8555, RFC 4033; Microsoft Learn — Azure DNSSEC; AWS Route 53 DNSSEC. Book 08,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4F8937D0-22B9-B718-3034-ADE100B89D0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843D22-30CB-437F-A094-6151ED2C0F3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060"/>
    </mc:Choice>
    <mc:Fallback>
      <p:transition spd="slow" advTm="68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056"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Forward the public zone to one point in Azure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Service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Forward from every origin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Private zone Azure answers from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Storage (blob)</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blob.core.windows.net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privatelink.blob.core.windows.net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Azure SQL Database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database.windows.net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privatelink.database.windows.net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Key Vault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vault.azure.net, vaultcore.azure.net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privatelink.vaultcore.azure.net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App Service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azurewebsites.net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privatelink.azurewebsites.net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Azure Government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Its own names, such as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privatelink.database.usgovcloudapi.net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esolver box">
            <a:extLst>
              <a:ext uri="{C183D7F6-B498-43B3-948B-1728B52AA6E4}">
                <adec:decorative xmlns:adec="http://schemas.microsoft.com/office/drawing/2017/decorative" val="1"/>
              </a:ext>
            </a:extLst>
          </p:cNvPr>
          <p:cNvSpPr/>
          <p:nvPr/>
        </p:nvSpPr>
        <p:spPr>
          <a:xfrm>
            <a:off x="8092440" y="1371600"/>
            <a:ext cx="356616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Server">
            <a:extLst>
              <a:ext uri="{C183D7F6-B498-43B3-948B-1728B52AA6E4}">
                <adec:decorative xmlns:adec="http://schemas.microsoft.com/office/drawing/2017/decorative" val="1"/>
              </a:ext>
            </a:extLst>
          </p:cNvPr>
          <p:cNvSpPr/>
          <p:nvPr/>
        </p:nvSpPr>
        <p:spPr>
          <a:xfrm>
            <a:off x="8321040" y="1536192"/>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52714" y="1667866"/>
            <a:ext cx="285293" cy="285293"/>
          </a:xfrm>
          <a:prstGeom prst="rect">
            <a:avLst/>
          </a:prstGeom>
        </p:spPr>
      </p:pic>
      <p:sp>
        <p:nvSpPr>
          <p:cNvPr id="5" name="Resolver head"/>
          <p:cNvSpPr txBox="1"/>
          <p:nvPr/>
        </p:nvSpPr>
        <p:spPr>
          <a:xfrm>
            <a:off x="9006840" y="1536192"/>
            <a:ext cx="25603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DNS Private Resolver</a:t>
            </a:r>
            <a:endParaRPr lang="en-US" sz="1700" dirty="0"/>
          </a:p>
        </p:txBody>
      </p:sp>
      <p:sp>
        <p:nvSpPr>
          <p:cNvPr id="10" name="Resolver list"/>
          <p:cNvSpPr txBox="1"/>
          <p:nvPr/>
        </p:nvSpPr>
        <p:spPr>
          <a:xfrm>
            <a:off x="8321040" y="2212848"/>
            <a:ext cx="3200400" cy="2331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 recursive bridge: forward to it, never delegate</a:t>
            </a:r>
            <a:endParaRPr lang="en-US" sz="1400" dirty="0"/>
          </a:p>
          <a:p>
            <a:pPr marL="342900" indent="-342900">
              <a:spcAft>
                <a:spcPts val="600"/>
              </a:spcAft>
              <a:buSzPct val="100000"/>
              <a:buChar char="•"/>
            </a:pPr>
            <a:r>
              <a:rPr lang="en-US" sz="1300" dirty="0">
                <a:solidFill>
                  <a:schemeClr val="tx2"/>
                </a:solidFill>
              </a:rPr>
              <a:t>Dedicated subnet, static inbound address</a:t>
            </a:r>
            <a:endParaRPr lang="en-US" sz="1400" dirty="0"/>
          </a:p>
          <a:p>
            <a:pPr marL="342900" indent="-342900">
              <a:spcAft>
                <a:spcPts val="600"/>
              </a:spcAft>
              <a:buSzPct val="100000"/>
              <a:buChar char="•"/>
            </a:pPr>
            <a:r>
              <a:rPr lang="en-US" sz="1300" dirty="0">
                <a:solidFill>
                  <a:schemeClr val="tx2"/>
                </a:solidFill>
              </a:rPr>
              <a:t>No ruleset linked where its inbound target lives</a:t>
            </a:r>
            <a:endParaRPr lang="en-US" sz="1400" dirty="0"/>
          </a:p>
          <a:p>
            <a:pPr marL="342900" indent="-342900">
              <a:spcAft>
                <a:spcPts val="600"/>
              </a:spcAft>
              <a:buSzPct val="100000"/>
              <a:buChar char="•"/>
            </a:pPr>
            <a:r>
              <a:rPr lang="en-US" sz="1300" dirty="0">
                <a:solidFill>
                  <a:schemeClr val="tx2"/>
                </a:solidFill>
              </a:rPr>
              <a:t>A resolver per region, both in every forwarder</a:t>
            </a:r>
            <a:endParaRPr lang="en-US" sz="1400" dirty="0"/>
          </a:p>
        </p:txBody>
      </p:sp>
      <p:sp>
        <p:nvSpPr>
          <p:cNvPr id="11" name="IPAM">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AddressBoo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81905"/>
            <a:ext cx="380390" cy="380390"/>
          </a:xfrm>
          <a:prstGeom prst="rect">
            <a:avLst/>
          </a:prstGeom>
        </p:spPr>
      </p:pic>
      <p:sp>
        <p:nvSpPr>
          <p:cNvPr id="14" name="IPAM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IPAM is the authority for address blocks: </a:t>
            </a:r>
            <a:r>
              <a:rPr lang="en-US" sz="1650" dirty="0">
                <a:solidFill>
                  <a:schemeClr val="tx2"/>
                </a:solidFill>
              </a:rPr>
              <a:t>AWS VPC IPAM can allocate from an external IPAM in commercial Regions, not GovCloud; on Azure and Google Cloud, mirror the reservations and reconcile. Names and addresses need the same plane.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Private Endpoint DNS integration and zone values, DNS Private Resolver, endpoints and rulesets; AWS VPC IPAM. Book 08,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A1FD6FA-7CC1-FEB4-C442-8C8C274C0E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68C544C-A695-4F1B-A5D0-F6B3C2D3F08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710"/>
    </mc:Choice>
    <mc:Fallback>
      <p:transition spd="slow" advTm="69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7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governed path, five decisions that fail silently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Flow 0">
            <a:extLst>
              <a:ext uri="{C183D7F6-B498-43B3-948B-1728B52AA6E4}">
                <adec:decorative xmlns:adec="http://schemas.microsoft.com/office/drawing/2017/decorative" val="1"/>
              </a:ext>
            </a:extLst>
          </p:cNvPr>
          <p:cNvSpPr/>
          <p:nvPr/>
        </p:nvSpPr>
        <p:spPr>
          <a:xfrm>
            <a:off x="548640" y="1371600"/>
            <a:ext cx="2011680" cy="685800"/>
          </a:xfrm>
          <a:prstGeom prst="roundRect">
            <a:avLst>
              <a:gd name="adj" fmla="val 10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Flow 0 text"/>
          <p:cNvSpPr txBox="1"/>
          <p:nvPr/>
        </p:nvSpPr>
        <p:spPr>
          <a:xfrm>
            <a:off x="621792" y="1371600"/>
            <a:ext cx="1865376" cy="685800"/>
          </a:xfrm>
          <a:prstGeom prst="rect">
            <a:avLst/>
          </a:prstGeom>
          <a:noFill/>
          <a:ln/>
        </p:spPr>
        <p:txBody>
          <a:bodyPr wrap="square" lIns="0" tIns="0" rIns="0" bIns="0" rtlCol="0" anchor="ctr"/>
          <a:lstStyle/>
          <a:p>
            <a:pPr marL="0" indent="0" algn="ctr">
              <a:buNone/>
            </a:pPr>
            <a:r>
              <a:rPr lang="en-US" sz="1400" b="1" dirty="0">
                <a:solidFill>
                  <a:srgbClr val="1F2A44"/>
                </a:solidFill>
              </a:rPr>
              <a:t>Branch client</a:t>
            </a:r>
            <a:endParaRPr lang="en-US" sz="1400" dirty="0"/>
          </a:p>
        </p:txBody>
      </p:sp>
      <p:sp>
        <p:nvSpPr>
          <p:cNvPr id="7" name="Flow arrow 0"/>
          <p:cNvSpPr txBox="1"/>
          <p:nvPr/>
        </p:nvSpPr>
        <p:spPr>
          <a:xfrm>
            <a:off x="2560320" y="1371600"/>
            <a:ext cx="274320" cy="685800"/>
          </a:xfrm>
          <a:prstGeom prst="rect">
            <a:avLst/>
          </a:prstGeom>
          <a:noFill/>
          <a:ln/>
        </p:spPr>
        <p:txBody>
          <a:bodyPr wrap="square" lIns="0" tIns="0" rIns="0" bIns="0" rtlCol="0" anchor="ctr"/>
          <a:lstStyle/>
          <a:p>
            <a:pPr marL="0" indent="0" algn="ctr">
              <a:buNone/>
            </a:pPr>
            <a:r>
              <a:rPr lang="en-US" sz="2800" b="1" dirty="0">
                <a:solidFill>
                  <a:srgbClr val="64748B"/>
                </a:solidFill>
              </a:rPr>
              <a:t>›</a:t>
            </a:r>
            <a:endParaRPr lang="en-US" sz="2800" dirty="0"/>
          </a:p>
        </p:txBody>
      </p:sp>
      <p:sp>
        <p:nvSpPr>
          <p:cNvPr id="8" name="Flow 1">
            <a:extLst>
              <a:ext uri="{C183D7F6-B498-43B3-948B-1728B52AA6E4}">
                <adec:decorative xmlns:adec="http://schemas.microsoft.com/office/drawing/2017/decorative" val="1"/>
              </a:ext>
            </a:extLst>
          </p:cNvPr>
          <p:cNvSpPr/>
          <p:nvPr/>
        </p:nvSpPr>
        <p:spPr>
          <a:xfrm>
            <a:off x="2825496" y="1371600"/>
            <a:ext cx="2011680" cy="685800"/>
          </a:xfrm>
          <a:prstGeom prst="roundRect">
            <a:avLst>
              <a:gd name="adj" fmla="val 10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9" name="Flow 1 text"/>
          <p:cNvSpPr txBox="1"/>
          <p:nvPr/>
        </p:nvSpPr>
        <p:spPr>
          <a:xfrm>
            <a:off x="2898648" y="1371600"/>
            <a:ext cx="1865376" cy="685800"/>
          </a:xfrm>
          <a:prstGeom prst="rect">
            <a:avLst/>
          </a:prstGeom>
          <a:noFill/>
          <a:ln/>
        </p:spPr>
        <p:txBody>
          <a:bodyPr wrap="square" lIns="0" tIns="0" rIns="0" bIns="0" rtlCol="0" anchor="ctr"/>
          <a:lstStyle/>
          <a:p>
            <a:pPr marL="0" indent="0" algn="ctr">
              <a:buNone/>
            </a:pPr>
            <a:r>
              <a:rPr lang="en-US" sz="1400" b="1" dirty="0">
                <a:solidFill>
                  <a:srgbClr val="1F2A44"/>
                </a:solidFill>
              </a:rPr>
              <a:t>SD-WAN edge</a:t>
            </a:r>
            <a:endParaRPr lang="en-US" sz="1400" dirty="0"/>
          </a:p>
        </p:txBody>
      </p:sp>
      <p:sp>
        <p:nvSpPr>
          <p:cNvPr id="10" name="Flow arrow 1"/>
          <p:cNvSpPr txBox="1"/>
          <p:nvPr/>
        </p:nvSpPr>
        <p:spPr>
          <a:xfrm>
            <a:off x="4837176" y="1371600"/>
            <a:ext cx="274320" cy="685800"/>
          </a:xfrm>
          <a:prstGeom prst="rect">
            <a:avLst/>
          </a:prstGeom>
          <a:noFill/>
          <a:ln/>
        </p:spPr>
        <p:txBody>
          <a:bodyPr wrap="square" lIns="0" tIns="0" rIns="0" bIns="0" rtlCol="0" anchor="ctr"/>
          <a:lstStyle/>
          <a:p>
            <a:pPr marL="0" indent="0" algn="ctr">
              <a:buNone/>
            </a:pPr>
            <a:r>
              <a:rPr lang="en-US" sz="2800" b="1" dirty="0">
                <a:solidFill>
                  <a:srgbClr val="64748B"/>
                </a:solidFill>
              </a:rPr>
              <a:t>›</a:t>
            </a:r>
            <a:endParaRPr lang="en-US" sz="2800" dirty="0"/>
          </a:p>
        </p:txBody>
      </p:sp>
      <p:sp>
        <p:nvSpPr>
          <p:cNvPr id="11" name="Flow 2">
            <a:extLst>
              <a:ext uri="{C183D7F6-B498-43B3-948B-1728B52AA6E4}">
                <adec:decorative xmlns:adec="http://schemas.microsoft.com/office/drawing/2017/decorative" val="1"/>
              </a:ext>
            </a:extLst>
          </p:cNvPr>
          <p:cNvSpPr/>
          <p:nvPr/>
        </p:nvSpPr>
        <p:spPr>
          <a:xfrm>
            <a:off x="5102352" y="1371600"/>
            <a:ext cx="2011680" cy="685800"/>
          </a:xfrm>
          <a:prstGeom prst="roundRect">
            <a:avLst>
              <a:gd name="adj" fmla="val 10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Flow 2 text"/>
          <p:cNvSpPr txBox="1"/>
          <p:nvPr/>
        </p:nvSpPr>
        <p:spPr>
          <a:xfrm>
            <a:off x="5175504" y="1371600"/>
            <a:ext cx="1865376" cy="685800"/>
          </a:xfrm>
          <a:prstGeom prst="rect">
            <a:avLst/>
          </a:prstGeom>
          <a:noFill/>
          <a:ln/>
        </p:spPr>
        <p:txBody>
          <a:bodyPr wrap="square" lIns="0" tIns="0" rIns="0" bIns="0" rtlCol="0" anchor="ctr"/>
          <a:lstStyle/>
          <a:p>
            <a:pPr marL="0" indent="0" algn="ctr">
              <a:buNone/>
            </a:pPr>
            <a:r>
              <a:rPr lang="en-US" sz="1400" b="1" dirty="0">
                <a:solidFill>
                  <a:srgbClr val="1F2A44"/>
                </a:solidFill>
              </a:rPr>
              <a:t>Agency resolver</a:t>
            </a:r>
            <a:endParaRPr lang="en-US" sz="1400" dirty="0"/>
          </a:p>
        </p:txBody>
      </p:sp>
      <p:sp>
        <p:nvSpPr>
          <p:cNvPr id="13" name="Flow arrow 2"/>
          <p:cNvSpPr txBox="1"/>
          <p:nvPr/>
        </p:nvSpPr>
        <p:spPr>
          <a:xfrm>
            <a:off x="7114032" y="1371600"/>
            <a:ext cx="274320" cy="685800"/>
          </a:xfrm>
          <a:prstGeom prst="rect">
            <a:avLst/>
          </a:prstGeom>
          <a:noFill/>
          <a:ln/>
        </p:spPr>
        <p:txBody>
          <a:bodyPr wrap="square" lIns="0" tIns="0" rIns="0" bIns="0" rtlCol="0" anchor="ctr"/>
          <a:lstStyle/>
          <a:p>
            <a:pPr marL="0" indent="0" algn="ctr">
              <a:buNone/>
            </a:pPr>
            <a:r>
              <a:rPr lang="en-US" sz="2800" b="1" dirty="0">
                <a:solidFill>
                  <a:srgbClr val="64748B"/>
                </a:solidFill>
              </a:rPr>
              <a:t>›</a:t>
            </a:r>
            <a:endParaRPr lang="en-US" sz="2800" dirty="0"/>
          </a:p>
        </p:txBody>
      </p:sp>
      <p:sp>
        <p:nvSpPr>
          <p:cNvPr id="14" name="Flow 3">
            <a:extLst>
              <a:ext uri="{C183D7F6-B498-43B3-948B-1728B52AA6E4}">
                <adec:decorative xmlns:adec="http://schemas.microsoft.com/office/drawing/2017/decorative" val="1"/>
              </a:ext>
            </a:extLst>
          </p:cNvPr>
          <p:cNvSpPr/>
          <p:nvPr/>
        </p:nvSpPr>
        <p:spPr>
          <a:xfrm>
            <a:off x="7379208" y="1371600"/>
            <a:ext cx="2011680" cy="685800"/>
          </a:xfrm>
          <a:prstGeom prst="roundRect">
            <a:avLst>
              <a:gd name="adj" fmla="val 10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Flow 3 text"/>
          <p:cNvSpPr txBox="1"/>
          <p:nvPr/>
        </p:nvSpPr>
        <p:spPr>
          <a:xfrm>
            <a:off x="7452360" y="1371600"/>
            <a:ext cx="1865376" cy="685800"/>
          </a:xfrm>
          <a:prstGeom prst="rect">
            <a:avLst/>
          </a:prstGeom>
          <a:noFill/>
          <a:ln/>
        </p:spPr>
        <p:txBody>
          <a:bodyPr wrap="square" lIns="0" tIns="0" rIns="0" bIns="0" rtlCol="0" anchor="ctr"/>
          <a:lstStyle/>
          <a:p>
            <a:pPr marL="0" indent="0" algn="ctr">
              <a:buNone/>
            </a:pPr>
            <a:r>
              <a:rPr lang="en-US" sz="1400" b="1" dirty="0">
                <a:solidFill>
                  <a:srgbClr val="1F2A44"/>
                </a:solidFill>
              </a:rPr>
              <a:t>DDI policy plane</a:t>
            </a:r>
            <a:endParaRPr lang="en-US" sz="1400" dirty="0"/>
          </a:p>
        </p:txBody>
      </p:sp>
      <p:sp>
        <p:nvSpPr>
          <p:cNvPr id="16" name="Flow arrow 3"/>
          <p:cNvSpPr txBox="1"/>
          <p:nvPr/>
        </p:nvSpPr>
        <p:spPr>
          <a:xfrm>
            <a:off x="9390888" y="1371600"/>
            <a:ext cx="274320" cy="685800"/>
          </a:xfrm>
          <a:prstGeom prst="rect">
            <a:avLst/>
          </a:prstGeom>
          <a:noFill/>
          <a:ln/>
        </p:spPr>
        <p:txBody>
          <a:bodyPr wrap="square" lIns="0" tIns="0" rIns="0" bIns="0" rtlCol="0" anchor="ctr"/>
          <a:lstStyle/>
          <a:p>
            <a:pPr marL="0" indent="0" algn="ctr">
              <a:buNone/>
            </a:pPr>
            <a:r>
              <a:rPr lang="en-US" sz="2800" b="1" dirty="0">
                <a:solidFill>
                  <a:srgbClr val="64748B"/>
                </a:solidFill>
              </a:rPr>
              <a:t>›</a:t>
            </a:r>
            <a:endParaRPr lang="en-US" sz="2800" dirty="0"/>
          </a:p>
        </p:txBody>
      </p:sp>
      <p:sp>
        <p:nvSpPr>
          <p:cNvPr id="17" name="Flow 4">
            <a:extLst>
              <a:ext uri="{C183D7F6-B498-43B3-948B-1728B52AA6E4}">
                <adec:decorative xmlns:adec="http://schemas.microsoft.com/office/drawing/2017/decorative" val="1"/>
              </a:ext>
            </a:extLst>
          </p:cNvPr>
          <p:cNvSpPr/>
          <p:nvPr/>
        </p:nvSpPr>
        <p:spPr>
          <a:xfrm>
            <a:off x="9656064" y="1371600"/>
            <a:ext cx="2011680" cy="685800"/>
          </a:xfrm>
          <a:prstGeom prst="roundRect">
            <a:avLst>
              <a:gd name="adj" fmla="val 10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8" name="Flow 4 text"/>
          <p:cNvSpPr txBox="1"/>
          <p:nvPr/>
        </p:nvSpPr>
        <p:spPr>
          <a:xfrm>
            <a:off x="9729216" y="1371600"/>
            <a:ext cx="1865376" cy="685800"/>
          </a:xfrm>
          <a:prstGeom prst="rect">
            <a:avLst/>
          </a:prstGeom>
          <a:noFill/>
          <a:ln/>
        </p:spPr>
        <p:txBody>
          <a:bodyPr wrap="square" lIns="0" tIns="0" rIns="0" bIns="0" rtlCol="0" anchor="ctr"/>
          <a:lstStyle/>
          <a:p>
            <a:pPr marL="0" indent="0" algn="ctr">
              <a:buNone/>
            </a:pPr>
            <a:r>
              <a:rPr lang="en-US" sz="1400" b="1" dirty="0">
                <a:solidFill>
                  <a:srgbClr val="1F2A44"/>
                </a:solidFill>
              </a:rPr>
              <a:t>Cloud zones · Protective DNS</a:t>
            </a:r>
            <a:endParaRPr lang="en-US" sz="1400" dirty="0"/>
          </a:p>
        </p:txBody>
      </p:sp>
      <p:sp>
        <p:nvSpPr>
          <p:cNvPr id="19" name="Decision 1">
            <a:extLst>
              <a:ext uri="{C183D7F6-B498-43B3-948B-1728B52AA6E4}">
                <adec:decorative xmlns:adec="http://schemas.microsoft.com/office/drawing/2017/decorative" val="1"/>
              </a:ext>
            </a:extLst>
          </p:cNvPr>
          <p:cNvSpPr/>
          <p:nvPr/>
        </p:nvSpPr>
        <p:spPr>
          <a:xfrm>
            <a:off x="548640" y="2286000"/>
            <a:ext cx="2103120" cy="2377440"/>
          </a:xfrm>
          <a:prstGeom prst="roundRect">
            <a:avLst>
              <a:gd name="adj" fmla="val 347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0" name="Decision 1 text"/>
          <p:cNvSpPr txBox="1"/>
          <p:nvPr/>
        </p:nvSpPr>
        <p:spPr>
          <a:xfrm>
            <a:off x="685800" y="2377440"/>
            <a:ext cx="1828800" cy="2194560"/>
          </a:xfrm>
          <a:prstGeom prst="rect">
            <a:avLst/>
          </a:prstGeom>
          <a:noFill/>
          <a:ln/>
        </p:spPr>
        <p:txBody>
          <a:bodyPr wrap="square" lIns="0" tIns="0" rIns="0" bIns="0" rtlCol="0" anchor="t"/>
          <a:lstStyle/>
          <a:p>
            <a:pPr marL="0" indent="0">
              <a:spcAft>
                <a:spcPts val="400"/>
              </a:spcAft>
              <a:buNone/>
            </a:pPr>
            <a:r>
              <a:rPr lang="en-US" sz="2600" b="1" dirty="0">
                <a:solidFill>
                  <a:srgbClr val="B45309"/>
                </a:solidFill>
                <a:latin typeface="Cambria" pitchFamily="34" charset="0"/>
                <a:ea typeface="Cambria" pitchFamily="34" charset="-122"/>
                <a:cs typeface="Cambria" pitchFamily="34" charset="-120"/>
              </a:rPr>
              <a:t>1</a:t>
            </a:r>
            <a:endParaRPr lang="en-US" sz="1400" dirty="0"/>
          </a:p>
          <a:p>
            <a:pPr marL="0" indent="0">
              <a:spcAft>
                <a:spcPts val="400"/>
              </a:spcAft>
              <a:buNone/>
            </a:pPr>
            <a:r>
              <a:rPr lang="en-US" sz="1500" b="1" dirty="0">
                <a:solidFill>
                  <a:srgbClr val="1F2A44"/>
                </a:solidFill>
              </a:rPr>
              <a:t>redirect-dns target</a:t>
            </a:r>
            <a:endParaRPr lang="en-US" sz="1400" dirty="0"/>
          </a:p>
          <a:p>
            <a:pPr marL="0" indent="0">
              <a:spcAft>
                <a:spcPts val="400"/>
              </a:spcAft>
              <a:buNone/>
            </a:pPr>
            <a:r>
              <a:rPr lang="en-US" sz="1300" dirty="0">
                <a:solidFill>
                  <a:schemeClr val="tx2"/>
                </a:solidFill>
              </a:rPr>
              <a:t>A network-addressable agency resolver, never a loopback agent</a:t>
            </a:r>
            <a:endParaRPr lang="en-US" sz="1400" dirty="0"/>
          </a:p>
        </p:txBody>
      </p:sp>
      <p:sp>
        <p:nvSpPr>
          <p:cNvPr id="21" name="Decision 2">
            <a:extLst>
              <a:ext uri="{C183D7F6-B498-43B3-948B-1728B52AA6E4}">
                <adec:decorative xmlns:adec="http://schemas.microsoft.com/office/drawing/2017/decorative" val="1"/>
              </a:ext>
            </a:extLst>
          </p:cNvPr>
          <p:cNvSpPr/>
          <p:nvPr/>
        </p:nvSpPr>
        <p:spPr>
          <a:xfrm>
            <a:off x="2800350" y="2286000"/>
            <a:ext cx="2103120" cy="2377440"/>
          </a:xfrm>
          <a:prstGeom prst="roundRect">
            <a:avLst>
              <a:gd name="adj" fmla="val 347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2" name="Decision 2 text"/>
          <p:cNvSpPr txBox="1"/>
          <p:nvPr/>
        </p:nvSpPr>
        <p:spPr>
          <a:xfrm>
            <a:off x="2937510" y="2377440"/>
            <a:ext cx="1828800" cy="2194560"/>
          </a:xfrm>
          <a:prstGeom prst="rect">
            <a:avLst/>
          </a:prstGeom>
          <a:noFill/>
          <a:ln/>
        </p:spPr>
        <p:txBody>
          <a:bodyPr wrap="square" lIns="0" tIns="0" rIns="0" bIns="0" rtlCol="0" anchor="t"/>
          <a:lstStyle/>
          <a:p>
            <a:pPr marL="0" indent="0">
              <a:spcAft>
                <a:spcPts val="400"/>
              </a:spcAft>
              <a:buNone/>
            </a:pPr>
            <a:r>
              <a:rPr lang="en-US" sz="2600" b="1" dirty="0">
                <a:solidFill>
                  <a:srgbClr val="B45309"/>
                </a:solidFill>
                <a:latin typeface="Cambria" pitchFamily="34" charset="0"/>
                <a:ea typeface="Cambria" pitchFamily="34" charset="-122"/>
                <a:cs typeface="Cambria" pitchFamily="34" charset="-120"/>
              </a:rPr>
              <a:t>2</a:t>
            </a:r>
            <a:endParaRPr lang="en-US" sz="1400" dirty="0"/>
          </a:p>
          <a:p>
            <a:pPr marL="0" indent="0">
              <a:spcAft>
                <a:spcPts val="400"/>
              </a:spcAft>
              <a:buNone/>
            </a:pPr>
            <a:r>
              <a:rPr lang="en-US" sz="1500" b="1" dirty="0">
                <a:solidFill>
                  <a:srgbClr val="1F2A44"/>
                </a:solidFill>
              </a:rPr>
              <a:t>Chain order</a:t>
            </a:r>
            <a:endParaRPr lang="en-US" sz="1400" dirty="0"/>
          </a:p>
          <a:p>
            <a:pPr marL="0" indent="0">
              <a:spcAft>
                <a:spcPts val="400"/>
              </a:spcAft>
              <a:buNone/>
            </a:pPr>
            <a:r>
              <a:rPr lang="en-US" sz="1300" dirty="0">
                <a:solidFill>
                  <a:schemeClr val="tx2"/>
                </a:solidFill>
              </a:rPr>
              <a:t>The agency resolver first; SASE and others are its forwarders</a:t>
            </a:r>
            <a:endParaRPr lang="en-US" sz="1400" dirty="0"/>
          </a:p>
        </p:txBody>
      </p:sp>
      <p:sp>
        <p:nvSpPr>
          <p:cNvPr id="23" name="Decision 3">
            <a:extLst>
              <a:ext uri="{C183D7F6-B498-43B3-948B-1728B52AA6E4}">
                <adec:decorative xmlns:adec="http://schemas.microsoft.com/office/drawing/2017/decorative" val="1"/>
              </a:ext>
            </a:extLst>
          </p:cNvPr>
          <p:cNvSpPr/>
          <p:nvPr/>
        </p:nvSpPr>
        <p:spPr>
          <a:xfrm>
            <a:off x="5052060" y="2286000"/>
            <a:ext cx="2103120" cy="2377440"/>
          </a:xfrm>
          <a:prstGeom prst="roundRect">
            <a:avLst>
              <a:gd name="adj" fmla="val 347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4" name="Decision 3 text"/>
          <p:cNvSpPr txBox="1"/>
          <p:nvPr/>
        </p:nvSpPr>
        <p:spPr>
          <a:xfrm>
            <a:off x="5189220" y="2377440"/>
            <a:ext cx="1828800" cy="2194560"/>
          </a:xfrm>
          <a:prstGeom prst="rect">
            <a:avLst/>
          </a:prstGeom>
          <a:noFill/>
          <a:ln/>
        </p:spPr>
        <p:txBody>
          <a:bodyPr wrap="square" lIns="0" tIns="0" rIns="0" bIns="0" rtlCol="0" anchor="t"/>
          <a:lstStyle/>
          <a:p>
            <a:pPr marL="0" indent="0">
              <a:spcAft>
                <a:spcPts val="400"/>
              </a:spcAft>
              <a:buNone/>
            </a:pPr>
            <a:r>
              <a:rPr lang="en-US" sz="2600" b="1" dirty="0">
                <a:solidFill>
                  <a:srgbClr val="B45309"/>
                </a:solidFill>
                <a:latin typeface="Cambria" pitchFamily="34" charset="0"/>
                <a:ea typeface="Cambria" pitchFamily="34" charset="-122"/>
                <a:cs typeface="Cambria" pitchFamily="34" charset="-120"/>
              </a:rPr>
              <a:t>3</a:t>
            </a:r>
            <a:endParaRPr lang="en-US" sz="1400" dirty="0"/>
          </a:p>
          <a:p>
            <a:pPr marL="0" indent="0">
              <a:spcAft>
                <a:spcPts val="400"/>
              </a:spcAft>
              <a:buNone/>
            </a:pPr>
            <a:r>
              <a:rPr lang="en-US" sz="1500" b="1" dirty="0">
                <a:solidFill>
                  <a:srgbClr val="1F2A44"/>
                </a:solidFill>
              </a:rPr>
              <a:t>Cloud forwarding</a:t>
            </a:r>
            <a:endParaRPr lang="en-US" sz="1400" dirty="0"/>
          </a:p>
          <a:p>
            <a:pPr marL="0" indent="0">
              <a:spcAft>
                <a:spcPts val="400"/>
              </a:spcAft>
              <a:buNone/>
            </a:pPr>
            <a:r>
              <a:rPr lang="en-US" sz="1300" dirty="0">
                <a:solidFill>
                  <a:schemeClr val="tx2"/>
                </a:solidFill>
              </a:rPr>
              <a:t>The plane holds every per-cloud rule, pushed to every resolver</a:t>
            </a:r>
            <a:endParaRPr lang="en-US" sz="1400" dirty="0"/>
          </a:p>
        </p:txBody>
      </p:sp>
      <p:sp>
        <p:nvSpPr>
          <p:cNvPr id="25" name="Decision 4">
            <a:extLst>
              <a:ext uri="{C183D7F6-B498-43B3-948B-1728B52AA6E4}">
                <adec:decorative xmlns:adec="http://schemas.microsoft.com/office/drawing/2017/decorative" val="1"/>
              </a:ext>
            </a:extLst>
          </p:cNvPr>
          <p:cNvSpPr/>
          <p:nvPr/>
        </p:nvSpPr>
        <p:spPr>
          <a:xfrm>
            <a:off x="7303770" y="2286000"/>
            <a:ext cx="2103120" cy="2377440"/>
          </a:xfrm>
          <a:prstGeom prst="roundRect">
            <a:avLst>
              <a:gd name="adj" fmla="val 347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6" name="Decision 4 text"/>
          <p:cNvSpPr txBox="1"/>
          <p:nvPr/>
        </p:nvSpPr>
        <p:spPr>
          <a:xfrm>
            <a:off x="7440930" y="2377440"/>
            <a:ext cx="1828800" cy="2194560"/>
          </a:xfrm>
          <a:prstGeom prst="rect">
            <a:avLst/>
          </a:prstGeom>
          <a:noFill/>
          <a:ln/>
        </p:spPr>
        <p:txBody>
          <a:bodyPr wrap="square" lIns="0" tIns="0" rIns="0" bIns="0" rtlCol="0" anchor="t"/>
          <a:lstStyle/>
          <a:p>
            <a:pPr marL="0" indent="0">
              <a:spcAft>
                <a:spcPts val="400"/>
              </a:spcAft>
              <a:buNone/>
            </a:pPr>
            <a:r>
              <a:rPr lang="en-US" sz="2600" b="1" dirty="0">
                <a:solidFill>
                  <a:srgbClr val="B45309"/>
                </a:solidFill>
                <a:latin typeface="Cambria" pitchFamily="34" charset="0"/>
                <a:ea typeface="Cambria" pitchFamily="34" charset="-122"/>
                <a:cs typeface="Cambria" pitchFamily="34" charset="-120"/>
              </a:rPr>
              <a:t>4</a:t>
            </a:r>
            <a:endParaRPr lang="en-US" sz="1400" dirty="0"/>
          </a:p>
          <a:p>
            <a:pPr marL="0" indent="0">
              <a:spcAft>
                <a:spcPts val="400"/>
              </a:spcAft>
              <a:buNone/>
            </a:pPr>
            <a:r>
              <a:rPr lang="en-US" sz="1500" b="1" dirty="0">
                <a:solidFill>
                  <a:srgbClr val="1F2A44"/>
                </a:solidFill>
              </a:rPr>
              <a:t>AD DNS inventory</a:t>
            </a:r>
            <a:endParaRPr lang="en-US" sz="1400" dirty="0"/>
          </a:p>
          <a:p>
            <a:pPr marL="0" indent="0">
              <a:spcAft>
                <a:spcPts val="400"/>
              </a:spcAft>
              <a:buNone/>
            </a:pPr>
            <a:r>
              <a:rPr lang="en-US" sz="1300" dirty="0">
                <a:solidFill>
                  <a:schemeClr val="tx2"/>
                </a:solidFill>
              </a:rPr>
              <a:t>Reconciled before any domain controller goes</a:t>
            </a:r>
            <a:endParaRPr lang="en-US" sz="1400" dirty="0"/>
          </a:p>
        </p:txBody>
      </p:sp>
      <p:sp>
        <p:nvSpPr>
          <p:cNvPr id="27" name="Decision 5">
            <a:extLst>
              <a:ext uri="{C183D7F6-B498-43B3-948B-1728B52AA6E4}">
                <adec:decorative xmlns:adec="http://schemas.microsoft.com/office/drawing/2017/decorative" val="1"/>
              </a:ext>
            </a:extLst>
          </p:cNvPr>
          <p:cNvSpPr/>
          <p:nvPr/>
        </p:nvSpPr>
        <p:spPr>
          <a:xfrm>
            <a:off x="9555480" y="2286000"/>
            <a:ext cx="2103120" cy="2377440"/>
          </a:xfrm>
          <a:prstGeom prst="roundRect">
            <a:avLst>
              <a:gd name="adj" fmla="val 347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8" name="Decision 5 text"/>
          <p:cNvSpPr txBox="1"/>
          <p:nvPr/>
        </p:nvSpPr>
        <p:spPr>
          <a:xfrm>
            <a:off x="9692640" y="2377440"/>
            <a:ext cx="1828800" cy="2194560"/>
          </a:xfrm>
          <a:prstGeom prst="rect">
            <a:avLst/>
          </a:prstGeom>
          <a:noFill/>
          <a:ln/>
        </p:spPr>
        <p:txBody>
          <a:bodyPr wrap="square" lIns="0" tIns="0" rIns="0" bIns="0" rtlCol="0" anchor="t"/>
          <a:lstStyle/>
          <a:p>
            <a:pPr marL="0" indent="0">
              <a:spcAft>
                <a:spcPts val="400"/>
              </a:spcAft>
              <a:buNone/>
            </a:pPr>
            <a:r>
              <a:rPr lang="en-US" sz="2600" b="1" dirty="0">
                <a:solidFill>
                  <a:srgbClr val="B45309"/>
                </a:solidFill>
                <a:latin typeface="Cambria" pitchFamily="34" charset="0"/>
                <a:ea typeface="Cambria" pitchFamily="34" charset="-122"/>
                <a:cs typeface="Cambria" pitchFamily="34" charset="-120"/>
              </a:rPr>
              <a:t>5</a:t>
            </a:r>
            <a:endParaRPr lang="en-US" sz="1400" dirty="0"/>
          </a:p>
          <a:p>
            <a:pPr marL="0" indent="0">
              <a:spcAft>
                <a:spcPts val="400"/>
              </a:spcAft>
              <a:buNone/>
            </a:pPr>
            <a:r>
              <a:rPr lang="en-US" sz="1500" b="1" dirty="0">
                <a:solidFill>
                  <a:srgbClr val="1F2A44"/>
                </a:solidFill>
              </a:rPr>
              <a:t>OCSP and CRL</a:t>
            </a:r>
            <a:endParaRPr lang="en-US" sz="1400" dirty="0"/>
          </a:p>
          <a:p>
            <a:pPr marL="0" indent="0">
              <a:spcAft>
                <a:spcPts val="400"/>
              </a:spcAft>
              <a:buNone/>
            </a:pPr>
            <a:r>
              <a:rPr lang="en-US" sz="1300" dirty="0">
                <a:solidFill>
                  <a:schemeClr val="tx2"/>
                </a:solidFill>
              </a:rPr>
              <a:t>Resolve from on-premises, every cloud and every branch</a:t>
            </a:r>
            <a:endParaRPr lang="en-US" sz="1400" dirty="0"/>
          </a:p>
        </p:txBody>
      </p:sp>
      <p:sp>
        <p:nvSpPr>
          <p:cNvPr id="29" name="Check">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30" name="Icon FaClipboard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3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32" name="Check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Each fails silently: </a:t>
            </a:r>
            <a:r>
              <a:rPr lang="en-US" sz="1650" dirty="0">
                <a:solidFill>
                  <a:schemeClr val="tx2"/>
                </a:solidFill>
              </a:rPr>
              <a:t>the query still resolves, just outside policy or to the wrong address. Check each one in the running configuration, not the design document, before the next SD-WAN or DDI change.</a:t>
            </a:r>
            <a:endParaRPr lang="en-US" sz="165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Protective DNS Resolver; Cisco Catalyst SD-WAN redirect DNS; Microsoft Learn — Private Endpoint DNS integration; AWS Route 53. Book 08, Chapter 08.</a:t>
            </a:r>
            <a:endParaRPr lang="en-US" sz="10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35" name="Narration" descr="Narration for this slide; captions available">
            <a:hlinkClick r:id="" action="ppaction://media"/>
            <a:extLst>
              <a:ext uri="{FF2B5EF4-FFF2-40B4-BE49-F238E27FC236}">
                <a16:creationId xmlns:a16="http://schemas.microsoft.com/office/drawing/2014/main" id="{8E3B0069-66AC-D2EF-29AB-EFD5EFB735E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35DB189-4EE7-443D-8606-169A6742D63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140"/>
    </mc:Choice>
    <mc:Fallback>
      <p:transition spd="slow" advTm="64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144"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who does the work for DNS, DHCP and IPAM</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Sponsor and CIO</a:t>
            </a:r>
            <a:endParaRPr lang="en-US" sz="1300" dirty="0"/>
          </a:p>
          <a:p>
            <a:pPr marL="0" indent="0">
              <a:spcAft>
                <a:spcPts val="400"/>
              </a:spcAft>
              <a:buNone/>
            </a:pPr>
            <a:r>
              <a:rPr lang="en-US" sz="1300" dirty="0">
                <a:solidFill>
                  <a:schemeClr val="tx2"/>
                </a:solidFill>
              </a:rPr>
              <a:t>Platform model; AD DNS retirement</a:t>
            </a:r>
            <a:endParaRPr lang="en-US" sz="1300" dirty="0"/>
          </a:p>
          <a:p>
            <a:pPr marL="0" indent="0">
              <a:spcAft>
                <a:spcPts val="400"/>
              </a:spcAft>
              <a:buNone/>
            </a:pPr>
            <a:r>
              <a:rPr lang="en-US" sz="1300" b="1" dirty="0">
                <a:solidFill>
                  <a:srgbClr val="1F2A44"/>
                </a:solidFill>
              </a:rPr>
              <a:t>CISO and ISSO</a:t>
            </a:r>
            <a:endParaRPr lang="en-US" sz="1300" dirty="0"/>
          </a:p>
          <a:p>
            <a:pPr marL="0" indent="0">
              <a:spcAft>
                <a:spcPts val="400"/>
              </a:spcAft>
              <a:buNone/>
            </a:pPr>
            <a:r>
              <a:rPr lang="en-US" sz="1300" dirty="0">
                <a:solidFill>
                  <a:schemeClr val="tx2"/>
                </a:solidFill>
              </a:rPr>
              <a:t>Resolvers, transports, DNSSEC, logging</a:t>
            </a:r>
            <a:endParaRPr lang="en-US" sz="1300" dirty="0"/>
          </a:p>
          <a:p>
            <a:pPr marL="0" indent="0">
              <a:spcAft>
                <a:spcPts val="400"/>
              </a:spcAft>
              <a:buNone/>
            </a:pPr>
            <a:r>
              <a:rPr lang="en-US" sz="1300" b="1" dirty="0">
                <a:solidFill>
                  <a:srgbClr val="1F2A44"/>
                </a:solidFill>
              </a:rPr>
              <a:t>Authorizing official</a:t>
            </a:r>
            <a:endParaRPr lang="en-US" sz="1300" dirty="0"/>
          </a:p>
          <a:p>
            <a:pPr marL="0" indent="0">
              <a:spcAft>
                <a:spcPts val="400"/>
              </a:spcAft>
              <a:buNone/>
            </a:pPr>
            <a:r>
              <a:rPr lang="en-US" sz="1300" dirty="0">
                <a:solidFill>
                  <a:schemeClr val="tx2"/>
                </a:solidFill>
              </a:rPr>
              <a:t>Cloud plane authorization; exceptions</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Do</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DNS/DDI team</a:t>
            </a:r>
            <a:endParaRPr lang="en-US" sz="1300" dirty="0"/>
          </a:p>
          <a:p>
            <a:pPr marL="0" indent="0">
              <a:spcAft>
                <a:spcPts val="400"/>
              </a:spcAft>
              <a:buNone/>
            </a:pPr>
            <a:r>
              <a:rPr lang="en-US" sz="1300" dirty="0">
                <a:solidFill>
                  <a:schemeClr val="tx2"/>
                </a:solidFill>
              </a:rPr>
              <a:t>Runs the plane; decides edge targets</a:t>
            </a:r>
            <a:endParaRPr lang="en-US" sz="1300" dirty="0"/>
          </a:p>
          <a:p>
            <a:pPr marL="0" indent="0">
              <a:spcAft>
                <a:spcPts val="400"/>
              </a:spcAft>
              <a:buNone/>
            </a:pPr>
            <a:r>
              <a:rPr lang="en-US" sz="1300" b="1" dirty="0">
                <a:solidFill>
                  <a:srgbClr val="0F766E"/>
                </a:solidFill>
              </a:rPr>
              <a:t>Network engineering</a:t>
            </a:r>
            <a:endParaRPr lang="en-US" sz="1300" dirty="0"/>
          </a:p>
          <a:p>
            <a:pPr marL="0" indent="0">
              <a:spcAft>
                <a:spcPts val="400"/>
              </a:spcAft>
              <a:buNone/>
            </a:pPr>
            <a:r>
              <a:rPr lang="en-US" sz="1300" dirty="0">
                <a:solidFill>
                  <a:schemeClr val="tx2"/>
                </a:solidFill>
              </a:rPr>
              <a:t>redirect-dns, DHCP relay, RA Guard</a:t>
            </a:r>
            <a:endParaRPr lang="en-US" sz="1300" dirty="0"/>
          </a:p>
          <a:p>
            <a:pPr marL="0" indent="0">
              <a:spcAft>
                <a:spcPts val="400"/>
              </a:spcAft>
              <a:buNone/>
            </a:pPr>
            <a:r>
              <a:rPr lang="en-US" sz="1300" b="1" dirty="0">
                <a:solidFill>
                  <a:srgbClr val="0F766E"/>
                </a:solidFill>
              </a:rPr>
              <a:t>AD admins and cloud teams</a:t>
            </a:r>
            <a:endParaRPr lang="en-US" sz="1300" dirty="0"/>
          </a:p>
          <a:p>
            <a:pPr marL="0" indent="0">
              <a:spcAft>
                <a:spcPts val="400"/>
              </a:spcAft>
              <a:buNone/>
            </a:pPr>
            <a:r>
              <a:rPr lang="en-US" sz="1300" dirty="0">
                <a:solidFill>
                  <a:schemeClr val="tx2"/>
                </a:solidFill>
              </a:rPr>
              <a:t>AD inventory; cloud DNS as consumers</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PeopleArrows">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Consulted and support</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Security operations</a:t>
            </a:r>
            <a:endParaRPr lang="en-US" sz="1300" dirty="0"/>
          </a:p>
          <a:p>
            <a:pPr marL="0" indent="0">
              <a:spcAft>
                <a:spcPts val="400"/>
              </a:spcAft>
              <a:buNone/>
            </a:pPr>
            <a:r>
              <a:rPr lang="en-US" sz="1300" dirty="0">
                <a:solidFill>
                  <a:schemeClr val="tx2"/>
                </a:solidFill>
              </a:rPr>
              <a:t>Protective DNS alerts, RPZ hits, logs</a:t>
            </a:r>
            <a:endParaRPr lang="en-US" sz="1300" dirty="0"/>
          </a:p>
          <a:p>
            <a:pPr marL="0" indent="0">
              <a:spcAft>
                <a:spcPts val="400"/>
              </a:spcAft>
              <a:buNone/>
            </a:pPr>
            <a:r>
              <a:rPr lang="en-US" sz="1300" b="1" dirty="0">
                <a:solidFill>
                  <a:srgbClr val="B45309"/>
                </a:solidFill>
              </a:rPr>
              <a:t>Application owners</a:t>
            </a:r>
            <a:endParaRPr lang="en-US" sz="1300" dirty="0"/>
          </a:p>
          <a:p>
            <a:pPr marL="0" indent="0">
              <a:spcAft>
                <a:spcPts val="400"/>
              </a:spcAft>
              <a:buNone/>
            </a:pPr>
            <a:r>
              <a:rPr lang="en-US" sz="1300" dirty="0">
                <a:solidFill>
                  <a:schemeClr val="tx2"/>
                </a:solidFill>
              </a:rPr>
              <a:t>Request names; accept cutover windows</a:t>
            </a:r>
            <a:endParaRPr lang="en-US" sz="1300" dirty="0"/>
          </a:p>
          <a:p>
            <a:pPr marL="0" indent="0">
              <a:spcAft>
                <a:spcPts val="400"/>
              </a:spcAft>
              <a:buNone/>
            </a:pPr>
            <a:r>
              <a:rPr lang="en-US" sz="1300" b="1" dirty="0">
                <a:solidFill>
                  <a:srgbClr val="B45309"/>
                </a:solidFill>
              </a:rPr>
              <a:t>Help desk</a:t>
            </a:r>
            <a:endParaRPr lang="en-US" sz="1300" dirty="0"/>
          </a:p>
          <a:p>
            <a:pPr marL="0" indent="0">
              <a:spcAft>
                <a:spcPts val="400"/>
              </a:spcAft>
              <a:buNone/>
            </a:pPr>
            <a:r>
              <a:rPr lang="en-US" sz="1300" dirty="0">
                <a:solidFill>
                  <a:schemeClr val="tx2"/>
                </a:solidFill>
              </a:rPr>
              <a:t>Auditor role and runbooks; no writes</a:t>
            </a:r>
            <a:endParaRPr lang="en-US" sz="1300" dirty="0"/>
          </a:p>
        </p:txBody>
      </p:sp>
      <p:sp>
        <p:nvSpPr>
          <p:cNvPr id="20" name="Classes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THREE CLASSES OF RECORD CHANGE, AND WHO APPROVES EACH</a:t>
            </a:r>
            <a:endParaRPr lang="en-US" sz="1200" dirty="0"/>
          </a:p>
        </p:txBody>
      </p:sp>
      <p:sp>
        <p:nvSpPr>
          <p:cNvPr id="21" name="Class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Class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0F766E"/>
                </a:solidFill>
              </a:rPr>
              <a:t>Standard — </a:t>
            </a:r>
            <a:r>
              <a:rPr lang="en-US" sz="1400" dirty="0">
                <a:solidFill>
                  <a:schemeClr val="tx2"/>
                </a:solidFill>
              </a:rPr>
              <a:t>pre-approved: A, AAAA, CNAME and TXT in a delegated namespace, written by a scoped account</a:t>
            </a:r>
            <a:endParaRPr lang="en-US" sz="1400" dirty="0"/>
          </a:p>
        </p:txBody>
      </p:sp>
      <p:sp>
        <p:nvSpPr>
          <p:cNvPr id="23" name="Class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Class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Policy-driven — </a:t>
            </a:r>
            <a:r>
              <a:rPr lang="en-US" sz="1400" dirty="0">
                <a:solidFill>
                  <a:schemeClr val="tx2"/>
                </a:solidFill>
              </a:rPr>
              <a:t>no per-change approval: private endpoint records and DHCP updates; the policy is change-controlled</a:t>
            </a:r>
            <a:endParaRPr lang="en-US" sz="1400" dirty="0"/>
          </a:p>
        </p:txBody>
      </p:sp>
      <p:sp>
        <p:nvSpPr>
          <p:cNvPr id="25" name="Class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Class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High-impact — </a:t>
            </a:r>
            <a:r>
              <a:rPr lang="en-US" sz="1400" dirty="0">
                <a:solidFill>
                  <a:schemeClr val="tx2"/>
                </a:solidFill>
              </a:rPr>
              <a:t>change board: zones, NS and DS, forwarding, SRV, apex, MX, wildcards and response policy</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DNS zones, DnsAdmins, Private Link and DNS at scale; NIST SP 800-37 Rev. 2; OMB M-22-09; CISA. Book 08, Chapter 09.</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11D8A8BA-8F62-238F-D8D4-22653F6AAA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7C2E398-A55D-4B49-A20D-8B61B072E16D}"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8420"/>
    </mc:Choice>
    <mc:Fallback>
      <p:transition spd="slow" advTm="78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742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phases, one cutover loop, rollback at every step</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moves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Closes when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 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Zones, SRV, forwarders, scopes, edge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dated, committed export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 Coexist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New resolvers, sync, two-way forwarding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Both directions resolve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 Migrate authority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Zones, scopes, client waves, the edge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wave clean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 Federate clouds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Discovery, IPAM, private endpoints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origin passes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5 Decommission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AD DNS and Windows DHCP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30 days SRV, 90 parallel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6 Harden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Protective DNS, encrypted DNS, DNSSEC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Evidence checklist done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oop box">
            <a:extLst>
              <a:ext uri="{C183D7F6-B498-43B3-948B-1728B52AA6E4}">
                <adec:decorative xmlns:adec="http://schemas.microsoft.com/office/drawing/2017/decorative" val="1"/>
              </a:ext>
            </a:extLst>
          </p:cNvPr>
          <p:cNvSpPr/>
          <p:nvPr/>
        </p:nvSpPr>
        <p:spPr>
          <a:xfrm>
            <a:off x="8275320" y="1371600"/>
            <a:ext cx="3383280" cy="3108960"/>
          </a:xfrm>
          <a:prstGeom prst="roundRect">
            <a:avLst>
              <a:gd name="adj" fmla="val 235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8503920" y="1536192"/>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5594" y="1667866"/>
            <a:ext cx="285293" cy="285293"/>
          </a:xfrm>
          <a:prstGeom prst="rect">
            <a:avLst/>
          </a:prstGeom>
        </p:spPr>
      </p:pic>
      <p:sp>
        <p:nvSpPr>
          <p:cNvPr id="9" name="Loop head"/>
          <p:cNvSpPr txBox="1"/>
          <p:nvPr/>
        </p:nvSpPr>
        <p:spPr>
          <a:xfrm>
            <a:off x="9189720" y="1536192"/>
            <a:ext cx="237744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The cutover loop</a:t>
            </a:r>
            <a:endParaRPr lang="en-US" sz="1700" dirty="0"/>
          </a:p>
        </p:txBody>
      </p:sp>
      <p:sp>
        <p:nvSpPr>
          <p:cNvPr id="10" name="Loop list"/>
          <p:cNvSpPr txBox="1"/>
          <p:nvPr/>
        </p:nvSpPr>
        <p:spPr>
          <a:xfrm>
            <a:off x="8503920" y="2212848"/>
            <a:ext cx="3017520" cy="22402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TTL to 300 seconds, 48 hours ahead</a:t>
            </a:r>
            <a:endParaRPr lang="en-US" sz="1400" dirty="0"/>
          </a:p>
          <a:p>
            <a:pPr marL="342900" indent="-342900">
              <a:spcAft>
                <a:spcPts val="500"/>
              </a:spcAft>
              <a:buSzPct val="100000"/>
              <a:buChar char="•"/>
            </a:pPr>
            <a:r>
              <a:rPr lang="en-US" sz="1300" dirty="0">
                <a:solidFill>
                  <a:schemeClr val="tx2"/>
                </a:solidFill>
              </a:rPr>
              <a:t>Dry run; skip SOA, apex NS and locator records</a:t>
            </a:r>
            <a:endParaRPr lang="en-US" sz="1400" dirty="0"/>
          </a:p>
          <a:p>
            <a:pPr marL="342900" indent="-342900">
              <a:spcAft>
                <a:spcPts val="500"/>
              </a:spcAft>
              <a:buSzPct val="100000"/>
              <a:buChar char="•"/>
            </a:pPr>
            <a:r>
              <a:rPr lang="en-US" sz="1300" dirty="0">
                <a:solidFill>
                  <a:schemeClr val="tx2"/>
                </a:solidFill>
              </a:rPr>
              <a:t>Validate from every origin</a:t>
            </a:r>
            <a:endParaRPr lang="en-US" sz="1400" dirty="0"/>
          </a:p>
          <a:p>
            <a:pPr marL="342900" indent="-342900">
              <a:spcAft>
                <a:spcPts val="500"/>
              </a:spcAft>
              <a:buSzPct val="100000"/>
              <a:buChar char="•"/>
            </a:pPr>
            <a:r>
              <a:rPr lang="en-US" sz="1300" dirty="0">
                <a:solidFill>
                  <a:schemeClr val="tx2"/>
                </a:solidFill>
              </a:rPr>
              <a:t>Switch, hold and observe</a:t>
            </a:r>
            <a:endParaRPr lang="en-US" sz="1400" dirty="0"/>
          </a:p>
          <a:p>
            <a:pPr marL="342900" indent="-342900">
              <a:spcAft>
                <a:spcPts val="500"/>
              </a:spcAft>
              <a:buSzPct val="100000"/>
              <a:buChar char="•"/>
            </a:pPr>
            <a:r>
              <a:rPr lang="en-US" sz="1300" dirty="0">
                <a:solidFill>
                  <a:schemeClr val="tx2"/>
                </a:solidFill>
              </a:rPr>
              <a:t>The old authority answers until proven</a:t>
            </a:r>
            <a:endParaRPr lang="en-US" sz="1400" dirty="0"/>
          </a:p>
        </p:txBody>
      </p:sp>
      <p:sp>
        <p:nvSpPr>
          <p:cNvPr id="11" name="Rollback">
            <a:extLst>
              <a:ext uri="{C183D7F6-B498-43B3-948B-1728B52AA6E4}">
                <adec:decorative xmlns:adec="http://schemas.microsoft.com/office/drawing/2017/decorative" val="1"/>
              </a:ext>
            </a:extLst>
          </p:cNvPr>
          <p:cNvSpPr/>
          <p:nvPr/>
        </p:nvSpPr>
        <p:spPr>
          <a:xfrm>
            <a:off x="548640" y="4709160"/>
            <a:ext cx="11109960" cy="1234440"/>
          </a:xfrm>
          <a:prstGeom prst="roundRect">
            <a:avLst>
              <a:gd name="adj" fmla="val 5926"/>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5" name="Icon FaTriangleExclamation">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36185"/>
            <a:ext cx="380390" cy="380390"/>
          </a:xfrm>
          <a:prstGeom prst="rect">
            <a:avLst/>
          </a:prstGeom>
        </p:spPr>
      </p:pic>
      <p:sp>
        <p:nvSpPr>
          <p:cNvPr id="14" name="Rollback text"/>
          <p:cNvSpPr txBox="1"/>
          <p:nvPr/>
        </p:nvSpPr>
        <p:spPr>
          <a:xfrm>
            <a:off x="1737360" y="4754880"/>
            <a:ext cx="9738360" cy="1143000"/>
          </a:xfrm>
          <a:prstGeom prst="rect">
            <a:avLst/>
          </a:prstGeom>
          <a:noFill/>
          <a:ln/>
        </p:spPr>
        <p:txBody>
          <a:bodyPr wrap="square" lIns="0" tIns="0" rIns="0" bIns="0" rtlCol="0" anchor="ctr"/>
          <a:lstStyle/>
          <a:p>
            <a:pPr marL="0" indent="0">
              <a:buNone/>
            </a:pPr>
            <a:r>
              <a:rPr lang="en-US" sz="1650" b="1" dirty="0">
                <a:solidFill>
                  <a:srgbClr val="B91C1C"/>
                </a:solidFill>
              </a:rPr>
              <a:t>Unlinking is not a safe rollback: </a:t>
            </a:r>
            <a:r>
              <a:rPr lang="en-US" sz="1650" dirty="0">
                <a:solidFill>
                  <a:schemeClr val="tx2"/>
                </a:solidFill>
              </a:rPr>
              <a:t>removing a VNet link from an Azure Private DNS zone deletes the records autoregistered through it, and Microsoft says they can't be restored. Plan the rollback for those zones before the change.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DnsServer and DhcpServer modules, Azure Private DNS FAQ, Azure DNS FAQ, DNS Private Resolver. Book 08,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D63B5AEC-16E5-F398-E225-4E9E79E17A0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B6AB5AE-D754-41A6-B42D-E568CABC25F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080"/>
    </mc:Choice>
    <mc:Fallback>
      <p:transition spd="slow" advTm="74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30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Operate it as one plane, and keep the evidence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Ops head"/>
          <p:cNvSpPr txBox="1"/>
          <p:nvPr/>
        </p:nvSpPr>
        <p:spPr>
          <a:xfrm>
            <a:off x="548640" y="1371600"/>
            <a:ext cx="5852160" cy="274320"/>
          </a:xfrm>
          <a:prstGeom prst="rect">
            <a:avLst/>
          </a:prstGeom>
          <a:noFill/>
          <a:ln/>
        </p:spPr>
        <p:txBody>
          <a:bodyPr wrap="square" lIns="0" tIns="0" rIns="0" bIns="0" rtlCol="0" anchor="t"/>
          <a:lstStyle/>
          <a:p>
            <a:pPr marL="0" indent="0">
              <a:buNone/>
            </a:pPr>
            <a:r>
              <a:rPr lang="en-US" sz="1200" b="1" dirty="0">
                <a:solidFill>
                  <a:srgbClr val="64748B"/>
                </a:solidFill>
              </a:rPr>
              <a:t>DIVISIONS KEEP AUTONOMY UNDER ONE AUTHORITY</a:t>
            </a:r>
            <a:endParaRPr lang="en-US" sz="1200" dirty="0"/>
          </a:p>
        </p:txBody>
      </p:sp>
      <p:sp>
        <p:nvSpPr>
          <p:cNvPr id="6" name="Icon FaSitemap">
            <a:extLst>
              <a:ext uri="{C183D7F6-B498-43B3-948B-1728B52AA6E4}">
                <adec:decorative xmlns:adec="http://schemas.microsoft.com/office/drawing/2017/decorative" val="1"/>
              </a:ext>
            </a:extLst>
          </p:cNvPr>
          <p:cNvSpPr/>
          <p:nvPr/>
        </p:nvSpPr>
        <p:spPr>
          <a:xfrm>
            <a:off x="548640" y="178308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4703" y="1919143"/>
            <a:ext cx="294803" cy="294803"/>
          </a:xfrm>
          <a:prstGeom prst="rect">
            <a:avLst/>
          </a:prstGeom>
        </p:spPr>
      </p:pic>
      <p:sp>
        <p:nvSpPr>
          <p:cNvPr id="8" name="Op 0"/>
          <p:cNvSpPr txBox="1"/>
          <p:nvPr/>
        </p:nvSpPr>
        <p:spPr>
          <a:xfrm>
            <a:off x="1280160" y="1737360"/>
            <a:ext cx="5120640" cy="914400"/>
          </a:xfrm>
          <a:prstGeom prst="rect">
            <a:avLst/>
          </a:prstGeom>
          <a:noFill/>
          <a:ln/>
        </p:spPr>
        <p:txBody>
          <a:bodyPr wrap="square" lIns="0" tIns="0" rIns="0" bIns="0" rtlCol="0" anchor="t"/>
          <a:lstStyle/>
          <a:p>
            <a:pPr marL="0" indent="0">
              <a:buNone/>
            </a:pPr>
            <a:r>
              <a:rPr lang="en-US" sz="1650" b="1" dirty="0">
                <a:solidFill>
                  <a:srgbClr val="1F2A44"/>
                </a:solidFill>
              </a:rPr>
              <a:t>Scoped delegation</a:t>
            </a:r>
            <a:endParaRPr lang="en-US" sz="1400" dirty="0"/>
          </a:p>
          <a:p>
            <a:pPr marL="0" indent="0">
              <a:buNone/>
            </a:pPr>
            <a:r>
              <a:rPr lang="en-US" sz="1400" dirty="0">
                <a:solidFill>
                  <a:schemeClr val="tx2"/>
                </a:solidFill>
              </a:rPr>
              <a:t>Each division's zones, IP spaces and DHCP scopes, with manager, operator and auditor roles</a:t>
            </a:r>
            <a:endParaRPr lang="en-US" sz="1400" dirty="0"/>
          </a:p>
        </p:txBody>
      </p:sp>
      <p:sp>
        <p:nvSpPr>
          <p:cNvPr id="9" name="Icon FaCodeBranch">
            <a:extLst>
              <a:ext uri="{C183D7F6-B498-43B3-948B-1728B52AA6E4}">
                <adec:decorative xmlns:adec="http://schemas.microsoft.com/office/drawing/2017/decorative" val="1"/>
              </a:ext>
            </a:extLst>
          </p:cNvPr>
          <p:cNvSpPr/>
          <p:nvPr/>
        </p:nvSpPr>
        <p:spPr>
          <a:xfrm>
            <a:off x="548640" y="2770632"/>
            <a:ext cx="566928" cy="566928"/>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4703" y="2906695"/>
            <a:ext cx="294803" cy="294803"/>
          </a:xfrm>
          <a:prstGeom prst="rect">
            <a:avLst/>
          </a:prstGeom>
        </p:spPr>
      </p:pic>
      <p:sp>
        <p:nvSpPr>
          <p:cNvPr id="11" name="Op 1"/>
          <p:cNvSpPr txBox="1"/>
          <p:nvPr/>
        </p:nvSpPr>
        <p:spPr>
          <a:xfrm>
            <a:off x="1280160" y="2724912"/>
            <a:ext cx="5120640" cy="914400"/>
          </a:xfrm>
          <a:prstGeom prst="rect">
            <a:avLst/>
          </a:prstGeom>
          <a:noFill/>
          <a:ln/>
        </p:spPr>
        <p:txBody>
          <a:bodyPr wrap="square" lIns="0" tIns="0" rIns="0" bIns="0" rtlCol="0" anchor="t"/>
          <a:lstStyle/>
          <a:p>
            <a:pPr marL="0" indent="0">
              <a:buNone/>
            </a:pPr>
            <a:r>
              <a:rPr lang="en-US" sz="1650" b="1" dirty="0">
                <a:solidFill>
                  <a:srgbClr val="0F766E"/>
                </a:solidFill>
              </a:rPr>
              <a:t>One API, one audit trail</a:t>
            </a:r>
            <a:endParaRPr lang="en-US" sz="1400" dirty="0"/>
          </a:p>
          <a:p>
            <a:pPr marL="0" indent="0">
              <a:buNone/>
            </a:pPr>
            <a:r>
              <a:rPr lang="en-US" sz="1400" dirty="0">
                <a:solidFill>
                  <a:schemeClr val="tx2"/>
                </a:solidFill>
              </a:rPr>
              <a:t>Automation accounts in the same scopes: infrastructure as code, ITSM, ACME DNS-01</a:t>
            </a:r>
            <a:endParaRPr lang="en-US" sz="1400" dirty="0"/>
          </a:p>
        </p:txBody>
      </p:sp>
      <p:sp>
        <p:nvSpPr>
          <p:cNvPr id="12" name="Icon FaChartLine">
            <a:extLst>
              <a:ext uri="{C183D7F6-B498-43B3-948B-1728B52AA6E4}">
                <adec:decorative xmlns:adec="http://schemas.microsoft.com/office/drawing/2017/decorative" val="1"/>
              </a:ext>
            </a:extLst>
          </p:cNvPr>
          <p:cNvSpPr/>
          <p:nvPr/>
        </p:nvSpPr>
        <p:spPr>
          <a:xfrm>
            <a:off x="548640" y="3758184"/>
            <a:ext cx="566928" cy="566928"/>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4703" y="3894247"/>
            <a:ext cx="294803" cy="294803"/>
          </a:xfrm>
          <a:prstGeom prst="rect">
            <a:avLst/>
          </a:prstGeom>
        </p:spPr>
      </p:pic>
      <p:sp>
        <p:nvSpPr>
          <p:cNvPr id="14" name="Op 2"/>
          <p:cNvSpPr txBox="1"/>
          <p:nvPr/>
        </p:nvSpPr>
        <p:spPr>
          <a:xfrm>
            <a:off x="1280160" y="3712464"/>
            <a:ext cx="5120640" cy="914400"/>
          </a:xfrm>
          <a:prstGeom prst="rect">
            <a:avLst/>
          </a:prstGeom>
          <a:noFill/>
          <a:ln/>
        </p:spPr>
        <p:txBody>
          <a:bodyPr wrap="square" lIns="0" tIns="0" rIns="0" bIns="0" rtlCol="0" anchor="t"/>
          <a:lstStyle/>
          <a:p>
            <a:pPr marL="0" indent="0">
              <a:buNone/>
            </a:pPr>
            <a:r>
              <a:rPr lang="en-US" sz="1650" b="1" dirty="0">
                <a:solidFill>
                  <a:srgbClr val="B45309"/>
                </a:solidFill>
              </a:rPr>
              <a:t>Continuous checks</a:t>
            </a:r>
            <a:endParaRPr lang="en-US" sz="1400" dirty="0"/>
          </a:p>
          <a:p>
            <a:pPr marL="0" indent="0">
              <a:buNone/>
            </a:pPr>
            <a:r>
              <a:rPr lang="en-US" sz="1400" dirty="0">
                <a:solidFill>
                  <a:schemeClr val="tx2"/>
                </a:solidFill>
              </a:rPr>
              <a:t>SRV every 15 minutes from every site and VNet; drift and hygiene reports</a:t>
            </a:r>
            <a:endParaRPr lang="en-US" sz="1400" dirty="0"/>
          </a:p>
        </p:txBody>
      </p:sp>
      <p:sp>
        <p:nvSpPr>
          <p:cNvPr id="15" name="Logging box">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FileShield">
            <a:extLst>
              <a:ext uri="{C183D7F6-B498-43B3-948B-1728B52AA6E4}">
                <adec:decorative xmlns:adec="http://schemas.microsoft.com/office/drawing/2017/decorative" val="1"/>
              </a:ext>
            </a:extLst>
          </p:cNvPr>
          <p:cNvSpPr/>
          <p:nvPr/>
        </p:nvSpPr>
        <p:spPr>
          <a:xfrm>
            <a:off x="6949440" y="1536192"/>
            <a:ext cx="566928" cy="566928"/>
          </a:xfrm>
          <a:prstGeom prst="ellipse">
            <a:avLst/>
          </a:prstGeom>
          <a:solidFill>
            <a:srgbClr val="1F2A44"/>
          </a:solidFill>
          <a:ln w="12700">
            <a:solidFill>
              <a:srgbClr val="1F2A44"/>
            </a:solidFill>
            <a:prstDash val="solid"/>
          </a:ln>
        </p:spPr>
      </p:sp>
      <p:pic>
        <p:nvPicPr>
          <p:cNvPr id="17"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7085503" y="1672255"/>
            <a:ext cx="294803" cy="294803"/>
          </a:xfrm>
          <a:prstGeom prst="rect">
            <a:avLst/>
          </a:prstGeom>
        </p:spPr>
      </p:pic>
      <p:sp>
        <p:nvSpPr>
          <p:cNvPr id="18" name="Logging head"/>
          <p:cNvSpPr txBox="1"/>
          <p:nvPr/>
        </p:nvSpPr>
        <p:spPr>
          <a:xfrm>
            <a:off x="7680960" y="1536192"/>
            <a:ext cx="3840480" cy="566928"/>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The M-26-14 logging floor</a:t>
            </a:r>
            <a:endParaRPr lang="en-US" sz="1800" dirty="0"/>
          </a:p>
        </p:txBody>
      </p:sp>
      <p:sp>
        <p:nvSpPr>
          <p:cNvPr id="19" name="Logging list"/>
          <p:cNvSpPr txBox="1"/>
          <p:nvPr/>
        </p:nvSpPr>
        <p:spPr>
          <a:xfrm>
            <a:off x="6949440" y="2240280"/>
            <a:ext cx="457200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Source and destination address, port and session in the logs</a:t>
            </a:r>
            <a:endParaRPr lang="en-US" sz="1400" dirty="0"/>
          </a:p>
          <a:p>
            <a:pPr marL="342900" indent="-342900">
              <a:spcAft>
                <a:spcPts val="600"/>
              </a:spcAft>
              <a:buSzPct val="100000"/>
              <a:buChar char="•"/>
            </a:pPr>
            <a:r>
              <a:rPr lang="en-US" sz="1400" dirty="0">
                <a:solidFill>
                  <a:schemeClr val="tx2"/>
                </a:solidFill>
              </a:rPr>
              <a:t>Searchable 6 months, retrievable for a year</a:t>
            </a:r>
            <a:endParaRPr lang="en-US" sz="1400" dirty="0"/>
          </a:p>
          <a:p>
            <a:pPr marL="342900" indent="-342900">
              <a:spcAft>
                <a:spcPts val="600"/>
              </a:spcAft>
              <a:buSzPct val="100000"/>
              <a:buChar char="•"/>
            </a:pPr>
            <a:r>
              <a:rPr lang="en-US" sz="1400" dirty="0">
                <a:solidFill>
                  <a:schemeClr val="tx2"/>
                </a:solidFill>
              </a:rPr>
              <a:t>Readily available to the top-level SOC</a:t>
            </a:r>
            <a:endParaRPr lang="en-US" sz="1400" dirty="0"/>
          </a:p>
          <a:p>
            <a:pPr marL="342900" indent="-342900">
              <a:spcAft>
                <a:spcPts val="600"/>
              </a:spcAft>
              <a:buSzPct val="100000"/>
              <a:buChar char="•"/>
            </a:pPr>
            <a:r>
              <a:rPr lang="en-US" sz="1400" dirty="0">
                <a:solidFill>
                  <a:schemeClr val="tx2"/>
                </a:solidFill>
              </a:rPr>
              <a:t>Lease history ties each query to a device</a:t>
            </a:r>
            <a:endParaRPr lang="en-US" sz="1400" dirty="0"/>
          </a:p>
        </p:txBody>
      </p:sp>
      <p:sp>
        <p:nvSpPr>
          <p:cNvPr id="20" name="Checklist">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ListCheck">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22"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227625"/>
            <a:ext cx="380390" cy="380390"/>
          </a:xfrm>
          <a:prstGeom prst="rect">
            <a:avLst/>
          </a:prstGeom>
        </p:spPr>
      </p:pic>
      <p:sp>
        <p:nvSpPr>
          <p:cNvPr id="23" name="Checklist text"/>
          <p:cNvSpPr txBox="1"/>
          <p:nvPr/>
        </p:nvSpPr>
        <p:spPr>
          <a:xfrm>
            <a:off x="1737360" y="489204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The evidence checklist opens with the five decisions: </a:t>
            </a:r>
            <a:r>
              <a:rPr lang="en-US" sz="1650" dirty="0">
                <a:solidFill>
                  <a:schemeClr val="tx2"/>
                </a:solidFill>
              </a:rPr>
              <a:t>redirect targets, chain order, cloud forwarding, the AD DNS inventory, and OCSP and CRL reachability; then Protective DNS, IPAM inventory, retained logs and role reviews.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NIST SP 800-53 Rev. 5; Microsoft Learn — DNS logging and diagnostics, Azure DNS monitoring, DNS resolver policy. Book 08,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4D33CA5E-9116-08F8-CACA-F46E5A004E9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EBAEB1C-06BF-4F49-B959-570335B8A872}"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870"/>
    </mc:Choice>
    <mc:Fallback>
      <p:transition spd="slow" advTm="74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387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Choose on evidence, price the meters, record the risk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Azure meter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List price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Private Resolver inbound endpoint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$180.00 a month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Private Resolver outbound endpoint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$180.00 a month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Forwarding ruleset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$2.50 a month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Hub with one of each, per region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b="1" dirty="0">
                          <a:solidFill>
                            <a:srgbClr val="B45309"/>
                          </a:solidFill>
                          <a:latin typeface="Calibri" pitchFamily="34" charset="0"/>
                          <a:ea typeface="Calibri" pitchFamily="34" charset="-122"/>
                          <a:cs typeface="Calibri" pitchFamily="34" charset="-120"/>
                        </a:rPr>
                        <a:t>about $362.50 a month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able note"/>
          <p:cNvSpPr txBox="1"/>
          <p:nvPr/>
        </p:nvSpPr>
        <p:spPr>
          <a:xfrm>
            <a:off x="548640" y="3749040"/>
            <a:ext cx="5577840" cy="868680"/>
          </a:xfrm>
          <a:prstGeom prst="rect">
            <a:avLst/>
          </a:prstGeom>
          <a:noFill/>
          <a:ln/>
        </p:spPr>
        <p:txBody>
          <a:bodyPr wrap="square" lIns="0" tIns="0" rIns="0" bIns="0" rtlCol="0" anchor="t"/>
          <a:lstStyle/>
          <a:p>
            <a:pPr marL="0" indent="0">
              <a:buNone/>
            </a:pPr>
            <a:r>
              <a:rPr lang="en-US" sz="1200" i="1" dirty="0">
                <a:solidFill>
                  <a:srgbClr val="64748B"/>
                </a:solidFill>
              </a:rPr>
              <a:t>Azure Retail Prices API list prices, US commercial, retrieved October 20, 2026, before discounts; a second region doubles the hub. Commercial DDI licensing is quoted per agency and isn't published.</a:t>
            </a:r>
            <a:endParaRPr lang="en-US" sz="1200" dirty="0"/>
          </a:p>
        </p:txBody>
      </p:sp>
      <p:sp>
        <p:nvSpPr>
          <p:cNvPr id="7" name="Auth box">
            <a:extLst>
              <a:ext uri="{C183D7F6-B498-43B3-948B-1728B52AA6E4}">
                <adec:decorative xmlns:adec="http://schemas.microsoft.com/office/drawing/2017/decorative" val="1"/>
              </a:ext>
            </a:extLst>
          </p:cNvPr>
          <p:cNvSpPr/>
          <p:nvPr/>
        </p:nvSpPr>
        <p:spPr>
          <a:xfrm>
            <a:off x="6400800" y="1371600"/>
            <a:ext cx="525780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Landmark">
            <a:extLst>
              <a:ext uri="{C183D7F6-B498-43B3-948B-1728B52AA6E4}">
                <adec:decorative xmlns:adec="http://schemas.microsoft.com/office/drawing/2017/decorative" val="1"/>
              </a:ext>
            </a:extLst>
          </p:cNvPr>
          <p:cNvSpPr/>
          <p:nvPr/>
        </p:nvSpPr>
        <p:spPr>
          <a:xfrm>
            <a:off x="6629400" y="1536192"/>
            <a:ext cx="566928" cy="566928"/>
          </a:xfrm>
          <a:prstGeom prst="ellipse">
            <a:avLst/>
          </a:prstGeom>
          <a:solidFill>
            <a:srgbClr val="1F2A44"/>
          </a:solidFill>
          <a:ln w="12700">
            <a:solidFill>
              <a:srgbClr val="1F2A44"/>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765463" y="1672255"/>
            <a:ext cx="294803" cy="294803"/>
          </a:xfrm>
          <a:prstGeom prst="rect">
            <a:avLst/>
          </a:prstGeom>
        </p:spPr>
      </p:pic>
      <p:sp>
        <p:nvSpPr>
          <p:cNvPr id="10" name="Auth head"/>
          <p:cNvSpPr txBox="1"/>
          <p:nvPr/>
        </p:nvSpPr>
        <p:spPr>
          <a:xfrm>
            <a:off x="7360920" y="1536192"/>
            <a:ext cx="4206240" cy="566928"/>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Authorization is per offering</a:t>
            </a:r>
            <a:endParaRPr lang="en-US" sz="1800" dirty="0"/>
          </a:p>
        </p:txBody>
      </p:sp>
      <p:sp>
        <p:nvSpPr>
          <p:cNvPr id="11" name="Auth list"/>
          <p:cNvSpPr txBox="1"/>
          <p:nvPr/>
        </p:nvSpPr>
        <p:spPr>
          <a:xfrm>
            <a:off x="6629400" y="2240280"/>
            <a:ext cx="48920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Example: Infoblox Government Cloud, FedRAMP Certified at Moderate since December 15, 2022</a:t>
            </a:r>
            <a:endParaRPr lang="en-US" sz="1400" dirty="0"/>
          </a:p>
          <a:p>
            <a:pPr marL="342900" indent="-342900">
              <a:spcAft>
                <a:spcPts val="600"/>
              </a:spcAft>
              <a:buSzPct val="100000"/>
              <a:buChar char="•"/>
            </a:pPr>
            <a:r>
              <a:rPr lang="en-US" sz="1350" dirty="0">
                <a:solidFill>
                  <a:schemeClr val="tx2"/>
                </a:solidFill>
              </a:rPr>
              <a:t>BlueCat, EfficientIP: no listing; run inside the agency boundary</a:t>
            </a:r>
            <a:endParaRPr lang="en-US" sz="1400" dirty="0"/>
          </a:p>
          <a:p>
            <a:pPr marL="342900" indent="-342900">
              <a:spcAft>
                <a:spcPts val="600"/>
              </a:spcAft>
              <a:buSzPct val="100000"/>
              <a:buChar char="•"/>
            </a:pPr>
            <a:r>
              <a:rPr lang="en-US" sz="1350" dirty="0">
                <a:solidFill>
                  <a:schemeClr val="tx2"/>
                </a:solidFill>
              </a:rPr>
              <a:t>A Moderate authorization doesn't cover GCC High or DoD</a:t>
            </a:r>
            <a:endParaRPr lang="en-US" sz="1400" dirty="0"/>
          </a:p>
          <a:p>
            <a:pPr marL="342900" indent="-342900">
              <a:spcAft>
                <a:spcPts val="600"/>
              </a:spcAft>
              <a:buSzPct val="100000"/>
              <a:buChar char="•"/>
            </a:pPr>
            <a:r>
              <a:rPr lang="en-US" sz="1350" dirty="0">
                <a:solidFill>
                  <a:schemeClr val="tx2"/>
                </a:solidFill>
              </a:rPr>
              <a:t>Confirm status on the Marketplace at decision time</a:t>
            </a:r>
            <a:endParaRPr lang="en-US" sz="1400" dirty="0"/>
          </a:p>
        </p:txBody>
      </p:sp>
      <p:sp>
        <p:nvSpPr>
          <p:cNvPr id="12" name="Residual">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81905"/>
            <a:ext cx="380390" cy="380390"/>
          </a:xfrm>
          <a:prstGeom prst="rect">
            <a:avLst/>
          </a:prstGeom>
        </p:spPr>
      </p:pic>
      <p:sp>
        <p:nvSpPr>
          <p:cNvPr id="15" name="Residual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91C1C"/>
                </a:solidFill>
              </a:rPr>
              <a:t>Residual risk stays on the record: </a:t>
            </a:r>
            <a:r>
              <a:rPr lang="en-US" sz="1650" dirty="0">
                <a:solidFill>
                  <a:schemeClr val="tx2"/>
                </a:solidFill>
              </a:rPr>
              <a:t>sync lag becomes the new source of divergence; a management-plane outage blocks changes while resolution continues locally; and encrypted DNS bypass remains wherever endpoint controls are incomplete.</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Azure Retail Prices API; FedRAMP Marketplace dataset; Infoblox, BlueCat and EfficientIP documentation. Book 08, Chapters 03, 08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080ABAEF-7A52-88D3-99CB-CAD4DDC5379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9943CFB-454B-4BD7-A769-583E6E193DAE}"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1180"/>
    </mc:Choice>
    <mc:Fallback>
      <p:transition spd="slow" advTm="71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0176"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Sitemap">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Authorize one policy plane</a:t>
            </a:r>
            <a:endParaRPr lang="en-US" sz="1400" dirty="0"/>
          </a:p>
          <a:p>
            <a:pPr marL="0" indent="0">
              <a:buNone/>
            </a:pPr>
            <a:r>
              <a:rPr lang="en-US" sz="1450" dirty="0">
                <a:solidFill>
                  <a:schemeClr val="tx2"/>
                </a:solidFill>
              </a:rPr>
              <a:t>A single authoritative DDI policy plane, with a named owner</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ListCheck">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Settle the five decisions</a:t>
            </a:r>
            <a:endParaRPr lang="en-US" sz="1400" dirty="0"/>
          </a:p>
          <a:p>
            <a:pPr marL="0" indent="0">
              <a:buNone/>
            </a:pPr>
            <a:r>
              <a:rPr lang="en-US" sz="1450" dirty="0">
                <a:solidFill>
                  <a:schemeClr val="tx2"/>
                </a:solidFill>
              </a:rPr>
              <a:t>Within 90 days, with residual risk reported to the AO</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ScaleBalanced">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Choose the platform on evidence</a:t>
            </a:r>
            <a:endParaRPr lang="en-US" sz="1400" dirty="0"/>
          </a:p>
          <a:p>
            <a:pPr marL="0" indent="0">
              <a:buNone/>
            </a:pPr>
            <a:r>
              <a:rPr lang="en-US" sz="1450" dirty="0">
                <a:solidFill>
                  <a:schemeClr val="tx2"/>
                </a:solidFill>
              </a:rPr>
              <a:t>Authorization at the right level; quotes on the same assumptions</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UserCheck">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Name the owners</a:t>
            </a:r>
            <a:endParaRPr lang="en-US" sz="1400" dirty="0"/>
          </a:p>
          <a:p>
            <a:pPr marL="0" indent="0">
              <a:buNone/>
            </a:pPr>
            <a:r>
              <a:rPr lang="en-US" sz="1450" dirty="0">
                <a:solidFill>
                  <a:schemeClr val="tx2"/>
                </a:solidFill>
              </a:rPr>
              <a:t>One decider per row; the DNS/DDI team decides the edge target</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Route">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 Phase 1, Inventory: </a:t>
            </a:r>
            <a:r>
              <a:rPr lang="en-US" sz="1650" dirty="0">
                <a:solidFill>
                  <a:schemeClr val="tx2"/>
                </a:solidFill>
              </a:rPr>
              <a:t>export every AD DNS zone, SRV record, forwarder and DHCP scope, every redirect-dns target and every OCSP and CRL endpoint, before touching a domain controller. Book 08 has the detail, every claim footnoted.</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Microsoft Learn — DnsServer and DhcpServer modules; NIST SP 800-37 Rev. 2. Book 08, Chapters 01, 08, 09, 10 and 12.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C73CA8A1-D54A-37F6-D2D5-1E52F6C2BFB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6D5D192-B8C1-44AE-9FF8-EC8C7BB20FF2}"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740"/>
    </mc:Choice>
    <mc:Fallback>
      <p:transition spd="slow" advTm="66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73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5492</Words>
  <Application>Microsoft Office PowerPoint</Application>
  <PresentationFormat>Widescreen</PresentationFormat>
  <Paragraphs>309</Paragraphs>
  <Slides>14</Slides>
  <Notes>14</Notes>
  <HiddenSlides>0</HiddenSlides>
  <MMClips>14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Federal Modernization Workbook</vt:lpstr>
      <vt:lpstr>Why Is DNS Now the Control Plane?</vt:lpstr>
      <vt:lpstr>DNS now does six jobs it was never designed for</vt:lpstr>
      <vt:lpstr>Split-brain DNS fails quietly, as something else</vt:lpstr>
      <vt:lpstr>The mandates name no product, but describe one layer</vt:lpstr>
      <vt:lpstr>Entra ID inherits none of what AD DNS does</vt:lpstr>
      <vt:lpstr>Three ways a query escapes the governed path</vt:lpstr>
      <vt:lpstr>Every certificate check starts with a DNS lookup</vt:lpstr>
      <vt:lpstr>Forward the public zone to one point in Azure</vt:lpstr>
      <vt:lpstr>One governed path, five decisions that fail silently</vt:lpstr>
      <vt:lpstr>Who decides, who does the work for DNS, DHCP and IPAM</vt:lpstr>
      <vt:lpstr>Six phases, one cutover loop, rollback at every step</vt:lpstr>
      <vt:lpstr>Operate it as one plane, and keep the evidence</vt:lpstr>
      <vt:lpstr>Choose on evidence, price the meters, record the risk</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08 — DNS, DHCP &amp; IPAM</dc:title>
  <dc:subject>PptxGenJS Presentation</dc:subject>
  <dc:creator>Michael F. Stratton</dc:creator>
  <cp:lastModifiedBy>Michael F. Stratton</cp:lastModifiedBy>
  <cp:revision>2</cp:revision>
  <dcterms:created xsi:type="dcterms:W3CDTF">2026-10-21T13:57:34Z</dcterms:created>
  <dcterms:modified xsi:type="dcterms:W3CDTF">2026-10-21T14:02:59Z</dcterms:modified>
</cp:coreProperties>
</file>