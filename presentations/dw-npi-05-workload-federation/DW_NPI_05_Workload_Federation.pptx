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6f92fb0-e755-8168-39d5-6bb980f5ecdc}">
          <p14:sldIdLst>
            <p14:sldId id="256"/>
          </p14:sldIdLst>
        </p14:section>
        <p14:section name="Why" id="{1828c295-5be8-f674-8821-5a6176df28cb}">
          <p14:sldIdLst>
            <p14:sldId id="257"/>
            <p14:sldId id="258"/>
          </p14:sldIdLst>
        </p14:section>
        <p14:section name="What" id="{4bb380b2-effd-30db-291a-f6e2f4a64b61}">
          <p14:sldIdLst>
            <p14:sldId id="259"/>
            <p14:sldId id="260"/>
            <p14:sldId id="261"/>
            <p14:sldId id="262"/>
            <p14:sldId id="263"/>
            <p14:sldId id="264"/>
            <p14:sldId id="265"/>
            <p14:sldId id="266"/>
            <p14:sldId id="267"/>
          </p14:sldIdLst>
        </p14:section>
        <p14:section name="Who" id="{25c3d226-0089-b6cb-37a5-2746518c3557}">
          <p14:sldIdLst>
            <p14:sldId id="268"/>
          </p14:sldIdLst>
        </p14:section>
        <p14:section name="How" id="{4c444530-b9c9-e7a4-b7d1-52aeb3c7a3b3}">
          <p14:sldIdLst>
            <p14:sldId id="269"/>
            <p14:sldId id="270"/>
            <p14:sldId id="271"/>
            <p14:sldId id="272"/>
            <p14:sldId id="273"/>
          </p14:sldIdLst>
        </p14:section>
        <p14:section name="Backup" id="{77214a3c-9bf2-7e53-41f0-6af242f371c7}">
          <p14:sldIdLst>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5: workload identity federation and managed identities. It's where service accounts actually get converted: a managed identity first, then a federated credential, then a certificate, with a thirty-day parallel run before the old account is disabled. We'll start from Microsoft's own samples, see what they accept in silence, then walk the checks, the token exchange test, the plan and its write path, two labs and the dangers. One note before we begin: the code is illustrative, tested against fixtures.
Detail: The chapter delivers the conversion behind the project plan's tasks N3.2 to N3.4: workload identities created in the plan's order (a managed identity, then a federated credential, then a certificate), each federated credential's token exchange tested, then a 30-day parallel run before the legacy account is disabled. It starts with Learn's own samples for creating federated identity credentials, on an app registration and on a user-assigned managed identity, and the Managed Identity REST examples Learn's reference renders, all pinned in the repository, and runs them against fakes to see what they do and what they miss. Then examples/non-person-identity adds what they leave to you: the credentials as reviewed JSON, a check of each one against the claims the workload's issuer will present, a token exchange test against a fake token endpoint, managed identities created or recorded with their role assignments, and the parallel run tracked from sign-in evidence, applied only through a separate, delegated write path after a reviewer approves the plan's SHA-256. Lab 1 runs on a laptop with no tenant; Lab 2 uses a test tenant, a test subscription and a test workflow.
Sources: Microsoft Learn, "Workload identity federation concepts," how it works (the case-sensitive match), https://learn.microsoft.com/entra/workload-id/workload-identity-federation (accessed Oct 30, 2026).
Workbook: Building Non-Person Identity, Chapter 05 — “In this chapter”; “Goal and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exist? Because of one quiet failure. A federated credential with the wrong subject is created without any error. Nothing complains until the day the workload tries to exchange its token, and for GitHub, Learn says even that fails without an error. The plan's risk register names exactly this, and its answer is to test every exchange before the parallel run starts. That test is the center of the chapter. The order of conversion comes from Book 2: managed identities where the host is in Azure, federated credentials where the host speaks O I D C, certificates only where neither works.
Detail: The chapter's epigraph: a federated credential with the wrong subject is accepted the day it's created and fails the day the workload depends on it, so the check belongs before the cutover, in code a reviewer has read. The order: Book 02's Phase 4 converts HIGH-risk accounts first and creates "managed identities for Azure-hosted workloads, federated credentials for pipelines and other OIDC-capable hosts, certificates only where neither applies" (Book 02, Chapter 10). The plan's decision D-N3 names the target for each account, and Chapter 03 builds the waves. This chapter takes the waves as given and holds the credentials. The risk this chapter exists for: Learn says it twice: a federated credential with the wrong subject "is created successfully without error," and the error appears only when the token exchange fails; for GitHub, the exchange "fails without error." The plan's risk register says the same, and its mitigation is to test each credential's token exchange before the parallel run starts (project plan, risks). That test is the center of this chapter.
Sources: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Workbook: Building Non-Person Identity, Chapter 05 — Epigraph; “What the code depends on” — the order, the risk this chapter exists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This chapter talks to three hosts: Microsoft Graph for app registrations and sign-ins, Resource Manager for managed identities, and the sign-in host for tokens. The estate is a G C C tenant with commercial Azure, so all three are the worldwide endpoints. G C C High and the Defense Department clouds have their own hosts, and the code switches only for those. One gap worth knowing: the managed identity pages the chapter read don't say whether they're available in Azure Government, which is fine here because this estate's Azure is commercial.
Detail: The target estate is Microsoft 365 GCC with commercial Azure: Graph at graph.microsoft.com, Resource Manager at management.azure.com, sign-in at login.microsoftonline.com. GCC High and DoD use graph.microsoft.us and dod-graph.microsoft.us, Azure Government's management.usgovcloudapi.net, and login.microsoftonline.us. Creating a federated credential on an application and listing sign-ins are both available in US Government L4 and L5. The Resource Manager pages read for user-assigned identities don't state Azure Government availability; this estate's Azure is commercial, so the code sends them to management.azure.com for gcc, and to Azure Government only for gcchigh and dod. The token exchange test goes only to the fake, but the request it builds is addressed to the cloud's own sign-in host.
Sources: Microsoft Learn, "Microsoft Graph national cloud deployments," https://learn.microsoft.com/graph/deployments (accessed Oct 30, 2026). · Microsoft Learn, "Compare Azure Government and global Azure," guidance for developers (Azure Resource Manager endpoints), https://learn.microsoft.com/azure/azure-government/compare-azure-government-global-azure (accessed Oct 31, 2026). · Microsoft Learn, "Create federatedIdentityCredential," permissions, request body, national cloud deployments, https://learn.microsoft.com/graph/api/application-post-federatedidentitycredentials?view=graph-rest-1.0 (accessed Oct 30, 2026). · Microsoft Learn, "List signIns" (beta), permissions, national cloud deployments, the signInEventTypes note, https://learn.microsoft.com/graph/api/signin-list?view=graph-rest-beta (accessed Oct 30, 2026).
Workbook: Building Non-Person Identity, Chapter 05 — “Which cloud, for these reads and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a federated credential? It's a trust you put on an app registration or a user-assigned managed identity. The workload, say a GitHub workflow or a Kubernetes pod, presents a token from its own issuer, and Microsoft Entra swaps it for an access token, but only if three values match: the issuer, the subject and the audience. The match is exact, down to the letter case, with no wildcards. A system-assigned identity can't hold one at all. And managed identities, the first choice in the order, get their access from Azure role assignments, which this chapter records.
Detail: A federated identity credential on an app registration or a user-assigned managed identity tells Microsoft Entra ID to trust tokens from an external issuer: GitHub Actions, a Kubernetes cluster, another cloud or any OIDC provider. The workload presents its issuer's token, and Entra ID exchanges it for an access token (Book 02, Chapter 09). Three values decide the match. The issuer must match the token's iss claim, the subject its sub claim, and the audience its aud claim; the audience is a single value, and for Entra ID it is api://AzureADTokenExchange, the value Learn recommends and the Graph reference says to set. The match is exact and case-sensitive. Wildcards aren't supported in any value; an issuer claim with leading or trailing whitespace blocks the exchange; a name is 3 to 120 characters of letters, digits, dashes or underscores, starting with a letter or digit, and can't be changed. An app registration or a user-assigned managed identity holds at most 20. A system-assigned managed identity can't hold one at all. Managed identities: a workload hosted in Azure uses a managed identity, and Azure manages its credential. A user-assigned identity is created on its own and assigned to its hosts; creating one takes Managed Identity Contributor. A system-assigned identity is turned on in the host's own deployment, and lives and dies with it. Either way, its access comes from Azure role assignments, which this chapter records and Chapter 07 narrows.
Sources: Microsoft Learn, "Workload identity federation concepts," how it works (the case-sensitive match), https://learn.microsoft.com/entra/workload-id/workload-identity-federation (accessed Oct 30, 2026). ·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 Microsoft Learn, "Create federatedIdentityCredential," permissions, request body, national cloud deployments, https://learn.microsoft.com/graph/api/application-post-federatedidentitycredentials?view=graph-rest-1.0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"Manage user-assigned managed identities using REST," create and list, https://learn.microsoft.com/entra/identity/managed-identities-azure-resources/manage-user-assigned-managed-identities-rest (accessed Oct 30, 2026).
Workbook: Building Non-Person Identity, Chapter 05 — “What the code depends on” — what a federated credential is; managed identities.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Two Learn pages walk through creating a federated credential, one for an app registration and one for a user-assigned managed identity, with samples in the command line, PowerShell, a template and raw requests. Graph's reference has its own create request, and the managed identity reference has worked examples. All of that lives only inside web pages, so the repository pins the sources unmodified, with hashes a test checks, and a weekly watch that reports upstream changes. A harness then runs every sample against fakes, so you can see what each one really does.
Detail: Learn's "Configure an app to trust an external identity provider" is Microsoft's procedure for a federated credential on an app registration. It has samples for the admin center, the Azure CLI (az ad app federated-credential create with a credential.json body for GitHub Actions, Kubernetes and another provider), Azure PowerShell (New-AzADAppFederatedCredential) and Microsoft Graph through az rest. Its sibling, "Configure a user-assigned managed identity to trust an external identity provider," does the same for a user-assigned managed identity, with the Azure CLI, Azure PowerShell, an ARM template that creates the identity and its credential, and a REST request. Both pages share an include with the rules. The Graph reference "Create federatedIdentityCredential" has the HTTP request that creates one on an application. The Managed Identity REST reference renders Microsoft's examples for creating a federated credential on a user-assigned identity, and for creating and reading the identity, at API version 2024-11-30. The pinned copies: examples/third_party/entra-wif-create-trust-pages, both Learn pages and their shared include, from MicrosoftDocs/entra-docs at commit d75a90e (February 25, 2026, the last change to all three; unchanged on October 30, 2026), MIT for code, Creative Commons Attribution 4.0 for documentation; examples/third_party/graph-fic-create-page, the Graph reference page's source from microsoftgraph/microsoft-graph-docs-contrib at commit 08b242e (December 4, 2025; unchanged on October 30, 2026), same licenses; examples/third_party/msi-fic-rest-examples, FederatedIdentityCredentialCreate.json, IdentityCreate.json and IdentityGet.json from Azure/azure-rest-api-specs at commit 37886ac (September 12, 2025; unchanged on October 30, 2026), MIT. Each folder's snapshot.json records every file's SHA-256, checked against the upstream git blob hashes, and a unit test checks them. The weekly source watch reports new commits to each upstream path. Updating a copy is a reviewed pull request. tests/FederationSampleHarness.ps1 extracts the samples at test time: it checks the credential.json bodies and the template's audience with the chapter's credential checks, runs the Azure PowerShell command against a stand-in that records its parameters, sends the Graph, az rest and REST requests to the fake Graph and Resource Manager, and exchanges test assertions against the fake token endpoint.
Sources: Microsoft Learn, "Configure an app to trust an external identity provider," Azure CLI, Azure PowerShell and Microsoft Graph samples, https://learn.microsoft.com/entra/workload-id/workload-identity-federation-create-trust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 Microsoft Learn, "Create federatedIdentityCredential," permissions, request body, national cloud deployments, https://learn.microsoft.com/graph/api/application-post-federatedidentitycredentials?view=graph-rest-1.0 (accessed Oct 30, 2026). · Microsoft Learn, "Federated Identity Credentials - Create Or Update" (Managed Identity REST, 2024-11-30), https://learn.microsoft.com/rest/api/managedidentity/federated-identity-credentials/create-or-update (accessed Oct 30, 2026). · Microsoft Learn, "User Assigned Identities - Create Or Update" (Managed Identity REST, 2024-11-30), https://learn.microsoft.com/rest/api/managedidentity/user-assigned-identities/create-or-update (accessed Oct 30, 2026). · Microsoft, MicrosoftDocs/entra-docs, docs/workload-id/workload-identity-federation-create-trust.md, docs/workload-id/workload-identity-federation-create-trust-user-assigned-managed-identity.md and docs/workload-id/includes/federated-credential-configuration-considerations.md at commit d75a90ea1b07d0d2007cfab256c1ad02653d1e35 (February 25, 2026), code MIT License, documentation Creative Commons Attribution 4.0, https://github.com/MicrosoftDocs/entra-docs/tree/d75a90ea1b07d0d2007cfab256c1ad02653d1e35/docs/workload-id (accessed Oct 30, 2026); pinned copy in examples/third_party/entra-wif-create-trust-pages. · Microsoft, microsoftgraph/microsoft-graph-docs-contrib, api-reference/v1.0/api/federatedidentitycredential-post.md at commit 08b242e8a85a03db4c4d1f41564cfc81632d5cd1 (December 4, 2025), code MIT License, documentation Creative Commons Attribution 4.0, https://github.com/microsoftgraph/microsoft-graph-docs-contrib/blob/08b242e8a85a03db4c4d1f41564cfc81632d5cd1/api-reference/v1.0/api/federatedidentitycredential-post.md (accessed Oct 30, 2026); pinned copy in examples/third_party/graph-fic-create-page. · Microsoft, Azure/azure-rest-api-specs, specification/msi/resource-manager/Microsoft.ManagedIdentity/ManagedIdentity/stable/2024-11-30/examples (three files) at commit 37886acc4980d7ac8753fafe90619cae296eb477 (September 12, 2025), MIT License, https://github.com/Azure/azure-rest-api-specs/tree/37886acc4980d7ac8753fafe90619cae296eb477/specification/msi/resource-manager/Microsoft.ManagedIdentity/ManagedIdentity/stable/2024-11-30/examples (accessed Oct 30, 2026); pinned copy in examples/third_party/msi-fic-rest-examples.
Workbook: Building Non-Person Identity, Chapter 05 — “Start with Microsoft's sample” — “What Microsoft gives you”; “The pinned copies”.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Run against the fakes, Microsoft's samples show the risk on their own terms. Graph happily creates a credential with any subject. Learn's samples don't even agree on the GitHub issuer: one has a trailing slash and the others don't, and the match is exact. One template defaults the audience with a stray leading space, so it can never match. And two Learn pages give two different pull request subjects. So the code checks each credential against what the workload will really present, and derives a subject only when the format is certain.
Detail: Each row is pinned by a test: in tests/NpiFederationSamples.Tests.ps1 for the samples, and in tests/NpiFederation.Tests.ps1 for the example. Graph creates a credential from name, issuer, subject and the one audience: kept as the model for the application write; the fake enforces the creation errors Learn documents and nothing else. The Graph sample is accepted with any subject; a wrong one fails only at token exchange; that's the plan's risk, shown on Microsoft's own sample: each credential is checked against the claims its workload presents, then exchanged against the fake token endpoint, before it's created (NPI-WIF-02, -08). The Azure PowerShell GitHub sample uses https://token.actions.githubusercontent.com/, with a trailing slash; the CLI and REST create samples don't. Learn's own samples disagree, and the match is exact: the issuer is compared exactly with what the workload's issuer presents (NPI-WIF-03; research gaps, row 41). The managed identity page's ARM template defaults the audience to " api://AzureADTokenExchange", with a leading space: a credential that can never match, accepted at creation; the code requires exactly one audience, exactly api://AzureADTokenExchange (NPI-WIF-04). GitHub subjects are given as formats; a pull request's is repo:&lt;org/repo&gt;:pull-request on the Entra page and repo:&lt;org/repo&gt;:pull_request on App Service's page. Two Learn pages, two answers; GitHub's newer immutable format can't be derived at all. Subjects are derived only for environment, branch and tag in the name-based format; anything else needs the sub claim captured from a test run (research gaps, rows 42 and 43).
Sources: Microsoft Learn, "Create federatedIdentityCredential," permissions, request body, national cloud deployments, https://learn.microsoft.com/graph/api/application-post-federatedidentitycredentials?view=graph-rest-1.0 (accessed Oct 30, 2026). · Microsoft Learn, "Workload identity federation concepts," how it works (the case-sensitive match), https://learn.microsoft.com/entra/workload-id/workload-identity-federation (accessed Oct 30, 2026). · Microsoft Learn, "Configure an app to trust an external identity provider," Azure CLI, Azure PowerShell and Microsoft Graph samples, https://learn.microsoft.com/entra/workload-id/workload-identity-federation-create-trust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"Deploy to Azure App Service by using GitHub Actions," manually set up a GitHub Actions workflow (OpenID Connect), https://learn.microsoft.com/azure/app-service/deploy-github-actions (accessed Oct 30, 2026). · Microsoft Learn, "Flexible federated identity credentials (preview)," properties; issuer URLs, supported claims and operators by platform, https://learn.microsoft.com/entra/workload-id/workload-identities-flexible-federated-identity-credentials, and "Set up a Flexible Federated identity credential (preview)," https://learn.microsoft.com/entra/workload-id/workload-identities-set-up-flexible-federated-identity-credential (accessed Oct 30, 2026).
Workbook: Building Non-Person Identity, Chapter 05 — “What they leave to you,” rows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 table is about everything around the write. The samples hard-code worldwide hosts, use a preview version, and in one case send a request with no version at all. They create one credential at a time by hand, so nothing notices a credential someone added in the portal. They don't check the limits Learn itself states. And they stop at creation: no record of the identity's roles, no parallel run, no disable. The verdict: use the samples as the model for the three writes, but not as the conversion, because they accept the wrong subject in silence.
Detail: The az rest samples call https://graph.microsoft.com/applications/..., with no version segment: a request a reviewer can't place on v1.0 or beta; the code builds every URL from the call list, on /v1.0 or /beta (research gaps, row 48). The managed identity page's REST sample uses API version 2022-01-31-preview, and its curl payload isn't valid JSON: preview versions in production code; a sample that can't run as written; the code uses the reference's 2024-11-30, which the pinned REST examples show (row 48). Hard-codes graph.microsoft.com and management.azure.com: wrong for GCC High and DoD; hosts from the cloud table, checked on every request. One credential at a time, by hand; nothing compares the tenant with what was reviewed: drift, a credential added in the portal is invisible; the reviewed file diffed against the tenant: create, no change, review, and unmanaged credentials reported, never deleted (NPI-WIF-07). Nothing about the order, the 20-credential limit, a repeated issuer and subject, or a system-assigned identity: Learn states the limits; the samples don't check them; NPI-WIF-01, -05, -06 before anything is sent. No managed identity record, no role assignments read, no parallel run, no disable: N3.3 and N3.4 are left to you; identities created or recorded with their role assignments; the 30-day run from sign-in evidence; the disable through the reviewed write path. The ARM template creates credentials under one identity in parallel unless chained with dependsOn; Learn says concurrent creates fail with 409: a pipeline that fails on its second credential; the writer sends one at a time, the identity before its credentials. The verdict: use Learn's samples as the model for the three writes (a credential on an app, an identity, a credential on an identity). Don't use them as the conversion: they accept the wrong subject in silence, and two of them carry values that will never match a token.
Sources: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 Microsoft Learn, "Important considerations and restrictions for federated identity credentials," propagation; concurrent updates; errors, https://learn.microsoft.com/entra/workload-id/workload-identity-federation-considerations (accessed Oct 30, 2026). · Microsoft Learn, "Federated Identity Credentials - Create Or Update" (Managed Identity REST, 2024-11-30), https://learn.microsoft.com/rest/api/managedidentity/federated-identity-credentials/create-or-update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Workbook: Building Non-Person Identity, Chapter 05 — “What they leave to you,” rows 6–12;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code add? A single new module and one entry script, which builds a plan by default and only writes when you hand it an approved plan. It reuses the shared cloud table and hashing from the earlier chapters but keeps its own client and fakes, so nothing earlier changes. Two files drive it. The conversion file, kept by identity engineering and reviewed with the application owners, says what each legacy credential becomes and which workload will present the token. And the cutover log, kept by the owner, records when each workload switched and who approved the disable.
Detail: This chapter's code is powershell/NpiFederation/NpiFederation.psm1, one entry script, Invoke-NpiFederation.ps1 (plan by default; the write path with -PlanPath), its own call list, config/calls-ch05.json, and the fixtures in tests/fixtures/ch05. It shares NpiCore's cloud table, host check, findings and hashes, and keeps its own client, fakes and manifest, so Chapters 01 and 02 are untouched. Inputs: conversions.json, kept by identity engineering, reviewed with the application owners: one entry per legacy credential: wave, risk, owner; the legacy account or secret; what the host allows (azureHosted, oidcIssuer); the target (a user-assigned or system-assigned managed identity, an app registration's federated credentials, or a certificate); and for each federated credential its name, issuer, subject, audience and the workload whose issuer will present the token (github with repository, entity and value; kubernetes with issuer, namespace and service account; or a capturedSubject from a test run). cutover-log.csv, kept by the application owner: ConversionId, CutoverOn (the day the workload switched), RecordedBy, DisableApprovedBy (the owner's approval after a clean run), DisabledOn.
Sources: Building Non-Person Identity, Chapter 05, docs/project-plans/developer-workbooks/non-person-identity/05-workload-identity-federation-and-managed-identities.md
Workbook: Building Non-Person Identity, Chapter 05 — “The code: what examples/non-person-identity adds”;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nine rules the planner applies. Before any of them, it reads each app registration, identity, role assignment and legacy account, plus sign-ins once a cutover is recorded. Most rules come straight from Learn: the subject, issuer and audience must match exactly, names must follow the rules, and no parent may go past twenty credentials. Three are the program's own and labeled that way: the conversion order, a warning for credentials nobody reviewed, and the thresholds for a clean parallel run. And the failed exchange test is its own finding.
Detail: New-NpiWifPlan reads, for each conversion, the app registration (GET /applications/{id}), its credentials, the user-assigned identity (a 404 means it doesn't exist yet) and its credentials, or the system-assigned identity's service principal; the managed identity's Azure role assignments ($filter=assignedTo('{principalId}')); the legacy AD account; and, once a cutover is recorded, the sign-ins since then. NPI-WIF-01 Finding: a target out of the plan's order: an Azure-hosted workload given anything but a managed identity, or an OIDC-capable one given a certificate (Book 02, Chapter 10; plan N3.2; design guidance). NPI-WIF-02 Finding: a subject that isn't, exactly and case for case, what the workload's issuer will present, or one that can't be checked because it can't be derived (Learn). NPI-WIF-03 Finding: an issuer that isn't exactly the workload's (a trailing slash included), or one with whitespace (Learn). NPI-WIF-04 Finding: not exactly one audience, or an audience that isn't exactly api://AzureADTokenExchange (Learn). NPI-WIF-05 Finding: a name outside the rules, a value over 600 characters, a wildcard, a credential on a system-assigned identity, or a flexible credential's claimsMatchingExpression (preview; not in production, design guidance) (Learn). NPI-WIF-06 Finding: more than 20 credentials on one parent, or the same issuer and subject twice (Learn). NPI-WIF-07 Warn: a credential in the tenant that the reviewed file doesn't hold; reported, never deleted (design guidance). NPI-WIF-08 Finding: the token exchange test failed (project plan, risks). NPI-WIF-09 Finding: a parallel run that isn't clean: the legacy credential still in use after cutover, failures or silence on the new one, or a cutover made while a credential fails its checks (implementation guide, Step 5; design guidance for the thresholds).
Sources: 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 · Microsoft Learn, "Workload identity federation concepts," how it works (the case-sensitive match), https://learn.microsoft.com/entra/workload-id/workload-identity-federation (accessed Oct 30, 2026). · Microsoft Learn, "Create federatedIdentityCredential," permissions, request body, national cloud deployments, https://learn.microsoft.com/graph/api/application-post-federatedidentitycredentials?view=graph-rest-1.0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"Flexible federated identity credentials (preview)," properties; issuer URLs, supported claims and operators by platform, https://learn.microsoft.com/entra/workload-id/workload-identities-flexible-federated-identity-credentials, and "Set up a Flexible Federated identity credential (preview)," https://learn.microsoft.com/entra/workload-id/workload-identities-set-up-flexible-federated-identity-credential (accessed Oct 30, 2026).
Workbook: Building Non-Person Identity, Chapter 05 — “The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pieces make the check real. First, the code works out what the workload's issuer will actually put in its token. For GitHub it uses Learn's three formats, for environments, branches and tags, and for Kubernetes the service account format. Anything it can't be sure of, like a pull request, or GitHub's newer immutable format, has to be captured from a real test run. Second, it builds the real token request and sends it to a fake endpoint that matches the way Learn describes. It doesn't check signatures, so it proves the credential matches what you recorded, not what the issuer sends.
Detail: What the workload presents: Get-NpiWifPresentedClaims turns the workload record into the iss, sub and aud its issuer will put in the token. For GitHub it uses Learn's formats: repo:&lt;org/repo&gt;:environment:&lt;name&gt;, repo:&lt;org/repo&gt;:ref:refs/heads/&lt;branch&gt; and repo:&lt;org/repo&gt;:ref:refs/tags/&lt;tag&gt;, with the issuer https://token.actions.githubusercontent.com. It derives nothing for a pull request, whose format two Learn pages give differently, or for GitHub's immutable subject format, which Learn says GitHub applies from July 15, 2026 to repositories created, renamed or transferred. Those need capturedSubject, the sub claim printed by a test run (Lab 2). For Kubernetes the subject is system:serviceaccount:&lt;namespace&gt;:&lt;name&gt;. Learn's guidance on mutable subjects, to prefer a subject built from a stable ID, is why the code records which source each subject came from. The token exchange test: Test-NpiWifTokenExchange builds Learn's client credentials request with a federated credential: client_id, a scope ending in /.default, client_assertion_type urn:ietf:params:oauth:client-assertion-type:jwt-bearer, the assertion, and grant_type client_credentials, addressed to {sign-in host}/{tenant}/oauth2/v2.0/token. The assertion carries the claims the workload presents and no valid signature. The code refuses to send it anywhere but New-NpiWifFakeTokenEndpoint, which matches it as Learn describes (issuer, subject and audience exactly and case-sensitively; whitespace around the issuer blocked; an expired assertion refused) against the parent's credentials as they will be after the plan, and passes only if the named credential is the one that matched. It checks no signature and fetches no issuer keys: that, and the real service's answer, are Lab 2's. The illustrative-code callout: the token exchange test proves a credential will match the claims you recorded; it doesn't prove the workload's issuer presents them.
Sources: Microsoft Learn, "Configure an app to trust an external identity provider," Azure CLI, Azure PowerShell and Microsoft Graph samples, https://learn.microsoft.com/entra/workload-id/workload-identity-federation-create-trust (accessed Oct 30, 2026). · Microsoft Learn, "Flexible federated identity credentials (preview)," properties; issuer URLs, supported claims and operators by platform, https://learn.microsoft.com/entra/workload-id/workload-identities-flexible-federated-identity-credentials, and "Set up a Flexible Federated identity credential (preview)," https://learn.microsoft.com/entra/workload-id/workload-identities-set-up-flexible-federated-identity-credential (accessed Oct 30, 2026). · Microsoft Learn, "Mutable subjects in federated identity credentials," recommended hygiene, https://learn.microsoft.com/entra/workload-id/workload-identities-federated-credential-mutable-subjects (accessed Oct 30, 2026). · Microsoft Learn, "Microsoft identity platform and the OAuth 2.0 client credentials flow," third case: access token request with a federated credential, https://learn.microsoft.com/entra/identity-platform/v2-oauth2-client-creds-grant-flow (accessed Oct 30, 2026).
Workbook: Building Non-Person Identity, Chapter 05 — “The checks” — what the workload presents; the token exchange test;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the plan writes. Each conversion gets actions, and only three of them ever write: create an identity, create a credential, and disable the legacy account, all after review. Everything else is a record or a status, from awaiting cutover to day fifteen of thirty. A changed credential is never edited in place; it gets a new name and its own parallel run. The evidence for a clean run comes from the beta sign-in log, the only place that shows managed identity and service principal sign-ins and which credential was used. The plan is hashed, so the same inputs give the same plan, byte for byte.
Detail: Nothing in the plan writes. CreateIdentity: a user-assigned identity the file asks for doesn't exist: PUT {identity}?api-version=2024-11-30 with location and a conversion tag; writes, after review. IdentityExists: recorded: the identity's client and principal IDs, and its role assignments. AwaitHost: a system-assigned identity not yet turned on in the host's deployment. CreateCredential: a credential that passes every check and its exchange test: POST /applications/{id}/federatedIdentityCredentials, or PUT {identity}/federatedIdentityCredentials/{name}; writes, after review. NoChange, ReviewChange: in the tenant as reviewed; or in the tenant with other values. Credentials aren't changed in place: a new name and its own parallel run (design guidance). Blocked: a credential or conversion that fails a check or its exchange test. Unmanaged: in the tenant, not in the file; reported, never deleted. HandOffChapter04: a certificate target, issued from the vault and rotated under Chapter 04. AwaitingCutover: no cutover recorded; the conversion's cutover gate says Ready, NotReady or Blocked, and why. ParallelRunning: day N of 30, with the date the window ends and the new identity's sign-ins. LegacyStillInUse, NewCredentialFailing, NoSignInsOnNewCredential: the run isn't clean (NPI-WIF-09). AwaitingOwnerApproval: a clean 30 days; the application owner approves the disable in the cutover log. DisableLegacy: a clean 30 days and the owner's approval: Disable-ADAccount -Identity &lt;objectGUID&gt;; writes, after review. RemoveSecretByOwner: a clean 30 days for an app registration's secret: the owner removes it through Chapter 04's reviewed change; this code removes no credential. Converted: DisabledOn recorded: record the target, the date and the disabled object's ID. The evidence for a clean run: the new identity's sign-ins come from Graph's beta sign-in log, filtered by time, appId and signInEventTypes (managedIdentity or servicePrincipal), because only beta returns service principal and managed identity sign-ins, and only beta carries clientCredentialType and federatedCredentialId. A new credential's sign-in is one with clientCredentialType federatedIdentityCredential and the credential's own ID, or managedIdentity for a managed identity. The legacy credential is in use if a clientSecret sign-in appears on the app after cutover, or the legacy AD account's LastLogonDate is after it, which is a lead to confirm on the domain controllers, not a fact (Chapter 01's research gaps, row 3). Design guidance: 30 days with no legacy use, no failed sign-ins on the new credential, at least one successful one, and a week with none is a finding. The plan is written as plan.json with the conversion file's and cutover log's SHA-256, the tenant, the cloud and the date, and the run prints the plan's SHA-256. The same inputs give the same plan, byte for byte. The run also writes findings.json, conversion-records.json (each conversion's identity, role assignments, cutover gate and parallel run) and exchange-tests.json, with a manifest of every request and a SHA-256 per file. The parallel run itself (implementation guide, Step 5): old and new together for 30 days with the legacy account still enabled, watching the new identity's sign-ins in Entra ID and the legacy account's logons on the domain controllers, then disable the legacy account, never delete it; for an app registration losing a secret, remove the secret only after the new credential has carried production traffic. Book 02's rollback is to re-enable the legacy account and revert the application's configuration.
Sources: Microsoft Learn, "User Assigned Identities - Create Or Update" (Managed Identity REST, 2024-11-30), https://learn.microsoft.com/rest/api/managedidentity/user-assigned-identities/create-or-update (accessed Oct 30, 2026). · Microsoft Learn, "List signIns" (beta), permissions, national cloud deployments, the signInEventTypes note, https://learn.microsoft.com/graph/api/signin-list?view=graph-rest-beta (accessed Oct 30, 2026). · Microsoft Learn, "signIn resource type" (beta), https://learn.microsoft.com/graph/api/resources/signin?view=graph-rest-beta (accessed Oct 31, 2026).
Workbook: Building Non-Person Identity, Chapter 05 — “The plan”; “The evidence for a clean run”; “What the code depends on” — the parallel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is a separate path, and it's deliberately hard to misuse. It runs only against a plan whose hash a reviewer approved, for this tenant and cloud, and no older than a week. Every credential is checked again against the plan's recorded claims, so a hand-edited plan can't sneak through, and it never deletes anything. It runs as a person, not an unattended app. Before each write it looks again, and it sends one write at a time, identity first, because Learn says parallel creates under one identity fail. A new credential also needs a few minutes to propagate before it works.
Detail: Invoke-NpiFederation.ps1 -PlanPath is the only code in the chapter that writes, through a client for the federation-apply task. It refuses to run unless the plan file's SHA-256 is the one passed as -ApprovedSha256, the plan is for this tenant and cloud, and it is no more than seven days old (design guidance, as in Chapter 02). Each write must be a declared federation-apply call with its method and a target on the cloud's own host; a credential's body may hold only name, issuer, subject, audiences and description (or, on an identity, properties with the first three), and it is checked again, against the claims recorded in the plan, so a hand-edited plan can't create a credential the plan would have blocked. DELETE is never sent. A live run is delegated: a person signed in with Cloud Application Administrator (or the application's owner) and Managed Identity Contributor, never an unattended app. Before each write it re-reads the target and skips the write if the identity now exists, a credential with that name or that issuer and subject appeared, the parent holds 20, or the AD account is already disabled. It sends one write at a time, in the plan's order, so an identity exists before its credentials and no two credentials under one identity are created together. Without -Apply it stops after the prechecks and reports WouldSend. With -Apply it sends, records every request in its manifest, and tells the operator to record DisabledOn, and to wait for a new credential to propagate (Learn: AADSTS70021 for a few minutes) before the first real exchange.
Sources: Microsoft Learn, "Important considerations and restrictions for federated identity credentials," propagation; concurrent updates; errors, https://learn.microsoft.com/entra/workload-id/workload-identity-federation-considerations (accessed Oct 30, 2026).
Workbook: Building Non-Person Identity, Chapter 05 — “The separate write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it. Identity engineers run the waves and keep the conversion file. And the application owners switch each workload, keep the cutover log, and approve every disable. The access is split in two. The read path is an app with read-only permissions and the Reader role. The write path is only ever a person, signed in with their own roles, because a standing app with the right to add credentials to any application is exactly what this program is trying to remove. For the identity's credential, the code picks the narrower built-in role over Contributor.
Detail: Audience: developers who build the project's conversion code, the identity engineers who run the waves, and the application owners who switch each workload and approve each disable. You should read PowerShell 7 and know Chapters 01 and 02. You don't need a tenant until Lab 2. federation (read): GET /applications/{id}, its credentials, GET /servicePrincipals/{id}; GET /beta/auditLogs/signIns; GET user-assigned identity, its credentials, role assignments; Get-ADUser; the token exchange test (fake only). Application.Read.All, AuditLog.Read.All; Reader; default AD read. federation-apply (write, delegated only): re-read credentials and identities; POST application credential; PUT identity; PUT identity credential; Get-ADUser, Disable-ADAccount. Application.Read.All, Application.ReadWrite.All; Managed Identity Contributor, Reader; a delegated right to disable accounts in the account's OU. Application.ReadWrite.All is the only delegated permission Learn lists for creating a federated credential on an application; the application permission Application.ReadWrite.OwnedBy reaches only apps the caller owns, and a person needs Cloud Application Administrator or Application Administrator, or, for an app they own, Application Developer or a member's default permissions. Learn's trust page names Contributor or Owner on the identity for creating its credential; the Managed Identity Contributor built-in role holds the same federatedIdentityCredentials/write action and is what Learn names for creating the identity, so the call list declares it (research gaps, row 45). Listing role assignments: GET {scope}/providers/Microsoft.Authorization/roleAssignments?api-version=2022-04-01&amp;$filter=assignedTo('{objectId}'), needing roleAssignments/read, such as Reader. Listing an application's federated credentials needs Application.Read.All (the Get page differs; Chapter 01's row 4). The beta sign-in list needs AuditLog.Read.All, Reports Reader and others for delegated access, and a P1 or P2 license.
Sources: Microsoft Learn, "Create federatedIdentityCredential," permissions, request body, national cloud deployments, https://learn.microsoft.com/graph/api/application-post-federatedidentitycredentials?view=graph-rest-1.0 (accessed Oct 30, 2026). · Microsoft Learn, "List federatedIdentityCredentials," permissions, https://learn.microsoft.com/graph/api/federatedidentitycredential-list?view=graph-rest-1.0 (accessed Oct 30, 2026; read for Chapter 01). · Microsoft Learn, "List signIns" (beta), permissions, national cloud deployments, the signInEventTypes note, https://learn.microsoft.com/graph/api/signin-list?view=graph-rest-beta (accessed Oct 30, 2026). · Microsoft Learn, "List Azure role assignments using the REST API," https://learn.microsoft.com/azure/role-based-access-control/role-assignments-list-rest, and "List Azure role assignments using the Azure portal," prerequisites, https://learn.microsoft.com/azure/role-based-access-control/role-assignments-list-portal (accessed Oct 30, 2026). · Microsoft Learn, "Azure built-in roles for Identity," Managed Identity Contributor, https://learn.microsoft.com/azure/role-based-access-control/built-in-roles/identity#managed-identity-contributor (accessed Oct 30, 2026). · Microsoft Learn, "Configure a user-assigned managed identity to trust an external identity provider," introduction, prerequisites, ARM template and REST samples, https://learn.microsoft.com/entra/workload-id/workload-identity-federation-create-trust-user-assigned-managed-identity (accessed Oct 30, 2026). · Microsoft Learn, "Manage user-assigned managed identities using REST," create and list, https://learn.microsoft.com/entra/identity/managed-identities-azure-resources/manage-user-assigned-managed-identities-rest (accessed Oct 30, 2026).
Workbook: Building Non-Person Identity, Chapter 05 — “Goal and audience”; “The separate write path” — permissions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PowerShell 7 and Pester; no tenant, no network. First you run Microsoft's own samples against the fakes. Find the test that creates a credential with Graph's sample and then exchanges a token with a different subject: the create succeeds and the exchange fails. That's the whole risk, in one test. Then you list what each task needs, and build the plan from the fixtures: eight conversions in two waves, two failed exchange tests, and twenty actions, of which only four would write. The plan's hash is the same on every run.
Detail: You need PowerShell 7.1 or later with Pester 5. Work in examples/non-person-identity. Step 1, send Microsoft's samples to the fakes: Invoke-Pester -Path tests/NpiFederationSamples.Tests.ps1 -Output None -PassThru | Select-Object PassedCount, FailedCount, NotRunCount gives PassedCount 17, FailedCount 0, NotRunCount 0. Read the test that sends the Graph sample and then exchanges a token with another subject: the create succeeds and the exchange fails with AADSTS70021. Step 2, list what each task needs: Import-Module ./powershell/NpiFederation/NpiFederation.psm1; foreach ($t in 'federation', 'federation-apply') { $p = Get-NpiWifRequiredPermission -Task $t; "$t : " + ($p.GraphPermissions -join ', ') + ' | ' + ($p.AzureRoles -join ', ') } gives "federation : Application.Read.All, AuditLog.Read.All | Reader" and "federation-apply : Application.Read.All, Application.ReadWrite.All | Managed Identity Contributor, Reader". Step 3, build the plan: ./Invoke-NpiFederation.ps1 -Cloud gcc -ConversionsPath tests/fixtures/ch05/conversions.json -CutoverLogPath tests/fixtures/ch05/cutover-log.csv -FixturePath tests/fixtures/ch05/tenant.json -OutputPath out/federation. Output: "Conversions: 8 in 2 wave(s); token exchange tests: 4 passed, 2 failed"; "Findings: 7 Finding, 1 Warn"; "Plan: 20 actions, 4 of them writes (2 CreateCredential, 1 CreateIdentity, 1 DisableLegacy); nothing sent"; "Parallel runs: conv-01 ReadyToDisableLegacy; conv-02 AwaitingCutover; conv-03 AwaitingCutover; conv-04 AwaitingCutover; conv-05 AwaitingCutover; conv-06 AwaitingCutover; conv-07 ParallelRunning; conv-08 LegacyStillInUse"; "Plan SHA-256: 5ec0a52c70dc49ac6904c6923ac9b292e3c312d38594b6210cc9178c9f188bf2". The plan's hash is the same on every run with these inputs. The commands send Microsoft's pinned samples to fakes, and run the example against a fictional tenant; -Apply in Lab 1 changes only the fake, in memory.
Sources: Building Non-Person Identity, Chapter 05, docs/project-plans/developer-workbooks/non-person-identity/05-workload-identity-federation-and-managed-identities.md
Workbook: Building Non-Person Identity, Chapter 05 — “Lab 1: fixtures, no tenant,” steps 1–3; the “Illustrative code”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fixtures tell their stories. One credential copies the sample's trailing slash and gets the environment's letter case wrong, so it fails three ways, including the exchange. Another copies the template's stray space in the audience. A credential someone added in the portal shows up as a warning. One conversion has run forty clean days with the owner's approval, so it's the single disable in the plan, while another's old secret was still signing in weeks after cutover. Then you dry-run with the approved hash, apply to the fake in order, and watch a hash nobody approved get refused.
Detail: Step 4, read the findings: Get-Content out/federation/findings.json -Raw | ConvertFrom-Json | Format-Table Rule, Severity, ObjectKey: NPI-WIF-03, NPI-WIF-02 and NPI-WIF-08 Finding on conv-02/payroll-prod; NPI-WIF-07 Warn on conv-02/payroll-test; NPI-WIF-04 and NPI-WIF-08 Finding on conv-03/github-intranet-tag; NPI-WIF-01 Finding on conv-06; NPI-WIF-09 Finding on conv-08. payroll-prod copies the Azure PowerShell sample's issuer, with its trailing slash, and names the environment Production where the workflow's is production: two findings, and an exchange test that fails. payroll-test was added in the portal and isn't in the file. github-intranet-tag copies the ARM template's audience, leading space and all. conv-06 gives an Azure Functions app a certificate when a managed identity is available. conv-08's secret still signed in on October 28, eight weeks after cutover. Step 5, read the exchange tests (Credential, SubjectSource, Passed): payroll-prod derived False; github-main derived True; github-intranet derived True; github-intranet-tag derived False; aks-webfront derived True; gh-reports derived True. aks-webfront is on an identity the plan will create: its test ran against a client ID marked pending:, and its real exchange waits for Lab 2. Step 6, read the conversions: conv-01 managedIdentity Ready ReadyToDisableLegacy day 40; conv-02 federatedCredential Blocked AwaitingCutover; conv-03 federatedCredential Blocked AwaitingCutover; conv-04 managedIdentity NotReady AwaitingCutover; conv-05 certificate NotReady AwaitingCutover; conv-06 certificate Blocked AwaitingCutover; conv-07 managedIdentity Ready ParallelRunning day 15; conv-08 federatedCredential Ready LegacyStillInUse day 59. conv-01 (svc-hrsync to the user-assigned identity id-hrsync) has run 40 days with the identity signing in and no logon by the old account since cutover, and its owner approved: the one disable in the plan. conv-07's window ends November 14. conv-03 is blocked by its tag credential, though github-intranet itself is created. conv-05, an on-premises task with no OIDC issuer, goes to a certificate under Chapter 04. Step 7, dry-run the plan with its approved hash: $sha = (Get-FileHash out/federation/plan.json -Algorithm SHA256).Hash.ToLower(), then ./Invoke-NpiFederation.ps1 -Cloud gcc -PlanPath out/federation/plan.json -ApprovedSha256 $sha -FixturePath tests/fixtures/ch05/tenant.json -OutputPath out/federation-dryrun gives "DryRun: 4 WouldSend": DisableLegacy, Disable-ADAccount -Identity ad000000-0000-4000-8000-000000000001; CreateCredential, POST https://graph.microsoft.com/v1.0/applications/0a000000-0000-4000-8000-000000000004/federatedIdentityCredentials; CreateIdentity, PUT .../userAssignedIdentities/id-webfront?api-version=2024-11-30 on management.azure.com; CreateCredential, PUT .../userAssignedIdentities/id-webfront/federatedIdentityCredentials/aks-webfront?api-version=2024-11-30. Step 8, apply it to the fake with -Apply, then try a hash nobody approved (-ApprovedSha256 ('0' * 64)): "Apply: 4 Sent", in the same order, the identity before its credential; then the refusal, "The plan's SHA-256 is 5ec0a52c…, not the approved 0000…; refusing to run a plan nobody reviewed." Step 9, Invoke-Pester -Path tests. Expected result: 513 tests passing across the example, out/federation/manifest.json listing 20 reads (5 application reads, 4 credential lists, 1 service principal, 4 sign-in pages, 2 identities, 2 role assignment reads, 2 AD reads) and 6 token exchange tests sent to the fake, and out/federation-apply/manifest.json listing the prechecks and the four writes. Delete out when you're done. The chapter's own tests: 17 in tests/NpiFederationSamples.Tests.ps1 (Microsoft's samples, run as published) and 38 in tests/NpiFederation.Tests.ps1 (the call list and its least-privilege check, the client and the token exchange harness, the claims and credential checks, the order, each finding and plan action, the 20-credential limit, the deterministic plan hash, each parallel run status, the writer's refusals, dry run, -Apply in order, the prechecks that skip, and the entry script and its manifest).
Sources: Building Non-Person Identity, Chapter 05, docs/project-plans/developer-workbooks/non-person-identity/05-workload-identity-federation-and-managed-identities.md
Workbook: Building Non-Person Identity, Chapter 05 — “Lab 1: fixtures, no tenant,” steps 4–9;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You set up one small conversion: a test app with a secret, a test service account, and a test repository whose workflow signs in to Azure. The key step is capturing the claims: have the workflow print the decoded issuer and subject of its token, never the token itself, because that's the truth the check compares against. Then plan, get a second person to approve the hash, apply, and watch a real exchange land in the sign-in log. Try a wrong subject on purpose, run the parallel run forward, and back it all out by hand.
Detail: Use a test tenant in the worldwide or GCC cloud, a test subscription, a test Active Directory domain and a test repository, never production, with fictional names. 1 Make a test conversion: a test app registration with a client secret, an enabled test account (svc- prefix) in a test OU, and a test repository whose workflow signs in with Learn's Azure Login sample (pinned in examples/third_party/azure-login-oidc-sample). Write a two-entry conversions.json: the test app getting a GitHub federated credential for the repository's test environment, and a new test user-assigned identity with no credential. 2 Capture the claims: run the workflow once with a step that prints the decoded iss and sub of its OIDC token, never the token itself. Record them as capturedSubject and capturedIssuer, and record whether the iss ends with a slash (research gaps, row 41) and whether the repository uses the immutable subject format (row 43). 3 Plan with an app holding only Application.Read.All and AuditLog.Read.All and Reader on the test subscription, signed in as in Chapter 01: ./Invoke-NpiFederation.ps1 -Cloud gcc -TenantId &lt;tenant-id&gt; -Domain &lt;test-domain&gt; -ConversionsPath &lt;conversions&gt; -CutoverLogPath &lt;cutover-log&gt; -OutputPath out/federation-test. Have a second person review plan.json and pass you its SHA-256. 4 Dry-run, then apply, signed in as a person with Cloud Application Administrator and Managed Identity Contributor on the test resource group: Connect-MgGraph -Environment Global -TenantId &lt;tenant-id&gt; -Scopes Application.Read.All, Application.ReadWrite.All; Connect-AzAccount -Environment AzureCloud -Tenant &lt;tenant-id&gt;; ./Invoke-NpiFederation.ps1 -Cloud gcc -PlanPath out/federation-test/plan.json -ApprovedSha256 &lt;sha&gt; -Domain &lt;test-domain&gt; -OutputPath out/federation-test-apply -Apply. 5 Exchange for real: wait a few minutes for the credential to propagate, run the workflow, and confirm its sign-in appears in the beta sign-in log with clientCredentialType federatedIdentityCredential and the credential's ID. Then add a second test credential with a deliberately wrong subject, run the workflow against it, and record the error the token endpoint returns (research gaps, row 44). Record whether a sign-in with the old client secret shows its key ID (row 47). 6 Run the parallel run: record CutoverOn in the cutover log, plan again, and confirm ParallelRunning with one sign-in. To see the disable without waiting 30 days, run the plan with -AsOf 31 days later and the owner's approval recorded, review, and apply: the test account is disabled. 7 Back it out: enable the test account, remove the test credentials and delete the test identity, the test app registration and the test account by hand in the test tenant and domain (this code never deletes), and delete the out folders: they name accounts and identities.
Sources: Microsoft Learn, "Important considerations and restrictions for federated identity credentials," propagation; concurrent updates; errors, https://learn.microsoft.com/entra/workload-id/workload-identity-federation-considerations (accessed Oct 30, 2026). · Microsoft Learn, "List signIns" (beta), permissions, national cloud deployments, the signInEventTypes note, https://learn.microsoft.com/graph/api/signin-list?view=graph-rest-beta (accessed Oct 30, 2026). · Microsoft Learn, "signIn resource type" (beta), https://learn.microsoft.com/graph/api/resources/signin?view=graph-rest-beta (accessed Oct 31, 2026).
Workbook: Building Non-Person Identity, Chapter 05 — “Lab 2: test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The headline one is still the wrong subject, caught by the claims check and the exchange test before any cutover. Others are small: a trailing slash, a stray space, a subject guessed instead of captured. Some are about timing, like creating credentials in parallel, or using one before it's propagated. And some are about keeping your way back: the code never deletes, so the rollback, re-enabling the old account, always remains. Notice that writes stay with a person, never a standing app.
Detail: A wrong subject: accepted at creation; the workload fails at cutover, with no error from Entra ID; guard: checked against what the workload presents, then the exchange test; a cutover is blocked until both pass (NPI-WIF-02, -08). A trailing slash or a stray space: the issuer or audience never matches; guard: exact comparison; exactly one audience, exactly api://AzureADTokenExchange (NPI-WIF-03, -04). A subject derived from a guess: a pull request or immutable-format subject that GitHub never presents; guard: derived only for Learn's three name-based formats; otherwise captured from a test run. A mutable subject: a renamed repository's name passes to someone else's; guard: the subject's source is recorded; prefer the immutable format where the issuer offers it. A credential changed in place: the live workload's exchange breaks mid-run; guard: ReviewChange: a new name and its own parallel run. A credential added outside the pipeline: a trust nobody reviewed; guard: Unmanaged (NPI-WIF-07), reported every run, never deleted by code. Credentials created in parallel: 409 under one identity; guard: one write at a time, the identity first. The first exchange right after creation: AADSTS70021 during propagation; guard: the apply says to wait; Lab 2 waits and retries. A disable on a stale lead: the job fails because the old account was still in use; guard: 30 days, sign-ins on the new identity, no legacy use, the owner's approval, and a re-read before the write. A delete: the rollback is gone; guard: no delete action; the writer refuses DELETE; secrets are removed by the owner through Chapter 04. A secret removed too early: the workload falls back and fails; guard: RemoveSecretByOwner only after a clean run; clientSecret sign-ins after cutover keep the run open. An assertion sent to a real endpoint: a token, or a test assertion, leaves the machine; guard: the exchange test runs only against the fake; the manifest records the call, never the assertion. An unattended app with Application.ReadWrite.All: a standing permission that can add a credential to any app; guard: the write path is a person's delegated session; the read path holds Application.Read.All and AuditLog.Read.All. A plan changed after review: different writes from the ones approved; guard: the approved SHA-256; this tenant and cloud; seven days; each credential re-checked before it's sent. A preview feature in production: behavior that changes under you; guard: flexible credentials refused (NPI-WIF-05); the beta sign-in read labeled and its evidence kept. Where Learn's pages differ (Verified facts): the GitHub issuer has no trailing slash in the CLI and REST create samples and on the flexible credential page, and has one in the Azure PowerShell sample, the CLI page's prose and the REST list response (research gaps, row 41); the pull request subject is :pull-request on the Entra page and :pull_request on App Service's (row 42); the trust page names Contributor or Owner for a credential on an identity, while Managed Identity Contributor holds the action and is what Learn names for creating the identity (row 45); and the how-to samples use API versions 2022-01-31-preview and 2015-08-31-preview where the reference is 2024-11-30 (row 48). The code follows the stricter reading in each case: an exact comparison against the claim captured from a real token, no derived pull request subject, the narrower role, and the GA API version.
Sources: Microsoft Learn, "Mutable subjects in federated identity credentials," recommended hygiene, https://learn.microsoft.com/entra/workload-id/workload-identities-federated-credential-mutable-subjects (accessed Oct 30, 2026). · Microsoft Learn, "Important considerations and restrictions for federated identity credentials," propagation; concurrent updates; errors, https://learn.microsoft.com/entra/workload-id/workload-identity-federation-considerations (accessed Oct 30, 2026). · Microsoft Learn, "Flexible federated identity credentials (preview)," properties; issuer URLs, supported claims and operators by platform, https://learn.microsoft.com/entra/workload-id/workload-identities-flexible-federated-identity-credentials, and "Set up a Flexible Federated identity credential (preview)," https://learn.microsoft.com/entra/workload-id/workload-identities-set-up-flexible-federated-identity-credential (accessed Oct 30, 2026).
Workbook: Building Non-Person Identity, Chapter 05 — “Dangers”; “Verified facts” — where Learn's pages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conversion followed the order or says why. Every federated credential was checked against claims captured from a real run, and passed its exchange test, before cutover. Nothing sits in the tenant that nobody reviewed. The plan was approved by someone other than the person who applied it. Every parallel run had thirty clean days, every disable has the owner's approval, and nothing was deleted, so the way back is still open. Next, Chapter 6 turns to group managed service accounts, delegated managed service accounts, and the Kerberos island. Thanks for watching.
Detail: Checklist: every conversion's target follows the order, or has a recorded reason (NPI-WIF-01). Every federated credential's issuer and subject were checked against the claims captured from a real test run of its workload, and its token exchange test passed, before cutover. Every credential in the tenant on a converted app or identity is in the reviewed file, or its retirement is in review. Every user-assigned identity was created by the write path, and every managed identity's role assignments are in its record for Chapter 07. The plan's SHA-256 was approved by someone other than the person who applied it, and the write path ran as a person, delegated. Every cutover is in the cutover log, and every parallel run shows sign-ins on the new identity, no legacy use, and 30 days. Every disable has the owner's approval and a DisabledOn; every secret is removed through Chapter 04's change, after its run. Nothing was deleted by this code; rollback (re-enable, revert the configuration) is still possible. The pinned samples match their manifests, and every upstream commit since the pins has been reviewed. Next: Chapter 06 — gMSAs, dMSAs and the Kerberos Island.
Sources: Building Non-Person Identity, Chapter 05, docs/project-plans/developer-workbooks/non-person-identity/05-workload-identity-federation-and-managed-identities.md
Workbook: Building Non-Person Identity, Chapter 05 — “Checklist”; “Continue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docs/project-plans/developer-workbooks/non-person-identity/05-workload-identity-federation-and-managed-identities.md.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docs/project-plans/developer-workbooks/non-person-identity/05-workload-identity-federation-and-managed-identities.md.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footnotes in full, from docs/project-plans/developer-workbooks/non-person-identity/05-workload-identity-federation-and-managed-identities.md.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Building Non-Person Identity  ·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Chapter 05: Workload Federation and Managed Identities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indent="0" marL="0">
              <a:spcAft>
                <a:spcPts val="400"/>
              </a:spcAft>
              <a:buNone/>
            </a:pPr>
            <a:r>
              <a:rPr lang="en-US" sz="1400" b="1" dirty="0">
                <a:solidFill>
                  <a:srgbClr val="1F2A44"/>
                </a:solidFill>
              </a:rPr>
              <a:t>Why the exchange test · Learn's samples and their gaps · checks, plan, write path · who · two labs · dangers</a:t>
            </a:r>
            <a:endParaRPr lang="en-US" sz="1400" dirty="0"/>
          </a:p>
          <a:p>
            <a:pPr indent="0" marL="0">
              <a:spcAft>
                <a:spcPts val="400"/>
              </a:spcAft>
              <a:buNone/>
            </a:pPr>
            <a:r>
              <a:rPr lang="en-US" sz="1400" dirty="0">
                <a:solidFill>
                  <a:srgbClr val="334155"/>
                </a:solidFill>
              </a:rPr>
              <a:t>Chapter review status: approved  ·  Illustrative code, tested against fixtures</a:t>
            </a:r>
            <a:endParaRPr lang="en-US" sz="1400" dirty="0"/>
          </a:p>
          <a:p>
            <a:pPr indent="0" marL="0">
              <a:spcAft>
                <a:spcPts val="400"/>
              </a:spcAft>
              <a:buNone/>
            </a:pPr>
            <a:r>
              <a:rPr lang="en-US" sz="1400" b="1" dirty="0">
                <a:solidFill>
                  <a:srgbClr val="0F766E"/>
                </a:solidFill>
              </a:rPr>
              <a:t>Date Code 2026-10-31 10:16 ET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the token exchange test comes first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A federated credential with the wrong subject is accepted the day it's created and fails the day the workload depends on it.</a:t>
            </a:r>
            <a:endParaRPr lang="en-US" sz="1800" dirty="0"/>
          </a:p>
        </p:txBody>
      </p:sp>
      <p:sp>
        <p:nvSpPr>
          <p:cNvPr id="6" name="Panel The risk" descr="">
            <a:extLst>
              <a:ext uri="{C183D7F6-B498-43B3-948B-1728B52AA6E4}">
                <adec:decorative xmlns:adec="http://schemas.microsoft.com/office/drawing/2017/decorative" val="1"/>
              </a:ext>
            </a:extLst>
          </p:cNvPr>
          <p:cNvSpPr/>
          <p:nvPr/>
        </p:nvSpPr>
        <p:spPr>
          <a:xfrm>
            <a:off x="548640" y="2112264"/>
            <a:ext cx="5417820" cy="2584704"/>
          </a:xfrm>
          <a:prstGeom prst="roundRect">
            <a:avLst>
              <a:gd name="adj" fmla="val 283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nel The risk label"/>
          <p:cNvSpPr txBox="1"/>
          <p:nvPr/>
        </p:nvSpPr>
        <p:spPr>
          <a:xfrm>
            <a:off x="731520" y="2221992"/>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THE RISK</a:t>
            </a:r>
            <a:endParaRPr lang="en-US" sz="1100" dirty="0"/>
          </a:p>
        </p:txBody>
      </p:sp>
      <p:sp>
        <p:nvSpPr>
          <p:cNvPr id="8" name="Panel The risk list"/>
          <p:cNvSpPr txBox="1"/>
          <p:nvPr/>
        </p:nvSpPr>
        <p:spPr>
          <a:xfrm>
            <a:off x="731520" y="2523744"/>
            <a:ext cx="5097780" cy="21275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Learn, twice: a wrong subject "is created successfully without error"; the error appears only when the exchange fails</a:t>
            </a:r>
            <a:endParaRPr lang="en-US" sz="1600" dirty="0"/>
          </a:p>
          <a:p>
            <a:pPr marL="342900" indent="-342900">
              <a:spcAft>
                <a:spcPts val="400"/>
              </a:spcAft>
              <a:buSzPct val="100000"/>
              <a:buChar char="•"/>
            </a:pPr>
            <a:r>
              <a:rPr lang="en-US" sz="1600" dirty="0">
                <a:solidFill>
                  <a:srgbClr val="334155"/>
                </a:solidFill>
              </a:rPr>
              <a:t>For GitHub, the exchange "fails without error"</a:t>
            </a:r>
            <a:endParaRPr lang="en-US" sz="1600" dirty="0"/>
          </a:p>
          <a:p>
            <a:pPr marL="342900" indent="-342900">
              <a:spcAft>
                <a:spcPts val="400"/>
              </a:spcAft>
              <a:buSzPct val="100000"/>
              <a:buChar char="•"/>
            </a:pPr>
            <a:r>
              <a:rPr lang="en-US" sz="1600" dirty="0">
                <a:solidFill>
                  <a:srgbClr val="334155"/>
                </a:solidFill>
              </a:rPr>
              <a:t>The plan's risk register says the same; its mitigation: test each credential's exchange before the parallel run starts</a:t>
            </a:r>
            <a:endParaRPr lang="en-US" sz="1600" dirty="0"/>
          </a:p>
        </p:txBody>
      </p:sp>
      <p:sp>
        <p:nvSpPr>
          <p:cNvPr id="9" name="Panel The order" descr="">
            <a:extLst>
              <a:ext uri="{C183D7F6-B498-43B3-948B-1728B52AA6E4}">
                <adec:decorative xmlns:adec="http://schemas.microsoft.com/office/drawing/2017/decorative" val="1"/>
              </a:ext>
            </a:extLst>
          </p:cNvPr>
          <p:cNvSpPr/>
          <p:nvPr/>
        </p:nvSpPr>
        <p:spPr>
          <a:xfrm>
            <a:off x="6240780" y="2112264"/>
            <a:ext cx="5417820" cy="2584704"/>
          </a:xfrm>
          <a:prstGeom prst="roundRect">
            <a:avLst>
              <a:gd name="adj" fmla="val 283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Panel The order label"/>
          <p:cNvSpPr txBox="1"/>
          <p:nvPr/>
        </p:nvSpPr>
        <p:spPr>
          <a:xfrm>
            <a:off x="6423660" y="2221992"/>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ORDER</a:t>
            </a:r>
            <a:endParaRPr lang="en-US" sz="1100" dirty="0"/>
          </a:p>
        </p:txBody>
      </p:sp>
      <p:sp>
        <p:nvSpPr>
          <p:cNvPr id="11" name="Panel The order list"/>
          <p:cNvSpPr txBox="1"/>
          <p:nvPr/>
        </p:nvSpPr>
        <p:spPr>
          <a:xfrm>
            <a:off x="6423660" y="2523744"/>
            <a:ext cx="5097780" cy="212750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Book 02's Phase 4, HIGH-risk accounts first: managed identities for Azure-hosted workloads</a:t>
            </a:r>
            <a:endParaRPr lang="en-US" sz="1600" dirty="0"/>
          </a:p>
          <a:p>
            <a:pPr marL="342900" indent="-342900">
              <a:spcAft>
                <a:spcPts val="400"/>
              </a:spcAft>
              <a:buSzPct val="100000"/>
              <a:buChar char="•"/>
            </a:pPr>
            <a:r>
              <a:rPr lang="en-US" sz="1600" dirty="0">
                <a:solidFill>
                  <a:srgbClr val="334155"/>
                </a:solidFill>
              </a:rPr>
              <a:t>Federated credentials for pipelines and other OIDC-capable hosts</a:t>
            </a:r>
            <a:endParaRPr lang="en-US" sz="1600" dirty="0"/>
          </a:p>
          <a:p>
            <a:pPr marL="342900" indent="-342900">
              <a:spcAft>
                <a:spcPts val="400"/>
              </a:spcAft>
              <a:buSzPct val="100000"/>
              <a:buChar char="•"/>
            </a:pPr>
            <a:r>
              <a:rPr lang="en-US" sz="1600" dirty="0">
                <a:solidFill>
                  <a:srgbClr val="334155"/>
                </a:solidFill>
              </a:rPr>
              <a:t>Certificates only where neither applies</a:t>
            </a:r>
            <a:endParaRPr lang="en-US" sz="1600" dirty="0"/>
          </a:p>
          <a:p>
            <a:pPr marL="342900" indent="-342900">
              <a:spcAft>
                <a:spcPts val="400"/>
              </a:spcAft>
              <a:buSzPct val="100000"/>
              <a:buChar char="•"/>
            </a:pPr>
            <a:r>
              <a:rPr lang="en-US" sz="1600" dirty="0">
                <a:solidFill>
                  <a:srgbClr val="334155"/>
                </a:solidFill>
              </a:rPr>
              <a:t>Decision D-N3 names each target; Chapter 03 builds the waves; this chapter holds the credentials</a:t>
            </a:r>
            <a:endParaRPr lang="en-US" sz="16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an app to trust an external identity provider (considerations); Book 02, Ch 10, Phase 4. Chapter 05, “What the code depends 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cloud: Graph, Resource Manager, sign-in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4"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438400"/>
        </p:xfrm>
        <a:graphic>
          <a:graphicData uri="http://schemas.openxmlformats.org/drawingml/2006/table">
            <a:tbl>
              <a:tblPr firstRow="1" bandRow="1"/>
              <a:tblGrid>
                <a:gridCol w="2103120"/>
                <a:gridCol w="4206240"/>
                <a:gridCol w="4800600"/>
              </a:tblGrid>
              <a:tr h="345948">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Host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Microsoft 365 GCC with commercial Azure</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GCC High and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Microsoft Graph</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graph.microsoft.us (GCC High); dod-graph.microsoft.us (DoD)</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Resource Manager</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management.azure.com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management.usgovcloudapi.net (Azure Government)</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4594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Sign-in</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login.microsoftonline.com</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login.microsoftonline.us</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2168">
                <a:tc>
                  <a:txBody>
                    <a:bodyPr/>
                    <a:lstStyle/>
                    <a:p>
                      <a:pPr indent="0" marL="0">
                        <a:buNone/>
                      </a:pPr>
                      <a:r>
                        <a:rPr lang="en-US" sz="1550" b="1" dirty="0">
                          <a:solidFill>
                            <a:srgbClr val="1F2A44"/>
                          </a:solidFill>
                          <a:latin typeface="Calibri" pitchFamily="34" charset="0"/>
                          <a:ea typeface="Calibri" pitchFamily="34" charset="-122"/>
                          <a:cs typeface="Calibri" pitchFamily="34" charset="-120"/>
                        </a:rPr>
                        <a:t>Availability</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Create a credential on an application, and list sign-ins: US Government L4 and L5</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50" dirty="0">
                          <a:solidFill>
                            <a:srgbClr val="334155"/>
                          </a:solidFill>
                          <a:latin typeface="Calibri" pitchFamily="34" charset="0"/>
                          <a:ea typeface="Calibri" pitchFamily="34" charset="-122"/>
                          <a:cs typeface="Calibri" pitchFamily="34" charset="-120"/>
                        </a:rPr>
                        <a:t>The user-assigned identity pages read don't state Azure Government availability</a:t>
                      </a:r>
                      <a:endParaRPr lang="en-US" sz="15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3947160"/>
            <a:ext cx="11109960" cy="1019556"/>
          </a:xfrm>
          <a:prstGeom prst="roundRect">
            <a:avLst>
              <a:gd name="adj" fmla="val 7175"/>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oud" descr="">
            <a:extLst>
              <a:ext uri="{C183D7F6-B498-43B3-948B-1728B52AA6E4}">
                <adec:decorative xmlns:adec="http://schemas.microsoft.com/office/drawing/2017/decorative" val="1"/>
              </a:ext>
            </a:extLst>
          </p:cNvPr>
          <p:cNvSpPr/>
          <p:nvPr/>
        </p:nvSpPr>
        <p:spPr>
          <a:xfrm>
            <a:off x="749808" y="4136898"/>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290517"/>
            <a:ext cx="332842" cy="332842"/>
          </a:xfrm>
          <a:prstGeom prst="rect">
            <a:avLst/>
          </a:prstGeom>
        </p:spPr>
      </p:pic>
      <p:sp>
        <p:nvSpPr>
          <p:cNvPr id="9" name="Callout text"/>
          <p:cNvSpPr txBox="1"/>
          <p:nvPr/>
        </p:nvSpPr>
        <p:spPr>
          <a:xfrm>
            <a:off x="1600200" y="4002024"/>
            <a:ext cx="9875520" cy="909828"/>
          </a:xfrm>
          <a:prstGeom prst="rect">
            <a:avLst/>
          </a:prstGeom>
          <a:noFill/>
          <a:ln/>
        </p:spPr>
        <p:txBody>
          <a:bodyPr wrap="square" lIns="0" tIns="0" rIns="0" bIns="0" rtlCol="0" anchor="ctr"/>
          <a:lstStyle/>
          <a:p>
            <a:pPr indent="0" marL="0">
              <a:buNone/>
            </a:pPr>
            <a:r>
              <a:rPr lang="en-US" sz="1750" b="1" dirty="0">
                <a:solidFill>
                  <a:srgbClr val="0F766E"/>
                </a:solidFill>
              </a:rPr>
              <a:t>For this estate: </a:t>
            </a:r>
            <a:pPr indent="0" marL="0">
              <a:buNone/>
            </a:pPr>
            <a:r>
              <a:rPr lang="en-US" sz="1750" dirty="0">
                <a:solidFill>
                  <a:srgbClr val="334155"/>
                </a:solidFill>
              </a:rPr>
              <a:t>the estate's Azure is commercial, so the code sends identity calls to management.azure.com for gcc, and to Azure Government only for gcchigh and dod. The exchange test goes only to the fake, addressed to the cloud's own sign-in host.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Microsoft Graph national cloud deployments; Compare Azure Government and global Azure; Create federatedIdentityCredential; List signIns. Chapter 05, “Which cloud.”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a federated credential is, and its rules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indent="0" marL="0">
              <a:buNone/>
            </a:pPr>
            <a:r>
              <a:rPr lang="en-US" sz="1800" b="1" dirty="0">
                <a:solidFill>
                  <a:srgbClr val="1F2A44"/>
                </a:solidFill>
              </a:rPr>
              <a:t>The workload presents its issuer's token; Entra ID exchanges it for an access token if three values match.</a:t>
            </a:r>
            <a:endParaRPr lang="en-US" sz="1800" dirty="0"/>
          </a:p>
        </p:txBody>
      </p:sp>
      <p:sp>
        <p:nvSpPr>
          <p:cNvPr id="6" name="Card 1" descr="">
            <a:extLst>
              <a:ext uri="{C183D7F6-B498-43B3-948B-1728B52AA6E4}">
                <adec:decorative xmlns:adec="http://schemas.microsoft.com/office/drawing/2017/decorative" val="1"/>
              </a:ext>
            </a:extLst>
          </p:cNvPr>
          <p:cNvSpPr/>
          <p:nvPr/>
        </p:nvSpPr>
        <p:spPr>
          <a:xfrm>
            <a:off x="548640" y="2112264"/>
            <a:ext cx="3550920" cy="1432560"/>
          </a:xfrm>
          <a:prstGeom prst="roundRect">
            <a:avLst>
              <a:gd name="adj" fmla="val 5106"/>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ard 1 bar" descr="">
            <a:extLst>
              <a:ext uri="{C183D7F6-B498-43B3-948B-1728B52AA6E4}">
                <adec:decorative xmlns:adec="http://schemas.microsoft.com/office/drawing/2017/decorative" val="1"/>
              </a:ext>
            </a:extLst>
          </p:cNvPr>
          <p:cNvSpPr/>
          <p:nvPr/>
        </p:nvSpPr>
        <p:spPr>
          <a:xfrm>
            <a:off x="548640" y="2112264"/>
            <a:ext cx="82296" cy="1432560"/>
          </a:xfrm>
          <a:prstGeom prst="rect">
            <a:avLst/>
          </a:prstGeom>
          <a:solidFill>
            <a:srgbClr val="1F2A44"/>
          </a:solidFill>
          <a:ln w="12700">
            <a:solidFill>
              <a:srgbClr val="1F2A44"/>
            </a:solidFill>
            <a:prstDash val="solid"/>
          </a:ln>
        </p:spPr>
      </p:sp>
      <p:sp>
        <p:nvSpPr>
          <p:cNvPr id="8" name="Card 1 text"/>
          <p:cNvSpPr txBox="1"/>
          <p:nvPr/>
        </p:nvSpPr>
        <p:spPr>
          <a:xfrm>
            <a:off x="777240" y="2249424"/>
            <a:ext cx="3185160" cy="120396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Issuer</a:t>
            </a:r>
            <a:endParaRPr lang="en-US" sz="1400" dirty="0"/>
          </a:p>
          <a:p>
            <a:pPr indent="0" marL="0">
              <a:spcAft>
                <a:spcPts val="300"/>
              </a:spcAft>
              <a:buNone/>
            </a:pPr>
            <a:r>
              <a:rPr lang="en-US" sz="1600" dirty="0">
                <a:solidFill>
                  <a:srgbClr val="334155"/>
                </a:solidFill>
              </a:rPr>
              <a:t>Must match the token's </a:t>
            </a:r>
            <a:pPr indent="0" marL="0">
              <a:spcAft>
                <a:spcPts val="300"/>
              </a:spcAft>
              <a:buNone/>
            </a:pPr>
            <a:r>
              <a:rPr lang="en-US" sz="1600" b="1" dirty="0">
                <a:solidFill>
                  <a:srgbClr val="1F2A44"/>
                </a:solidFill>
              </a:rPr>
              <a:t>iss</a:t>
            </a:r>
            <a:pPr indent="0" marL="0">
              <a:spcAft>
                <a:spcPts val="300"/>
              </a:spcAft>
              <a:buNone/>
            </a:pPr>
            <a:r>
              <a:rPr lang="en-US" sz="1600" dirty="0">
                <a:solidFill>
                  <a:srgbClr val="334155"/>
                </a:solidFill>
              </a:rPr>
              <a:t> claim; leading or trailing whitespace blocks the exchange</a:t>
            </a:r>
            <a:endParaRPr lang="en-US" sz="1400" dirty="0"/>
          </a:p>
        </p:txBody>
      </p:sp>
      <p:sp>
        <p:nvSpPr>
          <p:cNvPr id="9" name="Card 2" descr="">
            <a:extLst>
              <a:ext uri="{C183D7F6-B498-43B3-948B-1728B52AA6E4}">
                <adec:decorative xmlns:adec="http://schemas.microsoft.com/office/drawing/2017/decorative" val="1"/>
              </a:ext>
            </a:extLst>
          </p:cNvPr>
          <p:cNvSpPr/>
          <p:nvPr/>
        </p:nvSpPr>
        <p:spPr>
          <a:xfrm>
            <a:off x="4328160" y="2112264"/>
            <a:ext cx="3550920" cy="1432560"/>
          </a:xfrm>
          <a:prstGeom prst="roundRect">
            <a:avLst>
              <a:gd name="adj" fmla="val 5106"/>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ard 2 bar" descr="">
            <a:extLst>
              <a:ext uri="{C183D7F6-B498-43B3-948B-1728B52AA6E4}">
                <adec:decorative xmlns:adec="http://schemas.microsoft.com/office/drawing/2017/decorative" val="1"/>
              </a:ext>
            </a:extLst>
          </p:cNvPr>
          <p:cNvSpPr/>
          <p:nvPr/>
        </p:nvSpPr>
        <p:spPr>
          <a:xfrm>
            <a:off x="4328160" y="2112264"/>
            <a:ext cx="82296" cy="1432560"/>
          </a:xfrm>
          <a:prstGeom prst="rect">
            <a:avLst/>
          </a:prstGeom>
          <a:solidFill>
            <a:srgbClr val="0F766E"/>
          </a:solidFill>
          <a:ln w="12700">
            <a:solidFill>
              <a:srgbClr val="0F766E"/>
            </a:solidFill>
            <a:prstDash val="solid"/>
          </a:ln>
        </p:spPr>
      </p:sp>
      <p:sp>
        <p:nvSpPr>
          <p:cNvPr id="11" name="Card 2 text"/>
          <p:cNvSpPr txBox="1"/>
          <p:nvPr/>
        </p:nvSpPr>
        <p:spPr>
          <a:xfrm>
            <a:off x="4556760" y="2249424"/>
            <a:ext cx="3185160" cy="120396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Subject</a:t>
            </a:r>
            <a:endParaRPr lang="en-US" sz="1400" dirty="0"/>
          </a:p>
          <a:p>
            <a:pPr indent="0" marL="0">
              <a:spcAft>
                <a:spcPts val="300"/>
              </a:spcAft>
              <a:buNone/>
            </a:pPr>
            <a:r>
              <a:rPr lang="en-US" sz="1600" dirty="0">
                <a:solidFill>
                  <a:srgbClr val="334155"/>
                </a:solidFill>
              </a:rPr>
              <a:t>Must match the token's </a:t>
            </a:r>
            <a:pPr indent="0" marL="0">
              <a:spcAft>
                <a:spcPts val="300"/>
              </a:spcAft>
              <a:buNone/>
            </a:pPr>
            <a:r>
              <a:rPr lang="en-US" sz="1600" b="1" dirty="0">
                <a:solidFill>
                  <a:srgbClr val="1F2A44"/>
                </a:solidFill>
              </a:rPr>
              <a:t>sub</a:t>
            </a:r>
            <a:pPr indent="0" marL="0">
              <a:spcAft>
                <a:spcPts val="300"/>
              </a:spcAft>
              <a:buNone/>
            </a:pPr>
            <a:r>
              <a:rPr lang="en-US" sz="1600" dirty="0">
                <a:solidFill>
                  <a:srgbClr val="334155"/>
                </a:solidFill>
              </a:rPr>
              <a:t> claim; a wrong one is created without error</a:t>
            </a:r>
            <a:endParaRPr lang="en-US" sz="1400" dirty="0"/>
          </a:p>
        </p:txBody>
      </p:sp>
      <p:sp>
        <p:nvSpPr>
          <p:cNvPr id="12" name="Card 3" descr="">
            <a:extLst>
              <a:ext uri="{C183D7F6-B498-43B3-948B-1728B52AA6E4}">
                <adec:decorative xmlns:adec="http://schemas.microsoft.com/office/drawing/2017/decorative" val="1"/>
              </a:ext>
            </a:extLst>
          </p:cNvPr>
          <p:cNvSpPr/>
          <p:nvPr/>
        </p:nvSpPr>
        <p:spPr>
          <a:xfrm>
            <a:off x="8107680" y="2112264"/>
            <a:ext cx="3550920" cy="1432560"/>
          </a:xfrm>
          <a:prstGeom prst="roundRect">
            <a:avLst>
              <a:gd name="adj" fmla="val 510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Card 3 bar" descr="">
            <a:extLst>
              <a:ext uri="{C183D7F6-B498-43B3-948B-1728B52AA6E4}">
                <adec:decorative xmlns:adec="http://schemas.microsoft.com/office/drawing/2017/decorative" val="1"/>
              </a:ext>
            </a:extLst>
          </p:cNvPr>
          <p:cNvSpPr/>
          <p:nvPr/>
        </p:nvSpPr>
        <p:spPr>
          <a:xfrm>
            <a:off x="8107680" y="2112264"/>
            <a:ext cx="82296" cy="1432560"/>
          </a:xfrm>
          <a:prstGeom prst="rect">
            <a:avLst/>
          </a:prstGeom>
          <a:solidFill>
            <a:srgbClr val="B45309"/>
          </a:solidFill>
          <a:ln w="12700">
            <a:solidFill>
              <a:srgbClr val="B45309"/>
            </a:solidFill>
            <a:prstDash val="solid"/>
          </a:ln>
        </p:spPr>
      </p:sp>
      <p:sp>
        <p:nvSpPr>
          <p:cNvPr id="14" name="Card 3 text"/>
          <p:cNvSpPr txBox="1"/>
          <p:nvPr/>
        </p:nvSpPr>
        <p:spPr>
          <a:xfrm>
            <a:off x="8336280" y="2249424"/>
            <a:ext cx="3185160" cy="120396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Audience</a:t>
            </a:r>
            <a:endParaRPr lang="en-US" sz="1400" dirty="0"/>
          </a:p>
          <a:p>
            <a:pPr indent="0" marL="0">
              <a:spcAft>
                <a:spcPts val="300"/>
              </a:spcAft>
              <a:buNone/>
            </a:pPr>
            <a:r>
              <a:rPr lang="en-US" sz="1600" dirty="0">
                <a:solidFill>
                  <a:srgbClr val="334155"/>
                </a:solidFill>
              </a:rPr>
              <a:t>One value, matching </a:t>
            </a:r>
            <a:pPr indent="0" marL="0">
              <a:spcAft>
                <a:spcPts val="300"/>
              </a:spcAft>
              <a:buNone/>
            </a:pPr>
            <a:r>
              <a:rPr lang="en-US" sz="1600" b="1" dirty="0">
                <a:solidFill>
                  <a:srgbClr val="1F2A44"/>
                </a:solidFill>
              </a:rPr>
              <a:t>aud</a:t>
            </a:r>
            <a:pPr indent="0" marL="0">
              <a:spcAft>
                <a:spcPts val="300"/>
              </a:spcAft>
              <a:buNone/>
            </a:pPr>
            <a:r>
              <a:rPr lang="en-US" sz="1600" dirty="0">
                <a:solidFill>
                  <a:srgbClr val="334155"/>
                </a:solidFill>
              </a:rPr>
              <a:t>: api://AzureADTokenExchange for Entra ID</a:t>
            </a:r>
            <a:endParaRPr lang="en-US" sz="1400" dirty="0"/>
          </a:p>
        </p:txBody>
      </p:sp>
      <p:sp>
        <p:nvSpPr>
          <p:cNvPr id="15" name="List"/>
          <p:cNvSpPr txBox="1"/>
          <p:nvPr/>
        </p:nvSpPr>
        <p:spPr>
          <a:xfrm>
            <a:off x="548640" y="3727704"/>
            <a:ext cx="11109960" cy="1455420"/>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match is exact and case-sensitive; no wildcards in any value</a:t>
            </a:r>
            <a:endParaRPr lang="en-US" sz="1550" dirty="0"/>
          </a:p>
          <a:p>
            <a:pPr marL="342900" indent="-342900">
              <a:spcAft>
                <a:spcPts val="400"/>
              </a:spcAft>
              <a:buSzPct val="100000"/>
              <a:buChar char="•"/>
            </a:pPr>
            <a:r>
              <a:rPr lang="en-US" sz="1550" dirty="0">
                <a:solidFill>
                  <a:srgbClr val="334155"/>
                </a:solidFill>
              </a:rPr>
              <a:t>Name: 3 to 120 letters, digits, dashes or underscores, starting with a letter or digit; can't be changed</a:t>
            </a:r>
            <a:endParaRPr lang="en-US" sz="1550" dirty="0"/>
          </a:p>
          <a:p>
            <a:pPr marL="342900" indent="-342900">
              <a:spcAft>
                <a:spcPts val="400"/>
              </a:spcAft>
              <a:buSzPct val="100000"/>
              <a:buChar char="•"/>
            </a:pPr>
            <a:r>
              <a:rPr lang="en-US" sz="1550" dirty="0">
                <a:solidFill>
                  <a:srgbClr val="334155"/>
                </a:solidFill>
              </a:rPr>
              <a:t>At most 20 on an app registration or a user-assigned managed identity; none on a system-assigned identity</a:t>
            </a:r>
            <a:endParaRPr lang="en-US" sz="1550" dirty="0"/>
          </a:p>
          <a:p>
            <a:pPr marL="342900" indent="-342900">
              <a:spcAft>
                <a:spcPts val="400"/>
              </a:spcAft>
              <a:buSzPct val="100000"/>
              <a:buChar char="•"/>
            </a:pPr>
            <a:r>
              <a:rPr lang="en-US" sz="1550" dirty="0">
                <a:solidFill>
                  <a:srgbClr val="334155"/>
                </a:solidFill>
              </a:rPr>
              <a:t>Managed identity: Azure manages the credential; a user-assigned one is created on its own (Managed Identity Contributor); access comes from Azure role assignments</a:t>
            </a:r>
            <a:endParaRPr lang="en-US" sz="15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Workload identity federation concepts; Configure an app / a user-assigned identity to trust an external IdP; Create federatedIdentityCredential.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Learn's samples, pinned and sent to fakes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What Microsoft gives you" descr="">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What Microsoft gives you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WHAT MICROSOFT GIVES YOU</a:t>
            </a:r>
            <a:endParaRPr lang="en-US" sz="1100" dirty="0"/>
          </a:p>
        </p:txBody>
      </p:sp>
      <p:sp>
        <p:nvSpPr>
          <p:cNvPr id="7" name="Panel What Microsoft gives you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App registration trust page: admin center, Azure CLI with credential.json bodies, Azure PowerShell, Graph through az rest</a:t>
            </a:r>
            <a:endParaRPr lang="en-US" sz="1550" dirty="0"/>
          </a:p>
          <a:p>
            <a:pPr marL="342900" indent="-342900">
              <a:spcAft>
                <a:spcPts val="400"/>
              </a:spcAft>
              <a:buSzPct val="100000"/>
              <a:buChar char="•"/>
            </a:pPr>
            <a:r>
              <a:rPr lang="en-US" sz="1550" dirty="0">
                <a:solidFill>
                  <a:srgbClr val="334155"/>
                </a:solidFill>
              </a:rPr>
              <a:t>User-assigned identity trust page: CLI, PowerShell, an ARM template, a REST request</a:t>
            </a:r>
            <a:endParaRPr lang="en-US" sz="1550" dirty="0"/>
          </a:p>
          <a:p>
            <a:pPr marL="342900" indent="-342900">
              <a:spcAft>
                <a:spcPts val="400"/>
              </a:spcAft>
              <a:buSzPct val="100000"/>
              <a:buChar char="•"/>
            </a:pPr>
            <a:r>
              <a:rPr lang="en-US" sz="1550" dirty="0">
                <a:solidFill>
                  <a:srgbClr val="334155"/>
                </a:solidFill>
              </a:rPr>
              <a:t>Graph's Create federatedIdentityCredential request</a:t>
            </a:r>
            <a:endParaRPr lang="en-US" sz="1550" dirty="0"/>
          </a:p>
          <a:p>
            <a:pPr marL="342900" indent="-342900">
              <a:spcAft>
                <a:spcPts val="400"/>
              </a:spcAft>
              <a:buSzPct val="100000"/>
              <a:buChar char="•"/>
            </a:pPr>
            <a:r>
              <a:rPr lang="en-US" sz="1550" dirty="0">
                <a:solidFill>
                  <a:srgbClr val="334155"/>
                </a:solidFill>
              </a:rPr>
              <a:t>Managed Identity REST examples at 2024-11-30: create a credential, create and read the identity</a:t>
            </a:r>
            <a:endParaRPr lang="en-US" sz="1550" dirty="0"/>
          </a:p>
        </p:txBody>
      </p:sp>
      <p:sp>
        <p:nvSpPr>
          <p:cNvPr id="8" name="Panel The pinned copies" descr="">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pinned copies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PINNED COPIES</a:t>
            </a:r>
            <a:endParaRPr lang="en-US" sz="1100" dirty="0"/>
          </a:p>
        </p:txBody>
      </p:sp>
      <p:sp>
        <p:nvSpPr>
          <p:cNvPr id="10" name="Panel The pinned copies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entra-wif-create-trust-pages: both pages and their shared include at d75a90e (Feb 25, 2026)</a:t>
            </a:r>
            <a:endParaRPr lang="en-US" sz="1550" dirty="0"/>
          </a:p>
          <a:p>
            <a:pPr marL="342900" indent="-342900">
              <a:spcAft>
                <a:spcPts val="400"/>
              </a:spcAft>
              <a:buSzPct val="100000"/>
              <a:buChar char="•"/>
            </a:pPr>
            <a:r>
              <a:rPr lang="en-US" sz="1550" dirty="0">
                <a:solidFill>
                  <a:srgbClr val="334155"/>
                </a:solidFill>
              </a:rPr>
              <a:t>graph-fic-create-page at 08b242e (Dec 4, 2025)</a:t>
            </a:r>
            <a:endParaRPr lang="en-US" sz="1550" dirty="0"/>
          </a:p>
          <a:p>
            <a:pPr marL="342900" indent="-342900">
              <a:spcAft>
                <a:spcPts val="400"/>
              </a:spcAft>
              <a:buSzPct val="100000"/>
              <a:buChar char="•"/>
            </a:pPr>
            <a:r>
              <a:rPr lang="en-US" sz="1550" dirty="0">
                <a:solidFill>
                  <a:srgbClr val="334155"/>
                </a:solidFill>
              </a:rPr>
              <a:t>msi-fic-rest-examples: three files at 37886ac (Sep 12, 2025)</a:t>
            </a:r>
            <a:endParaRPr lang="en-US" sz="1550" dirty="0"/>
          </a:p>
          <a:p>
            <a:pPr marL="342900" indent="-342900">
              <a:spcAft>
                <a:spcPts val="400"/>
              </a:spcAft>
              <a:buSzPct val="100000"/>
              <a:buChar char="•"/>
            </a:pPr>
            <a:r>
              <a:rPr lang="en-US" sz="1550" dirty="0">
                <a:solidFill>
                  <a:srgbClr val="334155"/>
                </a:solidFill>
              </a:rPr>
              <a:t>snapshot.json holds each SHA-256; a unit test checks it; the weekly source watch reports new commits</a:t>
            </a:r>
            <a:endParaRPr lang="en-US" sz="1550" dirty="0"/>
          </a:p>
        </p:txBody>
      </p:sp>
      <p:sp>
        <p:nvSpPr>
          <p:cNvPr id="11" name="Callout" descr="">
            <a:extLst>
              <a:ext uri="{C183D7F6-B498-43B3-948B-1728B52AA6E4}">
                <adec:decorative xmlns:adec="http://schemas.microsoft.com/office/drawing/2017/decorative" val="1"/>
              </a:ext>
            </a:extLst>
          </p:cNvPr>
          <p:cNvSpPr/>
          <p:nvPr/>
        </p:nvSpPr>
        <p:spPr>
          <a:xfrm>
            <a:off x="548640" y="4512564"/>
            <a:ext cx="11109960" cy="1019556"/>
          </a:xfrm>
          <a:prstGeom prst="roundRect">
            <a:avLst>
              <a:gd name="adj" fmla="val 7175"/>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ClipboardCheck" descr="">
            <a:extLst>
              <a:ext uri="{C183D7F6-B498-43B3-948B-1728B52AA6E4}">
                <adec:decorative xmlns:adec="http://schemas.microsoft.com/office/drawing/2017/decorative" val="1"/>
              </a:ext>
            </a:extLst>
          </p:cNvPr>
          <p:cNvSpPr/>
          <p:nvPr/>
        </p:nvSpPr>
        <p:spPr>
          <a:xfrm>
            <a:off x="749808" y="4702302"/>
            <a:ext cx="640080" cy="64008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4855921"/>
            <a:ext cx="332842" cy="332842"/>
          </a:xfrm>
          <a:prstGeom prst="rect">
            <a:avLst/>
          </a:prstGeom>
        </p:spPr>
      </p:pic>
      <p:sp>
        <p:nvSpPr>
          <p:cNvPr id="14" name="Callout text"/>
          <p:cNvSpPr txBox="1"/>
          <p:nvPr/>
        </p:nvSpPr>
        <p:spPr>
          <a:xfrm>
            <a:off x="1600200" y="4567428"/>
            <a:ext cx="9875520" cy="909828"/>
          </a:xfrm>
          <a:prstGeom prst="rect">
            <a:avLst/>
          </a:prstGeom>
          <a:noFill/>
          <a:ln/>
        </p:spPr>
        <p:txBody>
          <a:bodyPr wrap="square" lIns="0" tIns="0" rIns="0" bIns="0" rtlCol="0" anchor="ctr"/>
          <a:lstStyle/>
          <a:p>
            <a:pPr indent="0" marL="0">
              <a:buNone/>
            </a:pPr>
            <a:r>
              <a:rPr lang="en-US" sz="1750" b="1" dirty="0">
                <a:solidFill>
                  <a:srgbClr val="B45309"/>
                </a:solidFill>
              </a:rPr>
              <a:t>Run as published: </a:t>
            </a:r>
            <a:pPr indent="0" marL="0">
              <a:buNone/>
            </a:pPr>
            <a:r>
              <a:rPr lang="en-US" sz="1750" dirty="0">
                <a:solidFill>
                  <a:srgbClr val="334155"/>
                </a:solidFill>
              </a:rPr>
              <a:t>FederationSampleHarness.ps1 checks the bodies, runs PowerShell against a stand-in, sends requests to the fake Graph and Resource Manager, and exchanges test assertions at the fake token endpoint.</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trust pages (app, user-assigned identity); Create federatedIdentityCredential; Managed Identity REST; entra-docs, graph-docs, rest-api-specs pins.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accept in silence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194048"/>
        </p:xfrm>
        <a:graphic>
          <a:graphicData uri="http://schemas.openxmlformats.org/drawingml/2006/table">
            <a:tbl>
              <a:tblPr firstRow="1" bandRow="1"/>
              <a:tblGrid>
                <a:gridCol w="3749040"/>
                <a:gridCol w="3383280"/>
                <a:gridCol w="3977640"/>
              </a:tblGrid>
              <a:tr h="330708">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Microsoft's sample, as published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examples/non-person-identity adds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Graph creates a credential from name, issuer, subject and the one audience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Kept as the model for the application write; the fake enforces only Learn's documented creation errors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Graph sample is accepted with any subject; a wrong one fails only at exchange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plan's risk, on Microsoft's own sample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Checked against the claims the workload presents, then exchanged at the fake, before creation (NPI-WIF-02, -08)</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PowerShell GitHub sample's issuer has a trailing slash; the CLI and REST samples don't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Learn's samples disagree, and the match is exact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The issuer compared exactly with what the workload presents (NPI-WIF-03; research gaps, row 41)</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The identity page's ARM template defaults the audience to " api://AzureADTokenExchange", with a leading space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 credential that can never match, accepted at creation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Exactly one audience, exactly api://AzureADTokenExchange (NPI-WIF-04)</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72668">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GitHub pull request subject: :pull-request on the Entra page, :pull_request on App Service's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Two answers; GitHub's newer immutable format can't be derived at all</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Derived only for environment, branch and tag; anything else captured from a test run (rows 42, 43)</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workload identity federation concepts; Deploy to App Service with GitHub Actions; Flexible credentials (preview). Chapter 05, “What they leave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samples leave to you</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25824"/>
        </p:xfrm>
        <a:graphic>
          <a:graphicData uri="http://schemas.openxmlformats.org/drawingml/2006/table">
            <a:tbl>
              <a:tblPr firstRow="1" bandRow="1"/>
              <a:tblGrid>
                <a:gridCol w="3931920"/>
                <a:gridCol w="3291840"/>
                <a:gridCol w="38862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Microsoft's sample, as published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 matters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code adds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az rest calls graph.microsoft.com/applications/… with no version segment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Can't be placed on v1.0 or beta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URL built from the call list, on /v1.0 or /beta (row 48)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identity page's REST sample: 2022-01-31-preview, and its curl payload isn't valid JSON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Preview in production; can't run as written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reference's 2024-11-30, as the pinned examples show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Hard-coded graph.microsoft.com and management.azure.com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Wrong for GCC High and DoD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Hosts from the cloud table, checked on every request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One credential at a time, by hand; nothing compares the tenant with the 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portal-added credential is invisible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File diffed against the tenant; unmanaged reported, never deleted (NPI-WIF-07)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Nothing on the order, the 20 limit, a repeated issuer and subject, a system-assigned 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 states the limits; the samples don't check them</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NPI-WIF-01, -05, -06 before anything is sent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No identity record, role assignments, parallel run or disable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N3.3 and N3.4 left to you</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Identities with role assignments; the 30-day run; the reviewed disable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ARM template creates credentials in parallel without dependsOn; concurrent creates fail with 409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pipeline fails on its second credential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write at a time, the identity first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434584"/>
            <a:ext cx="11109960" cy="306324"/>
          </a:xfrm>
          <a:prstGeom prst="rect">
            <a:avLst/>
          </a:prstGeom>
          <a:noFill/>
          <a:ln/>
        </p:spPr>
        <p:txBody>
          <a:bodyPr wrap="square" lIns="0" tIns="0" rIns="0" bIns="0" rtlCol="0" anchor="t"/>
          <a:lstStyle/>
          <a:p>
            <a:pPr indent="0" marL="0">
              <a:buNone/>
            </a:pPr>
            <a:r>
              <a:rPr lang="en-US" sz="1650" b="1" dirty="0">
                <a:solidFill>
                  <a:srgbClr val="1F2A44"/>
                </a:solidFill>
              </a:rPr>
              <a:t>Verdict: Learn's samples are the model for the three writes, not the conversion.</a:t>
            </a:r>
            <a:endParaRPr lang="en-US" sz="16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an app to trust an external IdP (restrictions); Important considerations for federated identity credentials. Chapter 05, “What they leave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code: one module, a reviewed file, a cutover log</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List"/>
          <p:cNvSpPr txBox="1"/>
          <p:nvPr/>
        </p:nvSpPr>
        <p:spPr>
          <a:xfrm>
            <a:off x="548640" y="1325880"/>
            <a:ext cx="11109960" cy="112166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powershell/NpiFederation/NpiFederation.psm1; entry script Invoke-NpiFederation.ps1 (plan by default; the write path with -PlanPath)</a:t>
            </a:r>
            <a:endParaRPr lang="en-US" sz="1600" dirty="0"/>
          </a:p>
          <a:p>
            <a:pPr marL="342900" indent="-342900">
              <a:spcAft>
                <a:spcPts val="400"/>
              </a:spcAft>
              <a:buSzPct val="100000"/>
              <a:buChar char="•"/>
            </a:pPr>
            <a:r>
              <a:rPr lang="en-US" sz="1600" dirty="0">
                <a:solidFill>
                  <a:srgbClr val="334155"/>
                </a:solidFill>
              </a:rPr>
              <a:t>Its own call list, config/calls-ch05.json, and fixtures in tests/fixtures/ch05; shares NpiCore's cloud table, host check, findings and hashes; Chapters 01 and 02 untouched</a:t>
            </a:r>
            <a:endParaRPr lang="en-US" sz="16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2630424"/>
          <a:ext cx="11109960" cy="2157984"/>
        </p:xfrm>
        <a:graphic>
          <a:graphicData uri="http://schemas.openxmlformats.org/drawingml/2006/table">
            <a:tbl>
              <a:tblPr firstRow="1" bandRow="1"/>
              <a:tblGrid>
                <a:gridCol w="2103120"/>
                <a:gridCol w="2651760"/>
                <a:gridCol w="6355080"/>
              </a:tblGrid>
              <a:tr h="3383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File</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Who keeps it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it holds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12527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conversions.json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Identity engineering, reviewed with the application owners</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Per legacy credential: wave, risk, owner; the legacy account or secret; what the host allows (azureHosted, oidcIssuer); the target; each federated credential's name, issuer, subject, audience and the workload that presents the token (github, kubernetes, or a capturedSubject)</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2A44"/>
                          </a:solidFill>
                          <a:latin typeface="Calibri" pitchFamily="34" charset="0"/>
                          <a:ea typeface="Calibri" pitchFamily="34" charset="-122"/>
                          <a:cs typeface="Calibri" pitchFamily="34" charset="-120"/>
                        </a:rPr>
                        <a:t>cutover-log.csv</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The application owner</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500" dirty="0">
                          <a:solidFill>
                            <a:srgbClr val="334155"/>
                          </a:solidFill>
                          <a:latin typeface="Calibri" pitchFamily="34" charset="0"/>
                          <a:ea typeface="Calibri" pitchFamily="34" charset="-122"/>
                          <a:cs typeface="Calibri" pitchFamily="34" charset="-120"/>
                        </a:rPr>
                        <a:t>ConversionId, CutoverOn, RecordedBy, DisableApprovedBy (after a clean run), DisabledOn</a:t>
                      </a:r>
                      <a:endParaRPr lang="en-US" sz="15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(module, call list and fixtures). Chapter 05, “The code: what examples/non-person-identity adds,” “The inputs.”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checks: nine rules, NPI-WIF-01 to NPI-WIF-09</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335780"/>
        </p:xfrm>
        <a:graphic>
          <a:graphicData uri="http://schemas.openxmlformats.org/drawingml/2006/table">
            <a:tbl>
              <a:tblPr firstRow="1" bandRow="1"/>
              <a:tblGrid>
                <a:gridCol w="1325880"/>
                <a:gridCol w="1005840"/>
                <a:gridCol w="6400800"/>
                <a:gridCol w="237744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Severity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flags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NPI-WIF-01</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target out of the plan's order: an Azure-hosted workload given anything but a managed identity, or an OIDC-capable one given a certificate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Book 02, Ch 10; N3.2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NPI-WIF-02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subject that isn't exactly, case for case, what the workload's issuer will present, or can't be derived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NPI-WIF-03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An issuer that isn't exactly the workload's (a trailing slash included), or one with whitespace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NPI-WIF-04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exactly one audience, or not exactly api://AzureADTokenExchange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NPI-WIF-05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bad name, a value over 600 characters, a wildcard, a credential on a system-assigned identity, or a flexible claimsMatchingExpression (preview;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NPI-WIF-06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More than 20 credentials on one parent, or the same issuer and subject twice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Learn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NPI-WIF-07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Warn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credential in the tenant the reviewed file doesn't hold; reported, never deleted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NPI-WIF-08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token exchange test failed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Project plan, risks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NPI-WIF-09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Finding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 parallel run that isn't clean: legacy still in use, failures or silence on the new credential, or a cutover while a credential fails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Impl. guide, Step 5 (thresholds: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trust pages and restrictions; federation concepts; Create federatedIdentityCredential; Flexible credentials (preview). Chapter 05, “The checks.”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workload presents, and the exchange test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The presented claims" descr="">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presented claim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PRESENTED CLAIMS</a:t>
            </a:r>
            <a:endParaRPr lang="en-US" sz="1100" dirty="0"/>
          </a:p>
        </p:txBody>
      </p:sp>
      <p:sp>
        <p:nvSpPr>
          <p:cNvPr id="7" name="Panel The presented claims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Get-NpiWifPresentedClaims turns the workload record into the iss, sub and aud its issuer will put in the token</a:t>
            </a:r>
            <a:endParaRPr lang="en-US" sz="1450" dirty="0"/>
          </a:p>
          <a:p>
            <a:pPr marL="342900" indent="-342900">
              <a:spcAft>
                <a:spcPts val="400"/>
              </a:spcAft>
              <a:buSzPct val="100000"/>
              <a:buChar char="•"/>
            </a:pPr>
            <a:r>
              <a:rPr lang="en-US" sz="1450" dirty="0">
                <a:solidFill>
                  <a:srgbClr val="334155"/>
                </a:solidFill>
              </a:rPr>
              <a:t>GitHub, issuer https://token.actions.githubusercontent.com: repo:&lt;org/repo&gt;:environment:&lt;name&gt;, :ref:refs/heads/&lt;branch&gt;, :ref:refs/tags/&lt;tag&gt;</a:t>
            </a:r>
            <a:endParaRPr lang="en-US" sz="1450" dirty="0"/>
          </a:p>
          <a:p>
            <a:pPr marL="342900" indent="-342900">
              <a:spcAft>
                <a:spcPts val="400"/>
              </a:spcAft>
              <a:buSzPct val="100000"/>
              <a:buChar char="•"/>
            </a:pPr>
            <a:r>
              <a:rPr lang="en-US" sz="1450" dirty="0">
                <a:solidFill>
                  <a:srgbClr val="334155"/>
                </a:solidFill>
              </a:rPr>
              <a:t>Kubernetes: system:serviceaccount:&lt;namespace&gt;:&lt;name&gt;</a:t>
            </a:r>
            <a:endParaRPr lang="en-US" sz="1450" dirty="0"/>
          </a:p>
          <a:p>
            <a:pPr marL="342900" indent="-342900">
              <a:spcAft>
                <a:spcPts val="400"/>
              </a:spcAft>
              <a:buSzPct val="100000"/>
              <a:buChar char="•"/>
            </a:pPr>
            <a:r>
              <a:rPr lang="en-US" sz="1450" dirty="0">
                <a:solidFill>
                  <a:srgbClr val="334155"/>
                </a:solidFill>
              </a:rPr>
              <a:t>Nothing derived for a pull request, or for the immutable format GitHub applies from July 15, 2026: those need capturedSubject</a:t>
            </a:r>
            <a:endParaRPr lang="en-US" sz="1450" dirty="0"/>
          </a:p>
          <a:p>
            <a:pPr marL="342900" indent="-342900">
              <a:spcAft>
                <a:spcPts val="400"/>
              </a:spcAft>
              <a:buSzPct val="100000"/>
              <a:buChar char="•"/>
            </a:pPr>
            <a:r>
              <a:rPr lang="en-US" sz="1450" dirty="0">
                <a:solidFill>
                  <a:srgbClr val="334155"/>
                </a:solidFill>
              </a:rPr>
              <a:t>Each subject's source is recorded, per Learn's mutable-subject guidance</a:t>
            </a:r>
            <a:endParaRPr lang="en-US" sz="1450" dirty="0"/>
          </a:p>
        </p:txBody>
      </p:sp>
      <p:sp>
        <p:nvSpPr>
          <p:cNvPr id="8" name="Panel The exchange test" descr="">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exchange test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EXCHANGE TEST</a:t>
            </a:r>
            <a:endParaRPr lang="en-US" sz="1100" dirty="0"/>
          </a:p>
        </p:txBody>
      </p:sp>
      <p:sp>
        <p:nvSpPr>
          <p:cNvPr id="10" name="Panel The exchange test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Test-NpiWifTokenExchange builds Learn's client credentials request: client_id, a scope ending /.default, the jwt-bearer assertion type, grant_type client_credentials</a:t>
            </a:r>
            <a:endParaRPr lang="en-US" sz="1450" dirty="0"/>
          </a:p>
          <a:p>
            <a:pPr marL="342900" indent="-342900">
              <a:spcAft>
                <a:spcPts val="400"/>
              </a:spcAft>
              <a:buSzPct val="100000"/>
              <a:buChar char="•"/>
            </a:pPr>
            <a:r>
              <a:rPr lang="en-US" sz="1450" dirty="0">
                <a:solidFill>
                  <a:srgbClr val="334155"/>
                </a:solidFill>
              </a:rPr>
              <a:t>Addressed to {sign-in host}/{tenant}/oauth2/v2.0/token, sent only to the fake</a:t>
            </a:r>
            <a:endParaRPr lang="en-US" sz="1450" dirty="0"/>
          </a:p>
          <a:p>
            <a:pPr marL="342900" indent="-342900">
              <a:spcAft>
                <a:spcPts val="400"/>
              </a:spcAft>
              <a:buSzPct val="100000"/>
              <a:buChar char="•"/>
            </a:pPr>
            <a:r>
              <a:rPr lang="en-US" sz="1450" dirty="0">
                <a:solidFill>
                  <a:srgbClr val="334155"/>
                </a:solidFill>
              </a:rPr>
              <a:t>The fake matches exactly and case-sensitively, blocks issuer whitespace, refuses an expired assertion</a:t>
            </a:r>
            <a:endParaRPr lang="en-US" sz="1450" dirty="0"/>
          </a:p>
          <a:p>
            <a:pPr marL="342900" indent="-342900">
              <a:spcAft>
                <a:spcPts val="400"/>
              </a:spcAft>
              <a:buSzPct val="100000"/>
              <a:buChar char="•"/>
            </a:pPr>
            <a:r>
              <a:rPr lang="en-US" sz="1450" dirty="0">
                <a:solidFill>
                  <a:srgbClr val="334155"/>
                </a:solidFill>
              </a:rPr>
              <a:t>Passes only if the named credential is the one that matched</a:t>
            </a:r>
            <a:endParaRPr lang="en-US" sz="1450" dirty="0"/>
          </a:p>
        </p:txBody>
      </p:sp>
      <p:sp>
        <p:nvSpPr>
          <p:cNvPr id="11" name="Callout" descr="">
            <a:extLst>
              <a:ext uri="{C183D7F6-B498-43B3-948B-1728B52AA6E4}">
                <adec:decorative xmlns:adec="http://schemas.microsoft.com/office/drawing/2017/decorative" val="1"/>
              </a:ext>
            </a:extLst>
          </p:cNvPr>
          <p:cNvSpPr/>
          <p:nvPr/>
        </p:nvSpPr>
        <p:spPr>
          <a:xfrm>
            <a:off x="548640" y="5102352"/>
            <a:ext cx="11109960" cy="737616"/>
          </a:xfrm>
          <a:prstGeom prst="roundRect">
            <a:avLst>
              <a:gd name="adj" fmla="val 991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49808" y="5175504"/>
            <a:ext cx="591312" cy="591312"/>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1723" y="5317419"/>
            <a:ext cx="307482" cy="307482"/>
          </a:xfrm>
          <a:prstGeom prst="rect">
            <a:avLst/>
          </a:prstGeom>
        </p:spPr>
      </p:pic>
      <p:sp>
        <p:nvSpPr>
          <p:cNvPr id="14" name="Callout text"/>
          <p:cNvSpPr txBox="1"/>
          <p:nvPr/>
        </p:nvSpPr>
        <p:spPr>
          <a:xfrm>
            <a:off x="1600200" y="5157216"/>
            <a:ext cx="9875520" cy="627888"/>
          </a:xfrm>
          <a:prstGeom prst="rect">
            <a:avLst/>
          </a:prstGeom>
          <a:noFill/>
          <a:ln/>
        </p:spPr>
        <p:txBody>
          <a:bodyPr wrap="square" lIns="0" tIns="0" rIns="0" bIns="0" rtlCol="0" anchor="ctr"/>
          <a:lstStyle/>
          <a:p>
            <a:pPr indent="0" marL="0">
              <a:buNone/>
            </a:pPr>
            <a:r>
              <a:rPr lang="en-US" sz="1700" b="1" dirty="0">
                <a:solidFill>
                  <a:srgbClr val="B45309"/>
                </a:solidFill>
              </a:rPr>
              <a:t>What it doesn't prove: </a:t>
            </a:r>
            <a:pPr indent="0" marL="0">
              <a:buNone/>
            </a:pPr>
            <a:r>
              <a:rPr lang="en-US" sz="1700" dirty="0">
                <a:solidFill>
                  <a:srgbClr val="334155"/>
                </a:solidFill>
              </a:rPr>
              <a:t>no signature checked, no issuer keys fetched. That, and the real service's answer, are Lab 2's.</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Configure an app to trust an external IdP; Flexible credentials; Mutable subjects; OAuth 2.0 client credentials flow. Chapter 05, “The checks.”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plan: actions, and the evidence for a clean run</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55264"/>
        </p:xfrm>
        <a:graphic>
          <a:graphicData uri="http://schemas.openxmlformats.org/drawingml/2006/table">
            <a:tbl>
              <a:tblPr firstRow="1" bandRow="1"/>
              <a:tblGrid>
                <a:gridCol w="3383280"/>
                <a:gridCol w="6537960"/>
                <a:gridCol w="118872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Writes?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CreateIdentity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user-assigned identity the file asks for doesn't exist: PUT at 2024-11-30, with location and a conversion tag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After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CreateCredential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Passes every check and its exchange test: POST on the application, or PUT on the identity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After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DisableLegacy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clean 30 days and the owner's approval: Disable-ADAccount -Identity &lt;objectGUID&gt;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After review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IdentityExists, AwaitHost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Recorded with client and principal IDs and role assignments; or a system-assigned identity not yet 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NoChange, ReviewChange, Unmanaged, Blocked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 reviewed; changed (a new name and its own run, never in place); not in the file; fails a check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HandOffChapter04, RemoveSecretByOwner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certificate target; a secret the owner removes through Chapter 04's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AwaitingCutover, ParallelRunning, AwaitingOwnerApproval, Converted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cutover gate; day N of 30; a clean run awaiting approval; DisabledOn recorded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llout" descr="">
            <a:extLst>
              <a:ext uri="{C183D7F6-B498-43B3-948B-1728B52AA6E4}">
                <adec:decorative xmlns:adec="http://schemas.microsoft.com/office/drawing/2017/decorative" val="1"/>
              </a:ext>
            </a:extLst>
          </p:cNvPr>
          <p:cNvSpPr/>
          <p:nvPr/>
        </p:nvSpPr>
        <p:spPr>
          <a:xfrm>
            <a:off x="548640" y="4764024"/>
            <a:ext cx="11109960" cy="1164336"/>
          </a:xfrm>
          <a:prstGeom prst="roundRect">
            <a:avLst>
              <a:gd name="adj" fmla="val 628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49808" y="5026152"/>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179771"/>
            <a:ext cx="332842" cy="332842"/>
          </a:xfrm>
          <a:prstGeom prst="rect">
            <a:avLst/>
          </a:prstGeom>
        </p:spPr>
      </p:pic>
      <p:sp>
        <p:nvSpPr>
          <p:cNvPr id="9" name="Callout text"/>
          <p:cNvSpPr txBox="1"/>
          <p:nvPr/>
        </p:nvSpPr>
        <p:spPr>
          <a:xfrm>
            <a:off x="1600200" y="4818888"/>
            <a:ext cx="9875520" cy="1054608"/>
          </a:xfrm>
          <a:prstGeom prst="rect">
            <a:avLst/>
          </a:prstGeom>
          <a:noFill/>
          <a:ln/>
        </p:spPr>
        <p:txBody>
          <a:bodyPr wrap="square" lIns="0" tIns="0" rIns="0" bIns="0" rtlCol="0" anchor="ctr"/>
          <a:lstStyle/>
          <a:p>
            <a:pPr indent="0" marL="0">
              <a:buNone/>
            </a:pPr>
            <a:r>
              <a:rPr lang="en-US" sz="1550" b="1" dirty="0">
                <a:solidFill>
                  <a:srgbClr val="0F766E"/>
                </a:solidFill>
              </a:rPr>
              <a:t>Clean run: </a:t>
            </a:r>
            <a:pPr indent="0" marL="0">
              <a:buNone/>
            </a:pPr>
            <a:r>
              <a:rPr lang="en-US" sz="1550" dirty="0">
                <a:solidFill>
                  <a:srgbClr val="334155"/>
                </a:solidFill>
              </a:rPr>
              <a:t>Graph beta sign-ins by appId and signInEventTypes; a new credential's sign-in carries federatedIdentityCredential and its own ID, or managedIdentity. Legacy in use: a clientSecret sign-in, or a LastLogonDate after cutover (a lead, not a fact). Design guidance: 30 days, no legacy use, no failures, at least one success, no silent week.</a:t>
            </a:r>
            <a:endParaRPr lang="en-US" sz="15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User Assigned Identities - Create Or Update; List signIns (beta); signIn resource type (beta). Chapter 05, “The plan,” “The evidence for a clean run.”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separate write path: an approved hash, one at a time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nel Refuses unless" descr="">
            <a:extLst>
              <a:ext uri="{C183D7F6-B498-43B3-948B-1728B52AA6E4}">
                <adec:decorative xmlns:adec="http://schemas.microsoft.com/office/drawing/2017/decorative" val="1"/>
              </a:ext>
            </a:extLst>
          </p:cNvPr>
          <p:cNvSpPr/>
          <p:nvPr/>
        </p:nvSpPr>
        <p:spPr>
          <a:xfrm>
            <a:off x="548640" y="1325880"/>
            <a:ext cx="5417820" cy="3776472"/>
          </a:xfrm>
          <a:prstGeom prst="roundRect">
            <a:avLst>
              <a:gd name="adj" fmla="val 1937"/>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Panel Refuses unles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B91C1C"/>
                </a:solidFill>
              </a:rPr>
              <a:t>REFUSES UNLESS</a:t>
            </a:r>
            <a:endParaRPr lang="en-US" sz="1100" dirty="0"/>
          </a:p>
        </p:txBody>
      </p:sp>
      <p:sp>
        <p:nvSpPr>
          <p:cNvPr id="7" name="Panel Refuses unless list"/>
          <p:cNvSpPr txBox="1"/>
          <p:nvPr/>
        </p:nvSpPr>
        <p:spPr>
          <a:xfrm>
            <a:off x="731520" y="1737360"/>
            <a:ext cx="5097780" cy="33192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Runs only if the plan's SHA-256 is the one passed as -ApprovedSha256, for this tenant and cloud, no more than seven days old (design guidance)</a:t>
            </a:r>
            <a:endParaRPr lang="en-US" sz="1550" dirty="0"/>
          </a:p>
          <a:p>
            <a:pPr marL="342900" indent="-342900">
              <a:spcAft>
                <a:spcPts val="400"/>
              </a:spcAft>
              <a:buSzPct val="100000"/>
              <a:buChar char="•"/>
            </a:pPr>
            <a:r>
              <a:rPr lang="en-US" sz="1550" dirty="0">
                <a:solidFill>
                  <a:srgbClr val="334155"/>
                </a:solidFill>
              </a:rPr>
              <a:t>Each write a declared federation-apply call, on the cloud's own host</a:t>
            </a:r>
            <a:endParaRPr lang="en-US" sz="1550" dirty="0"/>
          </a:p>
          <a:p>
            <a:pPr marL="342900" indent="-342900">
              <a:spcAft>
                <a:spcPts val="400"/>
              </a:spcAft>
              <a:buSzPct val="100000"/>
              <a:buChar char="•"/>
            </a:pPr>
            <a:r>
              <a:rPr lang="en-US" sz="1550" dirty="0">
                <a:solidFill>
                  <a:srgbClr val="334155"/>
                </a:solidFill>
              </a:rPr>
              <a:t>Credential bodies hold only name, issuer, subject, audiences, description, and are re-checked against the plan's claims</a:t>
            </a:r>
            <a:endParaRPr lang="en-US" sz="1550" dirty="0"/>
          </a:p>
          <a:p>
            <a:pPr marL="342900" indent="-342900">
              <a:spcAft>
                <a:spcPts val="400"/>
              </a:spcAft>
              <a:buSzPct val="100000"/>
              <a:buChar char="•"/>
            </a:pPr>
            <a:r>
              <a:rPr lang="en-US" sz="1550" dirty="0">
                <a:solidFill>
                  <a:srgbClr val="334155"/>
                </a:solidFill>
              </a:rPr>
              <a:t>DELETE is never sent</a:t>
            </a:r>
            <a:endParaRPr lang="en-US" sz="1550" dirty="0"/>
          </a:p>
          <a:p>
            <a:pPr marL="342900" indent="-342900">
              <a:spcAft>
                <a:spcPts val="400"/>
              </a:spcAft>
              <a:buSzPct val="100000"/>
              <a:buChar char="•"/>
            </a:pPr>
            <a:r>
              <a:rPr lang="en-US" sz="1550" dirty="0">
                <a:solidFill>
                  <a:srgbClr val="334155"/>
                </a:solidFill>
              </a:rPr>
              <a:t>Delegated: a person with Cloud Application Administrator (or the app's owner) and Managed Identity Contributor; never an unattended app</a:t>
            </a:r>
            <a:endParaRPr lang="en-US" sz="1550" dirty="0"/>
          </a:p>
        </p:txBody>
      </p:sp>
      <p:sp>
        <p:nvSpPr>
          <p:cNvPr id="8" name="Panel Then" descr="">
            <a:extLst>
              <a:ext uri="{C183D7F6-B498-43B3-948B-1728B52AA6E4}">
                <adec:decorative xmlns:adec="http://schemas.microsoft.com/office/drawing/2017/decorative" val="1"/>
              </a:ext>
            </a:extLst>
          </p:cNvPr>
          <p:cNvSpPr/>
          <p:nvPr/>
        </p:nvSpPr>
        <p:spPr>
          <a:xfrm>
            <a:off x="6240780" y="1325880"/>
            <a:ext cx="5417820" cy="3776472"/>
          </a:xfrm>
          <a:prstGeom prst="roundRect">
            <a:avLst>
              <a:gd name="adj" fmla="val 193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n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THEN</a:t>
            </a:r>
            <a:endParaRPr lang="en-US" sz="1100" dirty="0"/>
          </a:p>
        </p:txBody>
      </p:sp>
      <p:sp>
        <p:nvSpPr>
          <p:cNvPr id="10" name="Panel Then list"/>
          <p:cNvSpPr txBox="1"/>
          <p:nvPr/>
        </p:nvSpPr>
        <p:spPr>
          <a:xfrm>
            <a:off x="6423660" y="1737360"/>
            <a:ext cx="5097780" cy="33192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Re-reads each target; skips if the identity now exists, the name or issuer and subject appeared, the parent holds 20, or the account is already disabled</a:t>
            </a:r>
            <a:endParaRPr lang="en-US" sz="1550" dirty="0"/>
          </a:p>
          <a:p>
            <a:pPr marL="342900" indent="-342900">
              <a:spcAft>
                <a:spcPts val="400"/>
              </a:spcAft>
              <a:buSzPct val="100000"/>
              <a:buChar char="•"/>
            </a:pPr>
            <a:r>
              <a:rPr lang="en-US" sz="1550" dirty="0">
                <a:solidFill>
                  <a:srgbClr val="334155"/>
                </a:solidFill>
              </a:rPr>
              <a:t>One write at a time, in the plan's order: the identity before its credentials, never two under one identity together</a:t>
            </a:r>
            <a:endParaRPr lang="en-US" sz="1550" dirty="0"/>
          </a:p>
          <a:p>
            <a:pPr marL="342900" indent="-342900">
              <a:spcAft>
                <a:spcPts val="400"/>
              </a:spcAft>
              <a:buSzPct val="100000"/>
              <a:buChar char="•"/>
            </a:pPr>
            <a:r>
              <a:rPr lang="en-US" sz="1550" dirty="0">
                <a:solidFill>
                  <a:srgbClr val="334155"/>
                </a:solidFill>
              </a:rPr>
              <a:t>Without -Apply: stops after the prechecks and reports WouldSend</a:t>
            </a:r>
            <a:endParaRPr lang="en-US" sz="1550" dirty="0"/>
          </a:p>
          <a:p>
            <a:pPr marL="342900" indent="-342900">
              <a:spcAft>
                <a:spcPts val="400"/>
              </a:spcAft>
              <a:buSzPct val="100000"/>
              <a:buChar char="•"/>
            </a:pPr>
            <a:r>
              <a:rPr lang="en-US" sz="1550" dirty="0">
                <a:solidFill>
                  <a:srgbClr val="334155"/>
                </a:solidFill>
              </a:rPr>
              <a:t>With -Apply: sends, records every request, says to record DisabledOn and to wait out AADSTS70021 propagation</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Important considerations for federated identity credentials (propagation, concurrent updates). Chapter 05,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builds it, who runs it, what it may touch</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Card 1" descr="">
            <a:extLst>
              <a:ext uri="{C183D7F6-B498-43B3-948B-1728B52AA6E4}">
                <adec:decorative xmlns:adec="http://schemas.microsoft.com/office/drawing/2017/decorative" val="1"/>
              </a:ext>
            </a:extLst>
          </p:cNvPr>
          <p:cNvSpPr/>
          <p:nvPr/>
        </p:nvSpPr>
        <p:spPr>
          <a:xfrm>
            <a:off x="548640" y="1325880"/>
            <a:ext cx="3550920" cy="1409700"/>
          </a:xfrm>
          <a:prstGeom prst="roundRect">
            <a:avLst>
              <a:gd name="adj" fmla="val 518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ard 1 bar" descr="">
            <a:extLst>
              <a:ext uri="{C183D7F6-B498-43B3-948B-1728B52AA6E4}">
                <adec:decorative xmlns:adec="http://schemas.microsoft.com/office/drawing/2017/decorative" val="1"/>
              </a:ext>
            </a:extLst>
          </p:cNvPr>
          <p:cNvSpPr/>
          <p:nvPr/>
        </p:nvSpPr>
        <p:spPr>
          <a:xfrm>
            <a:off x="548640" y="1325880"/>
            <a:ext cx="82296" cy="14097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18110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indent="0" marL="0">
              <a:spcAft>
                <a:spcPts val="300"/>
              </a:spcAft>
              <a:buNone/>
            </a:pPr>
            <a:r>
              <a:rPr lang="en-US" sz="1550" dirty="0">
                <a:solidFill>
                  <a:srgbClr val="334155"/>
                </a:solidFill>
              </a:rPr>
              <a:t>Build the conversion code; read PowerShell 7; know Chapters 01 and 02</a:t>
            </a:r>
            <a:endParaRPr lang="en-US" sz="1400" dirty="0"/>
          </a:p>
        </p:txBody>
      </p:sp>
      <p:sp>
        <p:nvSpPr>
          <p:cNvPr id="8" name="Card 2" descr="">
            <a:extLst>
              <a:ext uri="{C183D7F6-B498-43B3-948B-1728B52AA6E4}">
                <adec:decorative xmlns:adec="http://schemas.microsoft.com/office/drawing/2017/decorative" val="1"/>
              </a:ext>
            </a:extLst>
          </p:cNvPr>
          <p:cNvSpPr/>
          <p:nvPr/>
        </p:nvSpPr>
        <p:spPr>
          <a:xfrm>
            <a:off x="4328160" y="1325880"/>
            <a:ext cx="3550920" cy="1409700"/>
          </a:xfrm>
          <a:prstGeom prst="roundRect">
            <a:avLst>
              <a:gd name="adj" fmla="val 51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ard 2 bar" descr="">
            <a:extLst>
              <a:ext uri="{C183D7F6-B498-43B3-948B-1728B52AA6E4}">
                <adec:decorative xmlns:adec="http://schemas.microsoft.com/office/drawing/2017/decorative" val="1"/>
              </a:ext>
            </a:extLst>
          </p:cNvPr>
          <p:cNvSpPr/>
          <p:nvPr/>
        </p:nvSpPr>
        <p:spPr>
          <a:xfrm>
            <a:off x="4328160" y="1325880"/>
            <a:ext cx="82296" cy="140970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18110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indent="0" marL="0">
              <a:spcAft>
                <a:spcPts val="300"/>
              </a:spcAft>
              <a:buNone/>
            </a:pPr>
            <a:r>
              <a:rPr lang="en-US" sz="1550" dirty="0">
                <a:solidFill>
                  <a:srgbClr val="334155"/>
                </a:solidFill>
              </a:rPr>
              <a:t>Run the waves and keep conversions.json</a:t>
            </a:r>
            <a:endParaRPr lang="en-US" sz="1400" dirty="0"/>
          </a:p>
        </p:txBody>
      </p:sp>
      <p:sp>
        <p:nvSpPr>
          <p:cNvPr id="11" name="Card 3" descr="">
            <a:extLst>
              <a:ext uri="{C183D7F6-B498-43B3-948B-1728B52AA6E4}">
                <adec:decorative xmlns:adec="http://schemas.microsoft.com/office/drawing/2017/decorative" val="1"/>
              </a:ext>
            </a:extLst>
          </p:cNvPr>
          <p:cNvSpPr/>
          <p:nvPr/>
        </p:nvSpPr>
        <p:spPr>
          <a:xfrm>
            <a:off x="8107680" y="1325880"/>
            <a:ext cx="3550920" cy="1409700"/>
          </a:xfrm>
          <a:prstGeom prst="roundRect">
            <a:avLst>
              <a:gd name="adj" fmla="val 51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ard 3 bar" descr="">
            <a:extLst>
              <a:ext uri="{C183D7F6-B498-43B3-948B-1728B52AA6E4}">
                <adec:decorative xmlns:adec="http://schemas.microsoft.com/office/drawing/2017/decorative" val="1"/>
              </a:ext>
            </a:extLst>
          </p:cNvPr>
          <p:cNvSpPr/>
          <p:nvPr/>
        </p:nvSpPr>
        <p:spPr>
          <a:xfrm>
            <a:off x="8107680" y="1325880"/>
            <a:ext cx="82296" cy="140970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181100"/>
          </a:xfrm>
          <a:prstGeom prst="rect">
            <a:avLst/>
          </a:prstGeom>
          <a:noFill/>
          <a:ln/>
        </p:spPr>
        <p:txBody>
          <a:bodyPr wrap="square" lIns="0" tIns="0" rIns="0" bIns="0" rtlCol="0" anchor="t"/>
          <a:lstStyle/>
          <a:p>
            <a:pPr indent="0" marL="0">
              <a:spcAft>
                <a:spcPts val="300"/>
              </a:spcAft>
              <a:buNone/>
            </a:pPr>
            <a:r>
              <a:rPr lang="en-US" sz="1600" b="1" dirty="0">
                <a:solidFill>
                  <a:srgbClr val="B45309"/>
                </a:solidFill>
                <a:latin typeface="Cambria" pitchFamily="34" charset="0"/>
                <a:ea typeface="Cambria" pitchFamily="34" charset="-122"/>
                <a:cs typeface="Cambria" pitchFamily="34" charset="-120"/>
              </a:rPr>
              <a:t>Application owners</a:t>
            </a:r>
            <a:endParaRPr lang="en-US" sz="1400" dirty="0"/>
          </a:p>
          <a:p>
            <a:pPr indent="0" marL="0">
              <a:spcAft>
                <a:spcPts val="300"/>
              </a:spcAft>
              <a:buNone/>
            </a:pPr>
            <a:r>
              <a:rPr lang="en-US" sz="1550" dirty="0">
                <a:solidFill>
                  <a:srgbClr val="334155"/>
                </a:solidFill>
              </a:rPr>
              <a:t>Switch each workload, keep the cutover log, approve each disable</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18460"/>
          <a:ext cx="11109960" cy="1822704"/>
        </p:xfrm>
        <a:graphic>
          <a:graphicData uri="http://schemas.openxmlformats.org/drawingml/2006/table">
            <a:tbl>
              <a:tblPr firstRow="1" bandRow="1"/>
              <a:tblGrid>
                <a:gridCol w="2377440"/>
                <a:gridCol w="4572000"/>
                <a:gridCol w="4160520"/>
              </a:tblGrid>
              <a:tr h="3230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Calls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Permissions and roles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federation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Applications, their credentials, service principals; beta sign-ins; identities, credentials, role assignments; Get-ADUser; exchange test (fake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Application.Read.All, AuditLog.Read.All; Reader; default AD read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federation-apply (write, delegated only)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Re-reads; POST app credential; PUT identity; PUT identity credential; Disable-ADAccount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Application.Read.All, Application.ReadWrite.All; Managed Identity Contributor, Reader; delegated disable right in the account's OU</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Callout" descr="">
            <a:extLst>
              <a:ext uri="{C183D7F6-B498-43B3-948B-1728B52AA6E4}">
                <adec:decorative xmlns:adec="http://schemas.microsoft.com/office/drawing/2017/decorative" val="1"/>
              </a:ext>
            </a:extLst>
          </p:cNvPr>
          <p:cNvSpPr/>
          <p:nvPr/>
        </p:nvSpPr>
        <p:spPr>
          <a:xfrm>
            <a:off x="548640" y="4924044"/>
            <a:ext cx="11109960" cy="905256"/>
          </a:xfrm>
          <a:prstGeom prst="roundRect">
            <a:avLst>
              <a:gd name="adj" fmla="val 808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6" name="Icon FaUserShield" descr="">
            <a:extLst>
              <a:ext uri="{C183D7F6-B498-43B3-948B-1728B52AA6E4}">
                <adec:decorative xmlns:adec="http://schemas.microsoft.com/office/drawing/2017/decorative" val="1"/>
              </a:ext>
            </a:extLst>
          </p:cNvPr>
          <p:cNvSpPr/>
          <p:nvPr/>
        </p:nvSpPr>
        <p:spPr>
          <a:xfrm>
            <a:off x="749808" y="5056632"/>
            <a:ext cx="640080" cy="640080"/>
          </a:xfrm>
          <a:prstGeom prst="ellipse">
            <a:avLst/>
          </a:prstGeom>
          <a:solidFill>
            <a:srgbClr val="1F2A44"/>
          </a:solidFill>
          <a:ln w="12700">
            <a:solidFill>
              <a:srgbClr val="1F2A44"/>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3427" y="5210251"/>
            <a:ext cx="332842" cy="332842"/>
          </a:xfrm>
          <a:prstGeom prst="rect">
            <a:avLst/>
          </a:prstGeom>
        </p:spPr>
      </p:pic>
      <p:sp>
        <p:nvSpPr>
          <p:cNvPr id="18" name="Callout text"/>
          <p:cNvSpPr txBox="1"/>
          <p:nvPr/>
        </p:nvSpPr>
        <p:spPr>
          <a:xfrm>
            <a:off x="1600200" y="4978908"/>
            <a:ext cx="9875520" cy="795528"/>
          </a:xfrm>
          <a:prstGeom prst="rect">
            <a:avLst/>
          </a:prstGeom>
          <a:noFill/>
          <a:ln/>
        </p:spPr>
        <p:txBody>
          <a:bodyPr wrap="square" lIns="0" tIns="0" rIns="0" bIns="0" rtlCol="0" anchor="ctr"/>
          <a:lstStyle/>
          <a:p>
            <a:pPr indent="0" marL="0">
              <a:buNone/>
            </a:pPr>
            <a:r>
              <a:rPr lang="en-US" sz="1500" b="1" dirty="0">
                <a:solidFill>
                  <a:srgbClr val="1F2A44"/>
                </a:solidFill>
              </a:rPr>
              <a:t>Least privilege: </a:t>
            </a:r>
            <a:pPr indent="0" marL="0">
              <a:buNone/>
            </a:pPr>
            <a:r>
              <a:rPr lang="en-US" sz="1500" dirty="0">
                <a:solidFill>
                  <a:srgbClr val="334155"/>
                </a:solidFill>
              </a:rPr>
              <a:t>Application.ReadWrite.All is Learn's only delegated permission for the app write. The trust page names Contributor or Owner for an identity's credential; Managed Identity Contributor holds the same write action, so the call list declares it (row 45).</a:t>
            </a:r>
            <a:endParaRPr lang="en-US" sz="15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Create and List federatedIdentityCredential; List signIns; role assignments (REST); built-in roles for Identity; trust page. Chapter 05, “Goal and audience,”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Microsoft's samples, then the plan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ode panel" descr="">
            <a:extLst>
              <a:ext uri="{C183D7F6-B498-43B3-948B-1728B52AA6E4}">
                <adec:decorative xmlns:adec="http://schemas.microsoft.com/office/drawing/2017/decorative" val="1"/>
              </a:ext>
            </a:extLst>
          </p:cNvPr>
          <p:cNvSpPr/>
          <p:nvPr/>
        </p:nvSpPr>
        <p:spPr>
          <a:xfrm>
            <a:off x="548640" y="1325880"/>
            <a:ext cx="11109960" cy="2747772"/>
          </a:xfrm>
          <a:prstGeom prst="roundRect">
            <a:avLst>
              <a:gd name="adj" fmla="val 2662"/>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indent="0" marL="0">
              <a:buNone/>
            </a:pPr>
            <a:r>
              <a:rPr lang="en-US" sz="1050" b="1" dirty="0">
                <a:solidFill>
                  <a:srgbClr val="64748B"/>
                </a:solidFill>
              </a:rPr>
              <a:t>POWERSHELL 7.1+ WITH PESTER 5, IN examples/non-person-identity</a:t>
            </a:r>
            <a:endParaRPr lang="en-US" sz="1050" dirty="0"/>
          </a:p>
        </p:txBody>
      </p:sp>
      <p:sp>
        <p:nvSpPr>
          <p:cNvPr id="7" name="Code"/>
          <p:cNvSpPr txBox="1"/>
          <p:nvPr/>
        </p:nvSpPr>
        <p:spPr>
          <a:xfrm>
            <a:off x="713232" y="1664208"/>
            <a:ext cx="10835640" cy="2363724"/>
          </a:xfrm>
          <a:prstGeom prst="rect">
            <a:avLst/>
          </a:prstGeom>
          <a:noFill/>
          <a:ln/>
        </p:spPr>
        <p:txBody>
          <a:bodyPr wrap="square" lIns="0" tIns="0" rIns="0" bIns="0" rtlCol="0" anchor="t"/>
          <a:lstStyle/>
          <a:p>
            <a:pPr indent="0" marL="0">
              <a:buNone/>
            </a:pPr>
            <a:r>
              <a:rPr lang="en-US" sz="1350" dirty="0">
                <a:solidFill>
                  <a:srgbClr val="0F766E"/>
                </a:solidFill>
                <a:latin typeface="Consolas" pitchFamily="34" charset="0"/>
                <a:ea typeface="Consolas" pitchFamily="34" charset="-122"/>
                <a:cs typeface="Consolas" pitchFamily="34" charset="-120"/>
              </a:rPr>
              <a:t># 1  Microsoft's samples against the fakes: PassedCount 17, FailedCount 0, NotRunCount 0</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Invoke-Pester -Path tests/NpiFederationSamples.Tests.ps1 -Output None -PassThru</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2  What each task needs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federation : Application.Read.All, AuditLog.Read.All | Reader</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federation-apply : Application.Read.All, Application.ReadWrite.All | Managed Identity Contributor, Reader</a:t>
            </a:r>
            <a:endParaRPr lang="en-US" sz="1350" dirty="0"/>
          </a:p>
          <a:p>
            <a:pPr indent="0" marL="0">
              <a:buNone/>
            </a:pPr>
            <a:r>
              <a:rPr lang="en-US" sz="1350" dirty="0">
                <a:solidFill>
                  <a:srgbClr val="0F766E"/>
                </a:solidFill>
                <a:latin typeface="Consolas" pitchFamily="34" charset="0"/>
                <a:ea typeface="Consolas" pitchFamily="34" charset="-122"/>
                <a:cs typeface="Consolas" pitchFamily="34" charset="-120"/>
              </a:rPr>
              <a:t># 3  Build the plan from the fixtures</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./Invoke-NpiFederation.ps1 -Cloud gcc -ConversionsPath tests/fixtures/ch05/conversions.json …</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Conversions: 8 in 2 wave(s); token exchange tests: 4 passed, 2 failed</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Findings: 7 Finding, 1 Warn</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Plan: 20 actions, 4 of them writes (2 CreateCredential, 1 CreateIdentity, 1 DisableLegacy)</a:t>
            </a:r>
            <a:endParaRPr lang="en-US" sz="1350" dirty="0"/>
          </a:p>
          <a:p>
            <a:pPr indent="0" marL="0">
              <a:buNone/>
            </a:pPr>
            <a:r>
              <a:rPr lang="en-US" sz="1350" dirty="0">
                <a:solidFill>
                  <a:srgbClr val="334155"/>
                </a:solidFill>
                <a:latin typeface="Consolas" pitchFamily="34" charset="0"/>
                <a:ea typeface="Consolas" pitchFamily="34" charset="-122"/>
                <a:cs typeface="Consolas" pitchFamily="34" charset="-120"/>
              </a:rPr>
              <a:t>Plan SHA-256: 5ec0a52c70dc49ac6904c6923ac9b292e3c312d38594b6210cc9178c9f188bf2</a:t>
            </a:r>
            <a:endParaRPr lang="en-US" sz="1350" dirty="0"/>
          </a:p>
        </p:txBody>
      </p:sp>
      <p:sp>
        <p:nvSpPr>
          <p:cNvPr id="8" name="Callout" descr="">
            <a:extLst>
              <a:ext uri="{C183D7F6-B498-43B3-948B-1728B52AA6E4}">
                <adec:decorative xmlns:adec="http://schemas.microsoft.com/office/drawing/2017/decorative" val="1"/>
              </a:ext>
            </a:extLst>
          </p:cNvPr>
          <p:cNvSpPr/>
          <p:nvPr/>
        </p:nvSpPr>
        <p:spPr>
          <a:xfrm>
            <a:off x="548640" y="4256532"/>
            <a:ext cx="11109960" cy="752856"/>
          </a:xfrm>
          <a:prstGeom prst="roundRect">
            <a:avLst>
              <a:gd name="adj" fmla="val 9717"/>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Icon FaListCheck" descr="">
            <a:extLst>
              <a:ext uri="{C183D7F6-B498-43B3-948B-1728B52AA6E4}">
                <adec:decorative xmlns:adec="http://schemas.microsoft.com/office/drawing/2017/decorative" val="1"/>
              </a:ext>
            </a:extLst>
          </p:cNvPr>
          <p:cNvSpPr/>
          <p:nvPr/>
        </p:nvSpPr>
        <p:spPr>
          <a:xfrm>
            <a:off x="749808" y="4329684"/>
            <a:ext cx="606552" cy="606552"/>
          </a:xfrm>
          <a:prstGeom prst="ellipse">
            <a:avLst/>
          </a:prstGeom>
          <a:solidFill>
            <a:srgbClr val="0F766E"/>
          </a:solidFill>
          <a:ln w="12700">
            <a:solidFill>
              <a:srgbClr val="0F766E"/>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4475256"/>
            <a:ext cx="315407" cy="315407"/>
          </a:xfrm>
          <a:prstGeom prst="rect">
            <a:avLst/>
          </a:prstGeom>
        </p:spPr>
      </p:pic>
      <p:sp>
        <p:nvSpPr>
          <p:cNvPr id="11" name="Callout text"/>
          <p:cNvSpPr txBox="1"/>
          <p:nvPr/>
        </p:nvSpPr>
        <p:spPr>
          <a:xfrm>
            <a:off x="1600200" y="4311396"/>
            <a:ext cx="9875520" cy="643128"/>
          </a:xfrm>
          <a:prstGeom prst="rect">
            <a:avLst/>
          </a:prstGeom>
          <a:noFill/>
          <a:ln/>
        </p:spPr>
        <p:txBody>
          <a:bodyPr wrap="square" lIns="0" tIns="0" rIns="0" bIns="0" rtlCol="0" anchor="ctr"/>
          <a:lstStyle/>
          <a:p>
            <a:pPr indent="0" marL="0">
              <a:buNone/>
            </a:pPr>
            <a:r>
              <a:rPr lang="en-US" sz="1750" b="1" dirty="0">
                <a:solidFill>
                  <a:srgbClr val="0F766E"/>
                </a:solidFill>
              </a:rPr>
              <a:t>Read in step 1: </a:t>
            </a:r>
            <a:pPr indent="0" marL="0">
              <a:buNone/>
            </a:pPr>
            <a:r>
              <a:rPr lang="en-US" sz="1750" dirty="0">
                <a:solidFill>
                  <a:srgbClr val="334155"/>
                </a:solidFill>
              </a:rPr>
              <a:t>the test that sends the Graph sample, then exchanges a token with another subject: the create succeeds, the exchange fails with AADSTS70021.</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(tests and fixtures, fictional). Chapter 05,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1: findings, conversions, dry run and apply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8184"/>
        </p:xfrm>
        <a:graphic>
          <a:graphicData uri="http://schemas.openxmlformats.org/drawingml/2006/table">
            <a:tbl>
              <a:tblPr firstRow="1" bandRow="1"/>
              <a:tblGrid>
                <a:gridCol w="3749040"/>
                <a:gridCol w="7360920"/>
              </a:tblGrid>
              <a:tr h="3154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you see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payroll-prod: NPI-WIF-03, -02, -08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Copies the PowerShell sample's trailing-slash issuer, and says Production where the workflow says production; its exchange fails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546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payroll-test: NPI-WIF-07 Warn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Added in the portal, not in the file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github-intranet-tag: NPI-WIF-04, -08</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Copies the ARM template's audience, leading space and all; conv-03 is blocked, though github-intranet is created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conv-06: NPI-WIF-01; conv-08: NPI-WIF-09</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An Azure Functions app given a certificate; conv-08's secret still signed in October 28, eight weeks after cutover</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conv-01 Ready, day 40; conv-07 day 15</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svc-hrsync to id-hrsync: clean, owner approved, the one disable; conv-07's window ends November 14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aks-webfront passed; conv-05 to a certificate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Tested against a pending: client ID, its real exchange waits for Lab 2; conv-05 has no OIDC issuer, so Chapter 04</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21208">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Dry run, then -Apply</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4 WouldSend, then 4 Sent, identity before its credential; a hash nobody approved is refused</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266944"/>
            <a:ext cx="11109960" cy="588264"/>
          </a:xfrm>
          <a:prstGeom prst="rect">
            <a:avLst/>
          </a:prstGeom>
          <a:noFill/>
          <a:ln/>
        </p:spPr>
        <p:txBody>
          <a:bodyPr wrap="square" lIns="0" tIns="0" rIns="0" bIns="0" rtlCol="0" anchor="t"/>
          <a:lstStyle/>
          <a:p>
            <a:pPr indent="0" marL="0">
              <a:buNone/>
            </a:pPr>
            <a:r>
              <a:rPr lang="en-US" sz="1750" b="1" dirty="0">
                <a:solidFill>
                  <a:srgbClr val="1F2A44"/>
                </a:solidFill>
              </a:rPr>
              <a:t>Step 9, Invoke-Pester -Path tests: 513 tests passing; the manifest lists 20 reads and 6 fake exchanges. Delete out.</a:t>
            </a:r>
            <a:endParaRPr lang="en-US" sz="175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examples/non-person-identity fixtures (fictional tenant, conversions and cutover log). Chapter 05, “Lab 1: fixtures, no tenant,” steps 4–9.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Lab 2: a test tenant, a real token, a real disable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 1 dot" descr="">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Make a test conversion: </a:t>
            </a:r>
            <a:pPr indent="0" marL="0">
              <a:buNone/>
            </a:pPr>
            <a:r>
              <a:rPr lang="en-US" sz="1500" dirty="0">
                <a:solidFill>
                  <a:srgbClr val="334155"/>
                </a:solidFill>
              </a:rPr>
              <a:t>A test app with a secret, an enabled svc- account in a test OU, a test repository using Learn's Azure Login sample (pinned); a two-entry conversions.json</a:t>
            </a:r>
            <a:endParaRPr lang="en-US" sz="1500" dirty="0"/>
          </a:p>
        </p:txBody>
      </p:sp>
      <p:sp>
        <p:nvSpPr>
          <p:cNvPr id="8" name="Step 2 dot" descr="">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Capture the claims: </a:t>
            </a:r>
            <a:pPr indent="0" marL="0">
              <a:buNone/>
            </a:pPr>
            <a:r>
              <a:rPr lang="en-US" sz="1500" dirty="0">
                <a:solidFill>
                  <a:srgbClr val="334155"/>
                </a:solidFill>
              </a:rPr>
              <a:t>Print the decoded iss and sub of the workflow's token, never the token; record a trailing slash (row 41) and the immutable format (row 43)</a:t>
            </a:r>
            <a:endParaRPr lang="en-US" sz="1500" dirty="0"/>
          </a:p>
        </p:txBody>
      </p:sp>
      <p:sp>
        <p:nvSpPr>
          <p:cNvPr id="11" name="Step 3 dot" descr="">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Plan: </a:t>
            </a:r>
            <a:pPr indent="0" marL="0">
              <a:buNone/>
            </a:pPr>
            <a:r>
              <a:rPr lang="en-US" sz="1500" dirty="0">
                <a:solidFill>
                  <a:srgbClr val="334155"/>
                </a:solidFill>
              </a:rPr>
              <a:t>An app with only Application.Read.All, AuditLog.Read.All and Reader; a second person reviews plan.json and passes you its SHA-256</a:t>
            </a:r>
            <a:endParaRPr lang="en-US" sz="1500" dirty="0"/>
          </a:p>
        </p:txBody>
      </p:sp>
      <p:sp>
        <p:nvSpPr>
          <p:cNvPr id="14" name="Step 4 dot" descr="">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Dry-run, then apply: </a:t>
            </a:r>
            <a:pPr indent="0" marL="0">
              <a:buNone/>
            </a:pPr>
            <a:r>
              <a:rPr lang="en-US" sz="1500" dirty="0">
                <a:solidFill>
                  <a:srgbClr val="334155"/>
                </a:solidFill>
              </a:rPr>
              <a:t>As a person with Cloud Application Administrator and Managed Identity Contributor on the test resource group</a:t>
            </a:r>
            <a:endParaRPr lang="en-US" sz="1500" dirty="0"/>
          </a:p>
        </p:txBody>
      </p:sp>
      <p:sp>
        <p:nvSpPr>
          <p:cNvPr id="17" name="Step 5 dot" descr="">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Exchange for real: </a:t>
            </a:r>
            <a:pPr indent="0" marL="0">
              <a:buNone/>
            </a:pPr>
            <a:r>
              <a:rPr lang="en-US" sz="1500" dirty="0">
                <a:solidFill>
                  <a:srgbClr val="334155"/>
                </a:solidFill>
              </a:rPr>
              <a:t>Wait for propagation; confirm the federatedIdentityCredential sign-in; try a wrong subject and record the error (row 44); check the old secret's key ID (row 47)</a:t>
            </a:r>
            <a:endParaRPr lang="en-US" sz="1500" dirty="0"/>
          </a:p>
        </p:txBody>
      </p:sp>
      <p:sp>
        <p:nvSpPr>
          <p:cNvPr id="20" name="Step 6 dot" descr="">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2" name="Step 6"/>
          <p:cNvSpPr txBox="1"/>
          <p:nvPr/>
        </p:nvSpPr>
        <p:spPr>
          <a:xfrm>
            <a:off x="1097280" y="4160520"/>
            <a:ext cx="10561320" cy="566928"/>
          </a:xfrm>
          <a:prstGeom prst="rect">
            <a:avLst/>
          </a:prstGeom>
          <a:noFill/>
          <a:ln/>
        </p:spPr>
        <p:txBody>
          <a:bodyPr wrap="square" lIns="0" tIns="0" rIns="0" bIns="0" rtlCol="0" anchor="t"/>
          <a:lstStyle/>
          <a:p>
            <a:pPr indent="0" marL="0">
              <a:buNone/>
            </a:pPr>
            <a:r>
              <a:rPr lang="en-US" sz="1500" b="1" dirty="0">
                <a:solidFill>
                  <a:srgbClr val="1F2A44"/>
                </a:solidFill>
              </a:rPr>
              <a:t>Parallel run and back out: </a:t>
            </a:r>
            <a:pPr indent="0" marL="0">
              <a:buNone/>
            </a:pPr>
            <a:r>
              <a:rPr lang="en-US" sz="1500" dirty="0">
                <a:solidFill>
                  <a:srgbClr val="334155"/>
                </a:solidFill>
              </a:rPr>
              <a:t>Record CutoverOn, see ParallelRunning; -AsOf 31 days later with approval disables the account. Then re-enable and delete by hand; delete out</a:t>
            </a:r>
            <a:endParaRPr lang="en-US" sz="1500" dirty="0"/>
          </a:p>
        </p:txBody>
      </p:sp>
      <p:sp>
        <p:nvSpPr>
          <p:cNvPr id="23" name="Callout" descr="">
            <a:extLst>
              <a:ext uri="{C183D7F6-B498-43B3-948B-1728B52AA6E4}">
                <adec:decorative xmlns:adec="http://schemas.microsoft.com/office/drawing/2017/decorative" val="1"/>
              </a:ext>
            </a:extLst>
          </p:cNvPr>
          <p:cNvSpPr/>
          <p:nvPr/>
        </p:nvSpPr>
        <p:spPr>
          <a:xfrm>
            <a:off x="548640" y="4910328"/>
            <a:ext cx="11109960" cy="752856"/>
          </a:xfrm>
          <a:prstGeom prst="roundRect">
            <a:avLst>
              <a:gd name="adj" fmla="val 97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24" name="Icon FaTriangleExclamation" descr="">
            <a:extLst>
              <a:ext uri="{C183D7F6-B498-43B3-948B-1728B52AA6E4}">
                <adec:decorative xmlns:adec="http://schemas.microsoft.com/office/drawing/2017/decorative" val="1"/>
              </a:ext>
            </a:extLst>
          </p:cNvPr>
          <p:cNvSpPr/>
          <p:nvPr/>
        </p:nvSpPr>
        <p:spPr>
          <a:xfrm>
            <a:off x="749808" y="4983480"/>
            <a:ext cx="606552" cy="606552"/>
          </a:xfrm>
          <a:prstGeom prst="ellipse">
            <a:avLst/>
          </a:prstGeom>
          <a:solidFill>
            <a:srgbClr val="B91C1C"/>
          </a:solidFill>
          <a:ln w="12700">
            <a:solidFill>
              <a:srgbClr val="B91C1C"/>
            </a:solidFill>
            <a:prstDash val="solid"/>
          </a:ln>
        </p:spPr>
      </p:sp>
      <p:pic>
        <p:nvPicPr>
          <p:cNvPr id="2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5380" y="5129052"/>
            <a:ext cx="315407" cy="315407"/>
          </a:xfrm>
          <a:prstGeom prst="rect">
            <a:avLst/>
          </a:prstGeom>
        </p:spPr>
      </p:pic>
      <p:sp>
        <p:nvSpPr>
          <p:cNvPr id="26" name="Callout text"/>
          <p:cNvSpPr txBox="1"/>
          <p:nvPr/>
        </p:nvSpPr>
        <p:spPr>
          <a:xfrm>
            <a:off x="1600200" y="4965192"/>
            <a:ext cx="9875520" cy="643128"/>
          </a:xfrm>
          <a:prstGeom prst="rect">
            <a:avLst/>
          </a:prstGeom>
          <a:noFill/>
          <a:ln/>
        </p:spPr>
        <p:txBody>
          <a:bodyPr wrap="square" lIns="0" tIns="0" rIns="0" bIns="0" rtlCol="0" anchor="ctr"/>
          <a:lstStyle/>
          <a:p>
            <a:pPr indent="0" marL="0">
              <a:buNone/>
            </a:pPr>
            <a:r>
              <a:rPr lang="en-US" sz="1750" b="1" dirty="0">
                <a:solidFill>
                  <a:srgbClr val="B91C1C"/>
                </a:solidFill>
              </a:rPr>
              <a:t>Where: </a:t>
            </a:r>
            <a:pPr indent="0" marL="0">
              <a:buNone/>
            </a:pPr>
            <a:r>
              <a:rPr lang="en-US" sz="1750" dirty="0">
                <a:solidFill>
                  <a:srgbClr val="334155"/>
                </a:solidFill>
              </a:rPr>
              <a:t>a worldwide or GCC test tenant, test subscription, test AD domain and test repository, never production, with fictional names. This code never deletes.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Learn, Important considerations for federated identity credentials (propagation); List signIns (beta). Chapter 05, “Lab 2: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90288"/>
        </p:xfrm>
        <a:graphic>
          <a:graphicData uri="http://schemas.openxmlformats.org/drawingml/2006/table">
            <a:tbl>
              <a:tblPr firstRow="1" bandRow="1"/>
              <a:tblGrid>
                <a:gridCol w="3108960"/>
                <a:gridCol w="3657600"/>
                <a:gridCol w="434340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Danger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happens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The guard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 wrong subject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Accepted at creation; fails at cutover, no error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Claims check, then the exchange test; cutover blocked until both pass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 trailing slash or a stray space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issuer or audience never matches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Exact comparison; exactly one audience (NPI-WIF-03, -04)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 guessed or mutable subject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subject GitHub never presents; a renamed repo's name passes to someone else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Only Learn's three formats derived; the source recorded; prefer immutable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 credential changed in place, or added outside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live exchange breaks; a trust nobody reviewed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ReviewChange with a new name; Unmanaged (NPI-WIF-07), never deleted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Parallel creates; the first exchange too soon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409 under one identity; AADSTS70021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One write at a time, identity first; wait and retry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 disable on a stale lead; a secret removed early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job fails; the workload falls back and fails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30 clean days, owner approval, a re-read; RemoveSecretByOwner after the run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 delete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rollback is gone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 delete action; DELETE refused; secrets removed via Chapter 04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An assertion sent to a real endpoint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token or test assertion leaves the machine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Fake only; the manifest records the call, never the assertion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An unattended app with Application.ReadWrite.All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standing right to add a credential to any app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Writes are a person's delegated session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 plan changed after review; a preview feature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Unapproved writes; behavior that shifts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Approved hash, tenant, cloud, seven days, re-check; flexible credentials refused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05, “Dangers”; Learn, Mutable subjects; Important considerations for federated identity credentials.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anel The conversions" descr="">
            <a:extLst>
              <a:ext uri="{C183D7F6-B498-43B3-948B-1728B52AA6E4}">
                <adec:decorative xmlns:adec="http://schemas.microsoft.com/office/drawing/2017/decorative" val="1"/>
              </a:ext>
            </a:extLst>
          </p:cNvPr>
          <p:cNvSpPr/>
          <p:nvPr/>
        </p:nvSpPr>
        <p:spPr>
          <a:xfrm>
            <a:off x="548640" y="1325880"/>
            <a:ext cx="5417820" cy="3502152"/>
          </a:xfrm>
          <a:prstGeom prst="roundRect">
            <a:avLst>
              <a:gd name="adj" fmla="val 208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anel The conversions label"/>
          <p:cNvSpPr txBox="1"/>
          <p:nvPr/>
        </p:nvSpPr>
        <p:spPr>
          <a:xfrm>
            <a:off x="731520" y="1435608"/>
            <a:ext cx="5052060" cy="274320"/>
          </a:xfrm>
          <a:prstGeom prst="rect">
            <a:avLst/>
          </a:prstGeom>
          <a:noFill/>
          <a:ln/>
        </p:spPr>
        <p:txBody>
          <a:bodyPr wrap="square" lIns="0" tIns="0" rIns="0" bIns="0" rtlCol="0" anchor="t"/>
          <a:lstStyle/>
          <a:p>
            <a:pPr indent="0" marL="0">
              <a:buNone/>
            </a:pPr>
            <a:r>
              <a:rPr lang="en-US" sz="1100" b="1" spc="50" kern="0" dirty="0">
                <a:solidFill>
                  <a:srgbClr val="64748B"/>
                </a:solidFill>
              </a:rPr>
              <a:t>THE CONVERSIONS</a:t>
            </a:r>
            <a:endParaRPr lang="en-US" sz="1100" dirty="0"/>
          </a:p>
        </p:txBody>
      </p:sp>
      <p:sp>
        <p:nvSpPr>
          <p:cNvPr id="7" name="Panel The conversions list"/>
          <p:cNvSpPr txBox="1"/>
          <p:nvPr/>
        </p:nvSpPr>
        <p:spPr>
          <a:xfrm>
            <a:off x="731520" y="1737360"/>
            <a:ext cx="5097780" cy="30449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Every target follows the order, or has a recorded reason (NPI-WIF-01)</a:t>
            </a:r>
            <a:endParaRPr lang="en-US" sz="1400" dirty="0"/>
          </a:p>
          <a:p>
            <a:pPr marL="342900" indent="-342900">
              <a:spcAft>
                <a:spcPts val="400"/>
              </a:spcAft>
              <a:buSzPct val="100000"/>
              <a:buChar char="•"/>
            </a:pPr>
            <a:r>
              <a:rPr lang="en-US" sz="1400" dirty="0">
                <a:solidFill>
                  <a:srgbClr val="334155"/>
                </a:solidFill>
              </a:rPr>
              <a:t>Every credential's issuer and subject checked against claims captured from a real test run, and its exchange test passed, before cutover</a:t>
            </a:r>
            <a:endParaRPr lang="en-US" sz="1400" dirty="0"/>
          </a:p>
          <a:p>
            <a:pPr marL="342900" indent="-342900">
              <a:spcAft>
                <a:spcPts val="400"/>
              </a:spcAft>
              <a:buSzPct val="100000"/>
              <a:buChar char="•"/>
            </a:pPr>
            <a:r>
              <a:rPr lang="en-US" sz="1400" dirty="0">
                <a:solidFill>
                  <a:srgbClr val="334155"/>
                </a:solidFill>
              </a:rPr>
              <a:t>Every tenant credential on a converted app or identity is in the reviewed file, or its retirement is in review</a:t>
            </a:r>
            <a:endParaRPr lang="en-US" sz="1400" dirty="0"/>
          </a:p>
          <a:p>
            <a:pPr marL="342900" indent="-342900">
              <a:spcAft>
                <a:spcPts val="400"/>
              </a:spcAft>
              <a:buSzPct val="100000"/>
              <a:buChar char="•"/>
            </a:pPr>
            <a:r>
              <a:rPr lang="en-US" sz="1400" dirty="0">
                <a:solidFill>
                  <a:srgbClr val="334155"/>
                </a:solidFill>
              </a:rPr>
              <a:t>Every user-assigned identity created by the write path; every managed identity's role assignments recorded for Chapter 07</a:t>
            </a:r>
            <a:endParaRPr lang="en-US" sz="1400" dirty="0"/>
          </a:p>
          <a:p>
            <a:pPr marL="342900" indent="-342900">
              <a:spcAft>
                <a:spcPts val="400"/>
              </a:spcAft>
              <a:buSzPct val="100000"/>
              <a:buChar char="•"/>
            </a:pPr>
            <a:r>
              <a:rPr lang="en-US" sz="1400" dirty="0">
                <a:solidFill>
                  <a:srgbClr val="334155"/>
                </a:solidFill>
              </a:rPr>
              <a:t>The plan's SHA-256 approved by someone other than who applied it; the write path ran as a person</a:t>
            </a:r>
            <a:endParaRPr lang="en-US" sz="1400" dirty="0"/>
          </a:p>
        </p:txBody>
      </p:sp>
      <p:sp>
        <p:nvSpPr>
          <p:cNvPr id="8" name="Panel The run and the code" descr="">
            <a:extLst>
              <a:ext uri="{C183D7F6-B498-43B3-948B-1728B52AA6E4}">
                <adec:decorative xmlns:adec="http://schemas.microsoft.com/office/drawing/2017/decorative" val="1"/>
              </a:ext>
            </a:extLst>
          </p:cNvPr>
          <p:cNvSpPr/>
          <p:nvPr/>
        </p:nvSpPr>
        <p:spPr>
          <a:xfrm>
            <a:off x="6240780" y="1325880"/>
            <a:ext cx="5417820" cy="3502152"/>
          </a:xfrm>
          <a:prstGeom prst="roundRect">
            <a:avLst>
              <a:gd name="adj" fmla="val 208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anel The run and the code label"/>
          <p:cNvSpPr txBox="1"/>
          <p:nvPr/>
        </p:nvSpPr>
        <p:spPr>
          <a:xfrm>
            <a:off x="6423660" y="1435608"/>
            <a:ext cx="5052060" cy="274320"/>
          </a:xfrm>
          <a:prstGeom prst="rect">
            <a:avLst/>
          </a:prstGeom>
          <a:noFill/>
          <a:ln/>
        </p:spPr>
        <p:txBody>
          <a:bodyPr wrap="square" lIns="0" tIns="0" rIns="0" bIns="0" rtlCol="0" anchor="t"/>
          <a:lstStyle/>
          <a:p>
            <a:pPr indent="0" marL="0">
              <a:buNone/>
            </a:pPr>
            <a:r>
              <a:rPr lang="en-US" sz="1100" b="1" spc="50" kern="0" dirty="0">
                <a:solidFill>
                  <a:srgbClr val="0F766E"/>
                </a:solidFill>
              </a:rPr>
              <a:t>THE RUN AND THE CODE</a:t>
            </a:r>
            <a:endParaRPr lang="en-US" sz="1100" dirty="0"/>
          </a:p>
        </p:txBody>
      </p:sp>
      <p:sp>
        <p:nvSpPr>
          <p:cNvPr id="10" name="Panel The run and the code list"/>
          <p:cNvSpPr txBox="1"/>
          <p:nvPr/>
        </p:nvSpPr>
        <p:spPr>
          <a:xfrm>
            <a:off x="6423660" y="1737360"/>
            <a:ext cx="5097780" cy="304495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34155"/>
                </a:solidFill>
              </a:rPr>
              <a:t>Every cutover logged; every run shows new sign-ins, no legacy use, and 30 days</a:t>
            </a:r>
            <a:endParaRPr lang="en-US" sz="1400" dirty="0"/>
          </a:p>
          <a:p>
            <a:pPr marL="342900" indent="-342900">
              <a:spcAft>
                <a:spcPts val="400"/>
              </a:spcAft>
              <a:buSzPct val="100000"/>
              <a:buChar char="•"/>
            </a:pPr>
            <a:r>
              <a:rPr lang="en-US" sz="1400" dirty="0">
                <a:solidFill>
                  <a:srgbClr val="334155"/>
                </a:solidFill>
              </a:rPr>
              <a:t>Every disable has the owner's approval and a DisabledOn; every secret removed through Chapter 04's change, after its run</a:t>
            </a:r>
            <a:endParaRPr lang="en-US" sz="1400" dirty="0"/>
          </a:p>
          <a:p>
            <a:pPr marL="342900" indent="-342900">
              <a:spcAft>
                <a:spcPts val="400"/>
              </a:spcAft>
              <a:buSzPct val="100000"/>
              <a:buChar char="•"/>
            </a:pPr>
            <a:r>
              <a:rPr lang="en-US" sz="1400" dirty="0">
                <a:solidFill>
                  <a:srgbClr val="334155"/>
                </a:solidFill>
              </a:rPr>
              <a:t>Nothing deleted by this code; rollback still possible</a:t>
            </a:r>
            <a:endParaRPr lang="en-US" sz="1400" dirty="0"/>
          </a:p>
          <a:p>
            <a:pPr marL="342900" indent="-342900">
              <a:spcAft>
                <a:spcPts val="400"/>
              </a:spcAft>
              <a:buSzPct val="100000"/>
              <a:buChar char="•"/>
            </a:pPr>
            <a:r>
              <a:rPr lang="en-US" sz="1400" dirty="0">
                <a:solidFill>
                  <a:srgbClr val="334155"/>
                </a:solidFill>
              </a:rPr>
              <a:t>The pinned samples match their manifests; every upstream commit since the pins reviewed</a:t>
            </a:r>
            <a:endParaRPr lang="en-US" sz="1400" dirty="0"/>
          </a:p>
        </p:txBody>
      </p:sp>
      <p:sp>
        <p:nvSpPr>
          <p:cNvPr id="11" name="Callout" descr="">
            <a:extLst>
              <a:ext uri="{C183D7F6-B498-43B3-948B-1728B52AA6E4}">
                <adec:decorative xmlns:adec="http://schemas.microsoft.com/office/drawing/2017/decorative" val="1"/>
              </a:ext>
            </a:extLst>
          </p:cNvPr>
          <p:cNvSpPr/>
          <p:nvPr/>
        </p:nvSpPr>
        <p:spPr>
          <a:xfrm>
            <a:off x="548640" y="5010912"/>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Route" descr="">
            <a:extLst>
              <a:ext uri="{C183D7F6-B498-43B3-948B-1728B52AA6E4}">
                <adec:decorative xmlns:adec="http://schemas.microsoft.com/office/drawing/2017/decorative" val="1"/>
              </a:ext>
            </a:extLst>
          </p:cNvPr>
          <p:cNvSpPr/>
          <p:nvPr/>
        </p:nvSpPr>
        <p:spPr>
          <a:xfrm>
            <a:off x="749808" y="5084064"/>
            <a:ext cx="585216" cy="585216"/>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90260" y="5224516"/>
            <a:ext cx="304312" cy="304312"/>
          </a:xfrm>
          <a:prstGeom prst="rect">
            <a:avLst/>
          </a:prstGeom>
        </p:spPr>
      </p:pic>
      <p:sp>
        <p:nvSpPr>
          <p:cNvPr id="14" name="Callout text"/>
          <p:cNvSpPr txBox="1"/>
          <p:nvPr/>
        </p:nvSpPr>
        <p:spPr>
          <a:xfrm>
            <a:off x="1600200" y="5065776"/>
            <a:ext cx="9875520" cy="621792"/>
          </a:xfrm>
          <a:prstGeom prst="rect">
            <a:avLst/>
          </a:prstGeom>
          <a:noFill/>
          <a:ln/>
        </p:spPr>
        <p:txBody>
          <a:bodyPr wrap="square" lIns="0" tIns="0" rIns="0" bIns="0" rtlCol="0" anchor="ctr"/>
          <a:lstStyle/>
          <a:p>
            <a:pPr indent="0" marL="0">
              <a:buNone/>
            </a:pPr>
            <a:r>
              <a:rPr lang="en-US" sz="1650" b="1" dirty="0">
                <a:solidFill>
                  <a:srgbClr val="B45309"/>
                </a:solidFill>
              </a:rPr>
              <a:t>Next: </a:t>
            </a:r>
            <a:pPr indent="0" marL="0">
              <a:buNone/>
            </a:pPr>
            <a:r>
              <a:rPr lang="en-US" sz="1650" dirty="0">
                <a:solidFill>
                  <a:srgbClr val="334155"/>
                </a:solidFill>
              </a:rPr>
              <a:t>Chapter 06 takes on gMSAs, dMSAs and the Kerberos island.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Chapter 05,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np05-concepts  </a:t>
            </a:r>
            <a:pPr indent="0" marL="0">
              <a:spcAft>
                <a:spcPts val="300"/>
              </a:spcAft>
              <a:buNone/>
            </a:pPr>
            <a:r>
              <a:rPr lang="en-US" sz="1050" dirty="0">
                <a:solidFill>
                  <a:srgbClr val="334155"/>
                </a:solidFill>
              </a:rPr>
              <a:t>Microsoft Learn, "Workload identity federation concepts," how it works (the case-sensitive match), https://learn.microsoft.com/entra/workload-id/workload-identity-federation (accessed Oct 30, 2026).</a:t>
            </a:r>
            <a:endParaRPr lang="en-US" sz="1050" dirty="0"/>
          </a:p>
          <a:p>
            <a:pPr indent="0" marL="0">
              <a:spcAft>
                <a:spcPts val="300"/>
              </a:spcAft>
              <a:buNone/>
            </a:pPr>
            <a:r>
              <a:rPr lang="en-US" sz="1050" b="1" dirty="0">
                <a:solidFill>
                  <a:srgbClr val="1F2A44"/>
                </a:solidFill>
              </a:rPr>
              <a:t>np05-include  </a:t>
            </a:r>
            <a:pPr indent="0" marL="0">
              <a:spcAft>
                <a:spcPts val="300"/>
              </a:spcAft>
              <a:buNone/>
            </a:pPr>
            <a:r>
              <a:rPr lang="en-US" sz="1050" dirty="0">
                <a:solidFill>
                  <a:srgbClr val="334155"/>
                </a:solidFill>
              </a:rPr>
              <a:t>Microsoft Learn, "Configure an app to trust an external identity provider," important considerations and restrictions (the include shared with the managed identity page), https://learn.microsoft.com/entra/workload-id/workload-identity-federation-create-trust (accessed Oct 30, 2026); pinned in examples/third_party/entra-wif-create-trust-pages/includes.</a:t>
            </a:r>
            <a:endParaRPr lang="en-US" sz="1050" dirty="0"/>
          </a:p>
          <a:p>
            <a:pPr indent="0" marL="0">
              <a:spcAft>
                <a:spcPts val="300"/>
              </a:spcAft>
              <a:buNone/>
            </a:pPr>
            <a:r>
              <a:rPr lang="en-US" sz="1050" b="1" dirty="0">
                <a:solidFill>
                  <a:srgbClr val="1F2A44"/>
                </a:solidFill>
              </a:rPr>
              <a:t>np05-trust-app  </a:t>
            </a:r>
            <a:pPr indent="0" marL="0">
              <a:spcAft>
                <a:spcPts val="300"/>
              </a:spcAft>
              <a:buNone/>
            </a:pPr>
            <a:r>
              <a:rPr lang="en-US" sz="1050" dirty="0">
                <a:solidFill>
                  <a:srgbClr val="334155"/>
                </a:solidFill>
              </a:rPr>
              <a:t>Microsoft Learn, "Configure an app to trust an external identity provider," Azure CLI, Azure PowerShell and Microsoft Graph samples, https://learn.microsoft.com/entra/workload-id/workload-identity-federation-create-trust (accessed Oct 30, 2026).</a:t>
            </a:r>
            <a:endParaRPr lang="en-US" sz="1050" dirty="0"/>
          </a:p>
          <a:p>
            <a:pPr indent="0" marL="0">
              <a:spcAft>
                <a:spcPts val="300"/>
              </a:spcAft>
              <a:buNone/>
            </a:pPr>
            <a:r>
              <a:rPr lang="en-US" sz="1050" b="1" dirty="0">
                <a:solidFill>
                  <a:srgbClr val="1F2A44"/>
                </a:solidFill>
              </a:rPr>
              <a:t>np05-trust-uami  </a:t>
            </a:r>
            <a:pPr indent="0" marL="0">
              <a:spcAft>
                <a:spcPts val="300"/>
              </a:spcAft>
              <a:buNone/>
            </a:pPr>
            <a:r>
              <a:rPr lang="en-US" sz="1050" dirty="0">
                <a:solidFill>
                  <a:srgbClr val="334155"/>
                </a:solidFill>
              </a:rPr>
              <a:t>Microsoft Learn, "Configure a user-assigned managed identity to trust an external identity provider," introduction, prerequisites, ARM template and REST samples, https://learn.microsoft.com/entra/workload-id/workload-identity-federation-create-trust-user-assigned-managed-identity (accessed Oct 30, 2026).</a:t>
            </a:r>
            <a:endParaRPr lang="en-US" sz="1050" dirty="0"/>
          </a:p>
          <a:p>
            <a:pPr indent="0" marL="0">
              <a:spcAft>
                <a:spcPts val="300"/>
              </a:spcAft>
              <a:buNone/>
            </a:pPr>
            <a:r>
              <a:rPr lang="en-US" sz="1050" b="1" dirty="0">
                <a:solidFill>
                  <a:srgbClr val="1F2A44"/>
                </a:solidFill>
              </a:rPr>
              <a:t>np05-considerations  </a:t>
            </a:r>
            <a:pPr indent="0" marL="0">
              <a:spcAft>
                <a:spcPts val="300"/>
              </a:spcAft>
              <a:buNone/>
            </a:pPr>
            <a:r>
              <a:rPr lang="en-US" sz="1050" dirty="0">
                <a:solidFill>
                  <a:srgbClr val="334155"/>
                </a:solidFill>
              </a:rPr>
              <a:t>Microsoft Learn, "Important considerations and restrictions for federated identity credentials," propagation; concurrent updates; errors, https://learn.microsoft.com/entra/workload-id/workload-identity-federation-considerations (accessed Oct 30, 2026).</a:t>
            </a:r>
            <a:endParaRPr lang="en-US" sz="1050" dirty="0"/>
          </a:p>
          <a:p>
            <a:pPr indent="0" marL="0">
              <a:spcAft>
                <a:spcPts val="300"/>
              </a:spcAft>
              <a:buNone/>
            </a:pPr>
            <a:r>
              <a:rPr lang="en-US" sz="1050" b="1" dirty="0">
                <a:solidFill>
                  <a:srgbClr val="1F2A44"/>
                </a:solidFill>
              </a:rPr>
              <a:t>np05-graph-create  </a:t>
            </a:r>
            <a:pPr indent="0" marL="0">
              <a:spcAft>
                <a:spcPts val="300"/>
              </a:spcAft>
              <a:buNone/>
            </a:pPr>
            <a:r>
              <a:rPr lang="en-US" sz="1050" dirty="0">
                <a:solidFill>
                  <a:srgbClr val="334155"/>
                </a:solidFill>
              </a:rPr>
              <a:t>Microsoft Learn, "Create federatedIdentityCredential," permissions, request body, national cloud deployments, https://learn.microsoft.com/graph/api/application-post-federatedidentitycredentials?view=graph-rest-1.0 (accessed Oct 30, 2026).</a:t>
            </a:r>
            <a:endParaRPr lang="en-US" sz="1050" dirty="0"/>
          </a:p>
          <a:p>
            <a:pPr indent="0" marL="0">
              <a:spcAft>
                <a:spcPts val="300"/>
              </a:spcAft>
              <a:buNone/>
            </a:pPr>
            <a:r>
              <a:rPr lang="en-US" sz="1050" b="1" dirty="0">
                <a:solidFill>
                  <a:srgbClr val="1F2A44"/>
                </a:solidFill>
              </a:rPr>
              <a:t>np05-graph-list  </a:t>
            </a:r>
            <a:pPr indent="0" marL="0">
              <a:spcAft>
                <a:spcPts val="300"/>
              </a:spcAft>
              <a:buNone/>
            </a:pPr>
            <a:r>
              <a:rPr lang="en-US" sz="1050" dirty="0">
                <a:solidFill>
                  <a:srgbClr val="334155"/>
                </a:solidFill>
              </a:rPr>
              <a:t>Microsoft Learn, "List federatedIdentityCredentials," permissions, https://learn.microsoft.com/graph/api/federatedidentitycredential-list?view=graph-rest-1.0 (accessed Oct 30, 2026; read for Chapter 01).</a:t>
            </a:r>
            <a:endParaRPr lang="en-US" sz="1050" dirty="0"/>
          </a:p>
          <a:p>
            <a:pPr indent="0" marL="0">
              <a:spcAft>
                <a:spcPts val="300"/>
              </a:spcAft>
              <a:buNone/>
            </a:pPr>
            <a:r>
              <a:rPr lang="en-US" sz="1050" b="1" dirty="0">
                <a:solidFill>
                  <a:srgbClr val="1F2A44"/>
                </a:solidFill>
              </a:rPr>
              <a:t>np05-arm-fic  </a:t>
            </a:r>
            <a:pPr indent="0" marL="0">
              <a:spcAft>
                <a:spcPts val="300"/>
              </a:spcAft>
              <a:buNone/>
            </a:pPr>
            <a:r>
              <a:rPr lang="en-US" sz="1050" dirty="0">
                <a:solidFill>
                  <a:srgbClr val="334155"/>
                </a:solidFill>
              </a:rPr>
              <a:t>Microsoft Learn, "Federated Identity Credentials - Create Or Update" (Managed Identity REST, 2024-11-30), https://learn.microsoft.com/rest/api/managedidentity/federated-identity-credentials/create-or-update (accessed Oct 30, 2026).</a:t>
            </a:r>
            <a:endParaRPr lang="en-US" sz="1050" dirty="0"/>
          </a:p>
          <a:p>
            <a:pPr indent="0" marL="0">
              <a:spcAft>
                <a:spcPts val="300"/>
              </a:spcAft>
              <a:buNone/>
            </a:pPr>
            <a:r>
              <a:rPr lang="en-US" sz="1050" b="1" dirty="0">
                <a:solidFill>
                  <a:srgbClr val="1F2A44"/>
                </a:solidFill>
              </a:rPr>
              <a:t>np05-arm-uami  </a:t>
            </a:r>
            <a:pPr indent="0" marL="0">
              <a:spcAft>
                <a:spcPts val="300"/>
              </a:spcAft>
              <a:buNone/>
            </a:pPr>
            <a:r>
              <a:rPr lang="en-US" sz="1050" dirty="0">
                <a:solidFill>
                  <a:srgbClr val="334155"/>
                </a:solidFill>
              </a:rPr>
              <a:t>Microsoft Learn, "User Assigned Identities - Create Or Update" (Managed Identity REST, 2024-11-30), https://learn.microsoft.com/rest/api/managedidentity/user-assigned-identities/create-or-update (accessed Oct 30, 2026).</a:t>
            </a:r>
            <a:endParaRPr lang="en-US" sz="1050" dirty="0"/>
          </a:p>
          <a:p>
            <a:pPr indent="0" marL="0">
              <a:spcAft>
                <a:spcPts val="300"/>
              </a:spcAft>
              <a:buNone/>
            </a:pPr>
            <a:r>
              <a:rPr lang="en-US" sz="1050" b="1" dirty="0">
                <a:solidFill>
                  <a:srgbClr val="1F2A44"/>
                </a:solidFill>
              </a:rPr>
              <a:t>np05-uami-rest  </a:t>
            </a:r>
            <a:pPr indent="0" marL="0">
              <a:spcAft>
                <a:spcPts val="300"/>
              </a:spcAft>
              <a:buNone/>
            </a:pPr>
            <a:r>
              <a:rPr lang="en-US" sz="1050" dirty="0">
                <a:solidFill>
                  <a:srgbClr val="334155"/>
                </a:solidFill>
              </a:rPr>
              <a:t>Microsoft Learn, "Manage user-assigned managed identities using REST," create and list, https://learn.microsoft.com/entra/identity/managed-identities-azure-resources/manage-user-assigned-managed-identities-rest (accessed Oct 30, 2026).</a:t>
            </a:r>
            <a:endParaRPr lang="en-US" sz="1050" dirty="0"/>
          </a:p>
          <a:p>
            <a:pPr indent="0" marL="0">
              <a:spcAft>
                <a:spcPts val="300"/>
              </a:spcAft>
              <a:buNone/>
            </a:pPr>
            <a:r>
              <a:rPr lang="en-US" sz="1050" b="1" dirty="0">
                <a:solidFill>
                  <a:srgbClr val="1F2A44"/>
                </a:solidFill>
              </a:rPr>
              <a:t>np05-mi-contrib  </a:t>
            </a:r>
            <a:pPr indent="0" marL="0">
              <a:spcAft>
                <a:spcPts val="300"/>
              </a:spcAft>
              <a:buNone/>
            </a:pPr>
            <a:r>
              <a:rPr lang="en-US" sz="1050" dirty="0">
                <a:solidFill>
                  <a:srgbClr val="334155"/>
                </a:solidFill>
              </a:rPr>
              <a:t>Microsoft Learn, "Azure built-in roles for Identity," Managed Identity Contributor, https://learn.microsoft.com/azure/role-based-access-control/built-in-roles/identity#managed-identity-contributor (accessed Oct 30, 2026).</a:t>
            </a:r>
            <a:endParaRPr lang="en-US" sz="1050" dirty="0"/>
          </a:p>
          <a:p>
            <a:pPr indent="0" marL="0">
              <a:spcAft>
                <a:spcPts val="300"/>
              </a:spcAft>
              <a:buNone/>
            </a:pPr>
            <a:r>
              <a:rPr lang="en-US" sz="1050" b="1" dirty="0">
                <a:solidFill>
                  <a:srgbClr val="1F2A44"/>
                </a:solidFill>
              </a:rPr>
              <a:t>np05-roles-list  </a:t>
            </a:r>
            <a:pPr indent="0" marL="0">
              <a:spcAft>
                <a:spcPts val="300"/>
              </a:spcAft>
              <a:buNone/>
            </a:pPr>
            <a:r>
              <a:rPr lang="en-US" sz="1050" dirty="0">
                <a:solidFill>
                  <a:srgbClr val="334155"/>
                </a:solidFill>
              </a:rPr>
              <a:t>Microsoft Learn, "List Azure role assignments using the REST API," https://learn.microsoft.com/azure/role-based-access-control/role-assignments-list-rest, and "List Azure role assignments using the Azure portal," prerequisites, https://learn.microsoft.com/azure/role-based-access-control/role-assignments-list-portal (accessed Oct 30,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(2)</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np05-clientcreds  </a:t>
            </a:r>
            <a:pPr indent="0" marL="0">
              <a:spcAft>
                <a:spcPts val="300"/>
              </a:spcAft>
              <a:buNone/>
            </a:pPr>
            <a:r>
              <a:rPr lang="en-US" sz="1050" dirty="0">
                <a:solidFill>
                  <a:srgbClr val="334155"/>
                </a:solidFill>
              </a:rPr>
              <a:t>Microsoft Learn, "Microsoft identity platform and the OAuth 2.0 client credentials flow," third case: access token request with a federated credential, https://learn.microsoft.com/entra/identity-platform/v2-oauth2-client-creds-grant-flow (accessed Oct 30, 2026).</a:t>
            </a:r>
            <a:endParaRPr lang="en-US" sz="1050" dirty="0"/>
          </a:p>
          <a:p>
            <a:pPr indent="0" marL="0">
              <a:spcAft>
                <a:spcPts val="300"/>
              </a:spcAft>
              <a:buNone/>
            </a:pPr>
            <a:r>
              <a:rPr lang="en-US" sz="1050" b="1" dirty="0">
                <a:solidFill>
                  <a:srgbClr val="1F2A44"/>
                </a:solidFill>
              </a:rPr>
              <a:t>np05-signins  </a:t>
            </a:r>
            <a:pPr indent="0" marL="0">
              <a:spcAft>
                <a:spcPts val="300"/>
              </a:spcAft>
              <a:buNone/>
            </a:pPr>
            <a:r>
              <a:rPr lang="en-US" sz="1050" dirty="0">
                <a:solidFill>
                  <a:srgbClr val="334155"/>
                </a:solidFill>
              </a:rPr>
              <a:t>Microsoft Learn, "List signIns" (beta), permissions, national cloud deployments, the signInEventTypes note, https://learn.microsoft.com/graph/api/signin-list?view=graph-rest-beta (accessed Oct 30, 2026).</a:t>
            </a:r>
            <a:endParaRPr lang="en-US" sz="1050" dirty="0"/>
          </a:p>
          <a:p>
            <a:pPr indent="0" marL="0">
              <a:spcAft>
                <a:spcPts val="300"/>
              </a:spcAft>
              <a:buNone/>
            </a:pPr>
            <a:r>
              <a:rPr lang="en-US" sz="1050" b="1" dirty="0">
                <a:solidFill>
                  <a:srgbClr val="1F2A44"/>
                </a:solidFill>
              </a:rPr>
              <a:t>np05-signin-resource  </a:t>
            </a:r>
            <a:pPr indent="0" marL="0">
              <a:spcAft>
                <a:spcPts val="300"/>
              </a:spcAft>
              <a:buNone/>
            </a:pPr>
            <a:r>
              <a:rPr lang="en-US" sz="1050" dirty="0">
                <a:solidFill>
                  <a:srgbClr val="334155"/>
                </a:solidFill>
              </a:rPr>
              <a:t>Microsoft Learn, "signIn resource type" (beta), https://learn.microsoft.com/graph/api/resources/signin?view=graph-rest-beta (accessed Oct 31, 2026).</a:t>
            </a:r>
            <a:endParaRPr lang="en-US" sz="1050" dirty="0"/>
          </a:p>
          <a:p>
            <a:pPr indent="0" marL="0">
              <a:spcAft>
                <a:spcPts val="300"/>
              </a:spcAft>
              <a:buNone/>
            </a:pPr>
            <a:r>
              <a:rPr lang="en-US" sz="1050" b="1" dirty="0">
                <a:solidFill>
                  <a:srgbClr val="1F2A44"/>
                </a:solidFill>
              </a:rPr>
              <a:t>np05-flexible  </a:t>
            </a:r>
            <a:pPr indent="0" marL="0">
              <a:spcAft>
                <a:spcPts val="300"/>
              </a:spcAft>
              <a:buNone/>
            </a:pPr>
            <a:r>
              <a:rPr lang="en-US" sz="1050" dirty="0">
                <a:solidFill>
                  <a:srgbClr val="334155"/>
                </a:solidFill>
              </a:rPr>
              <a:t>Microsoft Learn, "Flexible federated identity credentials (preview)," properties; issuer URLs, supported claims and operators by platform, https://learn.microsoft.com/entra/workload-id/workload-identities-flexible-federated-identity-credentials, and "Set up a Flexible Federated identity credential (preview)," https://learn.microsoft.com/entra/workload-id/workload-identities-set-up-flexible-federated-identity-credential (accessed Oct 30, 2026).</a:t>
            </a:r>
            <a:endParaRPr lang="en-US" sz="1050" dirty="0"/>
          </a:p>
          <a:p>
            <a:pPr indent="0" marL="0">
              <a:spcAft>
                <a:spcPts val="300"/>
              </a:spcAft>
              <a:buNone/>
            </a:pPr>
            <a:r>
              <a:rPr lang="en-US" sz="1050" b="1" dirty="0">
                <a:solidFill>
                  <a:srgbClr val="1F2A44"/>
                </a:solidFill>
              </a:rPr>
              <a:t>np05-mutable  </a:t>
            </a:r>
            <a:pPr indent="0" marL="0">
              <a:spcAft>
                <a:spcPts val="300"/>
              </a:spcAft>
              <a:buNone/>
            </a:pPr>
            <a:r>
              <a:rPr lang="en-US" sz="1050" dirty="0">
                <a:solidFill>
                  <a:srgbClr val="334155"/>
                </a:solidFill>
              </a:rPr>
              <a:t>Microsoft Learn, "Mutable subjects in federated identity credentials," recommended hygiene, https://learn.microsoft.com/entra/workload-id/workload-identities-federated-credential-mutable-subjects (accessed Oct 30, 2026).</a:t>
            </a:r>
            <a:endParaRPr lang="en-US" sz="1050" dirty="0"/>
          </a:p>
          <a:p>
            <a:pPr indent="0" marL="0">
              <a:spcAft>
                <a:spcPts val="300"/>
              </a:spcAft>
              <a:buNone/>
            </a:pPr>
            <a:r>
              <a:rPr lang="en-US" sz="1050" b="1" dirty="0">
                <a:solidFill>
                  <a:srgbClr val="1F2A44"/>
                </a:solidFill>
              </a:rPr>
              <a:t>np05-appservice  </a:t>
            </a:r>
            <a:pPr indent="0" marL="0">
              <a:spcAft>
                <a:spcPts val="300"/>
              </a:spcAft>
              <a:buNone/>
            </a:pPr>
            <a:r>
              <a:rPr lang="en-US" sz="1050" dirty="0">
                <a:solidFill>
                  <a:srgbClr val="334155"/>
                </a:solidFill>
              </a:rPr>
              <a:t>Microsoft Learn, "Deploy to Azure App Service by using GitHub Actions," manually set up a GitHub Actions workflow (OpenID Connect), https://learn.microsoft.com/azure/app-service/deploy-github-actions (accessed Oct 30, 2026).</a:t>
            </a:r>
            <a:endParaRPr lang="en-US" sz="1050" dirty="0"/>
          </a:p>
          <a:p>
            <a:pPr indent="0" marL="0">
              <a:spcAft>
                <a:spcPts val="300"/>
              </a:spcAft>
              <a:buNone/>
            </a:pPr>
            <a:r>
              <a:rPr lang="en-US" sz="1050" b="1" dirty="0">
                <a:solidFill>
                  <a:srgbClr val="1F2A44"/>
                </a:solidFill>
              </a:rPr>
              <a:t>np05-deployments  </a:t>
            </a:r>
            <a:pPr indent="0" marL="0">
              <a:spcAft>
                <a:spcPts val="300"/>
              </a:spcAft>
              <a:buNone/>
            </a:pPr>
            <a:r>
              <a:rPr lang="en-US" sz="1050" dirty="0">
                <a:solidFill>
                  <a:srgbClr val="334155"/>
                </a:solidFill>
              </a:rPr>
              <a:t>Microsoft Learn, "Microsoft Graph national cloud deployments," https://learn.microsoft.com/graph/deployments (accessed Oct 30, 2026).</a:t>
            </a:r>
            <a:endParaRPr lang="en-US" sz="1050" dirty="0"/>
          </a:p>
          <a:p>
            <a:pPr indent="0" marL="0">
              <a:spcAft>
                <a:spcPts val="300"/>
              </a:spcAft>
              <a:buNone/>
            </a:pPr>
            <a:r>
              <a:rPr lang="en-US" sz="1050" b="1" dirty="0">
                <a:solidFill>
                  <a:srgbClr val="1F2A44"/>
                </a:solidFill>
              </a:rPr>
              <a:t>np05-src-entra  </a:t>
            </a:r>
            <a:pPr indent="0" marL="0">
              <a:spcAft>
                <a:spcPts val="300"/>
              </a:spcAft>
              <a:buNone/>
            </a:pPr>
            <a:r>
              <a:rPr lang="en-US" sz="1050" dirty="0">
                <a:solidFill>
                  <a:srgbClr val="334155"/>
                </a:solidFill>
              </a:rPr>
              <a:t>Microsoft, MicrosoftDocs/entra-docs, docs/workload-id/workload-identity-federation-create-trust.md, docs/workload-id/workload-identity-federation-create-trust-user-assigned-managed-identity.md and docs/workload-id/includes/federated-credential-configuration-considerations.md at commit d75a90ea1b07d0d2007cfab256c1ad02653d1e35 (February 25, 2026), code MIT License, documentation Creative Commons Attribution 4.0, https://github.com/MicrosoftDocs/entra-docs/tree/d75a90ea1b07d0d2007cfab256c1ad02653d1e35/docs/workload-id (accessed Oct 30, 2026); pinned copy in examples/third_party/entra-wif-create-trust-pages.</a:t>
            </a:r>
            <a:endParaRPr lang="en-US" sz="1050" dirty="0"/>
          </a:p>
          <a:p>
            <a:pPr indent="0" marL="0">
              <a:spcAft>
                <a:spcPts val="300"/>
              </a:spcAft>
              <a:buNone/>
            </a:pPr>
            <a:r>
              <a:rPr lang="en-US" sz="1050" b="1" dirty="0">
                <a:solidFill>
                  <a:srgbClr val="1F2A44"/>
                </a:solidFill>
              </a:rPr>
              <a:t>np05-src-graph  </a:t>
            </a:r>
            <a:pPr indent="0" marL="0">
              <a:spcAft>
                <a:spcPts val="300"/>
              </a:spcAft>
              <a:buNone/>
            </a:pPr>
            <a:r>
              <a:rPr lang="en-US" sz="1050" dirty="0">
                <a:solidFill>
                  <a:srgbClr val="334155"/>
                </a:solidFill>
              </a:rPr>
              <a:t>Microsoft, microsoftgraph/microsoft-graph-docs-contrib, api-reference/v1.0/api/federatedidentitycredential-post.md at commit 08b242e8a85a03db4c4d1f41564cfc81632d5cd1 (December 4, 2025), code MIT License, documentation Creative Commons Attribution 4.0, https://github.com/microsoftgraph/microsoft-graph-docs-contrib/blob/08b242e8a85a03db4c4d1f41564cfc81632d5cd1/api-reference/v1.0/api/federatedidentitycredential-post.md (accessed Oct 30, 2026); pinned copy in examples/third_party/graph-fic-create-page.</a:t>
            </a:r>
            <a:endParaRPr lang="en-US" sz="1050" dirty="0"/>
          </a:p>
          <a:p>
            <a:pPr indent="0" marL="0">
              <a:spcAft>
                <a:spcPts val="300"/>
              </a:spcAft>
              <a:buNone/>
            </a:pPr>
            <a:r>
              <a:rPr lang="en-US" sz="1050" b="1" dirty="0">
                <a:solidFill>
                  <a:srgbClr val="1F2A44"/>
                </a:solidFill>
              </a:rPr>
              <a:t>np05-src-arm  </a:t>
            </a:r>
            <a:pPr indent="0" marL="0">
              <a:spcAft>
                <a:spcPts val="300"/>
              </a:spcAft>
              <a:buNone/>
            </a:pPr>
            <a:r>
              <a:rPr lang="en-US" sz="1050" dirty="0">
                <a:solidFill>
                  <a:srgbClr val="334155"/>
                </a:solidFill>
              </a:rPr>
              <a:t>Microsoft, Azure/azure-rest-api-specs, specification/msi/resource-manager/Microsoft.ManagedIdentity/ManagedIdentity/stable/2024-11-30/examples (three files) at commit 37886acc4980d7ac8753fafe90619cae296eb477 (September 12, 2025), MIT License, https://github.com/Azure/azure-rest-api-specs/tree/37886acc4980d7ac8753fafe90619cae296eb477/specification/msi/resource-manager/Microsoft.ManagedIdentity/ManagedIdentity/stable/2024-11-30/examples (accessed Oct 30, 2026); pinned copy in examples/third_party/msi-fic-rest-examples.</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 full (3)</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indent="0" marL="0">
              <a:spcAft>
                <a:spcPts val="300"/>
              </a:spcAft>
              <a:buNone/>
            </a:pPr>
            <a:r>
              <a:rPr lang="en-US" sz="1050" b="1" dirty="0">
                <a:solidFill>
                  <a:srgbClr val="1F2A44"/>
                </a:solidFill>
              </a:rPr>
              <a:t>np05-compare  </a:t>
            </a:r>
            <a:pPr indent="0" marL="0">
              <a:spcAft>
                <a:spcPts val="300"/>
              </a:spcAft>
              <a:buNone/>
            </a:pPr>
            <a:r>
              <a:rPr lang="en-US" sz="1050" dirty="0">
                <a:solidFill>
                  <a:srgbClr val="334155"/>
                </a:solidFill>
              </a:rPr>
              <a:t>Microsoft Learn, "Compare Azure Government and global Azure," guidance for developers (Azure Resource Manager endpoints), https://learn.microsoft.com/azure/azure-government/compare-azure-government-global-azure (accessed Oct 31, 2026).</a:t>
            </a:r>
            <a:endParaRPr lang="en-US" sz="10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05 — Workload Federation and Managed Identities</dc:title>
  <dc:subject>PptxGenJS Presentation</dc:subject>
  <dc:creator>Michael F. Stratton</dc:creator>
  <cp:lastModifiedBy>Michael F. Stratton</cp:lastModifiedBy>
  <cp:revision>1</cp:revision>
  <dcterms:created xsi:type="dcterms:W3CDTF">2026-10-31T14:33:44Z</dcterms:created>
  <dcterms:modified xsi:type="dcterms:W3CDTF">2026-10-31T14:33:44Z</dcterms:modified>
</cp:coreProperties>
</file>