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442189C1-451D-0521-583B-5EBBD9A2E980}">
          <p14:sldIdLst>
            <p14:sldId id="256"/>
            <p14:sldId id="257"/>
            <p14:sldId id="258"/>
          </p14:sldIdLst>
        </p14:section>
        <p14:section name="What replaces it" id="{3843678C-8E6F-EFB4-C565-014B272EEDB4}">
          <p14:sldIdLst>
            <p14:sldId id="259"/>
            <p14:sldId id="260"/>
            <p14:sldId id="261"/>
          </p14:sldIdLst>
        </p14:section>
        <p14:section name="Who owns it" id="{6F236550-07D9-6D17-FFC7-496FD70DE620}">
          <p14:sldIdLst>
            <p14:sldId id="262"/>
          </p14:sldIdLst>
        </p14:section>
        <p14:section name="How to do it" id="{89BEA83D-B49D-07BD-3476-A4FD3F5B036D}">
          <p14:sldIdLst>
            <p14:sldId id="263"/>
            <p14:sldId id="264"/>
            <p14:sldId id="265"/>
            <p14:sldId id="266"/>
          </p14:sldIdLst>
        </p14:section>
        <p14:section name="Backup" id="{5904257D-9132-800D-DEF1-8F9129E061C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4064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[0:27–1:38]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[1:38–2:41]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[2:41–3:47]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[3:47–5:04]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[5:04–6:04]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[6:04–7:06]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[7:06–8:17]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[8:17–9:27]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[9:27–10:21]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[10:21–11:36]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7.xml"/><Relationship Id="rId9"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notesSlide" Target="../notesSlides/notesSlide10.xml"/><Relationship Id="rId9"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6" name="Narration">
            <a:hlinkClick r:id="" action="ppaction://media"/>
            <a:extLst>
              <a:ext uri="{FF2B5EF4-FFF2-40B4-BE49-F238E27FC236}">
                <a16:creationId xmlns:a16="http://schemas.microsoft.com/office/drawing/2014/main" id="{01B2F357-D403-9DCA-8286-01C807B9BB33}"/>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550"/>
    </mc:Choice>
    <mc:Fallback>
      <p:transition spd="slow" advTm="28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5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QUIETLY</a:t>
            </a:r>
            <a:endParaRPr lang="en-US" sz="1200" dirty="0"/>
          </a:p>
        </p:txBody>
      </p:sp>
      <p:sp>
        <p:nvSpPr>
          <p:cNvPr id="6" name="Job 0"/>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Targeting   </a:t>
            </a:r>
            <a:r>
              <a:rPr lang="en-US" sz="1450" dirty="0">
                <a:solidFill>
                  <a:schemeClr val="tx2"/>
                </a:solidFill>
              </a:rPr>
              <a:t>Where a computer sits decides what it gets</a:t>
            </a:r>
            <a:endParaRPr lang="en-US" sz="1450" dirty="0"/>
          </a:p>
        </p:txBody>
      </p:sp>
      <p:sp>
        <p:nvSpPr>
          <p:cNvPr id="8" name="Job 1"/>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Precedence   </a:t>
            </a:r>
            <a:r>
              <a:rPr lang="en-US" sz="1450" dirty="0">
                <a:solidFill>
                  <a:schemeClr val="tx2"/>
                </a:solidFill>
              </a:rPr>
              <a:t>Link order and inheritance decide who wins</a:t>
            </a:r>
            <a:endParaRPr lang="en-US" sz="1450" dirty="0"/>
          </a:p>
        </p:txBody>
      </p:sp>
      <p:sp>
        <p:nvSpPr>
          <p:cNvPr id="10" name="Job 2"/>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Delegation   </a:t>
            </a:r>
            <a:r>
              <a:rPr lang="en-US" sz="1450" dirty="0">
                <a:solidFill>
                  <a:schemeClr val="tx2"/>
                </a:solidFill>
              </a:rPr>
              <a:t>OU permissions decide who may change it</a:t>
            </a:r>
            <a:endParaRPr lang="en-US" sz="1450" dirty="0"/>
          </a:p>
        </p:txBody>
      </p:sp>
      <p:sp>
        <p:nvSpPr>
          <p:cNvPr id="12" name="Job 3"/>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Timing   </a:t>
            </a:r>
            <a:r>
              <a:rPr lang="en-US" sz="1450" dirty="0">
                <a:solidFill>
                  <a:schemeClr val="tx2"/>
                </a:solidFill>
              </a:rPr>
              <a:t>Refresh at startup, sign-in and on a cycle</a:t>
            </a:r>
            <a:endParaRPr lang="en-US" sz="1450" dirty="0"/>
          </a:p>
        </p:txBody>
      </p:sp>
      <p:sp>
        <p:nvSpPr>
          <p:cNvPr id="14" name="Job 4"/>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Evidence   </a:t>
            </a:r>
            <a:r>
              <a:rPr lang="en-US" sz="1450" dirty="0">
                <a:solidFill>
                  <a:schemeClr val="tx2"/>
                </a:solidFill>
              </a:rPr>
              <a:t>Resultant set of policy says what applied</a:t>
            </a:r>
            <a:endParaRPr lang="en-US" sz="1450" dirty="0"/>
          </a:p>
        </p:txBody>
      </p:sp>
      <p:sp>
        <p:nvSpPr>
          <p:cNvPr id="16" name="Intune box"/>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Laptop"/>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descr="C:\Users\whale\git\mwb-b05\presentations\_build\icons\FaLaptop.png"/>
          <p:cNvPicPr>
            <a:picLocks noChangeAspect="1"/>
          </p:cNvPicPr>
          <p:nvPr/>
        </p:nvPicPr>
        <p:blipFill>
          <a:blip r:embed="rId5"/>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AN ENTRA-JOINED, INTUNE-MANAGED DEVICE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descr="C:\Users\whale\git\mwb-b05\presentations\_build\icons\FaTriangleExclamation.png"/>
          <p:cNvPicPr>
            <a:picLocks noChangeAspect="1"/>
          </p:cNvPicPr>
          <p:nvPr/>
        </p:nvPicPr>
        <p:blipFill>
          <a:blip r:embed="rId6"/>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settings migration: </a:t>
            </a: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a:hlinkClick r:id="" action="ppaction://media"/>
            <a:extLst>
              <a:ext uri="{FF2B5EF4-FFF2-40B4-BE49-F238E27FC236}">
                <a16:creationId xmlns:a16="http://schemas.microsoft.com/office/drawing/2014/main" id="{4B78F37E-C8BC-E5D2-E823-4F2941A28C96}"/>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260"/>
    </mc:Choice>
    <mc:Fallback>
      <p:transition spd="slow" advTm="7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2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witch box"/>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descr="C:\Users\whale\git\mwb-b05\presentations\_build\icons\FaArrowsRotate.png"/>
          <p:cNvPicPr>
            <a:picLocks noChangeAspect="1"/>
          </p:cNvPicPr>
          <p:nvPr/>
        </p:nvPicPr>
        <p:blipFill>
          <a:blip r:embed="rId5"/>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Route"/>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descr="C:\Users\whale\git\mwb-b05\presentations\_build\icons\FaRoute.png"/>
          <p:cNvPicPr>
            <a:picLocks noChangeAspect="1"/>
          </p:cNvPicPr>
          <p:nvPr/>
        </p:nvPicPr>
        <p:blipFill>
          <a:blip r:embed="rId6"/>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governed path: </a:t>
            </a: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a:hlinkClick r:id="" action="ppaction://media"/>
            <a:extLst>
              <a:ext uri="{FF2B5EF4-FFF2-40B4-BE49-F238E27FC236}">
                <a16:creationId xmlns:a16="http://schemas.microsoft.com/office/drawing/2014/main" id="{41B84903-38F1-2B39-8B3A-A33352292AB6}"/>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70"/>
    </mc:Choice>
    <mc:Fallback>
      <p:transition spd="slow" advTm="64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1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ad 0"/>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descr="C:\Users\whale\git\mwb-b05\presentations\_build\icons\FaLaptop.png"/>
          <p:cNvPicPr>
            <a:picLocks noChangeAspect="1"/>
          </p:cNvPicPr>
          <p:nvPr/>
        </p:nvPicPr>
        <p:blipFill>
          <a:blip r:embed="rId5"/>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descr="C:\Users\whale\git\mwb-b05\presentations\_build\icons\FaServer.png"/>
          <p:cNvPicPr>
            <a:picLocks noChangeAspect="1"/>
          </p:cNvPicPr>
          <p:nvPr/>
        </p:nvPicPr>
        <p:blipFill>
          <a:blip r:embed="rId6"/>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descr="C:\Users\whale\git\mwb-b05\presentations\_build\icons\FaDoorOpen.png"/>
          <p:cNvPicPr>
            <a:picLocks noChangeAspect="1"/>
          </p:cNvPicPr>
          <p:nvPr/>
        </p:nvPicPr>
        <p:blipFill>
          <a:blip r:embed="rId7"/>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marL="0" indent="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itemap"/>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descr="C:\Users\whale\git\mwb-b05\presentations\_build\icons\FaSitemap.png"/>
          <p:cNvPicPr>
            <a:picLocks noChangeAspect="1"/>
          </p:cNvPicPr>
          <p:nvPr/>
        </p:nvPicPr>
        <p:blipFill>
          <a:blip r:embed="rId8"/>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One record, many systems: </a:t>
            </a: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a:hlinkClick r:id="" action="ppaction://media"/>
            <a:extLst>
              <a:ext uri="{FF2B5EF4-FFF2-40B4-BE49-F238E27FC236}">
                <a16:creationId xmlns:a16="http://schemas.microsoft.com/office/drawing/2014/main" id="{83D2642F-FB67-8A2D-7910-1A1C338AC0E4}"/>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350"/>
    </mc:Choice>
    <mc:Fallback>
      <p:transition spd="slow" advTm="66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3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llar 0"/>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1  No ungoverned device   </a:t>
            </a:r>
            <a:r>
              <a:rPr lang="en-US" sz="1350" dirty="0">
                <a:solidFill>
                  <a:schemeClr val="tx2"/>
                </a:solidFill>
              </a:rPr>
              <a:t>Enrolled in governance before production use; quarantine is the safety valve</a:t>
            </a:r>
            <a:endParaRPr lang="en-US" sz="1500" dirty="0"/>
          </a:p>
        </p:txBody>
      </p:sp>
      <p:sp>
        <p:nvSpPr>
          <p:cNvPr id="7" name="Pillar 1"/>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2  Procurement first   </a:t>
            </a:r>
            <a:r>
              <a:rPr lang="en-US" sz="1350" dirty="0">
                <a:solidFill>
                  <a:schemeClr val="tx2"/>
                </a:solidFill>
              </a:rPr>
              <a:t>The organizational assignment is set when the order is placed</a:t>
            </a:r>
            <a:endParaRPr lang="en-US" sz="1500" dirty="0"/>
          </a:p>
        </p:txBody>
      </p:sp>
      <p:sp>
        <p:nvSpPr>
          <p:cNvPr id="9" name="Pillar 2"/>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3  Zero-touch only   </a:t>
            </a:r>
            <a:r>
              <a:rPr lang="en-US" sz="1350" dirty="0">
                <a:solidFill>
                  <a:schemeClr val="tx2"/>
                </a:solidFill>
              </a:rPr>
              <a:t>Manual enrollment is a justified, time-boxed, audited exception</a:t>
            </a:r>
            <a:endParaRPr lang="en-US" sz="1500" dirty="0"/>
          </a:p>
        </p:txBody>
      </p:sp>
      <p:sp>
        <p:nvSpPr>
          <p:cNvPr id="11" name="Pillar 3"/>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4  One management plane   </a:t>
            </a:r>
            <a:r>
              <a:rPr lang="en-US" sz="1350" dirty="0">
                <a:solidFill>
                  <a:schemeClr val="tx2"/>
                </a:solidFill>
              </a:rPr>
              <a:t>Intune for endpoints; Arc and machine configuration for servers; no greenfield GPO or hybrid join</a:t>
            </a:r>
            <a:endParaRPr lang="en-US" sz="1500" dirty="0"/>
          </a:p>
        </p:txBody>
      </p:sp>
      <p:sp>
        <p:nvSpPr>
          <p:cNvPr id="13" name="Pillar 4"/>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5  Quarantine on failure   </a:t>
            </a:r>
            <a:r>
              <a:rPr lang="en-US" sz="1350" dirty="0">
                <a:solidFill>
                  <a:schemeClr val="tx2"/>
                </a:solidFill>
              </a:rPr>
              <a:t>Never silently degrade; a failure opens a ticket</a:t>
            </a:r>
            <a:endParaRPr lang="en-US" sz="1500" dirty="0"/>
          </a:p>
        </p:txBody>
      </p:sp>
      <p:sp>
        <p:nvSpPr>
          <p:cNvPr id="15" name="Autopilot box"/>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Laptop"/>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descr="C:\Users\whale\git\mwb-b05\presentations\_build\icons\FaLaptop.png"/>
          <p:cNvPicPr>
            <a:picLocks noChangeAspect="1"/>
          </p:cNvPicPr>
          <p:nvPr/>
        </p:nvPicPr>
        <p:blipFill>
          <a:blip r:embed="rId5"/>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marL="0" indent="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ClipboardCheck"/>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descr="C:\Users\whale\git\mwb-b05\presentations\_build\icons\FaClipboardCheck.png"/>
          <p:cNvPicPr>
            <a:picLocks noChangeAspect="1"/>
          </p:cNvPicPr>
          <p:nvPr/>
        </p:nvPicPr>
        <p:blipFill>
          <a:blip r:embed="rId6"/>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Program doctrine, not Microsoft requirements: </a:t>
            </a: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a:hlinkClick r:id="" action="ppaction://media"/>
            <a:extLst>
              <a:ext uri="{FF2B5EF4-FFF2-40B4-BE49-F238E27FC236}">
                <a16:creationId xmlns:a16="http://schemas.microsoft.com/office/drawing/2014/main" id="{26C8F551-E556-A4C0-1CFE-E3A90F3C6DCE}"/>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730"/>
    </mc:Choice>
    <mc:Fallback>
      <p:transition spd="slow" advTm="77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72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0"/>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marL="0" indent="0">
              <a:spcAft>
                <a:spcPts val="600"/>
              </a:spcAft>
              <a:buNone/>
            </a:pPr>
            <a:r>
              <a:rPr lang="en-US" sz="1450" dirty="0">
                <a:solidFill>
                  <a:schemeClr val="tx2"/>
                </a:solidFill>
              </a:rPr>
              <a:t>Program-orchestrated: every step recorded, approved and evidenced</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Default for any population in scope</a:t>
            </a:r>
            <a:endParaRPr lang="en-US" sz="1400" dirty="0"/>
          </a:p>
        </p:txBody>
      </p:sp>
      <p:sp>
        <p:nvSpPr>
          <p:cNvPr id="7" name="Path 1"/>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marL="0" indent="0">
              <a:spcAft>
                <a:spcPts val="600"/>
              </a:spcAft>
              <a:buNone/>
            </a:pPr>
            <a:r>
              <a:rPr lang="en-US" sz="1450" dirty="0">
                <a:solidFill>
                  <a:schemeClr val="tx2"/>
                </a:solidFill>
              </a:rPr>
              <a:t>Operator-run with native tools, without the orchestration platform</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platform isn't available yet</a:t>
            </a:r>
            <a:endParaRPr lang="en-US" sz="1400" dirty="0"/>
          </a:p>
        </p:txBody>
      </p:sp>
      <p:sp>
        <p:nvSpPr>
          <p:cNvPr id="9" name="Path 2"/>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marL="0" indent="0">
              <a:spcAft>
                <a:spcPts val="600"/>
              </a:spcAft>
              <a:buNone/>
            </a:pPr>
            <a:r>
              <a:rPr lang="en-US" sz="1450" dirty="0">
                <a:solidFill>
                  <a:schemeClr val="tx2"/>
                </a:solidFill>
              </a:rPr>
              <a:t>Bring an estate already modernized by hand under governance</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work was done before the program</a:t>
            </a:r>
            <a:endParaRPr lang="en-US" sz="1400" dirty="0"/>
          </a:p>
        </p:txBody>
      </p:sp>
      <p:sp>
        <p:nvSpPr>
          <p:cNvPr id="11" name="Same end"/>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2" name="Icon FaClipboardCheck"/>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descr="C:\Users\whale\git\mwb-b05\presentations\_build\icons\FaClipboardCheck.png"/>
          <p:cNvPicPr>
            <a:picLocks noChangeAspect="1"/>
          </p:cNvPicPr>
          <p:nvPr/>
        </p:nvPicPr>
        <p:blipFill>
          <a:blip r:embed="rId5"/>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marL="0" indent="0">
              <a:buNone/>
            </a:pPr>
            <a:r>
              <a:rPr lang="en-US" sz="1650" b="1" dirty="0">
                <a:solidFill>
                  <a:srgbClr val="64748B"/>
                </a:solidFill>
              </a:rPr>
              <a:t>Same end state, different evidence: </a:t>
            </a: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a:hlinkClick r:id="" action="ppaction://media"/>
            <a:extLst>
              <a:ext uri="{FF2B5EF4-FFF2-40B4-BE49-F238E27FC236}">
                <a16:creationId xmlns:a16="http://schemas.microsoft.com/office/drawing/2014/main" id="{8DFC4ADA-90F3-3A79-0F34-CB8362A53BFD}"/>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100"/>
    </mc:Choice>
    <mc:Fallback>
      <p:transition spd="slow" advTm="6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0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5\presentations\_build\icons\FaBuildingColumns.png"/>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CISO and ISSO</a:t>
            </a:r>
            <a:endParaRPr lang="en-US" sz="1450" dirty="0"/>
          </a:p>
          <a:p>
            <a:pPr marL="0" indent="0">
              <a:spcAft>
                <a:spcPts val="600"/>
              </a:spcAft>
              <a:buNone/>
            </a:pPr>
            <a:r>
              <a:rPr lang="en-US" sz="1450" dirty="0">
                <a:solidFill>
                  <a:schemeClr val="tx2"/>
                </a:solidFill>
              </a:rPr>
              <a:t>Baselines, exceptions, evidence</a:t>
            </a:r>
            <a:endParaRPr lang="en-US" sz="1450" dirty="0"/>
          </a:p>
          <a:p>
            <a:pPr marL="0" indent="0">
              <a:spcAft>
                <a:spcPts val="600"/>
              </a:spcAft>
              <a:buNone/>
            </a:pPr>
            <a:r>
              <a:rPr lang="en-US" sz="1450" b="1" dirty="0">
                <a:solidFill>
                  <a:srgbClr val="1F2A44"/>
                </a:solidFill>
              </a:rPr>
              <a:t>Endpoint engineering lead</a:t>
            </a:r>
            <a:endParaRPr lang="en-US" sz="1450" dirty="0"/>
          </a:p>
          <a:p>
            <a:pPr marL="0" indent="0">
              <a:spcAft>
                <a:spcPts val="600"/>
              </a:spcAft>
              <a:buNone/>
            </a:pPr>
            <a:r>
              <a:rPr lang="en-US" sz="1450" dirty="0">
                <a:solidFill>
                  <a:schemeClr val="tx2"/>
                </a:solidFill>
              </a:rPr>
              <a:t>Policy design and the rollout</a:t>
            </a:r>
            <a:endParaRPr lang="en-US" sz="1450" dirty="0"/>
          </a:p>
          <a:p>
            <a:pPr marL="0" indent="0">
              <a:spcAft>
                <a:spcPts val="600"/>
              </a:spcAft>
              <a:buNone/>
            </a:pPr>
            <a:r>
              <a:rPr lang="en-US" sz="1450" b="1" dirty="0">
                <a:solidFill>
                  <a:srgbClr val="1F2A44"/>
                </a:solidFill>
              </a:rPr>
              <a:t>Change board</a:t>
            </a:r>
            <a:endParaRPr lang="en-US" sz="1450" dirty="0"/>
          </a:p>
          <a:p>
            <a:pPr marL="0" indent="0">
              <a:spcAft>
                <a:spcPts val="600"/>
              </a:spcAft>
              <a:buNone/>
            </a:pPr>
            <a:r>
              <a:rPr lang="en-US" sz="1450" dirty="0">
                <a:solidFill>
                  <a:schemeClr val="tx2"/>
                </a:solidFill>
              </a:rPr>
              <a:t>Rings, waves, pauses</a:t>
            </a:r>
            <a:endParaRPr lang="en-US" sz="145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5\presentations\_build\icons\FaUsersGear.png"/>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Endpoint engineering</a:t>
            </a:r>
            <a:endParaRPr lang="en-US" sz="1450" dirty="0"/>
          </a:p>
          <a:p>
            <a:pPr marL="0" indent="0">
              <a:spcAft>
                <a:spcPts val="600"/>
              </a:spcAft>
              <a:buNone/>
            </a:pPr>
            <a:r>
              <a:rPr lang="en-US" sz="1450" dirty="0">
                <a:solidFill>
                  <a:schemeClr val="tx2"/>
                </a:solidFill>
              </a:rPr>
              <a:t>Intune policies, Autopilot, apps</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machine configuration</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Defender, alerts, response</a:t>
            </a:r>
            <a:endParaRPr lang="en-US" sz="145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5\presentations\_build\icons\FaPeopleArrows.png"/>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app packaging</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Enrollment, wipe, recovery</a:t>
            </a:r>
            <a:endParaRPr lang="en-US" sz="1450" dirty="0"/>
          </a:p>
          <a:p>
            <a:pPr marL="0" indent="0">
              <a:spcAft>
                <a:spcPts val="600"/>
              </a:spcAft>
              <a:buNone/>
            </a:pPr>
            <a:r>
              <a:rPr lang="en-US" sz="1450" b="1" dirty="0">
                <a:solidFill>
                  <a:srgbClr val="B45309"/>
                </a:solidFill>
              </a:rPr>
              <a:t>End users</a:t>
            </a:r>
            <a:endParaRPr lang="en-US" sz="1450" dirty="0"/>
          </a:p>
          <a:p>
            <a:pPr marL="0" indent="0">
              <a:spcAft>
                <a:spcPts val="600"/>
              </a:spcAft>
              <a:buNone/>
            </a:pPr>
            <a:r>
              <a:rPr lang="en-US" sz="1450" dirty="0">
                <a:solidFill>
                  <a:schemeClr val="tx2"/>
                </a:solidFill>
              </a:rPr>
              <a:t>Pilot waves and feedback</a:t>
            </a:r>
            <a:endParaRPr lang="en-US" sz="1450" dirty="0"/>
          </a:p>
        </p:txBody>
      </p:sp>
      <p:sp>
        <p:nvSpPr>
          <p:cNvPr id="20" name="Least"/>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UserShield"/>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C:\Users\whale\git\mwb-b05\presentations\_build\icons\FaUserShield.png"/>
          <p:cNvPicPr>
            <a:picLocks noChangeAspect="1"/>
          </p:cNvPicPr>
          <p:nvPr/>
        </p:nvPicPr>
        <p:blipFill>
          <a:blip r:embed="rId8"/>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Least privilege for the people too: </a:t>
            </a: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a:hlinkClick r:id="" action="ppaction://media"/>
            <a:extLst>
              <a:ext uri="{FF2B5EF4-FFF2-40B4-BE49-F238E27FC236}">
                <a16:creationId xmlns:a16="http://schemas.microsoft.com/office/drawing/2014/main" id="{6A95D4C4-4AA8-22FE-3F08-CE5C535AA441}"/>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10"/>
    </mc:Choice>
    <mc:Fallback>
      <p:transition spd="slow" advTm="6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1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00" b="1" dirty="0">
                <a:solidFill>
                  <a:schemeClr val="tx2"/>
                </a:solidFill>
              </a:rPr>
              <a:t>Inventory and parse</a:t>
            </a:r>
            <a:endParaRPr lang="en-US" sz="1400" dirty="0"/>
          </a:p>
        </p:txBody>
      </p:sp>
      <p:sp>
        <p:nvSpPr>
          <p:cNvPr id="7" name="Step 1"/>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00" b="1" dirty="0">
                <a:solidFill>
                  <a:schemeClr val="tx2"/>
                </a:solidFill>
              </a:rPr>
              <a:t>Classify each setting</a:t>
            </a:r>
            <a:endParaRPr lang="en-US" sz="1400" dirty="0"/>
          </a:p>
        </p:txBody>
      </p:sp>
      <p:sp>
        <p:nvSpPr>
          <p:cNvPr id="9" name="Step 2"/>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00" b="1" dirty="0">
                <a:solidFill>
                  <a:schemeClr val="tx2"/>
                </a:solidFill>
              </a:rPr>
              <a:t>Crosswalk</a:t>
            </a:r>
            <a:endParaRPr lang="en-US" sz="1400" dirty="0"/>
          </a:p>
        </p:txBody>
      </p:sp>
      <p:sp>
        <p:nvSpPr>
          <p:cNvPr id="11" name="Step 3"/>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00" b="1" dirty="0">
                <a:solidFill>
                  <a:schemeClr val="tx2"/>
                </a:solidFill>
              </a:rPr>
              <a:t>Decide</a:t>
            </a:r>
            <a:endParaRPr lang="en-US" sz="1400" dirty="0"/>
          </a:p>
        </p:txBody>
      </p:sp>
      <p:sp>
        <p:nvSpPr>
          <p:cNvPr id="13" name="Step 4"/>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00" b="1" dirty="0">
                <a:solidFill>
                  <a:schemeClr val="tx2"/>
                </a:solidFill>
              </a:rPr>
              <a:t>Sequence by population</a:t>
            </a:r>
            <a:endParaRPr lang="en-US" sz="1400" dirty="0"/>
          </a:p>
        </p:txBody>
      </p:sp>
      <p:sp>
        <p:nvSpPr>
          <p:cNvPr id="15" name="Step 5"/>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00" b="1" dirty="0">
                <a:solidFill>
                  <a:schemeClr val="tx2"/>
                </a:solidFill>
              </a:rPr>
              <a:t>Freeze and unlink</a:t>
            </a:r>
            <a:endParaRPr lang="en-US" sz="1400" dirty="0"/>
          </a:p>
        </p:txBody>
      </p:sp>
      <p:sp>
        <p:nvSpPr>
          <p:cNvPr id="17" name="Step 6"/>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marL="0" indent="0" algn="ctr">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Filte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descr="C:\Users\whale\git\mwb-b05\presentations\_build\icons\FaFilter.png"/>
          <p:cNvPicPr>
            <a:picLocks noChangeAspect="1"/>
          </p:cNvPicPr>
          <p:nvPr/>
        </p:nvPicPr>
        <p:blipFill>
          <a:blip r:embed="rId5"/>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Measure, don't assume: </a:t>
            </a: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a:hlinkClick r:id="" action="ppaction://media"/>
            <a:extLst>
              <a:ext uri="{FF2B5EF4-FFF2-40B4-BE49-F238E27FC236}">
                <a16:creationId xmlns:a16="http://schemas.microsoft.com/office/drawing/2014/main" id="{2F40826C-F4AA-0F8C-3027-A46F8DC50354}"/>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090"/>
    </mc:Choice>
    <mc:Fallback>
      <p:transition spd="slow" advTm="72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0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loor box"/>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aptop"/>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descr="C:\Users\whale\git\mwb-b05\presentations\_build\icons\FaLaptop.png"/>
          <p:cNvPicPr>
            <a:picLocks noChangeAspect="1"/>
          </p:cNvPicPr>
          <p:nvPr/>
        </p:nvPicPr>
        <p:blipFill>
          <a:blip r:embed="rId5"/>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marL="0" indent="0">
              <a:buNone/>
            </a:pPr>
            <a:r>
              <a:rPr lang="en-US" sz="1400" dirty="0">
                <a:solidFill>
                  <a:schemeClr val="tx2"/>
                </a:solidFill>
              </a:rPr>
              <a:t>Windows 11 24H2. Windows 10 is out of support, and 23H2 Enterprise stops getting updates on November 10, 2026.</a:t>
            </a:r>
            <a:endParaRPr lang="en-US" sz="1400" dirty="0"/>
          </a:p>
        </p:txBody>
      </p:sp>
      <p:sp>
        <p:nvSpPr>
          <p:cNvPr id="5" name="Estimates"/>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1" name="Icon FaClipboardCheck"/>
          <p:cNvSpPr/>
          <p:nvPr/>
        </p:nvSpPr>
        <p:spPr>
          <a:xfrm>
            <a:off x="777240" y="5006340"/>
            <a:ext cx="731520" cy="731520"/>
          </a:xfrm>
          <a:prstGeom prst="ellipse">
            <a:avLst/>
          </a:prstGeom>
          <a:solidFill>
            <a:srgbClr val="64748B"/>
          </a:solidFill>
          <a:ln w="12700">
            <a:solidFill>
              <a:srgbClr val="64748B"/>
            </a:solidFill>
            <a:prstDash val="solid"/>
          </a:ln>
        </p:spPr>
      </p:sp>
      <p:pic>
        <p:nvPicPr>
          <p:cNvPr id="12" name="Image 1" descr="C:\Users\whale\git\mwb-b05\presentations\_build\icons\FaClipboardCheck.png"/>
          <p:cNvPicPr>
            <a:picLocks noChangeAspect="1"/>
          </p:cNvPicPr>
          <p:nvPr/>
        </p:nvPicPr>
        <p:blipFill>
          <a:blip r:embed="rId6"/>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Planning estimates, not promises: </a:t>
            </a: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5" name="Narration">
            <a:hlinkClick r:id="" action="ppaction://media"/>
            <a:extLst>
              <a:ext uri="{FF2B5EF4-FFF2-40B4-BE49-F238E27FC236}">
                <a16:creationId xmlns:a16="http://schemas.microsoft.com/office/drawing/2014/main" id="{1ED4FEEA-D259-2D2F-D59F-C53774AC1AFA}"/>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940"/>
    </mc:Choice>
    <mc:Fallback>
      <p:transition spd="slow" advTm="7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93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Serve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descr="C:\Users\whale\git\mwb-b05\presentations\_build\icons\FaServer.png"/>
          <p:cNvPicPr>
            <a:picLocks noChangeAspect="1"/>
          </p:cNvPicPr>
          <p:nvPr/>
        </p:nvPicPr>
        <p:blipFill>
          <a:blip r:embed="rId5"/>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1F2A44"/>
                </a:solidFill>
              </a:rPr>
              <a:t>Onboard with least privilege</a:t>
            </a:r>
            <a:endParaRPr lang="en-US" sz="1400" dirty="0"/>
          </a:p>
          <a:p>
            <a:pPr marL="0" indent="0">
              <a:buNone/>
            </a:pPr>
            <a:r>
              <a:rPr lang="en-US" sz="1400" dirty="0">
                <a:solidFill>
                  <a:schemeClr val="tx2"/>
                </a:solidFill>
              </a:rPr>
              <a:t>Connected Machine agent; certificate-based onboarding identity used only at connect time</a:t>
            </a:r>
            <a:endParaRPr lang="en-US" sz="1400" dirty="0"/>
          </a:p>
        </p:txBody>
      </p:sp>
      <p:sp>
        <p:nvSpPr>
          <p:cNvPr id="8" name="Icon FaListCheck"/>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descr="C:\Users\whale\git\mwb-b05\presentations\_build\icons\FaListCheck.png"/>
          <p:cNvPicPr>
            <a:picLocks noChangeAspect="1"/>
          </p:cNvPicPr>
          <p:nvPr/>
        </p:nvPicPr>
        <p:blipFill>
          <a:blip r:embed="rId6"/>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Configure through Azure Policy</a:t>
            </a:r>
            <a:endParaRPr lang="en-US" sz="1400" dirty="0"/>
          </a:p>
          <a:p>
            <a:pPr marL="0" indent="0">
              <a:buNone/>
            </a:pPr>
            <a:r>
              <a:rPr lang="en-US" sz="1400" dirty="0">
                <a:solidFill>
                  <a:schemeClr val="tx2"/>
                </a:solidFill>
              </a:rPr>
              <a:t>Machine configuration baselines, assigned by scope</a:t>
            </a:r>
            <a:endParaRPr lang="en-US" sz="1400" dirty="0"/>
          </a:p>
        </p:txBody>
      </p:sp>
      <p:sp>
        <p:nvSpPr>
          <p:cNvPr id="11" name="Icon FaShieldHalved"/>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descr="C:\Users\whale\git\mwb-b05\presentations\_build\icons\FaShieldHalved.png"/>
          <p:cNvPicPr>
            <a:picLocks noChangeAspect="1"/>
          </p:cNvPicPr>
          <p:nvPr/>
        </p:nvPicPr>
        <p:blipFill>
          <a:blip r:embed="rId7"/>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Patch and protect</a:t>
            </a:r>
            <a:endParaRPr lang="en-US" sz="1400" dirty="0"/>
          </a:p>
          <a:p>
            <a:pPr marL="0" indent="0">
              <a:buNone/>
            </a:pPr>
            <a:r>
              <a:rPr lang="en-US" sz="1400" dirty="0">
                <a:solidFill>
                  <a:schemeClr val="tx2"/>
                </a:solidFill>
              </a:rPr>
              <a:t>Update Manager and Defender for Servers</a:t>
            </a:r>
            <a:endParaRPr lang="en-US" sz="1400" dirty="0"/>
          </a:p>
        </p:txBody>
      </p:sp>
      <p:sp>
        <p:nvSpPr>
          <p:cNvPr id="14" name="Date 0"/>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marL="0" indent="0">
              <a:buNone/>
            </a:pPr>
            <a:r>
              <a:rPr lang="en-US" sz="1450" dirty="0">
                <a:solidFill>
                  <a:schemeClr val="tx2"/>
                </a:solidFill>
              </a:rPr>
              <a:t>Windows Server 2012 / 2012 R2 extended security updates ended</a:t>
            </a:r>
            <a:endParaRPr lang="en-US" sz="1400" dirty="0"/>
          </a:p>
        </p:txBody>
      </p:sp>
      <p:sp>
        <p:nvSpPr>
          <p:cNvPr id="16" name="Date 1"/>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marL="0" indent="0">
              <a:buNone/>
            </a:pPr>
            <a:r>
              <a:rPr lang="en-US" sz="1450" dirty="0">
                <a:solidFill>
                  <a:schemeClr val="tx2"/>
                </a:solidFill>
              </a:rPr>
              <a:t>Windows Server 2016 reaches end of support</a:t>
            </a:r>
            <a:endParaRPr lang="en-US" sz="1400" dirty="0"/>
          </a:p>
        </p:txBody>
      </p:sp>
      <p:sp>
        <p:nvSpPr>
          <p:cNvPr id="18" name="Rollback"/>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ArrowsRotate"/>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descr="C:\Users\whale\git\mwb-b05\presentations\_build\icons\FaArrowsRotate.png"/>
          <p:cNvPicPr>
            <a:picLocks noChangeAspect="1"/>
          </p:cNvPicPr>
          <p:nvPr/>
        </p:nvPicPr>
        <p:blipFill>
          <a:blip r:embed="rId8"/>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Rollback in the right order: </a:t>
            </a: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a:hlinkClick r:id="" action="ppaction://media"/>
            <a:extLst>
              <a:ext uri="{FF2B5EF4-FFF2-40B4-BE49-F238E27FC236}">
                <a16:creationId xmlns:a16="http://schemas.microsoft.com/office/drawing/2014/main" id="{352CF637-9670-8DFF-AEE6-DDDF34F58BF5}"/>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20"/>
    </mc:Choice>
    <mc:Fallback>
      <p:transition spd="slow" advTm="55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1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descr="C:\Users\whale\git\mwb-b05\presentations\_build\icons\FaUserCheck.png"/>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descr="C:\Users\whale\git\mwb-b05\presentations\_build\icons\FaBook.png"/>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a:hlinkClick r:id="" action="ppaction://media"/>
            <a:extLst>
              <a:ext uri="{FF2B5EF4-FFF2-40B4-BE49-F238E27FC236}">
                <a16:creationId xmlns:a16="http://schemas.microsoft.com/office/drawing/2014/main" id="{23CAE784-D1BA-B487-BC30-FE506FABABD5}"/>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10"/>
    </mc:Choice>
    <mc:Fallback>
      <p:transition spd="slow" advTm="7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3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3783</Words>
  <Application>Microsoft Office PowerPoint</Application>
  <PresentationFormat>Widescreen</PresentationFormat>
  <Paragraphs>217</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Modernization Workbook</vt:lpstr>
      <vt:lpstr>Why Can't Group Policy Come to the Cloud?</vt:lpstr>
      <vt:lpstr>Group Policy governed by position. Intune has no position.</vt:lpstr>
      <vt:lpstr>Hybrid join is a waypoint, not a destination</vt:lpstr>
      <vt:lpstr>Devices and servers take different roads</vt:lpstr>
      <vt:lpstr>Intune-first: no ungoverned device, ever</vt:lpstr>
      <vt:lpstr>Three paths to the same governed state</vt:lpstr>
      <vt:lpstr>Who decides, who does the work for the endpoint</vt:lpstr>
      <vt:lpstr>Sunset Group Policy as a program, setting by setting</vt:lpstr>
      <vt:lpstr>Migrate the fleet in seven phases, about 34 weeks</vt:lpstr>
      <vt:lpstr>Servers under Azure Arc, and the dates that matter</vt:lpstr>
      <vt:lpstr>Run it, prove it, and what we need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Mike Stratton</dc:creator>
  <cp:lastModifiedBy>Michael Stratton</cp:lastModifiedBy>
  <cp:revision>2</cp:revision>
  <dcterms:created xsi:type="dcterms:W3CDTF">2026-10-20T19:13:41Z</dcterms:created>
  <dcterms:modified xsi:type="dcterms:W3CDTF">2026-10-20T19:17:32Z</dcterms:modified>
</cp:coreProperties>
</file>