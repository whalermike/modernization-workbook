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Group Policy" id="{442189c1-451d-0521-583b-5ebbd9a2e980}">
          <p14:sldIdLst>
            <p14:sldId id="256"/>
            <p14:sldId id="257"/>
            <p14:sldId id="258"/>
          </p14:sldIdLst>
        </p14:section>
        <p14:section name="What replaces it" id="{3843678c-8e6f-efb4-c565-014b272eedb4}">
          <p14:sldIdLst>
            <p14:sldId id="259"/>
            <p14:sldId id="260"/>
            <p14:sldId id="261"/>
          </p14:sldIdLst>
        </p14:section>
        <p14:section name="Who owns it" id="{6f236550-07d9-6d17-ffc7-496fd70de620}">
          <p14:sldIdLst>
            <p14:sldId id="262"/>
          </p14:sldIdLst>
        </p14:section>
        <p14:section name="How to do it" id="{89bea83d-b49d-07bd-3476-a4fd3f5b036d}">
          <p14:sldIdLst>
            <p14:sldId id="263"/>
            <p14:sldId id="264"/>
            <p14:sldId id="265"/>
            <p14:sldId id="266"/>
          </p14:sldIdLst>
        </p14:section>
        <p14:section name="Backup" id="{5904257d-9132-800d-def1-8f9129e061ca}">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[0:00–0:27]  This briefing comes from Book 05 of the Modernization Workbook, Devices and Endpoints: the move from Group Policy to Intune for devices, and to Azure Arc for servers.
I'll take it through four questions: why Group Policy can't simply be carried to the cloud, what replaces it, who owns the endpoint, and how to migrate a fleet without losing the governance Group Policy quietly provided.
The short version: this is not a settings migration. It's a governance rebuild.
Workbook: Book 05,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[0:27–1:38]  Why can't Group Policy come to the cloud? Because Group Policy governed by position, and an Intune-managed device has no position.
Where a computer sat in the OU tree quietly did five jobs. It decided targeting: what settings the computer got. Precedence: link order and inheritance decided which setting won. Delegation: OU permissions decided who could change it. Timing: policy refreshed at startup, at sign-in and on a cycle. And evidence: the resultant set of policy told you what actually applied.
An Entra-joined, Intune-managed device has none of that. Policy is assigned flatly to groups, and nothing reads the OU tree. When two policies set the same thing, Intune reports a conflict; it doesn't resolve it by order. Devices check in about every eight hours. And some Group Policy jobs, mapped drives for example, have no built-in equivalent at all. Microsoft itself advises against copying GPOs one for one.
So this is not a settings migration. Teams that copy GPOs into Intune discover the governance loss after the targeting model has already changed. Every job the tree did implicitly has to be rebuilt explicitly.
Workbook: Book 05, Chapter 01 — Why Group Policy Can't Come to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[1:38–2:41]  The obvious shortcut is hybrid join, and the book calls it a trap, carefully.
Microsoft's guidance has two halves. New, refurbished or reset Windows devices should be Microsoft Entra joined by default. Existing domain-joined devices can be hybrid joined, which gives them a cloud identity with minimal impact on users. But Microsoft is explicit that hybrid join shouldn't be the long-term end state.
Here's the trap. Turning on hybrid join for a fleet is, mechanically, close to a single tenant-wide switch, so a control that assessments score as a multi-quarter program can look finished in a week. But the fleet keeps every on-premises dependency it had. And there's no Microsoft-supported way to convert a hybrid-joined device to Entra join without resetting Windows.
So the governed path uses hybrid join where it helps, and plans each device's move to Entra join at a natural event: the next hardware refresh, operating-system upgrade or rebuild. That way the waypoint doesn't quietly become the destination.
Workbook: Book 05, Chapter 02 — The Hybrid Join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[2:41–3:47]  What replaces it? Devices and servers take different roads.
For endpoints, the Entra ID device object carries the identity, Intune carries configuration and compliance, Autopilot provides zero-touch provisioning, and Defender for Endpoint covers threat and vulnerability.
Servers are different, and the old design documents got this wrong. Intune doesn't manage Windows Server. A server comes under governance through Azure Arc, which makes it an Azure resource. Azure Policy machine configuration sets its configuration, and Update Manager and Defender for Servers handle patching and protection.
For new devices, the book's doctrine is Intune-first: governed from day zero. The organizational assignment is set when the device is ordered, enrollment is zero-touch, and an onboarding failure goes to quarantine, never into production in a degraded state.
Because each system is authoritative for one thing, the program correlates them on stable keys and reconciles the inventory continuously, so the fleet has one answer to "what do we have, and is it governed?"
Workbook: Book 05, Chapter 03 — Where Device and Server Data Lives; Chapter 04 — Intune-First Onboarding.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[3:47–5:04]  For new devices, the book's doctrine is Intune-first, and it has five pillars.
One: no ungoverned device, ever. Every device is enrolled in governance before it goes into production use, and quarantine is the safety valve, not the steady state. Two: procurement is the first governance step. The organizational assignment is set when the order is placed, not when the box arrives, the same way HR feeds user provisioning. Three: zero-touch only. Manual enrollment is an exception that needs written justification, a time limit and an audit entry. Four: one management plane per asset. Intune for endpoints, Azure Arc with machine configuration for servers, and no greenfield Group Policy or hybrid join. And five: quarantine on failure. An onboarding failure opens a ticket; it never produces a device running in a degraded state.
One practical choice: in a GCC tenant, the book defaults to classic Autopilot, with devices registered by the manufacturer or reseller, because that registration can carry a group tag. The newer Autopilot device preparation has no registration step, so it can't.
These pillars are program doctrine for net-new devices. The existing fleet takes one of three paths.
Workbook: Book 05, Chapter 04 — Intune-First Onboarding.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[5:04–6:04]  There are three paths to the same governed state, and the book uses them deliberately.
The governed path is program-orchestrated: every step is recorded, approved and evidenced. It's the default for any population in scope.
The manual path is operator-run with the native tools, without the orchestration platform. It's for when the platform isn't available yet, and it trades automation for more hand-collected evidence.
The retrofit path brings an estate that was already modernized by hand, before the program existed, under governance after the fact.
All three end in the same place: the device or server enrolled, baselined and reconciled. What differs is how much of the proof is produced automatically and how much has to be collected by hand. The chapter also corrects a few things the old path guides got wrong, for example that LAN Manager authentication level five still accepts NTLM version two; blocking NTLM takes the separate Restrict NTLM policies.
Workbook: Book 05, Chapter 05 — The Governed, Manual and Retrofit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[6:04–7:06]  Who owns the endpoint? The book separates who decides from who does the work.
Deciding: the CISO and ISSO own the baselines, the exceptions and the evidence. The endpoint engineering lead owns policy design and the rollout. And the change board owns the update rings, the migration waves and any pause.
Doing: endpoint engineering builds the Intune policies, Autopilot profiles and app deployments. The server team onboards servers to Azure Arc and owns machine configuration. Security operations runs Defender, the alerts and the response.
Consulted and affected: application owners supply test results and app packaging. The help desk handles enrollment, wipe and recovery. And end users join pilot waves and tell us what broke.
One rule applies to the people as much as the devices: least privilege. Day-to-day work runs on scoped Intune roles, not Intune Administrator; Microsoft advises against using the broad role for routine administration.
Workbook: Book 05, Chapter 06 — Who Owns the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[7:06–8:17]  How. The book runs the Group Policy sunset as a program, setting by setting, in seven steps: inventory and parse, classify each setting, crosswalk it, decide, sequence by population, freeze and unlink, and finally retire.
Every setting goes one of three ways: migrate it to Intune, replace it with a cloud-native pattern, or retire it.
The coexistence rules matter, and the old guides had them wrong. While a device is under both, Group Policy wins by default. The MDMWinsOverGP setting reverses that, but only for settings in the Policy configuration service provider; Defender settings and Windows Hello for Business have to be removed from Group Policy, not overridden. Group Policy preferences can leave their settings behind after a GPO is unlinked, so every preference item needs a planned cleanup. And the book unlinks one population at a time rather than blocking inheritance, because that's scoped and reversible.
One more thing: measure, don't assume. Microsoft publishes no typical percentage of settings that migrate, so the program runs Group Policy analytics against the estate's own exports.
Workbook: Book 05, Chapter 07 — The GPO Sunset Program; Appendix A — GPO to Intune Crosswalk.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[8:17–9:27]  The existing fleet then migrates in seven phases, about thirty-four weeks on the book's planning estimates.
Phase one inventories and classifies, ending with a decision record for every setting. Phase two plans coexistence, with pilot devices co-managed and syncing. Phase three authors the baselines, unassigned, until every setting is owned by exactly one policy. Phase four pilots on about five percent of devices. Phase five cuts over workload by workload in four waves, each watched for seventy-two hours. Phase six verifies that no migrated device still processes a GPO. And phase seven retires the GPOs, keeping them ninety days before they're archived and deleted.
The book also sets a floor: Windows 11 version 24H2. Windows 10 is out of support, and Windows 11 23H2 Enterprise stops getting updates on November 10, 2026.
These are planning estimates for a large fleet with an existing Configuration Manager estate, not promises. Every gate is the next phase's precondition, and every phase has a rollback while it's open.
Workbook: Book 05, Chapter 08 — GPO to Intune Policy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[9:27–10:21]  Servers come under governance through Azure Arc.
Onboarding uses the Connected Machine agent with least privilege: a certificate-based onboarding identity that's needed only at connect time. Configuration comes through Azure Policy machine configuration baselines, assigned by scope. And patching and protection come from Update Manager and Defender for Servers.
Two dates make this urgent. Extended security updates for Windows Server 2012 and 2012 R2 ended on October 13, 2026, a week ago, so any remaining 2012 host is a red finding. And Windows Server 2016 reaches end of support on January 12, 2027.
The book is careful about rollback too: remove extensions before disconnecting the agent, because disconnecting deletes the Azure resource, which the onboarding role isn't allowed to do.
Workbook: Book 05, Chapter 09 — Servers Under Azure 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[10:21–11:36]  Finally, run it and prove it. In run-state, compliance feeds Conditional Access, which is Book 04. Updates flow through rings and Windows Autopatch, and in a GCC tenant the update evidence comes from Intune and Autopatch reports, because Windows Update for Business reports don't meet GCC compliance. The inventory is reconciled across Entra ID, Intune, Autopilot, Arc and the CMDB. Devices are retired and wiped before the account is deleted. And the evidence maps to the configuration-management and flaw-remediation controls: CM-2, CM-6, CM-7, CM-8 and SI-2.
What we need from leadership is four things. Approve Intune-first for every new device. Fund the Group Policy inventory and the Group Policy analytics run. Set the Windows 11 24H2 floor and a plan for servers reaching end of support. And name the owners for endpoints, servers and security.
Book 05 has the full migration, with every external claim footnoted. Book 04 covers what a compliant device may reach, and Book 02 the identity it rests on. Thank you.
Workbook: Book 05, Chapter 10 — Operating and Evidencing the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Modernization Workbook  ·  Book 05 Devices &amp; Endpoints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Can't Group Policy Come to the Cloud?</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05 — Devices &amp; Endpoints</a:t>
            </a:r>
            <a:endParaRPr lang="en-US" sz="2200" dirty="0"/>
          </a:p>
        </p:txBody>
      </p:sp>
      <p:sp>
        <p:nvSpPr>
          <p:cNvPr id="4"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5"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Group Policy governed by position. Intune has no position.</a:t>
            </a:r>
            <a:endParaRPr lang="en-US" sz="3000" dirty="0"/>
          </a:p>
        </p:txBody>
      </p:sp>
      <p:sp>
        <p:nvSpPr>
          <p:cNvPr id="3" name="Tag Why"/>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Jobs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THE OU TREE DID QUIETLY</a:t>
            </a:r>
            <a:endParaRPr lang="en-US" sz="1200" dirty="0"/>
          </a:p>
        </p:txBody>
      </p:sp>
      <p:sp>
        <p:nvSpPr>
          <p:cNvPr id="6" name="Job 0"/>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Job 0 text"/>
          <p:cNvSpPr txBox="1"/>
          <p:nvPr/>
        </p:nvSpPr>
        <p:spPr>
          <a:xfrm>
            <a:off x="731520" y="1755648"/>
            <a:ext cx="5394960" cy="512064"/>
          </a:xfrm>
          <a:prstGeom prst="rect">
            <a:avLst/>
          </a:prstGeom>
          <a:noFill/>
          <a:ln/>
        </p:spPr>
        <p:txBody>
          <a:bodyPr wrap="square" lIns="0" tIns="0" rIns="0" bIns="0" rtlCol="0" anchor="ctr"/>
          <a:lstStyle/>
          <a:p>
            <a:pPr indent="0" marL="0">
              <a:buNone/>
            </a:pPr>
            <a:r>
              <a:rPr lang="en-US" sz="1450" b="1" dirty="0">
                <a:solidFill>
                  <a:srgbClr val="1F2A44"/>
                </a:solidFill>
              </a:rPr>
              <a:t>Targeting   </a:t>
            </a:r>
            <a:pPr indent="0" marL="0">
              <a:buNone/>
            </a:pPr>
            <a:r>
              <a:rPr lang="en-US" sz="1450" dirty="0">
                <a:solidFill>
                  <a:schemeClr val="tx2"/>
                </a:solidFill>
              </a:rPr>
              <a:t>Where a computer sits decides what it gets</a:t>
            </a:r>
            <a:endParaRPr lang="en-US" sz="1450" dirty="0"/>
          </a:p>
        </p:txBody>
      </p:sp>
      <p:sp>
        <p:nvSpPr>
          <p:cNvPr id="8" name="Job 1"/>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Job 1 text"/>
          <p:cNvSpPr txBox="1"/>
          <p:nvPr/>
        </p:nvSpPr>
        <p:spPr>
          <a:xfrm>
            <a:off x="731520" y="2359152"/>
            <a:ext cx="5394960" cy="512064"/>
          </a:xfrm>
          <a:prstGeom prst="rect">
            <a:avLst/>
          </a:prstGeom>
          <a:noFill/>
          <a:ln/>
        </p:spPr>
        <p:txBody>
          <a:bodyPr wrap="square" lIns="0" tIns="0" rIns="0" bIns="0" rtlCol="0" anchor="ctr"/>
          <a:lstStyle/>
          <a:p>
            <a:pPr indent="0" marL="0">
              <a:buNone/>
            </a:pPr>
            <a:r>
              <a:rPr lang="en-US" sz="1450" b="1" dirty="0">
                <a:solidFill>
                  <a:srgbClr val="1F2A44"/>
                </a:solidFill>
              </a:rPr>
              <a:t>Precedence   </a:t>
            </a:r>
            <a:pPr indent="0" marL="0">
              <a:buNone/>
            </a:pPr>
            <a:r>
              <a:rPr lang="en-US" sz="1450" dirty="0">
                <a:solidFill>
                  <a:schemeClr val="tx2"/>
                </a:solidFill>
              </a:rPr>
              <a:t>Link order and inheritance decide who wins</a:t>
            </a:r>
            <a:endParaRPr lang="en-US" sz="1450" dirty="0"/>
          </a:p>
        </p:txBody>
      </p:sp>
      <p:sp>
        <p:nvSpPr>
          <p:cNvPr id="10" name="Job 2"/>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Job 2 text"/>
          <p:cNvSpPr txBox="1"/>
          <p:nvPr/>
        </p:nvSpPr>
        <p:spPr>
          <a:xfrm>
            <a:off x="731520" y="2962656"/>
            <a:ext cx="5394960" cy="512064"/>
          </a:xfrm>
          <a:prstGeom prst="rect">
            <a:avLst/>
          </a:prstGeom>
          <a:noFill/>
          <a:ln/>
        </p:spPr>
        <p:txBody>
          <a:bodyPr wrap="square" lIns="0" tIns="0" rIns="0" bIns="0" rtlCol="0" anchor="ctr"/>
          <a:lstStyle/>
          <a:p>
            <a:pPr indent="0" marL="0">
              <a:buNone/>
            </a:pPr>
            <a:r>
              <a:rPr lang="en-US" sz="1450" b="1" dirty="0">
                <a:solidFill>
                  <a:srgbClr val="1F2A44"/>
                </a:solidFill>
              </a:rPr>
              <a:t>Delegation   </a:t>
            </a:r>
            <a:pPr indent="0" marL="0">
              <a:buNone/>
            </a:pPr>
            <a:r>
              <a:rPr lang="en-US" sz="1450" dirty="0">
                <a:solidFill>
                  <a:schemeClr val="tx2"/>
                </a:solidFill>
              </a:rPr>
              <a:t>OU permissions decide who may change it</a:t>
            </a:r>
            <a:endParaRPr lang="en-US" sz="1450" dirty="0"/>
          </a:p>
        </p:txBody>
      </p:sp>
      <p:sp>
        <p:nvSpPr>
          <p:cNvPr id="12" name="Job 3"/>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Job 3 text"/>
          <p:cNvSpPr txBox="1"/>
          <p:nvPr/>
        </p:nvSpPr>
        <p:spPr>
          <a:xfrm>
            <a:off x="731520" y="3566160"/>
            <a:ext cx="5394960" cy="512064"/>
          </a:xfrm>
          <a:prstGeom prst="rect">
            <a:avLst/>
          </a:prstGeom>
          <a:noFill/>
          <a:ln/>
        </p:spPr>
        <p:txBody>
          <a:bodyPr wrap="square" lIns="0" tIns="0" rIns="0" bIns="0" rtlCol="0" anchor="ctr"/>
          <a:lstStyle/>
          <a:p>
            <a:pPr indent="0" marL="0">
              <a:buNone/>
            </a:pPr>
            <a:r>
              <a:rPr lang="en-US" sz="1450" b="1" dirty="0">
                <a:solidFill>
                  <a:srgbClr val="1F2A44"/>
                </a:solidFill>
              </a:rPr>
              <a:t>Timing   </a:t>
            </a:r>
            <a:pPr indent="0" marL="0">
              <a:buNone/>
            </a:pPr>
            <a:r>
              <a:rPr lang="en-US" sz="1450" dirty="0">
                <a:solidFill>
                  <a:schemeClr val="tx2"/>
                </a:solidFill>
              </a:rPr>
              <a:t>Refresh at startup, sign-in and on a cycle</a:t>
            </a:r>
            <a:endParaRPr lang="en-US" sz="1450" dirty="0"/>
          </a:p>
        </p:txBody>
      </p:sp>
      <p:sp>
        <p:nvSpPr>
          <p:cNvPr id="14" name="Job 4"/>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Job 4 text"/>
          <p:cNvSpPr txBox="1"/>
          <p:nvPr/>
        </p:nvSpPr>
        <p:spPr>
          <a:xfrm>
            <a:off x="731520" y="4169664"/>
            <a:ext cx="5394960" cy="512064"/>
          </a:xfrm>
          <a:prstGeom prst="rect">
            <a:avLst/>
          </a:prstGeom>
          <a:noFill/>
          <a:ln/>
        </p:spPr>
        <p:txBody>
          <a:bodyPr wrap="square" lIns="0" tIns="0" rIns="0" bIns="0" rtlCol="0" anchor="ctr"/>
          <a:lstStyle/>
          <a:p>
            <a:pPr indent="0" marL="0">
              <a:buNone/>
            </a:pPr>
            <a:r>
              <a:rPr lang="en-US" sz="1450" b="1" dirty="0">
                <a:solidFill>
                  <a:srgbClr val="1F2A44"/>
                </a:solidFill>
              </a:rPr>
              <a:t>Evidence   </a:t>
            </a:r>
            <a:pPr indent="0" marL="0">
              <a:buNone/>
            </a:pPr>
            <a:r>
              <a:rPr lang="en-US" sz="1450" dirty="0">
                <a:solidFill>
                  <a:schemeClr val="tx2"/>
                </a:solidFill>
              </a:rPr>
              <a:t>Resultant set of policy says what applied</a:t>
            </a:r>
            <a:endParaRPr lang="en-US" sz="1450" dirty="0"/>
          </a:p>
        </p:txBody>
      </p:sp>
      <p:sp>
        <p:nvSpPr>
          <p:cNvPr id="16" name="Intune box"/>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Laptop"/>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descr="C:\Users\whale\git\mwb-b05\presentations\_build\icons\FaLaptop.png">    </p:cNvPr>
          <p:cNvPicPr>
            <a:picLocks noChangeAspect="1"/>
          </p:cNvPicPr>
          <p:nvPr/>
        </p:nvPicPr>
        <p:blipFill>
          <a:blip r:embed="rId1"/>
          <a:stretch>
            <a:fillRect/>
          </a:stretch>
        </p:blipFill>
        <p:spPr>
          <a:xfrm>
            <a:off x="6878848" y="1758208"/>
            <a:ext cx="342351" cy="342351"/>
          </a:xfrm>
          <a:prstGeom prst="rect">
            <a:avLst/>
          </a:prstGeom>
        </p:spPr>
      </p:pic>
      <p:sp>
        <p:nvSpPr>
          <p:cNvPr id="19" name="Intune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AN ENTRA-JOINED, INTUNE-MANAGED DEVICE</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Policy is assigned, not inherited</a:t>
            </a:r>
            <a:endParaRPr lang="en-US" sz="1400" dirty="0"/>
          </a:p>
        </p:txBody>
      </p:sp>
      <p:sp>
        <p:nvSpPr>
          <p:cNvPr id="20" name="Intun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Assigned flatly to groups — nothing reads the OU tree</a:t>
            </a:r>
            <a:endParaRPr lang="en-US" sz="1400" dirty="0"/>
          </a:p>
          <a:p>
            <a:pPr marL="342900" indent="-342900">
              <a:spcAft>
                <a:spcPts val="600"/>
              </a:spcAft>
              <a:buSzPct val="100000"/>
              <a:buChar char="•"/>
            </a:pPr>
            <a:r>
              <a:rPr lang="en-US" sz="1450" dirty="0">
                <a:solidFill>
                  <a:schemeClr val="tx2"/>
                </a:solidFill>
              </a:rPr>
              <a:t>Overlapping settings are reported as conflicts, not resolved by order</a:t>
            </a:r>
            <a:endParaRPr lang="en-US" sz="1400" dirty="0"/>
          </a:p>
          <a:p>
            <a:pPr marL="342900" indent="-342900">
              <a:spcAft>
                <a:spcPts val="600"/>
              </a:spcAft>
              <a:buSzPct val="100000"/>
              <a:buChar char="•"/>
            </a:pPr>
            <a:r>
              <a:rPr lang="en-US" sz="1450" dirty="0">
                <a:solidFill>
                  <a:schemeClr val="tx2"/>
                </a:solidFill>
              </a:rPr>
              <a:t>Devices check in about every eight hours</a:t>
            </a:r>
            <a:endParaRPr lang="en-US" sz="1400" dirty="0"/>
          </a:p>
          <a:p>
            <a:pPr marL="342900" indent="-342900">
              <a:spcAft>
                <a:spcPts val="600"/>
              </a:spcAft>
              <a:buSzPct val="100000"/>
              <a:buChar char="•"/>
            </a:pPr>
            <a:r>
              <a:rPr lang="en-US" sz="1450" dirty="0">
                <a:solidFill>
                  <a:schemeClr val="tx2"/>
                </a:solidFill>
              </a:rPr>
              <a:t>Some GPO jobs, such as mapped drives, have no built-in equivalent</a:t>
            </a:r>
            <a:endParaRPr lang="en-US" sz="1400" dirty="0"/>
          </a:p>
        </p:txBody>
      </p:sp>
      <p:sp>
        <p:nvSpPr>
          <p:cNvPr id="21" name="Not a migration"/>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2" name="Icon FaTriangleExclamation"/>
          <p:cNvSpPr/>
          <p:nvPr/>
        </p:nvSpPr>
        <p:spPr>
          <a:xfrm>
            <a:off x="777240" y="5097780"/>
            <a:ext cx="731520" cy="731520"/>
          </a:xfrm>
          <a:prstGeom prst="ellipse">
            <a:avLst/>
          </a:prstGeom>
          <a:solidFill>
            <a:srgbClr val="B91C1C"/>
          </a:solidFill>
          <a:ln w="12700">
            <a:solidFill>
              <a:srgbClr val="B91C1C"/>
            </a:solidFill>
            <a:prstDash val="solid"/>
          </a:ln>
        </p:spPr>
      </p:sp>
      <p:pic>
        <p:nvPicPr>
          <p:cNvPr id="23" name="Image 1" descr="C:\Users\whale\git\mwb-b05\presentations\_build\icons\FaTriangleExclamation.png">    </p:cNvPr>
          <p:cNvPicPr>
            <a:picLocks noChangeAspect="1"/>
          </p:cNvPicPr>
          <p:nvPr/>
        </p:nvPicPr>
        <p:blipFill>
          <a:blip r:embed="rId2"/>
          <a:stretch>
            <a:fillRect/>
          </a:stretch>
        </p:blipFill>
        <p:spPr>
          <a:xfrm>
            <a:off x="952805" y="5273345"/>
            <a:ext cx="380390" cy="380390"/>
          </a:xfrm>
          <a:prstGeom prst="rect">
            <a:avLst/>
          </a:prstGeom>
        </p:spPr>
      </p:pic>
      <p:sp>
        <p:nvSpPr>
          <p:cNvPr id="24" name="Not a migration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91C1C"/>
                </a:solidFill>
              </a:rPr>
              <a:t>Not a settings migration: </a:t>
            </a:r>
            <a:pPr indent="0" marL="0">
              <a:buNone/>
            </a:pPr>
            <a:r>
              <a:rPr lang="en-US" sz="1650" dirty="0">
                <a:solidFill>
                  <a:schemeClr val="tx2"/>
                </a:solidFill>
              </a:rPr>
              <a:t>teams that copy GPOs into Intune discover the governance loss after the targeting model has already changed. Every job the tree did implicitly must be rebuilt explicitly.</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Group Policy processing, Intune policy conflicts, device check-in, Group Policy analytics. Book 05,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Hybrid join is a waypoint, not a destination</a:t>
            </a:r>
            <a:endParaRPr lang="en-US" sz="3000" dirty="0"/>
          </a:p>
        </p:txBody>
      </p:sp>
      <p:sp>
        <p:nvSpPr>
          <p:cNvPr id="3" name="Tag Why"/>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a:tblGrid>
                <a:gridCol w="3291840"/>
                <a:gridCol w="3657600"/>
              </a:tblGrid>
              <a:tr h="4114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Device situation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Microsoft's recommendation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5800">
                <a:tc>
                  <a:txBody>
                    <a:bodyPr/>
                    <a:lstStyle/>
                    <a:p>
                      <a:pPr indent="0" marL="0">
                        <a:buNone/>
                      </a:pPr>
                      <a:r>
                        <a:rPr lang="en-US" sz="1500" b="1" dirty="0">
                          <a:solidFill>
                            <a:srgbClr val="334155"/>
                          </a:solidFill>
                          <a:latin typeface="Calibri" pitchFamily="34" charset="0"/>
                          <a:ea typeface="Calibri" pitchFamily="34" charset="-122"/>
                          <a:cs typeface="Calibri" pitchFamily="34" charset="-120"/>
                        </a:rPr>
                        <a:t>New, refurbished or reset devices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b="1" dirty="0">
                          <a:solidFill>
                            <a:srgbClr val="0F766E"/>
                          </a:solidFill>
                          <a:latin typeface="Calibri" pitchFamily="34" charset="0"/>
                          <a:ea typeface="Calibri" pitchFamily="34" charset="-122"/>
                          <a:cs typeface="Calibri" pitchFamily="34" charset="-120"/>
                        </a:rPr>
                        <a:t>Microsoft Entra join, by default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334155"/>
                          </a:solidFill>
                          <a:latin typeface="Calibri" pitchFamily="34" charset="0"/>
                          <a:ea typeface="Calibri" pitchFamily="34" charset="-122"/>
                          <a:cs typeface="Calibri" pitchFamily="34" charset="-120"/>
                        </a:rPr>
                        <a:t>Existing domain-joined devices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b="1" dirty="0">
                          <a:solidFill>
                            <a:srgbClr val="B45309"/>
                          </a:solidFill>
                          <a:latin typeface="Calibri" pitchFamily="34" charset="0"/>
                          <a:ea typeface="Calibri" pitchFamily="34" charset="-122"/>
                          <a:cs typeface="Calibri" pitchFamily="34" charset="-120"/>
                        </a:rPr>
                        <a:t>Hybrid join — a cloud identity with minimal user impact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334155"/>
                          </a:solidFill>
                          <a:latin typeface="Calibri" pitchFamily="34" charset="0"/>
                          <a:ea typeface="Calibri" pitchFamily="34" charset="-122"/>
                          <a:cs typeface="Calibri" pitchFamily="34" charset="-120"/>
                        </a:rPr>
                        <a:t>Long-term end state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b="1" dirty="0">
                          <a:solidFill>
                            <a:srgbClr val="B91C1C"/>
                          </a:solidFill>
                          <a:latin typeface="Calibri" pitchFamily="34" charset="0"/>
                          <a:ea typeface="Calibri" pitchFamily="34" charset="-122"/>
                          <a:cs typeface="Calibri" pitchFamily="34" charset="-120"/>
                        </a:rPr>
                        <a:t>Not hybrid join: move to Entra join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witch box"/>
          <p:cNvSpPr/>
          <p:nvPr/>
        </p:nvSpPr>
        <p:spPr>
          <a:xfrm>
            <a:off x="7726680" y="1417320"/>
            <a:ext cx="3931920" cy="3200400"/>
          </a:xfrm>
          <a:prstGeom prst="roundRect">
            <a:avLst>
              <a:gd name="adj" fmla="val 228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ArrowsRotate"/>
          <p:cNvSpPr/>
          <p:nvPr/>
        </p:nvSpPr>
        <p:spPr>
          <a:xfrm>
            <a:off x="7955280" y="1600200"/>
            <a:ext cx="640080" cy="640080"/>
          </a:xfrm>
          <a:prstGeom prst="ellipse">
            <a:avLst/>
          </a:prstGeom>
          <a:solidFill>
            <a:srgbClr val="B45309"/>
          </a:solidFill>
          <a:ln w="12700">
            <a:solidFill>
              <a:srgbClr val="B45309"/>
            </a:solidFill>
            <a:prstDash val="solid"/>
          </a:ln>
        </p:spPr>
      </p:sp>
      <p:pic>
        <p:nvPicPr>
          <p:cNvPr id="8" name="Image 0" descr="C:\Users\whale\git\mwb-b05\presentations\_build\icons\FaArrowsRotate.png">    </p:cNvPr>
          <p:cNvPicPr>
            <a:picLocks noChangeAspect="1"/>
          </p:cNvPicPr>
          <p:nvPr/>
        </p:nvPicPr>
        <p:blipFill>
          <a:blip r:embed="rId1"/>
          <a:stretch>
            <a:fillRect/>
          </a:stretch>
        </p:blipFill>
        <p:spPr>
          <a:xfrm>
            <a:off x="8108899" y="1753819"/>
            <a:ext cx="332842" cy="332842"/>
          </a:xfrm>
          <a:prstGeom prst="rect">
            <a:avLst/>
          </a:prstGeom>
        </p:spPr>
      </p:pic>
      <p:sp>
        <p:nvSpPr>
          <p:cNvPr id="9" name="Switch head"/>
          <p:cNvSpPr txBox="1"/>
          <p:nvPr/>
        </p:nvSpPr>
        <p:spPr>
          <a:xfrm>
            <a:off x="8732520" y="1600200"/>
            <a:ext cx="2834640" cy="6400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Why it's a trap</a:t>
            </a:r>
            <a:endParaRPr lang="en-US" sz="1800" dirty="0"/>
          </a:p>
        </p:txBody>
      </p:sp>
      <p:sp>
        <p:nvSpPr>
          <p:cNvPr id="10" name="Switch list"/>
          <p:cNvSpPr txBox="1"/>
          <p:nvPr/>
        </p:nvSpPr>
        <p:spPr>
          <a:xfrm>
            <a:off x="7955280" y="2377440"/>
            <a:ext cx="3566160" cy="21945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Turning on hybrid join for a fleet is close to one tenant-wide switch</a:t>
            </a:r>
            <a:endParaRPr lang="en-US" sz="1400" dirty="0"/>
          </a:p>
          <a:p>
            <a:pPr marL="342900" indent="-342900">
              <a:spcAft>
                <a:spcPts val="700"/>
              </a:spcAft>
              <a:buSzPct val="100000"/>
              <a:buChar char="•"/>
            </a:pPr>
            <a:r>
              <a:rPr lang="en-US" sz="1400" dirty="0">
                <a:solidFill>
                  <a:schemeClr val="tx2"/>
                </a:solidFill>
              </a:rPr>
              <a:t>It keeps every on-premises dependency</a:t>
            </a:r>
            <a:endParaRPr lang="en-US" sz="1400" dirty="0"/>
          </a:p>
          <a:p>
            <a:pPr marL="342900" indent="-342900">
              <a:spcAft>
                <a:spcPts val="700"/>
              </a:spcAft>
              <a:buSzPct val="100000"/>
              <a:buChar char="•"/>
            </a:pPr>
            <a:r>
              <a:rPr lang="en-US" sz="1400" dirty="0">
                <a:solidFill>
                  <a:schemeClr val="tx2"/>
                </a:solidFill>
              </a:rPr>
              <a:t>No supported conversion to Entra join without resetting Windows</a:t>
            </a:r>
            <a:endParaRPr lang="en-US" sz="1400" dirty="0"/>
          </a:p>
        </p:txBody>
      </p:sp>
      <p:sp>
        <p:nvSpPr>
          <p:cNvPr id="11" name="Governed"/>
          <p:cNvSpPr/>
          <p:nvPr/>
        </p:nvSpPr>
        <p:spPr>
          <a:xfrm>
            <a:off x="548640" y="4846320"/>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Route"/>
          <p:cNvSpPr/>
          <p:nvPr/>
        </p:nvSpPr>
        <p:spPr>
          <a:xfrm>
            <a:off x="777240" y="5052060"/>
            <a:ext cx="731520" cy="731520"/>
          </a:xfrm>
          <a:prstGeom prst="ellipse">
            <a:avLst/>
          </a:prstGeom>
          <a:solidFill>
            <a:srgbClr val="0F766E"/>
          </a:solidFill>
          <a:ln w="12700">
            <a:solidFill>
              <a:srgbClr val="0F766E"/>
            </a:solidFill>
            <a:prstDash val="solid"/>
          </a:ln>
        </p:spPr>
      </p:sp>
      <p:pic>
        <p:nvPicPr>
          <p:cNvPr id="13" name="Image 1" descr="C:\Users\whale\git\mwb-b05\presentations\_build\icons\FaRoute.png">    </p:cNvPr>
          <p:cNvPicPr>
            <a:picLocks noChangeAspect="1"/>
          </p:cNvPicPr>
          <p:nvPr/>
        </p:nvPicPr>
        <p:blipFill>
          <a:blip r:embed="rId2"/>
          <a:stretch>
            <a:fillRect/>
          </a:stretch>
        </p:blipFill>
        <p:spPr>
          <a:xfrm>
            <a:off x="952805" y="5227625"/>
            <a:ext cx="380390" cy="380390"/>
          </a:xfrm>
          <a:prstGeom prst="rect">
            <a:avLst/>
          </a:prstGeom>
        </p:spPr>
      </p:pic>
      <p:sp>
        <p:nvSpPr>
          <p:cNvPr id="14" name="Governed text"/>
          <p:cNvSpPr txBox="1"/>
          <p:nvPr/>
        </p:nvSpPr>
        <p:spPr>
          <a:xfrm>
            <a:off x="1737360" y="4892040"/>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The governed path: </a:t>
            </a:r>
            <a:pPr indent="0" marL="0">
              <a:buNone/>
            </a:pPr>
            <a:r>
              <a:rPr lang="en-US" sz="1650" dirty="0">
                <a:solidFill>
                  <a:schemeClr val="tx2"/>
                </a:solidFill>
              </a:rPr>
              <a:t>use hybrid join where it helps, and plan each device's move to Entra join at its next refresh, upgrade or rebuild — so the waypoint doesn't become the destination by default.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choosing a device join type; Windows Autopilot hybrid join guidance. Book 05,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Devices and servers take different roads</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oad 0"/>
          <p:cNvSpPr/>
          <p:nvPr/>
        </p:nvSpPr>
        <p:spPr>
          <a:xfrm>
            <a:off x="548640" y="1417320"/>
            <a:ext cx="370332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Laptop"/>
          <p:cNvSpPr/>
          <p:nvPr/>
        </p:nvSpPr>
        <p:spPr>
          <a:xfrm>
            <a:off x="749808" y="1572768"/>
            <a:ext cx="566928" cy="566928"/>
          </a:xfrm>
          <a:prstGeom prst="ellipse">
            <a:avLst/>
          </a:prstGeom>
          <a:solidFill>
            <a:srgbClr val="0F766E"/>
          </a:solidFill>
          <a:ln w="12700">
            <a:solidFill>
              <a:srgbClr val="0F766E"/>
            </a:solidFill>
            <a:prstDash val="solid"/>
          </a:ln>
        </p:spPr>
      </p:sp>
      <p:pic>
        <p:nvPicPr>
          <p:cNvPr id="7" name="Image 0" descr="C:\Users\whale\git\mwb-b05\presentations\_build\icons\FaLaptop.png">    </p:cNvPr>
          <p:cNvPicPr>
            <a:picLocks noChangeAspect="1"/>
          </p:cNvPicPr>
          <p:nvPr/>
        </p:nvPicPr>
        <p:blipFill>
          <a:blip r:embed="rId1"/>
          <a:stretch>
            <a:fillRect/>
          </a:stretch>
        </p:blipFill>
        <p:spPr>
          <a:xfrm>
            <a:off x="885871" y="1708831"/>
            <a:ext cx="294803" cy="294803"/>
          </a:xfrm>
          <a:prstGeom prst="rect">
            <a:avLst/>
          </a:prstGeom>
        </p:spPr>
      </p:pic>
      <p:sp>
        <p:nvSpPr>
          <p:cNvPr id="8" name="Road 0 head"/>
          <p:cNvSpPr txBox="1"/>
          <p:nvPr/>
        </p:nvSpPr>
        <p:spPr>
          <a:xfrm>
            <a:off x="1463040" y="1572768"/>
            <a:ext cx="265176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Endpoints</a:t>
            </a:r>
            <a:endParaRPr lang="en-US" sz="1900" dirty="0"/>
          </a:p>
        </p:txBody>
      </p:sp>
      <p:sp>
        <p:nvSpPr>
          <p:cNvPr id="9" name="Road 0 text"/>
          <p:cNvSpPr txBox="1"/>
          <p:nvPr/>
        </p:nvSpPr>
        <p:spPr>
          <a:xfrm>
            <a:off x="777240" y="2286000"/>
            <a:ext cx="329184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Entra ID device object: identity</a:t>
            </a:r>
            <a:endParaRPr lang="en-US" sz="1400" dirty="0"/>
          </a:p>
          <a:p>
            <a:pPr marL="342900" indent="-342900">
              <a:spcAft>
                <a:spcPts val="700"/>
              </a:spcAft>
              <a:buSzPct val="100000"/>
              <a:buChar char="•"/>
            </a:pPr>
            <a:r>
              <a:rPr lang="en-US" sz="1450" dirty="0">
                <a:solidFill>
                  <a:schemeClr val="tx2"/>
                </a:solidFill>
              </a:rPr>
              <a:t>Intune: configuration and compliance</a:t>
            </a:r>
            <a:endParaRPr lang="en-US" sz="1400" dirty="0"/>
          </a:p>
          <a:p>
            <a:pPr marL="342900" indent="-342900">
              <a:spcAft>
                <a:spcPts val="700"/>
              </a:spcAft>
              <a:buSzPct val="100000"/>
              <a:buChar char="•"/>
            </a:pPr>
            <a:r>
              <a:rPr lang="en-US" sz="1450" dirty="0">
                <a:solidFill>
                  <a:schemeClr val="tx2"/>
                </a:solidFill>
              </a:rPr>
              <a:t>Autopilot: zero-touch provisioning</a:t>
            </a:r>
            <a:endParaRPr lang="en-US" sz="1400" dirty="0"/>
          </a:p>
          <a:p>
            <a:pPr marL="342900" indent="-342900">
              <a:spcAft>
                <a:spcPts val="700"/>
              </a:spcAft>
              <a:buSzPct val="100000"/>
              <a:buChar char="•"/>
            </a:pPr>
            <a:r>
              <a:rPr lang="en-US" sz="1450" dirty="0">
                <a:solidFill>
                  <a:schemeClr val="tx2"/>
                </a:solidFill>
              </a:rPr>
              <a:t>Defender for Endpoint: threat and vulnerability</a:t>
            </a:r>
            <a:endParaRPr lang="en-US" sz="1400" dirty="0"/>
          </a:p>
        </p:txBody>
      </p:sp>
      <p:sp>
        <p:nvSpPr>
          <p:cNvPr id="10" name="Road 1"/>
          <p:cNvSpPr/>
          <p:nvPr/>
        </p:nvSpPr>
        <p:spPr>
          <a:xfrm>
            <a:off x="4389120" y="1417320"/>
            <a:ext cx="37033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Server"/>
          <p:cNvSpPr/>
          <p:nvPr/>
        </p:nvSpPr>
        <p:spPr>
          <a:xfrm>
            <a:off x="4590288" y="1572768"/>
            <a:ext cx="566928" cy="566928"/>
          </a:xfrm>
          <a:prstGeom prst="ellipse">
            <a:avLst/>
          </a:prstGeom>
          <a:solidFill>
            <a:srgbClr val="1F2A44"/>
          </a:solidFill>
          <a:ln w="12700">
            <a:solidFill>
              <a:srgbClr val="1F2A44"/>
            </a:solidFill>
            <a:prstDash val="solid"/>
          </a:ln>
        </p:spPr>
      </p:sp>
      <p:pic>
        <p:nvPicPr>
          <p:cNvPr id="12" name="Image 1" descr="C:\Users\whale\git\mwb-b05\presentations\_build\icons\FaServer.png">    </p:cNvPr>
          <p:cNvPicPr>
            <a:picLocks noChangeAspect="1"/>
          </p:cNvPicPr>
          <p:nvPr/>
        </p:nvPicPr>
        <p:blipFill>
          <a:blip r:embed="rId2"/>
          <a:stretch>
            <a:fillRect/>
          </a:stretch>
        </p:blipFill>
        <p:spPr>
          <a:xfrm>
            <a:off x="4726351" y="1708831"/>
            <a:ext cx="294803" cy="294803"/>
          </a:xfrm>
          <a:prstGeom prst="rect">
            <a:avLst/>
          </a:prstGeom>
        </p:spPr>
      </p:pic>
      <p:sp>
        <p:nvSpPr>
          <p:cNvPr id="13" name="Road 1 head"/>
          <p:cNvSpPr txBox="1"/>
          <p:nvPr/>
        </p:nvSpPr>
        <p:spPr>
          <a:xfrm>
            <a:off x="5303520" y="1572768"/>
            <a:ext cx="265176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Servers</a:t>
            </a:r>
            <a:endParaRPr lang="en-US" sz="1900" dirty="0"/>
          </a:p>
        </p:txBody>
      </p:sp>
      <p:sp>
        <p:nvSpPr>
          <p:cNvPr id="14" name="Road 1 text"/>
          <p:cNvSpPr txBox="1"/>
          <p:nvPr/>
        </p:nvSpPr>
        <p:spPr>
          <a:xfrm>
            <a:off x="4617720" y="2286000"/>
            <a:ext cx="329184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Azure Arc: the server as an Azure resource</a:t>
            </a:r>
            <a:endParaRPr lang="en-US" sz="1400" dirty="0"/>
          </a:p>
          <a:p>
            <a:pPr marL="342900" indent="-342900">
              <a:spcAft>
                <a:spcPts val="700"/>
              </a:spcAft>
              <a:buSzPct val="100000"/>
              <a:buChar char="•"/>
            </a:pPr>
            <a:r>
              <a:rPr lang="en-US" sz="1450" dirty="0">
                <a:solidFill>
                  <a:schemeClr val="tx2"/>
                </a:solidFill>
              </a:rPr>
              <a:t>Azure Policy machine configuration: the settings</a:t>
            </a:r>
            <a:endParaRPr lang="en-US" sz="1400" dirty="0"/>
          </a:p>
          <a:p>
            <a:pPr marL="342900" indent="-342900">
              <a:spcAft>
                <a:spcPts val="700"/>
              </a:spcAft>
              <a:buSzPct val="100000"/>
              <a:buChar char="•"/>
            </a:pPr>
            <a:r>
              <a:rPr lang="en-US" sz="1450" dirty="0">
                <a:solidFill>
                  <a:schemeClr val="tx2"/>
                </a:solidFill>
              </a:rPr>
              <a:t>Update Manager and Defender for Servers</a:t>
            </a:r>
            <a:endParaRPr lang="en-US" sz="1400" dirty="0"/>
          </a:p>
          <a:p>
            <a:pPr marL="342900" indent="-342900">
              <a:spcAft>
                <a:spcPts val="700"/>
              </a:spcAft>
              <a:buSzPct val="100000"/>
              <a:buChar char="•"/>
            </a:pPr>
            <a:r>
              <a:rPr lang="en-US" sz="1450" dirty="0">
                <a:solidFill>
                  <a:schemeClr val="tx2"/>
                </a:solidFill>
              </a:rPr>
              <a:t>Intune doesn't manage Windows Server</a:t>
            </a:r>
            <a:endParaRPr lang="en-US" sz="1400" dirty="0"/>
          </a:p>
        </p:txBody>
      </p:sp>
      <p:sp>
        <p:nvSpPr>
          <p:cNvPr id="15" name="Onboard box"/>
          <p:cNvSpPr/>
          <p:nvPr/>
        </p:nvSpPr>
        <p:spPr>
          <a:xfrm>
            <a:off x="8229600" y="1417320"/>
            <a:ext cx="3429000" cy="3291840"/>
          </a:xfrm>
          <a:prstGeom prst="roundRect">
            <a:avLst>
              <a:gd name="adj" fmla="val 222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DoorOpen"/>
          <p:cNvSpPr/>
          <p:nvPr/>
        </p:nvSpPr>
        <p:spPr>
          <a:xfrm>
            <a:off x="8458200" y="1572768"/>
            <a:ext cx="566928" cy="566928"/>
          </a:xfrm>
          <a:prstGeom prst="ellipse">
            <a:avLst/>
          </a:prstGeom>
          <a:solidFill>
            <a:srgbClr val="B45309"/>
          </a:solidFill>
          <a:ln w="12700">
            <a:solidFill>
              <a:srgbClr val="B45309"/>
            </a:solidFill>
            <a:prstDash val="solid"/>
          </a:ln>
        </p:spPr>
      </p:sp>
      <p:pic>
        <p:nvPicPr>
          <p:cNvPr id="17" name="Image 2" descr="C:\Users\whale\git\mwb-b05\presentations\_build\icons\FaDoorOpen.png">    </p:cNvPr>
          <p:cNvPicPr>
            <a:picLocks noChangeAspect="1"/>
          </p:cNvPicPr>
          <p:nvPr/>
        </p:nvPicPr>
        <p:blipFill>
          <a:blip r:embed="rId3"/>
          <a:stretch>
            <a:fillRect/>
          </a:stretch>
        </p:blipFill>
        <p:spPr>
          <a:xfrm>
            <a:off x="8594263" y="1708831"/>
            <a:ext cx="294803" cy="294803"/>
          </a:xfrm>
          <a:prstGeom prst="rect">
            <a:avLst/>
          </a:prstGeom>
        </p:spPr>
      </p:pic>
      <p:sp>
        <p:nvSpPr>
          <p:cNvPr id="18" name="Onboard head"/>
          <p:cNvSpPr txBox="1"/>
          <p:nvPr/>
        </p:nvSpPr>
        <p:spPr>
          <a:xfrm>
            <a:off x="9189720" y="1572768"/>
            <a:ext cx="237744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Intune-first</a:t>
            </a:r>
            <a:endParaRPr lang="en-US" sz="1900" dirty="0"/>
          </a:p>
        </p:txBody>
      </p:sp>
      <p:sp>
        <p:nvSpPr>
          <p:cNvPr id="19" name="Onboard text"/>
          <p:cNvSpPr txBox="1"/>
          <p:nvPr/>
        </p:nvSpPr>
        <p:spPr>
          <a:xfrm>
            <a:off x="8458200" y="2286000"/>
            <a:ext cx="3017520" cy="2377440"/>
          </a:xfrm>
          <a:prstGeom prst="rect">
            <a:avLst/>
          </a:prstGeom>
          <a:noFill/>
          <a:ln/>
        </p:spPr>
        <p:txBody>
          <a:bodyPr wrap="square" lIns="0" tIns="0" rIns="0" bIns="0" rtlCol="0" anchor="t"/>
          <a:lstStyle/>
          <a:p>
            <a:pPr indent="0" marL="0">
              <a:buNone/>
            </a:pPr>
            <a:r>
              <a:rPr lang="en-US" sz="1400" dirty="0">
                <a:solidFill>
                  <a:schemeClr val="tx2"/>
                </a:solidFill>
              </a:rPr>
              <a:t>New devices are governed from day zero: the organizational assignment is set at procurement, enrollment is zero-touch, and a failure goes to quarantine — never to production in a degraded state.</a:t>
            </a:r>
            <a:endParaRPr lang="en-US" sz="1400" dirty="0"/>
          </a:p>
        </p:txBody>
      </p:sp>
      <p:sp>
        <p:nvSpPr>
          <p:cNvPr id="20" name="Correlate"/>
          <p:cNvSpPr/>
          <p:nvPr/>
        </p:nvSpPr>
        <p:spPr>
          <a:xfrm>
            <a:off x="548640" y="4937760"/>
            <a:ext cx="11109960" cy="1005840"/>
          </a:xfrm>
          <a:prstGeom prst="roundRect">
            <a:avLst>
              <a:gd name="adj" fmla="val 7273"/>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21" name="Icon FaSitemap"/>
          <p:cNvSpPr/>
          <p:nvPr/>
        </p:nvSpPr>
        <p:spPr>
          <a:xfrm>
            <a:off x="777240" y="5074920"/>
            <a:ext cx="731520" cy="731520"/>
          </a:xfrm>
          <a:prstGeom prst="ellipse">
            <a:avLst/>
          </a:prstGeom>
          <a:solidFill>
            <a:srgbClr val="64748B"/>
          </a:solidFill>
          <a:ln w="12700">
            <a:solidFill>
              <a:srgbClr val="64748B"/>
            </a:solidFill>
            <a:prstDash val="solid"/>
          </a:ln>
        </p:spPr>
      </p:sp>
      <p:pic>
        <p:nvPicPr>
          <p:cNvPr id="22" name="Image 3" descr="C:\Users\whale\git\mwb-b05\presentations\_build\icons\FaSitemap.png">    </p:cNvPr>
          <p:cNvPicPr>
            <a:picLocks noChangeAspect="1"/>
          </p:cNvPicPr>
          <p:nvPr/>
        </p:nvPicPr>
        <p:blipFill>
          <a:blip r:embed="rId4"/>
          <a:stretch>
            <a:fillRect/>
          </a:stretch>
        </p:blipFill>
        <p:spPr>
          <a:xfrm>
            <a:off x="952805" y="5250485"/>
            <a:ext cx="380390" cy="380390"/>
          </a:xfrm>
          <a:prstGeom prst="rect">
            <a:avLst/>
          </a:prstGeom>
        </p:spPr>
      </p:pic>
      <p:sp>
        <p:nvSpPr>
          <p:cNvPr id="23" name="Correlat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64748B"/>
                </a:solidFill>
              </a:rPr>
              <a:t>One record, many systems: </a:t>
            </a:r>
            <a:pPr indent="0" marL="0">
              <a:buNone/>
            </a:pPr>
            <a:r>
              <a:rPr lang="en-US" sz="1650" dirty="0">
                <a:solidFill>
                  <a:schemeClr val="tx2"/>
                </a:solidFill>
              </a:rPr>
              <a:t>each system is authoritative for one thing, so the program correlates them on stable keys and reconciles the inventory continuously.</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supported platforms, Azure Arc, machine configuration, Autopilot. Book 05, Chapters 03–04.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Intune-first: no ungoverned device, ever</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illar 0"/>
          <p:cNvSpPr/>
          <p:nvPr/>
        </p:nvSpPr>
        <p:spPr>
          <a:xfrm>
            <a:off x="548640" y="1371600"/>
            <a:ext cx="6949440" cy="566928"/>
          </a:xfrm>
          <a:prstGeom prst="roundRect">
            <a:avLst>
              <a:gd name="adj" fmla="val 129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illar 0 text"/>
          <p:cNvSpPr txBox="1"/>
          <p:nvPr/>
        </p:nvSpPr>
        <p:spPr>
          <a:xfrm>
            <a:off x="731520" y="1371600"/>
            <a:ext cx="6675120" cy="566928"/>
          </a:xfrm>
          <a:prstGeom prst="rect">
            <a:avLst/>
          </a:prstGeom>
          <a:noFill/>
          <a:ln/>
        </p:spPr>
        <p:txBody>
          <a:bodyPr wrap="square" lIns="0" tIns="0" rIns="0" bIns="0" rtlCol="0" anchor="ctr"/>
          <a:lstStyle/>
          <a:p>
            <a:pPr indent="0" marL="0">
              <a:buNone/>
            </a:pPr>
            <a:r>
              <a:rPr lang="en-US" sz="1500" b="1" dirty="0">
                <a:solidFill>
                  <a:srgbClr val="1F2A44"/>
                </a:solidFill>
              </a:rPr>
              <a:t>1  No ungoverned device   </a:t>
            </a:r>
            <a:pPr indent="0" marL="0">
              <a:buNone/>
            </a:pPr>
            <a:r>
              <a:rPr lang="en-US" sz="1350" dirty="0">
                <a:solidFill>
                  <a:schemeClr val="tx2"/>
                </a:solidFill>
              </a:rPr>
              <a:t>Enrolled in governance before production use; quarantine is the safety valve</a:t>
            </a:r>
            <a:endParaRPr lang="en-US" sz="1500" dirty="0"/>
          </a:p>
        </p:txBody>
      </p:sp>
      <p:sp>
        <p:nvSpPr>
          <p:cNvPr id="7" name="Pillar 1"/>
          <p:cNvSpPr/>
          <p:nvPr/>
        </p:nvSpPr>
        <p:spPr>
          <a:xfrm>
            <a:off x="548640" y="2029968"/>
            <a:ext cx="6949440" cy="566928"/>
          </a:xfrm>
          <a:prstGeom prst="roundRect">
            <a:avLst>
              <a:gd name="adj" fmla="val 1290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Pillar 1 text"/>
          <p:cNvSpPr txBox="1"/>
          <p:nvPr/>
        </p:nvSpPr>
        <p:spPr>
          <a:xfrm>
            <a:off x="731520" y="2029968"/>
            <a:ext cx="6675120" cy="566928"/>
          </a:xfrm>
          <a:prstGeom prst="rect">
            <a:avLst/>
          </a:prstGeom>
          <a:noFill/>
          <a:ln/>
        </p:spPr>
        <p:txBody>
          <a:bodyPr wrap="square" lIns="0" tIns="0" rIns="0" bIns="0" rtlCol="0" anchor="ctr"/>
          <a:lstStyle/>
          <a:p>
            <a:pPr indent="0" marL="0">
              <a:buNone/>
            </a:pPr>
            <a:r>
              <a:rPr lang="en-US" sz="1500" b="1" dirty="0">
                <a:solidFill>
                  <a:srgbClr val="0F766E"/>
                </a:solidFill>
              </a:rPr>
              <a:t>2  Procurement first   </a:t>
            </a:r>
            <a:pPr indent="0" marL="0">
              <a:buNone/>
            </a:pPr>
            <a:r>
              <a:rPr lang="en-US" sz="1350" dirty="0">
                <a:solidFill>
                  <a:schemeClr val="tx2"/>
                </a:solidFill>
              </a:rPr>
              <a:t>The organizational assignment is set when the order is placed</a:t>
            </a:r>
            <a:endParaRPr lang="en-US" sz="1500" dirty="0"/>
          </a:p>
        </p:txBody>
      </p:sp>
      <p:sp>
        <p:nvSpPr>
          <p:cNvPr id="9" name="Pillar 2"/>
          <p:cNvSpPr/>
          <p:nvPr/>
        </p:nvSpPr>
        <p:spPr>
          <a:xfrm>
            <a:off x="548640" y="2688336"/>
            <a:ext cx="6949440" cy="566928"/>
          </a:xfrm>
          <a:prstGeom prst="roundRect">
            <a:avLst>
              <a:gd name="adj" fmla="val 129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Pillar 2 text"/>
          <p:cNvSpPr txBox="1"/>
          <p:nvPr/>
        </p:nvSpPr>
        <p:spPr>
          <a:xfrm>
            <a:off x="731520" y="2688336"/>
            <a:ext cx="6675120" cy="566928"/>
          </a:xfrm>
          <a:prstGeom prst="rect">
            <a:avLst/>
          </a:prstGeom>
          <a:noFill/>
          <a:ln/>
        </p:spPr>
        <p:txBody>
          <a:bodyPr wrap="square" lIns="0" tIns="0" rIns="0" bIns="0" rtlCol="0" anchor="ctr"/>
          <a:lstStyle/>
          <a:p>
            <a:pPr indent="0" marL="0">
              <a:buNone/>
            </a:pPr>
            <a:r>
              <a:rPr lang="en-US" sz="1500" b="1" dirty="0">
                <a:solidFill>
                  <a:srgbClr val="1F2A44"/>
                </a:solidFill>
              </a:rPr>
              <a:t>3  Zero-touch only   </a:t>
            </a:r>
            <a:pPr indent="0" marL="0">
              <a:buNone/>
            </a:pPr>
            <a:r>
              <a:rPr lang="en-US" sz="1350" dirty="0">
                <a:solidFill>
                  <a:schemeClr val="tx2"/>
                </a:solidFill>
              </a:rPr>
              <a:t>Manual enrollment is a justified, time-boxed, audited exception</a:t>
            </a:r>
            <a:endParaRPr lang="en-US" sz="1500" dirty="0"/>
          </a:p>
        </p:txBody>
      </p:sp>
      <p:sp>
        <p:nvSpPr>
          <p:cNvPr id="11" name="Pillar 3"/>
          <p:cNvSpPr/>
          <p:nvPr/>
        </p:nvSpPr>
        <p:spPr>
          <a:xfrm>
            <a:off x="548640" y="3346704"/>
            <a:ext cx="6949440" cy="566928"/>
          </a:xfrm>
          <a:prstGeom prst="roundRect">
            <a:avLst>
              <a:gd name="adj" fmla="val 1290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Pillar 3 text"/>
          <p:cNvSpPr txBox="1"/>
          <p:nvPr/>
        </p:nvSpPr>
        <p:spPr>
          <a:xfrm>
            <a:off x="731520" y="3346704"/>
            <a:ext cx="6675120" cy="566928"/>
          </a:xfrm>
          <a:prstGeom prst="rect">
            <a:avLst/>
          </a:prstGeom>
          <a:noFill/>
          <a:ln/>
        </p:spPr>
        <p:txBody>
          <a:bodyPr wrap="square" lIns="0" tIns="0" rIns="0" bIns="0" rtlCol="0" anchor="ctr"/>
          <a:lstStyle/>
          <a:p>
            <a:pPr indent="0" marL="0">
              <a:buNone/>
            </a:pPr>
            <a:r>
              <a:rPr lang="en-US" sz="1500" b="1" dirty="0">
                <a:solidFill>
                  <a:srgbClr val="0F766E"/>
                </a:solidFill>
              </a:rPr>
              <a:t>4  One management plane   </a:t>
            </a:r>
            <a:pPr indent="0" marL="0">
              <a:buNone/>
            </a:pPr>
            <a:r>
              <a:rPr lang="en-US" sz="1350" dirty="0">
                <a:solidFill>
                  <a:schemeClr val="tx2"/>
                </a:solidFill>
              </a:rPr>
              <a:t>Intune for endpoints; Arc and machine configuration for servers; no greenfield GPO or hybrid join</a:t>
            </a:r>
            <a:endParaRPr lang="en-US" sz="1500" dirty="0"/>
          </a:p>
        </p:txBody>
      </p:sp>
      <p:sp>
        <p:nvSpPr>
          <p:cNvPr id="13" name="Pillar 4"/>
          <p:cNvSpPr/>
          <p:nvPr/>
        </p:nvSpPr>
        <p:spPr>
          <a:xfrm>
            <a:off x="548640" y="4005072"/>
            <a:ext cx="6949440" cy="566928"/>
          </a:xfrm>
          <a:prstGeom prst="roundRect">
            <a:avLst>
              <a:gd name="adj" fmla="val 129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Pillar 4 text"/>
          <p:cNvSpPr txBox="1"/>
          <p:nvPr/>
        </p:nvSpPr>
        <p:spPr>
          <a:xfrm>
            <a:off x="731520" y="4005072"/>
            <a:ext cx="6675120" cy="566928"/>
          </a:xfrm>
          <a:prstGeom prst="rect">
            <a:avLst/>
          </a:prstGeom>
          <a:noFill/>
          <a:ln/>
        </p:spPr>
        <p:txBody>
          <a:bodyPr wrap="square" lIns="0" tIns="0" rIns="0" bIns="0" rtlCol="0" anchor="ctr"/>
          <a:lstStyle/>
          <a:p>
            <a:pPr indent="0" marL="0">
              <a:buNone/>
            </a:pPr>
            <a:r>
              <a:rPr lang="en-US" sz="1500" b="1" dirty="0">
                <a:solidFill>
                  <a:srgbClr val="1F2A44"/>
                </a:solidFill>
              </a:rPr>
              <a:t>5  Quarantine on failure   </a:t>
            </a:r>
            <a:pPr indent="0" marL="0">
              <a:buNone/>
            </a:pPr>
            <a:r>
              <a:rPr lang="en-US" sz="1350" dirty="0">
                <a:solidFill>
                  <a:schemeClr val="tx2"/>
                </a:solidFill>
              </a:rPr>
              <a:t>Never silently degrade; a failure opens a ticket</a:t>
            </a:r>
            <a:endParaRPr lang="en-US" sz="1500" dirty="0"/>
          </a:p>
        </p:txBody>
      </p:sp>
      <p:sp>
        <p:nvSpPr>
          <p:cNvPr id="15" name="Autopilot box"/>
          <p:cNvSpPr/>
          <p:nvPr/>
        </p:nvSpPr>
        <p:spPr>
          <a:xfrm>
            <a:off x="7726680" y="1371600"/>
            <a:ext cx="3931920" cy="3200400"/>
          </a:xfrm>
          <a:prstGeom prst="roundRect">
            <a:avLst>
              <a:gd name="adj" fmla="val 228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Laptop"/>
          <p:cNvSpPr/>
          <p:nvPr/>
        </p:nvSpPr>
        <p:spPr>
          <a:xfrm>
            <a:off x="7955280" y="1536192"/>
            <a:ext cx="566928" cy="566928"/>
          </a:xfrm>
          <a:prstGeom prst="ellipse">
            <a:avLst/>
          </a:prstGeom>
          <a:solidFill>
            <a:srgbClr val="B45309"/>
          </a:solidFill>
          <a:ln w="12700">
            <a:solidFill>
              <a:srgbClr val="B45309"/>
            </a:solidFill>
            <a:prstDash val="solid"/>
          </a:ln>
        </p:spPr>
      </p:sp>
      <p:pic>
        <p:nvPicPr>
          <p:cNvPr id="17" name="Image 0" descr="C:\Users\whale\git\mwb-b05\presentations\_build\icons\FaLaptop.png">    </p:cNvPr>
          <p:cNvPicPr>
            <a:picLocks noChangeAspect="1"/>
          </p:cNvPicPr>
          <p:nvPr/>
        </p:nvPicPr>
        <p:blipFill>
          <a:blip r:embed="rId1"/>
          <a:stretch>
            <a:fillRect/>
          </a:stretch>
        </p:blipFill>
        <p:spPr>
          <a:xfrm>
            <a:off x="8091343" y="1672255"/>
            <a:ext cx="294803" cy="294803"/>
          </a:xfrm>
          <a:prstGeom prst="rect">
            <a:avLst/>
          </a:prstGeom>
        </p:spPr>
      </p:pic>
      <p:sp>
        <p:nvSpPr>
          <p:cNvPr id="18" name="Autopilot head"/>
          <p:cNvSpPr txBox="1"/>
          <p:nvPr/>
        </p:nvSpPr>
        <p:spPr>
          <a:xfrm>
            <a:off x="8686800" y="1536192"/>
            <a:ext cx="283464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Autopilot choice</a:t>
            </a:r>
            <a:endParaRPr lang="en-US" sz="1700" dirty="0"/>
          </a:p>
        </p:txBody>
      </p:sp>
      <p:sp>
        <p:nvSpPr>
          <p:cNvPr id="19" name="Autopilot text"/>
          <p:cNvSpPr txBox="1"/>
          <p:nvPr/>
        </p:nvSpPr>
        <p:spPr>
          <a:xfrm>
            <a:off x="7955280" y="2240280"/>
            <a:ext cx="3520440" cy="2286000"/>
          </a:xfrm>
          <a:prstGeom prst="rect">
            <a:avLst/>
          </a:prstGeom>
          <a:noFill/>
          <a:ln/>
        </p:spPr>
        <p:txBody>
          <a:bodyPr wrap="square" lIns="0" tIns="0" rIns="0" bIns="0" rtlCol="0" anchor="t"/>
          <a:lstStyle/>
          <a:p>
            <a:pPr indent="0" marL="0">
              <a:buNone/>
            </a:pPr>
            <a:r>
              <a:rPr lang="en-US" sz="1400" dirty="0">
                <a:solidFill>
                  <a:schemeClr val="tx2"/>
                </a:solidFill>
              </a:rPr>
              <a:t>Classic Autopilot, with devices registered by the OEM or reseller, is the default in a GCC tenant: it can carry a group tag at registration. Autopilot device preparation has no registration step, so it can't.</a:t>
            </a:r>
            <a:endParaRPr lang="en-US" sz="1400" dirty="0"/>
          </a:p>
        </p:txBody>
      </p:sp>
      <p:sp>
        <p:nvSpPr>
          <p:cNvPr id="20" name="Doctrine"/>
          <p:cNvSpPr/>
          <p:nvPr/>
        </p:nvSpPr>
        <p:spPr>
          <a:xfrm>
            <a:off x="548640" y="4846320"/>
            <a:ext cx="11109960" cy="1143000"/>
          </a:xfrm>
          <a:prstGeom prst="roundRect">
            <a:avLst>
              <a:gd name="adj" fmla="val 6400"/>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21" name="Icon FaClipboardCheck"/>
          <p:cNvSpPr/>
          <p:nvPr/>
        </p:nvSpPr>
        <p:spPr>
          <a:xfrm>
            <a:off x="777240" y="5052060"/>
            <a:ext cx="731520" cy="731520"/>
          </a:xfrm>
          <a:prstGeom prst="ellipse">
            <a:avLst/>
          </a:prstGeom>
          <a:solidFill>
            <a:srgbClr val="64748B"/>
          </a:solidFill>
          <a:ln w="12700">
            <a:solidFill>
              <a:srgbClr val="64748B"/>
            </a:solidFill>
            <a:prstDash val="solid"/>
          </a:ln>
        </p:spPr>
      </p:sp>
      <p:pic>
        <p:nvPicPr>
          <p:cNvPr id="22" name="Image 1" descr="C:\Users\whale\git\mwb-b05\presentations\_build\icons\FaClipboardCheck.png">    </p:cNvPr>
          <p:cNvPicPr>
            <a:picLocks noChangeAspect="1"/>
          </p:cNvPicPr>
          <p:nvPr/>
        </p:nvPicPr>
        <p:blipFill>
          <a:blip r:embed="rId2"/>
          <a:stretch>
            <a:fillRect/>
          </a:stretch>
        </p:blipFill>
        <p:spPr>
          <a:xfrm>
            <a:off x="952805" y="5227625"/>
            <a:ext cx="380390" cy="380390"/>
          </a:xfrm>
          <a:prstGeom prst="rect">
            <a:avLst/>
          </a:prstGeom>
        </p:spPr>
      </p:pic>
      <p:sp>
        <p:nvSpPr>
          <p:cNvPr id="23" name="Doctrine text"/>
          <p:cNvSpPr txBox="1"/>
          <p:nvPr/>
        </p:nvSpPr>
        <p:spPr>
          <a:xfrm>
            <a:off x="1737360" y="4892040"/>
            <a:ext cx="9738360" cy="1051560"/>
          </a:xfrm>
          <a:prstGeom prst="rect">
            <a:avLst/>
          </a:prstGeom>
          <a:noFill/>
          <a:ln/>
        </p:spPr>
        <p:txBody>
          <a:bodyPr wrap="square" lIns="0" tIns="0" rIns="0" bIns="0" rtlCol="0" anchor="ctr"/>
          <a:lstStyle/>
          <a:p>
            <a:pPr indent="0" marL="0">
              <a:buNone/>
            </a:pPr>
            <a:r>
              <a:rPr lang="en-US" sz="1650" b="1" dirty="0">
                <a:solidFill>
                  <a:srgbClr val="64748B"/>
                </a:solidFill>
              </a:rPr>
              <a:t>Program doctrine, not Microsoft requirements: </a:t>
            </a:r>
            <a:pPr indent="0" marL="0">
              <a:buNone/>
            </a:pPr>
            <a:r>
              <a:rPr lang="en-US" sz="1650" dirty="0">
                <a:solidFill>
                  <a:schemeClr val="tx2"/>
                </a:solidFill>
              </a:rPr>
              <a:t>the five pillars are the book's design for net-new devices; the existing fleet takes one of the three paths that follow.</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Windows Autopilot, Autopilot device preparation, Intune supported platforms. Book 05,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paths to the same governed state</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th 0"/>
          <p:cNvSpPr/>
          <p:nvPr/>
        </p:nvSpPr>
        <p:spPr>
          <a:xfrm>
            <a:off x="548640" y="1417320"/>
            <a:ext cx="3611880" cy="3017520"/>
          </a:xfrm>
          <a:prstGeom prst="roundRect">
            <a:avLst>
              <a:gd name="adj" fmla="val 24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Path 0 text"/>
          <p:cNvSpPr txBox="1"/>
          <p:nvPr/>
        </p:nvSpPr>
        <p:spPr>
          <a:xfrm>
            <a:off x="777240" y="1600200"/>
            <a:ext cx="3154680" cy="2743200"/>
          </a:xfrm>
          <a:prstGeom prst="rect">
            <a:avLst/>
          </a:prstGeom>
          <a:noFill/>
          <a:ln/>
        </p:spPr>
        <p:txBody>
          <a:bodyPr wrap="square" lIns="0" tIns="0" rIns="0" bIns="0" rtlCol="0" anchor="t"/>
          <a:lstStyle/>
          <a:p>
            <a:pPr indent="0" marL="0">
              <a:spcAft>
                <a:spcPts val="600"/>
              </a:spcAft>
              <a:buNone/>
            </a:pPr>
            <a:r>
              <a:rPr lang="en-US" sz="2000" b="1" dirty="0">
                <a:solidFill>
                  <a:srgbClr val="0F766E"/>
                </a:solidFill>
                <a:latin typeface="Cambria" pitchFamily="34" charset="0"/>
                <a:ea typeface="Cambria" pitchFamily="34" charset="-122"/>
                <a:cs typeface="Cambria" pitchFamily="34" charset="-120"/>
              </a:rPr>
              <a:t>Governed</a:t>
            </a:r>
            <a:endParaRPr lang="en-US" sz="1400" dirty="0"/>
          </a:p>
          <a:p>
            <a:pPr indent="0" marL="0">
              <a:spcAft>
                <a:spcPts val="600"/>
              </a:spcAft>
              <a:buNone/>
            </a:pPr>
            <a:r>
              <a:rPr lang="en-US" sz="1450" dirty="0">
                <a:solidFill>
                  <a:schemeClr val="tx2"/>
                </a:solidFill>
              </a:rPr>
              <a:t>Program-orchestrated: every step recorded, approved and evidenced</a:t>
            </a:r>
            <a:endParaRPr lang="en-US" sz="1400" dirty="0"/>
          </a:p>
          <a:p>
            <a:pPr indent="0" marL="0">
              <a:spcAft>
                <a:spcPts val="600"/>
              </a:spcAft>
              <a:buNone/>
            </a:pPr>
            <a:r>
              <a:rPr lang="en-US" sz="800" dirty="0">
                <a:solidFill>
                  <a:schemeClr val="tx2"/>
                </a:solidFill>
              </a:rPr>
              <a:t> </a:t>
            </a:r>
            <a:endParaRPr lang="en-US" sz="1400" dirty="0"/>
          </a:p>
          <a:p>
            <a:pPr indent="0" marL="0">
              <a:spcAft>
                <a:spcPts val="600"/>
              </a:spcAft>
              <a:buNone/>
            </a:pPr>
            <a:r>
              <a:rPr lang="en-US" sz="1350" i="1" dirty="0">
                <a:solidFill>
                  <a:srgbClr val="64748B"/>
                </a:solidFill>
              </a:rPr>
              <a:t>Default for any population in scope</a:t>
            </a:r>
            <a:endParaRPr lang="en-US" sz="1400" dirty="0"/>
          </a:p>
        </p:txBody>
      </p:sp>
      <p:sp>
        <p:nvSpPr>
          <p:cNvPr id="7" name="Path 1"/>
          <p:cNvSpPr/>
          <p:nvPr/>
        </p:nvSpPr>
        <p:spPr>
          <a:xfrm>
            <a:off x="4297680" y="1417320"/>
            <a:ext cx="3611880" cy="3017520"/>
          </a:xfrm>
          <a:prstGeom prst="roundRect">
            <a:avLst>
              <a:gd name="adj" fmla="val 242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Path 1 text"/>
          <p:cNvSpPr txBox="1"/>
          <p:nvPr/>
        </p:nvSpPr>
        <p:spPr>
          <a:xfrm>
            <a:off x="4526280" y="1600200"/>
            <a:ext cx="3154680" cy="2743200"/>
          </a:xfrm>
          <a:prstGeom prst="rect">
            <a:avLst/>
          </a:prstGeom>
          <a:noFill/>
          <a:ln/>
        </p:spPr>
        <p:txBody>
          <a:bodyPr wrap="square" lIns="0" tIns="0" rIns="0" bIns="0" rtlCol="0" anchor="t"/>
          <a:lstStyle/>
          <a:p>
            <a:pPr indent="0" marL="0">
              <a:spcAft>
                <a:spcPts val="600"/>
              </a:spcAft>
              <a:buNone/>
            </a:pPr>
            <a:r>
              <a:rPr lang="en-US" sz="2000" b="1" dirty="0">
                <a:solidFill>
                  <a:srgbClr val="B45309"/>
                </a:solidFill>
                <a:latin typeface="Cambria" pitchFamily="34" charset="0"/>
                <a:ea typeface="Cambria" pitchFamily="34" charset="-122"/>
                <a:cs typeface="Cambria" pitchFamily="34" charset="-120"/>
              </a:rPr>
              <a:t>Manual</a:t>
            </a:r>
            <a:endParaRPr lang="en-US" sz="1400" dirty="0"/>
          </a:p>
          <a:p>
            <a:pPr indent="0" marL="0">
              <a:spcAft>
                <a:spcPts val="600"/>
              </a:spcAft>
              <a:buNone/>
            </a:pPr>
            <a:r>
              <a:rPr lang="en-US" sz="1450" dirty="0">
                <a:solidFill>
                  <a:schemeClr val="tx2"/>
                </a:solidFill>
              </a:rPr>
              <a:t>Operator-run with native tools, without the orchestration platform</a:t>
            </a:r>
            <a:endParaRPr lang="en-US" sz="1400" dirty="0"/>
          </a:p>
          <a:p>
            <a:pPr indent="0" marL="0">
              <a:spcAft>
                <a:spcPts val="600"/>
              </a:spcAft>
              <a:buNone/>
            </a:pPr>
            <a:r>
              <a:rPr lang="en-US" sz="800" dirty="0">
                <a:solidFill>
                  <a:schemeClr val="tx2"/>
                </a:solidFill>
              </a:rPr>
              <a:t> </a:t>
            </a:r>
            <a:endParaRPr lang="en-US" sz="1400" dirty="0"/>
          </a:p>
          <a:p>
            <a:pPr indent="0" marL="0">
              <a:spcAft>
                <a:spcPts val="600"/>
              </a:spcAft>
              <a:buNone/>
            </a:pPr>
            <a:r>
              <a:rPr lang="en-US" sz="1350" i="1" dirty="0">
                <a:solidFill>
                  <a:srgbClr val="64748B"/>
                </a:solidFill>
              </a:rPr>
              <a:t>When the platform isn't available yet</a:t>
            </a:r>
            <a:endParaRPr lang="en-US" sz="1400" dirty="0"/>
          </a:p>
        </p:txBody>
      </p:sp>
      <p:sp>
        <p:nvSpPr>
          <p:cNvPr id="9" name="Path 2"/>
          <p:cNvSpPr/>
          <p:nvPr/>
        </p:nvSpPr>
        <p:spPr>
          <a:xfrm>
            <a:off x="8046720" y="1417320"/>
            <a:ext cx="3611880" cy="3017520"/>
          </a:xfrm>
          <a:prstGeom prst="roundRect">
            <a:avLst>
              <a:gd name="adj" fmla="val 242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Path 2 text"/>
          <p:cNvSpPr txBox="1"/>
          <p:nvPr/>
        </p:nvSpPr>
        <p:spPr>
          <a:xfrm>
            <a:off x="8275320" y="1600200"/>
            <a:ext cx="3154680" cy="2743200"/>
          </a:xfrm>
          <a:prstGeom prst="rect">
            <a:avLst/>
          </a:prstGeom>
          <a:noFill/>
          <a:ln/>
        </p:spPr>
        <p:txBody>
          <a:bodyPr wrap="square" lIns="0" tIns="0" rIns="0" bIns="0" rtlCol="0" anchor="t"/>
          <a:lstStyle/>
          <a:p>
            <a:pPr indent="0" marL="0">
              <a:spcAft>
                <a:spcPts val="600"/>
              </a:spcAft>
              <a:buNone/>
            </a:pPr>
            <a:r>
              <a:rPr lang="en-US" sz="2000" b="1" dirty="0">
                <a:solidFill>
                  <a:srgbClr val="1F2A44"/>
                </a:solidFill>
                <a:latin typeface="Cambria" pitchFamily="34" charset="0"/>
                <a:ea typeface="Cambria" pitchFamily="34" charset="-122"/>
                <a:cs typeface="Cambria" pitchFamily="34" charset="-120"/>
              </a:rPr>
              <a:t>Retrofit</a:t>
            </a:r>
            <a:endParaRPr lang="en-US" sz="1400" dirty="0"/>
          </a:p>
          <a:p>
            <a:pPr indent="0" marL="0">
              <a:spcAft>
                <a:spcPts val="600"/>
              </a:spcAft>
              <a:buNone/>
            </a:pPr>
            <a:r>
              <a:rPr lang="en-US" sz="1450" dirty="0">
                <a:solidFill>
                  <a:schemeClr val="tx2"/>
                </a:solidFill>
              </a:rPr>
              <a:t>Bring an estate already modernized by hand under governance</a:t>
            </a:r>
            <a:endParaRPr lang="en-US" sz="1400" dirty="0"/>
          </a:p>
          <a:p>
            <a:pPr indent="0" marL="0">
              <a:spcAft>
                <a:spcPts val="600"/>
              </a:spcAft>
              <a:buNone/>
            </a:pPr>
            <a:r>
              <a:rPr lang="en-US" sz="800" dirty="0">
                <a:solidFill>
                  <a:schemeClr val="tx2"/>
                </a:solidFill>
              </a:rPr>
              <a:t> </a:t>
            </a:r>
            <a:endParaRPr lang="en-US" sz="1400" dirty="0"/>
          </a:p>
          <a:p>
            <a:pPr indent="0" marL="0">
              <a:spcAft>
                <a:spcPts val="600"/>
              </a:spcAft>
              <a:buNone/>
            </a:pPr>
            <a:r>
              <a:rPr lang="en-US" sz="1350" i="1" dirty="0">
                <a:solidFill>
                  <a:srgbClr val="64748B"/>
                </a:solidFill>
              </a:rPr>
              <a:t>When the work was done before the program</a:t>
            </a:r>
            <a:endParaRPr lang="en-US" sz="1400" dirty="0"/>
          </a:p>
        </p:txBody>
      </p:sp>
      <p:sp>
        <p:nvSpPr>
          <p:cNvPr id="11" name="Same end"/>
          <p:cNvSpPr/>
          <p:nvPr/>
        </p:nvSpPr>
        <p:spPr>
          <a:xfrm>
            <a:off x="548640" y="4663440"/>
            <a:ext cx="11109960" cy="1325880"/>
          </a:xfrm>
          <a:prstGeom prst="roundRect">
            <a:avLst>
              <a:gd name="adj" fmla="val 5517"/>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2" name="Icon FaClipboardCheck"/>
          <p:cNvSpPr/>
          <p:nvPr/>
        </p:nvSpPr>
        <p:spPr>
          <a:xfrm>
            <a:off x="777240" y="4960620"/>
            <a:ext cx="731520" cy="731520"/>
          </a:xfrm>
          <a:prstGeom prst="ellipse">
            <a:avLst/>
          </a:prstGeom>
          <a:solidFill>
            <a:srgbClr val="64748B"/>
          </a:solidFill>
          <a:ln w="12700">
            <a:solidFill>
              <a:srgbClr val="64748B"/>
            </a:solidFill>
            <a:prstDash val="solid"/>
          </a:ln>
        </p:spPr>
      </p:sp>
      <p:pic>
        <p:nvPicPr>
          <p:cNvPr id="13" name="Image 0" descr="C:\Users\whale\git\mwb-b05\presentations\_build\icons\FaClipboardCheck.png">    </p:cNvPr>
          <p:cNvPicPr>
            <a:picLocks noChangeAspect="1"/>
          </p:cNvPicPr>
          <p:nvPr/>
        </p:nvPicPr>
        <p:blipFill>
          <a:blip r:embed="rId1"/>
          <a:stretch>
            <a:fillRect/>
          </a:stretch>
        </p:blipFill>
        <p:spPr>
          <a:xfrm>
            <a:off x="952805" y="5136185"/>
            <a:ext cx="380390" cy="380390"/>
          </a:xfrm>
          <a:prstGeom prst="rect">
            <a:avLst/>
          </a:prstGeom>
        </p:spPr>
      </p:pic>
      <p:sp>
        <p:nvSpPr>
          <p:cNvPr id="14" name="Same end text"/>
          <p:cNvSpPr txBox="1"/>
          <p:nvPr/>
        </p:nvSpPr>
        <p:spPr>
          <a:xfrm>
            <a:off x="1737360" y="4709160"/>
            <a:ext cx="9738360" cy="1234440"/>
          </a:xfrm>
          <a:prstGeom prst="rect">
            <a:avLst/>
          </a:prstGeom>
          <a:noFill/>
          <a:ln/>
        </p:spPr>
        <p:txBody>
          <a:bodyPr wrap="square" lIns="0" tIns="0" rIns="0" bIns="0" rtlCol="0" anchor="ctr"/>
          <a:lstStyle/>
          <a:p>
            <a:pPr indent="0" marL="0">
              <a:buNone/>
            </a:pPr>
            <a:r>
              <a:rPr lang="en-US" sz="1650" b="1" dirty="0">
                <a:solidFill>
                  <a:srgbClr val="64748B"/>
                </a:solidFill>
              </a:rPr>
              <a:t>Same end state, different evidence: </a:t>
            </a:r>
            <a:pPr indent="0" marL="0">
              <a:buNone/>
            </a:pPr>
            <a:r>
              <a:rPr lang="en-US" sz="1650" dirty="0">
                <a:solidFill>
                  <a:schemeClr val="tx2"/>
                </a:solidFill>
              </a:rPr>
              <a:t>every path ends with the device or server enrolled, baselined and reconciled; what differs is how much of the proof is produced automatically, and what has to be collected by hand.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Program design, with Microsoft Learn facts for each step. Book 05,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who does the work for the endpoint</a:t>
            </a:r>
            <a:endParaRPr lang="en-US" sz="3000" dirty="0"/>
          </a:p>
        </p:txBody>
      </p:sp>
      <p:sp>
        <p:nvSpPr>
          <p:cNvPr id="3" name="Tag Who"/>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C:\Users\whale\git\mwb-b05\presentations\_build\icons\FaBuildingColumns.png">    </p:cNvPr>
          <p:cNvPicPr>
            <a:picLocks noChangeAspect="1"/>
          </p:cNvPicPr>
          <p:nvPr/>
        </p:nvPicPr>
        <p:blipFill>
          <a:blip r:embed="rId1"/>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Decide</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1F2A44"/>
                </a:solidFill>
              </a:rPr>
              <a:t>CISO and ISSO</a:t>
            </a:r>
            <a:endParaRPr lang="en-US" sz="1450" dirty="0"/>
          </a:p>
          <a:p>
            <a:pPr indent="0" marL="0">
              <a:spcAft>
                <a:spcPts val="600"/>
              </a:spcAft>
              <a:buNone/>
            </a:pPr>
            <a:r>
              <a:rPr lang="en-US" sz="1450" dirty="0">
                <a:solidFill>
                  <a:schemeClr val="tx2"/>
                </a:solidFill>
              </a:rPr>
              <a:t>Baselines, exceptions, evidence</a:t>
            </a:r>
            <a:endParaRPr lang="en-US" sz="1450" dirty="0"/>
          </a:p>
          <a:p>
            <a:pPr indent="0" marL="0">
              <a:spcAft>
                <a:spcPts val="600"/>
              </a:spcAft>
              <a:buNone/>
            </a:pPr>
            <a:r>
              <a:rPr lang="en-US" sz="1450" b="1" dirty="0">
                <a:solidFill>
                  <a:srgbClr val="1F2A44"/>
                </a:solidFill>
              </a:rPr>
              <a:t>Endpoint engineering lead</a:t>
            </a:r>
            <a:endParaRPr lang="en-US" sz="1450" dirty="0"/>
          </a:p>
          <a:p>
            <a:pPr indent="0" marL="0">
              <a:spcAft>
                <a:spcPts val="600"/>
              </a:spcAft>
              <a:buNone/>
            </a:pPr>
            <a:r>
              <a:rPr lang="en-US" sz="1450" dirty="0">
                <a:solidFill>
                  <a:schemeClr val="tx2"/>
                </a:solidFill>
              </a:rPr>
              <a:t>Policy design and the rollout</a:t>
            </a:r>
            <a:endParaRPr lang="en-US" sz="1450" dirty="0"/>
          </a:p>
          <a:p>
            <a:pPr indent="0" marL="0">
              <a:spcAft>
                <a:spcPts val="600"/>
              </a:spcAft>
              <a:buNone/>
            </a:pPr>
            <a:r>
              <a:rPr lang="en-US" sz="1450" b="1" dirty="0">
                <a:solidFill>
                  <a:srgbClr val="1F2A44"/>
                </a:solidFill>
              </a:rPr>
              <a:t>Change board</a:t>
            </a:r>
            <a:endParaRPr lang="en-US" sz="1450" dirty="0"/>
          </a:p>
          <a:p>
            <a:pPr indent="0" marL="0">
              <a:spcAft>
                <a:spcPts val="600"/>
              </a:spcAft>
              <a:buNone/>
            </a:pPr>
            <a:r>
              <a:rPr lang="en-US" sz="1450" dirty="0">
                <a:solidFill>
                  <a:schemeClr val="tx2"/>
                </a:solidFill>
              </a:rPr>
              <a:t>Rings, waves, pauses</a:t>
            </a:r>
            <a:endParaRPr lang="en-US" sz="1450" dirty="0"/>
          </a:p>
        </p:txBody>
      </p:sp>
      <p:sp>
        <p:nvSpPr>
          <p:cNvPr id="10" name="Who col 2"/>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C:\Users\whale\git\mwb-b05\presentations\_build\icons\FaUsersGear.png">    </p:cNvPr>
          <p:cNvPicPr>
            <a:picLocks noChangeAspect="1"/>
          </p:cNvPicPr>
          <p:nvPr/>
        </p:nvPicPr>
        <p:blipFill>
          <a:blip r:embed="rId2"/>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Do</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0F766E"/>
                </a:solidFill>
              </a:rPr>
              <a:t>Endpoint engineering</a:t>
            </a:r>
            <a:endParaRPr lang="en-US" sz="1450" dirty="0"/>
          </a:p>
          <a:p>
            <a:pPr indent="0" marL="0">
              <a:spcAft>
                <a:spcPts val="600"/>
              </a:spcAft>
              <a:buNone/>
            </a:pPr>
            <a:r>
              <a:rPr lang="en-US" sz="1450" dirty="0">
                <a:solidFill>
                  <a:schemeClr val="tx2"/>
                </a:solidFill>
              </a:rPr>
              <a:t>Intune policies, Autopilot, apps</a:t>
            </a:r>
            <a:endParaRPr lang="en-US" sz="1450" dirty="0"/>
          </a:p>
          <a:p>
            <a:pPr indent="0" marL="0">
              <a:spcAft>
                <a:spcPts val="600"/>
              </a:spcAft>
              <a:buNone/>
            </a:pPr>
            <a:r>
              <a:rPr lang="en-US" sz="1450" b="1" dirty="0">
                <a:solidFill>
                  <a:srgbClr val="0F766E"/>
                </a:solidFill>
              </a:rPr>
              <a:t>Server team</a:t>
            </a:r>
            <a:endParaRPr lang="en-US" sz="1450" dirty="0"/>
          </a:p>
          <a:p>
            <a:pPr indent="0" marL="0">
              <a:spcAft>
                <a:spcPts val="600"/>
              </a:spcAft>
              <a:buNone/>
            </a:pPr>
            <a:r>
              <a:rPr lang="en-US" sz="1450" dirty="0">
                <a:solidFill>
                  <a:schemeClr val="tx2"/>
                </a:solidFill>
              </a:rPr>
              <a:t>Arc onboarding, machine configuration</a:t>
            </a:r>
            <a:endParaRPr lang="en-US" sz="1450" dirty="0"/>
          </a:p>
          <a:p>
            <a:pPr indent="0" marL="0">
              <a:spcAft>
                <a:spcPts val="600"/>
              </a:spcAft>
              <a:buNone/>
            </a:pPr>
            <a:r>
              <a:rPr lang="en-US" sz="1450" b="1" dirty="0">
                <a:solidFill>
                  <a:srgbClr val="0F766E"/>
                </a:solidFill>
              </a:rPr>
              <a:t>Security operations</a:t>
            </a:r>
            <a:endParaRPr lang="en-US" sz="1450" dirty="0"/>
          </a:p>
          <a:p>
            <a:pPr indent="0" marL="0">
              <a:spcAft>
                <a:spcPts val="600"/>
              </a:spcAft>
              <a:buNone/>
            </a:pPr>
            <a:r>
              <a:rPr lang="en-US" sz="1450" dirty="0">
                <a:solidFill>
                  <a:schemeClr val="tx2"/>
                </a:solidFill>
              </a:rPr>
              <a:t>Defender, alerts, response</a:t>
            </a:r>
            <a:endParaRPr lang="en-US" sz="1450" dirty="0"/>
          </a:p>
        </p:txBody>
      </p:sp>
      <p:sp>
        <p:nvSpPr>
          <p:cNvPr id="15" name="Who col 3"/>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PeopleArrows"/>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C:\Users\whale\git\mwb-b05\presentations\_build\icons\FaPeopleArrows.png">    </p:cNvPr>
          <p:cNvPicPr>
            <a:picLocks noChangeAspect="1"/>
          </p:cNvPicPr>
          <p:nvPr/>
        </p:nvPicPr>
        <p:blipFill>
          <a:blip r:embed="rId3"/>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Consulted and affected</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B45309"/>
                </a:solidFill>
              </a:rPr>
              <a:t>Application owners</a:t>
            </a:r>
            <a:endParaRPr lang="en-US" sz="1450" dirty="0"/>
          </a:p>
          <a:p>
            <a:pPr indent="0" marL="0">
              <a:spcAft>
                <a:spcPts val="600"/>
              </a:spcAft>
              <a:buNone/>
            </a:pPr>
            <a:r>
              <a:rPr lang="en-US" sz="1450" dirty="0">
                <a:solidFill>
                  <a:schemeClr val="tx2"/>
                </a:solidFill>
              </a:rPr>
              <a:t>Test results and app packaging</a:t>
            </a:r>
            <a:endParaRPr lang="en-US" sz="1450" dirty="0"/>
          </a:p>
          <a:p>
            <a:pPr indent="0" marL="0">
              <a:spcAft>
                <a:spcPts val="600"/>
              </a:spcAft>
              <a:buNone/>
            </a:pPr>
            <a:r>
              <a:rPr lang="en-US" sz="1450" b="1" dirty="0">
                <a:solidFill>
                  <a:srgbClr val="B45309"/>
                </a:solidFill>
              </a:rPr>
              <a:t>Help desk</a:t>
            </a:r>
            <a:endParaRPr lang="en-US" sz="1450" dirty="0"/>
          </a:p>
          <a:p>
            <a:pPr indent="0" marL="0">
              <a:spcAft>
                <a:spcPts val="600"/>
              </a:spcAft>
              <a:buNone/>
            </a:pPr>
            <a:r>
              <a:rPr lang="en-US" sz="1450" dirty="0">
                <a:solidFill>
                  <a:schemeClr val="tx2"/>
                </a:solidFill>
              </a:rPr>
              <a:t>Enrollment, wipe, recovery</a:t>
            </a:r>
            <a:endParaRPr lang="en-US" sz="1450" dirty="0"/>
          </a:p>
          <a:p>
            <a:pPr indent="0" marL="0">
              <a:spcAft>
                <a:spcPts val="600"/>
              </a:spcAft>
              <a:buNone/>
            </a:pPr>
            <a:r>
              <a:rPr lang="en-US" sz="1450" b="1" dirty="0">
                <a:solidFill>
                  <a:srgbClr val="B45309"/>
                </a:solidFill>
              </a:rPr>
              <a:t>End users</a:t>
            </a:r>
            <a:endParaRPr lang="en-US" sz="1450" dirty="0"/>
          </a:p>
          <a:p>
            <a:pPr indent="0" marL="0">
              <a:spcAft>
                <a:spcPts val="600"/>
              </a:spcAft>
              <a:buNone/>
            </a:pPr>
            <a:r>
              <a:rPr lang="en-US" sz="1450" dirty="0">
                <a:solidFill>
                  <a:schemeClr val="tx2"/>
                </a:solidFill>
              </a:rPr>
              <a:t>Pilot waves and feedback</a:t>
            </a:r>
            <a:endParaRPr lang="en-US" sz="1450" dirty="0"/>
          </a:p>
        </p:txBody>
      </p:sp>
      <p:sp>
        <p:nvSpPr>
          <p:cNvPr id="20" name="Least"/>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UserShield"/>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C:\Users\whale\git\mwb-b05\presentations\_build\icons\FaUserShield.png">    </p:cNvPr>
          <p:cNvPicPr>
            <a:picLocks noChangeAspect="1"/>
          </p:cNvPicPr>
          <p:nvPr/>
        </p:nvPicPr>
        <p:blipFill>
          <a:blip r:embed="rId4"/>
          <a:stretch>
            <a:fillRect/>
          </a:stretch>
        </p:blipFill>
        <p:spPr>
          <a:xfrm>
            <a:off x="952805" y="5204765"/>
            <a:ext cx="380390" cy="380390"/>
          </a:xfrm>
          <a:prstGeom prst="rect">
            <a:avLst/>
          </a:prstGeom>
        </p:spPr>
      </p:pic>
      <p:sp>
        <p:nvSpPr>
          <p:cNvPr id="23" name="Least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Least privilege for the people too: </a:t>
            </a:r>
            <a:pPr indent="0" marL="0">
              <a:buNone/>
            </a:pPr>
            <a:r>
              <a:rPr lang="en-US" sz="1650" dirty="0">
                <a:solidFill>
                  <a:schemeClr val="tx2"/>
                </a:solidFill>
              </a:rPr>
              <a:t>day-to-day work runs on scoped Intune roles, not Intune Administrator; Microsoft advises against using the broad role for routine administration.</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role-based access control; the program's responsibility matrix. Book 05,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Sunset Group Policy as a program, setting by setting</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0"/>
          <p:cNvSpPr/>
          <p:nvPr/>
        </p:nvSpPr>
        <p:spPr>
          <a:xfrm>
            <a:off x="548640" y="1508760"/>
            <a:ext cx="1463040" cy="1371600"/>
          </a:xfrm>
          <a:prstGeom prst="roundRect">
            <a:avLst>
              <a:gd name="adj" fmla="val 5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Step 0 text"/>
          <p:cNvSpPr txBox="1"/>
          <p:nvPr/>
        </p:nvSpPr>
        <p:spPr>
          <a:xfrm>
            <a:off x="640080" y="1572768"/>
            <a:ext cx="1280160" cy="1261872"/>
          </a:xfrm>
          <a:prstGeom prst="rect">
            <a:avLst/>
          </a:prstGeom>
          <a:noFill/>
          <a:ln/>
        </p:spPr>
        <p:txBody>
          <a:bodyPr wrap="square" lIns="0" tIns="0" rIns="0" bIns="0" rtlCol="0" anchor="t"/>
          <a:lstStyle/>
          <a:p>
            <a:pPr algn="ctr" indent="0" marL="0">
              <a:buNone/>
            </a:pPr>
            <a:r>
              <a:rPr lang="en-US" sz="2400" b="1" dirty="0">
                <a:solidFill>
                  <a:srgbClr val="1F2A44"/>
                </a:solidFill>
                <a:latin typeface="Cambria" pitchFamily="34" charset="0"/>
                <a:ea typeface="Cambria" pitchFamily="34" charset="-122"/>
                <a:cs typeface="Cambria" pitchFamily="34" charset="-120"/>
              </a:rPr>
              <a:t>1</a:t>
            </a:r>
            <a:endParaRPr lang="en-US" sz="1400" dirty="0"/>
          </a:p>
          <a:p>
            <a:pPr algn="ctr" indent="0" marL="0">
              <a:buNone/>
            </a:pPr>
            <a:r>
              <a:rPr lang="en-US" sz="1300" b="1" dirty="0">
                <a:solidFill>
                  <a:schemeClr val="tx2"/>
                </a:solidFill>
              </a:rPr>
              <a:t>Inventory and parse</a:t>
            </a:r>
            <a:endParaRPr lang="en-US" sz="1400" dirty="0"/>
          </a:p>
        </p:txBody>
      </p:sp>
      <p:sp>
        <p:nvSpPr>
          <p:cNvPr id="7" name="Step 1"/>
          <p:cNvSpPr/>
          <p:nvPr/>
        </p:nvSpPr>
        <p:spPr>
          <a:xfrm>
            <a:off x="2148840" y="1508760"/>
            <a:ext cx="1463040" cy="1371600"/>
          </a:xfrm>
          <a:prstGeom prst="roundRect">
            <a:avLst>
              <a:gd name="adj" fmla="val 5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Step 1 text"/>
          <p:cNvSpPr txBox="1"/>
          <p:nvPr/>
        </p:nvSpPr>
        <p:spPr>
          <a:xfrm>
            <a:off x="2240280" y="1572768"/>
            <a:ext cx="1280160" cy="1261872"/>
          </a:xfrm>
          <a:prstGeom prst="rect">
            <a:avLst/>
          </a:prstGeom>
          <a:noFill/>
          <a:ln/>
        </p:spPr>
        <p:txBody>
          <a:bodyPr wrap="square" lIns="0" tIns="0" rIns="0" bIns="0" rtlCol="0" anchor="t"/>
          <a:lstStyle/>
          <a:p>
            <a:pPr algn="ctr" indent="0" marL="0">
              <a:buNone/>
            </a:pPr>
            <a:r>
              <a:rPr lang="en-US" sz="2400" b="1" dirty="0">
                <a:solidFill>
                  <a:srgbClr val="0F766E"/>
                </a:solidFill>
                <a:latin typeface="Cambria" pitchFamily="34" charset="0"/>
                <a:ea typeface="Cambria" pitchFamily="34" charset="-122"/>
                <a:cs typeface="Cambria" pitchFamily="34" charset="-120"/>
              </a:rPr>
              <a:t>2</a:t>
            </a:r>
            <a:endParaRPr lang="en-US" sz="1400" dirty="0"/>
          </a:p>
          <a:p>
            <a:pPr algn="ctr" indent="0" marL="0">
              <a:buNone/>
            </a:pPr>
            <a:r>
              <a:rPr lang="en-US" sz="1300" b="1" dirty="0">
                <a:solidFill>
                  <a:schemeClr val="tx2"/>
                </a:solidFill>
              </a:rPr>
              <a:t>Classify each setting</a:t>
            </a:r>
            <a:endParaRPr lang="en-US" sz="1400" dirty="0"/>
          </a:p>
        </p:txBody>
      </p:sp>
      <p:sp>
        <p:nvSpPr>
          <p:cNvPr id="9" name="Step 2"/>
          <p:cNvSpPr/>
          <p:nvPr/>
        </p:nvSpPr>
        <p:spPr>
          <a:xfrm>
            <a:off x="3749040" y="1508760"/>
            <a:ext cx="1463040" cy="1371600"/>
          </a:xfrm>
          <a:prstGeom prst="roundRect">
            <a:avLst>
              <a:gd name="adj" fmla="val 5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Step 2 text"/>
          <p:cNvSpPr txBox="1"/>
          <p:nvPr/>
        </p:nvSpPr>
        <p:spPr>
          <a:xfrm>
            <a:off x="3840480" y="1572768"/>
            <a:ext cx="1280160" cy="1261872"/>
          </a:xfrm>
          <a:prstGeom prst="rect">
            <a:avLst/>
          </a:prstGeom>
          <a:noFill/>
          <a:ln/>
        </p:spPr>
        <p:txBody>
          <a:bodyPr wrap="square" lIns="0" tIns="0" rIns="0" bIns="0" rtlCol="0" anchor="t"/>
          <a:lstStyle/>
          <a:p>
            <a:pPr algn="ctr" indent="0" marL="0">
              <a:buNone/>
            </a:pPr>
            <a:r>
              <a:rPr lang="en-US" sz="2400" b="1" dirty="0">
                <a:solidFill>
                  <a:srgbClr val="1F2A44"/>
                </a:solidFill>
                <a:latin typeface="Cambria" pitchFamily="34" charset="0"/>
                <a:ea typeface="Cambria" pitchFamily="34" charset="-122"/>
                <a:cs typeface="Cambria" pitchFamily="34" charset="-120"/>
              </a:rPr>
              <a:t>3</a:t>
            </a:r>
            <a:endParaRPr lang="en-US" sz="1400" dirty="0"/>
          </a:p>
          <a:p>
            <a:pPr algn="ctr" indent="0" marL="0">
              <a:buNone/>
            </a:pPr>
            <a:r>
              <a:rPr lang="en-US" sz="1300" b="1" dirty="0">
                <a:solidFill>
                  <a:schemeClr val="tx2"/>
                </a:solidFill>
              </a:rPr>
              <a:t>Crosswalk</a:t>
            </a:r>
            <a:endParaRPr lang="en-US" sz="1400" dirty="0"/>
          </a:p>
        </p:txBody>
      </p:sp>
      <p:sp>
        <p:nvSpPr>
          <p:cNvPr id="11" name="Step 3"/>
          <p:cNvSpPr/>
          <p:nvPr/>
        </p:nvSpPr>
        <p:spPr>
          <a:xfrm>
            <a:off x="5349240" y="1508760"/>
            <a:ext cx="1463040" cy="1371600"/>
          </a:xfrm>
          <a:prstGeom prst="roundRect">
            <a:avLst>
              <a:gd name="adj" fmla="val 5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Step 3 text"/>
          <p:cNvSpPr txBox="1"/>
          <p:nvPr/>
        </p:nvSpPr>
        <p:spPr>
          <a:xfrm>
            <a:off x="5440680" y="1572768"/>
            <a:ext cx="1280160" cy="1261872"/>
          </a:xfrm>
          <a:prstGeom prst="rect">
            <a:avLst/>
          </a:prstGeom>
          <a:noFill/>
          <a:ln/>
        </p:spPr>
        <p:txBody>
          <a:bodyPr wrap="square" lIns="0" tIns="0" rIns="0" bIns="0" rtlCol="0" anchor="t"/>
          <a:lstStyle/>
          <a:p>
            <a:pPr algn="ctr" indent="0" marL="0">
              <a:buNone/>
            </a:pPr>
            <a:r>
              <a:rPr lang="en-US" sz="2400" b="1" dirty="0">
                <a:solidFill>
                  <a:srgbClr val="0F766E"/>
                </a:solidFill>
                <a:latin typeface="Cambria" pitchFamily="34" charset="0"/>
                <a:ea typeface="Cambria" pitchFamily="34" charset="-122"/>
                <a:cs typeface="Cambria" pitchFamily="34" charset="-120"/>
              </a:rPr>
              <a:t>4</a:t>
            </a:r>
            <a:endParaRPr lang="en-US" sz="1400" dirty="0"/>
          </a:p>
          <a:p>
            <a:pPr algn="ctr" indent="0" marL="0">
              <a:buNone/>
            </a:pPr>
            <a:r>
              <a:rPr lang="en-US" sz="1300" b="1" dirty="0">
                <a:solidFill>
                  <a:schemeClr val="tx2"/>
                </a:solidFill>
              </a:rPr>
              <a:t>Decide</a:t>
            </a:r>
            <a:endParaRPr lang="en-US" sz="1400" dirty="0"/>
          </a:p>
        </p:txBody>
      </p:sp>
      <p:sp>
        <p:nvSpPr>
          <p:cNvPr id="13" name="Step 4"/>
          <p:cNvSpPr/>
          <p:nvPr/>
        </p:nvSpPr>
        <p:spPr>
          <a:xfrm>
            <a:off x="6949440" y="1508760"/>
            <a:ext cx="1463040" cy="1371600"/>
          </a:xfrm>
          <a:prstGeom prst="roundRect">
            <a:avLst>
              <a:gd name="adj" fmla="val 5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Step 4 text"/>
          <p:cNvSpPr txBox="1"/>
          <p:nvPr/>
        </p:nvSpPr>
        <p:spPr>
          <a:xfrm>
            <a:off x="7040880" y="1572768"/>
            <a:ext cx="1280160" cy="1261872"/>
          </a:xfrm>
          <a:prstGeom prst="rect">
            <a:avLst/>
          </a:prstGeom>
          <a:noFill/>
          <a:ln/>
        </p:spPr>
        <p:txBody>
          <a:bodyPr wrap="square" lIns="0" tIns="0" rIns="0" bIns="0" rtlCol="0" anchor="t"/>
          <a:lstStyle/>
          <a:p>
            <a:pPr algn="ctr" indent="0" marL="0">
              <a:buNone/>
            </a:pPr>
            <a:r>
              <a:rPr lang="en-US" sz="2400" b="1" dirty="0">
                <a:solidFill>
                  <a:srgbClr val="1F2A44"/>
                </a:solidFill>
                <a:latin typeface="Cambria" pitchFamily="34" charset="0"/>
                <a:ea typeface="Cambria" pitchFamily="34" charset="-122"/>
                <a:cs typeface="Cambria" pitchFamily="34" charset="-120"/>
              </a:rPr>
              <a:t>5</a:t>
            </a:r>
            <a:endParaRPr lang="en-US" sz="1400" dirty="0"/>
          </a:p>
          <a:p>
            <a:pPr algn="ctr" indent="0" marL="0">
              <a:buNone/>
            </a:pPr>
            <a:r>
              <a:rPr lang="en-US" sz="1300" b="1" dirty="0">
                <a:solidFill>
                  <a:schemeClr val="tx2"/>
                </a:solidFill>
              </a:rPr>
              <a:t>Sequence by population</a:t>
            </a:r>
            <a:endParaRPr lang="en-US" sz="1400" dirty="0"/>
          </a:p>
        </p:txBody>
      </p:sp>
      <p:sp>
        <p:nvSpPr>
          <p:cNvPr id="15" name="Step 5"/>
          <p:cNvSpPr/>
          <p:nvPr/>
        </p:nvSpPr>
        <p:spPr>
          <a:xfrm>
            <a:off x="8549640" y="1508760"/>
            <a:ext cx="1463040" cy="1371600"/>
          </a:xfrm>
          <a:prstGeom prst="roundRect">
            <a:avLst>
              <a:gd name="adj" fmla="val 5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Step 5 text"/>
          <p:cNvSpPr txBox="1"/>
          <p:nvPr/>
        </p:nvSpPr>
        <p:spPr>
          <a:xfrm>
            <a:off x="8641080" y="1572768"/>
            <a:ext cx="1280160" cy="1261872"/>
          </a:xfrm>
          <a:prstGeom prst="rect">
            <a:avLst/>
          </a:prstGeom>
          <a:noFill/>
          <a:ln/>
        </p:spPr>
        <p:txBody>
          <a:bodyPr wrap="square" lIns="0" tIns="0" rIns="0" bIns="0" rtlCol="0" anchor="t"/>
          <a:lstStyle/>
          <a:p>
            <a:pPr algn="ctr" indent="0" marL="0">
              <a:buNone/>
            </a:pPr>
            <a:r>
              <a:rPr lang="en-US" sz="2400" b="1" dirty="0">
                <a:solidFill>
                  <a:srgbClr val="0F766E"/>
                </a:solidFill>
                <a:latin typeface="Cambria" pitchFamily="34" charset="0"/>
                <a:ea typeface="Cambria" pitchFamily="34" charset="-122"/>
                <a:cs typeface="Cambria" pitchFamily="34" charset="-120"/>
              </a:rPr>
              <a:t>6</a:t>
            </a:r>
            <a:endParaRPr lang="en-US" sz="1400" dirty="0"/>
          </a:p>
          <a:p>
            <a:pPr algn="ctr" indent="0" marL="0">
              <a:buNone/>
            </a:pPr>
            <a:r>
              <a:rPr lang="en-US" sz="1300" b="1" dirty="0">
                <a:solidFill>
                  <a:schemeClr val="tx2"/>
                </a:solidFill>
              </a:rPr>
              <a:t>Freeze and unlink</a:t>
            </a:r>
            <a:endParaRPr lang="en-US" sz="1400" dirty="0"/>
          </a:p>
        </p:txBody>
      </p:sp>
      <p:sp>
        <p:nvSpPr>
          <p:cNvPr id="17" name="Step 6"/>
          <p:cNvSpPr/>
          <p:nvPr/>
        </p:nvSpPr>
        <p:spPr>
          <a:xfrm>
            <a:off x="10149840" y="1508760"/>
            <a:ext cx="1463040" cy="1371600"/>
          </a:xfrm>
          <a:prstGeom prst="roundRect">
            <a:avLst>
              <a:gd name="adj" fmla="val 5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Step 6 text"/>
          <p:cNvSpPr txBox="1"/>
          <p:nvPr/>
        </p:nvSpPr>
        <p:spPr>
          <a:xfrm>
            <a:off x="10241280" y="1572768"/>
            <a:ext cx="1280160" cy="1261872"/>
          </a:xfrm>
          <a:prstGeom prst="rect">
            <a:avLst/>
          </a:prstGeom>
          <a:noFill/>
          <a:ln/>
        </p:spPr>
        <p:txBody>
          <a:bodyPr wrap="square" lIns="0" tIns="0" rIns="0" bIns="0" rtlCol="0" anchor="t"/>
          <a:lstStyle/>
          <a:p>
            <a:pPr algn="ctr" indent="0" marL="0">
              <a:buNone/>
            </a:pPr>
            <a:r>
              <a:rPr lang="en-US" sz="2400" b="1" dirty="0">
                <a:solidFill>
                  <a:srgbClr val="1F2A44"/>
                </a:solidFill>
                <a:latin typeface="Cambria" pitchFamily="34" charset="0"/>
                <a:ea typeface="Cambria" pitchFamily="34" charset="-122"/>
                <a:cs typeface="Cambria" pitchFamily="34" charset="-120"/>
              </a:rPr>
              <a:t>7</a:t>
            </a:r>
            <a:endParaRPr lang="en-US" sz="1400" dirty="0"/>
          </a:p>
          <a:p>
            <a:pPr algn="ctr" indent="0" marL="0">
              <a:buNone/>
            </a:pPr>
            <a:r>
              <a:rPr lang="en-US" sz="1300" b="1" dirty="0">
                <a:solidFill>
                  <a:schemeClr val="tx2"/>
                </a:solidFill>
              </a:rPr>
              <a:t>Retire</a:t>
            </a:r>
            <a:endParaRPr lang="en-US" sz="1400" dirty="0"/>
          </a:p>
        </p:txBody>
      </p:sp>
      <p:sp>
        <p:nvSpPr>
          <p:cNvPr id="19" name="Facts"/>
          <p:cNvSpPr txBox="1"/>
          <p:nvPr/>
        </p:nvSpPr>
        <p:spPr>
          <a:xfrm>
            <a:off x="548640" y="3063240"/>
            <a:ext cx="11109960" cy="173736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Each setting goes one of three ways: migrate to Intune, replace with a cloud-native pattern, or retire</a:t>
            </a:r>
            <a:endParaRPr lang="en-US" sz="1400" dirty="0"/>
          </a:p>
          <a:p>
            <a:pPr marL="342900" indent="-342900">
              <a:spcAft>
                <a:spcPts val="500"/>
              </a:spcAft>
              <a:buSzPct val="100000"/>
              <a:buChar char="•"/>
            </a:pPr>
            <a:r>
              <a:rPr lang="en-US" sz="1450" dirty="0">
                <a:solidFill>
                  <a:schemeClr val="tx2"/>
                </a:solidFill>
              </a:rPr>
              <a:t>During coexistence Group Policy wins by default; MDMWinsOverGP reverses that only for Policy CSP settings</a:t>
            </a:r>
            <a:endParaRPr lang="en-US" sz="1400" dirty="0"/>
          </a:p>
          <a:p>
            <a:pPr marL="342900" indent="-342900">
              <a:spcAft>
                <a:spcPts val="500"/>
              </a:spcAft>
              <a:buSzPct val="100000"/>
              <a:buChar char="•"/>
            </a:pPr>
            <a:r>
              <a:rPr lang="en-US" sz="1450" dirty="0">
                <a:solidFill>
                  <a:schemeClr val="tx2"/>
                </a:solidFill>
              </a:rPr>
              <a:t>Group Policy preferences can leave settings behind after unlinking — every preference item needs planned cleanup</a:t>
            </a:r>
            <a:endParaRPr lang="en-US" sz="1400" dirty="0"/>
          </a:p>
          <a:p>
            <a:pPr marL="342900" indent="-342900">
              <a:spcAft>
                <a:spcPts val="500"/>
              </a:spcAft>
              <a:buSzPct val="100000"/>
              <a:buChar char="•"/>
            </a:pPr>
            <a:r>
              <a:rPr lang="en-US" sz="1450" dirty="0">
                <a:solidFill>
                  <a:schemeClr val="tx2"/>
                </a:solidFill>
              </a:rPr>
              <a:t>Unlink one population at a time; don't block inheritance</a:t>
            </a:r>
            <a:endParaRPr lang="en-US" sz="1400" dirty="0"/>
          </a:p>
        </p:txBody>
      </p:sp>
      <p:sp>
        <p:nvSpPr>
          <p:cNvPr id="20" name="Analytics"/>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Filter"/>
          <p:cNvSpPr/>
          <p:nvPr/>
        </p:nvSpPr>
        <p:spPr>
          <a:xfrm>
            <a:off x="777240" y="5097780"/>
            <a:ext cx="731520" cy="731520"/>
          </a:xfrm>
          <a:prstGeom prst="ellipse">
            <a:avLst/>
          </a:prstGeom>
          <a:solidFill>
            <a:srgbClr val="B45309"/>
          </a:solidFill>
          <a:ln w="12700">
            <a:solidFill>
              <a:srgbClr val="B45309"/>
            </a:solidFill>
            <a:prstDash val="solid"/>
          </a:ln>
        </p:spPr>
      </p:sp>
      <p:pic>
        <p:nvPicPr>
          <p:cNvPr id="22" name="Image 0" descr="C:\Users\whale\git\mwb-b05\presentations\_build\icons\FaFilter.png">    </p:cNvPr>
          <p:cNvPicPr>
            <a:picLocks noChangeAspect="1"/>
          </p:cNvPicPr>
          <p:nvPr/>
        </p:nvPicPr>
        <p:blipFill>
          <a:blip r:embed="rId1"/>
          <a:stretch>
            <a:fillRect/>
          </a:stretch>
        </p:blipFill>
        <p:spPr>
          <a:xfrm>
            <a:off x="952805" y="5273345"/>
            <a:ext cx="380390" cy="380390"/>
          </a:xfrm>
          <a:prstGeom prst="rect">
            <a:avLst/>
          </a:prstGeom>
        </p:spPr>
      </p:pic>
      <p:sp>
        <p:nvSpPr>
          <p:cNvPr id="23" name="Analytics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45309"/>
                </a:solidFill>
              </a:rPr>
              <a:t>Measure, don't assume: </a:t>
            </a:r>
            <a:pPr indent="0" marL="0">
              <a:buNone/>
            </a:pPr>
            <a:r>
              <a:rPr lang="en-US" sz="1650" dirty="0">
                <a:solidFill>
                  <a:schemeClr val="tx2"/>
                </a:solidFill>
              </a:rPr>
              <a:t>Microsoft publishes no typical percentage of settings that migrate — run Group Policy analytics against the estate's own GPO exports.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Group Policy analytics, MDMWinsOverGP, Group Policy preferences. Book 05, Chapter 07 and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Migrate the fleet in seven phases, about 34 weeks</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3108960"/>
                <a:gridCol w="1554480"/>
                <a:gridCol w="3291840"/>
              </a:tblGrid>
              <a:tr h="36576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Phase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Duration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Exit gate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02336">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1 Inventory and classify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3–5 wk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decision record for every setting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2 Coexistence planning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2–3 wk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Pilot devices co-managed and syncing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3 Baseline authoring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3–4 wk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Every setting owned by exactly one policy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4 Pilot (about 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4–6 wk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unexplained conflicts; tests pass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5 Workload cutover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8–12 wk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Four waves, each watched 72 hours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6 Verification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~2 wk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migrated device processes a GPO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7 Retirement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~2 wk + 90 days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GPOs archived and deleted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loor box"/>
          <p:cNvSpPr/>
          <p:nvPr/>
        </p:nvSpPr>
        <p:spPr>
          <a:xfrm>
            <a:off x="8641080" y="1371600"/>
            <a:ext cx="3017520" cy="3182112"/>
          </a:xfrm>
          <a:prstGeom prst="roundRect">
            <a:avLst>
              <a:gd name="adj" fmla="val 242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Laptop"/>
          <p:cNvSpPr/>
          <p:nvPr/>
        </p:nvSpPr>
        <p:spPr>
          <a:xfrm>
            <a:off x="8869680" y="1554480"/>
            <a:ext cx="566928" cy="566928"/>
          </a:xfrm>
          <a:prstGeom prst="ellipse">
            <a:avLst/>
          </a:prstGeom>
          <a:solidFill>
            <a:srgbClr val="B45309"/>
          </a:solidFill>
          <a:ln w="12700">
            <a:solidFill>
              <a:srgbClr val="B45309"/>
            </a:solidFill>
            <a:prstDash val="solid"/>
          </a:ln>
        </p:spPr>
      </p:sp>
      <p:pic>
        <p:nvPicPr>
          <p:cNvPr id="8" name="Image 0" descr="C:\Users\whale\git\mwb-b05\presentations\_build\icons\FaLaptop.png">    </p:cNvPr>
          <p:cNvPicPr>
            <a:picLocks noChangeAspect="1"/>
          </p:cNvPicPr>
          <p:nvPr/>
        </p:nvPicPr>
        <p:blipFill>
          <a:blip r:embed="rId1"/>
          <a:stretch>
            <a:fillRect/>
          </a:stretch>
        </p:blipFill>
        <p:spPr>
          <a:xfrm>
            <a:off x="9005743" y="1690543"/>
            <a:ext cx="294803" cy="294803"/>
          </a:xfrm>
          <a:prstGeom prst="rect">
            <a:avLst/>
          </a:prstGeom>
        </p:spPr>
      </p:pic>
      <p:sp>
        <p:nvSpPr>
          <p:cNvPr id="9" name="Floor text"/>
          <p:cNvSpPr txBox="1"/>
          <p:nvPr/>
        </p:nvSpPr>
        <p:spPr>
          <a:xfrm>
            <a:off x="8869680" y="2240280"/>
            <a:ext cx="2606040" cy="219456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The floor</a:t>
            </a:r>
            <a:endParaRPr lang="en-US" sz="1400" dirty="0"/>
          </a:p>
          <a:p>
            <a:pPr indent="0" marL="0">
              <a:buNone/>
            </a:pPr>
            <a:r>
              <a:rPr lang="en-US" sz="1400" dirty="0">
                <a:solidFill>
                  <a:schemeClr val="tx2"/>
                </a:solidFill>
              </a:rPr>
              <a:t>Windows 11 24H2. Windows 10 is out of support, and 23H2 Enterprise stops getting updates on November 10, 2026.</a:t>
            </a:r>
            <a:endParaRPr lang="en-US" sz="1400" dirty="0"/>
          </a:p>
        </p:txBody>
      </p:sp>
      <p:sp>
        <p:nvSpPr>
          <p:cNvPr id="10" name="Estimates"/>
          <p:cNvSpPr/>
          <p:nvPr/>
        </p:nvSpPr>
        <p:spPr>
          <a:xfrm>
            <a:off x="548640" y="4800600"/>
            <a:ext cx="11109960" cy="1143000"/>
          </a:xfrm>
          <a:prstGeom prst="roundRect">
            <a:avLst>
              <a:gd name="adj" fmla="val 6400"/>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1" name="Icon FaClipboardCheck"/>
          <p:cNvSpPr/>
          <p:nvPr/>
        </p:nvSpPr>
        <p:spPr>
          <a:xfrm>
            <a:off x="777240" y="5006340"/>
            <a:ext cx="731520" cy="731520"/>
          </a:xfrm>
          <a:prstGeom prst="ellipse">
            <a:avLst/>
          </a:prstGeom>
          <a:solidFill>
            <a:srgbClr val="64748B"/>
          </a:solidFill>
          <a:ln w="12700">
            <a:solidFill>
              <a:srgbClr val="64748B"/>
            </a:solidFill>
            <a:prstDash val="solid"/>
          </a:ln>
        </p:spPr>
      </p:sp>
      <p:pic>
        <p:nvPicPr>
          <p:cNvPr id="12" name="Image 1" descr="C:\Users\whale\git\mwb-b05\presentations\_build\icons\FaClipboardCheck.png">    </p:cNvPr>
          <p:cNvPicPr>
            <a:picLocks noChangeAspect="1"/>
          </p:cNvPicPr>
          <p:nvPr/>
        </p:nvPicPr>
        <p:blipFill>
          <a:blip r:embed="rId2"/>
          <a:stretch>
            <a:fillRect/>
          </a:stretch>
        </p:blipFill>
        <p:spPr>
          <a:xfrm>
            <a:off x="952805" y="5181905"/>
            <a:ext cx="380390" cy="380390"/>
          </a:xfrm>
          <a:prstGeom prst="rect">
            <a:avLst/>
          </a:prstGeom>
        </p:spPr>
      </p:pic>
      <p:sp>
        <p:nvSpPr>
          <p:cNvPr id="13" name="Estimates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64748B"/>
                </a:solidFill>
              </a:rPr>
              <a:t>Planning estimates, not promises: </a:t>
            </a:r>
            <a:pPr indent="0" marL="0">
              <a:buNone/>
            </a:pPr>
            <a:r>
              <a:rPr lang="en-US" sz="1650" dirty="0">
                <a:solidFill>
                  <a:schemeClr val="tx2"/>
                </a:solidFill>
              </a:rPr>
              <a:t>durations are for a large fleet with an existing Configuration Manager estate; every gate is the next phase's precondition, and every phase has a rollback while it's open.</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co-management workloads, Windows lifecycle. Book 05,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Servers under Azure Arc, and the dates that matter</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Icon FaServer"/>
          <p:cNvSpPr/>
          <p:nvPr/>
        </p:nvSpPr>
        <p:spPr>
          <a:xfrm>
            <a:off x="548640" y="1508760"/>
            <a:ext cx="566928" cy="566928"/>
          </a:xfrm>
          <a:prstGeom prst="ellipse">
            <a:avLst/>
          </a:prstGeom>
          <a:solidFill>
            <a:srgbClr val="1F2A44"/>
          </a:solidFill>
          <a:ln w="12700">
            <a:solidFill>
              <a:srgbClr val="1F2A44"/>
            </a:solidFill>
            <a:prstDash val="solid"/>
          </a:ln>
        </p:spPr>
      </p:sp>
      <p:pic>
        <p:nvPicPr>
          <p:cNvPr id="6" name="Image 0" descr="C:\Users\whale\git\mwb-b05\presentations\_build\icons\FaServer.png">    </p:cNvPr>
          <p:cNvPicPr>
            <a:picLocks noChangeAspect="1"/>
          </p:cNvPicPr>
          <p:nvPr/>
        </p:nvPicPr>
        <p:blipFill>
          <a:blip r:embed="rId1"/>
          <a:stretch>
            <a:fillRect/>
          </a:stretch>
        </p:blipFill>
        <p:spPr>
          <a:xfrm>
            <a:off x="684703" y="1644823"/>
            <a:ext cx="294803" cy="294803"/>
          </a:xfrm>
          <a:prstGeom prst="rect">
            <a:avLst/>
          </a:prstGeom>
        </p:spPr>
      </p:pic>
      <p:sp>
        <p:nvSpPr>
          <p:cNvPr id="7" name="Srv 0"/>
          <p:cNvSpPr txBox="1"/>
          <p:nvPr/>
        </p:nvSpPr>
        <p:spPr>
          <a:xfrm>
            <a:off x="1280160" y="1463040"/>
            <a:ext cx="5120640" cy="932688"/>
          </a:xfrm>
          <a:prstGeom prst="rect">
            <a:avLst/>
          </a:prstGeom>
          <a:noFill/>
          <a:ln/>
        </p:spPr>
        <p:txBody>
          <a:bodyPr wrap="square" lIns="0" tIns="0" rIns="0" bIns="0" rtlCol="0" anchor="t"/>
          <a:lstStyle/>
          <a:p>
            <a:pPr indent="0" marL="0">
              <a:buNone/>
            </a:pPr>
            <a:r>
              <a:rPr lang="en-US" sz="1650" b="1" dirty="0">
                <a:solidFill>
                  <a:srgbClr val="1F2A44"/>
                </a:solidFill>
              </a:rPr>
              <a:t>Onboard with least privilege</a:t>
            </a:r>
            <a:endParaRPr lang="en-US" sz="1400" dirty="0"/>
          </a:p>
          <a:p>
            <a:pPr indent="0" marL="0">
              <a:buNone/>
            </a:pPr>
            <a:r>
              <a:rPr lang="en-US" sz="1400" dirty="0">
                <a:solidFill>
                  <a:schemeClr val="tx2"/>
                </a:solidFill>
              </a:rPr>
              <a:t>Connected Machine agent; certificate-based onboarding identity used only at connect time</a:t>
            </a:r>
            <a:endParaRPr lang="en-US" sz="1400" dirty="0"/>
          </a:p>
        </p:txBody>
      </p:sp>
      <p:sp>
        <p:nvSpPr>
          <p:cNvPr id="8" name="Icon FaListCheck"/>
          <p:cNvSpPr/>
          <p:nvPr/>
        </p:nvSpPr>
        <p:spPr>
          <a:xfrm>
            <a:off x="548640" y="2532888"/>
            <a:ext cx="566928" cy="566928"/>
          </a:xfrm>
          <a:prstGeom prst="ellipse">
            <a:avLst/>
          </a:prstGeom>
          <a:solidFill>
            <a:srgbClr val="0F766E"/>
          </a:solidFill>
          <a:ln w="12700">
            <a:solidFill>
              <a:srgbClr val="0F766E"/>
            </a:solidFill>
            <a:prstDash val="solid"/>
          </a:ln>
        </p:spPr>
      </p:sp>
      <p:pic>
        <p:nvPicPr>
          <p:cNvPr id="9" name="Image 1" descr="C:\Users\whale\git\mwb-b05\presentations\_build\icons\FaListCheck.png">    </p:cNvPr>
          <p:cNvPicPr>
            <a:picLocks noChangeAspect="1"/>
          </p:cNvPicPr>
          <p:nvPr/>
        </p:nvPicPr>
        <p:blipFill>
          <a:blip r:embed="rId2"/>
          <a:stretch>
            <a:fillRect/>
          </a:stretch>
        </p:blipFill>
        <p:spPr>
          <a:xfrm>
            <a:off x="684703" y="2668951"/>
            <a:ext cx="294803" cy="294803"/>
          </a:xfrm>
          <a:prstGeom prst="rect">
            <a:avLst/>
          </a:prstGeom>
        </p:spPr>
      </p:pic>
      <p:sp>
        <p:nvSpPr>
          <p:cNvPr id="10" name="Srv 1"/>
          <p:cNvSpPr txBox="1"/>
          <p:nvPr/>
        </p:nvSpPr>
        <p:spPr>
          <a:xfrm>
            <a:off x="1280160" y="2487168"/>
            <a:ext cx="5120640" cy="932688"/>
          </a:xfrm>
          <a:prstGeom prst="rect">
            <a:avLst/>
          </a:prstGeom>
          <a:noFill/>
          <a:ln/>
        </p:spPr>
        <p:txBody>
          <a:bodyPr wrap="square" lIns="0" tIns="0" rIns="0" bIns="0" rtlCol="0" anchor="t"/>
          <a:lstStyle/>
          <a:p>
            <a:pPr indent="0" marL="0">
              <a:buNone/>
            </a:pPr>
            <a:r>
              <a:rPr lang="en-US" sz="1650" b="1" dirty="0">
                <a:solidFill>
                  <a:srgbClr val="0F766E"/>
                </a:solidFill>
              </a:rPr>
              <a:t>Configure through Azure Policy</a:t>
            </a:r>
            <a:endParaRPr lang="en-US" sz="1400" dirty="0"/>
          </a:p>
          <a:p>
            <a:pPr indent="0" marL="0">
              <a:buNone/>
            </a:pPr>
            <a:r>
              <a:rPr lang="en-US" sz="1400" dirty="0">
                <a:solidFill>
                  <a:schemeClr val="tx2"/>
                </a:solidFill>
              </a:rPr>
              <a:t>Machine configuration baselines, assigned by scope</a:t>
            </a:r>
            <a:endParaRPr lang="en-US" sz="1400" dirty="0"/>
          </a:p>
        </p:txBody>
      </p:sp>
      <p:sp>
        <p:nvSpPr>
          <p:cNvPr id="11" name="Icon FaShieldHalved"/>
          <p:cNvSpPr/>
          <p:nvPr/>
        </p:nvSpPr>
        <p:spPr>
          <a:xfrm>
            <a:off x="548640" y="3557016"/>
            <a:ext cx="566928" cy="566928"/>
          </a:xfrm>
          <a:prstGeom prst="ellipse">
            <a:avLst/>
          </a:prstGeom>
          <a:solidFill>
            <a:srgbClr val="B45309"/>
          </a:solidFill>
          <a:ln w="12700">
            <a:solidFill>
              <a:srgbClr val="B45309"/>
            </a:solidFill>
            <a:prstDash val="solid"/>
          </a:ln>
        </p:spPr>
      </p:sp>
      <p:pic>
        <p:nvPicPr>
          <p:cNvPr id="12" name="Image 2" descr="C:\Users\whale\git\mwb-b05\presentations\_build\icons\FaShieldHalved.png">    </p:cNvPr>
          <p:cNvPicPr>
            <a:picLocks noChangeAspect="1"/>
          </p:cNvPicPr>
          <p:nvPr/>
        </p:nvPicPr>
        <p:blipFill>
          <a:blip r:embed="rId3"/>
          <a:stretch>
            <a:fillRect/>
          </a:stretch>
        </p:blipFill>
        <p:spPr>
          <a:xfrm>
            <a:off x="684703" y="3693079"/>
            <a:ext cx="294803" cy="294803"/>
          </a:xfrm>
          <a:prstGeom prst="rect">
            <a:avLst/>
          </a:prstGeom>
        </p:spPr>
      </p:pic>
      <p:sp>
        <p:nvSpPr>
          <p:cNvPr id="13" name="Srv 2"/>
          <p:cNvSpPr txBox="1"/>
          <p:nvPr/>
        </p:nvSpPr>
        <p:spPr>
          <a:xfrm>
            <a:off x="1280160" y="3511296"/>
            <a:ext cx="5120640" cy="932688"/>
          </a:xfrm>
          <a:prstGeom prst="rect">
            <a:avLst/>
          </a:prstGeom>
          <a:noFill/>
          <a:ln/>
        </p:spPr>
        <p:txBody>
          <a:bodyPr wrap="square" lIns="0" tIns="0" rIns="0" bIns="0" rtlCol="0" anchor="t"/>
          <a:lstStyle/>
          <a:p>
            <a:pPr indent="0" marL="0">
              <a:buNone/>
            </a:pPr>
            <a:r>
              <a:rPr lang="en-US" sz="1650" b="1" dirty="0">
                <a:solidFill>
                  <a:srgbClr val="B45309"/>
                </a:solidFill>
              </a:rPr>
              <a:t>Patch and protect</a:t>
            </a:r>
            <a:endParaRPr lang="en-US" sz="1400" dirty="0"/>
          </a:p>
          <a:p>
            <a:pPr indent="0" marL="0">
              <a:buNone/>
            </a:pPr>
            <a:r>
              <a:rPr lang="en-US" sz="1400" dirty="0">
                <a:solidFill>
                  <a:schemeClr val="tx2"/>
                </a:solidFill>
              </a:rPr>
              <a:t>Update Manager and Defender for Servers</a:t>
            </a:r>
            <a:endParaRPr lang="en-US" sz="1400" dirty="0"/>
          </a:p>
        </p:txBody>
      </p:sp>
      <p:sp>
        <p:nvSpPr>
          <p:cNvPr id="14" name="Date 0"/>
          <p:cNvSpPr/>
          <p:nvPr/>
        </p:nvSpPr>
        <p:spPr>
          <a:xfrm>
            <a:off x="6720840" y="1463040"/>
            <a:ext cx="4937760" cy="1371600"/>
          </a:xfrm>
          <a:prstGeom prst="roundRect">
            <a:avLst>
              <a:gd name="adj" fmla="val 533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Date 0 text"/>
          <p:cNvSpPr txBox="1"/>
          <p:nvPr/>
        </p:nvSpPr>
        <p:spPr>
          <a:xfrm>
            <a:off x="6949440" y="1600200"/>
            <a:ext cx="4572000" cy="1143000"/>
          </a:xfrm>
          <a:prstGeom prst="rect">
            <a:avLst/>
          </a:prstGeom>
          <a:noFill/>
          <a:ln/>
        </p:spPr>
        <p:txBody>
          <a:bodyPr wrap="square" lIns="0" tIns="0" rIns="0" bIns="0" rtlCol="0" anchor="t"/>
          <a:lstStyle/>
          <a:p>
            <a:pPr indent="0" marL="0">
              <a:buNone/>
            </a:pPr>
            <a:r>
              <a:rPr lang="en-US" sz="1900" b="1" dirty="0">
                <a:solidFill>
                  <a:srgbClr val="B91C1C"/>
                </a:solidFill>
                <a:latin typeface="Cambria" pitchFamily="34" charset="0"/>
                <a:ea typeface="Cambria" pitchFamily="34" charset="-122"/>
                <a:cs typeface="Cambria" pitchFamily="34" charset="-120"/>
              </a:rPr>
              <a:t>October 13, 2026</a:t>
            </a:r>
            <a:endParaRPr lang="en-US" sz="1400" dirty="0"/>
          </a:p>
          <a:p>
            <a:pPr indent="0" marL="0">
              <a:buNone/>
            </a:pPr>
            <a:r>
              <a:rPr lang="en-US" sz="1450" dirty="0">
                <a:solidFill>
                  <a:schemeClr val="tx2"/>
                </a:solidFill>
              </a:rPr>
              <a:t>Windows Server 2012 / 2012 R2 extended security updates ended</a:t>
            </a:r>
            <a:endParaRPr lang="en-US" sz="1400" dirty="0"/>
          </a:p>
        </p:txBody>
      </p:sp>
      <p:sp>
        <p:nvSpPr>
          <p:cNvPr id="16" name="Date 1"/>
          <p:cNvSpPr/>
          <p:nvPr/>
        </p:nvSpPr>
        <p:spPr>
          <a:xfrm>
            <a:off x="6720840" y="3017520"/>
            <a:ext cx="4937760" cy="1371600"/>
          </a:xfrm>
          <a:prstGeom prst="roundRect">
            <a:avLst>
              <a:gd name="adj" fmla="val 533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7" name="Date 1 text"/>
          <p:cNvSpPr txBox="1"/>
          <p:nvPr/>
        </p:nvSpPr>
        <p:spPr>
          <a:xfrm>
            <a:off x="6949440" y="3154680"/>
            <a:ext cx="4572000" cy="1143000"/>
          </a:xfrm>
          <a:prstGeom prst="rect">
            <a:avLst/>
          </a:prstGeom>
          <a:noFill/>
          <a:ln/>
        </p:spPr>
        <p:txBody>
          <a:bodyPr wrap="square" lIns="0" tIns="0" rIns="0" bIns="0" rtlCol="0" anchor="t"/>
          <a:lstStyle/>
          <a:p>
            <a:pPr indent="0" marL="0">
              <a:buNone/>
            </a:pPr>
            <a:r>
              <a:rPr lang="en-US" sz="1900" b="1" dirty="0">
                <a:solidFill>
                  <a:srgbClr val="B45309"/>
                </a:solidFill>
                <a:latin typeface="Cambria" pitchFamily="34" charset="0"/>
                <a:ea typeface="Cambria" pitchFamily="34" charset="-122"/>
                <a:cs typeface="Cambria" pitchFamily="34" charset="-120"/>
              </a:rPr>
              <a:t>January 12, 2027</a:t>
            </a:r>
            <a:endParaRPr lang="en-US" sz="1400" dirty="0"/>
          </a:p>
          <a:p>
            <a:pPr indent="0" marL="0">
              <a:buNone/>
            </a:pPr>
            <a:r>
              <a:rPr lang="en-US" sz="1450" dirty="0">
                <a:solidFill>
                  <a:schemeClr val="tx2"/>
                </a:solidFill>
              </a:rPr>
              <a:t>Windows Server 2016 reaches end of support</a:t>
            </a:r>
            <a:endParaRPr lang="en-US" sz="1400" dirty="0"/>
          </a:p>
        </p:txBody>
      </p:sp>
      <p:sp>
        <p:nvSpPr>
          <p:cNvPr id="18" name="Rollback"/>
          <p:cNvSpPr/>
          <p:nvPr/>
        </p:nvSpPr>
        <p:spPr>
          <a:xfrm>
            <a:off x="548640" y="4846320"/>
            <a:ext cx="11109960" cy="1143000"/>
          </a:xfrm>
          <a:prstGeom prst="roundRect">
            <a:avLst>
              <a:gd name="adj" fmla="val 6400"/>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9" name="Icon FaArrowsRotate"/>
          <p:cNvSpPr/>
          <p:nvPr/>
        </p:nvSpPr>
        <p:spPr>
          <a:xfrm>
            <a:off x="777240" y="5052060"/>
            <a:ext cx="731520" cy="731520"/>
          </a:xfrm>
          <a:prstGeom prst="ellipse">
            <a:avLst/>
          </a:prstGeom>
          <a:solidFill>
            <a:srgbClr val="64748B"/>
          </a:solidFill>
          <a:ln w="12700">
            <a:solidFill>
              <a:srgbClr val="64748B"/>
            </a:solidFill>
            <a:prstDash val="solid"/>
          </a:ln>
        </p:spPr>
      </p:sp>
      <p:pic>
        <p:nvPicPr>
          <p:cNvPr id="20" name="Image 3" descr="C:\Users\whale\git\mwb-b05\presentations\_build\icons\FaArrowsRotate.png">    </p:cNvPr>
          <p:cNvPicPr>
            <a:picLocks noChangeAspect="1"/>
          </p:cNvPicPr>
          <p:nvPr/>
        </p:nvPicPr>
        <p:blipFill>
          <a:blip r:embed="rId4"/>
          <a:stretch>
            <a:fillRect/>
          </a:stretch>
        </p:blipFill>
        <p:spPr>
          <a:xfrm>
            <a:off x="952805" y="5227625"/>
            <a:ext cx="380390" cy="380390"/>
          </a:xfrm>
          <a:prstGeom prst="rect">
            <a:avLst/>
          </a:prstGeom>
        </p:spPr>
      </p:pic>
      <p:sp>
        <p:nvSpPr>
          <p:cNvPr id="21" name="Rollback text"/>
          <p:cNvSpPr txBox="1"/>
          <p:nvPr/>
        </p:nvSpPr>
        <p:spPr>
          <a:xfrm>
            <a:off x="1737360" y="4892040"/>
            <a:ext cx="9738360" cy="1051560"/>
          </a:xfrm>
          <a:prstGeom prst="rect">
            <a:avLst/>
          </a:prstGeom>
          <a:noFill/>
          <a:ln/>
        </p:spPr>
        <p:txBody>
          <a:bodyPr wrap="square" lIns="0" tIns="0" rIns="0" bIns="0" rtlCol="0" anchor="ctr"/>
          <a:lstStyle/>
          <a:p>
            <a:pPr indent="0" marL="0">
              <a:buNone/>
            </a:pPr>
            <a:r>
              <a:rPr lang="en-US" sz="1650" b="1" dirty="0">
                <a:solidFill>
                  <a:srgbClr val="64748B"/>
                </a:solidFill>
              </a:rPr>
              <a:t>Rollback in the right order: </a:t>
            </a:r>
            <a:pPr indent="0" marL="0">
              <a:buNone/>
            </a:pPr>
            <a:r>
              <a:rPr lang="en-US" sz="1650" dirty="0">
                <a:solidFill>
                  <a:schemeClr val="tx2"/>
                </a:solidFill>
              </a:rPr>
              <a:t>remove extensions before disconnecting the agent — disconnect deletes the Azure resource, which the onboarding role isn't allowed to do.</a:t>
            </a:r>
            <a:endParaRPr lang="en-US" sz="16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Azure Arc onboarding, machine configuration, Windows Server lifecycle and ESUs. Book 05,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 it, prove it, and what we need</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un head"/>
          <p:cNvSpPr txBox="1"/>
          <p:nvPr/>
        </p:nvSpPr>
        <p:spPr>
          <a:xfrm>
            <a:off x="548640" y="1417320"/>
            <a:ext cx="5852160" cy="274320"/>
          </a:xfrm>
          <a:prstGeom prst="rect">
            <a:avLst/>
          </a:prstGeom>
          <a:noFill/>
          <a:ln/>
        </p:spPr>
        <p:txBody>
          <a:bodyPr wrap="square" lIns="0" tIns="0" rIns="0" bIns="0" rtlCol="0" anchor="t"/>
          <a:lstStyle/>
          <a:p>
            <a:pPr indent="0" marL="0">
              <a:buNone/>
            </a:pPr>
            <a:r>
              <a:rPr lang="en-US" sz="1200" b="1" dirty="0">
                <a:solidFill>
                  <a:srgbClr val="64748B"/>
                </a:solidFill>
              </a:rPr>
              <a:t>RUN-STATE THE BOOK DEFINES</a:t>
            </a:r>
            <a:endParaRPr lang="en-US" sz="1200" dirty="0"/>
          </a:p>
        </p:txBody>
      </p:sp>
      <p:sp>
        <p:nvSpPr>
          <p:cNvPr id="6" name="Run list"/>
          <p:cNvSpPr txBox="1"/>
          <p:nvPr/>
        </p:nvSpPr>
        <p:spPr>
          <a:xfrm>
            <a:off x="548640" y="1783080"/>
            <a:ext cx="576072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Compliance feeds Conditional Access (Book 04)</a:t>
            </a:r>
            <a:endParaRPr lang="en-US" sz="1400" dirty="0"/>
          </a:p>
          <a:p>
            <a:pPr marL="342900" indent="-342900">
              <a:spcAft>
                <a:spcPts val="800"/>
              </a:spcAft>
              <a:buSzPct val="100000"/>
              <a:buChar char="•"/>
            </a:pPr>
            <a:r>
              <a:rPr lang="en-US" sz="1500" dirty="0">
                <a:solidFill>
                  <a:schemeClr val="tx2"/>
                </a:solidFill>
              </a:rPr>
              <a:t>Updates through rings and Autopatch; evidence from Intune and Autopatch reports in GCC</a:t>
            </a:r>
            <a:endParaRPr lang="en-US" sz="1400" dirty="0"/>
          </a:p>
          <a:p>
            <a:pPr marL="342900" indent="-342900">
              <a:spcAft>
                <a:spcPts val="800"/>
              </a:spcAft>
              <a:buSzPct val="100000"/>
              <a:buChar char="•"/>
            </a:pPr>
            <a:r>
              <a:rPr lang="en-US" sz="1500" dirty="0">
                <a:solidFill>
                  <a:schemeClr val="tx2"/>
                </a:solidFill>
              </a:rPr>
              <a:t>Inventory reconciled across Entra ID, Intune, Autopilot, Arc and the CMDB</a:t>
            </a:r>
            <a:endParaRPr lang="en-US" sz="1400" dirty="0"/>
          </a:p>
          <a:p>
            <a:pPr marL="342900" indent="-342900">
              <a:spcAft>
                <a:spcPts val="800"/>
              </a:spcAft>
              <a:buSzPct val="100000"/>
              <a:buChar char="•"/>
            </a:pPr>
            <a:r>
              <a:rPr lang="en-US" sz="1500" dirty="0">
                <a:solidFill>
                  <a:schemeClr val="tx2"/>
                </a:solidFill>
              </a:rPr>
              <a:t>Retire and wipe devices before the account is deleted</a:t>
            </a:r>
            <a:endParaRPr lang="en-US" sz="1400" dirty="0"/>
          </a:p>
          <a:p>
            <a:pPr marL="342900" indent="-342900">
              <a:spcAft>
                <a:spcPts val="800"/>
              </a:spcAft>
              <a:buSzPct val="100000"/>
              <a:buChar char="•"/>
            </a:pPr>
            <a:r>
              <a:rPr lang="en-US" sz="1500" dirty="0">
                <a:solidFill>
                  <a:schemeClr val="tx2"/>
                </a:solidFill>
              </a:rPr>
              <a:t>Evidence mapped to CM-2, CM-6, CM-7, CM-8 and SI-2</a:t>
            </a:r>
            <a:endParaRPr lang="en-US" sz="1400" dirty="0"/>
          </a:p>
        </p:txBody>
      </p:sp>
      <p:sp>
        <p:nvSpPr>
          <p:cNvPr id="7" name="Ask box"/>
          <p:cNvSpPr/>
          <p:nvPr/>
        </p:nvSpPr>
        <p:spPr>
          <a:xfrm>
            <a:off x="6629400" y="1417320"/>
            <a:ext cx="50292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UserCheck"/>
          <p:cNvSpPr/>
          <p:nvPr/>
        </p:nvSpPr>
        <p:spPr>
          <a:xfrm>
            <a:off x="6858000" y="1600200"/>
            <a:ext cx="640080" cy="640080"/>
          </a:xfrm>
          <a:prstGeom prst="ellipse">
            <a:avLst/>
          </a:prstGeom>
          <a:solidFill>
            <a:srgbClr val="0F766E"/>
          </a:solidFill>
          <a:ln w="12700">
            <a:solidFill>
              <a:srgbClr val="0F766E"/>
            </a:solidFill>
            <a:prstDash val="solid"/>
          </a:ln>
        </p:spPr>
      </p:sp>
      <p:pic>
        <p:nvPicPr>
          <p:cNvPr id="9" name="Image 0" descr="C:\Users\whale\git\mwb-b05\presentations\_build\icons\FaUserCheck.png">    </p:cNvPr>
          <p:cNvPicPr>
            <a:picLocks noChangeAspect="1"/>
          </p:cNvPicPr>
          <p:nvPr/>
        </p:nvPicPr>
        <p:blipFill>
          <a:blip r:embed="rId1"/>
          <a:stretch>
            <a:fillRect/>
          </a:stretch>
        </p:blipFill>
        <p:spPr>
          <a:xfrm>
            <a:off x="7011619" y="1753819"/>
            <a:ext cx="332842" cy="332842"/>
          </a:xfrm>
          <a:prstGeom prst="rect">
            <a:avLst/>
          </a:prstGeom>
        </p:spPr>
      </p:pic>
      <p:sp>
        <p:nvSpPr>
          <p:cNvPr id="10" name="Ask head"/>
          <p:cNvSpPr txBox="1"/>
          <p:nvPr/>
        </p:nvSpPr>
        <p:spPr>
          <a:xfrm>
            <a:off x="7635240" y="1600200"/>
            <a:ext cx="3840480" cy="640080"/>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What we need</a:t>
            </a:r>
            <a:endParaRPr lang="en-US" sz="1900" dirty="0"/>
          </a:p>
        </p:txBody>
      </p:sp>
      <p:sp>
        <p:nvSpPr>
          <p:cNvPr id="11" name="Ask text"/>
          <p:cNvSpPr txBox="1"/>
          <p:nvPr/>
        </p:nvSpPr>
        <p:spPr>
          <a:xfrm>
            <a:off x="6858000" y="2331720"/>
            <a:ext cx="4617720" cy="228600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Approve Intune-first for every new device</a:t>
            </a:r>
            <a:endParaRPr lang="en-US" sz="1400" dirty="0"/>
          </a:p>
          <a:p>
            <a:pPr marL="342900" indent="-342900">
              <a:spcAft>
                <a:spcPts val="700"/>
              </a:spcAft>
              <a:buSzPct val="100000"/>
              <a:buChar char="•"/>
            </a:pPr>
            <a:r>
              <a:rPr lang="en-US" sz="1450" dirty="0">
                <a:solidFill>
                  <a:schemeClr val="tx2"/>
                </a:solidFill>
              </a:rPr>
              <a:t>Fund the GPO inventory and Group Policy analytics run</a:t>
            </a:r>
            <a:endParaRPr lang="en-US" sz="1400" dirty="0"/>
          </a:p>
          <a:p>
            <a:pPr marL="342900" indent="-342900">
              <a:spcAft>
                <a:spcPts val="700"/>
              </a:spcAft>
              <a:buSzPct val="100000"/>
              <a:buChar char="•"/>
            </a:pPr>
            <a:r>
              <a:rPr lang="en-US" sz="1450" dirty="0">
                <a:solidFill>
                  <a:schemeClr val="tx2"/>
                </a:solidFill>
              </a:rPr>
              <a:t>Set the Windows 11 24H2 floor and a server end-of-support plan</a:t>
            </a:r>
            <a:endParaRPr lang="en-US" sz="1400" dirty="0"/>
          </a:p>
          <a:p>
            <a:pPr marL="342900" indent="-342900">
              <a:spcAft>
                <a:spcPts val="700"/>
              </a:spcAft>
              <a:buSzPct val="100000"/>
              <a:buChar char="•"/>
            </a:pPr>
            <a:r>
              <a:rPr lang="en-US" sz="1450" dirty="0">
                <a:solidFill>
                  <a:schemeClr val="tx2"/>
                </a:solidFill>
              </a:rPr>
              <a:t>Name the owners: endpoint, server, security</a:t>
            </a:r>
            <a:endParaRPr lang="en-US" sz="1400" dirty="0"/>
          </a:p>
        </p:txBody>
      </p:sp>
      <p:sp>
        <p:nvSpPr>
          <p:cNvPr id="12" name="Next"/>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3" name="Icon FaBook"/>
          <p:cNvSpPr/>
          <p:nvPr/>
        </p:nvSpPr>
        <p:spPr>
          <a:xfrm>
            <a:off x="777240" y="5074920"/>
            <a:ext cx="731520" cy="731520"/>
          </a:xfrm>
          <a:prstGeom prst="ellipse">
            <a:avLst/>
          </a:prstGeom>
          <a:solidFill>
            <a:srgbClr val="1F2A44"/>
          </a:solidFill>
          <a:ln w="12700">
            <a:solidFill>
              <a:srgbClr val="1F2A44"/>
            </a:solidFill>
            <a:prstDash val="solid"/>
          </a:ln>
        </p:spPr>
      </p:sp>
      <p:pic>
        <p:nvPicPr>
          <p:cNvPr id="14" name="Image 1" descr="C:\Users\whale\git\mwb-b05\presentations\_build\icons\FaBook.png">    </p:cNvPr>
          <p:cNvPicPr>
            <a:picLocks noChangeAspect="1"/>
          </p:cNvPicPr>
          <p:nvPr/>
        </p:nvPicPr>
        <p:blipFill>
          <a:blip r:embed="rId2"/>
          <a:stretch>
            <a:fillRect/>
          </a:stretch>
        </p:blipFill>
        <p:spPr>
          <a:xfrm>
            <a:off x="952805" y="5250485"/>
            <a:ext cx="380390" cy="380390"/>
          </a:xfrm>
          <a:prstGeom prst="rect">
            <a:avLst/>
          </a:prstGeom>
        </p:spPr>
      </p:pic>
      <p:sp>
        <p:nvSpPr>
          <p:cNvPr id="15" name="Next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Read next: </a:t>
            </a:r>
            <a:pPr indent="0" marL="0">
              <a:buNone/>
            </a:pPr>
            <a:r>
              <a:rPr lang="en-US" sz="1650" dirty="0">
                <a:solidFill>
                  <a:schemeClr val="tx2"/>
                </a:solidFill>
              </a:rPr>
              <a:t>Book 05 for the full migration, every claim footnoted; Book 04 for what a compliant device may reach; Book 02 for the identity it rests on.</a:t>
            </a:r>
            <a:endParaRPr lang="en-US" sz="16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Microsoft Learn: Group Policy processing and precedence; Intune policy conflicts and device check-in; Group Policy analytics.</a:t>
            </a:r>
            <a:endParaRPr lang="en-US" sz="1400" dirty="0"/>
          </a:p>
          <a:p>
            <a:pPr marL="342900" indent="-342900">
              <a:spcAft>
                <a:spcPts val="600"/>
              </a:spcAft>
              <a:buSzPct val="100000"/>
              <a:buChar char="•"/>
            </a:pPr>
            <a:r>
              <a:rPr lang="en-US" sz="1300" dirty="0">
                <a:solidFill>
                  <a:schemeClr val="tx2"/>
                </a:solidFill>
              </a:rPr>
              <a:t>Microsoft Learn: Plan your Microsoft Entra device deployment (join types); Windows Autopilot and hybrid join guidance.</a:t>
            </a:r>
            <a:endParaRPr lang="en-US" sz="1400" dirty="0"/>
          </a:p>
          <a:p>
            <a:pPr marL="342900" indent="-342900">
              <a:spcAft>
                <a:spcPts val="600"/>
              </a:spcAft>
              <a:buSzPct val="100000"/>
              <a:buChar char="•"/>
            </a:pPr>
            <a:r>
              <a:rPr lang="en-US" sz="1300" dirty="0">
                <a:solidFill>
                  <a:schemeClr val="tx2"/>
                </a:solidFill>
              </a:rPr>
              <a:t>Microsoft Learn: Intune supported operating systems; MDMWinsOverGP (Policy CSP); Group Policy preferences behavior.</a:t>
            </a:r>
            <a:endParaRPr lang="en-US" sz="1400" dirty="0"/>
          </a:p>
          <a:p>
            <a:pPr marL="342900" indent="-342900">
              <a:spcAft>
                <a:spcPts val="600"/>
              </a:spcAft>
              <a:buSzPct val="100000"/>
              <a:buChar char="•"/>
            </a:pPr>
            <a:r>
              <a:rPr lang="en-US" sz="1300" dirty="0">
                <a:solidFill>
                  <a:schemeClr val="tx2"/>
                </a:solidFill>
              </a:rPr>
              <a:t>Microsoft Learn: Azure Arc–enabled servers onboarding; Azure Policy machine configuration; Update Manager; Defender for Servers.</a:t>
            </a:r>
            <a:endParaRPr lang="en-US" sz="1400" dirty="0"/>
          </a:p>
          <a:p>
            <a:pPr marL="342900" indent="-342900">
              <a:spcAft>
                <a:spcPts val="600"/>
              </a:spcAft>
              <a:buSzPct val="100000"/>
              <a:buChar char="•"/>
            </a:pPr>
            <a:r>
              <a:rPr lang="en-US" sz="1300" dirty="0">
                <a:solidFill>
                  <a:schemeClr val="tx2"/>
                </a:solidFill>
              </a:rPr>
              <a:t>Microsoft Learn: Windows Server 2012/2012 R2 and 2016 lifecycle and extended security updates; Windows 11 lifecycle.</a:t>
            </a:r>
            <a:endParaRPr lang="en-US" sz="1400" dirty="0"/>
          </a:p>
          <a:p>
            <a:pPr marL="342900" indent="-342900">
              <a:spcAft>
                <a:spcPts val="600"/>
              </a:spcAft>
              <a:buSzPct val="100000"/>
              <a:buChar char="•"/>
            </a:pPr>
            <a:r>
              <a:rPr lang="en-US" sz="1300" dirty="0">
                <a:solidFill>
                  <a:schemeClr val="tx2"/>
                </a:solidFill>
              </a:rPr>
              <a:t>Microsoft Learn: Configuration Manager co-management workloads; Windows Autopatch; Windows Update for Business reports (GCC).</a:t>
            </a:r>
            <a:endParaRPr lang="en-US" sz="1400" dirty="0"/>
          </a:p>
          <a:p>
            <a:pPr marL="342900" indent="-342900">
              <a:spcAft>
                <a:spcPts val="600"/>
              </a:spcAft>
              <a:buSzPct val="100000"/>
              <a:buChar char="•"/>
            </a:pPr>
            <a:r>
              <a:rPr lang="en-US" sz="1300" dirty="0">
                <a:solidFill>
                  <a:schemeClr val="tx2"/>
                </a:solidFill>
              </a:rPr>
              <a:t>Microsoft Learn: Intune role-based access control.  ·  NIST SP 800-53 Rev. 5 (CM-2, CM-6, CM-7, CM-8, SI-2).</a:t>
            </a:r>
            <a:endParaRPr lang="en-US" sz="1400" dirty="0"/>
          </a:p>
          <a:p>
            <a:pPr marL="342900" indent="-342900">
              <a:spcAft>
                <a:spcPts val="600"/>
              </a:spcAft>
              <a:buSzPct val="100000"/>
              <a:buChar char="•"/>
            </a:pPr>
            <a:r>
              <a:rPr lang="en-US" sz="1300" dirty="0">
                <a:solidFill>
                  <a:schemeClr val="tx2"/>
                </a:solidFill>
              </a:rPr>
              <a:t>Full footnotes with links and access dates: Book 05, every chapter (whalermike.github.io/modernization-workbook/docs/books/b05-devices/).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Modernization Workbook">
  <a:themeElements>
    <a:clrScheme name="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05 — Devices &amp; Endpoints</dc:title>
  <dc:subject>PptxGenJS Presentation</dc:subject>
  <dc:creator>Mike Stratton</dc:creator>
  <cp:lastModifiedBy>Mike Stratton</cp:lastModifiedBy>
  <cp:revision>1</cp:revision>
  <dcterms:created xsi:type="dcterms:W3CDTF">2026-10-20T19:13:41Z</dcterms:created>
  <dcterms:modified xsi:type="dcterms:W3CDTF">2026-10-20T19:13:41Z</dcterms:modified>
</cp:coreProperties>
</file>