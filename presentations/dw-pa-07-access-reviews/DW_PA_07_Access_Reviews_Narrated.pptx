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7A281C-2E3E-A62B-D254-18A94DA607FE}">
          <p14:sldIdLst>
            <p14:sldId id="256"/>
          </p14:sldIdLst>
        </p14:section>
        <p14:section name="Why" id="{2EFEA90A-1506-36F6-E78A-B01C4E95F230}">
          <p14:sldIdLst>
            <p14:sldId id="257"/>
            <p14:sldId id="258"/>
          </p14:sldIdLst>
        </p14:section>
        <p14:section name="What" id="{143F0BC3-6CDA-9DD7-4F97-D429222AACA7}">
          <p14:sldIdLst>
            <p14:sldId id="259"/>
            <p14:sldId id="260"/>
            <p14:sldId id="261"/>
            <p14:sldId id="262"/>
            <p14:sldId id="263"/>
            <p14:sldId id="264"/>
            <p14:sldId id="265"/>
            <p14:sldId id="266"/>
            <p14:sldId id="267"/>
          </p14:sldIdLst>
        </p14:section>
        <p14:section name="Who" id="{B1E1AAFE-CBB6-522C-4D68-8CDB751D77E9}">
          <p14:sldIdLst>
            <p14:sldId id="268"/>
          </p14:sldIdLst>
        </p14:section>
        <p14:section name="How" id="{E55E9A37-5FF3-36FA-C685-C5527D86D8D7}">
          <p14:sldIdLst>
            <p14:sldId id="269"/>
            <p14:sldId id="270"/>
            <p14:sldId id="271"/>
            <p14:sldId id="272"/>
            <p14:sldId id="273"/>
          </p14:sldIdLst>
        </p14:section>
        <p14:section name="Backup" id="{2FCEC565-6946-32C2-E539-E3EFB64E2B5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870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7: access reviews of privileged roles. Eligibility only ever grows unless someone confirms it on a calendar, so this chapter makes the reviews code: one file says who reviews which role and when, a dry run shows the change, and the decisions come back as evidence. We'll start from Learn's tutorial for reviewing administrative roles, see what it leaves to you, then walk the series, the checks, the evidence, two labs and the dangers. One note before we begin: the code is illustrative, tested against fixtures.
Detail: The chapter delivers the code behind the plan's tasks A2.7 and A3.7: "first monthly review of Tier 0 eligibility and PRV-T0 membership closed," then "first quarterly review cycle closed for Tier 1, Tier 2 and read-only roles." It starts with Learn's tutorial for reviewing administrative roles through the access reviews API, pinned in the repository, and runs its requests offline against a fake Graph to see what it does and leaves out. Then it uses examples/privileged-access for the rest: review series for Microsoft Entra roles, PIM for Groups groups and Azure roles held as reviewed JSON, checked against the program's rules, compared with the tenant in a dry run, written only with -Apply, and read back as evidence. Lab 1 runs on a laptop with no tenant; Lab 2 uses a test tenant.
Sources: Microsoft Learn, "Review access to administrative roles using access reviews APIs," https://learn.microsoft.com/graph/tutorial-accessreviews-roleassignments (accessed Oct 30, 2026). ·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reviews at all? The approval gate from the earlier chapters controls when privilege is used. Reviews control who keeps the right to use it. Without them, eligibility only grows. Book 04 sets the schedule: the most sensitive tier every month, the rest every quarter, with access removed when reviewers stay silent. And why as code? Because a review set up by hand drifts. Someone leaves, a duration gets shortened, auto-apply is switched off once and never back on. In code, every series has a file, a diff and a reviewer.
Detail: The approval gate controls the use of privilege; reviews control who keeps the eligibility. Book 04, Chapter 08's Step 8 creates one recurring review per role, Tier 0 monthly and the rest quarterly, with auto-apply on and "remove access" when reviewers don't respond. Chapter 09's schedule adds the PRV-* group reviews and the fallback reviewers, and warns that a role held by a group shows the group, not its members. Book 04, Chapter 10 makes review definitions one of the object classes held in the repository. Learn's own deployment plan lists Global Administrator, Privileged Authentication Administrator, Conditional Access Administrator and Security Administrator among the roles to review regularly, permanent and eligible assignments both. A review set up by hand drifts. A reviewer leaves, a duration is shortened, auto-apply is switched off for one cycle and never back on. Held as code, each series has a file, a diff and a reviewer, and Chapter 08 (planned) can compare the tenant with it.
Sources: Microsoft Learn, "Plan a Microsoft Entra access reviews deployment," plan review of Microsoft Entra ID and Azure resource roles; use the access reviews API, https://learn.microsoft.com/entra/id-governance/deploy-access-reviews (accessed Oct 30, 2026).
Workbook: Building Privileged Access, Chapter 07 — “Why reviews, and why as code”.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questions next: what does it cost, and where does it run. Access reviews belong to Entra ID Governance. Learn's tutorial says the P2 license or Governance will do, but the licensing page asks for Governance for everyone who reviews or is reviewed, so the program budgets for the stricter one. As for the cloud, this estate's GCC tenant uses the worldwide Graph endpoint, and its Azure is commercial. The Graph review APIs are listed for the government clouds too. The Azure role reviews, though, run on a preview API, and their government availability isn't confirmed.
Detail: Access reviews are a feature of Microsoft Entra ID Governance. Learn's licensing page asks for Microsoft Entra ID Governance for every member user who reviews access or has it reviewed, with some capabilities still working on Microsoft Entra ID P2, and reviews of PIM for Groups (preview) need Governance. Learn's tutorial asks only for P2 or Governance. The program follows the stricter page: budget Governance for every reviewer and every reviewed privileged user. Reviews of service principals also need Microsoft Entra Workload ID Premium. Microsoft Entra ID Governance is available in GCC, GCC High and DoD. The Graph access reviews APIs used here list the global service, US Government L4 and US Government L5 (DoD). Microsoft 365 GCC uses the worldwide endpoints, login.microsoftonline.com and graph.microsoft.com, and this program's Azure is commercial, management.azure.com. GCC High uses graph.microsoft.us and DoD dod-graph.microsoft.us. The code takes the cloud by name and has no default. Azure role reviews go through a Resource Manager API that Learn publishes only in preview versions; whether it is available in Azure Government wasn't confirmed (research gaps, row 72).
Sources: Microsoft Learn, "Overview of access reviews APIs," role and application permission authorization checks, https://learn.microsoft.com/graph/api/resources/accessreviewsv2-overview?view=graph-rest-1.0 (accessed Oct 30, 2026). · Microsoft Learn, "Microsoft Entra ID Governance licensing fundamentals," features by license and access reviews, https://learn.microsoft.com/entra/id-governance/licensing-fundamentals (accessed Oct 30, 2026). · Microsoft Learn, "Review access to administrative roles using access reviews APIs," https://learn.microsoft.com/graph/tutorial-accessreviews-roleassignments (accessed Oct 30, 2026). · Microsoft Learn, "Create an access review of Azure resource and Microsoft Entra roles in PIM," https://learn.microsoft.com/entra/id-governance/privileged-identity-management/pim-create-roles-and-resource-roles-review (accessed Oct 30, 2026). · Microsoft Learn, "Microsoft Entra feature availability," other Microsoft Entra products, https://learn.microsoft.com/entra/identity/authentication/feature-availability (accessed Oct 30, 2026). · Microsoft Learn, "Create definitions," permissions and request body, https://learn.microsoft.com/graph/api/accessreviewset-post-definitions?view=graph-rest-1.0 (accessed Oct 30, 2026). · Microsoft Learn, "List decisions," https://learn.microsoft.com/graph/api/accessreviewinstance-list-decisions?view=graph-rest-1.0 (accessed Oct 30, 2026). · Microsoft Learn, "Microsoft Graph national cloud deployments," https://learn.microsoft.com/graph/deployments (accessed Oct 30, 2026). · Microsoft Learn, "Microsoft.Authorization accessReviewScheduleDefinitions 2021-12-01-preview" (ARM template reference, version list), https://learn.microsoft.com/azure/templates/microsoft.authorization/2021-12-01-preview/accessreviewscheduledefinitions (accessed Oct 30, 2026).
Workbook: Building Privileged Access, Chapter 07 — “What it costs, and where it runs”; “Verified facts” — the license.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tutorial walks through the whole life of one review: create a recurring review of one administrator role, list its instances and decisions, approve one person and deny another, apply the decisions, pull a history report, and delete the review. It also makes a useful point: one review covers one role. The requests only exist inside the web page, so the repository pins the page's source, unmodified, with hashes a test checks. Then the tests send the tutorial's request to a fake Graph, so you can see what it really does.
Detail: Learn's tutorial Review access to administrative roles using access reviews APIs is Microsoft's sample for this task. It creates a recurring review of the users and groups with active or eligible assignments to one Microsoft Entra role (User Administrator), lists its instances and decisions, records an approval and a denial, applies them, generates a review history report, and deletes the review. It notes that one review covers one role, so several roles need several reviews. Learn's scope and reviewer articles give the other documented query shapes: eligible-only and active-only role queries, group members, and groups as reviewers. The requests exist only inside the Learn page, so the repository pins the page's source, unmodified, in examples/third_party/graph-access-reviews-roles-tutorial: concepts/tutorial-accessreviews-roleassignments.md from microsoftgraph/microsoft-graph-docs-contrib at commit a693031 (October 30, 2026), with the repository's licenses, CC BY 4.0 for documentation and MIT for code. snapshot.json records each file's SHA-256 and upstream git blob hash; a unit test checks them, and the weekly source watch reports new commits to the page. tests/AccessReviewsSampleHarness.ps1 extracts the page's HTTP requests and their JSON bodies as published. The first block of tests/AccessReviews.Tests.ps1 sends the create request to the example's fake Graph and checks the rest of the page's requests as text. Nothing is sent to a tenant.
Sources: Microsoft Learn, "Review access to administrative roles using access reviews APIs," https://learn.microsoft.com/graph/tutorial-accessreviews-roleassignments (accessed Oct 30, 2026). · Microsoft Learn, "Configure access review scope by using Microsoft Graph APIs," examples 1, 11 and 12, https://learn.microsoft.com/graph/accessreviews-scope-concept (accessed Oct 30, 2026). · Microsoft Learn, "Configure access reviewers using access reviews APIs," https://learn.microsoft.com/graph/accessreviews-reviewers-concept (accessed Oct 30, 2026). ·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against the fake, the tutorial shows its limits quickly. It sends a create request every time without reading first, so run it twice and you get two reviews with the same name, and your evidence splits in two. It names a single person as reviewer, with no fallback, so one departure stalls the review. It sets no default decision and no auto-apply, so silence keeps privilege, and a denial changes nothing until someone applies it by hand. And its schedule, one day every three months, isn't the program's. The code keeps the tutorial's scope and fixes the rest.
Detail: Each row is pinned by a test in the Chapter 07 sample block of tests/AccessReviews.Tests.ps1. Row 1: one role per review, a principalResourceMembershipsScope over /users and /groups and one roleDefinitions/{id} resource, active and eligible; kept, with the /groups principal scope left out: a role series reviews users, and each group that holds the role has its own membership series (the owner's decision). Row 2: requests on a hard-coded https://graph.microsoft.com; GCC High and DoD use other hosts; the cloud table from Chapter 01, by name, no default. Row 3: a POST each run, with no read first; run twice, the fake holds two series of the same name; reviewers get two reviews, and evidence splits; a dry run that reads first and says Create, Update, Replace or NoChange; two series with one name stop -Apply (PA-AR-12). Row 4: one user as reviewer, no fallback reviewer; one person leaving stops the review; reviewer groups, a fallback always (PA-AR-01, PA-AR-02). Row 5: no default decision and no auto-apply; Step 5 applies decisions by hand; silence keeps privilege, and a denial changes nothing until someone applies it; auto-apply and "Deny" on silence, the program's setting (PA-AR-05, PA-AR-07), with one exception for the emergency accounts (PA-AR-06). Row 6: one day, every three months, from a start date in 2024; not the program's cadence, and a past start date starts the first instance at once; Tier 0 monthly, the rest quarterly, 14 days (PA-AR-04, PA-AR-09, PA-AR-10).
Sources: Microsoft Learn, "Review access to administrative roles using access reviews APIs," https://learn.microsoft.com/graph/tutorial-accessreviews-roleassignments (accessed Oct 30, 2026). ·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“What it leaves to you,” rows 1–6.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evidence and permission. The tutorial gives reviewers no instructions, though the API marks that field required. It collects evidence by writing a report and handing you a link that expires in a day, and its report may not even include the review it made. It never touches Azure roles or the privileged groups, two of the program's three targets. And it uses the write permission for everything, even reads. So the verdict: keep the tutorial's scope as the model, but don't run it as published.
Detail: Row 7: no descriptionForReviewers, which the create API marks required; reviewers get no instructions; required, at most 256 characters (PA-AR-03); the example's checks flag five gaps in the tutorial's body. Row 8: evidence through a POST to historyDefinitions and a download link that lasts 24 hours; a write permission to collect evidence, and a link that expires; instances and decisions read with GET under AccessReview.Read.All into decisions.csv, with a manifest. Row 9: the history report filters on roleAssignmentScheduleInstances, which the Step 1 scope never names; the report may not include the review the tutorial made (research gaps, row 76); evidence reads each configured series by name. Row 10: no Azure role, no PIM for Groups group; two of the program's three review targets; Azure role series through Resource Manager (preview), group membership series. Row 11: AccessReview.ReadWrite.All for every step, reads included; a read-only job holds a write permission; three tasks, each with its own least-privileged permission. The verdict: keep the tutorial's scope as the model for a role review, Learn's documented shape for active and eligible assignments, and review the groups in it through their own series. Don't run the sample as published: it reviews one role once a quarter with nobody to step in, and leaves every decision for someone to apply.
Sources: Microsoft Learn, "Create definitions," permissions and request body, https://learn.microsoft.com/graph/api/accessreviewset-post-definitions?view=graph-rest-1.0 (accessed Oct 30, 2026). · Microsoft Learn, "Review access to administrative roles using access reviews APIs," https://learn.microsoft.com/graph/tutorial-accessreviews-roleassignments (accessed Oct 30, 2026).
Workbook: Building Privileged Access, Chapter 07 — “What it leaves to you,” rows 7–11;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 a new module, and unlike the earlier chapters, it can write to a tenant, but only with the apply switch, only what the dry run listed, and it never deletes. One file holds every series. Each has a managed name prefix, a kind, a tier, a cadence, reviewers, a fallback and instructions for reviewers. The fixture's seven series follow Book 04's schedule: role reviews, reviews of the privileged groups, and one Azure role. Notice the first row: Global Administrator makes no change on silence. We'll see why in a moment.
Detail: This chapter adds a module of its own, powershell/PaAccessReviews/PaAccessReviews.psm1, the entry script Invoke-PaAccessReviews.ps1, the call list config/calls-ch07.json, and notes in docs/ch07.md. It imports Chapter 01's cloud table and changes nothing in Chapter 01's or 02's code. Unlike those chapters, this code can write to a tenant. It writes only with -Apply, only what the dry run lists, and never deletes. One file holds every series. Each review has a name with the managed prefix (PAR-), a kind, a tier, a cadence, reviewers, fallback reviewers and a description for reviewers; defaults hold the rest. Read-PaArConfig refuses a reviewer named by UPN, a name without the prefix, a name used twice, and anything that isn't an object ID where one belongs. The fixture's seven series follow Book 04, Chapter 09's schedule (design guidance): PAR-T0-GlobalAdministrator-Monthly, Entra role, users active and eligible, monthly, 14 days, PIM-Approvers-T0 with the governance office as fallback, no change on silence (PA-AR-06). PAR-T0-PrivilegedRoleAdministrator-Monthly, Entra role, same scope, monthly, same reviewers, Deny. PAR-T1-ExchangeAdministrator-Quarterly, Entra role, same scope, quarterly, PIM-Approvers-T1 and the governance office, Deny. PAR-PRV-T0-GlobalAdmin-Monthly, PIM for Groups group (preview), transitive members of PRV-T0-GlobalAdmin, monthly, the governance office and the Privileged Role Administrator group, Deny. PAR-PRV-T0-PrivRoleAdmin-Monthly, PIM for Groups group (preview), transitive members of PRV-T0-PrivRoleAdmin, monthly, same, Deny. PAR-PRV-T1-ExchangeAdmin-Quarterly, PIM for Groups group (preview), transitive members of PRV-T1-ExchangeAdmin, quarterly, same, Deny. PAR-AZ-T0-Owner-Platform-Monthly, Azure role (preview API), eligible Owner at a platform subscription, monthly, named users, Deny.
Sources: Building Privileged Access, Chapter 07, docs/project-plans/developer-workbooks/privileged-access/07-access-reviews-of-privileged-roles.md
Workbook: Building Privileged Access, Chapter 07 — “The code: examples/privileged-access”; “The reviewed JSON”.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body is built only from shapes Learn documents. A role series reviews users. The groups that hold the role aren't reviewed inside it; each gets its own membership series, which matches Book 04's pairing of every role review with a review of its privileged group. Group reviews cover the group's members, a feature still in preview. Azure role reviews go to Resource Manager on a preview version, and their reviewers must be people or service principals, not groups. One honest gap: Learn's request table doesn't list some fields the code sets, so Lab 2 checks they take effect.
Detail: New-PaArDefinitionBody builds each body from Learn's documented shapes only. A Microsoft Entra role series covers users. By default it uses the tutorial's scope with its /groups principal scope left out, so users with active or eligible assignments are in it; eligible and active use the scope article's Example 12.2 queries, which Learn documents for users only. Groups that hold the role are reviewed through their own PIM for Groups membership series, not through the role review: that is the owner's decision (research gaps, row 73), and it matches Book 04, Appendix B's pairing of each role review with a review of its PRV-* group. Each role series lists the groups that hold the role (eligibleGroupIds), and the plan raises PA-AR-14 for any of them without a membership series. A PIM for Groups group uses Example 1, the group's transitive members; Learn's admin center page says a review of a PIM for Groups group covers its eligible and active members, and that feature is in preview. A reviewer group becomes /groups/{id}/transitiveMembers, the reviewers article's Example 3. Settings set auto-apply, the no-response default, justification, reminders and recommendations, with removeAccessApplyAction, the default action. The recurrence uses only type, interval and dayOfMonth, the properties Learn says are supported. An Azure role series goes to Resource Manager, Microsoft.Authorization/accessReviewScheduleDefinitions at a subscription, API version 2021-12-01-preview; Learn lists only preview versions. Its reviewers are principal IDs of users or service principals, not groups, and the scope names the subscription, the role definition, the principal type and eligible or active. The definition ID is a GUID derived from the series name, so a rerun PUTs the same resource. Learn's request-body table for that PUT lists only the optional scope fields (exclusions, nested memberships, inactive duration, inherited access), not the four the code sets, resourceId, roleDefinitionId, principalType and assignmentState; only the response model has those. Lab 2 confirms they take effect (research gaps, row 71).
Sources: Microsoft Learn, "Configure access review scope by using Microsoft Graph APIs," examples 1, 11 and 12, https://learn.microsoft.com/graph/accessreviews-scope-concept (accessed Oct 30, 2026). · Microsoft Learn, "Create an access review of PIM for Groups in Microsoft Entra ID (preview)," https://learn.microsoft.com/entra/id-governance/create-access-review-pim-for-groups (accessed Oct 30, 2026). · Microsoft Learn, "Configure access reviewers using access reviews APIs," https://learn.microsoft.com/graph/accessreviews-reviewers-concept (accessed Oct 30, 2026). · Microsoft Learn, "accessReviewScheduleSettings resource type," https://learn.microsoft.com/graph/api/resources/accessreviewschedulesettings?view=graph-rest-1.0 (accessed Oct 30, 2026). · Microsoft Learn, "Access Review Schedule Definitions - Create Or Update By Id" (REST, Authorization, 2021-12-01-preview), https://learn.microsoft.com/rest/api/authorization/access-review-schedule-definitions/create-or-update-by-id?view=rest-authorization-2021-12-01-preview (accessed Oct 31, 2026). · Microsoft Learn, "Microsoft.Authorization accessReviewScheduleDefinitions 2021-12-01-preview" (ARM template reference, version list), https://learn.microsoft.com/azure/templates/microsoft.authorization/2021-12-01-preview/accessreviewscheduledefinitions (accessed Oct 30, 2026). · Microsoft Learn, "Access Review Schedule Definitions - List" (REST, Authorization, 2021-12-01-preview), https://learn.microsoft.com/rest/api/authorization/access-review-schedule-definitions/list?view=rest-authorization-2021-12-01-preview (accessed Oct 30, 2026).
Workbook: Building Privileged Access, Chapter 07 — “The bodies”.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the code runs on every body it builds, and on any Graph body, including Learn's own. Some come straight from Learn: an empty reviewer list is a self-review, reviewers need instructions, a monthly review can't run longer than twenty-seven days, and Azure series can't use group reviewers. Others are the program's design: auto-apply on, justification required, the right cadence per tier, no duplicate names, and every privileged group paired with its own review. One rule, about the emergency accounts, deserves its own slide.
Detail: Test-PaArDefinition runs on every body the code builds, and on any Graph body, including Learn's sample. PA-AR-01 Finding: no reviewers, Graph treats that as a self-review (Learn; design guidance: assignees never review themselves). PA-AR-02 Finding: no fallback reviewer (Learn requires one for PIM for Groups reviews by owners; design guidance for the rest). PA-AR-03 Finding: descriptionForReviewers missing or over 256 characters (Learn). PA-AR-04 Finding: a monthly review longer than 27 days, a weekly one longer than 7 (Learn). PA-AR-05 Finding: auto-apply off (design guidance, Book 04, Chapter 08). PA-AR-06 Finding: "Deny" or "Recommendation" on silence over active assignments of a role the emergency access accounts hold (Global Administrator by default) (Learn's caution that auto-apply with a default decision can revoke all access; design guidance). PA-AR-07 Warn; Info: the no-response default isn't "Deny" (Warn); not "Deny" on purpose because of PA-AR-06 (Info) (design guidance, Book 04, Chapter 09). PA-AR-08 Finding: justification not required (design guidance). PA-AR-09 Finding: Tier 0 not monthly, or another tier not quarterly (design guidance, decision D-A6). PA-AR-10 Warn: a start date in the past (design guidance). PA-AR-11 Finding: a group as reviewer of an Azure role series (Learn: users and service principals only). PA-AR-12 Finding: two series in the tenant share a name (design guidance). PA-AR-13 Warn: a series with the managed prefix that the JSON doesn't list (design guidance: the code never deletes). PA-AR-14 Finding: a group that holds a reviewed role has no membership series of its own (the owner's decision, research gaps, row 73). Where Learn's pages differ on the longest review: the PIM page caps a monthly review at 27 days; the Graph settings page sets no cap. PA-AR-04 applies the cap to every monthly series.
Sources: Microsoft Learn, "Configure access reviewers using access reviews APIs," https://learn.microsoft.com/graph/accessreviews-reviewers-concept (accessed Oct 30, 2026). · Microsoft Learn, "Create an access review of PIM for Groups in Microsoft Entra ID (preview)," https://learn.microsoft.com/entra/id-governance/create-access-review-pim-for-groups (accessed Oct 30, 2026). · Microsoft Learn, "Create definitions," permissions and request body, https://learn.microsoft.com/graph/api/accessreviewset-post-definitions?view=graph-rest-1.0 (accessed Oct 30, 2026). · Microsoft Learn, "Create an access review of Azure resource and Microsoft Entra roles in PIM," https://learn.microsoft.com/entra/id-governance/privileged-identity-management/pim-create-roles-and-resource-roles-review (accessed Oct 30, 2026). · Microsoft Learn, "accessReviewScheduleSettings resource type," https://learn.microsoft.com/graph/api/resources/accessreviewschedulesettings?view=graph-rest-1.0 (accessed Oct 30, 2026). · Microsoft Learn, "Access Review Schedule Definitions - List" (REST, Authorization, 2021-12-01-preview), https://learn.microsoft.com/rest/api/authorization/access-review-schedule-definitions/list?view=rest-authorization-2021-12-01-preview (accessed Oct 30, 2026).
Workbook: Building Privileged Access, Chapter 07 — “The checks”; “Verified facts” — the longest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place the code deliberately overrides the program's own setting, and it ties straight back to Chapter 2. The emergency accounts hold Global Administrator permanently. A monthly review of that role, set to remove access on silence with auto-apply on, would quietly remove them the first month reviewers miss. Learn itself warns that the combination can revoke all access. So that one series makes no change on silence, and anything left unreviewed turns into an evidence finding instead. Every other series still removes access when reviewers stay silent.
Detail: PA-AR-06 is the one guard that changes the program's setting. The emergency accounts hold Global Administrator as permanent active assignments (Chapter 02). A review of Global Administrator that covers active assignments, with "remove access" on silence and auto-apply on, removes them if the reviewers miss one month. So a review that covers the emergency accounts' permanent Global Administrator uses "no change" on silence, and an unreviewed item becomes an evidence finding instead (PA-AR-E04). Every other privileged series removes access on silence. That is the owner's decision (research gaps, row 74), and Book 04, Chapter 08's Step 8 records the exception. The Graph settings page: auto-apply defaults to false; the default decision can be Approve, Deny or Recommendation; and it cautions that both together can revoke all access.
Sources: Microsoft Learn, "accessReviewScheduleSettings resource type," https://learn.microsoft.com/graph/api/resources/accessreviewschedulesettings?view=graph-rest-1.0 (accessed Oct 30, 2026).
Workbook: Building Privileged Access, Chapter 07 — “The checks” — PA-AR-06.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dry run reads the tenant first, matches each series by name, and compares only what the file sets, ignoring defaults Graph adds on its own. Each series gets an action. New ones are created. Changed settings are updated in place, for future reviews only. But if the scope changes, Learn's update API won't take it, so the code marks it for replacement and leaves that to a person, because deleting a review deletes its decisions, and those are evidence. And the apply refuses to run at all while the plan has any finding.
Detail: Get-PaArPlan reads the tenant with GET only, matches each series by name, and compares only the properties the JSON sets, ignoring the defaults Graph adds and a /v1.0 or /beta prefix on queries. Listing by name is deliberate: $filter isn't supported on principalResourceMembershipsScope. Each series gets an action. Create: not in the tenant. Update: settings, descriptions, fallback reviewers or user reviewers differ; the update is a PUT of the full object, and it applies only to future instances. Replace: the scope differs, or reviewers that are groups differ; the update API doesn't take a new scope, and takes new reviewers only when they are individual users; the code leaves these to a person. NoChange, Unmanaged (prefix, not in the JSON), Conflict (name used twice). Invoke-PaArApply without -Apply returns what it would send. With -Apply it refuses a plan that has any Finding, POSTs each Create, PUTs each Update with its ID, sends Azure series only with -IncludePreview, never deletes, and reads the series back. Replace needs a person on purpose: deleting a definition deletes its instances and decisions, which are evidence, so export them first.
Sources: Microsoft Learn, "List definitions," permissions and the $filter query parameter, https://learn.microsoft.com/graph/api/accessreviewset-list-definitions?view=graph-rest-1.0 (accessed Oct 30, 2026). · Microsoft Learn, "Update accessReviewScheduleDefinition," https://learn.microsoft.com/graph/api/accessreviewscheduledefinition-update?view=graph-rest-1.0 (accessed Oct 30, 2026). · Microsoft Learn, "Review access to administrative roles using access reviews APIs," https://learn.microsoft.com/graph/tutorial-accessreviews-roleassignments (accessed Oct 30, 2026).
Workbook: Building Privileged Access, Chapter 07 — “The dry run, the diff and -Apply”.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only matter if you can prove they happened, so the last piece reads every decision back, for the ISSO. Each decision becomes a row: who was reviewed, what was decided, by whom, when, and whether it was actually applied. Then come the checks an assessor cares about: a series that's missing or overdue, a denial that didn't take effect, silence deciding for a sensitive role, approvals with no reason, someone reviewing their own access, a burst of identical clicks, and an emergency account denied. The rows name people, so treat the folder as evidence.
Detail: Get-PaArEvidence reads each configured series, its instances, and every decision, asking for $top=100 and following the next link, or $skip if a full page comes back without one; Learn documents a default page of 100 and $skip and $top paging (research gaps, row 77). Each decision becomes a row: review, tier, instance and its dates, principal, decision, recommendation, justification, reviewer, review time and apply result. Decision values: Approve, Deny, NotReviewed, DontKnow; applyResult values: New, AppliedSuccessfully, AppliedWithUnknownFailure, AppliedSuccessfullyButObjectNotFound, ApplyNotSupported. Azure decisions have applyResult and reviewedBy.principalId (preview). Then the checks an ISSO reads: PA-AR-E01 Finding, a configured series isn't in the tenant. PA-AR-E02 Finding, no closed instance within 35 days (monthly) or 100 days (quarterly). PA-AR-E03 Finding, a denial whose apply result isn't AppliedSuccessfully or AppliedSuccessfullyButObjectNotFound. PA-AR-E04 Finding (Tier 0) or Warn, not reviewed in a closed instance: the no-response default decided. PA-AR-E05 Finding, approved without a justification. PA-AR-E06 Finding, a principal reviewed their own access. PA-AR-E07 Warn, one reviewer recorded five or more identical decisions within five minutes (design guidance, Book 04, Chapter 09's bulk-decision check). PA-AR-E08 Finding, an emergency access account was denied. The run writes decisions.csv, instances.json, findings.json and a manifest with each file's SHA-256 and every request sent. The rows name people; treat the folder as evidence, not as a lab artifact.
Sources: Microsoft Learn, "List decisions," https://learn.microsoft.com/graph/api/accessreviewinstance-list-decisions?view=graph-rest-1.0 (accessed Oct 30, 2026). · Microsoft Learn, "accessReviewInstanceDecisionItem resource type," https://learn.microsoft.com/graph/api/resources/accessreviewinstancedecisionitem?view=graph-rest-1.0 (accessed Oct 30, 2026). · Microsoft Learn, "Access Review Instance Decisions - List" (REST, Authorization, 2021-12-01-preview), https://learn.microsoft.com/rest/api/authorization/access-review-instance-decisions/list?view=rest-authorization-2021-12-01-preview (accessed Oct 30, 2026). · Microsoft Learn, "Access Review Instances - List" (REST, Authorization, 2021-12-01-preview), https://learn.microsoft.com/rest/api/authorization/access-review-instances/list?view=rest-authorization-2021-12-01-preview (accessed Oct 30, 2026).
Workbook: Building Privileged Access, Chapter 07 — “The evidence”.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the pipeline. The identity governance officer owns the reviews themselves. And the ISSO reads the results. The permissions split the same way: the plan and evidence jobs only read, so they hold the read permission and Azure Reader. Only the apply identity can write, with User Access Administrator for Azure, the narrower of the two roles Learn names. Learn's pages disagree on which role can create a review, so the chapter follows the PIM page and applies as an app. A test keeps each task's permissions exactly what its calls need.
Detail: Audience: developers who build the project's governance pipeline, the identity governance officer who owns the reviews (the plan's owner of A2.7 and A3.7), and the ISSO who reads their results. You should read PowerShell 7 and JSON. You don't need a tenant until Lab 2. Every call is in config/calls-ch07.json with its permission and Learn page, and a test keeps each task's permissions equal to the union of the calls it makes on the fixture. List definitions: AccessReview.Read.All, delegated Security Reader for reviews of Entra roles; plan, apply, evidence. List instances: AccessReview.Read.All; same; evidence. List decisions: AccessReview.Read.All; same; evidence. Create definition (POST): AccessReview.ReadWrite.All; Privileged Role Administrator for role reviews; apply. Update definition (PUT): AccessReview.ReadWrite.All; same; apply. Azure: list definitions, instances, decisions: Reader (*/read); plan, apply, evidence. Azure: create or update by ID (PUT, preview): User Access Administrator; apply, with -IncludePreview. So the plan and evidence identity holds AccessReview.Read.All and Reader; the apply identity holds AccessReview.ReadWrite.All and User Access Administrator on the subscriptions with an Azure series. Learn's PIM page asks for Owner or User Access Administrator for Azure reviews; User Access Administrator is the narrower. Learn's deployment plan names AccessReview.Read.All for a script that only queries reviews. Where Learn's pages differ: the role that creates a role review — the tutorial says at least Identity Governance Administrator; the API overview says User Administrator for create, update or delete; the PIM page says at least Privileged Role Administrator for reviews of Microsoft Entra roles. The program follows the PIM page, as Book 04, Chapter 08 does, and runs -Apply as an app with the application permission (research gaps, row 78). The role that reads a role review: the API overview lists Global Reader for reads; the list pages don't list Global Reader for reviews of Microsoft Entra roles. The code's delegated reader is Security Reader.
Sources: Microsoft Learn, "List definitions," permissions and the $filter query parameter, https://learn.microsoft.com/graph/api/accessreviewset-list-definitions?view=graph-rest-1.0 (accessed Oct 30, 2026). · Microsoft Learn, "List instances," https://learn.microsoft.com/graph/api/accessreviewscheduledefinition-list-instances?view=graph-rest-1.0 (accessed Oct 30, 2026). · Microsoft Learn, "List decisions," https://learn.microsoft.com/graph/api/accessreviewinstance-list-decisions?view=graph-rest-1.0 (accessed Oct 30, 2026). · Microsoft Learn, "Create definitions," permissions and request body, https://learn.microsoft.com/graph/api/accessreviewset-post-definitions?view=graph-rest-1.0 (accessed Oct 30, 2026). · Microsoft Learn, "Update accessReviewScheduleDefinition," https://learn.microsoft.com/graph/api/accessreviewscheduledefinition-update?view=graph-rest-1.0 (accessed Oct 30, 2026). · Microsoft Learn, "Create an access review of Azure resource and Microsoft Entra roles in PIM," https://learn.microsoft.com/entra/id-governance/privileged-identity-management/pim-create-roles-and-resource-roles-review (accessed Oct 30, 2026). · Microsoft Learn, "Azure built-in roles for General," Reader, https://learn.microsoft.com/azure/role-based-access-control/built-in-roles/general (accessed Oct 30, 2026). · Microsoft Learn, "Azure built-in roles for Privileged," User Access Administrator, https://learn.microsoft.com/azure/role-based-access-control/built-in-roles/privileged (accessed Oct 30, 2026). · Microsoft Learn, "Plan a Microsoft Entra access reviews deployment," plan review of Microsoft Entra ID and Azure resource roles; use the access reviews API, https://learn.microsoft.com/entra/id-governance/deploy-access-reviews (accessed Oct 30, 2026). · Microsoft Learn, "Overview of access reviews APIs," role and application permission authorization checks, https://learn.microsoft.com/graph/api/resources/accessreviewsv2-overview?view=graph-rest-1.0 (accessed Oct 30, 2026). · Microsoft Learn, "Review access to administrative roles using access reviews APIs," https://learn.microsoft.com/graph/tutorial-accessreviews-roleassignments (accessed Oct 30, 2026).
Workbook: Building Privileged Access, Chapter 07 — “Goal and audience”; “Least privilege per call”; “Verified facts” — where Learn's pages differ.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First, run Learn's tutorial against the fake. Eleven tests pass, and the third one shows the trap: send the tutorial's request twice, and you get two reviews with the same name. Next, list each task's permissions: reads for planning and evidence, writes only for the apply. Then the dry run. It finds one series to create, two to update, one to replace, three already right, and one somebody made by hand in the portal. Nothing is sent. Only two writes would go out, because the Azure update needs the preview switch.
Detail: You need PowerShell 7.1 or later with Pester 5. Work in examples/privileged-access. Step 1, run Learn's tutorial against the fake: Invoke-Pester -Path tests/AccessReviews.Tests.ps1 -FullNameFilter '*(Learn), run as published*' -Output None -PassThru | Select-Object PassedCount, FailedCount gives PassedCount 11, FailedCount 0. Read the third test: the tutorial's POST, sent twice, leaves two series with the same name. Step 2, list each task's permissions: Import-Module ./powershell/PaAccessReviews/PaAccessReviews.psm1, then Get-PaArRequiredPermission for access-reviews-plan, access-reviews-apply and access-reviews-evidence: AccessReview.Read.All and Reader for the plan and the evidence; AccessReview.ReadWrite.All and User Access Administrator for apply. Step 3, run the dry run: ./Invoke-PaAccessReviews.ps1 -Cloud gcc -Mode Plan -ConfigPath tests/fixtures/ch07/access-reviews.json -FixturePath tests/fixtures/ch07/tenant.json -AsOf 2026-10-30 -OutputPath out/reviews-plan. Output: "Plan: 1 Create, 2 Update, 1 Replace, 3 NoChange, 1 Unmanaged"; "Checks: 0 Finding, 1 Warn, 1 Info"; "Dry run: nothing sent (2 write(s) would be sent with -Apply)"; "Written to out/reviews-plan (manifest.json lists every request and file hash)". Step 4, read the diff: Get-Content out/reviews-plan/plan.json -Raw | ConvertFrom-Json | Format-Table name, action, changes. Global Administrator and the Azure Owner series: Update, settings.instanceDurationInDays (the tenant has 7 days, the JSON 14). Privileged Role Administrator: Create. Exchange: Replace, reviewers (an old reviewer group). The three PRV-* membership series: NoChange. PAR-T0-SecurityAdministrator-Monthly, made by hand in the portal: Unmanaged. The application review without the prefix isn't listed. The two writes the dry run counts are the Graph ones; the Azure update needs -IncludePreview. bodies/ holds each request body for review. The commands run Learn's pinned requests and the example against a fictional tenant served by a fake. They show what the code does, not that Graph or Resource Manager return the same shapes.
Sources: Building Privileged Access, Chapter 07, docs/project-plans/developer-workbooks/privileged-access/07-access-reviews-of-privileged-roles.md
Workbook: Building Privileged Access, Chapter 07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lab is where it gets convincing. Run the example's checks on Learn's own request body, and it fails on the fallback reviewer, the missing instructions and auto-apply. Apply in the fake, and only the two planned writes go out; everything else is skipped with a reason. Read the evidence, and every kind of problem turns up, from an overdue review to an emergency account that was denied. Then try to switch the Global Administrator series to deny on silence: the apply refuses, and nothing is sent.
Detail: Step 5, check Learn's body with the example's rules: . ./tests/AccessReviewsSampleHarness.ps1; Test-PaArDefinition -Body (Get-ArTutorialCreateRequest).Body -AsOf 2026-10-30 | Format-Table Rule, Severity gives PA-AR-02, PA-AR-03 and PA-AR-05 as Findings, PA-AR-07 and PA-AR-10 as Warns. Step 6, apply in the fake: the dry-run command with -OutputPath out/reviews-apply -Apply, then results.json as Name, Action, Result, Note. "Applied: 2 write(s) sent; Replace and Unmanaged series are left for a person". Global Administrator and Privileged Role Administrator are Sent, read back; Exchange, the three PRV-* series, the Azure series and the unmanaged one are Skipped, each with its reason. The fake starts from the fixture on every run, so nothing carries over to the next step. Step 7, read the evidence: ./Invoke-PaAccessReviews.ps1 -Cloud gcc -Mode Evidence ... -OutputPath out/reviews-evidence, then findings.json as Rule, Severity, Object. "Evidence: 18 decisions in 7 instances; 7 Finding, 2 Warn". PA-AR-E01 for Privileged Role Administrator (not in this tenant yet), PA-AR-E02 for PRV-T0-GlobalAdmin (its last review ended September 15), PA-AR-E08 for Emergency Access 02 (denied in October), PA-AR-E04 for Frank Ode (unreviewed, Tier 0) and as a Warn for Gina Lee (Tier 1), PA-AR-E05 for Carl Ops, PA-AR-E03 for Frank Ode's Exchange denial that didn't apply, PA-AR-E06 for Bo Chen, who approved their own access, and PA-AR-E07 for one Exchange reviewer's five approvals in two minutes. Step 8, see the lockout guard: read the config, set defaultDecision to 'Deny' on PAR-T0-GlobalAdministrator-Monthly, build an apply client on the fake and call Invoke-PaArApply with -Apply: "Refusing -Apply: the plan has 1 Finding(s): PA-AR-06 PAR-T0-GlobalAdministrator-Monthly". Nothing is sent. Step 9, Invoke-Pester -Path tests. Expected result: 330 tests passing, and each row of the gap table seen with your own eyes. Delete out when you're done; the evidence folder names people. The tests: this chapter's are the 57 in tests/AccessReviews.Tests.ps1: 11 on Learn's tutorial as published, then the calls and permissions, the reviewed JSON and bodies, each rule, the plan's actions, -Apply and its refusals, the evidence and its paging, and the entry script's manifest. With Chapters 01, 02, 03 and 06, 208 Pester tests pass under PowerShell 7, with no module, tenant or network.
Sources: Building Privileged Access, Chapter 07, docs/project-plans/developer-workbooks/privileged-access/07-access-reviews-of-privileged-roles.md
Workbook: Building Privileged Access, Chapter 07 — “Lab 1: fixtures, no tenant,” steps 5–9;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runs one real review, end to end, in a test tenant. Pick a role nobody really holds, never Global Administrator. Two apps keep reading and writing apart. You plan as the reader, then a second person reads the request bodies before you apply as the writer. Then you act as a reviewer: approve a test user with a reason, and close the review so it applies. Read the evidence back, and your decision is there with its result. The Azure step is optional, because it's preview. To back out, export the evidence first, then delete by hand.
Detail: Use a test tenant in the worldwide or GCC cloud with Microsoft Entra ID Governance (a trial will do) and, for step 6, a test Azure subscription. Never production. Pick a role with no real holders, for example a test user made eligible for Reports Reader, not Global Administrator. 1 Register two apps in the worldwide admin center, each with a certificate: a reader with AccessReview.Read.All, and an applier with AccessReview.ReadWrite.All, both with admin consent and nothing else. Make a reviewer group and a fallback group with test users in them. 2 Write a test JSON with one Entra role series for the test role, today's date as startDate, a 1-day duration, and your groups' IDs. Run the dry run as the reader: Connect-MgGraph -Environment Global -TenantId &lt;tenant-id&gt; -ClientId &lt;reader-app-id&gt; -CertificateThumbprint &lt;thumbprint&gt;, then ./Invoke-PaAccessReviews.ps1 -Cloud gcc -Mode Plan -ConfigPath test-reviews.json -OutputPath out/t-plan -SkipAzure -TenantId &lt;tenant-id&gt;. Expect 1 Create and a PA-AR-10 Warn if the date has passed in UTC. 3 Apply as the applier, after a second person reads bodies/: rerun with -Apply after Connect-MgGraph as the applier. Expect Sent, read back. Rerun the dry run: NoChange. Change instanceDurationInDays, rerun with -Apply, and confirm an Update with group reviewers succeeds (research gaps, row 79). 4 Review and close one instance: as a test reviewer, approve the test user in My Access with a justification; then stop the instance in the admin center so it completes and applies. 5 Read the evidence as the reader with -Mode Evidence. decisions.csv holds one row with your decision and its apply result. Note whether the decisions response carried @odata.nextLink (row 77). 6 Optional, Azure (preview): as User Access Administrator on the test subscription, with Connect-AzAccount -Environment AzureCloud, add an Azure series for a test role and run with -Apply -IncludePreview. In PIM, Azure resources, check that the review shows the subscription, the role and eligible assignments (row 71). 7 Back out: export the evidence first. Then delete the test series in the admin center (the code never deletes) and the Azure series in PIM; remove the test user's eligibility; delete both apps, their certificates and the test groups; and delete out/t-*.
Sources: Building Privileged Access, Chapter 07, docs/project-plans/developer-workbooks/privileged-access/07-access-reviews-of-privileged-roles.md
Workbook: Building Privileged Access, Chapter 07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is a review that looks fine and quietly isn't. The worst ties back to Chapter 2: a setting that removes the emergency accounts the first month nobody responds. Close behind are self-reviews, reviews with nobody to step in, and denials that never take effect because auto-apply is off. Some are traps of the API itself: a scope that can't change in place, or a delete that takes the evidence with it. And one the code can't fix alone: a user denied an Azure role still sits in the group that grants it.
Detail: "Remove access" on silence over the emergency accounts' Global Administrator: one missed month removes the accounts the program keeps for the day everything else fails; guard: PA-AR-06 refuses -Apply; PA-AR-E08 flags a denial; Chapter 02's PA-EA-05 sees the loss on the next run. A self-review: assignees approve themselves; role-assignable groups drop out of a self-review of an Entra role; guard: PA-AR-01; PA-AR-E06. One reviewer, no fallback: the review stalls when that person leaves; guard: reviewer groups; PA-AR-02. Auto-apply off: denials change nothing; guard: PA-AR-05; PA-AR-E03 for denials that didn't apply. A rerun of a POST: two series with one name, split evidence; guard: the dry run reads first; PA-AR-12 stops -Apply. A scope change sent as an update: Learn's update API doesn't list scope among the properties it takes, so the change can't be made in place; guard: Replace, left to a person. Deleting a series to replace it: its instances and decisions go with it; guard: the code never deletes; Lab 2 exports evidence first. A role held by a group: a role review would approve the group, not its members; guard: role series cover users; each PRV-* group has its own membership series, and PA-AR-14 flags one that's missing. An Azure role held by a group: a denied user stays in the group; guard: PA-AR-E03 doesn't see it; Chapter 01's inventory and the group's owner do. Bulk approval: decisions without reading; guard: PA-AR-E07; justification required (PA-AR-08). A preview API changes: Azure series fail or change shape; guard: -IncludePreview only; Lab 2 step 6; the source watch on the tutorial. A write permission on a read-only job: a compromised reader can change reviews; guard: separate tasks and identities; tests pin the permissions. Evidence names people: decisions.csv holds names and UPNs; guard: treat the output folder as evidence; delete lab copies.
Sources: Microsoft Learn, "Create an access review of Azure resource and Microsoft Entra roles in PIM," https://learn.microsoft.com/entra/id-governance/privileged-identity-management/pim-create-roles-and-resource-roles-review (accessed Oct 30, 2026).
Workbook: Building Privileged Access, Chapter 07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privileged role, every privileged group, and every privileged Azure role at the control-plane subscriptions has its own series, and none of them is a self-review. The cadence matches the tier, auto-apply is on, and only the emergency accounts' series keeps access on silence. The identities hold only what their task needs, preview Azure series wait for the lab, and every closed review has its decisions in the evidence store. Next, Chapter 8 brings it all together: evidence and drift, for the ISSO. Thanks for watching.
Detail: Checklist: the reviewed JSON lists one series per privileged Entra role in use, one per PRV-* group, and one per privileged Azure role at each control-plane subscription, each with the managed prefix. The dry run shows no Finding, and a second person read plan.json and bodies/ before -Apply. Every series has a reviewer group and a fallback; no series is a self-review. Every group listed in a role series' eligibleGroupIds has its own membership series (no PA-AR-14). Tier 0 series are monthly and the rest quarterly, 14 days, with auto-apply on and justification required. Only a series that covers the emergency accounts' permanent Global Administrator keeps access on silence, and its unreviewed items are followed up; every other series removes access. The plan identity holds only AccessReview.Read.All and Reader; the apply identity only AccessReview.ReadWrite.All and User Access Administrator where an Azure series exists. Azure series are applied only with -IncludePreview, after Lab 2 step 6 passed in a test subscription. Every closed instance has its decisions.csv and manifest in the evidence store, and every evidence Finding has an owner. The pinned tutorial matches its manifest, and every upstream commit since the pin has been reviewed. Next: Chapter 08 — Evidence and Drift for the ISSO.
Sources: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07: Access Reviews of Privileged Roles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reviews, as code · Learn's tutorial and its gaps · series, checks, dry run, evidence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F07AA2B-AF12-9EAD-9EFB-A61362045FA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4BA3BF-505B-439A-9CD9-6CB1DE0DA71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620"/>
    </mc:Choice>
    <mc:Fallback>
      <p:transition spd="slow" advTm="43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6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reviews, and why as code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The approval gate controls the use of privilege; reviews control who keeps the eligibility.</a:t>
            </a:r>
            <a:endParaRPr lang="en-US" sz="1800" dirty="0"/>
          </a:p>
        </p:txBody>
      </p:sp>
      <p:sp>
        <p:nvSpPr>
          <p:cNvPr id="6" name="Panel What the program asks">
            <a:extLst>
              <a:ext uri="{C183D7F6-B498-43B3-948B-1728B52AA6E4}">
                <adec:decorative xmlns:adec="http://schemas.microsoft.com/office/drawing/2017/decorative" val="1"/>
              </a:ext>
            </a:extLst>
          </p:cNvPr>
          <p:cNvSpPr/>
          <p:nvPr/>
        </p:nvSpPr>
        <p:spPr>
          <a:xfrm>
            <a:off x="548640" y="1837944"/>
            <a:ext cx="5417820" cy="3712464"/>
          </a:xfrm>
          <a:prstGeom prst="roundRect">
            <a:avLst>
              <a:gd name="adj" fmla="val 197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at the program asks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PROGRAM ASKS</a:t>
            </a:r>
            <a:endParaRPr lang="en-US" sz="1100" dirty="0"/>
          </a:p>
        </p:txBody>
      </p:sp>
      <p:sp>
        <p:nvSpPr>
          <p:cNvPr id="8" name="Panel What the program asks list"/>
          <p:cNvSpPr txBox="1"/>
          <p:nvPr/>
        </p:nvSpPr>
        <p:spPr>
          <a:xfrm>
            <a:off x="731520" y="2249424"/>
            <a:ext cx="5097780" cy="325526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Book 04, Ch 08, Step 8: one recurring review per role, Tier 0 monthly, the rest quarterly; auto-apply on, "remove access" on silence</a:t>
            </a:r>
            <a:endParaRPr lang="en-US" sz="1550" dirty="0"/>
          </a:p>
          <a:p>
            <a:pPr marL="342900" indent="-342900">
              <a:spcAft>
                <a:spcPts val="400"/>
              </a:spcAft>
              <a:buSzPct val="100000"/>
              <a:buChar char="•"/>
            </a:pPr>
            <a:r>
              <a:rPr lang="en-US" sz="1550" dirty="0">
                <a:solidFill>
                  <a:srgbClr val="334155"/>
                </a:solidFill>
              </a:rPr>
              <a:t>Book 04, Ch 09: the PRV-* group reviews and fallback reviewers; a role held by a group shows the group, not its members</a:t>
            </a:r>
            <a:endParaRPr lang="en-US" sz="1550" dirty="0"/>
          </a:p>
          <a:p>
            <a:pPr marL="342900" indent="-342900">
              <a:spcAft>
                <a:spcPts val="400"/>
              </a:spcAft>
              <a:buSzPct val="100000"/>
              <a:buChar char="•"/>
            </a:pPr>
            <a:r>
              <a:rPr lang="en-US" sz="1550" dirty="0">
                <a:solidFill>
                  <a:srgbClr val="334155"/>
                </a:solidFill>
              </a:rPr>
              <a:t>Book 04, Ch 10: review definitions held in the repository</a:t>
            </a:r>
            <a:endParaRPr lang="en-US" sz="1550" dirty="0"/>
          </a:p>
          <a:p>
            <a:pPr marL="342900" indent="-342900">
              <a:spcAft>
                <a:spcPts val="400"/>
              </a:spcAft>
              <a:buSzPct val="100000"/>
              <a:buChar char="•"/>
            </a:pPr>
            <a:r>
              <a:rPr lang="en-US" sz="1550" dirty="0">
                <a:solidFill>
                  <a:srgbClr val="334155"/>
                </a:solidFill>
              </a:rPr>
              <a:t>Learn: review Global Administrator, Privileged Authentication Administrator, Conditional Access Administrator, Security Administrator, permanent and eligible</a:t>
            </a:r>
            <a:endParaRPr lang="en-US" sz="1550" dirty="0"/>
          </a:p>
        </p:txBody>
      </p:sp>
      <p:sp>
        <p:nvSpPr>
          <p:cNvPr id="9" name="Panel A review set up by hand drifts">
            <a:extLst>
              <a:ext uri="{C183D7F6-B498-43B3-948B-1728B52AA6E4}">
                <adec:decorative xmlns:adec="http://schemas.microsoft.com/office/drawing/2017/decorative" val="1"/>
              </a:ext>
            </a:extLst>
          </p:cNvPr>
          <p:cNvSpPr/>
          <p:nvPr/>
        </p:nvSpPr>
        <p:spPr>
          <a:xfrm>
            <a:off x="6240780" y="1837944"/>
            <a:ext cx="5417820" cy="3712464"/>
          </a:xfrm>
          <a:prstGeom prst="roundRect">
            <a:avLst>
              <a:gd name="adj" fmla="val 197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Panel A review set up by hand drifts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A REVIEW SET UP BY HAND DRIFTS</a:t>
            </a:r>
            <a:endParaRPr lang="en-US" sz="1100" dirty="0"/>
          </a:p>
        </p:txBody>
      </p:sp>
      <p:sp>
        <p:nvSpPr>
          <p:cNvPr id="11" name="Panel A review set up by hand drifts list"/>
          <p:cNvSpPr txBox="1"/>
          <p:nvPr/>
        </p:nvSpPr>
        <p:spPr>
          <a:xfrm>
            <a:off x="6423660" y="2249424"/>
            <a:ext cx="5097780" cy="325526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reviewer leaves</a:t>
            </a:r>
            <a:endParaRPr lang="en-US" sz="1550" dirty="0"/>
          </a:p>
          <a:p>
            <a:pPr marL="342900" indent="-342900">
              <a:spcAft>
                <a:spcPts val="400"/>
              </a:spcAft>
              <a:buSzPct val="100000"/>
              <a:buChar char="•"/>
            </a:pPr>
            <a:r>
              <a:rPr lang="en-US" sz="1550" dirty="0">
                <a:solidFill>
                  <a:srgbClr val="334155"/>
                </a:solidFill>
              </a:rPr>
              <a:t>A duration is shortened</a:t>
            </a:r>
            <a:endParaRPr lang="en-US" sz="1550" dirty="0"/>
          </a:p>
          <a:p>
            <a:pPr marL="342900" indent="-342900">
              <a:spcAft>
                <a:spcPts val="400"/>
              </a:spcAft>
              <a:buSzPct val="100000"/>
              <a:buChar char="•"/>
            </a:pPr>
            <a:r>
              <a:rPr lang="en-US" sz="1550" dirty="0">
                <a:solidFill>
                  <a:srgbClr val="334155"/>
                </a:solidFill>
              </a:rPr>
              <a:t>Auto-apply is switched off for one cycle and never back on</a:t>
            </a:r>
            <a:endParaRPr lang="en-US" sz="1550" dirty="0"/>
          </a:p>
          <a:p>
            <a:pPr marL="342900" indent="-342900">
              <a:spcAft>
                <a:spcPts val="400"/>
              </a:spcAft>
              <a:buSzPct val="100000"/>
              <a:buChar char="•"/>
            </a:pPr>
            <a:r>
              <a:rPr lang="en-US" sz="1550" dirty="0">
                <a:solidFill>
                  <a:srgbClr val="334155"/>
                </a:solidFill>
              </a:rPr>
              <a:t>Held as code: a file, a diff and a reviewer per series; Chapter 08 (planned) compares the tenant with it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Plan a Microsoft Entra access reviews deployment. Book 04, Ch 08 Step 8, Ch 09, Ch 10. Chapter 07, “Why reviews, and why as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E108B96A-D973-EAFF-E52A-6941ED1D1F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86A86F-3E97-46EA-A2D1-770BD440CC6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10"/>
    </mc:Choice>
    <mc:Fallback>
      <p:transition spd="slow" advTm="39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1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costs, and which cloud it runs in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27732"/>
        </p:xfrm>
        <a:graphic>
          <a:graphicData uri="http://schemas.openxmlformats.org/drawingml/2006/table">
            <a:tbl>
              <a:tblPr firstRow="1" bandRow="1"/>
              <a:tblGrid>
                <a:gridCol w="2241483">
                  <a:extLst>
                    <a:ext uri="{9D8B030D-6E8A-4147-A177-3AD203B41FA5}">
                      <a16:colId xmlns:a16="http://schemas.microsoft.com/office/drawing/2014/main" val="20000"/>
                    </a:ext>
                  </a:extLst>
                </a:gridCol>
                <a:gridCol w="4872789">
                  <a:extLst>
                    <a:ext uri="{9D8B030D-6E8A-4147-A177-3AD203B41FA5}">
                      <a16:colId xmlns:a16="http://schemas.microsoft.com/office/drawing/2014/main" val="20001"/>
                    </a:ext>
                  </a:extLst>
                </a:gridCol>
                <a:gridCol w="3995687">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 365 GCC with commercial Azure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GCC High and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9364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License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 Governance for every member user who reviews or is reviewed; some capabilities on P2; PIM for Groups reviews (preview) need Governance; service principal reviews also Workload ID Premium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ID Governance available in GCC, GCC High and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Graph access reviews APIs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graph.microsoft.com; listed for the global service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US Government L4 and L5 (DoD); graph.microsoft.us, dod-graph.microsoft.us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Azure role reviews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Resource Manager at management.azure.com, preview versions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Availability in Azure Government not confirmed (research gaps, row 72)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936492"/>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4126230"/>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279849"/>
            <a:ext cx="332842" cy="332842"/>
          </a:xfrm>
          <a:prstGeom prst="rect">
            <a:avLst/>
          </a:prstGeom>
        </p:spPr>
      </p:pic>
      <p:sp>
        <p:nvSpPr>
          <p:cNvPr id="9" name="Callout text"/>
          <p:cNvSpPr txBox="1"/>
          <p:nvPr/>
        </p:nvSpPr>
        <p:spPr>
          <a:xfrm>
            <a:off x="1600200" y="3991356"/>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Where Learn differs: </a:t>
            </a:r>
            <a:r>
              <a:rPr lang="en-US" sz="1750" dirty="0">
                <a:solidFill>
                  <a:srgbClr val="334155"/>
                </a:solidFill>
              </a:rPr>
              <a:t>Learn's tutorial asks only for P2 or Governance; the licensing page asks for Governance. The program follows the stricter page: budget Governance for every reviewer and reviewed privileged user.</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access reviews overview; ID Governance licensing; tutorial; PIM role reviews; feature availability; Graph deployments; ARM template. Chapter 07, “What it costs.”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B4820FE-C8E3-1043-59C7-93FF02815F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6287ABD-70EE-4DDB-9CC9-A03C2C90CD6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30"/>
    </mc:Choice>
    <mc:Fallback>
      <p:transition spd="slow" advTm="41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tutorial, pinned and run against a fake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the tutorial does">
            <a:extLst>
              <a:ext uri="{C183D7F6-B498-43B3-948B-1728B52AA6E4}">
                <adec:decorative xmlns:adec="http://schemas.microsoft.com/office/drawing/2017/decorative" val="1"/>
              </a:ext>
            </a:extLst>
          </p:cNvPr>
          <p:cNvSpPr/>
          <p:nvPr/>
        </p:nvSpPr>
        <p:spPr>
          <a:xfrm>
            <a:off x="548640" y="1325880"/>
            <a:ext cx="5417820" cy="3685032"/>
          </a:xfrm>
          <a:prstGeom prst="roundRect">
            <a:avLst>
              <a:gd name="adj" fmla="val 198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the tutorial do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TUTORIAL DOES</a:t>
            </a:r>
            <a:endParaRPr lang="en-US" sz="1100" dirty="0"/>
          </a:p>
        </p:txBody>
      </p:sp>
      <p:sp>
        <p:nvSpPr>
          <p:cNvPr id="7" name="Panel What the tutorial does list"/>
          <p:cNvSpPr txBox="1"/>
          <p:nvPr/>
        </p:nvSpPr>
        <p:spPr>
          <a:xfrm>
            <a:off x="73152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Creates a recurring review of users and groups with active or eligible assignments to one role, User Administrator</a:t>
            </a:r>
            <a:endParaRPr lang="en-US" sz="1500" dirty="0"/>
          </a:p>
          <a:p>
            <a:pPr marL="342900" indent="-342900">
              <a:spcAft>
                <a:spcPts val="400"/>
              </a:spcAft>
              <a:buSzPct val="100000"/>
              <a:buChar char="•"/>
            </a:pPr>
            <a:r>
              <a:rPr lang="en-US" sz="1500" dirty="0">
                <a:solidFill>
                  <a:srgbClr val="334155"/>
                </a:solidFill>
              </a:rPr>
              <a:t>Lists instances and decisions; records an approval and a denial; applies them</a:t>
            </a:r>
            <a:endParaRPr lang="en-US" sz="1500" dirty="0"/>
          </a:p>
          <a:p>
            <a:pPr marL="342900" indent="-342900">
              <a:spcAft>
                <a:spcPts val="400"/>
              </a:spcAft>
              <a:buSzPct val="100000"/>
              <a:buChar char="•"/>
            </a:pPr>
            <a:r>
              <a:rPr lang="en-US" sz="1500" dirty="0">
                <a:solidFill>
                  <a:srgbClr val="334155"/>
                </a:solidFill>
              </a:rPr>
              <a:t>Generates a review history report, then deletes the review</a:t>
            </a:r>
            <a:endParaRPr lang="en-US" sz="1500" dirty="0"/>
          </a:p>
          <a:p>
            <a:pPr marL="342900" indent="-342900">
              <a:spcAft>
                <a:spcPts val="400"/>
              </a:spcAft>
              <a:buSzPct val="100000"/>
              <a:buChar char="•"/>
            </a:pPr>
            <a:r>
              <a:rPr lang="en-US" sz="1500" dirty="0">
                <a:solidFill>
                  <a:srgbClr val="334155"/>
                </a:solidFill>
              </a:rPr>
              <a:t>One review covers one role, so several roles need several reviews</a:t>
            </a:r>
            <a:endParaRPr lang="en-US" sz="1500" dirty="0"/>
          </a:p>
          <a:p>
            <a:pPr marL="342900" indent="-342900">
              <a:spcAft>
                <a:spcPts val="400"/>
              </a:spcAft>
              <a:buSzPct val="100000"/>
              <a:buChar char="•"/>
            </a:pPr>
            <a:r>
              <a:rPr lang="en-US" sz="1500" dirty="0">
                <a:solidFill>
                  <a:srgbClr val="334155"/>
                </a:solidFill>
              </a:rPr>
              <a:t>Scope and reviewer articles add eligible-only, active-only, group-member queries and groups as reviewers</a:t>
            </a:r>
            <a:endParaRPr lang="en-US" sz="150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685032"/>
          </a:xfrm>
          <a:prstGeom prst="roundRect">
            <a:avLst>
              <a:gd name="adj" fmla="val 198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requests exist only inside the page, so its source is pinned unmodified in examples/third_party/graph-access-reviews-roles-tutorial</a:t>
            </a:r>
            <a:endParaRPr lang="en-US" sz="1500" dirty="0"/>
          </a:p>
          <a:p>
            <a:pPr marL="342900" indent="-342900">
              <a:spcAft>
                <a:spcPts val="400"/>
              </a:spcAft>
              <a:buSzPct val="100000"/>
              <a:buChar char="•"/>
            </a:pPr>
            <a:r>
              <a:rPr lang="en-US" sz="1500" dirty="0">
                <a:solidFill>
                  <a:srgbClr val="334155"/>
                </a:solidFill>
              </a:rPr>
              <a:t>From microsoft-graph-docs-contrib at commit a693031 (Oct 30, 2026); CC BY 4.0 docs, MIT code</a:t>
            </a:r>
            <a:endParaRPr lang="en-US" sz="1500" dirty="0"/>
          </a:p>
          <a:p>
            <a:pPr marL="342900" indent="-342900">
              <a:spcAft>
                <a:spcPts val="400"/>
              </a:spcAft>
              <a:buSzPct val="100000"/>
              <a:buChar char="•"/>
            </a:pPr>
            <a:r>
              <a:rPr lang="en-US" sz="1500" dirty="0">
                <a:solidFill>
                  <a:srgbClr val="334155"/>
                </a:solidFill>
              </a:rPr>
              <a:t>snapshot.json SHA-256s and blob hashes; a unit test; the weekly source watch</a:t>
            </a:r>
            <a:endParaRPr lang="en-US" sz="1500" dirty="0"/>
          </a:p>
          <a:p>
            <a:pPr marL="342900" indent="-342900">
              <a:spcAft>
                <a:spcPts val="400"/>
              </a:spcAft>
              <a:buSzPct val="100000"/>
              <a:buChar char="•"/>
            </a:pPr>
            <a:r>
              <a:rPr lang="en-US" sz="1500" dirty="0">
                <a:solidFill>
                  <a:srgbClr val="334155"/>
                </a:solidFill>
              </a:rPr>
              <a:t>AccessReviewsSampleHarness.ps1 extracts the requests as published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5193792"/>
            <a:ext cx="11109960" cy="737616"/>
          </a:xfrm>
          <a:prstGeom prst="roundRect">
            <a:avLst>
              <a:gd name="adj" fmla="val 99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5266944"/>
            <a:ext cx="591312" cy="59131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1723" y="5408859"/>
            <a:ext cx="307482" cy="307482"/>
          </a:xfrm>
          <a:prstGeom prst="rect">
            <a:avLst/>
          </a:prstGeom>
        </p:spPr>
      </p:pic>
      <p:sp>
        <p:nvSpPr>
          <p:cNvPr id="14" name="Callout text"/>
          <p:cNvSpPr txBox="1"/>
          <p:nvPr/>
        </p:nvSpPr>
        <p:spPr>
          <a:xfrm>
            <a:off x="1600200" y="5248656"/>
            <a:ext cx="9875520" cy="627888"/>
          </a:xfrm>
          <a:prstGeom prst="rect">
            <a:avLst/>
          </a:prstGeom>
          <a:noFill/>
          <a:ln/>
        </p:spPr>
        <p:txBody>
          <a:bodyPr wrap="square" lIns="0" tIns="0" rIns="0" bIns="0" rtlCol="0" anchor="ctr"/>
          <a:lstStyle/>
          <a:p>
            <a:pPr marL="0" indent="0">
              <a:buNone/>
            </a:pPr>
            <a:r>
              <a:rPr lang="en-US" sz="1700" b="1" dirty="0">
                <a:solidFill>
                  <a:srgbClr val="B45309"/>
                </a:solidFill>
              </a:rPr>
              <a:t>Run offline: </a:t>
            </a:r>
            <a:r>
              <a:rPr lang="en-US" sz="1700" dirty="0">
                <a:solidFill>
                  <a:srgbClr val="334155"/>
                </a:solidFill>
              </a:rPr>
              <a:t>the first test block sends the tutorial's create request to the example's fake Graph and checks the rest as text. Nothing is sent to a tenant.</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 access to administrative roles using access reviews APIs; scope; reviewers; microsoft-graph-docs-contrib at a693031. Chapter 07,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FE83E99-FB2C-9149-997E-4AF9862953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6C7F7E-3A04-474C-B9BF-553179EB966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90"/>
    </mc:Choice>
    <mc:Fallback>
      <p:transition spd="slow" advTm="39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8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tutorial leaves to you: the review itself</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8496"/>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examples/privileged-access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One role per review: users and groups, one roleDefinitions resource, active and eligible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without the /groups principal scope: each group that holds the role has its own membership series (the owner's decision)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hard-coded https://graph.microsoft.com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GCC High and DoD use other hosts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Chapter 01's cloud table, by name, no default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POST each run, no read first: run twice, two series of the same name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Reviewers get two reviews; evidence splits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dry run that reads first: Create, Update, Replace or NoChange; duplicates stop -Apply (PA-AR-12)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One user as reviewer, no fallback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person leaving stops the 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Reviewer groups, a fallback always (PA-AR-01, 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default decision, no auto-apply; decisions applied by hand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Silence keeps privilege; a denial changes nothing until applied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Auto-apply and Deny on silence (PA-AR-05, 07), except the emergency accounts (PA-AR-06)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One day, every three months, from a 2024 start 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the cadence; a past start starts at once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Tier 0 monthly, the rest quarterly, 14 days (PA-AR-04, 09, 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 access to administrative roles using access reviews APIs (pinned at a693031). Chapter 07, “What it leaves to you,” rows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7703A966-580A-D8F5-97A7-92D09B229F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4281E0-E71C-49EE-9381-D1752FEA5D9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40"/>
    </mc:Choice>
    <mc:Fallback>
      <p:transition spd="slow" advTm="39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it leaves to you: evidence, targets, permission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descriptionForReviewers, which the create API marks required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Reviewers get no instructions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Required, at most 256 characters (PA-AR-03); the checks flag five gaps in the tutorial's body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Evidence through a POST to historyDefinitions and a 24-hour download link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write permission to collect evidence; a link that expires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Instances and decisions read with GET under AccessReview.Read.All into decisions.csv, with a manifest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history report filters on roleAssignmentScheduleInstances, which the scope never names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report may not include the review (research gaps, row 76)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Evidence reads each configured series by name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Azure role, no PIM for Groups group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Two of the program's three targets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Azure role series (preview) and group membership series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AccessReview.ReadWrite.All for every step, reads included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read-only job holds a write permission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Three tasks, each least-privileged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26084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keep the tutorial's scope as the model; don't run it as published: one role, quarterly, nobody to step in, decisions left to apply.</a:t>
            </a:r>
            <a:endParaRPr lang="en-US" sz="18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tutorial (pinned at a693031); Create definitions (descriptionForReviewers). Chapter 07, “What it leaves to you,” rows 7–11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158E9BC2-2C89-035A-90D5-86AF0F5AA6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6AB952C-D6A9-4257-B23C-DDE2ED3E470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50"/>
    </mc:Choice>
    <mc:Fallback>
      <p:transition spd="slow" advTm="35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5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reviewed file: seven series in the fixture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54324"/>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Series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Kind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Reviewers, fallback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On silence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PAR-T0-GlobalAdministrator-Monthly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Monthly, 14 days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PIM-Approvers-T0, governance office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change (PA-AR-06)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PAR-T0-PrivilegedRoleAdministrator-Monthly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PAR-T1-ExchangeAdministrator-Quarterly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PIM-Approvers-T1, governance office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PAR-PRV-T0-GlobalAdmin-Monthly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PIM for Groups group (preview)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Governance office, Privileged Role Administrator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PAR-PRV-T0-PrivRoleAdmin-Monthly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PIM for Groups group (preview)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PAR-PRV-T1-ExchangeAdmin-Quarterly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PIM for Groups group (preview)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PAR-AZ-T0-Owner-Platform-Monthly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Azure role (preview API)</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Named users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863084"/>
            <a:ext cx="11109960" cy="973836"/>
          </a:xfrm>
          <a:prstGeom prst="roundRect">
            <a:avLst>
              <a:gd name="adj" fmla="val 75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FileShield">
            <a:extLst>
              <a:ext uri="{C183D7F6-B498-43B3-948B-1728B52AA6E4}">
                <adec:decorative xmlns:adec="http://schemas.microsoft.com/office/drawing/2017/decorative" val="1"/>
              </a:ext>
            </a:extLst>
          </p:cNvPr>
          <p:cNvSpPr/>
          <p:nvPr/>
        </p:nvSpPr>
        <p:spPr>
          <a:xfrm>
            <a:off x="749808" y="5029962"/>
            <a:ext cx="640080" cy="640080"/>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83581"/>
            <a:ext cx="332842" cy="332842"/>
          </a:xfrm>
          <a:prstGeom prst="rect">
            <a:avLst/>
          </a:prstGeom>
        </p:spPr>
      </p:pic>
      <p:sp>
        <p:nvSpPr>
          <p:cNvPr id="9" name="Callout text"/>
          <p:cNvSpPr txBox="1"/>
          <p:nvPr/>
        </p:nvSpPr>
        <p:spPr>
          <a:xfrm>
            <a:off x="1600200" y="4917948"/>
            <a:ext cx="9875520" cy="864108"/>
          </a:xfrm>
          <a:prstGeom prst="rect">
            <a:avLst/>
          </a:prstGeom>
          <a:noFill/>
          <a:ln/>
        </p:spPr>
        <p:txBody>
          <a:bodyPr wrap="square" lIns="0" tIns="0" rIns="0" bIns="0" rtlCol="0" anchor="ctr"/>
          <a:lstStyle/>
          <a:p>
            <a:pPr marL="0" indent="0">
              <a:buNone/>
            </a:pPr>
            <a:r>
              <a:rPr lang="en-US" sz="1650" b="1" dirty="0">
                <a:solidFill>
                  <a:srgbClr val="0F766E"/>
                </a:solidFill>
              </a:rPr>
              <a:t>Read-PaArConfig refuses </a:t>
            </a:r>
            <a:r>
              <a:rPr lang="en-US" sz="1650" dirty="0">
                <a:solidFill>
                  <a:srgbClr val="334155"/>
                </a:solidFill>
              </a:rPr>
              <a:t>a reviewer named by UPN, a name without the PAR- prefix, a name used twice, and anything that isn't an object ID where one belongs. The schedule is Book 04, Ch 09's (design guidance).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 09 schedule (design guidance). Chapter 07, “The code,” “The reviewed 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9934C353-49C5-6A92-83A7-177698B6E2A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1BB475-7A78-4C4C-9E05-EEA2B7F8AB8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80"/>
    </mc:Choice>
    <mc:Fallback>
      <p:transition spd="slow" advTm="3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bodies: built only from Learn's documented shapes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2026920"/>
          </a:xfrm>
          <a:prstGeom prst="roundRect">
            <a:avLst>
              <a:gd name="adj" fmla="val 360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2026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79832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Entra role series</a:t>
            </a:r>
            <a:endParaRPr lang="en-US" sz="1400" dirty="0"/>
          </a:p>
          <a:p>
            <a:pPr marL="0" indent="0">
              <a:spcAft>
                <a:spcPts val="300"/>
              </a:spcAft>
              <a:buNone/>
            </a:pPr>
            <a:r>
              <a:rPr lang="en-US" sz="1450" dirty="0">
                <a:solidFill>
                  <a:srgbClr val="334155"/>
                </a:solidFill>
              </a:rPr>
              <a:t>Users only: the tutorial's scope without /groups, or Example 12.2's eligible or active queries. Groups that hold the role are listed in eligibleGroupIds and get their own series (row 73)</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2026920"/>
          </a:xfrm>
          <a:prstGeom prst="roundRect">
            <a:avLst>
              <a:gd name="adj" fmla="val 360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2026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79832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PIM for Groups series</a:t>
            </a:r>
            <a:endParaRPr lang="en-US" sz="1400" dirty="0"/>
          </a:p>
          <a:p>
            <a:pPr marL="0" indent="0">
              <a:spcAft>
                <a:spcPts val="300"/>
              </a:spcAft>
              <a:buNone/>
            </a:pPr>
            <a:r>
              <a:rPr lang="en-US" sz="1450" dirty="0">
                <a:solidFill>
                  <a:srgbClr val="334155"/>
                </a:solidFill>
              </a:rPr>
              <a:t>Example 1: the group's transitive members; covers eligible and active members (preview). A reviewer group becomes /groups/{id}/transitiveMembers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2026920"/>
          </a:xfrm>
          <a:prstGeom prst="roundRect">
            <a:avLst>
              <a:gd name="adj" fmla="val 360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2026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79832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Azure role series</a:t>
            </a:r>
            <a:endParaRPr lang="en-US" sz="1400" dirty="0"/>
          </a:p>
          <a:p>
            <a:pPr marL="0" indent="0">
              <a:spcAft>
                <a:spcPts val="300"/>
              </a:spcAft>
              <a:buNone/>
            </a:pPr>
            <a:r>
              <a:rPr lang="en-US" sz="1450" dirty="0">
                <a:solidFill>
                  <a:srgbClr val="334155"/>
                </a:solidFill>
              </a:rPr>
              <a:t>Resource Manager accessReviewScheduleDefinitions at a subscription, 2021-12-01-preview (only previews listed). Reviewers are users or service principals, not groups</a:t>
            </a:r>
            <a:endParaRPr lang="en-US" sz="1400" dirty="0"/>
          </a:p>
        </p:txBody>
      </p:sp>
      <p:sp>
        <p:nvSpPr>
          <p:cNvPr id="14" name="Panel And for every body">
            <a:extLst>
              <a:ext uri="{C183D7F6-B498-43B3-948B-1728B52AA6E4}">
                <adec:decorative xmlns:adec="http://schemas.microsoft.com/office/drawing/2017/decorative" val="1"/>
              </a:ext>
            </a:extLst>
          </p:cNvPr>
          <p:cNvSpPr/>
          <p:nvPr/>
        </p:nvSpPr>
        <p:spPr>
          <a:xfrm>
            <a:off x="548640" y="3535680"/>
            <a:ext cx="11109960" cy="1918716"/>
          </a:xfrm>
          <a:prstGeom prst="roundRect">
            <a:avLst>
              <a:gd name="adj" fmla="val 38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5" name="Panel And for every body label"/>
          <p:cNvSpPr txBox="1"/>
          <p:nvPr/>
        </p:nvSpPr>
        <p:spPr>
          <a:xfrm>
            <a:off x="731520" y="3645408"/>
            <a:ext cx="10744200" cy="274320"/>
          </a:xfrm>
          <a:prstGeom prst="rect">
            <a:avLst/>
          </a:prstGeom>
          <a:noFill/>
          <a:ln/>
        </p:spPr>
        <p:txBody>
          <a:bodyPr wrap="square" lIns="0" tIns="0" rIns="0" bIns="0" rtlCol="0" anchor="t"/>
          <a:lstStyle/>
          <a:p>
            <a:pPr marL="0" indent="0">
              <a:buNone/>
            </a:pPr>
            <a:r>
              <a:rPr lang="en-US" sz="1100" b="1" kern="0" spc="50" dirty="0">
                <a:solidFill>
                  <a:srgbClr val="64748B"/>
                </a:solidFill>
              </a:rPr>
              <a:t>AND FOR EVERY BODY</a:t>
            </a:r>
            <a:endParaRPr lang="en-US" sz="1100" dirty="0"/>
          </a:p>
        </p:txBody>
      </p:sp>
      <p:sp>
        <p:nvSpPr>
          <p:cNvPr id="16" name="Panel And for every body list"/>
          <p:cNvSpPr txBox="1"/>
          <p:nvPr/>
        </p:nvSpPr>
        <p:spPr>
          <a:xfrm>
            <a:off x="731520" y="3947160"/>
            <a:ext cx="10789920" cy="14615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Settings: auto-apply, the no-response default, justification, reminders, recommendations, removeAccessApplyAction; recurrence uses only type, interval, dayOfMonth</a:t>
            </a:r>
            <a:endParaRPr lang="en-US" sz="1450" dirty="0"/>
          </a:p>
          <a:p>
            <a:pPr marL="342900" indent="-342900">
              <a:spcAft>
                <a:spcPts val="400"/>
              </a:spcAft>
              <a:buSzPct val="100000"/>
              <a:buChar char="•"/>
            </a:pPr>
            <a:r>
              <a:rPr lang="en-US" sz="1450" dirty="0">
                <a:solidFill>
                  <a:srgbClr val="334155"/>
                </a:solidFill>
              </a:rPr>
              <a:t>Azure definition ID is a GUID from the series name, so a rerun PUTs the same resource</a:t>
            </a:r>
            <a:endParaRPr lang="en-US" sz="1450" dirty="0"/>
          </a:p>
          <a:p>
            <a:pPr marL="342900" indent="-342900">
              <a:spcAft>
                <a:spcPts val="400"/>
              </a:spcAft>
              <a:buSzPct val="100000"/>
              <a:buChar char="•"/>
            </a:pPr>
            <a:r>
              <a:rPr lang="en-US" sz="1450" dirty="0">
                <a:solidFill>
                  <a:srgbClr val="334155"/>
                </a:solidFill>
              </a:rPr>
              <a:t>Learn's PUT body table lists only optional scope fields, not the four the code sets (resourceId, roleDefinitionId, principalType, assignmentState); Lab 2 confirms them (row 71)</a:t>
            </a:r>
            <a:endParaRPr lang="en-US" sz="14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 scope; reviewers; PIM for Groups reviews (preview); schedule settings; Azure access review definitions (preview). Chapter 07, “The bodies.”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AAA1B2C-F4C8-CD17-F964-19594F00EBE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5AAB38C-0A5F-4D6A-B978-A459BDF59B0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80"/>
    </mc:Choice>
    <mc:Fallback>
      <p:transition spd="slow" advTm="41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8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checks: PA-AR-01 to PA-AR-14</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74464"/>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56235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Severity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flags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reviewers: Graph treats that as a self-review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Learn;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fallback reviewer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Learn for PIM for Groups by owners;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descriptionForReviewers missing or over 256 characters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Monthly longer than 27 days, weekly longer than 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Learn (PIM page)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Auto-apply off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Deny or Recommendation on silence over active assignments of a role the emergency accounts hold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Learn's caution;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Warn; Info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No-response default isn't Deny (Warn); not Deny because of PA-AR-06 (Info)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PA-AR-08, 09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Justification not required; Tier 0 not monthly, or another tier not quarterly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 guidance (D-A6)</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PA-AR-10</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start date in the past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PA-AR-11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group as reviewer of an Azure role series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Learn: users, service principals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PA-AR-12, 13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 Warn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series share a name; a PAR- series the file doesn't list (never deleted)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PA-AR-14</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group that holds a reviewed role has no membership series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Owner's decision (row 73)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reviewers; PIM for Groups reviews; Create definitions; PIM role reviews; schedule settings; Azure definitions list. Chapter 07,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59372A4-6E25-1407-BBB4-2DAA691FBDC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CF6B4F-0ACF-4595-AC8A-C79A8B519B6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80"/>
    </mc:Choice>
    <mc:Fallback>
      <p:transition spd="slow" advTm="38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PA-AR-06: the one guard that changes the setting</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Remove access on silence, with auto-apply, over Global Administrator's active assignments: one missed month removes the emergency accounts.</a:t>
            </a:r>
            <a:endParaRPr lang="en-US" sz="1800" dirty="0"/>
          </a:p>
        </p:txBody>
      </p:sp>
      <p:sp>
        <p:nvSpPr>
          <p:cNvPr id="6" name="Panel The exception">
            <a:extLst>
              <a:ext uri="{C183D7F6-B498-43B3-948B-1728B52AA6E4}">
                <adec:decorative xmlns:adec="http://schemas.microsoft.com/office/drawing/2017/decorative" val="1"/>
              </a:ext>
            </a:extLst>
          </p:cNvPr>
          <p:cNvSpPr/>
          <p:nvPr/>
        </p:nvSpPr>
        <p:spPr>
          <a:xfrm>
            <a:off x="548640" y="2112264"/>
            <a:ext cx="5417820" cy="2828544"/>
          </a:xfrm>
          <a:prstGeom prst="roundRect">
            <a:avLst>
              <a:gd name="adj" fmla="val 258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e exception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EXCEPTION</a:t>
            </a:r>
            <a:endParaRPr lang="en-US" sz="1100" dirty="0"/>
          </a:p>
        </p:txBody>
      </p:sp>
      <p:sp>
        <p:nvSpPr>
          <p:cNvPr id="8" name="Panel The exception list"/>
          <p:cNvSpPr txBox="1"/>
          <p:nvPr/>
        </p:nvSpPr>
        <p:spPr>
          <a:xfrm>
            <a:off x="73152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emergency accounts hold Global Administrator as permanent active assignments (Chapter 02)</a:t>
            </a:r>
            <a:endParaRPr lang="en-US" sz="1600" dirty="0"/>
          </a:p>
          <a:p>
            <a:pPr marL="342900" indent="-342900">
              <a:spcAft>
                <a:spcPts val="400"/>
              </a:spcAft>
              <a:buSzPct val="100000"/>
              <a:buChar char="•"/>
            </a:pPr>
            <a:r>
              <a:rPr lang="en-US" sz="1600" dirty="0">
                <a:solidFill>
                  <a:srgbClr val="334155"/>
                </a:solidFill>
              </a:rPr>
              <a:t>Learn cautions that auto-apply with a default decision can revoke all access</a:t>
            </a:r>
            <a:endParaRPr lang="en-US" sz="1600" dirty="0"/>
          </a:p>
          <a:p>
            <a:pPr marL="342900" indent="-342900">
              <a:spcAft>
                <a:spcPts val="400"/>
              </a:spcAft>
              <a:buSzPct val="100000"/>
              <a:buChar char="•"/>
            </a:pPr>
            <a:r>
              <a:rPr lang="en-US" sz="1600" dirty="0">
                <a:solidFill>
                  <a:srgbClr val="334155"/>
                </a:solidFill>
              </a:rPr>
              <a:t>So the series that covers them uses "no change" on silence</a:t>
            </a:r>
            <a:endParaRPr lang="en-US" sz="1600" dirty="0"/>
          </a:p>
          <a:p>
            <a:pPr marL="342900" indent="-342900">
              <a:spcAft>
                <a:spcPts val="400"/>
              </a:spcAft>
              <a:buSzPct val="100000"/>
              <a:buChar char="•"/>
            </a:pPr>
            <a:r>
              <a:rPr lang="en-US" sz="1600" dirty="0">
                <a:solidFill>
                  <a:srgbClr val="334155"/>
                </a:solidFill>
              </a:rPr>
              <a:t>An unreviewed item becomes an evidence finding instead (PA-AR-E04)</a:t>
            </a:r>
            <a:endParaRPr lang="en-US" sz="1600" dirty="0"/>
          </a:p>
        </p:txBody>
      </p:sp>
      <p:sp>
        <p:nvSpPr>
          <p:cNvPr id="9" name="Panel Everywhere else">
            <a:extLst>
              <a:ext uri="{C183D7F6-B498-43B3-948B-1728B52AA6E4}">
                <adec:decorative xmlns:adec="http://schemas.microsoft.com/office/drawing/2017/decorative" val="1"/>
              </a:ext>
            </a:extLst>
          </p:cNvPr>
          <p:cNvSpPr/>
          <p:nvPr/>
        </p:nvSpPr>
        <p:spPr>
          <a:xfrm>
            <a:off x="6240780" y="2112264"/>
            <a:ext cx="5417820" cy="2828544"/>
          </a:xfrm>
          <a:prstGeom prst="roundRect">
            <a:avLst>
              <a:gd name="adj" fmla="val 25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Everywhere else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EVERYWHERE ELSE</a:t>
            </a:r>
            <a:endParaRPr lang="en-US" sz="1100" dirty="0"/>
          </a:p>
        </p:txBody>
      </p:sp>
      <p:sp>
        <p:nvSpPr>
          <p:cNvPr id="11" name="Panel Everywhere else list"/>
          <p:cNvSpPr txBox="1"/>
          <p:nvPr/>
        </p:nvSpPr>
        <p:spPr>
          <a:xfrm>
            <a:off x="642366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Every other privileged series removes access on silence</a:t>
            </a:r>
            <a:endParaRPr lang="en-US" sz="1600" dirty="0"/>
          </a:p>
          <a:p>
            <a:pPr marL="342900" indent="-342900">
              <a:spcAft>
                <a:spcPts val="400"/>
              </a:spcAft>
              <a:buSzPct val="100000"/>
              <a:buChar char="•"/>
            </a:pPr>
            <a:r>
              <a:rPr lang="en-US" sz="1600" dirty="0">
                <a:solidFill>
                  <a:srgbClr val="334155"/>
                </a:solidFill>
              </a:rPr>
              <a:t>PA-AR-07 reports the exception as Info, not Warn</a:t>
            </a:r>
            <a:endParaRPr lang="en-US" sz="1600" dirty="0"/>
          </a:p>
          <a:p>
            <a:pPr marL="342900" indent="-342900">
              <a:spcAft>
                <a:spcPts val="400"/>
              </a:spcAft>
              <a:buSzPct val="100000"/>
              <a:buChar char="•"/>
            </a:pPr>
            <a:r>
              <a:rPr lang="en-US" sz="1600" dirty="0">
                <a:solidFill>
                  <a:srgbClr val="334155"/>
                </a:solidFill>
              </a:rPr>
              <a:t>The owner's decision (research gaps, row 74); Book 04, Ch 08's Step 8 records the exception</a:t>
            </a:r>
            <a:endParaRPr lang="en-US" sz="1600" dirty="0"/>
          </a:p>
          <a:p>
            <a:pPr marL="342900" indent="-342900">
              <a:spcAft>
                <a:spcPts val="400"/>
              </a:spcAft>
              <a:buSzPct val="100000"/>
              <a:buChar char="•"/>
            </a:pPr>
            <a:r>
              <a:rPr lang="en-US" sz="1600" dirty="0">
                <a:solidFill>
                  <a:srgbClr val="334155"/>
                </a:solidFill>
              </a:rPr>
              <a:t>Lab 1, step 8: set Deny on it, and -Apply refuses</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accessReviewScheduleSettings resource type (auto-apply caution). Chapter 02; Book 04, Ch 08 Step 8. Chapter 07, “The checks” — PA-AR-06.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6DD2838-AFD5-27AE-44C6-615012BACB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CD11E50-7B81-4C21-AE30-7D7F25B225B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80"/>
    </mc:Choice>
    <mc:Fallback>
      <p:transition spd="slow" advTm="3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dry run, the diff, and -Apply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7744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When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-Apply does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Create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Not in the tenant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POST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Update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Settings, descriptions, fallback reviewers or user reviewers differ</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PUT of the full object, by ID; applies to future instances only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Replace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scope differs, or reviewers that are groups differ: the update API won't take them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Nothing: left to a person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NoChange; Unmanaged; Conflict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Matches; PAR- prefix but not in the file; a name used twice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Nothing; Conflict stops -Apply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nel The plan">
            <a:extLst>
              <a:ext uri="{C183D7F6-B498-43B3-948B-1728B52AA6E4}">
                <adec:decorative xmlns:adec="http://schemas.microsoft.com/office/drawing/2017/decorative" val="1"/>
              </a:ext>
            </a:extLst>
          </p:cNvPr>
          <p:cNvSpPr/>
          <p:nvPr/>
        </p:nvSpPr>
        <p:spPr>
          <a:xfrm>
            <a:off x="548640" y="3886200"/>
            <a:ext cx="5417820" cy="1664208"/>
          </a:xfrm>
          <a:prstGeom prst="roundRect">
            <a:avLst>
              <a:gd name="adj" fmla="val 439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plan label"/>
          <p:cNvSpPr txBox="1"/>
          <p:nvPr/>
        </p:nvSpPr>
        <p:spPr>
          <a:xfrm>
            <a:off x="731520" y="399592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PLAN</a:t>
            </a:r>
            <a:endParaRPr lang="en-US" sz="1100" dirty="0"/>
          </a:p>
        </p:txBody>
      </p:sp>
      <p:sp>
        <p:nvSpPr>
          <p:cNvPr id="8" name="Panel The plan list"/>
          <p:cNvSpPr txBox="1"/>
          <p:nvPr/>
        </p:nvSpPr>
        <p:spPr>
          <a:xfrm>
            <a:off x="731520" y="4297680"/>
            <a:ext cx="5097780" cy="12070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Get-PaArPlan reads with GET only, matches by name, compares only the properties the file sets</a:t>
            </a:r>
            <a:endParaRPr lang="en-US" sz="1500" dirty="0"/>
          </a:p>
          <a:p>
            <a:pPr marL="342900" indent="-342900">
              <a:spcAft>
                <a:spcPts val="400"/>
              </a:spcAft>
              <a:buSzPct val="100000"/>
              <a:buChar char="•"/>
            </a:pPr>
            <a:r>
              <a:rPr lang="en-US" sz="1500" dirty="0">
                <a:solidFill>
                  <a:srgbClr val="334155"/>
                </a:solidFill>
              </a:rPr>
              <a:t>By name on purpose: $filter isn't supported on principalResourceMembershipsScope</a:t>
            </a:r>
            <a:endParaRPr lang="en-US" sz="1500" dirty="0"/>
          </a:p>
        </p:txBody>
      </p:sp>
      <p:sp>
        <p:nvSpPr>
          <p:cNvPr id="9" name="Panel The apply">
            <a:extLst>
              <a:ext uri="{C183D7F6-B498-43B3-948B-1728B52AA6E4}">
                <adec:decorative xmlns:adec="http://schemas.microsoft.com/office/drawing/2017/decorative" val="1"/>
              </a:ext>
            </a:extLst>
          </p:cNvPr>
          <p:cNvSpPr/>
          <p:nvPr/>
        </p:nvSpPr>
        <p:spPr>
          <a:xfrm>
            <a:off x="6240780" y="3886200"/>
            <a:ext cx="5417820" cy="1664208"/>
          </a:xfrm>
          <a:prstGeom prst="roundRect">
            <a:avLst>
              <a:gd name="adj" fmla="val 439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Panel The apply label"/>
          <p:cNvSpPr txBox="1"/>
          <p:nvPr/>
        </p:nvSpPr>
        <p:spPr>
          <a:xfrm>
            <a:off x="6423660" y="399592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THE APPLY</a:t>
            </a:r>
            <a:endParaRPr lang="en-US" sz="1100" dirty="0"/>
          </a:p>
        </p:txBody>
      </p:sp>
      <p:sp>
        <p:nvSpPr>
          <p:cNvPr id="11" name="Panel The apply list"/>
          <p:cNvSpPr txBox="1"/>
          <p:nvPr/>
        </p:nvSpPr>
        <p:spPr>
          <a:xfrm>
            <a:off x="6423660" y="4297680"/>
            <a:ext cx="5097780" cy="12070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Refuses a plan with any Finding; Azure series only with -IncludePreview; never deletes; reads back</a:t>
            </a:r>
            <a:endParaRPr lang="en-US" sz="1500" dirty="0"/>
          </a:p>
          <a:p>
            <a:pPr marL="342900" indent="-342900">
              <a:spcAft>
                <a:spcPts val="400"/>
              </a:spcAft>
              <a:buSzPct val="100000"/>
              <a:buChar char="•"/>
            </a:pPr>
            <a:r>
              <a:rPr lang="en-US" sz="1500" dirty="0">
                <a:solidFill>
                  <a:srgbClr val="334155"/>
                </a:solidFill>
              </a:rPr>
              <a:t>Replace needs a person: deleting a definition deletes its instances and decisions, which are evidence</a:t>
            </a:r>
            <a:endParaRPr lang="en-US" sz="15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definitions ($filter); Update accessReviewScheduleDefinition; tutorial (delete removes instances). Chapter 07, “The dry run, the diff and -Apply.”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F8E9D79-FE99-38CD-0313-9DE7943EE25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AED1A7-40B5-4885-A2D4-69ABD755ED6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00"/>
    </mc:Choice>
    <mc:Fallback>
      <p:transition spd="slow" advTm="3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0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decisions read back for the ISSO</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40964"/>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781812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configured series isn't in the tenant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closed instance within 35 days (monthly) or 100 days (quarterly)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denial whose apply result isn't AppliedSuccessfully or AppliedSuccessfullyButObjectNotFound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(Tier 0);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reviewed in a closed instance: the no-response default decided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PA-AR-E05, E06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Approved without a justification; a principal reviewed their own access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Five or more identical decisions by one reviewer within five minutes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PA-AR-E08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emergency access account was denied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649724"/>
            <a:ext cx="11109960" cy="973836"/>
          </a:xfrm>
          <a:prstGeom prst="roundRect">
            <a:avLst>
              <a:gd name="adj" fmla="val 75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749808" y="4816602"/>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70221"/>
            <a:ext cx="332842" cy="332842"/>
          </a:xfrm>
          <a:prstGeom prst="rect">
            <a:avLst/>
          </a:prstGeom>
        </p:spPr>
      </p:pic>
      <p:sp>
        <p:nvSpPr>
          <p:cNvPr id="9" name="Callout text"/>
          <p:cNvSpPr txBox="1"/>
          <p:nvPr/>
        </p:nvSpPr>
        <p:spPr>
          <a:xfrm>
            <a:off x="1600200" y="4704588"/>
            <a:ext cx="9875520" cy="864108"/>
          </a:xfrm>
          <a:prstGeom prst="rect">
            <a:avLst/>
          </a:prstGeom>
          <a:noFill/>
          <a:ln/>
        </p:spPr>
        <p:txBody>
          <a:bodyPr wrap="square" lIns="0" tIns="0" rIns="0" bIns="0" rtlCol="0" anchor="ctr"/>
          <a:lstStyle/>
          <a:p>
            <a:pPr marL="0" indent="0">
              <a:buNone/>
            </a:pPr>
            <a:r>
              <a:rPr lang="en-US" sz="1650" b="1" dirty="0">
                <a:solidFill>
                  <a:srgbClr val="0F766E"/>
                </a:solidFill>
              </a:rPr>
              <a:t>Get-PaArEvidence reads </a:t>
            </a:r>
            <a:r>
              <a:rPr lang="en-US" sz="1650" dirty="0">
                <a:solidFill>
                  <a:srgbClr val="334155"/>
                </a:solidFill>
              </a:rPr>
              <a:t>every series, instance and decision, $top=100 following the next link (or $skip; row 77), into decisions.csv, instances.json, findings.json and a hashed manifest. The rows name people: treat the folder as evidence.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decisions; decision item resource type; Azure decisions and instances (preview). Chapter 07, “The evidence.”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0BEA8A2-0914-E821-2472-FFF6C72930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672189-EF68-4CCD-A1D4-BA131B9E520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60"/>
    </mc:Choice>
    <mc:Fallback>
      <p:transition spd="slow" advTm="3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the reviews, and least privilege per call</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00" dirty="0">
                <a:solidFill>
                  <a:srgbClr val="334155"/>
                </a:solidFill>
              </a:rPr>
              <a:t>Build the governance pipeline; read PowerShell 7 and JSON;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marL="0" indent="0">
              <a:spcAft>
                <a:spcPts val="300"/>
              </a:spcAft>
              <a:buNone/>
            </a:pPr>
            <a:r>
              <a:rPr lang="en-US" sz="1500" dirty="0">
                <a:solidFill>
                  <a:srgbClr val="334155"/>
                </a:solidFill>
              </a:rPr>
              <a:t>Owns the reviews: the plan's owner of A2.7 and A3.7</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ISSO</a:t>
            </a:r>
            <a:endParaRPr lang="en-US" sz="1400" dirty="0"/>
          </a:p>
          <a:p>
            <a:pPr marL="0" indent="0">
              <a:spcAft>
                <a:spcPts val="300"/>
              </a:spcAft>
              <a:buNone/>
            </a:pPr>
            <a:r>
              <a:rPr lang="en-US" sz="1500" dirty="0">
                <a:solidFill>
                  <a:srgbClr val="334155"/>
                </a:solidFill>
              </a:rPr>
              <a:t>Reads the results: decisions.csv and the evidence findings</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2042160"/>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List definitions, instances, decisions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AccessReview.Read.All (delegated: Security Reader)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apply, evidence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Create (POST), update (PUT) a definition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AccessReview.ReadWrite.All (Privileged Role Administrator)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Azure: list definitions, instances, decisions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Reader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apply, evidence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Azure: create or update by ID (PUT, preview)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User Access Administrator, not Owner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apply, -IncludePreview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Lead"/>
          <p:cNvSpPr txBox="1"/>
          <p:nvPr/>
        </p:nvSpPr>
        <p:spPr>
          <a:xfrm>
            <a:off x="548640" y="512064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Learn differs on who creates a role review; the program follows the PIM page and applies as an app (row 78).</a:t>
            </a:r>
            <a:endParaRPr lang="en-US" sz="18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definitions, instances, decisions; Create; Update; PIM role reviews; built-in roles; deployment plan; API overview. Chapter 07,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4F645168-A012-A251-D36C-196B2C3619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05BFB5-8C9B-45A1-BB8E-59D7D187CB3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00"/>
    </mc:Choice>
    <mc:Fallback>
      <p:transition spd="slow" advTm="39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0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run the tutorial and the dry run offline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1  Learn's tutorial against the fake: PassedCount 11, FailedCount 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Invoke-Pester -Path tests/AccessReviews.Tests.ps1 -FullNameFilter '*(Learn), run as published*'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2  Each task's permissions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'access-reviews-plan', 'access-reviews-apply', 'access-reviews-evidence'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ForEach-Object { Get-PaArRequiredPermission -Task $_ } | Format-Table Task, GraphPermissions, AzureRoles</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3  The dry run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./Invoke-PaAccessReviews.ps1 -Cloud gcc -Mode Plan -ConfigPath tests/fixtures/ch07/access-reviews.json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-FixturePath tests/fixtures/ch07/tenant.json -AsOf 2026-10-30 -OutputPath out/reviews-plan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Plan: 1 Create, 2 Update, 1 Replace, 3 NoChange, 1 Unmanaged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Checks: 0 Finding, 1 Warn, 1 Info</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Dry run: nothing sent (2 write(s) would be sent with -Apply)</a:t>
            </a:r>
            <a:endParaRPr lang="en-US" sz="13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4172712"/>
          <a:ext cx="11109960" cy="1673352"/>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Step 4, the diff</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Global Administrator, Azure Owner: Update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settings.instanceDurationInDays: the tenant has 7 days, the file 14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Privileged Role Administrator: Create; Exchange: Replace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Not in the tenant; an old reviewer group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PAR-T0-SecurityAdministrator-Monthly: Unmanaged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Made by hand in the portal; the three PRV-* series are NoChange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07,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40EEDE99-F79C-A9D3-5DEB-1EA09BE577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73A9EE-6803-4121-B5EE-F1A63FC9E60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80"/>
    </mc:Choice>
    <mc:Fallback>
      <p:transition spd="slow" advTm="39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body, the apply, the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809244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5  Learn's body, checked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PA-AR-02, 03 and 05 as Findings; PA-AR-07 and 10 as Warns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6  -Apply in the fake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"Applied: 2 write(s) sent; Replace and Unmanaged series are left for a person": Global Administrator and Privileged Role Administrator Sent, read back; the rest Skipped, each with its reason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7652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7  The evidence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18 decisions in 7 instances; 7 Finding, 2 Warn: E01 (Privileged Role Administrator not in the tenant), E02 (PRV-T0-GlobalAdmin last ended September 15), E08 (Emergency Access 02 denied), E04 (Frank Ode, Tier 0; Warn for Gina Lee), E05 (Carl Ops), E03 (a denial that didn't apply), E06 (Bo Chen approved their own access), E07 (five approvals in two minutes)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8  The lockout guard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Set Deny on the Global Administrator series: "Refusing -Apply: the plan has 1 Finding(s): PA-AR-06". Nothing is sent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9  Invoke-Pester -Path tests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330 passing; 57 are this chapter's, 11 on Learn's tutorial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4940808"/>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Delete out when you're done: the evidence folder names people.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tenant). Chapter 07, “Lab 1: fixtures, no tenant,” steps 5–9;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1A28056-4B62-E785-EF13-918076D2483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B747FE-EE24-4640-A248-871F4838E1A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40"/>
    </mc:Choice>
    <mc:Fallback>
      <p:transition spd="slow" advTm="34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one real review, closed and read back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Register two apps: </a:t>
            </a:r>
            <a:r>
              <a:rPr lang="en-US" sz="1450" dirty="0">
                <a:solidFill>
                  <a:srgbClr val="334155"/>
                </a:solidFill>
              </a:rPr>
              <a:t>With certificates: a reader with AccessReview.Read.All, an applier with AccessReview.ReadWrite.All, nothing else; a reviewer group and a fallback group</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Dry run as the reader: </a:t>
            </a:r>
            <a:r>
              <a:rPr lang="en-US" sz="1450" dirty="0">
                <a:solidFill>
                  <a:srgbClr val="334155"/>
                </a:solidFill>
              </a:rPr>
              <a:t>One Entra role series for a test role, today's start, a 1-day duration: expect 1 Create, and a PA-AR-10 Warn if the date has passed in UTC</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Apply as the applier: </a:t>
            </a:r>
            <a:r>
              <a:rPr lang="en-US" sz="1450" dirty="0">
                <a:solidFill>
                  <a:srgbClr val="334155"/>
                </a:solidFill>
              </a:rPr>
              <a:t>After a second person reads bodies/: Sent, read back; rerun: NoChange; change the duration: an Update with group reviewers succeeds (row 79)</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Review and close one instance: </a:t>
            </a:r>
            <a:r>
              <a:rPr lang="en-US" sz="1450" dirty="0">
                <a:solidFill>
                  <a:srgbClr val="334155"/>
                </a:solidFill>
              </a:rPr>
              <a:t>Approve the test user in My Access with a justification; stop the instance so it completes and applies</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Read the evidence: </a:t>
            </a:r>
            <a:r>
              <a:rPr lang="en-US" sz="1450" dirty="0">
                <a:solidFill>
                  <a:srgbClr val="334155"/>
                </a:solidFill>
              </a:rPr>
              <a:t>-Mode Evidence: one row in decisions.csv with its apply result; note whether @odata.nextLink came back (row 77)</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Optional Azure, then back out: </a:t>
            </a:r>
            <a:r>
              <a:rPr lang="en-US" sz="1450" dirty="0">
                <a:solidFill>
                  <a:srgbClr val="334155"/>
                </a:solidFill>
              </a:rPr>
              <a:t>-Apply -IncludePreview as User Access Administrator (row 71). Export evidence first; delete the series by hand, the apps, groups and out/t-*</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with ID Governance (a trial will do), never production; a role with no real holders, such as Reports Reader, not Global Administrator.</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research gaps rows 71, 77, 79. Chapter 07,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C2DD6CD-D26D-FA4D-6564-38EB3BB2060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F3760A6-DA45-4948-A730-BD9B196597B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00"/>
    </mc:Choice>
    <mc:Fallback>
      <p:transition spd="slow" advTm="3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9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3924"/>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Remove access on silence over the emergency accounts' Global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One missed month removes the accounts kept for the worst day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PA-AR-06 refuses -Apply; PA-AR-E08; Chapter 02's PA-EA-05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self-review; one reviewer, no fallback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Assignees approve themselves; the review stalls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PA-AR-01, E06; reviewer groups, PA-AR-02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Auto-apply off; a rerun of a POST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Denials change nothing; two series, split evidence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PA-AR-05, E03; the dry run reads first, PA-AR-12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scope change as an update; deleting to replace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Can't be made in place; instances and decisions lost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Replace, left to a person; never deletes; export first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role held by a group; an Azure role held by a group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group approved, not members; a denied user stays in the group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Membership series, PA-AR-14; Chapter 01's inventory and the 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Bulk approval; a preview API changes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Decisions without reading; Azure series break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PA-AR-E07, PA-AR-08; -IncludePreview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write permission on a read-only job; evidence names people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compromised reader changes reviews; names leak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Separate identities, pinned by tests; output treated as evidence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an access review of Azure resource and Microsoft Entra roles in PIM. Chapter 07,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E9EFA8D-BBB4-A377-9DF9-664348E229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CD3ECF-D806-4711-939D-CD92543BFBD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10"/>
    </mc:Choice>
    <mc:Fallback>
      <p:transition spd="slow" advTm="36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series">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seri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SERIES</a:t>
            </a:r>
            <a:endParaRPr lang="en-US" sz="1100" dirty="0"/>
          </a:p>
        </p:txBody>
      </p:sp>
      <p:sp>
        <p:nvSpPr>
          <p:cNvPr id="7" name="Panel The series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One series per privileged Entra role in use, per PRV-* group, and per privileged Azure role at each control-plane subscription, all PAR- prefixed</a:t>
            </a:r>
            <a:endParaRPr lang="en-US" sz="1450" dirty="0"/>
          </a:p>
          <a:p>
            <a:pPr marL="342900" indent="-342900">
              <a:spcAft>
                <a:spcPts val="400"/>
              </a:spcAft>
              <a:buSzPct val="100000"/>
              <a:buChar char="•"/>
            </a:pPr>
            <a:r>
              <a:rPr lang="en-US" sz="1450" dirty="0">
                <a:solidFill>
                  <a:srgbClr val="334155"/>
                </a:solidFill>
              </a:rPr>
              <a:t>No Finding in the dry run; a second person read plan.json and bodies/ before -Apply</a:t>
            </a:r>
            <a:endParaRPr lang="en-US" sz="1450" dirty="0"/>
          </a:p>
          <a:p>
            <a:pPr marL="342900" indent="-342900">
              <a:spcAft>
                <a:spcPts val="400"/>
              </a:spcAft>
              <a:buSzPct val="100000"/>
              <a:buChar char="•"/>
            </a:pPr>
            <a:r>
              <a:rPr lang="en-US" sz="1450" dirty="0">
                <a:solidFill>
                  <a:srgbClr val="334155"/>
                </a:solidFill>
              </a:rPr>
              <a:t>Every series has a reviewer group and a fallback; none is a self-review; no PA-AR-14</a:t>
            </a:r>
            <a:endParaRPr lang="en-US" sz="1450" dirty="0"/>
          </a:p>
          <a:p>
            <a:pPr marL="342900" indent="-342900">
              <a:spcAft>
                <a:spcPts val="400"/>
              </a:spcAft>
              <a:buSzPct val="100000"/>
              <a:buChar char="•"/>
            </a:pPr>
            <a:r>
              <a:rPr lang="en-US" sz="1450" dirty="0">
                <a:solidFill>
                  <a:srgbClr val="334155"/>
                </a:solidFill>
              </a:rPr>
              <a:t>Tier 0 monthly, the rest quarterly, 14 days, auto-apply on, justification required</a:t>
            </a:r>
            <a:endParaRPr lang="en-US" sz="1450" dirty="0"/>
          </a:p>
          <a:p>
            <a:pPr marL="342900" indent="-342900">
              <a:spcAft>
                <a:spcPts val="400"/>
              </a:spcAft>
              <a:buSzPct val="100000"/>
              <a:buChar char="•"/>
            </a:pPr>
            <a:r>
              <a:rPr lang="en-US" sz="1450" dirty="0">
                <a:solidFill>
                  <a:srgbClr val="334155"/>
                </a:solidFill>
              </a:rPr>
              <a:t>Only the emergency accounts' Global Administrator series keeps access on silence, with follow-up</a:t>
            </a:r>
            <a:endParaRPr lang="en-US" sz="1450" dirty="0"/>
          </a:p>
        </p:txBody>
      </p:sp>
      <p:sp>
        <p:nvSpPr>
          <p:cNvPr id="8" name="Panel Permissions and evidence">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ermissions and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PERMISSIONS AND EVIDENCE</a:t>
            </a:r>
            <a:endParaRPr lang="en-US" sz="1100" dirty="0"/>
          </a:p>
        </p:txBody>
      </p:sp>
      <p:sp>
        <p:nvSpPr>
          <p:cNvPr id="10" name="Panel Permissions and evidence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plan identity holds only AccessReview.Read.All and Reader; the apply identity only AccessReview.ReadWrite.All and User Access Administrator where needed</a:t>
            </a:r>
            <a:endParaRPr lang="en-US" sz="1450" dirty="0"/>
          </a:p>
          <a:p>
            <a:pPr marL="342900" indent="-342900">
              <a:spcAft>
                <a:spcPts val="400"/>
              </a:spcAft>
              <a:buSzPct val="100000"/>
              <a:buChar char="•"/>
            </a:pPr>
            <a:r>
              <a:rPr lang="en-US" sz="1450" dirty="0">
                <a:solidFill>
                  <a:srgbClr val="334155"/>
                </a:solidFill>
              </a:rPr>
              <a:t>Azure series applied only with -IncludePreview, after Lab 2 step 6 passed</a:t>
            </a:r>
            <a:endParaRPr lang="en-US" sz="1450" dirty="0"/>
          </a:p>
          <a:p>
            <a:pPr marL="342900" indent="-342900">
              <a:spcAft>
                <a:spcPts val="400"/>
              </a:spcAft>
              <a:buSzPct val="100000"/>
              <a:buChar char="•"/>
            </a:pPr>
            <a:r>
              <a:rPr lang="en-US" sz="1450" dirty="0">
                <a:solidFill>
                  <a:srgbClr val="334155"/>
                </a:solidFill>
              </a:rPr>
              <a:t>Every closed instance has decisions.csv and a manifest in the evidence store; every evidence Finding has an owner</a:t>
            </a:r>
            <a:endParaRPr lang="en-US" sz="1450" dirty="0"/>
          </a:p>
          <a:p>
            <a:pPr marL="342900" indent="-342900">
              <a:spcAft>
                <a:spcPts val="400"/>
              </a:spcAft>
              <a:buSzPct val="100000"/>
              <a:buChar char="•"/>
            </a:pPr>
            <a:r>
              <a:rPr lang="en-US" sz="1450" dirty="0">
                <a:solidFill>
                  <a:srgbClr val="334155"/>
                </a:solidFill>
              </a:rPr>
              <a:t>The pinned tutorial matches its manifest; every upstream commit since reviewed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88137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95452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094976"/>
            <a:ext cx="304312" cy="304312"/>
          </a:xfrm>
          <a:prstGeom prst="rect">
            <a:avLst/>
          </a:prstGeom>
        </p:spPr>
      </p:pic>
      <p:sp>
        <p:nvSpPr>
          <p:cNvPr id="14" name="Callout text"/>
          <p:cNvSpPr txBox="1"/>
          <p:nvPr/>
        </p:nvSpPr>
        <p:spPr>
          <a:xfrm>
            <a:off x="1600200" y="493623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08, Evidence and Drift for the ISSO.</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07, “Checklist”; microsoft-graph-docs-contrib at a693031 (the pinned tutorial). Chapter 07,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DE3410D-4E40-DCDC-0EB2-0F8D296EE02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E5A783-AC2B-46C5-8A39-5486B6FEB3C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00"/>
    </mc:Choice>
    <mc:Fallback>
      <p:transition spd="slow" advTm="3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14253</Words>
  <Application>Microsoft Office PowerPoint</Application>
  <PresentationFormat>Widescreen</PresentationFormat>
  <Paragraphs>451</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07: Access Reviews of Privileged Roles</vt:lpstr>
      <vt:lpstr>Why reviews, and why as code</vt:lpstr>
      <vt:lpstr>What it costs, and which cloud it runs in</vt:lpstr>
      <vt:lpstr>Learn's tutorial, pinned and run against a fake</vt:lpstr>
      <vt:lpstr>What the tutorial leaves to you: the review itself</vt:lpstr>
      <vt:lpstr>What it leaves to you: evidence, targets, permission</vt:lpstr>
      <vt:lpstr>The reviewed file: seven series in the fixture</vt:lpstr>
      <vt:lpstr>The bodies: built only from Learn's documented shapes</vt:lpstr>
      <vt:lpstr>The checks: PA-AR-01 to PA-AR-14</vt:lpstr>
      <vt:lpstr>PA-AR-06: the one guard that changes the setting</vt:lpstr>
      <vt:lpstr>The dry run, the diff, and -Apply</vt:lpstr>
      <vt:lpstr>The evidence: decisions read back for the ISSO</vt:lpstr>
      <vt:lpstr>Who owns the reviews, and least privilege per call</vt:lpstr>
      <vt:lpstr>Lab 1: run the tutorial and the dry run offline</vt:lpstr>
      <vt:lpstr>Lab 1: Learn's body, the apply, the evidence</vt:lpstr>
      <vt:lpstr>Lab 2: one real review, closed and read back</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07 — Access Reviews of Privileged Roles</dc:title>
  <dc:subject>PptxGenJS Presentation</dc:subject>
  <dc:creator>Michael F. Stratton</dc:creator>
  <cp:lastModifiedBy>Michael F. Stratton</cp:lastModifiedBy>
  <cp:revision>2</cp:revision>
  <dcterms:created xsi:type="dcterms:W3CDTF">2026-10-31T14:33:58Z</dcterms:created>
  <dcterms:modified xsi:type="dcterms:W3CDTF">2026-10-31T16:24:36Z</dcterms:modified>
</cp:coreProperties>
</file>