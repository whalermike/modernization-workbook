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visibility comes first" id="{220A6204-6CFE-00F5-2E35-3714B49E574C}">
          <p14:sldIdLst>
            <p14:sldId id="256"/>
            <p14:sldId id="257"/>
            <p14:sldId id="258"/>
            <p14:sldId id="259"/>
            <p14:sldId id="260"/>
          </p14:sldIdLst>
        </p14:section>
        <p14:section name="What to collect, keep and act on" id="{6FD19501-E434-E81F-F7DB-0C017B6ACB3F}">
          <p14:sldIdLst>
            <p14:sldId id="261"/>
            <p14:sldId id="262"/>
            <p14:sldId id="263"/>
            <p14:sldId id="264"/>
            <p14:sldId id="265"/>
            <p14:sldId id="266"/>
          </p14:sldIdLst>
        </p14:section>
        <p14:section name="Who runs security operations" id="{4AE9F012-A1F8-5DF5-B761-F7A5C4E05460}">
          <p14:sldIdLst>
            <p14:sldId id="267"/>
            <p14:sldId id="268"/>
            <p14:sldId id="269"/>
          </p14:sldIdLst>
        </p14:section>
        <p14:section name="How to respond and evidence it" id="{51D92FAF-D0D6-A552-83C8-B3D35F9717DF}">
          <p14:sldIdLst>
            <p14:sldId id="270"/>
            <p14:sldId id="271"/>
            <p14:sldId id="272"/>
            <p14:sldId id="273"/>
            <p14:sldId id="274"/>
          </p14:sldIdLst>
        </p14:section>
        <p14:section name="Backup" id="{C915407D-D606-E34E-0278-D82CF77854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764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[0:00–1:44]  This is the executive briefing for Book 12 of the Federal Modernization Workbook, Security Operations and Telemetry. It runs about thirty minutes, for the people who decide what the agency can see and what it does about it: the CISO, the SOC lead, the CIO and the authorizing officials.
The book's question is why you can't defend what you can't see, and the argument runs in three sentences. Detection and response are only as good as the telemetry that reaches them, and the gaps that matter most raise no alarm: a plane that never emitted looks exactly like a plane where nothing happened. A log warehouse isn't a detection engine; storing everything satisfies nobody's requirement to analyze it. And a finding closes only when the thing is fixed, with proof.
I'll take four questions: why visibility comes first, and what federal policy now requires; what to collect, keep and act on, including the SIEM, data and retention decisions and their cost; who runs security operations, and who accepts the risk of what isn't seen; and how to respond and evidence it.
Two labels run through the deck, as they do through the book. The evidence contract, the six planes, the ownership model, the response ladder and the metrics are the program's design, not federal requirements. And product statements are dated observations, as of October 21, 2026.
Every decision slide names the decision, its owner and when it's needed, and the last slide gathers them into one table.
Workbook: Book 12, index; Chapter 01 — You Can't Defend What You Can't See (The question this book answers; The case in one paragraph).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[1:44–3:24]  Most agencies would say they already act on this. They run a SIEM, pay for log storage, and can show an auditor a dashboard with millions of events a day. The trouble is that each of those measures what arrived. None of them measures what didn't.
The figure shows four ways a gap stays silent. Some sources are never connected: in Azure, the logs that record what happens inside a resource aren't collected until someone adds a setting for that resource. Some are connected but not flowing: Microsoft's own guidance says a connector's green status means a collection rule exists, not that data arrived. Some are collected but never analyzed, because data kept in a low-cost tier generates no alerts. And some are switched off on purpose; CISA warns that disabling logging is well-documented attacker behavior.
The 2023 intrusion into Exchange Online mailboxes shows what's at stake. It was first detected by a federal victim, using mailbox-access events that were then available only with a premium audit license. Microsoft later extended those logs to lower license tiers. The organizations that didn't have them weren't warned by their absence. They simply had nothing to look at.
So the takeaway: none of these gaps can be found by looking at what arrived. M-26-14 tells agencies to use asset data to confirm that log coverage spans all their IT, and BOD 23-01 calls asset visibility a basic precondition.
Workbook: Book 12, Chapter 01 — You Can't Defend What You Can't See (For decision makers; Why gaps stay silent; BOD 23-01 and CDM: the asset denominator).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[3:24–5:05]  The distinction this book rests on is between two things that are easy to buy as one: a place where logs are kept, and a capability that looks at them.
NIST keeps them in separate controls. AU-12 requires the system to generate audit records. AU-6 is a different obligation: review and analyze those records for signs of unusual activity, report what's found, and adjust when risk changes. SI-4 adds monitoring for attacks. An agency can satisfy AU-12 completely and still fail AU-6 and SI-4, if nothing that would notice an attack ever reads the records.
M-26-14 makes the same distinction in federal policy. Logs must be actively searchable for six months, meaning detections can run on them without preparation, and retrievable for a year. Its last required activity is generating appropriate automated alerts for all of the others. And its maturity model scores collection by alerting: at the first level, actionable alerts cover less than half of the minimum baseline; at Level 3, at least 70 percent; at Level 4, at least 95.
Vendor architecture makes it concrete. Microsoft is plain that logs ingested only into Sentinel's data lake tier don't generate alerts.
So the program's rule, which is design: no source counts as monitored until an enabled rule reads it, and no rule counts until its output reaches a queue someone owns. The CISO, who owns detection requirements, sets it in the logging plan; security engineering builds it.
Workbook: Book 12, Chapter 01 (A warehouse is not a detection engine); Chapter 05 — From Log Warehouse to Detection (What AU-6 requires; Warehouse versus detection engine: the program's design rule); Chapter 10 (responsibility matrix: detection coverage priorities).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[5:05–6:46]  Now the federal requirement, as the book states it. OMB M-26-14, issued May 22, 2026, rescinded M-21-31 effective immediately. OMB's reason was that some of the old requirements, such as retaining vast quantities of logs without clear utility, proved neither feasible nor cost-effective. So the retention figures many teams still quote, a year active and eighteen months cold, were M-21-31's, and they're gone.
M-26-14 directs logging around two objectives: continuous event monitoring, and threat hunting, investigation, response and forensics. It covers every system the agency operates or a third party operates for it. Logs must be searchable for six months and retrievable for a year, and readily available to the agency's top-level SOC. After a compromise, agencies provide logs to CISA and the FBI on request. It names no product and no SIEM.
The clock runs from CISA's Logging Reference Architecture, published August 20. Counted from that date, the logging plan is due November 18, Level 1 on December 18, Level 2 in February and Level 3 in July 2027. Those dates are the program's arithmetic, not dates OMB published, which is why they carry an asterisk.
The other drivers are narrower than often said: BOD 25-01 is about configuration results reported to CISA; BOD 23-01 supplies the asset denominator; FedRAMP's 2026 indicators bind cloud providers, not agencies.
The book's ask: the CISO owns the Agency Logging Plan, and it's funded as the visibility plan, not a storage purchase.
Workbook: Book 12, Chapter 01 (What the federal drivers actually require: M-26-14, BOD 25-01, BOD 23-01, FedRAMP's indicators; The case in one paragraph: Ask); Chapter 05 (Retention, briefly); Chapter 10 (responsibility matrix: Agency Logging Plan); Book 00, Chapter 01 (dates counted from the reference architecture).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[6:46–8:31]  A multi-cloud agency runs several management stacks, and each reports in its own schema against its own inventory. Five stacks, five inventories, five log formats. When an assessor asks whether a vulnerability is remediated across the whole estate, and to prove it, five partial views that don't reconcile can't answer.
The program's answer is an evidence contract: one record shape that every source emits, with its fields fixed in advance, correlated on one authoritative asset identity and on time, and delivered to the consumers the agency owes, CISA's continuous diagnostics program first among them. The contract is program design; the controls it closes are NIST's.
The join key is the point. Two records describe the same asset only if they carry the same identifier, and every stack has its own idea of what that is. So the key comes from the naming plane, the authoritative name or address from IPAM and DDI, not any stack's local ID. A service-management CMDB reconciles to it; it doesn't replace it. And M-26-14 requires timestamps synchronized to a traceable time source, which is the other half of the key.
Chapter 02's ask has three parts: stand up the naming plane before the evidence pipeline and reconcile every stack to it; write the contract into the Agency Logging Plan, which the CISO owns; and fund normalization as each source is onboarded, not as a later dashboard project. In the book's matrix, the naming plane belongs to the DNS and DDI team, with identity engineering.
Workbook: Book 12, Chapter 02 — Telemetry Is the Precondition: The Evidence Contract (Five stacks, five inventories; The case in one paragraph; The join key; One queue for every finding); Chapter 10 (plane owners table: naming plane).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[8:31–10:13]  Telemetry is emitted, not collected: the setting that makes a source talk lives in that source's platform. So the program treats the estate as six planes, each with its own native logging and its own ways of going quiet: identity, cloud platform, Microsoft 365, endpoints and servers, network and DNS, and data. The figure shows the owner of each.
Two properties matter more than the list. No plane covers the baseline alone: identity says who, the network says from where to where, the endpoint says what ran, and the data plane says what was touched. An investigation that needs all four fails if one is dark. And every plane applies to every system, including those a contractor runs for the agency.
The defaults are where visibility leaks. Entra ID keeps its own logs for about a month unless someone sends them somewhere. Azure keeps its activity log for 90 days and then deletes it, and it's the only place Azure records who created a resource. Resource logs aren't collected at all until a setting exists for each resource. And Microsoft 365 audit records keep a year only for users with an E5-level license; everyone else, including every guest, gets 180 days, a split no dashboard shows.
The matrix splits the emission decision on purpose. The CISO decides what each plane must emit, in the logging plan. Each platform owner decides how, and keeps it emitting. Security engineering decides where it lands.
Workbook: Book 12, Chapter 01 (The six planes that must emit); Chapter 03 — Identity Telemetry from Entra ID (opening); Chapter 04 — Azure Platform and Microsoft 365 Audit Telemetry (Part 1; Part 2; Retention follows the user's license); Chapter 10 (The platform owners; responsibility matrix: emission rows).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[10:13–11:57]  Modernization is a long run of changes, and change is when telemetry goes quiet. The book's mechanics add up to five places to watch; the list is this deck's gathering of them.
New resources are born silent unless policy makes emission a property of the platform. Azure Policy can deploy the setting automatically, but it fixes existing resources only when someone runs a remediation task; the common failure is a dashboard trending green while everything that predates the policy emits nothing. When a resource is deleted, renamed or moved, its diagnostic settings have to be removed too, or a re-created resource can inherit the old one; decommissioning runbooks include that step. During the move off Active Directory, Defender for Identity is how Sentinel and Defender see on-premises Kerberos and NTLM behavior at all. And the console itself is moving: after March 31, 2027, Sentinel is supported only in the Defender portal, so new work is planned there.
The check is on flow, not settings. A setting that saved without error isn't proof that logs arrive. The program checks the freshness of every table its rules read, keeps a per-device view for forwarded appliances, because a table can be fresh while one device behind it has gone quiet, and turns a stale required source into an incident.
The decision follows the matrix: platform owners keep emission on through every change; security engineering runs the checks; and an unexplained loss of emission is an incident, not a ticket.
Workbook: Book 12, Chapter 04 (Part 3: enforce emission with Azure Policy; Where DeployIfNotExists stops; The self-reference loop and the rename trap); Chapter 05 (Where Sentinel runs; User and entity behavior analytics; Proving the connectors still deliver); Chapter 03 (Verify emission); Chapter 10 (Keeping the roles apart, item 2;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[11:57–13:35]  The SIEM decision is less about which product and more about behavior. A workspace alone is a warehouse: nothing runs on a schedule, and review happens when someone thinks to ask. Analytics rules, incidents and automation are what make it a detection engine, whose output an assessor can trace.
The program's version of the decision is a division of labor, which is design. Defender XDR detects what its own sensors see: endpoints, on-premises identity attacks, email and cloud apps; the SIEM doesn't re-implement those. SIEM rules cover what Defender can't see: DNS and DDI, SASE, SQL audit, non-Microsoft clouds and appliances, and correlations across them. Detection logic for Defender data is written once. And streaming every raw table is a cost decision, not a default: stream the ones the SIEM's rules join, and leave the rest in Defender.
Two platform facts shape it. Once Sentinel is in the Defender portal, Defender creates incidents from both, so there's one queue in one portal. And availability differs by cloud: some features this book relies on aren't available in Azure Government, and Microsoft's own pages differ on one connector for DoD, so each capability is confirmed against the agency's own cloud before it goes into a design.
In the matrix, where telemetry lands and how it's parsed and joined is security engineering's decision, with the CISO consulted. Set the division before new detection work starts.
Workbook: Book 12, Chapter 05 — From Log Warehouse to Detection: SIEM and XDR (Warehouse versus detection engine; Where Sentinel runs, and which cloud's table to read; What Defender XDR contributes); Chapter 10 (responsibility matrix: where telemetry lands).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[13:35–15:18]  Retention is two decisions that are easy to collapse into one cost setting.
M-26-14 defines the words. Searchable means detections and analytics can run on the data without preparation; retrievable means usable after an intermediate step, such as restoring it from long-term storage. The program reads that against the storage tiers, and the reading is its own interpretation. Detection sources stay in the analytics tier for at least six months, because only that tier raises alerts. The lake and auxiliary tiers can meet retrievable, and suit long hunts over high-volume sources the SOC doesn't alert on. A tamper-protected copy in immutable storage supports the audit-protection control and M-26-14's higher log-management levels, but nothing in it raises an alert. And moving a table between tiers changes what the SOC can detect, and can only happen once a week per table.
Then the owners. The CISO sets the security floor, at least M-26-14's. The records officer decides disposition above it, because M-26-14 says its minimums don't relieve agencies of records schedules. The schedule items for cybersecurity logs still cite the rescinded memo, and NARA lists their revision as in drafting as of October 2026, so how they apply is a records decision, not an engineering default.
So: detection sources stay in the analytics tier for at least six months, and no retention is shortened without the records officer's concurrence, because once data is gone it can't be recovered for an investigation, an audit or a legal hold.
Workbook: Book 12, Chapter 12 — Evidence, Metrics and Continuous Monitoring (Retention tiers and tamper-protected copies, design rules 1 to 4 and the two cautions); Chapter 10 — Who Runs Security Operations (The records officer, the privacy office and counsel; Who decides what is collected and how long it is kept; responsibility matrix: retention rows).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[15:18–16:55]  The book makes a pointed observation: the funding line for ingestion and retention is where most visibility gaps are actually decided. So cost belongs in this room.
Tiering is a sound cost decision for high-volume, low-signal sources. It becomes a visibility failure when a source with detection value is routed to the cheap tier to save money and nobody records that it now has no detection coverage. Such a source may meet the retention floor while contributing nothing to M-26-14's alerting measure. Streaming every raw XDR table into the SIEM costs money too, so stream only the tables the SIEM's rules join. Audit history follows each user's license, so a mixed estate has a split retention horizon. Native windows are short unless exported, though exporting Azure's activity log carries no ingestion charge. And some identity logs cost money to ingest and invite the wrong response: Microsoft says one high-volume preview log isn't essential for investigations, and the program leaves it off.
The decision has two halves. The CIO, who owns funding and scope, funds ingestion and retention as a visibility decision, not a storage line. And when a detection source does move out of the analytics tier, that's recorded as a telemetry gap the agency carries rather than closes, which, in the book's matrix, is the authorizing official's decision, with an end date and a plan of action.
Workbook: Book 12, Chapter 10 (The CIO and executive sponsor: the funding line; responsibility matrix: telemetry gap carried rather than closed); Chapter 01 (A warehouse is not a detection engine: tiering); Chapter 05 (Microsoft Defender XDR: streaming is a cost decision); Chapter 03 (Leave MicrosoftServicePrincipalSignInLogs off); Chapter 04 (Part 1; Retention follows the user's license).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[16:55–18:39]  Detection is only one kind of finding. A missing patch, a known exploited vulnerability, a drifted configuration, a storage account open to the internet and a labeled file that left the agency are all statements about an asset's state against an intended state. In the program's design they're all records of the same contract, in the same queue as threat detections.
The clock changed this year. CISA's BOD 26-04, issued June 10, 2026, revoked BOD 22-01 and BOD 19-02 and replaced severity buckets with four questions about each vulnerable asset: is it publicly exposed, is the flaw in CISA's known-exploited catalog, can exploitation be automated, and does it give partial or total control. The answers set the maximum timeline, from three days, with forensic triage in some cases, to fixing it at the next system upgrade. The clock starts when CISA lists the flaw or when the agency first finds it on an asset, whichever is earlier. The directive also requires agencies to assign roles for executing it.
The book is firm on one point: a scanner authors no state. It measures the distance between what a machine runs and what it should run. A finding closes when the next scan no longer sees it and the platform's record says what fixed it.
In the matrix, the system owner decides how and when a finding is remediated within its timeline. A deadline the agency will miss is a risk acceptance, so it goes to the authorizing official.
Workbook: Book 12, Chapter 02 (One queue for every finding); Chapter 06 — Vulnerability Management (The directive that governs KEV: BOD 26-04; The scanner is not remediation); Chapter 10 (BOD 26-04 role assignment; responsibility matrix: remediation rows).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[18:39–20:22]  Who runs security operations? Most agencies can name their SOC. Fewer can say who decided that a log source is collected, how long its records are kept, who owns the rule that reads it, or who accepted the risk when it went quiet for three weeks. In practice those decisions get made by whoever holds the console. Each looks operational. Each changes what the agency can see.
So the book's model, which is the program's recommended design, separates them. The SOC runs the queue. The CIO and sponsor own scope and funding, and decide which SOC is top-level. The CISO sets logging, detection and evidence requirements and decides major incidents. The authorizing official accepts residual risk, including the risk of not seeing. Security engineering owns the SIEM, the rule library and the evidence pipeline. Platform owners keep their planes emitting. Records, privacy and counsel decide disposition, log content and the legality of monitoring.
NIST's framework has no SOC role. The closest fit is a common control provider, and that has consequences: if every system's plan says monitoring is inherited from the SOC, the SOC owes those systems an assessed control and a plan when it falls short. Most of those controls are hybrid, because only the system owner knows what unusual looks like in a particular application.
The CIO's decision comes first: one top-level SOC, so M-26-14's availability requirement points at one place, and a decision on whether it's an agency, departmental or managed service.
Workbook: Book 12, Chapter 10 — Who Runs Security Operations (opening; Where the roles come from; The SOC is a common control provider; The roles: CIO and executive sponsor, CISO, authorizing official, top-level SOC, security engineering).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[20:22–21:55]  The responsibility matrix, in one view, with one decider per row.
The CIO and sponsor decide scope, funding and which SOC is top-level. The CISO decides the Agency Logging Plan and what each plane emits, the security retention floor, who may read log data, detection priorities, any playbook that acts on production, and whether an incident is major. The SOC decides triage, severity and closure. Security engineering decides each rule: how it's built, tested, tuned and retired. The records officer decides disposition and any shortening of retention. And the authorizing official decides the residual risks.
Every analytics rule and playbook has exactly one owner, a named engineer in security engineering, recorded next to the rule with its purpose, the tables it reads, its response, its test and a review date. The source tables matter: when a table goes silent, the program can trace which rules it blinds.
One row deserves its own decision, because the clock is federal. Civilian agencies must notify CISA of an incident within one hour of its identification by the agency's top-level incident response team, SOC or IT department. An hour leaves no time for a decision to travel up and back, so the matrix gives the notification to the SOC, decision and work. The CISO's major-incident determination, which can take longer, runs alongside it.
Workbook: Book 12, Chapter 10 — Who Runs Security Operations (Where the roles come from: CISA's incident notification guidelines; The roles; Who owns each detection and playbook; The responsibility matrix and the notification row comment).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[21:55–23:36]  Under the Risk Management Framework, the authorizing official is the only official who can accept security and privacy risk, and for this book that includes the risk of not seeing.
Security operations generates four kinds of residual risk that tend to be accepted silently by whoever is closest to them: a source that isn't collected or doesn't reach the top-level SOC; a rule suppressed with no end date, which leaves a monitored source unanalyzed indefinitely; retention below the requirement; and a remediation deadline that will be missed. Each one is written up by the role that found it, recommended by the CISO, and decided by the authorizing official for the affected system, with an end date and a plan of action entry. A finding that can't be closed in time isn't closed by exception; it's carried, by decision.
Because security operations holds the record of what everyone else did, its own separations matter more than most. No one can quietly shorten the record: retention rights are eligible, not standing, and used only with the records officer's concurrence. Platform owners can't silence their own plane without it being detected. The SOC doesn't assess the SOC. And the authorizing official stays outside: a managed SOC or contractor team can prepare every risk acceptance, but can't sign one.
The time split matches the other books: a bounded exception with an end date is the CISO's; one without goes to the authorizing official.
Workbook: Book 12, Chapter 10 — Who Runs Security Operations (The authorizing official; Who accepts the risk of what isn't seen; Keeping the roles apart); Chapter 12 (Closing a finding).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[23:36–25:18]  Now the how. A rule that fires without a response shortens the time to know, not the time to contain. And a rule nobody owns rots.
The program keeps its rules as a library in version control, in the same shape Microsoft's own templates use, so the two can be compared. The library is the source of truth, not the portal: nobody edits a production rule by hand; a change is a commit, reviewed and deployed. Where Sentinel's repository feature isn't available, as in Azure Government, the program deploys the same content through its own pipeline.
Every rule follows the lifecycle in the figure: authored with its thresholds marked for tuning, tested against history, deployed alert-only while every false positive is logged, promoted to open incidents once its false-positive rate is measured and its response is wired, and then reviewed on a schedule: does it still fire, and does its source still emit?
The book carries honest limits into every assessment. Scheduled rules run no more often than every five minutes plus a five-minute delay, so detection is minutes to hours. The library sees one tenant. And detections rot quietly without standing engineering effort. Where a vendor analytic isn't available in the agency's cloud, the program rebuilds a deterministic equivalent inside its own boundary rather than shipping telemetry out.
Security engineering runs the library, with the CISO setting coverage priorities. No rule opens incidents before it has been through the cycle.
Workbook: Book 12, Chapter 11 — Detection Engineering and Response Automation (The in-boundary principle; A rule library as code; Rule lifecycle and testing; Honest limits); Chapter 05 (Mean time to detect); Chapter 10 (Who owns each detection and playbook).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[25:18–26:55]  Detection without response shortens the investigation, not the exposure. But a response that acts without a gate turns a noisy rule into an outage.
So every playbook is confidence-gated, and placed on the program's actuation ladder, which is design. Every alert is observed: an incident opens and evidence is kept. Medium confidence advises: the playbook enriches the incident and an analyst decides. High confidence gets gated action: the playbook prepares the containment, revoking sessions, disabling a standard user, isolating a workstation, and a named approver releases it. Autonomous action is allowed only for enumerated low-blast-radius classes, such as closing incidents that match a known-benign list.
Three classes stay gated permanently, whatever the program's maturity: isolating a server, disabling a privileged or emergency-access account, and any tenant-wide change. A false-positive isolation of a production database server is an outage; a disabled emergency account during an incident is a lockout.
Defender XDR's automatic attack disruption tests the ladder, because it contains assets on its own by the vendor's design. The program doesn't leave it as a default nobody chose. The authorizing official either accepts it as an autonomous class, with exclusions for emergency accounts and protected servers, or the program records why it's limited.
And the matrix gives the CISO the approval of any playbook that acts on production, with the affected platform owner consulted, because it exercises authority on someone else's platform.
Workbook: Book 12, Chapter 11 — Detection Engineering and Response Automation (The response ladder; Playbooks; Honest limits); Chapter 10 (Who owns each detection and playbook: playbooks that act; responsibility matrix: acting playbook row).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[26:55–28:38]  Continuous monitoring isn't a claim that monitoring happens. It's a pipeline that keeps producing evidence bound to controls, and a finding that stays open until the thing is fixed and the fix is proven.
The figure is the program's pipeline: every plane emits records of the contract; they're normalized, correlated on asset and time, bound to the control they evidence, reported as metrics and posture reports, and then someone responds: the system owner remediates, and the authorizing official decides on residual risk.
The practical test of review in an assessment is whether the program can produce the chain from detection to response for a real event. The book adopts a practitioner standard: show an alert that fired in the last thirty days, the incident it generated and what was done about it. If none fired, either the environment was clean, which is unlikely, or the rules are broken, or there are none. So every incident carries four parts: the alert, the linked ticket, timestamped response notes, and a closure with its verdict and proof. Assessors read that evidence and can re-run it, but never edit it.
Closure has three parts. The platform owner fixes it through change control. The pipeline re-tests: the next scan or check shows the condition gone. And the record links the two, so the plan of action item closes on evidence, not on a ticket status. Ongoing authorization depends on that discipline, because results have to mean what they say.
Workbook: Book 12, Chapter 12 — Evidence, Metrics and Continuous Monitoring (What continuous monitoring asks for; The continuous-monitoring pipeline; What an assessor verifies; Closing a finding); Chapter 05 (The assessor evidence standard); Chapter 10 (Control assessors).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[28:38–30:16]  CA-7 leaves metrics to the organization, so the program starts from the one federal scheme that already scores logging: M-26-14's maturity model, five levels across five elements, where a system's overall maturity is its lowest element.
Five metrics, each a design choice. Detection coverage is measured against M-26-14's baseline of activities, not the rule count: two hundred rules that all watch sign-ins cover one item, and an item counts only when an enabled rule with a passing test reads a source that's still fresh. Telemetry completeness is a control, not a health statistic: a silent source is an audit logging failure, so the program counts the minutes it stayed stale. KEV remediation is measured on closures and overdue items, not the open queue, because a compliance rate built on the open queue improves every time new findings arrive. Configuration conformance counts passes, failures and exceptions separately, so an exception never looks like a pass. And maturity is reported by system.
The rhythm is design too, sitting between CA-7's organization-defined frequency and the external clocks. The SOC manager sees incident timing and stale sources daily. Platform owners see KEV items daily. The CISO sees the full set monthly, and on any overdue KEV item. The authorizing official gets a posture report per system monthly, or on a significant change.
In the matrix, organization-level metrics and reporting frequencies are the CISO's decision.
Workbook: Book 12, Chapter 12 — Evidence, Metrics and Continuous Monitoring (The metric set; The reporting rhythm); Chapter 10 (responsibility matrix: organization-level security metrics and reporting frequencies; posture reports).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[30:16–31:52]  So, the decisions, with their owners.
The CISO counts a source as monitored only when an enabled rule reads it, owns the Agency Logging Plan due November 18, writes the evidence contract into it, and sets what each plane must emit. The DNS and DDI team and identity engineering stand up the naming plane before the pipeline. Platform owners keep their planes emitting through every change.
Security engineering sets the division of labor between XDR and the SIEM, with one incident queue, and runs the rule library as code. The CISO keeps detection sources in the analytics tier for at least six months, and the records officer must concur before any retention is shortened.
The CIO funds ingestion and retention as visibility, and designates and funds one top-level SOC. The SOC notifies CISA within an hour of identifying an incident, while the CISO decides whether it's major. The CISO approves any playbook that acts on production.
The authorizing official decides every gap carried without an end date, every open-ended suppression, every missed remediation deadline, and whether vendor attack disruption is accepted.
And findings close only on a re-test that proves the fix, with the metrics reported monthly.
The theme under all of it: a gap nobody chose is still a decision. Make it on purpose, with an owner. Book 12 has the detail, with every claim footnoted. Thank you.
Workbook: Book 12, Chapter 01 (The case in one paragraph); Chapter 02 (Ask); Chapter 10 — Who Runs Security Operations (The responsibility matrix; What changes, in one table); Chapter 12 (Closing a finding; The reporting rhythm).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12 Security Operations &amp; Telemetry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9.png"/><Relationship Id="rId5" Type="http://schemas.openxmlformats.org/officeDocument/2006/relationships/image" Target="../media/image18.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4.png"/><Relationship Id="rId5" Type="http://schemas.openxmlformats.org/officeDocument/2006/relationships/image" Target="../media/image19.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9.png"/><Relationship Id="rId5" Type="http://schemas.openxmlformats.org/officeDocument/2006/relationships/image" Target="../media/image23.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26.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5.xml"/><Relationship Id="rId9" Type="http://schemas.openxmlformats.org/officeDocument/2006/relationships/image" Target="../media/image3.png"/><Relationship Id="rId10"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17.xml"/><Relationship Id="rId9"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9.png"/><Relationship Id="rId5" Type="http://schemas.openxmlformats.org/officeDocument/2006/relationships/image" Target="../media/image31.png"/><Relationship Id="rId4" Type="http://schemas.openxmlformats.org/officeDocument/2006/relationships/notesSlide" Target="../notesSlides/notesSlide18.xml"/><Relationship Id="rId8"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Security Operations: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12 — Security Operations &amp; Telemetry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30 minutes for the CISO, the SOC lead, the CIO and authorizing officials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EEE896E2-B627-6437-3D21-E8CC18E241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B1F4E9-241B-4898-912B-268DB4CF3C4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60"/>
    </mc:Choice>
    <mc:Fallback>
      <p:transition spd="slow" advTm="45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6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dashboard measures what arrived, not what didn't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Four numbered red cards in a row across the top, grouped as gaps that raise no alarm. One, never connected: resource logs aren't collected until a diagnostic setting exists, so the source never sends anything. Two, connected but not flowing: a connector status can show a collection rule exists while no data arrives. Three, collected but not analyzed: data in a retention-only tier generates no alerts. Four, tampered or turned off: disabling or altering logging is documented attacker behavior. All four point down to one violet card, coverage check: expected emitters from the asset inventory, compared with what actually arrives, per plane and per asset. Below it, a green card: the gap becomes a finding, owned, tracked and closed."/>
          <p:cNvPicPr>
            <a:picLocks noChangeAspect="1"/>
          </p:cNvPicPr>
          <p:nvPr/>
        </p:nvPicPr>
        <p:blipFill>
          <a:blip r:embed="rId5"/>
          <a:stretch>
            <a:fillRect/>
          </a:stretch>
        </p:blipFill>
        <p:spPr>
          <a:xfrm>
            <a:off x="548640" y="1611850"/>
            <a:ext cx="6309360" cy="2811341"/>
          </a:xfrm>
          <a:prstGeom prst="rect">
            <a:avLst/>
          </a:prstGeom>
        </p:spPr>
      </p:pic>
      <p:sp>
        <p:nvSpPr>
          <p:cNvPr id="6" name="Gaps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PlugCircleX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Gap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Four gaps that raise no alarm</a:t>
            </a:r>
            <a:endParaRPr lang="en-US" sz="1650" dirty="0"/>
          </a:p>
        </p:txBody>
      </p:sp>
      <p:sp>
        <p:nvSpPr>
          <p:cNvPr id="10" name="Gaps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source that was never connected</a:t>
            </a:r>
            <a:endParaRPr lang="en-US" sz="1400" dirty="0"/>
          </a:p>
          <a:p>
            <a:pPr marL="342900" indent="-342900">
              <a:spcAft>
                <a:spcPts val="600"/>
              </a:spcAft>
              <a:buSzPct val="100000"/>
              <a:buChar char="•"/>
            </a:pPr>
            <a:r>
              <a:rPr lang="en-US" sz="1350" dirty="0">
                <a:solidFill>
                  <a:schemeClr val="tx2"/>
                </a:solidFill>
              </a:rPr>
              <a:t>A connector that shows green, with no data</a:t>
            </a:r>
            <a:endParaRPr lang="en-US" sz="1400" dirty="0"/>
          </a:p>
          <a:p>
            <a:pPr marL="342900" indent="-342900">
              <a:spcAft>
                <a:spcPts val="600"/>
              </a:spcAft>
              <a:buSzPct val="100000"/>
              <a:buChar char="•"/>
            </a:pPr>
            <a:r>
              <a:rPr lang="en-US" sz="1350" dirty="0">
                <a:solidFill>
                  <a:schemeClr val="tx2"/>
                </a:solidFill>
              </a:rPr>
              <a:t>Data kept where no rule can run on it</a:t>
            </a:r>
            <a:endParaRPr lang="en-US" sz="1400" dirty="0"/>
          </a:p>
          <a:p>
            <a:pPr marL="342900" indent="-342900">
              <a:spcAft>
                <a:spcPts val="600"/>
              </a:spcAft>
              <a:buSzPct val="100000"/>
              <a:buChar char="•"/>
            </a:pPr>
            <a:r>
              <a:rPr lang="en-US" sz="1350" dirty="0">
                <a:solidFill>
                  <a:schemeClr val="tx2"/>
                </a:solidFill>
              </a:rPr>
              <a:t>Logging switched off on purpose</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List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Measure coverage against the inventory.  </a:t>
            </a:r>
            <a:r>
              <a:rPr lang="en-US" sz="1650" dirty="0">
                <a:solidFill>
                  <a:schemeClr val="tx2"/>
                </a:solidFill>
              </a:rPr>
              <a:t>A gap can only be found by comparing what arrived with what was expected to arrive, plane by plane and asset by asset.</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CISA BOD 23-01; CISA Microsoft Expanded Cloud Logs Playbook (May 2026); Microsoft Learn (Azure Monitor, Sentinel). Book 12,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9D97BB3-FC69-A64A-1DD0-F6C7B56080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FB91A5C-E680-4EA8-8825-18E2A3B03349}"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640"/>
    </mc:Choice>
    <mc:Fallback>
      <p:transition spd="slow" advTm="42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6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Storing logs isn't detecting with them</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op to bottom. A slate card at the top lists the six planes that must emit: identity, cloud platform, Microsoft 365, endpoints, network and data. An arrow leads to a slate card, collected and stored, the log warehouse, kept searchable for six months and retrievable for a year. From there the diagram splits into two branches. One branch ends in a red card: stored only, never analyzed; data that sits where no rule can run on it produces no alerts, which meets retention but not AU-6. The other branch leads to a blue card: analysis, meaning rules, correlation and review of the records for unusual activity, AU-6 and SI-4. The blue card leads to a green card: response and evidence, findings reported, acted on and closed with proof. A separate red pill at the side, joined to the top card by a dashed red line, reads: plane never connected, no data, no alert, no error."/>
          <p:cNvPicPr>
            <a:picLocks noChangeAspect="1"/>
          </p:cNvPicPr>
          <p:nvPr/>
        </p:nvPicPr>
        <p:blipFill>
          <a:blip r:embed="rId5"/>
          <a:stretch>
            <a:fillRect/>
          </a:stretch>
        </p:blipFill>
        <p:spPr>
          <a:xfrm>
            <a:off x="548640" y="1437943"/>
            <a:ext cx="6309360" cy="3159155"/>
          </a:xfrm>
          <a:prstGeom prst="rect">
            <a:avLst/>
          </a:prstGeom>
        </p:spPr>
      </p:pic>
      <p:sp>
        <p:nvSpPr>
          <p:cNvPr id="6" name="Controls box">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Control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the controls keep apart</a:t>
            </a:r>
            <a:endParaRPr lang="en-US" sz="1650" dirty="0"/>
          </a:p>
        </p:txBody>
      </p:sp>
      <p:sp>
        <p:nvSpPr>
          <p:cNvPr id="10" name="Controls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AU-12: generate the audit records</a:t>
            </a:r>
            <a:endParaRPr lang="en-US" sz="1400" dirty="0"/>
          </a:p>
          <a:p>
            <a:pPr marL="342900" indent="-342900">
              <a:spcAft>
                <a:spcPts val="600"/>
              </a:spcAft>
              <a:buSzPct val="100000"/>
              <a:buChar char="•"/>
            </a:pPr>
            <a:r>
              <a:rPr lang="en-US" sz="1350" dirty="0">
                <a:solidFill>
                  <a:schemeClr val="tx2"/>
                </a:solidFill>
              </a:rPr>
              <a:t>AU-6: review and analyze them, and report</a:t>
            </a:r>
            <a:endParaRPr lang="en-US" sz="1400" dirty="0"/>
          </a:p>
          <a:p>
            <a:pPr marL="342900" indent="-342900">
              <a:spcAft>
                <a:spcPts val="600"/>
              </a:spcAft>
              <a:buSzPct val="100000"/>
              <a:buChar char="•"/>
            </a:pPr>
            <a:r>
              <a:rPr lang="en-US" sz="1350" dirty="0">
                <a:solidFill>
                  <a:schemeClr val="tx2"/>
                </a:solidFill>
              </a:rPr>
              <a:t>SI-4: monitor and analyze for attacks</a:t>
            </a:r>
            <a:endParaRPr lang="en-US" sz="1400" dirty="0"/>
          </a:p>
          <a:p>
            <a:pPr marL="342900" indent="-342900">
              <a:spcAft>
                <a:spcPts val="600"/>
              </a:spcAft>
              <a:buSzPct val="100000"/>
              <a:buChar char="•"/>
            </a:pPr>
            <a:r>
              <a:rPr lang="en-US" sz="1350" dirty="0">
                <a:solidFill>
                  <a:schemeClr val="tx2"/>
                </a:solidFill>
              </a:rPr>
              <a:t>M-26-14 scores alerts, not volume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Count a source as monitored only when an enabled rule reads it and its output reaches a queue someone owns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sets it; security engineering builds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Now, in the Agency Logging Plan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(AU-3, AU-6, AU-12, SI-4); OMB M-26-14, Appendices B and C; Microsoft Learn — Sentinel data lake guidance. Book 12, Chapters 01, 05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83F71B47-EF84-D405-EDB8-4AA49BD87C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A9C0A0-CE93-44E7-8BB6-5F474D9A3F9E}"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780"/>
    </mc:Choice>
    <mc:Fallback>
      <p:transition spd="slow" advTm="42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78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M-26-14 is the logging requirement now</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M-26-14 sets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May 22,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M-26-14 rescinds M-21-31, effective immediately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Aug 20,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CISA publishes the Logging Reference Architecture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Nov 18,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Agency Logging Plan due (90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Dec 18,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Level 1 on every element (120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Feb 16,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Level 2 (180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Jul 6,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Level 3 (320 days); weakest element sets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Others box">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and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Other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The other drivers, read narrowly</a:t>
            </a:r>
            <a:endParaRPr lang="en-US" sz="1650" dirty="0"/>
          </a:p>
        </p:txBody>
      </p:sp>
      <p:sp>
        <p:nvSpPr>
          <p:cNvPr id="10" name="Others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BOD 25-01: configuration results to CISA</a:t>
            </a:r>
            <a:endParaRPr lang="en-US" sz="1400" dirty="0"/>
          </a:p>
          <a:p>
            <a:pPr marL="342900" indent="-342900">
              <a:spcAft>
                <a:spcPts val="600"/>
              </a:spcAft>
              <a:buSzPct val="100000"/>
              <a:buChar char="•"/>
            </a:pPr>
            <a:r>
              <a:rPr lang="en-US" sz="1350" dirty="0">
                <a:solidFill>
                  <a:schemeClr val="tx2"/>
                </a:solidFill>
              </a:rPr>
              <a:t>BOD 23-01: the asset denominator</a:t>
            </a:r>
            <a:endParaRPr lang="en-US" sz="1400" dirty="0"/>
          </a:p>
          <a:p>
            <a:pPr marL="342900" indent="-342900">
              <a:spcAft>
                <a:spcPts val="600"/>
              </a:spcAft>
              <a:buSzPct val="100000"/>
              <a:buChar char="•"/>
            </a:pPr>
            <a:r>
              <a:rPr lang="en-US" sz="1350" dirty="0">
                <a:solidFill>
                  <a:schemeClr val="tx2"/>
                </a:solidFill>
              </a:rPr>
              <a:t>CISA: incidents reported within one hour</a:t>
            </a:r>
            <a:endParaRPr lang="en-US" sz="1400" dirty="0"/>
          </a:p>
          <a:p>
            <a:pPr marL="342900" indent="-342900">
              <a:spcAft>
                <a:spcPts val="600"/>
              </a:spcAft>
              <a:buSzPct val="100000"/>
              <a:buChar char="•"/>
            </a:pPr>
            <a:r>
              <a:rPr lang="en-US" sz="1350" dirty="0">
                <a:solidFill>
                  <a:schemeClr val="tx2"/>
                </a:solidFill>
              </a:rPr>
              <a:t>FedRAMP's indicators bind providers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Own the Agency Logging Plan as the program's visibility plan, funded as such, not as a storage purchase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owns it; the CIO funds it</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Due Nov 18, 2026*</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(May 22, 2026); CISA Logging Reference Architecture (Aug 20, 2026); BOD 25-01; BOD 23-01; CISA notification guidelines. Book 12, Ch. 01, 10; Book 00,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974CF5F5-8B61-2B1F-CD69-443A3D49F8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4DCC1DC-5B3A-41C8-AC6F-BE3BDDE549D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300"/>
    </mc:Choice>
    <mc:Fallback>
      <p:transition spd="slow" advTm="51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30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evidence contract, one join key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op to bottom. A row of three slate cards, grouped as platform-native stacks that act on their own surface: identity and Microsoft 365 audit; cloud platform, with patch, posture and resource logs; and endpoints, network and data, with EDR, firewall syslog and DLP matches. All three point to a blue card, the evidence contract, one record shape with the fields asset_id, source, surface, control, state, verdict, observed_at and disposition, plus provenance. A violet card beneath it, the join, keys every record to authoritative asset identity plus synchronized time; a slate pill beside it, the naming plane (IPAM and DDI, CM-8), feeds it with a dashed arrow. The join leads to a blue card, one queue, where threat detections and vulnerability, patch, configuration, posture and data findings are all records of the same contract. Four green pills fan out from the queue: detection and response, remediation and POA&amp;M, CDM dashboard, and authorization package."/>
          <p:cNvPicPr>
            <a:picLocks noChangeAspect="1"/>
          </p:cNvPicPr>
          <p:nvPr/>
        </p:nvPicPr>
        <p:blipFill>
          <a:blip r:embed="rId5"/>
          <a:stretch>
            <a:fillRect/>
          </a:stretch>
        </p:blipFill>
        <p:spPr>
          <a:xfrm>
            <a:off x="573741" y="1371600"/>
            <a:ext cx="5070438" cy="3291840"/>
          </a:xfrm>
          <a:prstGeom prst="rect">
            <a:avLst/>
          </a:prstGeom>
        </p:spPr>
      </p:pic>
      <p:sp>
        <p:nvSpPr>
          <p:cNvPr id="6" name="Contract box">
            <a:extLst>
              <a:ext uri="{C183D7F6-B498-43B3-948B-1728B52AA6E4}">
                <adec:decorative xmlns:adec="http://schemas.microsoft.com/office/drawing/2017/decorative" val="1"/>
              </a:ext>
            </a:extLst>
          </p:cNvPr>
          <p:cNvSpPr/>
          <p:nvPr/>
        </p:nvSpPr>
        <p:spPr>
          <a:xfrm>
            <a:off x="5852160" y="1371600"/>
            <a:ext cx="5806440" cy="2432304"/>
          </a:xfrm>
          <a:prstGeom prst="roundRect">
            <a:avLst>
              <a:gd name="adj" fmla="val 300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Fingerprint">
            <a:extLst>
              <a:ext uri="{C183D7F6-B498-43B3-948B-1728B52AA6E4}">
                <adec:decorative xmlns:adec="http://schemas.microsoft.com/office/drawing/2017/decorative" val="1"/>
              </a:ext>
            </a:extLst>
          </p:cNvPr>
          <p:cNvSpPr/>
          <p:nvPr/>
        </p:nvSpPr>
        <p:spPr>
          <a:xfrm>
            <a:off x="608076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12434" y="1649578"/>
            <a:ext cx="285293" cy="285293"/>
          </a:xfrm>
          <a:prstGeom prst="rect">
            <a:avLst/>
          </a:prstGeom>
        </p:spPr>
      </p:pic>
      <p:sp>
        <p:nvSpPr>
          <p:cNvPr id="9" name="Contract head"/>
          <p:cNvSpPr txBox="1"/>
          <p:nvPr/>
        </p:nvSpPr>
        <p:spPr>
          <a:xfrm>
            <a:off x="6766560" y="1517904"/>
            <a:ext cx="475488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A contract, not a console</a:t>
            </a:r>
            <a:endParaRPr lang="en-US" sz="1650" dirty="0"/>
          </a:p>
        </p:txBody>
      </p:sp>
      <p:sp>
        <p:nvSpPr>
          <p:cNvPr id="10" name="Contract list"/>
          <p:cNvSpPr txBox="1"/>
          <p:nvPr/>
        </p:nvSpPr>
        <p:spPr>
          <a:xfrm>
            <a:off x="6080760" y="2212848"/>
            <a:ext cx="539496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source emits the same fields, fixed in advance</a:t>
            </a:r>
            <a:endParaRPr lang="en-US" sz="1400" dirty="0"/>
          </a:p>
          <a:p>
            <a:pPr marL="342900" indent="-342900">
              <a:spcAft>
                <a:spcPts val="600"/>
              </a:spcAft>
              <a:buSzPct val="100000"/>
              <a:buChar char="•"/>
            </a:pPr>
            <a:r>
              <a:rPr lang="en-US" sz="1350" dirty="0">
                <a:solidFill>
                  <a:schemeClr val="tx2"/>
                </a:solidFill>
              </a:rPr>
              <a:t>Joined on authoritative asset identity plus time</a:t>
            </a:r>
            <a:endParaRPr lang="en-US" sz="1400" dirty="0"/>
          </a:p>
          <a:p>
            <a:pPr marL="342900" indent="-342900">
              <a:spcAft>
                <a:spcPts val="600"/>
              </a:spcAft>
              <a:buSzPct val="100000"/>
              <a:buChar char="•"/>
            </a:pPr>
            <a:r>
              <a:rPr lang="en-US" sz="1350" dirty="0">
                <a:solidFill>
                  <a:schemeClr val="tx2"/>
                </a:solidFill>
              </a:rPr>
              <a:t>Each stack's own ID is meaningless outside it</a:t>
            </a:r>
            <a:endParaRPr lang="en-US" sz="1400" dirty="0"/>
          </a:p>
          <a:p>
            <a:pPr marL="342900" indent="-342900">
              <a:spcAft>
                <a:spcPts val="600"/>
              </a:spcAft>
              <a:buSzPct val="100000"/>
              <a:buChar char="•"/>
            </a:pPr>
            <a:r>
              <a:rPr lang="en-US" sz="1350" dirty="0">
                <a:solidFill>
                  <a:schemeClr val="tx2"/>
                </a:solidFill>
              </a:rPr>
              <a:t>The naming plane comes before the pipeline</a:t>
            </a:r>
            <a:endParaRPr lang="en-US" sz="1400" dirty="0"/>
          </a:p>
          <a:p>
            <a:pPr marL="342900" indent="-342900">
              <a:spcAft>
                <a:spcPts val="600"/>
              </a:spcAft>
              <a:buSzPct val="100000"/>
              <a:buChar char="•"/>
            </a:pPr>
            <a:r>
              <a:rPr lang="en-US" sz="1350" dirty="0">
                <a:solidFill>
                  <a:schemeClr val="tx2"/>
                </a:solidFill>
              </a:rPr>
              <a:t>Normalization is funded as each source onboards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Stand up the naming plane before the evidence pipeline, reconcile every stack's inventory to it, and write the contract into the logging plan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DNS/DDI team and identity eng. own the naming plane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pipeline is built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(AU-3, AU-12(1), CA-7, CM-8); OMB M-26-14; NIST SP 800-137; Microsoft Learn — ASIM. Book 12, Chapters 02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3C07ADAF-46E1-026D-9727-722287BB5DC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45AA09A-1BA0-4184-B6CA-3593B7E760E0}"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590"/>
    </mc:Choice>
    <mc:Fallback>
      <p:transition spd="slow" advTm="45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59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planes, each emitting on purpose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Six blue cards in two rows, grouped in a box labeled each plane's owner keeps it emitting, one per telemetry plane and its owner: identity, owned by identity engineering, emitting Entra ID audit, sign-in and risk logs; cloud platform, owned by the cloud platform team, emitting the Azure activity log, resource logs and posture findings; Microsoft 365, owned by the collaboration platform team, emitting the unified audit log and ScubaGear results; endpoints and servers, owned by endpoint engineering and server infrastructure, emitting Defender and Arc telemetry and patch state; network and DNS, owned by network engineering and the DNS and DDI team, emitting DNS, SASE and firewall logs; and data, owned by the data office and data platform team, emitting Purview, SQL audit and key vault logs. One arrow labeled emits runs from the whole group down to a violet card, security engineering, which owns the workspace, connectors and rule library. A slate card to its right for the naming plane, the authoritative asset identity, sends a dashed arrow labeled join key to security engineering. Security engineering sends an arrow labeled incidents to a violet card for the top-level SOC, which sends a dashed arrow labeled findings to remediate back up to the platform owners."/>
          <p:cNvPicPr>
            <a:picLocks noChangeAspect="1"/>
          </p:cNvPicPr>
          <p:nvPr/>
        </p:nvPicPr>
        <p:blipFill>
          <a:blip r:embed="rId5"/>
          <a:stretch>
            <a:fillRect/>
          </a:stretch>
        </p:blipFill>
        <p:spPr>
          <a:xfrm>
            <a:off x="852104" y="1371600"/>
            <a:ext cx="5062352" cy="3291840"/>
          </a:xfrm>
          <a:prstGeom prst="rect">
            <a:avLst/>
          </a:prstGeom>
        </p:spPr>
      </p:pic>
      <p:sp>
        <p:nvSpPr>
          <p:cNvPr id="6" name="Defaults box">
            <a:extLst>
              <a:ext uri="{C183D7F6-B498-43B3-948B-1728B52AA6E4}">
                <adec:decorative xmlns:adec="http://schemas.microsoft.com/office/drawing/2017/decorative" val="1"/>
              </a:ext>
            </a:extLst>
          </p:cNvPr>
          <p:cNvSpPr/>
          <p:nvPr/>
        </p:nvSpPr>
        <p:spPr>
          <a:xfrm>
            <a:off x="6446520" y="1371600"/>
            <a:ext cx="5212080" cy="2148840"/>
          </a:xfrm>
          <a:prstGeom prst="roundRect">
            <a:avLst>
              <a:gd name="adj" fmla="val 340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667512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06794" y="1649578"/>
            <a:ext cx="285293" cy="285293"/>
          </a:xfrm>
          <a:prstGeom prst="rect">
            <a:avLst/>
          </a:prstGeom>
        </p:spPr>
      </p:pic>
      <p:sp>
        <p:nvSpPr>
          <p:cNvPr id="9" name="Defaults head"/>
          <p:cNvSpPr txBox="1"/>
          <p:nvPr/>
        </p:nvSpPr>
        <p:spPr>
          <a:xfrm>
            <a:off x="7360920" y="1517904"/>
            <a:ext cx="416052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Defaults that quietly expire</a:t>
            </a:r>
            <a:endParaRPr lang="en-US" sz="1650" dirty="0"/>
          </a:p>
        </p:txBody>
      </p:sp>
      <p:sp>
        <p:nvSpPr>
          <p:cNvPr id="10" name="Defaults list"/>
          <p:cNvSpPr txBox="1"/>
          <p:nvPr/>
        </p:nvSpPr>
        <p:spPr>
          <a:xfrm>
            <a:off x="6675120" y="2212848"/>
            <a:ext cx="480060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ID keeps its own logs about a month</a:t>
            </a:r>
            <a:endParaRPr lang="en-US" sz="1400" dirty="0"/>
          </a:p>
          <a:p>
            <a:pPr marL="342900" indent="-342900">
              <a:spcAft>
                <a:spcPts val="600"/>
              </a:spcAft>
              <a:buSzPct val="100000"/>
              <a:buChar char="•"/>
            </a:pPr>
            <a:r>
              <a:rPr lang="en-US" sz="1350" dirty="0">
                <a:solidFill>
                  <a:schemeClr val="tx2"/>
                </a:solidFill>
              </a:rPr>
              <a:t>Azure's activity log: deleted after 90 days</a:t>
            </a:r>
            <a:endParaRPr lang="en-US" sz="1400" dirty="0"/>
          </a:p>
          <a:p>
            <a:pPr marL="342900" indent="-342900">
              <a:spcAft>
                <a:spcPts val="600"/>
              </a:spcAft>
              <a:buSzPct val="100000"/>
              <a:buChar char="•"/>
            </a:pPr>
            <a:r>
              <a:rPr lang="en-US" sz="1350" dirty="0">
                <a:solidFill>
                  <a:schemeClr val="tx2"/>
                </a:solidFill>
              </a:rPr>
              <a:t>Resource logs: off until a setting exists</a:t>
            </a:r>
            <a:endParaRPr lang="en-US" sz="1400" dirty="0"/>
          </a:p>
          <a:p>
            <a:pPr marL="342900" indent="-342900">
              <a:spcAft>
                <a:spcPts val="600"/>
              </a:spcAft>
              <a:buSzPct val="100000"/>
              <a:buChar char="•"/>
            </a:pPr>
            <a:r>
              <a:rPr lang="en-US" sz="1350" dirty="0">
                <a:solidFill>
                  <a:schemeClr val="tx2"/>
                </a:solidFill>
              </a:rPr>
              <a:t>Microsoft 365 audit: 180 days below E5</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 what each plane and system must emit in the logging plan; each platform owner decides how its platform emits it and keeps it 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decides what; platform owners decide how</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In the logging plan, then at every change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Appendix B; Microsoft Learn — Entra ID monitoring, Azure Monitor activity and resource logs, Purview audit retention. Book 12, Chapters 01, 03, 04,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7AC922E8-5AD0-BA22-6FB9-AA71B14959E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43C50D5-A6FF-4FD1-BD5A-7912E8065DA2}"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800"/>
    </mc:Choice>
    <mc:Fallback>
      <p:transition spd="slow" advTm="47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8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Keep telemetry flowing through the migration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Move head"/>
          <p:cNvSpPr txBox="1"/>
          <p:nvPr/>
        </p:nvSpPr>
        <p:spPr>
          <a:xfrm>
            <a:off x="548640" y="1371600"/>
            <a:ext cx="6035040" cy="274320"/>
          </a:xfrm>
          <a:prstGeom prst="rect">
            <a:avLst/>
          </a:prstGeom>
          <a:noFill/>
          <a:ln/>
        </p:spPr>
        <p:txBody>
          <a:bodyPr wrap="square" lIns="0" tIns="0" rIns="0" bIns="0" rtlCol="0" anchor="t"/>
          <a:lstStyle/>
          <a:p>
            <a:pPr marL="0" indent="0">
              <a:buNone/>
            </a:pPr>
            <a:r>
              <a:rPr lang="en-US" sz="1200" b="1" dirty="0">
                <a:solidFill>
                  <a:srgbClr val="64748B"/>
                </a:solidFill>
              </a:rPr>
              <a:t>WHERE TELEMETRY GOES QUIET DURING CHANGE</a:t>
            </a:r>
            <a:endParaRPr lang="en-US" sz="1200" dirty="0"/>
          </a:p>
        </p:txBody>
      </p:sp>
      <p:sp>
        <p:nvSpPr>
          <p:cNvPr id="6" name="Move 0">
            <a:extLst>
              <a:ext uri="{C183D7F6-B498-43B3-948B-1728B52AA6E4}">
                <adec:decorative xmlns:adec="http://schemas.microsoft.com/office/drawing/2017/decorative" val="1"/>
              </a:ext>
            </a:extLst>
          </p:cNvPr>
          <p:cNvSpPr/>
          <p:nvPr/>
        </p:nvSpPr>
        <p:spPr>
          <a:xfrm>
            <a:off x="548640" y="1719072"/>
            <a:ext cx="603504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Move 0 text"/>
          <p:cNvSpPr txBox="1"/>
          <p:nvPr/>
        </p:nvSpPr>
        <p:spPr>
          <a:xfrm>
            <a:off x="731520" y="1719072"/>
            <a:ext cx="5760720" cy="493776"/>
          </a:xfrm>
          <a:prstGeom prst="rect">
            <a:avLst/>
          </a:prstGeom>
          <a:noFill/>
          <a:ln/>
        </p:spPr>
        <p:txBody>
          <a:bodyPr wrap="square" lIns="0" tIns="0" rIns="0" bIns="0" rtlCol="0" anchor="ctr"/>
          <a:lstStyle/>
          <a:p>
            <a:pPr marL="0" indent="0">
              <a:buNone/>
            </a:pPr>
            <a:r>
              <a:rPr lang="en-US" sz="1350" b="1" dirty="0">
                <a:solidFill>
                  <a:srgbClr val="1F2A44"/>
                </a:solidFill>
              </a:rPr>
              <a:t>New   </a:t>
            </a:r>
            <a:r>
              <a:rPr lang="en-US" sz="1350" dirty="0">
                <a:solidFill>
                  <a:schemeClr val="tx2"/>
                </a:solidFill>
              </a:rPr>
              <a:t>Resources born silent unless policy makes them emit</a:t>
            </a:r>
            <a:endParaRPr lang="en-US" sz="1350" dirty="0"/>
          </a:p>
        </p:txBody>
      </p:sp>
      <p:sp>
        <p:nvSpPr>
          <p:cNvPr id="8" name="Move 1">
            <a:extLst>
              <a:ext uri="{C183D7F6-B498-43B3-948B-1728B52AA6E4}">
                <adec:decorative xmlns:adec="http://schemas.microsoft.com/office/drawing/2017/decorative" val="1"/>
              </a:ext>
            </a:extLst>
          </p:cNvPr>
          <p:cNvSpPr/>
          <p:nvPr/>
        </p:nvSpPr>
        <p:spPr>
          <a:xfrm>
            <a:off x="548640" y="2286000"/>
            <a:ext cx="603504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Move 1 text"/>
          <p:cNvSpPr txBox="1"/>
          <p:nvPr/>
        </p:nvSpPr>
        <p:spPr>
          <a:xfrm>
            <a:off x="731520" y="2286000"/>
            <a:ext cx="5760720" cy="493776"/>
          </a:xfrm>
          <a:prstGeom prst="rect">
            <a:avLst/>
          </a:prstGeom>
          <a:noFill/>
          <a:ln/>
        </p:spPr>
        <p:txBody>
          <a:bodyPr wrap="square" lIns="0" tIns="0" rIns="0" bIns="0" rtlCol="0" anchor="ctr"/>
          <a:lstStyle/>
          <a:p>
            <a:pPr marL="0" indent="0">
              <a:buNone/>
            </a:pPr>
            <a:r>
              <a:rPr lang="en-US" sz="1350" b="1" dirty="0">
                <a:solidFill>
                  <a:srgbClr val="1F2A44"/>
                </a:solidFill>
              </a:rPr>
              <a:t>Old   </a:t>
            </a:r>
            <a:r>
              <a:rPr lang="en-US" sz="1350" dirty="0">
                <a:solidFill>
                  <a:schemeClr val="tx2"/>
                </a:solidFill>
              </a:rPr>
              <a:t>Policy fixes existing ones only with a remediation task</a:t>
            </a:r>
            <a:endParaRPr lang="en-US" sz="1350" dirty="0"/>
          </a:p>
        </p:txBody>
      </p:sp>
      <p:sp>
        <p:nvSpPr>
          <p:cNvPr id="10" name="Move 2">
            <a:extLst>
              <a:ext uri="{C183D7F6-B498-43B3-948B-1728B52AA6E4}">
                <adec:decorative xmlns:adec="http://schemas.microsoft.com/office/drawing/2017/decorative" val="1"/>
              </a:ext>
            </a:extLst>
          </p:cNvPr>
          <p:cNvSpPr/>
          <p:nvPr/>
        </p:nvSpPr>
        <p:spPr>
          <a:xfrm>
            <a:off x="548640" y="2852928"/>
            <a:ext cx="603504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Move 2 text"/>
          <p:cNvSpPr txBox="1"/>
          <p:nvPr/>
        </p:nvSpPr>
        <p:spPr>
          <a:xfrm>
            <a:off x="731520" y="2852928"/>
            <a:ext cx="5760720" cy="493776"/>
          </a:xfrm>
          <a:prstGeom prst="rect">
            <a:avLst/>
          </a:prstGeom>
          <a:noFill/>
          <a:ln/>
        </p:spPr>
        <p:txBody>
          <a:bodyPr wrap="square" lIns="0" tIns="0" rIns="0" bIns="0" rtlCol="0" anchor="ctr"/>
          <a:lstStyle/>
          <a:p>
            <a:pPr marL="0" indent="0">
              <a:buNone/>
            </a:pPr>
            <a:r>
              <a:rPr lang="en-US" sz="1350" b="1" dirty="0">
                <a:solidFill>
                  <a:srgbClr val="1F2A44"/>
                </a:solidFill>
              </a:rPr>
              <a:t>Moved   </a:t>
            </a:r>
            <a:r>
              <a:rPr lang="en-US" sz="1350" dirty="0">
                <a:solidFill>
                  <a:schemeClr val="tx2"/>
                </a:solidFill>
              </a:rPr>
              <a:t>Stale settings outlive a deleted or renamed resource</a:t>
            </a:r>
            <a:endParaRPr lang="en-US" sz="1350" dirty="0"/>
          </a:p>
        </p:txBody>
      </p:sp>
      <p:sp>
        <p:nvSpPr>
          <p:cNvPr id="12" name="Move 3">
            <a:extLst>
              <a:ext uri="{C183D7F6-B498-43B3-948B-1728B52AA6E4}">
                <adec:decorative xmlns:adec="http://schemas.microsoft.com/office/drawing/2017/decorative" val="1"/>
              </a:ext>
            </a:extLst>
          </p:cNvPr>
          <p:cNvSpPr/>
          <p:nvPr/>
        </p:nvSpPr>
        <p:spPr>
          <a:xfrm>
            <a:off x="548640" y="3419856"/>
            <a:ext cx="603504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Move 3 text"/>
          <p:cNvSpPr txBox="1"/>
          <p:nvPr/>
        </p:nvSpPr>
        <p:spPr>
          <a:xfrm>
            <a:off x="731520" y="3419856"/>
            <a:ext cx="5760720" cy="493776"/>
          </a:xfrm>
          <a:prstGeom prst="rect">
            <a:avLst/>
          </a:prstGeom>
          <a:noFill/>
          <a:ln/>
        </p:spPr>
        <p:txBody>
          <a:bodyPr wrap="square" lIns="0" tIns="0" rIns="0" bIns="0" rtlCol="0" anchor="ctr"/>
          <a:lstStyle/>
          <a:p>
            <a:pPr marL="0" indent="0">
              <a:buNone/>
            </a:pPr>
            <a:r>
              <a:rPr lang="en-US" sz="1350" b="1" dirty="0">
                <a:solidFill>
                  <a:srgbClr val="1F2A44"/>
                </a:solidFill>
              </a:rPr>
              <a:t>Hybrid   </a:t>
            </a:r>
            <a:r>
              <a:rPr lang="en-US" sz="1350" dirty="0">
                <a:solidFill>
                  <a:schemeClr val="tx2"/>
                </a:solidFill>
              </a:rPr>
              <a:t>Defender for Identity sees on-premises sign-ins</a:t>
            </a:r>
            <a:endParaRPr lang="en-US" sz="1350" dirty="0"/>
          </a:p>
        </p:txBody>
      </p:sp>
      <p:sp>
        <p:nvSpPr>
          <p:cNvPr id="14" name="Move 4">
            <a:extLst>
              <a:ext uri="{C183D7F6-B498-43B3-948B-1728B52AA6E4}">
                <adec:decorative xmlns:adec="http://schemas.microsoft.com/office/drawing/2017/decorative" val="1"/>
              </a:ext>
            </a:extLst>
          </p:cNvPr>
          <p:cNvSpPr/>
          <p:nvPr/>
        </p:nvSpPr>
        <p:spPr>
          <a:xfrm>
            <a:off x="548640" y="3986784"/>
            <a:ext cx="603504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Move 4 text"/>
          <p:cNvSpPr txBox="1"/>
          <p:nvPr/>
        </p:nvSpPr>
        <p:spPr>
          <a:xfrm>
            <a:off x="731520" y="3986784"/>
            <a:ext cx="5760720" cy="493776"/>
          </a:xfrm>
          <a:prstGeom prst="rect">
            <a:avLst/>
          </a:prstGeom>
          <a:noFill/>
          <a:ln/>
        </p:spPr>
        <p:txBody>
          <a:bodyPr wrap="square" lIns="0" tIns="0" rIns="0" bIns="0" rtlCol="0" anchor="ctr"/>
          <a:lstStyle/>
          <a:p>
            <a:pPr marL="0" indent="0">
              <a:buNone/>
            </a:pPr>
            <a:r>
              <a:rPr lang="en-US" sz="1350" b="1" dirty="0">
                <a:solidFill>
                  <a:srgbClr val="1F2A44"/>
                </a:solidFill>
              </a:rPr>
              <a:t>Console   </a:t>
            </a:r>
            <a:r>
              <a:rPr lang="en-US" sz="1350" dirty="0">
                <a:solidFill>
                  <a:schemeClr val="tx2"/>
                </a:solidFill>
              </a:rPr>
              <a:t>Sentinel moves to the Defender portal, March 2027</a:t>
            </a:r>
            <a:endParaRPr lang="en-US" sz="1350" dirty="0"/>
          </a:p>
        </p:txBody>
      </p:sp>
      <p:sp>
        <p:nvSpPr>
          <p:cNvPr id="16" name="Check box">
            <a:extLst>
              <a:ext uri="{C183D7F6-B498-43B3-948B-1728B52AA6E4}">
                <adec:decorative xmlns:adec="http://schemas.microsoft.com/office/drawing/2017/decorative" val="1"/>
              </a:ext>
            </a:extLst>
          </p:cNvPr>
          <p:cNvSpPr/>
          <p:nvPr/>
        </p:nvSpPr>
        <p:spPr>
          <a:xfrm>
            <a:off x="6812280" y="1371600"/>
            <a:ext cx="4846320" cy="2148840"/>
          </a:xfrm>
          <a:prstGeom prst="roundRect">
            <a:avLst>
              <a:gd name="adj" fmla="val 340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ArrowsRotate">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72554" y="1649578"/>
            <a:ext cx="285293" cy="285293"/>
          </a:xfrm>
          <a:prstGeom prst="rect">
            <a:avLst/>
          </a:prstGeom>
        </p:spPr>
      </p:pic>
      <p:sp>
        <p:nvSpPr>
          <p:cNvPr id="19" name="Check head"/>
          <p:cNvSpPr txBox="1"/>
          <p:nvPr/>
        </p:nvSpPr>
        <p:spPr>
          <a:xfrm>
            <a:off x="7726680" y="1517904"/>
            <a:ext cx="379476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Check flow, not settings</a:t>
            </a:r>
            <a:endParaRPr lang="en-US" sz="1650" dirty="0"/>
          </a:p>
        </p:txBody>
      </p:sp>
      <p:sp>
        <p:nvSpPr>
          <p:cNvPr id="20" name="Check list"/>
          <p:cNvSpPr txBox="1"/>
          <p:nvPr/>
        </p:nvSpPr>
        <p:spPr>
          <a:xfrm>
            <a:off x="7040880" y="2212848"/>
            <a:ext cx="443484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Freshness of every table the rules read</a:t>
            </a:r>
            <a:endParaRPr lang="en-US" sz="1400" dirty="0"/>
          </a:p>
          <a:p>
            <a:pPr marL="342900" indent="-342900">
              <a:spcAft>
                <a:spcPts val="600"/>
              </a:spcAft>
              <a:buSzPct val="100000"/>
              <a:buChar char="•"/>
            </a:pPr>
            <a:r>
              <a:rPr lang="en-US" sz="1350" dirty="0">
                <a:solidFill>
                  <a:schemeClr val="tx2"/>
                </a:solidFill>
              </a:rPr>
              <a:t>A per-device view for forwarded appliances</a:t>
            </a:r>
            <a:endParaRPr lang="en-US" sz="1400" dirty="0"/>
          </a:p>
          <a:p>
            <a:pPr marL="342900" indent="-342900">
              <a:spcAft>
                <a:spcPts val="600"/>
              </a:spcAft>
              <a:buSzPct val="100000"/>
              <a:buChar char="•"/>
            </a:pPr>
            <a:r>
              <a:rPr lang="en-US" sz="1350" dirty="0">
                <a:solidFill>
                  <a:schemeClr val="tx2"/>
                </a:solidFill>
              </a:rPr>
              <a:t>A saved setting isn't proof of arrival</a:t>
            </a:r>
            <a:endParaRPr lang="en-US" sz="1400" dirty="0"/>
          </a:p>
          <a:p>
            <a:pPr marL="342900" indent="-342900">
              <a:spcAft>
                <a:spcPts val="600"/>
              </a:spcAft>
              <a:buSzPct val="100000"/>
              <a:buChar char="•"/>
            </a:pPr>
            <a:r>
              <a:rPr lang="en-US" sz="1350" dirty="0">
                <a:solidFill>
                  <a:schemeClr val="tx2"/>
                </a:solidFill>
              </a:rPr>
              <a:t>Unexplained loss of emission is an incident</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Keep every plane emitting through each migration change, check freshness daily, and treat an unexplained loss of emission as an incident</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Platform owners; security eng. checks it</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Every change, from the first wave</a:t>
            </a:r>
            <a:endParaRPr lang="en-US" sz="140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Azure Policy remediation; diagnostic settings; Sentinel connector health; Sentinel in the Defender portal. Book 12, Chapters 03, 04, 05,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E5256D08-858A-2E56-8F28-43B781E9F5B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816BBFD-0C8E-4AE3-A268-8CD24CCE08D2}"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340"/>
    </mc:Choice>
    <mc:Fallback>
      <p:transition spd="slow" advTm="46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33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SIEM decision: one queue, clear division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op to bottom. A slate card: telemetry lands in the workspace from Entra ID, Defender XDR, DNS and DDI, SASE and SQL audit. Two arrows lead down to two cards side by side. Left, red, labeled log warehouse: stored and searchable; no rule runs on a schedule; review happens when someone asks; nothing to show for last month. Right, green, labeled detection engine: analytics rules run every 5 minutes to 14 days; each firing opens an incident; response and closure are recorded. A solid violet arrow leads from the detection engine to a violet card at the bottom: evidence an assessor can trace, meaning the alert, the incident ticket, the response notes and the closure determination. A dashed red arrow from the warehouse to the same card is labeled no record to produce."/>
          <p:cNvPicPr>
            <a:picLocks noChangeAspect="1"/>
          </p:cNvPicPr>
          <p:nvPr/>
        </p:nvPicPr>
        <p:blipFill>
          <a:blip r:embed="rId5"/>
          <a:stretch>
            <a:fillRect/>
          </a:stretch>
        </p:blipFill>
        <p:spPr>
          <a:xfrm>
            <a:off x="548640" y="1500835"/>
            <a:ext cx="5852160" cy="3033370"/>
          </a:xfrm>
          <a:prstGeom prst="rect">
            <a:avLst/>
          </a:prstGeom>
        </p:spPr>
      </p:pic>
      <p:sp>
        <p:nvSpPr>
          <p:cNvPr id="6" name="Split box">
            <a:extLst>
              <a:ext uri="{C183D7F6-B498-43B3-948B-1728B52AA6E4}">
                <adec:decorative xmlns:adec="http://schemas.microsoft.com/office/drawing/2017/decorative" val="1"/>
              </a:ext>
            </a:extLst>
          </p:cNvPr>
          <p:cNvSpPr/>
          <p:nvPr/>
        </p:nvSpPr>
        <p:spPr>
          <a:xfrm>
            <a:off x="6583680" y="1371600"/>
            <a:ext cx="507492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RightLeft">
            <a:extLst>
              <a:ext uri="{C183D7F6-B498-43B3-948B-1728B52AA6E4}">
                <adec:decorative xmlns:adec="http://schemas.microsoft.com/office/drawing/2017/decorative" val="1"/>
              </a:ext>
            </a:extLst>
          </p:cNvPr>
          <p:cNvSpPr/>
          <p:nvPr/>
        </p:nvSpPr>
        <p:spPr>
          <a:xfrm>
            <a:off x="681228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943954" y="1649578"/>
            <a:ext cx="285293" cy="285293"/>
          </a:xfrm>
          <a:prstGeom prst="rect">
            <a:avLst/>
          </a:prstGeom>
        </p:spPr>
      </p:pic>
      <p:sp>
        <p:nvSpPr>
          <p:cNvPr id="9" name="Split head"/>
          <p:cNvSpPr txBox="1"/>
          <p:nvPr/>
        </p:nvSpPr>
        <p:spPr>
          <a:xfrm>
            <a:off x="7498080" y="1517904"/>
            <a:ext cx="402336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Division of labor (design)</a:t>
            </a:r>
            <a:endParaRPr lang="en-US" sz="1650" dirty="0"/>
          </a:p>
        </p:txBody>
      </p:sp>
      <p:sp>
        <p:nvSpPr>
          <p:cNvPr id="10" name="Split list"/>
          <p:cNvSpPr txBox="1"/>
          <p:nvPr/>
        </p:nvSpPr>
        <p:spPr>
          <a:xfrm>
            <a:off x="6812280" y="2212848"/>
            <a:ext cx="46634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XDR detects what its own sensors see</a:t>
            </a:r>
            <a:endParaRPr lang="en-US" sz="1400" dirty="0"/>
          </a:p>
          <a:p>
            <a:pPr marL="342900" indent="-342900">
              <a:spcAft>
                <a:spcPts val="600"/>
              </a:spcAft>
              <a:buSzPct val="100000"/>
              <a:buChar char="•"/>
            </a:pPr>
            <a:r>
              <a:rPr lang="en-US" sz="1350" dirty="0">
                <a:solidFill>
                  <a:schemeClr val="tx2"/>
                </a:solidFill>
              </a:rPr>
              <a:t>SIEM rules cover DNS, SASE, SQL, other clouds</a:t>
            </a:r>
            <a:endParaRPr lang="en-US" sz="1400" dirty="0"/>
          </a:p>
          <a:p>
            <a:pPr marL="342900" indent="-342900">
              <a:spcAft>
                <a:spcPts val="600"/>
              </a:spcAft>
              <a:buSzPct val="100000"/>
              <a:buChar char="•"/>
            </a:pPr>
            <a:r>
              <a:rPr lang="en-US" sz="1350" dirty="0">
                <a:solidFill>
                  <a:schemeClr val="tx2"/>
                </a:solidFill>
              </a:rPr>
              <a:t>Detection logic is written once</a:t>
            </a:r>
            <a:endParaRPr lang="en-US" sz="1400" dirty="0"/>
          </a:p>
          <a:p>
            <a:pPr marL="342900" indent="-342900">
              <a:spcAft>
                <a:spcPts val="600"/>
              </a:spcAft>
              <a:buSzPct val="100000"/>
              <a:buChar char="•"/>
            </a:pPr>
            <a:r>
              <a:rPr lang="en-US" sz="1350" dirty="0">
                <a:solidFill>
                  <a:schemeClr val="tx2"/>
                </a:solidFill>
              </a:rPr>
              <a:t>Raw tables streamed only where rules join them</a:t>
            </a:r>
            <a:endParaRPr lang="en-US" sz="1400" dirty="0"/>
          </a:p>
          <a:p>
            <a:pPr marL="342900" indent="-342900">
              <a:spcAft>
                <a:spcPts val="600"/>
              </a:spcAft>
              <a:buSzPct val="100000"/>
              <a:buChar char="•"/>
            </a:pPr>
            <a:r>
              <a:rPr lang="en-US" sz="1350" dirty="0">
                <a:solidFill>
                  <a:schemeClr val="tx2"/>
                </a:solidFill>
              </a:rPr>
              <a:t>Check each feature in the agency's cloud</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 the division of labor between XDR and the SIEM, with one incident queue, and plan new detection work in the Defender portal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Security engineering decides; CISO consulted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new detection work</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Sentinel in the Defender portal; Sentinel and US Government feature availability; automatic attack disruption. Book 12, Chapters 05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E02B1EB-55E8-D9E5-856F-3C2B5B3BD5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539C27D-7676-4298-855A-9F8A3489AB79}"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010"/>
    </mc:Choice>
    <mc:Fallback>
      <p:transition spd="slow" advTm="44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Retention: searchable, retrievable, then kept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5508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Where data sits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supports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to know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Analytics tier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Rules, alerts, hunting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only tier that alerts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Basic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Troubleshooting, response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Queryable 30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Lake, Auxiliary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Long hunts, compliance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alerts; up to 12 years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Immutable copy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Tamper-protected evidence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a detection 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ier note"/>
          <p:cNvSpPr txBox="1"/>
          <p:nvPr/>
        </p:nvSpPr>
        <p:spPr>
          <a:xfrm>
            <a:off x="548640" y="3749040"/>
            <a:ext cx="6355080" cy="685800"/>
          </a:xfrm>
          <a:prstGeom prst="rect">
            <a:avLst/>
          </a:prstGeom>
          <a:noFill/>
          <a:ln/>
        </p:spPr>
        <p:txBody>
          <a:bodyPr wrap="square" lIns="0" tIns="0" rIns="0" bIns="0" rtlCol="0" anchor="t"/>
          <a:lstStyle/>
          <a:p>
            <a:pPr marL="0" indent="0">
              <a:buNone/>
            </a:pPr>
            <a:r>
              <a:rPr lang="en-US" sz="1200" i="1" dirty="0">
                <a:solidFill>
                  <a:srgbClr val="64748B"/>
                </a:solidFill>
              </a:rPr>
              <a:t>Tier summary from Microsoft Learn, as of October 2026. Moving a table between plans is limited to once a week, and moving it out of the analytics tier stops its alerts.</a:t>
            </a:r>
            <a:endParaRPr lang="en-US" sz="1200" dirty="0"/>
          </a:p>
        </p:txBody>
      </p:sp>
      <p:sp>
        <p:nvSpPr>
          <p:cNvPr id="7" name="Who box">
            <a:extLst>
              <a:ext uri="{C183D7F6-B498-43B3-948B-1728B52AA6E4}">
                <adec:decorative xmlns:adec="http://schemas.microsoft.com/office/drawing/2017/decorative" val="1"/>
              </a:ext>
            </a:extLst>
          </p:cNvPr>
          <p:cNvSpPr/>
          <p:nvPr/>
        </p:nvSpPr>
        <p:spPr>
          <a:xfrm>
            <a:off x="7086600" y="1371600"/>
            <a:ext cx="4572000" cy="2560320"/>
          </a:xfrm>
          <a:prstGeom prst="roundRect">
            <a:avLst>
              <a:gd name="adj" fmla="val 285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Icon FaUsersGea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5" name="Who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Two decisions, two owners</a:t>
            </a:r>
            <a:endParaRPr lang="en-US" sz="1650" dirty="0"/>
          </a:p>
        </p:txBody>
      </p:sp>
      <p:sp>
        <p:nvSpPr>
          <p:cNvPr id="11" name="Who list"/>
          <p:cNvSpPr txBox="1"/>
          <p:nvPr/>
        </p:nvSpPr>
        <p:spPr>
          <a:xfrm>
            <a:off x="7315200" y="2212848"/>
            <a:ext cx="416052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CISO: the security floor, at least M-26-14's</a:t>
            </a:r>
            <a:endParaRPr lang="en-US" sz="1400" dirty="0"/>
          </a:p>
          <a:p>
            <a:pPr marL="342900" indent="-342900">
              <a:spcAft>
                <a:spcPts val="600"/>
              </a:spcAft>
              <a:buSzPct val="100000"/>
              <a:buChar char="•"/>
            </a:pPr>
            <a:r>
              <a:rPr lang="en-US" sz="1350" dirty="0">
                <a:solidFill>
                  <a:schemeClr val="tx2"/>
                </a:solidFill>
              </a:rPr>
              <a:t>Records officer: disposition above it</a:t>
            </a:r>
            <a:endParaRPr lang="en-US" sz="1400" dirty="0"/>
          </a:p>
          <a:p>
            <a:pPr marL="342900" indent="-342900">
              <a:spcAft>
                <a:spcPts val="600"/>
              </a:spcAft>
              <a:buSzPct val="100000"/>
              <a:buChar char="•"/>
            </a:pPr>
            <a:r>
              <a:rPr lang="en-US" sz="1350" dirty="0">
                <a:solidFill>
                  <a:schemeClr val="tx2"/>
                </a:solidFill>
              </a:rPr>
              <a:t>Shortening needs the records officer</a:t>
            </a:r>
            <a:endParaRPr lang="en-US" sz="1400" dirty="0"/>
          </a:p>
          <a:p>
            <a:pPr marL="342900" indent="-342900">
              <a:spcAft>
                <a:spcPts val="600"/>
              </a:spcAft>
              <a:buSzPct val="100000"/>
              <a:buChar char="•"/>
            </a:pPr>
            <a:r>
              <a:rPr lang="en-US" sz="1350" dirty="0">
                <a:solidFill>
                  <a:schemeClr val="tx2"/>
                </a:solidFill>
              </a:rPr>
              <a:t>Records schedule for these logs in revision</a:t>
            </a:r>
            <a:endParaRPr lang="en-US" sz="1400" dirty="0"/>
          </a:p>
        </p:txBody>
      </p:sp>
      <p:sp>
        <p:nvSpPr>
          <p:cNvPr id="12"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Keep detection sources in the analytics tier for at least six months; no retention is shortened without the records officer's concurrence</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sets the floor; records officer decides disposition</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Now, and before any tier change</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Appendix B; Microsoft Learn — table plans, Sentinel data tiers, data export, immutable storage; NARA GRS 3.2 and status page. Book 12, Chapters 10,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0D7EA657-3340-7FCF-57FD-BEEA3C70EF1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80BCA3-089A-463E-89ED-6340278BB7D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390"/>
    </mc:Choice>
    <mc:Fallback>
      <p:transition spd="slow" advTm="44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392"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Cost is where visibility gaps get decided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st head"/>
          <p:cNvSpPr txBox="1"/>
          <p:nvPr/>
        </p:nvSpPr>
        <p:spPr>
          <a:xfrm>
            <a:off x="548640" y="1371600"/>
            <a:ext cx="6035040" cy="274320"/>
          </a:xfrm>
          <a:prstGeom prst="rect">
            <a:avLst/>
          </a:prstGeom>
          <a:noFill/>
          <a:ln/>
        </p:spPr>
        <p:txBody>
          <a:bodyPr wrap="square" lIns="0" tIns="0" rIns="0" bIns="0" rtlCol="0" anchor="t"/>
          <a:lstStyle/>
          <a:p>
            <a:pPr marL="0" indent="0">
              <a:buNone/>
            </a:pPr>
            <a:r>
              <a:rPr lang="en-US" sz="1200" b="1" dirty="0">
                <a:solidFill>
                  <a:srgbClr val="64748B"/>
                </a:solidFill>
              </a:rPr>
              <a:t>COST AND RETENTION TRADE-OFFS THE BOOK NAMES</a:t>
            </a:r>
            <a:endParaRPr lang="en-US" sz="1200" dirty="0"/>
          </a:p>
        </p:txBody>
      </p:sp>
      <p:sp>
        <p:nvSpPr>
          <p:cNvPr id="6" name="Cost 0">
            <a:extLst>
              <a:ext uri="{C183D7F6-B498-43B3-948B-1728B52AA6E4}">
                <adec:decorative xmlns:adec="http://schemas.microsoft.com/office/drawing/2017/decorative" val="1"/>
              </a:ext>
            </a:extLst>
          </p:cNvPr>
          <p:cNvSpPr/>
          <p:nvPr/>
        </p:nvSpPr>
        <p:spPr>
          <a:xfrm>
            <a:off x="548640" y="1719072"/>
            <a:ext cx="603504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Cost 0 text"/>
          <p:cNvSpPr txBox="1"/>
          <p:nvPr/>
        </p:nvSpPr>
        <p:spPr>
          <a:xfrm>
            <a:off x="731520" y="1719072"/>
            <a:ext cx="5760720" cy="493776"/>
          </a:xfrm>
          <a:prstGeom prst="rect">
            <a:avLst/>
          </a:prstGeom>
          <a:noFill/>
          <a:ln/>
        </p:spPr>
        <p:txBody>
          <a:bodyPr wrap="square" lIns="0" tIns="0" rIns="0" bIns="0" rtlCol="0" anchor="ctr"/>
          <a:lstStyle/>
          <a:p>
            <a:pPr marL="0" indent="0">
              <a:buNone/>
            </a:pPr>
            <a:r>
              <a:rPr lang="en-US" sz="1350" b="1" dirty="0">
                <a:solidFill>
                  <a:srgbClr val="1F2A44"/>
                </a:solidFill>
              </a:rPr>
              <a:t>Tiering   </a:t>
            </a:r>
            <a:r>
              <a:rPr lang="en-US" sz="1350" dirty="0">
                <a:solidFill>
                  <a:schemeClr val="tx2"/>
                </a:solidFill>
              </a:rPr>
              <a:t>Cheap storage that raises no alerts</a:t>
            </a:r>
            <a:endParaRPr lang="en-US" sz="1350" dirty="0"/>
          </a:p>
        </p:txBody>
      </p:sp>
      <p:sp>
        <p:nvSpPr>
          <p:cNvPr id="8" name="Cost 1">
            <a:extLst>
              <a:ext uri="{C183D7F6-B498-43B3-948B-1728B52AA6E4}">
                <adec:decorative xmlns:adec="http://schemas.microsoft.com/office/drawing/2017/decorative" val="1"/>
              </a:ext>
            </a:extLst>
          </p:cNvPr>
          <p:cNvSpPr/>
          <p:nvPr/>
        </p:nvSpPr>
        <p:spPr>
          <a:xfrm>
            <a:off x="548640" y="2286000"/>
            <a:ext cx="603504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Cost 1 text"/>
          <p:cNvSpPr txBox="1"/>
          <p:nvPr/>
        </p:nvSpPr>
        <p:spPr>
          <a:xfrm>
            <a:off x="731520" y="2286000"/>
            <a:ext cx="5760720" cy="493776"/>
          </a:xfrm>
          <a:prstGeom prst="rect">
            <a:avLst/>
          </a:prstGeom>
          <a:noFill/>
          <a:ln/>
        </p:spPr>
        <p:txBody>
          <a:bodyPr wrap="square" lIns="0" tIns="0" rIns="0" bIns="0" rtlCol="0" anchor="ctr"/>
          <a:lstStyle/>
          <a:p>
            <a:pPr marL="0" indent="0">
              <a:buNone/>
            </a:pPr>
            <a:r>
              <a:rPr lang="en-US" sz="1350" b="1" dirty="0">
                <a:solidFill>
                  <a:srgbClr val="1F2A44"/>
                </a:solidFill>
              </a:rPr>
              <a:t>Streaming   </a:t>
            </a:r>
            <a:r>
              <a:rPr lang="en-US" sz="1350" dirty="0">
                <a:solidFill>
                  <a:schemeClr val="tx2"/>
                </a:solidFill>
              </a:rPr>
              <a:t>Raw XDR tables cost money; stream only joined ones</a:t>
            </a:r>
            <a:endParaRPr lang="en-US" sz="1350" dirty="0"/>
          </a:p>
        </p:txBody>
      </p:sp>
      <p:sp>
        <p:nvSpPr>
          <p:cNvPr id="10" name="Cost 2">
            <a:extLst>
              <a:ext uri="{C183D7F6-B498-43B3-948B-1728B52AA6E4}">
                <adec:decorative xmlns:adec="http://schemas.microsoft.com/office/drawing/2017/decorative" val="1"/>
              </a:ext>
            </a:extLst>
          </p:cNvPr>
          <p:cNvSpPr/>
          <p:nvPr/>
        </p:nvSpPr>
        <p:spPr>
          <a:xfrm>
            <a:off x="548640" y="2852928"/>
            <a:ext cx="603504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Cost 2 text"/>
          <p:cNvSpPr txBox="1"/>
          <p:nvPr/>
        </p:nvSpPr>
        <p:spPr>
          <a:xfrm>
            <a:off x="731520" y="2852928"/>
            <a:ext cx="5760720" cy="493776"/>
          </a:xfrm>
          <a:prstGeom prst="rect">
            <a:avLst/>
          </a:prstGeom>
          <a:noFill/>
          <a:ln/>
        </p:spPr>
        <p:txBody>
          <a:bodyPr wrap="square" lIns="0" tIns="0" rIns="0" bIns="0" rtlCol="0" anchor="ctr"/>
          <a:lstStyle/>
          <a:p>
            <a:pPr marL="0" indent="0">
              <a:buNone/>
            </a:pPr>
            <a:r>
              <a:rPr lang="en-US" sz="1350" b="1" dirty="0">
                <a:solidFill>
                  <a:srgbClr val="1F2A44"/>
                </a:solidFill>
              </a:rPr>
              <a:t>Licensing   </a:t>
            </a:r>
            <a:r>
              <a:rPr lang="en-US" sz="1350" dirty="0">
                <a:solidFill>
                  <a:schemeClr val="tx2"/>
                </a:solidFill>
              </a:rPr>
              <a:t>Audit history follows each user's license</a:t>
            </a:r>
            <a:endParaRPr lang="en-US" sz="1350" dirty="0"/>
          </a:p>
        </p:txBody>
      </p:sp>
      <p:sp>
        <p:nvSpPr>
          <p:cNvPr id="12" name="Cost 3">
            <a:extLst>
              <a:ext uri="{C183D7F6-B498-43B3-948B-1728B52AA6E4}">
                <adec:decorative xmlns:adec="http://schemas.microsoft.com/office/drawing/2017/decorative" val="1"/>
              </a:ext>
            </a:extLst>
          </p:cNvPr>
          <p:cNvSpPr/>
          <p:nvPr/>
        </p:nvSpPr>
        <p:spPr>
          <a:xfrm>
            <a:off x="548640" y="3419856"/>
            <a:ext cx="603504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Cost 3 text"/>
          <p:cNvSpPr txBox="1"/>
          <p:nvPr/>
        </p:nvSpPr>
        <p:spPr>
          <a:xfrm>
            <a:off x="731520" y="3419856"/>
            <a:ext cx="5760720" cy="493776"/>
          </a:xfrm>
          <a:prstGeom prst="rect">
            <a:avLst/>
          </a:prstGeom>
          <a:noFill/>
          <a:ln/>
        </p:spPr>
        <p:txBody>
          <a:bodyPr wrap="square" lIns="0" tIns="0" rIns="0" bIns="0" rtlCol="0" anchor="ctr"/>
          <a:lstStyle/>
          <a:p>
            <a:pPr marL="0" indent="0">
              <a:buNone/>
            </a:pPr>
            <a:r>
              <a:rPr lang="en-US" sz="1350" b="1" dirty="0">
                <a:solidFill>
                  <a:srgbClr val="1F2A44"/>
                </a:solidFill>
              </a:rPr>
              <a:t>Defaults   </a:t>
            </a:r>
            <a:r>
              <a:rPr lang="en-US" sz="1350" dirty="0">
                <a:solidFill>
                  <a:schemeClr val="tx2"/>
                </a:solidFill>
              </a:rPr>
              <a:t>Short native windows unless exported</a:t>
            </a:r>
            <a:endParaRPr lang="en-US" sz="1350" dirty="0"/>
          </a:p>
        </p:txBody>
      </p:sp>
      <p:sp>
        <p:nvSpPr>
          <p:cNvPr id="14" name="Cost 4">
            <a:extLst>
              <a:ext uri="{C183D7F6-B498-43B3-948B-1728B52AA6E4}">
                <adec:decorative xmlns:adec="http://schemas.microsoft.com/office/drawing/2017/decorative" val="1"/>
              </a:ext>
            </a:extLst>
          </p:cNvPr>
          <p:cNvSpPr/>
          <p:nvPr/>
        </p:nvSpPr>
        <p:spPr>
          <a:xfrm>
            <a:off x="548640" y="3986784"/>
            <a:ext cx="603504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Cost 4 text"/>
          <p:cNvSpPr txBox="1"/>
          <p:nvPr/>
        </p:nvSpPr>
        <p:spPr>
          <a:xfrm>
            <a:off x="731520" y="3986784"/>
            <a:ext cx="5760720" cy="493776"/>
          </a:xfrm>
          <a:prstGeom prst="rect">
            <a:avLst/>
          </a:prstGeom>
          <a:noFill/>
          <a:ln/>
        </p:spPr>
        <p:txBody>
          <a:bodyPr wrap="square" lIns="0" tIns="0" rIns="0" bIns="0" rtlCol="0" anchor="ctr"/>
          <a:lstStyle/>
          <a:p>
            <a:pPr marL="0" indent="0">
              <a:buNone/>
            </a:pPr>
            <a:r>
              <a:rPr lang="en-US" sz="1350" b="1" dirty="0">
                <a:solidFill>
                  <a:srgbClr val="1F2A44"/>
                </a:solidFill>
              </a:rPr>
              <a:t>Noise   </a:t>
            </a:r>
            <a:r>
              <a:rPr lang="en-US" sz="1350" dirty="0">
                <a:solidFill>
                  <a:schemeClr val="tx2"/>
                </a:solidFill>
              </a:rPr>
              <a:t>Noisy preview logs cost money, add little</a:t>
            </a:r>
            <a:endParaRPr lang="en-US" sz="1350" dirty="0"/>
          </a:p>
        </p:txBody>
      </p:sp>
      <p:sp>
        <p:nvSpPr>
          <p:cNvPr id="16" name="Gap box">
            <a:extLst>
              <a:ext uri="{C183D7F6-B498-43B3-948B-1728B52AA6E4}">
                <adec:decorative xmlns:adec="http://schemas.microsoft.com/office/drawing/2017/decorative" val="1"/>
              </a:ext>
            </a:extLst>
          </p:cNvPr>
          <p:cNvSpPr/>
          <p:nvPr/>
        </p:nvSpPr>
        <p:spPr>
          <a:xfrm>
            <a:off x="6812280" y="1371600"/>
            <a:ext cx="4846320" cy="2359152"/>
          </a:xfrm>
          <a:prstGeom prst="roundRect">
            <a:avLst>
              <a:gd name="adj" fmla="val 310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B45309"/>
          </a:solidFill>
          <a:ln w="12700">
            <a:solidFill>
              <a:srgbClr val="B45309"/>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72554" y="1649578"/>
            <a:ext cx="285293" cy="285293"/>
          </a:xfrm>
          <a:prstGeom prst="rect">
            <a:avLst/>
          </a:prstGeom>
        </p:spPr>
      </p:pic>
      <p:sp>
        <p:nvSpPr>
          <p:cNvPr id="19" name="Gap head"/>
          <p:cNvSpPr txBox="1"/>
          <p:nvPr/>
        </p:nvSpPr>
        <p:spPr>
          <a:xfrm>
            <a:off x="7726680" y="1517904"/>
            <a:ext cx="379476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When a saving becomes a gap</a:t>
            </a:r>
            <a:endParaRPr lang="en-US" sz="1650" dirty="0"/>
          </a:p>
        </p:txBody>
      </p:sp>
      <p:sp>
        <p:nvSpPr>
          <p:cNvPr id="20" name="Gap list"/>
          <p:cNvSpPr txBox="1"/>
          <p:nvPr/>
        </p:nvSpPr>
        <p:spPr>
          <a:xfrm>
            <a:off x="7040880" y="2212848"/>
            <a:ext cx="443484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CIO's funding line decides most gaps</a:t>
            </a:r>
            <a:endParaRPr lang="en-US" sz="1400" dirty="0"/>
          </a:p>
          <a:p>
            <a:pPr marL="342900" indent="-342900">
              <a:spcAft>
                <a:spcPts val="600"/>
              </a:spcAft>
              <a:buSzPct val="100000"/>
              <a:buChar char="•"/>
            </a:pPr>
            <a:r>
              <a:rPr lang="en-US" sz="1350" dirty="0">
                <a:solidFill>
                  <a:schemeClr val="tx2"/>
                </a:solidFill>
              </a:rPr>
              <a:t>A detection source moved to the lake is a gap</a:t>
            </a:r>
            <a:endParaRPr lang="en-US" sz="1400" dirty="0"/>
          </a:p>
          <a:p>
            <a:pPr marL="342900" indent="-342900">
              <a:spcAft>
                <a:spcPts val="600"/>
              </a:spcAft>
              <a:buSzPct val="100000"/>
              <a:buChar char="•"/>
            </a:pPr>
            <a:r>
              <a:rPr lang="en-US" sz="1350" dirty="0">
                <a:solidFill>
                  <a:schemeClr val="tx2"/>
                </a:solidFill>
              </a:rPr>
              <a:t>Record it, with its decider and an end date</a:t>
            </a:r>
            <a:endParaRPr lang="en-US" sz="1400" dirty="0"/>
          </a:p>
          <a:p>
            <a:pPr marL="342900" indent="-342900">
              <a:spcAft>
                <a:spcPts val="600"/>
              </a:spcAft>
              <a:buSzPct val="100000"/>
              <a:buChar char="•"/>
            </a:pPr>
            <a:r>
              <a:rPr lang="en-US" sz="1350" dirty="0">
                <a:solidFill>
                  <a:schemeClr val="tx2"/>
                </a:solidFill>
              </a:rPr>
              <a:t>A gap carried, not closed, is the AO's call</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Fund ingestion and retention as a visibility decision; a detection source moved out of the analytics tier is recorded as a gap for the AO</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CIO funds; the AO accepts a carried gap</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Each budget cycle and tier change</a:t>
            </a:r>
            <a:endParaRPr lang="en-US" sz="140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Sentinel data lake ingestion guidance, Defender XDR streaming, Entra ID log options; Microsoft Purview audit retention. Book 12, Chapters 01, 03, 04, 05,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2DAD273D-DAC5-8191-BADD-8AE8D1362FD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C50857C-127E-439A-BA5B-2502534B10D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00"/>
    </mc:Choice>
    <mc:Fallback>
      <p:transition spd="slow" advTm="44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0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finding lands in one queue, on a clock</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op to bottom. A slate card, a finding: one CVE on one asset. It leads to four violet question cards side by side: publicly exposed, from the agency exposure tag; in the KEV catalog, from the CISA feed; automatable, from CISA Vulnrichment, no when absent; technical impact partial or total, from CISA Vulnrichment, total when absent. All four feed a table of the five outcomes in BOD 26-04 Appendix A: 3 days and forensic triage, rows 1, 3 and 9, KEV with total impact unless internal and not automatable; 3 days, rows 2 and 5; 14 days, rows 4, 6, 7, 10, 11 and 12; 60 days, rows 8, 13 and 14; fix on system upgrade, rows 15 and 16, internal, not in KEV and not automatable. Below it a green card, the deadline: starts at KEV listing or first detection, whichever is earlier, and is a maximum the agency may shorten."/>
          <p:cNvPicPr>
            <a:picLocks noChangeAspect="1"/>
          </p:cNvPicPr>
          <p:nvPr/>
        </p:nvPicPr>
        <p:blipFill>
          <a:blip r:embed="rId5"/>
          <a:stretch>
            <a:fillRect/>
          </a:stretch>
        </p:blipFill>
        <p:spPr>
          <a:xfrm>
            <a:off x="566150" y="1371600"/>
            <a:ext cx="4902740" cy="3291840"/>
          </a:xfrm>
          <a:prstGeom prst="rect">
            <a:avLst/>
          </a:prstGeom>
        </p:spPr>
      </p:pic>
      <p:sp>
        <p:nvSpPr>
          <p:cNvPr id="6" name="BOD box">
            <a:extLst>
              <a:ext uri="{C183D7F6-B498-43B3-948B-1728B52AA6E4}">
                <adec:decorative xmlns:adec="http://schemas.microsoft.com/office/drawing/2017/decorative" val="1"/>
              </a:ext>
            </a:extLst>
          </p:cNvPr>
          <p:cNvSpPr/>
          <p:nvPr/>
        </p:nvSpPr>
        <p:spPr>
          <a:xfrm>
            <a:off x="5715000" y="1371600"/>
            <a:ext cx="5943600" cy="2432304"/>
          </a:xfrm>
          <a:prstGeom prst="roundRect">
            <a:avLst>
              <a:gd name="adj" fmla="val 300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594360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075274" y="1649578"/>
            <a:ext cx="285293" cy="285293"/>
          </a:xfrm>
          <a:prstGeom prst="rect">
            <a:avLst/>
          </a:prstGeom>
        </p:spPr>
      </p:pic>
      <p:sp>
        <p:nvSpPr>
          <p:cNvPr id="9" name="BOD head"/>
          <p:cNvSpPr txBox="1"/>
          <p:nvPr/>
        </p:nvSpPr>
        <p:spPr>
          <a:xfrm>
            <a:off x="6629400" y="1517904"/>
            <a:ext cx="48920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BOD 26-04, June 10, 2026</a:t>
            </a:r>
            <a:endParaRPr lang="en-US" sz="1650" dirty="0"/>
          </a:p>
        </p:txBody>
      </p:sp>
      <p:sp>
        <p:nvSpPr>
          <p:cNvPr id="10" name="BOD list"/>
          <p:cNvSpPr txBox="1"/>
          <p:nvPr/>
        </p:nvSpPr>
        <p:spPr>
          <a:xfrm>
            <a:off x="5943600" y="2212848"/>
            <a:ext cx="55321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Replaced BOD 22-01 and BOD 19-02</a:t>
            </a:r>
            <a:endParaRPr lang="en-US" sz="1400" dirty="0"/>
          </a:p>
          <a:p>
            <a:pPr marL="342900" indent="-342900">
              <a:spcAft>
                <a:spcPts val="600"/>
              </a:spcAft>
              <a:buSzPct val="100000"/>
              <a:buChar char="•"/>
            </a:pPr>
            <a:r>
              <a:rPr lang="en-US" sz="1350" dirty="0">
                <a:solidFill>
                  <a:schemeClr val="tx2"/>
                </a:solidFill>
              </a:rPr>
              <a:t>Four questions set each asset's clock</a:t>
            </a:r>
            <a:endParaRPr lang="en-US" sz="1400" dirty="0"/>
          </a:p>
          <a:p>
            <a:pPr marL="342900" indent="-342900">
              <a:spcAft>
                <a:spcPts val="600"/>
              </a:spcAft>
              <a:buSzPct val="100000"/>
              <a:buChar char="•"/>
            </a:pPr>
            <a:r>
              <a:rPr lang="en-US" sz="1350" dirty="0">
                <a:solidFill>
                  <a:schemeClr val="tx2"/>
                </a:solidFill>
              </a:rPr>
              <a:t>From 3 days to fix-on-upgrade</a:t>
            </a:r>
            <a:endParaRPr lang="en-US" sz="1400" dirty="0"/>
          </a:p>
          <a:p>
            <a:pPr marL="342900" indent="-342900">
              <a:spcAft>
                <a:spcPts val="600"/>
              </a:spcAft>
              <a:buSzPct val="100000"/>
              <a:buChar char="•"/>
            </a:pPr>
            <a:r>
              <a:rPr lang="en-US" sz="1350" dirty="0">
                <a:solidFill>
                  <a:schemeClr val="tx2"/>
                </a:solidFill>
              </a:rPr>
              <a:t>Clock starts at KEV listing or first detection</a:t>
            </a:r>
            <a:endParaRPr lang="en-US" sz="1400" dirty="0"/>
          </a:p>
          <a:p>
            <a:pPr marL="342900" indent="-342900">
              <a:spcAft>
                <a:spcPts val="600"/>
              </a:spcAft>
              <a:buSzPct val="100000"/>
              <a:buChar char="•"/>
            </a:pPr>
            <a:r>
              <a:rPr lang="en-US" sz="1350" dirty="0">
                <a:solidFill>
                  <a:schemeClr val="tx2"/>
                </a:solidFill>
              </a:rPr>
              <a:t>A scanner measures; it never remediates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Remediate each finding within its BOD 26-04 timeline; a deadline the agency will miss is a risk acceptance for the AO</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System owner remediates; the AO decides a miss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On each finding's clock</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26-04 (June 10, 2026) and implementation guidance; BOD 23-01; KEV catalog feed (Oct 21, 2026); NIST SP 800-53 RA-5, SI-2. Book 12, Chapters 02,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8BCEFCA-57C0-EF9E-A59C-EA576B82A2C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64A25D1-6FCA-4070-98DC-82DFD11B9878}"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240"/>
    </mc:Choice>
    <mc:Fallback>
      <p:transition spd="slow" advTm="46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24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SOC runs the queue; it doesn't decide alone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with a slate pill above the top row. Top row, decision makers: the CIO and sponsor in amber, who own scope, funding and which SOC is top-level; the authorizing official in amber, who accepts residual risk, including telemetry gaps, missed deadlines and standing suppressions; and the CISO and ISSOs in violet, who set logging, detection and evidence requirements and decide major incidents. An amber arrow labeled funding runs from the CIO to the top-level SOC; an amber arrow labeled risk decisions runs from the authorizing official to security engineering; violet arrows labeled requirements run from the CISO to both. Middle row: the top-level SOC in violet, which triages, investigates, responds and reports to CISA; security engineering in violet, which owns the SIEM, rule library, playbooks and evidence pipeline and sends incidents to the SOC; and a slate card for records, privacy and counsel, which decide disposition, log content and legal review of monitoring and are consulted by security engineering. Bottom row: one wide blue card for the platform owners of identity, cloud platform and Microsoft 365, endpoints and servers, network and DNS, and data, with an arrow labeled emits telemetry up to security engineering and a dashed arrow labeled findings to remediate coming back from the SOC. The slate pill above the authorizing official reads: control assessors assess with the independence the authorizing official sets, with a dashed arrow labeled assessments down to the authorizing official."/>
          <p:cNvPicPr>
            <a:picLocks noChangeAspect="1"/>
          </p:cNvPicPr>
          <p:nvPr/>
        </p:nvPicPr>
        <p:blipFill>
          <a:blip r:embed="rId5"/>
          <a:stretch>
            <a:fillRect/>
          </a:stretch>
        </p:blipFill>
        <p:spPr>
          <a:xfrm>
            <a:off x="975302" y="1371600"/>
            <a:ext cx="4815956" cy="3291840"/>
          </a:xfrm>
          <a:prstGeom prst="rect">
            <a:avLst/>
          </a:prstGeom>
        </p:spPr>
      </p:pic>
      <p:sp>
        <p:nvSpPr>
          <p:cNvPr id="6" name="CCP box">
            <a:extLst>
              <a:ext uri="{C183D7F6-B498-43B3-948B-1728B52AA6E4}">
                <adec:decorative xmlns:adec="http://schemas.microsoft.com/office/drawing/2017/decorative" val="1"/>
              </a:ext>
            </a:extLst>
          </p:cNvPr>
          <p:cNvSpPr/>
          <p:nvPr/>
        </p:nvSpPr>
        <p:spPr>
          <a:xfrm>
            <a:off x="6446520" y="1371600"/>
            <a:ext cx="5212080" cy="2148840"/>
          </a:xfrm>
          <a:prstGeom prst="roundRect">
            <a:avLst>
              <a:gd name="adj" fmla="val 340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667512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06794" y="1649578"/>
            <a:ext cx="285293" cy="285293"/>
          </a:xfrm>
          <a:prstGeom prst="rect">
            <a:avLst/>
          </a:prstGeom>
        </p:spPr>
      </p:pic>
      <p:sp>
        <p:nvSpPr>
          <p:cNvPr id="9" name="CCP head"/>
          <p:cNvSpPr txBox="1"/>
          <p:nvPr/>
        </p:nvSpPr>
        <p:spPr>
          <a:xfrm>
            <a:off x="7360920" y="1517904"/>
            <a:ext cx="416052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The SOC as common control provider</a:t>
            </a:r>
            <a:endParaRPr lang="en-US" sz="1650" dirty="0"/>
          </a:p>
        </p:txBody>
      </p:sp>
      <p:sp>
        <p:nvSpPr>
          <p:cNvPr id="10" name="CCP list"/>
          <p:cNvSpPr txBox="1"/>
          <p:nvPr/>
        </p:nvSpPr>
        <p:spPr>
          <a:xfrm>
            <a:off x="6675120" y="2212848"/>
            <a:ext cx="480060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Its inherited controls are assessed too</a:t>
            </a:r>
            <a:endParaRPr lang="en-US" sz="1400" dirty="0"/>
          </a:p>
          <a:p>
            <a:pPr marL="342900" indent="-342900">
              <a:spcAft>
                <a:spcPts val="600"/>
              </a:spcAft>
              <a:buSzPct val="100000"/>
              <a:buChar char="•"/>
            </a:pPr>
            <a:r>
              <a:rPr lang="en-US" sz="1350" dirty="0">
                <a:solidFill>
                  <a:schemeClr val="tx2"/>
                </a:solidFill>
              </a:rPr>
              <a:t>Most are hybrid: SOC plus system owner</a:t>
            </a:r>
            <a:endParaRPr lang="en-US" sz="1400" dirty="0"/>
          </a:p>
          <a:p>
            <a:pPr marL="342900" indent="-342900">
              <a:spcAft>
                <a:spcPts val="600"/>
              </a:spcAft>
              <a:buSzPct val="100000"/>
              <a:buChar char="•"/>
            </a:pPr>
            <a:r>
              <a:rPr lang="en-US" sz="1350" dirty="0">
                <a:solidFill>
                  <a:schemeClr val="tx2"/>
                </a:solidFill>
              </a:rPr>
              <a:t>The system owner stays accountable</a:t>
            </a:r>
            <a:endParaRPr lang="en-US" sz="1400" dirty="0"/>
          </a:p>
          <a:p>
            <a:pPr marL="342900" indent="-342900">
              <a:spcAft>
                <a:spcPts val="600"/>
              </a:spcAft>
              <a:buSzPct val="100000"/>
              <a:buChar char="•"/>
            </a:pPr>
            <a:r>
              <a:rPr lang="en-US" sz="1350" dirty="0">
                <a:solidFill>
                  <a:schemeClr val="tx2"/>
                </a:solidFill>
              </a:rPr>
              <a:t>Its controls need an AO of their own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Designate one top-level SOC, decide how it's staffed and sourced, and fund it; its common controls get their own authorizing official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CIO and sponsor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logging plan is submitted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D; tasks M-1 to M-6); OMB M-26-14; CISA Federal Incident Notification Guidelines. Book 12,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B51C712-C0BC-20F2-6201-C8A8B1BE82B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04C151-104A-44C4-9701-B4419F987945}"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170"/>
    </mc:Choice>
    <mc:Fallback>
      <p:transition spd="slow" advTm="46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16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what in security operations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Scope, funding, which SOC is top-level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CIO and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Logging plan; what each plane emits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Retention floor; acting playbooks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Major incident determination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Triage, closure; notify CISA in 1 hour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Top-level SOC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Each rule: build, test, tune, retire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Security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Disposition; any shorter retention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Records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Gaps, open suppressions, missed fixes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Rule box">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Rule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Every rule has one owner</a:t>
            </a:r>
            <a:endParaRPr lang="en-US" sz="1650" dirty="0"/>
          </a:p>
        </p:txBody>
      </p:sp>
      <p:sp>
        <p:nvSpPr>
          <p:cNvPr id="10" name="Rule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named engineer, and a backup</a:t>
            </a:r>
            <a:endParaRPr lang="en-US" sz="1400" dirty="0"/>
          </a:p>
          <a:p>
            <a:pPr marL="342900" indent="-342900">
              <a:spcAft>
                <a:spcPts val="600"/>
              </a:spcAft>
              <a:buSzPct val="100000"/>
              <a:buChar char="•"/>
            </a:pPr>
            <a:r>
              <a:rPr lang="en-US" sz="1350" dirty="0">
                <a:solidFill>
                  <a:schemeClr val="tx2"/>
                </a:solidFill>
              </a:rPr>
              <a:t>Its source tables, response and test</a:t>
            </a:r>
            <a:endParaRPr lang="en-US" sz="1400" dirty="0"/>
          </a:p>
          <a:p>
            <a:pPr marL="342900" indent="-342900">
              <a:spcAft>
                <a:spcPts val="600"/>
              </a:spcAft>
              <a:buSzPct val="100000"/>
              <a:buChar char="•"/>
            </a:pPr>
            <a:r>
              <a:rPr lang="en-US" sz="1350" dirty="0">
                <a:solidFill>
                  <a:schemeClr val="tx2"/>
                </a:solidFill>
              </a:rPr>
              <a:t>A review date, and any suppression's end</a:t>
            </a:r>
            <a:endParaRPr lang="en-US" sz="1400" dirty="0"/>
          </a:p>
          <a:p>
            <a:pPr marL="342900" indent="-342900">
              <a:spcAft>
                <a:spcPts val="600"/>
              </a:spcAft>
              <a:buSzPct val="100000"/>
              <a:buChar char="•"/>
            </a:pPr>
            <a:r>
              <a:rPr lang="en-US" sz="1350" dirty="0">
                <a:solidFill>
                  <a:schemeClr val="tx2"/>
                </a:solidFill>
              </a:rPr>
              <a:t>The SOC is consulted on every tuning</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The SOC identifies incidents and notifies CISA within one hour; the CISO decides in parallel whether an incident is major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Top-level SOC; the CISO for major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From the moment of identification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Federal Incident Notification Guidelines; NIST SP 800-37 Rev. 2; OMB M-26-14; NARA GRS 3.2. Book 12, Chapter 10 (responsibility matrix and its seven comments).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26A1AC63-BB85-DF2A-6950-E49A1E3029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D66822-B96F-4A9D-9762-5771F8482F4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880"/>
    </mc:Choice>
    <mc:Fallback>
      <p:transition spd="slow" advTm="48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88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Accepting the risk of what isn't seen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Risk head"/>
          <p:cNvSpPr txBox="1"/>
          <p:nvPr/>
        </p:nvSpPr>
        <p:spPr>
          <a:xfrm>
            <a:off x="548640" y="1371600"/>
            <a:ext cx="6035040" cy="274320"/>
          </a:xfrm>
          <a:prstGeom prst="rect">
            <a:avLst/>
          </a:prstGeom>
          <a:noFill/>
          <a:ln/>
        </p:spPr>
        <p:txBody>
          <a:bodyPr wrap="square" lIns="0" tIns="0" rIns="0" bIns="0" rtlCol="0" anchor="t"/>
          <a:lstStyle/>
          <a:p>
            <a:pPr marL="0" indent="0">
              <a:buNone/>
            </a:pPr>
            <a:r>
              <a:rPr lang="en-US" sz="1200" b="1" dirty="0">
                <a:solidFill>
                  <a:srgbClr val="64748B"/>
                </a:solidFill>
              </a:rPr>
              <a:t>FOUR RISKS THAT GET ACCEPTED SILENTLY</a:t>
            </a:r>
            <a:endParaRPr lang="en-US" sz="1200" dirty="0"/>
          </a:p>
        </p:txBody>
      </p:sp>
      <p:sp>
        <p:nvSpPr>
          <p:cNvPr id="6" name="Risk 0">
            <a:extLst>
              <a:ext uri="{C183D7F6-B498-43B3-948B-1728B52AA6E4}">
                <adec:decorative xmlns:adec="http://schemas.microsoft.com/office/drawing/2017/decorative" val="1"/>
              </a:ext>
            </a:extLst>
          </p:cNvPr>
          <p:cNvSpPr/>
          <p:nvPr/>
        </p:nvSpPr>
        <p:spPr>
          <a:xfrm>
            <a:off x="548640" y="1719072"/>
            <a:ext cx="6035040" cy="566928"/>
          </a:xfrm>
          <a:prstGeom prst="roundRect">
            <a:avLst>
              <a:gd name="adj" fmla="val 1290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Risk 0 text"/>
          <p:cNvSpPr txBox="1"/>
          <p:nvPr/>
        </p:nvSpPr>
        <p:spPr>
          <a:xfrm>
            <a:off x="731520" y="1719072"/>
            <a:ext cx="5760720" cy="566928"/>
          </a:xfrm>
          <a:prstGeom prst="rect">
            <a:avLst/>
          </a:prstGeom>
          <a:noFill/>
          <a:ln/>
        </p:spPr>
        <p:txBody>
          <a:bodyPr wrap="square" lIns="0" tIns="0" rIns="0" bIns="0" rtlCol="0" anchor="ctr"/>
          <a:lstStyle/>
          <a:p>
            <a:pPr marL="0" indent="0">
              <a:buNone/>
            </a:pPr>
            <a:r>
              <a:rPr lang="en-US" sz="1350" b="1" dirty="0">
                <a:solidFill>
                  <a:srgbClr val="1F2A44"/>
                </a:solidFill>
              </a:rPr>
              <a:t>Source   </a:t>
            </a:r>
            <a:r>
              <a:rPr lang="en-US" sz="1350" dirty="0">
                <a:solidFill>
                  <a:schemeClr val="tx2"/>
                </a:solidFill>
              </a:rPr>
              <a:t>Not collected, or not reaching the top-level SOC</a:t>
            </a:r>
            <a:endParaRPr lang="en-US" sz="1350" dirty="0"/>
          </a:p>
        </p:txBody>
      </p:sp>
      <p:sp>
        <p:nvSpPr>
          <p:cNvPr id="8" name="Risk 1">
            <a:extLst>
              <a:ext uri="{C183D7F6-B498-43B3-948B-1728B52AA6E4}">
                <adec:decorative xmlns:adec="http://schemas.microsoft.com/office/drawing/2017/decorative" val="1"/>
              </a:ext>
            </a:extLst>
          </p:cNvPr>
          <p:cNvSpPr/>
          <p:nvPr/>
        </p:nvSpPr>
        <p:spPr>
          <a:xfrm>
            <a:off x="548640" y="2377440"/>
            <a:ext cx="6035040" cy="566928"/>
          </a:xfrm>
          <a:prstGeom prst="roundRect">
            <a:avLst>
              <a:gd name="adj" fmla="val 129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Risk 1 text"/>
          <p:cNvSpPr txBox="1"/>
          <p:nvPr/>
        </p:nvSpPr>
        <p:spPr>
          <a:xfrm>
            <a:off x="731520" y="2377440"/>
            <a:ext cx="5760720" cy="566928"/>
          </a:xfrm>
          <a:prstGeom prst="rect">
            <a:avLst/>
          </a:prstGeom>
          <a:noFill/>
          <a:ln/>
        </p:spPr>
        <p:txBody>
          <a:bodyPr wrap="square" lIns="0" tIns="0" rIns="0" bIns="0" rtlCol="0" anchor="ctr"/>
          <a:lstStyle/>
          <a:p>
            <a:pPr marL="0" indent="0">
              <a:buNone/>
            </a:pPr>
            <a:r>
              <a:rPr lang="en-US" sz="1350" b="1" dirty="0">
                <a:solidFill>
                  <a:srgbClr val="1F2A44"/>
                </a:solidFill>
              </a:rPr>
              <a:t>Rule   </a:t>
            </a:r>
            <a:r>
              <a:rPr lang="en-US" sz="1350" dirty="0">
                <a:solidFill>
                  <a:schemeClr val="tx2"/>
                </a:solidFill>
              </a:rPr>
              <a:t>Suppressed or disabled with no end date</a:t>
            </a:r>
            <a:endParaRPr lang="en-US" sz="1350" dirty="0"/>
          </a:p>
        </p:txBody>
      </p:sp>
      <p:sp>
        <p:nvSpPr>
          <p:cNvPr id="10" name="Risk 2">
            <a:extLst>
              <a:ext uri="{C183D7F6-B498-43B3-948B-1728B52AA6E4}">
                <adec:decorative xmlns:adec="http://schemas.microsoft.com/office/drawing/2017/decorative" val="1"/>
              </a:ext>
            </a:extLst>
          </p:cNvPr>
          <p:cNvSpPr/>
          <p:nvPr/>
        </p:nvSpPr>
        <p:spPr>
          <a:xfrm>
            <a:off x="548640" y="3035808"/>
            <a:ext cx="6035040" cy="566928"/>
          </a:xfrm>
          <a:prstGeom prst="roundRect">
            <a:avLst>
              <a:gd name="adj" fmla="val 1290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Risk 2 text"/>
          <p:cNvSpPr txBox="1"/>
          <p:nvPr/>
        </p:nvSpPr>
        <p:spPr>
          <a:xfrm>
            <a:off x="731520" y="3035808"/>
            <a:ext cx="5760720" cy="566928"/>
          </a:xfrm>
          <a:prstGeom prst="rect">
            <a:avLst/>
          </a:prstGeom>
          <a:noFill/>
          <a:ln/>
        </p:spPr>
        <p:txBody>
          <a:bodyPr wrap="square" lIns="0" tIns="0" rIns="0" bIns="0" rtlCol="0" anchor="ctr"/>
          <a:lstStyle/>
          <a:p>
            <a:pPr marL="0" indent="0">
              <a:buNone/>
            </a:pPr>
            <a:r>
              <a:rPr lang="en-US" sz="1350" b="1" dirty="0">
                <a:solidFill>
                  <a:srgbClr val="1F2A44"/>
                </a:solidFill>
              </a:rPr>
              <a:t>Retention   </a:t>
            </a:r>
            <a:r>
              <a:rPr lang="en-US" sz="1350" dirty="0">
                <a:solidFill>
                  <a:schemeClr val="tx2"/>
                </a:solidFill>
              </a:rPr>
              <a:t>Kept for less than the requirement</a:t>
            </a:r>
            <a:endParaRPr lang="en-US" sz="1350" dirty="0"/>
          </a:p>
        </p:txBody>
      </p:sp>
      <p:sp>
        <p:nvSpPr>
          <p:cNvPr id="12" name="Risk 3">
            <a:extLst>
              <a:ext uri="{C183D7F6-B498-43B3-948B-1728B52AA6E4}">
                <adec:decorative xmlns:adec="http://schemas.microsoft.com/office/drawing/2017/decorative" val="1"/>
              </a:ext>
            </a:extLst>
          </p:cNvPr>
          <p:cNvSpPr/>
          <p:nvPr/>
        </p:nvSpPr>
        <p:spPr>
          <a:xfrm>
            <a:off x="548640" y="3694176"/>
            <a:ext cx="6035040" cy="566928"/>
          </a:xfrm>
          <a:prstGeom prst="roundRect">
            <a:avLst>
              <a:gd name="adj" fmla="val 129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Risk 3 text"/>
          <p:cNvSpPr txBox="1"/>
          <p:nvPr/>
        </p:nvSpPr>
        <p:spPr>
          <a:xfrm>
            <a:off x="731520" y="3694176"/>
            <a:ext cx="5760720" cy="566928"/>
          </a:xfrm>
          <a:prstGeom prst="rect">
            <a:avLst/>
          </a:prstGeom>
          <a:noFill/>
          <a:ln/>
        </p:spPr>
        <p:txBody>
          <a:bodyPr wrap="square" lIns="0" tIns="0" rIns="0" bIns="0" rtlCol="0" anchor="ctr"/>
          <a:lstStyle/>
          <a:p>
            <a:pPr marL="0" indent="0">
              <a:buNone/>
            </a:pPr>
            <a:r>
              <a:rPr lang="en-US" sz="1350" b="1" dirty="0">
                <a:solidFill>
                  <a:srgbClr val="1F2A44"/>
                </a:solidFill>
              </a:rPr>
              <a:t>Deadline   </a:t>
            </a:r>
            <a:r>
              <a:rPr lang="en-US" sz="1350" dirty="0">
                <a:solidFill>
                  <a:schemeClr val="tx2"/>
                </a:solidFill>
              </a:rPr>
              <a:t>A remediation timeline that will be missed</a:t>
            </a:r>
            <a:endParaRPr lang="en-US" sz="1350" dirty="0"/>
          </a:p>
        </p:txBody>
      </p:sp>
      <p:sp>
        <p:nvSpPr>
          <p:cNvPr id="14" name="Apart box">
            <a:extLst>
              <a:ext uri="{C183D7F6-B498-43B3-948B-1728B52AA6E4}">
                <adec:decorative xmlns:adec="http://schemas.microsoft.com/office/drawing/2017/decorative" val="1"/>
              </a:ext>
            </a:extLst>
          </p:cNvPr>
          <p:cNvSpPr/>
          <p:nvPr/>
        </p:nvSpPr>
        <p:spPr>
          <a:xfrm>
            <a:off x="6812280" y="1371600"/>
            <a:ext cx="4846320" cy="2148840"/>
          </a:xfrm>
          <a:prstGeom prst="roundRect">
            <a:avLst>
              <a:gd name="adj" fmla="val 340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Lock">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72554" y="1649578"/>
            <a:ext cx="285293" cy="285293"/>
          </a:xfrm>
          <a:prstGeom prst="rect">
            <a:avLst/>
          </a:prstGeom>
        </p:spPr>
      </p:pic>
      <p:sp>
        <p:nvSpPr>
          <p:cNvPr id="17" name="Apart head"/>
          <p:cNvSpPr txBox="1"/>
          <p:nvPr/>
        </p:nvSpPr>
        <p:spPr>
          <a:xfrm>
            <a:off x="7726680" y="1517904"/>
            <a:ext cx="379476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Keeping the roles apart</a:t>
            </a:r>
            <a:endParaRPr lang="en-US" sz="1650" dirty="0"/>
          </a:p>
        </p:txBody>
      </p:sp>
      <p:sp>
        <p:nvSpPr>
          <p:cNvPr id="18" name="Apart list"/>
          <p:cNvSpPr txBox="1"/>
          <p:nvPr/>
        </p:nvSpPr>
        <p:spPr>
          <a:xfrm>
            <a:off x="7040880" y="2212848"/>
            <a:ext cx="443484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one quietly shortens the record</a:t>
            </a:r>
            <a:endParaRPr lang="en-US" sz="1400" dirty="0"/>
          </a:p>
          <a:p>
            <a:pPr marL="342900" indent="-342900">
              <a:spcAft>
                <a:spcPts val="600"/>
              </a:spcAft>
              <a:buSzPct val="100000"/>
              <a:buChar char="•"/>
            </a:pPr>
            <a:r>
              <a:rPr lang="en-US" sz="1350" dirty="0">
                <a:solidFill>
                  <a:schemeClr val="tx2"/>
                </a:solidFill>
              </a:rPr>
              <a:t>Owners can't silence their own plane</a:t>
            </a:r>
            <a:endParaRPr lang="en-US" sz="1400" dirty="0"/>
          </a:p>
          <a:p>
            <a:pPr marL="342900" indent="-342900">
              <a:spcAft>
                <a:spcPts val="600"/>
              </a:spcAft>
              <a:buSzPct val="100000"/>
              <a:buChar char="•"/>
            </a:pPr>
            <a:r>
              <a:rPr lang="en-US" sz="1350" dirty="0">
                <a:solidFill>
                  <a:schemeClr val="tx2"/>
                </a:solidFill>
              </a:rPr>
              <a:t>The SOC doesn't assess the SOC</a:t>
            </a:r>
            <a:endParaRPr lang="en-US" sz="1400" dirty="0"/>
          </a:p>
          <a:p>
            <a:pPr marL="342900" indent="-342900">
              <a:spcAft>
                <a:spcPts val="600"/>
              </a:spcAft>
              <a:buSzPct val="100000"/>
              <a:buChar char="•"/>
            </a:pPr>
            <a:r>
              <a:rPr lang="en-US" sz="1350" dirty="0">
                <a:solidFill>
                  <a:schemeClr val="tx2"/>
                </a:solidFill>
              </a:rPr>
              <a:t>Contractors prepare; only the AO signs</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 bounded exception with an end date is the CISO's to approve; one without an end date goes to the AO, with a plan of action entry</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recommends; the AO decides</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When each gap is found</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(authorizing official; conflicts of interest); NIST SP 800-53 Rev. 5 (AU-9); OMB M-26-14. Book 12, Chapters 10 and 12.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15E9750C-83D7-D084-E164-3D2DE7350E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FA63D2C-8A19-4937-AD53-E5A2A31EB16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100"/>
    </mc:Choice>
    <mc:Fallback>
      <p:transition spd="slow" advTm="4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09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Detections need rules; rules need owners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op to bottom, five numbered cards joined by arrows. 1, slate: author in the repository, with the query, entities, ATT&amp;CK tags and thresholds marked TUNE. 2, blue: test against history, with results simulation and replay of known-good and known-bad data. 3, amber: deploy alert-only, with incident creation off, output reviewed daily and every false positive logged. 4, green: promote to incidents, with the measured false-positive rate recorded and the response wired. 5, violet: scheduled review, asking whether the rule still fires, whether its source still emits and whether it was auto-disabled. A dashed violet arrow from review loops back to authoring, labeled re-tune. A dashed red arrow leads from review to a red card: retire, removed from the repository and the workspace."/>
          <p:cNvPicPr>
            <a:picLocks noChangeAspect="1"/>
          </p:cNvPicPr>
          <p:nvPr/>
        </p:nvPicPr>
        <p:blipFill>
          <a:blip r:embed="rId5"/>
          <a:stretch>
            <a:fillRect/>
          </a:stretch>
        </p:blipFill>
        <p:spPr>
          <a:xfrm>
            <a:off x="559530" y="1371600"/>
            <a:ext cx="3315781" cy="3291840"/>
          </a:xfrm>
          <a:prstGeom prst="rect">
            <a:avLst/>
          </a:prstGeom>
        </p:spPr>
      </p:pic>
      <p:sp>
        <p:nvSpPr>
          <p:cNvPr id="6" name="Code box">
            <a:extLst>
              <a:ext uri="{C183D7F6-B498-43B3-948B-1728B52AA6E4}">
                <adec:decorative xmlns:adec="http://schemas.microsoft.com/office/drawing/2017/decorative" val="1"/>
              </a:ext>
            </a:extLst>
          </p:cNvPr>
          <p:cNvSpPr/>
          <p:nvPr/>
        </p:nvSpPr>
        <p:spPr>
          <a:xfrm>
            <a:off x="4069080" y="1371600"/>
            <a:ext cx="374904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odeBranch">
            <a:extLst>
              <a:ext uri="{C183D7F6-B498-43B3-948B-1728B52AA6E4}">
                <adec:decorative xmlns:adec="http://schemas.microsoft.com/office/drawing/2017/decorative" val="1"/>
              </a:ext>
            </a:extLst>
          </p:cNvPr>
          <p:cNvSpPr/>
          <p:nvPr/>
        </p:nvSpPr>
        <p:spPr>
          <a:xfrm>
            <a:off x="429768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429354" y="1649578"/>
            <a:ext cx="285293" cy="285293"/>
          </a:xfrm>
          <a:prstGeom prst="rect">
            <a:avLst/>
          </a:prstGeom>
        </p:spPr>
      </p:pic>
      <p:sp>
        <p:nvSpPr>
          <p:cNvPr id="9" name="Code head"/>
          <p:cNvSpPr txBox="1"/>
          <p:nvPr/>
        </p:nvSpPr>
        <p:spPr>
          <a:xfrm>
            <a:off x="4983480" y="1517904"/>
            <a:ext cx="269748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A library as code</a:t>
            </a:r>
            <a:endParaRPr lang="en-US" sz="1650" dirty="0"/>
          </a:p>
        </p:txBody>
      </p:sp>
      <p:sp>
        <p:nvSpPr>
          <p:cNvPr id="10" name="Code list"/>
          <p:cNvSpPr txBox="1"/>
          <p:nvPr/>
        </p:nvSpPr>
        <p:spPr>
          <a:xfrm>
            <a:off x="4297680" y="2212848"/>
            <a:ext cx="3337560" cy="1554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change is a commit, never a portal edit</a:t>
            </a:r>
            <a:endParaRPr lang="en-US" sz="1400" dirty="0"/>
          </a:p>
          <a:p>
            <a:pPr marL="342900" indent="-342900">
              <a:spcAft>
                <a:spcPts val="600"/>
              </a:spcAft>
              <a:buSzPct val="100000"/>
              <a:buChar char="•"/>
            </a:pPr>
            <a:r>
              <a:rPr lang="en-US" sz="1350" dirty="0">
                <a:solidFill>
                  <a:schemeClr val="tx2"/>
                </a:solidFill>
              </a:rPr>
              <a:t>Alert-only before a rule opens incidents</a:t>
            </a:r>
            <a:endParaRPr lang="en-US" sz="1400" dirty="0"/>
          </a:p>
          <a:p>
            <a:pPr marL="342900" indent="-342900">
              <a:spcAft>
                <a:spcPts val="600"/>
              </a:spcAft>
              <a:buSzPct val="100000"/>
              <a:buChar char="•"/>
            </a:pPr>
            <a:r>
              <a:rPr lang="en-US" sz="1350" dirty="0">
                <a:solidFill>
                  <a:schemeClr val="tx2"/>
                </a:solidFill>
              </a:rPr>
              <a:t>Scheduled review: does it still fire?</a:t>
            </a:r>
            <a:endParaRPr lang="en-US" sz="1400" dirty="0"/>
          </a:p>
        </p:txBody>
      </p:sp>
      <p:sp>
        <p:nvSpPr>
          <p:cNvPr id="11" name="Limits box">
            <a:extLst>
              <a:ext uri="{C183D7F6-B498-43B3-948B-1728B52AA6E4}">
                <adec:decorative xmlns:adec="http://schemas.microsoft.com/office/drawing/2017/decorative" val="1"/>
              </a:ext>
            </a:extLst>
          </p:cNvPr>
          <p:cNvSpPr/>
          <p:nvPr/>
        </p:nvSpPr>
        <p:spPr>
          <a:xfrm>
            <a:off x="7955280" y="1371600"/>
            <a:ext cx="370332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8183880" y="1517904"/>
            <a:ext cx="548640" cy="54864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15554" y="1649578"/>
            <a:ext cx="285293" cy="285293"/>
          </a:xfrm>
          <a:prstGeom prst="rect">
            <a:avLst/>
          </a:prstGeom>
        </p:spPr>
      </p:pic>
      <p:sp>
        <p:nvSpPr>
          <p:cNvPr id="14" name="Limits head"/>
          <p:cNvSpPr txBox="1"/>
          <p:nvPr/>
        </p:nvSpPr>
        <p:spPr>
          <a:xfrm>
            <a:off x="8869680" y="1517904"/>
            <a:ext cx="265176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Honest limits</a:t>
            </a:r>
            <a:endParaRPr lang="en-US" sz="1650" dirty="0"/>
          </a:p>
        </p:txBody>
      </p:sp>
      <p:sp>
        <p:nvSpPr>
          <p:cNvPr id="15" name="Limits list"/>
          <p:cNvSpPr txBox="1"/>
          <p:nvPr/>
        </p:nvSpPr>
        <p:spPr>
          <a:xfrm>
            <a:off x="8183880" y="2212848"/>
            <a:ext cx="3291840" cy="1143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Detection takes minutes to hours</a:t>
            </a:r>
            <a:endParaRPr lang="en-US" sz="1400" dirty="0"/>
          </a:p>
          <a:p>
            <a:pPr marL="342900" indent="-342900">
              <a:spcAft>
                <a:spcPts val="600"/>
              </a:spcAft>
              <a:buSzPct val="100000"/>
              <a:buChar char="•"/>
            </a:pPr>
            <a:r>
              <a:rPr lang="en-US" sz="1350" dirty="0">
                <a:solidFill>
                  <a:schemeClr val="tx2"/>
                </a:solidFill>
              </a:rPr>
              <a:t>The library sees one tenant</a:t>
            </a:r>
            <a:endParaRPr lang="en-US" sz="1400" dirty="0"/>
          </a:p>
          <a:p>
            <a:pPr marL="342900" indent="-342900">
              <a:spcAft>
                <a:spcPts val="600"/>
              </a:spcAft>
              <a:buSzPct val="100000"/>
              <a:buChar char="•"/>
            </a:pPr>
            <a:r>
              <a:rPr lang="en-US" sz="1350" dirty="0">
                <a:solidFill>
                  <a:schemeClr val="tx2"/>
                </a:solidFill>
              </a:rPr>
              <a:t>Detections rot without upkeep</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Run the rule library as code: every rule tested, run alert-only, promoted with its response wired, and reviewed on a schedule</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Security engineering; CISO sets priorities</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any rule opens incidents</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Sentinel scheduled and NRT rules, Repositories, rule templates; NIST SP 800-53 Rev. 5 (SI-4). Book 12, Chapters 05, 10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5A22A739-0B2C-73C3-4C9B-30D30AF134D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4777863-01F0-434F-BAA4-88497F852197}"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320"/>
    </mc:Choice>
    <mc:Fallback>
      <p:transition spd="slow" advTm="47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320"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Response climbs a ladder, gated by a person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our stacked cards. L1 Observe, slate: every alert, with an incident opened, entities mapped and evidence retained. L2 Advise, violet: medium confidence, enrich with identity, device and IP context, open a ticket, analyst decides. L3 Gated actuation, the default, green: high confidence, the playbook prepares the containment and a named approver releases it. A dashed amber arrow labeled only with a recorded acceptance leads to L4, amber, enumerated classes only: accepted autonomous actions, such as closing known-benign incidents, or vendor attack disruption if the authorizing official accepts it. A dashed red arrow from L3 leads to a red card beside L4: never autonomous, isolating servers, disabling privileged or emergency accounts, tenant-wide changes."/>
          <p:cNvPicPr>
            <a:picLocks noChangeAspect="1"/>
          </p:cNvPicPr>
          <p:nvPr/>
        </p:nvPicPr>
        <p:blipFill>
          <a:blip r:embed="rId5"/>
          <a:stretch>
            <a:fillRect/>
          </a:stretch>
        </p:blipFill>
        <p:spPr>
          <a:xfrm>
            <a:off x="548640" y="1374017"/>
            <a:ext cx="4846320" cy="3287006"/>
          </a:xfrm>
          <a:prstGeom prst="rect">
            <a:avLst/>
          </a:prstGeom>
        </p:spPr>
      </p:pic>
      <p:sp>
        <p:nvSpPr>
          <p:cNvPr id="6" name="Gate box">
            <a:extLst>
              <a:ext uri="{C183D7F6-B498-43B3-948B-1728B52AA6E4}">
                <adec:decorative xmlns:adec="http://schemas.microsoft.com/office/drawing/2017/decorative" val="1"/>
              </a:ext>
            </a:extLst>
          </p:cNvPr>
          <p:cNvSpPr/>
          <p:nvPr/>
        </p:nvSpPr>
        <p:spPr>
          <a:xfrm>
            <a:off x="5623560" y="1371600"/>
            <a:ext cx="6035040" cy="2148840"/>
          </a:xfrm>
          <a:prstGeom prst="roundRect">
            <a:avLst>
              <a:gd name="adj" fmla="val 340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Check">
            <a:extLst>
              <a:ext uri="{C183D7F6-B498-43B3-948B-1728B52AA6E4}">
                <adec:decorative xmlns:adec="http://schemas.microsoft.com/office/drawing/2017/decorative" val="1"/>
              </a:ext>
            </a:extLst>
          </p:cNvPr>
          <p:cNvSpPr/>
          <p:nvPr/>
        </p:nvSpPr>
        <p:spPr>
          <a:xfrm>
            <a:off x="585216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983834" y="1649578"/>
            <a:ext cx="285293" cy="285293"/>
          </a:xfrm>
          <a:prstGeom prst="rect">
            <a:avLst/>
          </a:prstGeom>
        </p:spPr>
      </p:pic>
      <p:sp>
        <p:nvSpPr>
          <p:cNvPr id="9" name="Gate head"/>
          <p:cNvSpPr txBox="1"/>
          <p:nvPr/>
        </p:nvSpPr>
        <p:spPr>
          <a:xfrm>
            <a:off x="6537960" y="1517904"/>
            <a:ext cx="498348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Where a person stays in the loop</a:t>
            </a:r>
            <a:endParaRPr lang="en-US" sz="1650" dirty="0"/>
          </a:p>
        </p:txBody>
      </p:sp>
      <p:sp>
        <p:nvSpPr>
          <p:cNvPr id="10" name="Gate list"/>
          <p:cNvSpPr txBox="1"/>
          <p:nvPr/>
        </p:nvSpPr>
        <p:spPr>
          <a:xfrm>
            <a:off x="5852160" y="2212848"/>
            <a:ext cx="562356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Gated action is the default for large blast radius</a:t>
            </a:r>
            <a:endParaRPr lang="en-US" sz="1400" dirty="0"/>
          </a:p>
          <a:p>
            <a:pPr marL="342900" indent="-342900">
              <a:spcAft>
                <a:spcPts val="600"/>
              </a:spcAft>
              <a:buSzPct val="100000"/>
              <a:buChar char="•"/>
            </a:pPr>
            <a:r>
              <a:rPr lang="en-US" sz="1350" dirty="0">
                <a:solidFill>
                  <a:schemeClr val="tx2"/>
                </a:solidFill>
              </a:rPr>
              <a:t>Server isolation stays gated, always</a:t>
            </a:r>
            <a:endParaRPr lang="en-US" sz="1400" dirty="0"/>
          </a:p>
          <a:p>
            <a:pPr marL="342900" indent="-342900">
              <a:spcAft>
                <a:spcPts val="600"/>
              </a:spcAft>
              <a:buSzPct val="100000"/>
              <a:buChar char="•"/>
            </a:pPr>
            <a:r>
              <a:rPr lang="en-US" sz="1350" dirty="0">
                <a:solidFill>
                  <a:schemeClr val="tx2"/>
                </a:solidFill>
              </a:rPr>
              <a:t>So do privileged and emergency accounts</a:t>
            </a:r>
            <a:endParaRPr lang="en-US" sz="1400" dirty="0"/>
          </a:p>
          <a:p>
            <a:pPr marL="342900" indent="-342900">
              <a:spcAft>
                <a:spcPts val="600"/>
              </a:spcAft>
              <a:buSzPct val="100000"/>
              <a:buChar char="•"/>
            </a:pPr>
            <a:r>
              <a:rPr lang="en-US" sz="1350" dirty="0">
                <a:solidFill>
                  <a:schemeClr val="tx2"/>
                </a:solidFill>
              </a:rPr>
              <a:t>Vendor auto-containment only if the AO accepts it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Approve each playbook that acts on production; decide whether vendor attack disruption is an accepted autonomous class, with exclusions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approves playbooks; the AO decides disruption</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anything acts on its own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(SI-4(7), IR-4); NIST SP 800-61 Rev. 3; Microsoft Learn — automatic attack disruption, session revocation. Book 12, Chapters 10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778540E-149F-206B-A66B-E26FEB224D2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70197A0-F474-4D17-8233-2B60E4D728F8}"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110"/>
    </mc:Choice>
    <mc:Fallback>
      <p:transition spd="slow" advTm="48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11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an assessor can verify, and re-run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Six numbered cards in two rows. Top row, left to right: 1, emit, in blue, where every plane writes evidence-contract records on its own cadence; 2, normalize, in blue, one shape with the asset ID, control, verdict and time; 3, correlate, in violet, joining records on asset identity plus time into one trail. An arrow runs from correlate down to the second row, which runs right to left: 4, bind, in violet, mapping each record to its control and indicator; 5, report, in green, producing metrics, posture reports and OSCAL assessment results and POA&amp;M; and 6, respond, in amber, where the system owner remediates and the authorizing official decides on residual risk. A dashed amber arrow labeled re-test runs from respond up to emit. A slate pill reading the naming plane supplies the join key points to correlate with a dashed arrow, and a red pill reading a source that emits nothing is invisible to every later stage points to emit."/>
          <p:cNvPicPr>
            <a:picLocks noChangeAspect="1"/>
          </p:cNvPicPr>
          <p:nvPr/>
        </p:nvPicPr>
        <p:blipFill>
          <a:blip r:embed="rId5"/>
          <a:stretch>
            <a:fillRect/>
          </a:stretch>
        </p:blipFill>
        <p:spPr>
          <a:xfrm>
            <a:off x="548640" y="1615922"/>
            <a:ext cx="6309360" cy="2803196"/>
          </a:xfrm>
          <a:prstGeom prst="rect">
            <a:avLst/>
          </a:prstGeom>
        </p:spPr>
      </p:pic>
      <p:sp>
        <p:nvSpPr>
          <p:cNvPr id="6" name="Record box">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Record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The four-part incident record</a:t>
            </a:r>
            <a:endParaRPr lang="en-US" sz="1650" dirty="0"/>
          </a:p>
        </p:txBody>
      </p:sp>
      <p:sp>
        <p:nvSpPr>
          <p:cNvPr id="10" name="Record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alert: which rule fired, on what</a:t>
            </a:r>
            <a:endParaRPr lang="en-US" sz="1400" dirty="0"/>
          </a:p>
          <a:p>
            <a:pPr marL="342900" indent="-342900">
              <a:spcAft>
                <a:spcPts val="600"/>
              </a:spcAft>
              <a:buSzPct val="100000"/>
              <a:buChar char="•"/>
            </a:pPr>
            <a:r>
              <a:rPr lang="en-US" sz="1350" dirty="0">
                <a:solidFill>
                  <a:schemeClr val="tx2"/>
                </a:solidFill>
              </a:rPr>
              <a:t>The ticket, linked by ID</a:t>
            </a:r>
            <a:endParaRPr lang="en-US" sz="1400" dirty="0"/>
          </a:p>
          <a:p>
            <a:pPr marL="342900" indent="-342900">
              <a:spcAft>
                <a:spcPts val="600"/>
              </a:spcAft>
              <a:buSzPct val="100000"/>
              <a:buChar char="•"/>
            </a:pPr>
            <a:r>
              <a:rPr lang="en-US" sz="1350" dirty="0">
                <a:solidFill>
                  <a:schemeClr val="tx2"/>
                </a:solidFill>
              </a:rPr>
              <a:t>Response notes, with every action</a:t>
            </a:r>
            <a:endParaRPr lang="en-US" sz="1400" dirty="0"/>
          </a:p>
          <a:p>
            <a:pPr marL="342900" indent="-342900">
              <a:spcAft>
                <a:spcPts val="600"/>
              </a:spcAft>
              <a:buSzPct val="100000"/>
              <a:buChar char="•"/>
            </a:pPr>
            <a:r>
              <a:rPr lang="en-US" sz="1350" dirty="0">
                <a:solidFill>
                  <a:schemeClr val="tx2"/>
                </a:solidFill>
              </a:rPr>
              <a:t>Closure: the verdict and the proof</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Close a finding only when the re-test shows it fixed and the record links the fix to the proof; a finding never closes on ticket status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Platform owner fixes; system owner's plan closes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Every finding</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(CA-7, AU-6) and SP 800-53A; NIST SP 800-137; NIST SP 800-37 Rev. 2; CISA and FBI AA23-193A. Book 12, Chapters 05, 10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98B911EA-BE73-8D7A-7B21-71B22E51F57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2769687-CC71-4E10-94EC-92B0D88512F8}"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020"/>
    </mc:Choice>
    <mc:Fallback>
      <p:transition spd="slow" advTm="42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01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Metrics that say whether monitoring works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counts (program design)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Detection coverage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Baseline items an enabled, tested rule reads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Completeness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Minutes a required source stayed stale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KEV remediation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Closed on time, and open past deadline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Conformance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Pass, fail and excepted, counted apart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Maturity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M-26-14 level per system, lowest element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hythm box">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hartLin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Rhythm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Who sees what, how often</a:t>
            </a:r>
            <a:endParaRPr lang="en-US" sz="1650" dirty="0"/>
          </a:p>
        </p:txBody>
      </p:sp>
      <p:sp>
        <p:nvSpPr>
          <p:cNvPr id="10" name="Rhythm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SOC manager: daily</a:t>
            </a:r>
            <a:endParaRPr lang="en-US" sz="1400" dirty="0"/>
          </a:p>
          <a:p>
            <a:pPr marL="342900" indent="-342900">
              <a:spcAft>
                <a:spcPts val="600"/>
              </a:spcAft>
              <a:buSzPct val="100000"/>
              <a:buChar char="•"/>
            </a:pPr>
            <a:r>
              <a:rPr lang="en-US" sz="1350" dirty="0">
                <a:solidFill>
                  <a:schemeClr val="tx2"/>
                </a:solidFill>
              </a:rPr>
              <a:t>Platform owners: daily for KEV items</a:t>
            </a:r>
            <a:endParaRPr lang="en-US" sz="1400" dirty="0"/>
          </a:p>
          <a:p>
            <a:pPr marL="342900" indent="-342900">
              <a:spcAft>
                <a:spcPts val="600"/>
              </a:spcAft>
              <a:buSzPct val="100000"/>
              <a:buChar char="•"/>
            </a:pPr>
            <a:r>
              <a:rPr lang="en-US" sz="1350" dirty="0">
                <a:solidFill>
                  <a:schemeClr val="tx2"/>
                </a:solidFill>
              </a:rPr>
              <a:t>CISO: monthly, and on any overdue KEV</a:t>
            </a:r>
            <a:endParaRPr lang="en-US" sz="1400" dirty="0"/>
          </a:p>
          <a:p>
            <a:pPr marL="342900" indent="-342900">
              <a:spcAft>
                <a:spcPts val="600"/>
              </a:spcAft>
              <a:buSzPct val="100000"/>
              <a:buChar char="•"/>
            </a:pPr>
            <a:r>
              <a:rPr lang="en-US" sz="1350" dirty="0">
                <a:solidFill>
                  <a:schemeClr val="tx2"/>
                </a:solidFill>
              </a:rPr>
              <a:t>AO: monthly, or on significant change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Adopt the metric set and its reporting rhythm, reporting M-26-14 maturity by system at its lowest element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decides; the AO receives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Monthly (program design)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Appendices B and C; CISA BOD 26-04; NIST SP 800-53 Rev. 5 (CA-7, AU-5, SI-2(3)); NIST SP 800-137. Book 12, Chapters 10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DF4C67F-CA84-693B-E82B-8825223C6A9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B66C704-B74D-4905-8AB8-08B3ADADB5AE}"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050"/>
    </mc:Choice>
    <mc:Fallback>
      <p:transition spd="slow" advTm="46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0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585216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Count a source as monitored only when a rule reads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Own and fund the Agency Logging Plan as visibility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CIO funds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Nov 18,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Naming plane first; contract in the logging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pipeline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Set what each plane emits; owners keep it 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platform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Every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Set the XDR and SIEM division; one queue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Security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new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Six months in analytics; no cut without records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records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tier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Fund retention as visibility; record moved sources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CIO; the AO for gaps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budget cycle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Designate and fund one top-level SOC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CIO and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the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Notify CISA within one hour; decide major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Top-level SOC; 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 identification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Open-ended gaps, suppressions, missed fixes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When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Approve acting playbooks; decide on disruption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the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automation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Close on re-test; report metrics monthly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System owner; 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Every finding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Close line"/>
          <p:cNvSpPr txBox="1"/>
          <p:nvPr/>
        </p:nvSpPr>
        <p:spPr>
          <a:xfrm>
            <a:off x="548640" y="5468112"/>
            <a:ext cx="11109960" cy="457200"/>
          </a:xfrm>
          <a:prstGeom prst="rect">
            <a:avLst/>
          </a:prstGeom>
          <a:noFill/>
          <a:ln/>
        </p:spPr>
        <p:txBody>
          <a:bodyPr wrap="square" lIns="0" tIns="0" rIns="0" bIns="0" rtlCol="0" anchor="ctr"/>
          <a:lstStyle/>
          <a:p>
            <a:pPr marL="0" indent="0" algn="ctr">
              <a:buNone/>
            </a:pPr>
            <a:r>
              <a:rPr lang="en-US" sz="1500" b="1" dirty="0">
                <a:solidFill>
                  <a:srgbClr val="B45309"/>
                </a:solidFill>
              </a:rPr>
              <a:t>A gap nobody chose is still a decision.  </a:t>
            </a:r>
            <a:r>
              <a:rPr lang="en-US" sz="1500" dirty="0">
                <a:solidFill>
                  <a:schemeClr val="tx2"/>
                </a:solidFill>
              </a:rPr>
              <a:t>Make it on purpose, with an owner, and close findings only with proof.</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CISA BOD 26-04 and incident notification guidelines; NIST SP 800-37 Rev. 2. Book 12, Chapters 01–12. *Program's arithmetic.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29665D2-AA0A-D57E-078A-775059740F6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8AAF40-C928-40C1-8D79-D034EAEB131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300"/>
    </mc:Choice>
    <mc:Fallback>
      <p:transition spd="slow" advTm="50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2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9187</Words>
  <Application>Microsoft Office PowerPoint</Application>
  <PresentationFormat>Widescreen</PresentationFormat>
  <Paragraphs>422</Paragraphs>
  <Slides>19</Slides>
  <Notes>19</Notes>
  <HiddenSlides>0</HiddenSlides>
  <MMClips>19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Federal Modernization Workbook</vt:lpstr>
      <vt:lpstr>Security Operations: the executive briefing</vt:lpstr>
      <vt:lpstr>A dashboard measures what arrived, not what didn't</vt:lpstr>
      <vt:lpstr>Storing logs isn't detecting with them</vt:lpstr>
      <vt:lpstr>M-26-14 is the logging requirement now</vt:lpstr>
      <vt:lpstr>One evidence contract, one join key</vt:lpstr>
      <vt:lpstr>Six planes, each emitting on purpose</vt:lpstr>
      <vt:lpstr>Keep telemetry flowing through the migration</vt:lpstr>
      <vt:lpstr>The SIEM decision: one queue, clear division</vt:lpstr>
      <vt:lpstr>Retention: searchable, retrievable, then kept</vt:lpstr>
      <vt:lpstr>Cost is where visibility gaps get decided</vt:lpstr>
      <vt:lpstr>Every finding lands in one queue, on a clock</vt:lpstr>
      <vt:lpstr>The SOC runs the queue; it doesn't decide alone</vt:lpstr>
      <vt:lpstr>Who decides what in security operations</vt:lpstr>
      <vt:lpstr>Accepting the risk of what isn't seen</vt:lpstr>
      <vt:lpstr>Detections need rules; rules need owners</vt:lpstr>
      <vt:lpstr>Response climbs a ladder, gated by a person</vt:lpstr>
      <vt:lpstr>Evidence an assessor can verify, and re-run</vt:lpstr>
      <vt:lpstr>Metrics that say whether monitoring works</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12 — Security Operations &amp; Telemetry</dc:title>
  <dc:subject>PptxGenJS Presentation</dc:subject>
  <dc:creator>Michael F. Stratton</dc:creator>
  <cp:lastModifiedBy>Michael F. Stratton</cp:lastModifiedBy>
  <cp:revision>2</cp:revision>
  <dcterms:created xsi:type="dcterms:W3CDTF">2026-10-27T10:05:28Z</dcterms:created>
  <dcterms:modified xsi:type="dcterms:W3CDTF">2026-10-27T10:23:14Z</dcterms:modified>
</cp:coreProperties>
</file>