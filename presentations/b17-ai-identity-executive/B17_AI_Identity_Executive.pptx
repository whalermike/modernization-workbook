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I needs identities" id="{b374c7a6-81df-3291-a3fb-2c170426168e}">
          <p14:sldIdLst>
            <p14:sldId id="256"/>
            <p14:sldId id="257"/>
            <p14:sldId id="258"/>
            <p14:sldId id="259"/>
          </p14:sldIdLst>
        </p14:section>
        <p14:section name="What the rules and the model require" id="{5f9f409e-373d-e4d0-b858-7fc8ad17f9cf}">
          <p14:sldIdLst>
            <p14:sldId id="260"/>
            <p14:sldId id="261"/>
            <p14:sldId id="262"/>
            <p14:sldId id="263"/>
            <p14:sldId id="264"/>
            <p14:sldId id="265"/>
            <p14:sldId id="266"/>
          </p14:sldIdLst>
        </p14:section>
        <p14:section name="Who owns AI identity" id="{133e694a-4bc1-37d5-9040-8c1d696d1754}">
          <p14:sldIdLst>
            <p14:sldId id="267"/>
            <p14:sldId id="268"/>
          </p14:sldIdLst>
        </p14:section>
        <p14:section name="How to scan and evidence it" id="{61c71530-4da8-6c27-44a0-923a742f04fc}">
          <p14:sldIdLst>
            <p14:sldId id="269"/>
            <p14:sldId id="270"/>
            <p14:sldId id="271"/>
            <p14:sldId id="272"/>
            <p14:sldId id="273"/>
          </p14:sldIdLst>
        </p14:section>
        <p14:section name="Backup" id="{537e3682-75a3-25ba-96cd-7bb95e2dd5ae}">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executive briefing for Book 17 of the Federal Modernization Workbook, AI Identity Governance, the last book in the series. It runs about thirty minutes, for the people who make the calls: the CIO, the CISO, the Chief AI Officer, the authorizing officials, the privacy officer and the program's sponsors.
The argument fits in three sentences. An AI system that can act, not just answer, is an account: it signs in, holds permissions and touches agency records. Most AI arrived outside the identity program, with no owner of record, no credential lifecycle and no leaver process. And there is no AI-specific authorization to operate, so AI identities have to be inside the boundary the authorizing official already reviews.
I'll take four questions: why AI agents need identities and owners; what the federal rules require, and what governing an AI identity involves; who owns it; and how to scan the inventory and evidence AI systems for authorization.
Two labels run through the deck, as they do through the book. The governance model is program design, built on controls agencies already have to meet, not a new federal requirement. And every product statement is a dated observation, as of October 21 and 22, 2026.
Every decision slide names the decision, its owner and when it's needed, and the last slide gathers them into one table.
Workbook: Book 17, index; Chapter 01 — Why AI Agents Need Identities and Owners; Chapter 02 — What Federal AI Rules Require, and What They Don't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[1:35–3:22]  Start with answering versus acting. A chat assistant that drafts a memo is a tool: nothing reaches a record until a person reads the draft and sends it. An agent reads a mailbox, sends the replies, closes a ticket, updates a case field and calls another tool. Each step is an action against agency data, taken by something that signed in and holds permissions. That makes it an identity.
Federal policy already treats autonomy as part of AI. M-25-21's definition includes fully, partially and non-autonomous systems, and OMB's 2025 inventory has an Agentic AI class: systems that perform tasks or make decisions autonomously with minimal human intervention.
The consolidated 2025 inventory, as of April 13, 2026, holds 3,611 individually reported use cases, 445 of them high-impact. 117 are classified agentic, and 38 of those are in pilot or deployed. That's small, self-reported and counted in use cases, not systems: a direction, not a measurement. But it's the share with the most direct identity consequence.
The figure shows the ways in. On behalf of a signed-in user, the user is the token's subject and the agent is the actor. As itself, the agent's own identity is the subject. Both run through the identity provider, where Conditional Access, risk detection and sign-in logs apply. An API key or stored secret bypasses token issuance entirely: no sign-in is evaluated, and the only record of the call is whatever the service keeps.
So the first habit to change, from Chapter 01: count AI identities, not AI projects.
Workbook: Book 17, Chapter 01 — Why AI Agents Need Identities and Owners (From answering to acting; Three ways in; What leadership should take from this); Chapter 03 — The AI Use-Case Inventory as an Identity Source (What the inventory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[3:22–5:06]  People join an agency through a pipeline the identity program built: an HR record, an account, access derived from the position, scheduled reviews and a leaver process. AI mostly came another way: a mission office's pilot with a vendor, an API key in a configuration file, an assistant shipped inside software the agency already licensed, an agent built in a low-code tool with a service account reading a shared mailbox. None of those paths produces what the identity program requires, so in the program's experience the AI system typically lacks all six things on the left.
The risk is identity-shaped. NIST's Generative AI Profile describes indirect prompt injection: input planted in data the system is likely to retrieve. Against a system that only answers, it produces a bad answer. Against an agent with broad permissions, it produces an action under a legitimate identity that the logs will show doing exactly what it was allowed to do. The blast radius is the access the identity holds. CISA's May 2026 joint guidance on agentic AI and Executive Order 14409 both name the threat.
The decision comes from Chapter 07. An agentic AI system with no governed identity is the program's highest-priority finding: it halts, alerts a named person and is never fixed automatically, because the right answer might be to issue an identity, disable an unwanted agent, or correct an inventory entry that misclassified a chatbot. The system owner and ISSO act, and the authorizing official is informed.
Workbook: Book 17, Chapter 01 — Why AI Agents Need Identities and Owners (How AI arrived outside the identity program; Why the risk is identity-shaped); Chapter 07 — Monitoring, Drift and Shadow AI (The findings: an agentic AI system with no governed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[5:06–6:51]  None of this needs a new control family. SP 800-53 already speaks to non-person accounts. AC-2 requires defining account types, assigning account managers, approving creation, monitoring use and acting when accounts are no longer needed, and its discussion lists system and service accounts. IA-4 and IA-5 cover identifiers and authenticators for a service. AC-6 applies least privilege to processes acting on behalf of users. And IA-9 requires services to be identified and authenticated before they communicate.
NIST's AI Risk Management Framework agrees from the AI side: its Govern function asks for mechanisms to inventory AI systems, processes to decommission them safely, and documented roles. An AI system with no owner, no recorded access and no end of life fails all three, and it fails AC-2 and IA-5 in the system it runs in.
So the gap is coverage, not the catalog: the AI system's account is often missing from the account inventory the controls are tested against.
The book's answer is seven things every AI identity needs, shown in the figure: an identity record joined to its inventory entry; an accountable owner who can be found in HR records; an organizational placement; credentials without stored secrets; monitoring and drift detection; a lifecycle that ends, with an end date set at creation; and evidence the authorizing official can use. This is program design. No federal rule today requires an AI identity record or a sponsor, and an analytic model that holds no access can simply say so in its record.
Workbook: Book 17, Chapter 01 — Why AI Agents Need Identities and Owners (The controls already apply; What every AI identity needs;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[6:51–8:33]  Now, what the rules say. Executive Order 14179 directed OMB to replace the earlier AI memos, and on April 3, 2025 OMB issued M-25-21, for use and governance, and M-25-22, for acquisition. M-26-04 added contract terms for large language models and sunsets in December 2027. The 2026 executive orders are a security order and a terminology order; EO 14434 changes vocabulary, not obligations, and the statutory definition of AI still governs. OMB's memoranda page lists no other AI memo through M-26-19.
M-25-21's dates have all passed: a Chief AI Officer in 60 days; a governance board in 90 for CFO Act agencies; a compliance plan in 180 and then every two years until 2036; policy updates in 270; the inventory at least annually; and the high-impact practices documented within 365 days, by April 3, 2026. The obligations continue.
Four limits matter for identity. It creates no AI-specific authorization: the memo's footnotes say agencies must continue to follow A-130's authorization requirements, and that AI risk acceptance doesn't supersede them. It governs the AI functionality, not the whole system. It sets no identity requirements. And it doesn't require the NIST AI RMF.
M-25-22 is blunter: any AI system operated as an information system by or on behalf of an agency must receive an authorization to operate before deployment.
So the authorizing official creates no second track, and makes sure the AI system's accounts are inside the boundary already reviewed, before it deploys.
Workbook: Book 17, Chapter 02 — What Federal AI Rules Require, and What They Don't (The rule set in force; M-25-21: what it requires; What M-25-21 doesn't do; M-25-22; The 2026 executive orders; What leadership should take from this, item 1); Chapter 08 (responsibility matrix: authorization to operate).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[8:33–10:13]  AI is high-impact when its output serves as a principal basis for decisions or actions with a legal, material, binding or significant effect on rights or safety, and the memo lists purposes presumed to be high-impact, from safety-critical infrastructure to benefits adjudication.
For those use cases Section 4(b) requires seven practices: pre-deployment testing, an AI impact assessment, ongoing monitoring, operator training, human oversight with a fail-safe where practicable, remedies and appeals, and feedback from end users and the public. Independent review is part of the impact assessment, done by someone not involved in the development, and the assessment ends in risk acceptance signed by the individual accepting the risk, ideally the official accountable for the mission outcome. Pilots are exempt only if limited and certified by the Chief AI Officer, whose waivers can't be delegated.
The point for this room: the memo says its risk acceptance is separate from, and doesn't supersede, system authorization. So a high-impact use case needs two decisions before it deploys, often by two different people: the use-case signature and the authorizing official's decision. Where one person holds both roles, they sign twice, on two documents.
The program's design ties both to one record, because both depend on knowing what the system is, who owns it, which accounts it runs as and what those accounts can reach. Three of the practices, monitoring, training and a tested disable, are evidence the identity program produces anyway.
Workbook: Book 17, Chapter 02 — What Federal AI Rules Require, and What They Don't (The seven minimum practices; There is no AI-specific ATO; What leadership should take from this, item 2); Chapter 08 — Who Owns AI Identity Governance (The official who accepts risk for an AI use case);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[10:13–12:02]  The one list of AI every agency keeps is the use-case inventory, built to tell the public what agencies use AI for. The 2025 cycle closed with submissions on December 22, 2025 and public posting by January 28, 2026. OMB's consolidated repository holds 3,611 use cases, 1,818 deployed or piloted, which is where a figure of "over 1,800 AI systems" came from. But a use case isn't a system, and it isn't an identity. As of October 2026 there's no 2026 repository.
Read as identity data, the fields sort three ways. Anchors: the use-case ID, stable and never reused; the bureau, which is placement; and the stage, where retired is a leaver event. Leads someone has to check: the contact email, blank on 1,115 of 3,611 public rows; the vendor; the authorization answer; the classification. And gaps the inventory doesn't hold: the principal, its credential, its permissions, its accountable owner and the risk acceptor.
A correction from the book: the 2025 schema does have a field for each of the seven practices. But the fields are answers, not artifacts: yes, in progress or waived. 101 of 227 deployed high-impact use cases answered none, and those answers predate the April deadline, so they show agencies midway, not in breach.
So the inventory is the seed list, joined from the directory side using the agency's internal submission, not the public file. The Chief AI Officer makes the policy decision that ties the two: no use case is recorded as piloted or deployed without a link to its identity record.
Workbook: Book 17, Chapter 03 — The AI Use-Case Inventory as an Identity Source (What the inventory is; About "over 1,800 AI systems"; Reading the fields as identity data; A use case isn't an identity; What the high-impact fields can and can't evidence); Chapter 08 — Who Owns AI Identity Governance (The Chief AI Officer; the inventory link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[12:02–13:53]  An AI system's identity isn't the model; a language model has no account. It belongs to the software around it, and what sorts it is whose token it presents.
A signed-in user's: the agent can reach everything that user can, so the narrowing has to come from consent. Its own: a workload or agent identity, where the only Conditional Access control today is to block. Its own user account, for agents that need a mailbox, which is preview and limited to the Frontier program. Or none the identity provider issued: a stored key, which is a finding.
Beside ordinary service principals and managed identities, Microsoft Entra Agent ID adds blueprints, which hold the credential and are the credential boundary for every agent made from them, and agent identities, each with a required human sponsor.
Now the dates. Microsoft announced the Agent ID platform as generally available in April 2026. Agent targets in Conditional Access are still labeled preview. GCC has a documented partial subset: identity and access governance for agents, but not Microsoft's audit and data protection for agent interactions. GCC High and DoD have no published availability, so treat agent identities as unavailable there. And Microsoft says Agent 365 meets the FedRAMP High controls its assessor reviewed, with final authorization pending as of October 1, 2026.
One licensing trap: Entra ID Governance for people doesn't license governance of agents; those features sit under Agent 365 or Microsoft 365 E7. So the CIO, who decides licenses with the executive sponsor, budgets them, and each capability is confirmed in the agency's own cloud first.
Workbook: Book 17, Chapter 04 — Kinds of AI Identity (Workload identities; Agent identities: Microsoft Entra Agent ID; Delegated and autonomous access; Release stage, licensing and government clouds); Chapter 05 (Release stage and government-cloud availability: governance of people doesn't license governance of agents); Chapter 08 (The 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[13:53–15:45]  A person's identity starts from an HR record, and the separation record causes the disablement. An agent has neither date, so its lifecycle has to hang from a person who has both.
Agent ID separates accountability from administration. The sponsor, required at creation, can disable or soft-delete an agent but can't re-enable it or change its settings. The owner is the technical administrator holding the credentials. Left to the defaults, the sponsor is whoever built the agent, and a blueprint's creator becomes its owner: perhaps a developer, a contractor or a pilot user.
The program's rule, which is design: the sponsor is a federal employee mastered in HR, normally the official named for the use case; a co-sponsor is a small dynamic group of the office's agent stewards, so accountability survives a departure; the technical owner never sponsors; the inventory record names the same sponsor; and administrators sponsor nothing.
Then the lifecycle. When a sponsor leaves, Lifecycle Workflows transfers sponsorship to the manager, generally available since May 2026 and triggered by the same HR events as everyone's. The program treats the transfer as provisional: ten business days to confirm, nominate a successor or retire the agent, or it's orphaned and suspended. Access comes through packages with end dates, so a sponsor who does nothing lets it lapse. Retirement is disable, then delete, with a 30-day restore window. In GCC High and DoD the lifecycle runs on application objects and a ticket, which is weaker and belongs in the package.
The system owner names the sponsor at creation, and moves sponsorship to the using program at publication.
Workbook: Book 17, Chapter 05 — Owners, Sponsors and the AI Identity Lifecycle (Three accountable relationships; The program's rule; When the sponsor moves or leaves; Recertification; Retirement; The orphaned agent; Where the agent features aren't available); Chapter 08 (The agent's sponsor and technical owner;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[15:45–17:33]  An agent can't be asked for a second factor: agent identities don't use passwords or multifactor authentication. So everything the agent may do is decided before it asks.
Credentials, in the figure's order: a managed identity as the blueprint's federated credential where the agent runs on Azure; workload identity federation from the agent's own platform elsewhere; a certificate in a key vault only where neither applies; and a client secret only in development and test. Every agent made from a blueprint shares its credential, so one compromised blueprint affects them all. The program's app management policy, blocking new secrets and capping certificates at 180 days, covers blueprints too.
Permissions: on behalf of a user first; app-only only when no user is present and the inventory records why. Microsoft blocks agents from Global Administrator, Privileged Role Administrator and some high-risk Graph permissions, but allows roles such as Exchange or SharePoint Administrator. That's a floor, not least privilege. So no AI identity holds a standing privileged role; privilege comes through a person's own activated role or a time-bound assignment.
Policy: block all agent identities except approved ones, built in report-only mode because agent targeting is still preview. A tool reached with an API key is outside the identity program; an unavoidable key sits in a vault with an owner, a rotation date and an inventory exception. In GCC, Purview's data controls for agents aren't available, so scoped permissions are the only data boundary.
The CISO sets these requirements, and identity engineering builds them, before the first production agent.
Workbook: Book 17, Chapter 06 — Credentials, Least Privilege and Access Policy for AI (No stored secrets; Least privilege for Microsoft Graph and APIs; Admin consent and the SCuBA consent baseline; Conditional Access and risk policies; Privileged roles for AI: none standing; Tool and data access boundaries); Chapter 08 (responsibility matrix: control requirements for AI identities).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[17:33–19:07]  An AI identity nobody watches drifts the day after it's issued, and AI nobody declared is drift from the start. M-25-21 asks monitoring of high-impact AI to detect changes after deployment, and a change to an AI system's credentials, permissions, tools or owner is exactly that kind of change, recorded first in the identity logs.
So the program compares three inputs: what was declared, what known identities are seen doing, and what discovery finds.
Shadow AI shows up on four surfaces: generative AI services staff use, apps holding consented access, agents on endpoints and in network traffic, and AI built in the agency's own clouds. Each needs a different tool, several are preview or missing from the higher clouds, and none sees an agent using a static key.
Each gap becomes a finding with a class, a severity, an owner and a window; the severities are program design. The P1s halt: an agentic system with no governed identity, shadow AI acting with credentials, a credential added outside the pipeline, and a deployed system confirmed to have no authorization. PII with no privacy impact assessment goes to the privacy officer. Nothing is disabled automatically, and only a later observation closes a finding.
Security operations contains shadow AI. The system owner decides its future, or the CIO when it belongs to no system.
Workbook: Book 17, Chapter 07 — Monitoring, Drift and Shadow AI (What policy asks monitoring to do; Watching the identities you know; Finding what nobody declared; The findings; From finding to evidence); Chapter 08 — Who Owns AI Identity Governance (The CIO; shadow AI rows of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[19:07–20:50]  Who owns it? Ask who owns an agent's identity and three answers come back. The Chief AI Officer's office says the identity team. The identity team says the Chief AI Officer. And the program office says it accepted the risk when it signed the impact assessment. All three are partly right, and together they leave an agent with credentials, data access and no one answering for it.
AI adds one new executive and one new kind of risk decision. It adds no new authorizing official, no new account manager and no new way to accept security risk.
So there are two tracks. The Chief AI Officer, at senior executive level in CFO Act agencies, owns the declared side: the inventory, high-impact determinations, independent review before risk acceptance, waivers that can't be delegated, and pilot certifications. The Chief AI Officer doesn't authorize systems, accept security or privacy risk, or manage accounts. The authorizing official alone accepts the system's residual risk, an inherently governmental role under SP 800-37.
A few separations keep it honest. If the CIO is also the Chief AI Officer, the official who waived a practice shouldn't be that system's sole authorizing official. The builder becomes the technical owner, not the sponsor. And no AI identity approves access, grants consent or changes the rules it's governed by.
One rule underpins the rest: the identity record exists before any credential is issued. The identity governance officer decides it, because creating a principal is identifier management.
Workbook: Book 17, Chapter 08 — Who Owns AI Identity Governance (Where the roles come from; The Chief AI Officer and the AI governance board; The authorizing official; Keeping the roles apart; the identity record row of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[20:50–22:38]  The book's responsibility matrix, in one view. Every row has one decider.
The Chief AI Officer decides the inventory, high-impact determinations, waivers, pilot certifications and the generative AI acceptable-use policy. The use-case risk acceptor decides the impact assessment. The authorizing official decides authorization, ongoing authorization and whether a change needs reauthorization. The CISO sets the control requirements for AI identities and decides whether a generative AI service may hold agency data. The CIO decides licenses, acquisition terms and shadow AI that belongs to no system. The system owner names the sponsor and decides what data and tools the AI may reach. The identity governance officer decides admin consent, federated credentials, sponsor transfers and orphans. Security operations decides disabling during an incident, then hands the agent's future back. The privacy officer decides the privacy impact assessment.
Government officials: SP 800-37 names the authorizing official, CIO, CISO and senior agency official for privacy; the program adds the use-case risk acceptor, the system owner and the sponsor. Contractors may build and operate, under government oversight.
Exceptions split by time: a bounded exception is the CISO's; an open-ended one, or one without a compensating control, is the authorizing official's. A Chief AI Officer's waiver isn't an exception to a security control.
One decision recurs, because agents change fast. A new tool or MCP server, a new permission, a user account or a new model can change what an agent can do to agency data. The system owner raises each as a candidate significant change, and the authorizing official decides.
Workbook: Book 17, Chapter 08 — Who Owns AI Identity Governance (The roles; Who must be a government official; The responsibility matrix and its comments; The authorizing official: the significant-change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[22:38–24:26]  The inventory scan is cheap because it reads answers agencies have already given, and useful only if each answer it questions ends with an owner who goes and looks. It's the program's method; M-25-21 requires the inventory, not a scan of it.
Five steps. Load one vintage and record its hash and what's missing: 338 rows of the 2025 file have no stage, and the program reports them as a finding instead of skipping them. Detect. Prioritize: agentic systems first, then authorization, owners and placement, privacy, and unreadable rows. Report one row per system and finding, routed to a named role, never a team mailbox. And remediate with tools the agency already has, closing only on a later observation.
On the published 2025 file, of 1,480 use cases recorded as piloted or deployed: 799, or 54 percent, give no authorization answer; 488, a third, name no contact; 248 of the 337 involving personal data have no privacy assessment link; and 1,064, 72 percent, trip at least one check. Those are answers in a public file, not findings against agencies or counts of systems.
The checks that matter most need the directory, so only the agency can run them: no identity record, no accountable sponsor, an identity with no inventory row, and a retired use case still holding access. Each new vintage is compared with the last by ID, and an entry that vanishes without being retired is a finding.
The Chief AI Officer, who owns the inventory, runs the checks each vintage, and system owners remediate.
Workbook: Book 17, Chapter 09 — Running the Inventory Scan, Agency and Central (What the scan reads; Steps 1 to 5; What the checks find in the published 2025 file; The annual refresh); Chapter 08 (responsibility matrix: maintain the inventory; remediate an AI drift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[24:26–26:07]  Every answer check runs on a public file, so one operator could run the scan once over OMB's consolidated inventory and produce a findings file for each agency. That's a proposal from the book's source material, not a federal program, and no agency has adopted it.
The source modeled it on Continuous Diagnostics and Mitigation, and the book corrects the comparison. CDM provides tools, integration and dashboards; the tools run in agencies, and summaries flow up to the Federal Dashboard. What survives is the split: a central view, with agency remediation. A central AI scan reads public answers, not tool output.
There are four tiers. Tier 0, a central scan of the public file, needing no data-sharing agreement. Tier 1, each agency receives only its own rows, agentic and authorization findings first. Tier 2, the agency remediates with tools it already owns, and the next vintage shows the fix. And Tier 3, credential governance, which only the agency can do.
The source's windows, 72 hours for agentic findings and 30 days for the rest, are kept only as the time to acknowledge and route a delivered list; inside the agency, the drift model's shorter targets apply.
No central scan can see whether a credential exists, rotated or was revoked; what wasn't published or was never inventoried; change between annual vintages; or a leaver, without stable IDs. It starts the conversation with every agency at once. It can't finish it.
Workbook: Book 17, Chapter 09 — Running the Inventory Scan, Agency and Central (The central model; What CDM actually does; The four tiers; What a central scan can't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[26:07–27:46]  Everything ends in the authorization package. The authorizing official reads the package, not the records, and accepts or declines the risk it describes.
Three things follow from there being no AI-specific authorization. The authorizing official decides, and under SP 800-37 that acceptance can't be delegated; a governance board, a Chief AI Officer's determination or a vendor score only informs it. The inventory's authorization field reports; it doesn't gate. And FedRAMP's AI Prioritization Initiative, from August 2025 to April 2026, sped up providers' certification without changing what the agency does.
First, whose boundary does the AI run in? Inside an authorized system, it's a new component and a possible event-driven review. As its own system, it's the full Risk Management Framework. On a provider's certified service, the agency authorizes its use, and the identities, consent grants and delegated permissions the service creates in the agency's tenant are the agency's to govern.
Then the package answers five questions: owner, credentials, permissions, monitoring and lifecycle.
IA-9, service identification and authentication, describes an AI system calling a tool or an API with its own identity, but it's in no NIST baseline and no FedRAMP class, so a baseline-only agency never assesses it. The program's design tailors it into the security plan of any system with an AI acting under its own identity. The system owner and ISSO do it, and the authorizing official approves, before the next authorization decision.
Workbook: Book 17, Chapter 10 — Evidence and Authorization for AI Systems (There is no AI-specific authorization to operate; Where the AI sits decides which package carries it; The evidence an authorizing official needs; IA-9 is not in any baseline); Chapter 08 (responsibility matrix: AI identity evidence in the authorization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[27:46–29:29]  AI governance adds three clocks beside FISMA's annual testing floor, all feeding the same continuous monitoring stream.
The inventory, at least annually. Each new vintage changes the security plan: a new piloted or deployed entry becomes a component, a retired one moves to disposition until its identities are shown removed, and a changed authorization answer is reconciled. Under ongoing authorization, the program treats a new agentic system inside an authorized boundary as worth an event-driven review; that's design, not a federal rule.
The compliance plan, every two years until 2036. The first fell due at the end of September 2025, so the next is due in 2027: a distinct obligation that an agency tracking only the inventory will miss.
Waivers, certified annually and reported to OMB within 30 days of being granted or revoked. A waiver or a pilot certification is a decision that a practice won't be evidenced, so the authorizing official should see it, and one with no end date is an exception with no expiry.
NIST's SP 800-53 overlays for AI had a concept paper in August 2025 and an annotated outline in January 2026, but no public draft as of October 21, 2026, and the project was renamed COSIS on October 20. Tailor the baseline now, and compare when an overlay is final.
The Chief AI Officer records waivers and pilot certifications as governed exceptions with expiry dates, and any with no end date goes to the authorizing official.
Workbook: Book 17, Chapter 10 — Evidence and Authorization for AI Systems (The high-impact practices as evidence; The cadence; Carrying AI identity in OSCAL; NIST's SP 800-53 overlays for AI systems); Chapter 08 (responsibility matrix: waivers; exception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[29:29–31:13]  So, the decisions, with their owners.
The system owner and ISSO treat an agentic AI system with no governed identity as a high-priority finding the moment it's found, with the authorizing official informed.
The authorizing official authorizes AI through the existing process, before deployment; and for high-impact AI, the use-case risk acceptor and the authorizing official sign two decisions on one identity record.
The Chief AI Officer links every live inventory entry to an identity record from the next submission, runs the scan each vintage, and records waivers and pilot certifications as expiring exceptions.
The CIO, with the sponsor, budgets the licenses agent governance needs, and each capability is confirmed in the agency's own cloud before it's planned on.
The system owner names an agency employee as every sponsor, at creation and at publication; decides the future of shadow AI inside a system, with the CIO deciding when no system claims it; raises each new tool, permission, user account or model as a candidate significant change; and, with the ISSO, tailors IA-9 into the plan.
The CISO sets the requirements: no client secrets in production, no standing privileged roles, and a block-unless-approved agent policy.
The identity governance officer makes sure no credential is issued before its identity record exists.
None of these needs a new authorization. Every AI system gets an identity, an owner and an end date, inside the process the agency already runs. Book 17 has the detail, with every claim footnoted. Thank you.
Workbook: Book 17, Chapter 01 (What leadership should take from this); Chapter 02 (What leadership should take from this); Chapter 08 — Who Owns AI Identity Governance (The responsibility matrix); Chapter 09 (Step 5); Chapter 10 (What the authorizing official should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17 AI Identity Governance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2.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2.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AI Identity Governance: the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17 — AI Identity Governance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30 minutes for the CIO, CISO, Chief AI Officer, authorizing officials, privacy officer and sponsors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An agent that acts is an account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n amber card at the top: an AI agent that can act, not just answer; it reads mail, files tickets, updates records and calls tools. Three arrows lead down from it. Two blue cards: on behalf of a user, a delegated token in which the user is the subject and the agent is the actor; and as itself, an app-only token in which the agent's own identity is the subject. Both lead to a violet card: the identity provider issues the token, and Conditional Access, risk detection and sign-in logs apply. The third arrow is red and leads to a red card: with an API key or stored secret, no token from the identity provider, so Conditional Access never sees it. The violet card leads by a solid blue arrow to a slate card at the bottom, agency mail, files, records, tickets and tools, the same data a person's account would reach. The red card leads to the same slate card by a dashed red arrow labeled unseen.">    </p:cNvPr>
          <p:cNvPicPr>
            <a:picLocks noChangeAspect="1"/>
          </p:cNvPicPr>
          <p:nvPr/>
        </p:nvPicPr>
        <p:blipFill>
          <a:blip r:embed="rId1"/>
          <a:stretch>
            <a:fillRect/>
          </a:stretch>
        </p:blipFill>
        <p:spPr>
          <a:xfrm>
            <a:off x="913068" y="1371600"/>
            <a:ext cx="5489063" cy="3291840"/>
          </a:xfrm>
          <a:prstGeom prst="rect">
            <a:avLst/>
          </a:prstGeom>
        </p:spPr>
      </p:pic>
      <p:sp>
        <p:nvSpPr>
          <p:cNvPr id="6" name="Inventory box" descr="">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Hashtag"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Inventory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The 2025 inventory, April 13, 2026</a:t>
            </a:r>
            <a:endParaRPr lang="en-US" sz="1650" dirty="0"/>
          </a:p>
        </p:txBody>
      </p:sp>
      <p:sp>
        <p:nvSpPr>
          <p:cNvPr id="10" name="Inventory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3,611 use cases; 445 of them high-impact</a:t>
            </a:r>
            <a:endParaRPr lang="en-US" sz="1400" dirty="0"/>
          </a:p>
          <a:p>
            <a:pPr marL="342900" indent="-342900">
              <a:spcAft>
                <a:spcPts val="600"/>
              </a:spcAft>
              <a:buSzPct val="100000"/>
              <a:buChar char="•"/>
            </a:pPr>
            <a:r>
              <a:rPr lang="en-US" sz="1350" dirty="0">
                <a:solidFill>
                  <a:schemeClr val="tx2"/>
                </a:solidFill>
              </a:rPr>
              <a:t>117 classified agentic; 38 in pilot or deployed</a:t>
            </a:r>
            <a:endParaRPr lang="en-US" sz="1400" dirty="0"/>
          </a:p>
          <a:p>
            <a:pPr marL="342900" indent="-342900">
              <a:spcAft>
                <a:spcPts val="600"/>
              </a:spcAft>
              <a:buSzPct val="100000"/>
              <a:buChar char="•"/>
            </a:pPr>
            <a:r>
              <a:rPr lang="en-US" sz="1350" dirty="0">
                <a:solidFill>
                  <a:schemeClr val="tx2"/>
                </a:solidFill>
              </a:rPr>
              <a:t>Self-reported, and use cases aren't systems</a:t>
            </a:r>
            <a:endParaRPr lang="en-US" sz="1400" dirty="0"/>
          </a:p>
          <a:p>
            <a:pPr marL="342900" indent="-342900">
              <a:spcAft>
                <a:spcPts val="600"/>
              </a:spcAft>
              <a:buSzPct val="100000"/>
              <a:buChar char="•"/>
            </a:pPr>
            <a:r>
              <a:rPr lang="en-US" sz="1350" dirty="0">
                <a:solidFill>
                  <a:schemeClr val="tx2"/>
                </a:solidFill>
              </a:rPr>
              <a:t>No field for the account, credential or owner</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User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Count AI identities, not AI projects.  </a:t>
            </a:r>
            <a:pPr indent="0" marL="0">
              <a:buNone/>
            </a:pPr>
            <a:r>
              <a:rPr lang="en-US" sz="1650" dirty="0">
                <a:solidFill>
                  <a:schemeClr val="tx2"/>
                </a:solidFill>
              </a:rPr>
              <a:t>The risk question isn't how many use cases exist; it's which accounts each one runs as, and what those accounts can reach.</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§5; OMB 2025 AI Use Case Inventory (as of April 13, 2026); Microsoft Learn — Conditional Access for agents. Book 17, Chapters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AI arrived outside the identity program</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acks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AN AI SYSTEM FOUND OUTSIDE THE PROGRAM TYPICALLY LACKS</a:t>
            </a:r>
            <a:endParaRPr lang="en-US" sz="1200" dirty="0"/>
          </a:p>
        </p:txBody>
      </p:sp>
      <p:sp>
        <p:nvSpPr>
          <p:cNvPr id="6" name="Lacks 0" descr="">
            <a:extLst>
              <a:ext uri="{C183D7F6-B498-43B3-948B-1728B52AA6E4}">
                <adec:decorative xmlns:adec="http://schemas.microsoft.com/office/drawing/2017/decorative" val="1"/>
              </a:ext>
            </a:extLst>
          </p:cNvPr>
          <p:cNvSpPr/>
          <p:nvPr/>
        </p:nvSpPr>
        <p:spPr>
          <a:xfrm>
            <a:off x="548640" y="1719072"/>
            <a:ext cx="5669280" cy="420624"/>
          </a:xfrm>
          <a:prstGeom prst="roundRect">
            <a:avLst>
              <a:gd name="adj" fmla="val 1739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Lacks 0 text"/>
          <p:cNvSpPr txBox="1"/>
          <p:nvPr/>
        </p:nvSpPr>
        <p:spPr>
          <a:xfrm>
            <a:off x="731520" y="1719072"/>
            <a:ext cx="5394960" cy="420624"/>
          </a:xfrm>
          <a:prstGeom prst="rect">
            <a:avLst/>
          </a:prstGeom>
          <a:noFill/>
          <a:ln/>
        </p:spPr>
        <p:txBody>
          <a:bodyPr wrap="square" lIns="0" tIns="0" rIns="0" bIns="0" rtlCol="0" anchor="ctr"/>
          <a:lstStyle/>
          <a:p>
            <a:pPr indent="0" marL="0">
              <a:buNone/>
            </a:pPr>
            <a:r>
              <a:rPr lang="en-US" sz="1350" b="1" dirty="0">
                <a:solidFill>
                  <a:srgbClr val="1F2A44"/>
                </a:solidFill>
              </a:rPr>
              <a:t>Owner   </a:t>
            </a:r>
            <a:pPr indent="0" marL="0">
              <a:buNone/>
            </a:pPr>
            <a:r>
              <a:rPr lang="en-US" sz="1350" dirty="0">
                <a:solidFill>
                  <a:schemeClr val="tx2"/>
                </a:solidFill>
              </a:rPr>
              <a:t>A project contact who has moved on</a:t>
            </a:r>
            <a:endParaRPr lang="en-US" sz="1350" dirty="0"/>
          </a:p>
        </p:txBody>
      </p:sp>
      <p:sp>
        <p:nvSpPr>
          <p:cNvPr id="8" name="Lacks 1" descr="">
            <a:extLst>
              <a:ext uri="{C183D7F6-B498-43B3-948B-1728B52AA6E4}">
                <adec:decorative xmlns:adec="http://schemas.microsoft.com/office/drawing/2017/decorative" val="1"/>
              </a:ext>
            </a:extLst>
          </p:cNvPr>
          <p:cNvSpPr/>
          <p:nvPr/>
        </p:nvSpPr>
        <p:spPr>
          <a:xfrm>
            <a:off x="548640" y="2203704"/>
            <a:ext cx="5669280" cy="420624"/>
          </a:xfrm>
          <a:prstGeom prst="roundRect">
            <a:avLst>
              <a:gd name="adj" fmla="val 1739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Lacks 1 text"/>
          <p:cNvSpPr txBox="1"/>
          <p:nvPr/>
        </p:nvSpPr>
        <p:spPr>
          <a:xfrm>
            <a:off x="731520" y="2203704"/>
            <a:ext cx="5394960" cy="420624"/>
          </a:xfrm>
          <a:prstGeom prst="rect">
            <a:avLst/>
          </a:prstGeom>
          <a:noFill/>
          <a:ln/>
        </p:spPr>
        <p:txBody>
          <a:bodyPr wrap="square" lIns="0" tIns="0" rIns="0" bIns="0" rtlCol="0" anchor="ctr"/>
          <a:lstStyle/>
          <a:p>
            <a:pPr indent="0" marL="0">
              <a:buNone/>
            </a:pPr>
            <a:r>
              <a:rPr lang="en-US" sz="1350" b="1" dirty="0">
                <a:solidFill>
                  <a:srgbClr val="1F2A44"/>
                </a:solidFill>
              </a:rPr>
              <a:t>Placement   </a:t>
            </a:r>
            <a:pPr indent="0" marL="0">
              <a:buNone/>
            </a:pPr>
            <a:r>
              <a:rPr lang="en-US" sz="1350" dirty="0">
                <a:solidFill>
                  <a:schemeClr val="tx2"/>
                </a:solidFill>
              </a:rPr>
              <a:t>Nothing beyond the team that set it up</a:t>
            </a:r>
            <a:endParaRPr lang="en-US" sz="1350" dirty="0"/>
          </a:p>
        </p:txBody>
      </p:sp>
      <p:sp>
        <p:nvSpPr>
          <p:cNvPr id="10" name="Lacks 2" descr="">
            <a:extLst>
              <a:ext uri="{C183D7F6-B498-43B3-948B-1728B52AA6E4}">
                <adec:decorative xmlns:adec="http://schemas.microsoft.com/office/drawing/2017/decorative" val="1"/>
              </a:ext>
            </a:extLst>
          </p:cNvPr>
          <p:cNvSpPr/>
          <p:nvPr/>
        </p:nvSpPr>
        <p:spPr>
          <a:xfrm>
            <a:off x="548640" y="2688336"/>
            <a:ext cx="5669280" cy="420624"/>
          </a:xfrm>
          <a:prstGeom prst="roundRect">
            <a:avLst>
              <a:gd name="adj" fmla="val 1739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Lacks 2 text"/>
          <p:cNvSpPr txBox="1"/>
          <p:nvPr/>
        </p:nvSpPr>
        <p:spPr>
          <a:xfrm>
            <a:off x="731520" y="2688336"/>
            <a:ext cx="5394960" cy="420624"/>
          </a:xfrm>
          <a:prstGeom prst="rect">
            <a:avLst/>
          </a:prstGeom>
          <a:noFill/>
          <a:ln/>
        </p:spPr>
        <p:txBody>
          <a:bodyPr wrap="square" lIns="0" tIns="0" rIns="0" bIns="0" rtlCol="0" anchor="ctr"/>
          <a:lstStyle/>
          <a:p>
            <a:pPr indent="0" marL="0">
              <a:buNone/>
            </a:pPr>
            <a:r>
              <a:rPr lang="en-US" sz="1350" b="1" dirty="0">
                <a:solidFill>
                  <a:srgbClr val="1F2A44"/>
                </a:solidFill>
              </a:rPr>
              <a:t>Credential   </a:t>
            </a:r>
            <a:pPr indent="0" marL="0">
              <a:buNone/>
            </a:pPr>
            <a:r>
              <a:rPr lang="en-US" sz="1350" dirty="0">
                <a:solidFill>
                  <a:schemeClr val="tx2"/>
                </a:solidFill>
              </a:rPr>
              <a:t>A secret in a file, or a shared account</a:t>
            </a:r>
            <a:endParaRPr lang="en-US" sz="1350" dirty="0"/>
          </a:p>
        </p:txBody>
      </p:sp>
      <p:sp>
        <p:nvSpPr>
          <p:cNvPr id="12" name="Lacks 3" descr="">
            <a:extLst>
              <a:ext uri="{C183D7F6-B498-43B3-948B-1728B52AA6E4}">
                <adec:decorative xmlns:adec="http://schemas.microsoft.com/office/drawing/2017/decorative" val="1"/>
              </a:ext>
            </a:extLst>
          </p:cNvPr>
          <p:cNvSpPr/>
          <p:nvPr/>
        </p:nvSpPr>
        <p:spPr>
          <a:xfrm>
            <a:off x="548640" y="3172968"/>
            <a:ext cx="5669280" cy="420624"/>
          </a:xfrm>
          <a:prstGeom prst="roundRect">
            <a:avLst>
              <a:gd name="adj" fmla="val 1739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Lacks 3 text"/>
          <p:cNvSpPr txBox="1"/>
          <p:nvPr/>
        </p:nvSpPr>
        <p:spPr>
          <a:xfrm>
            <a:off x="731520" y="3172968"/>
            <a:ext cx="5394960" cy="420624"/>
          </a:xfrm>
          <a:prstGeom prst="rect">
            <a:avLst/>
          </a:prstGeom>
          <a:noFill/>
          <a:ln/>
        </p:spPr>
        <p:txBody>
          <a:bodyPr wrap="square" lIns="0" tIns="0" rIns="0" bIns="0" rtlCol="0" anchor="ctr"/>
          <a:lstStyle/>
          <a:p>
            <a:pPr indent="0" marL="0">
              <a:buNone/>
            </a:pPr>
            <a:r>
              <a:rPr lang="en-US" sz="1350" b="1" dirty="0">
                <a:solidFill>
                  <a:srgbClr val="1F2A44"/>
                </a:solidFill>
              </a:rPr>
              <a:t>Access   </a:t>
            </a:r>
            <a:pPr indent="0" marL="0">
              <a:buNone/>
            </a:pPr>
            <a:r>
              <a:rPr lang="en-US" sz="1350" dirty="0">
                <a:solidFill>
                  <a:schemeClr val="tx2"/>
                </a:solidFill>
              </a:rPr>
              <a:t>Granted once for a pilot, never reviewed</a:t>
            </a:r>
            <a:endParaRPr lang="en-US" sz="1350" dirty="0"/>
          </a:p>
        </p:txBody>
      </p:sp>
      <p:sp>
        <p:nvSpPr>
          <p:cNvPr id="14" name="Lacks 4" descr="">
            <a:extLst>
              <a:ext uri="{C183D7F6-B498-43B3-948B-1728B52AA6E4}">
                <adec:decorative xmlns:adec="http://schemas.microsoft.com/office/drawing/2017/decorative" val="1"/>
              </a:ext>
            </a:extLst>
          </p:cNvPr>
          <p:cNvSpPr/>
          <p:nvPr/>
        </p:nvSpPr>
        <p:spPr>
          <a:xfrm>
            <a:off x="548640" y="3657600"/>
            <a:ext cx="5669280" cy="420624"/>
          </a:xfrm>
          <a:prstGeom prst="roundRect">
            <a:avLst>
              <a:gd name="adj" fmla="val 1739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Lacks 4 text"/>
          <p:cNvSpPr txBox="1"/>
          <p:nvPr/>
        </p:nvSpPr>
        <p:spPr>
          <a:xfrm>
            <a:off x="731520" y="3657600"/>
            <a:ext cx="5394960" cy="420624"/>
          </a:xfrm>
          <a:prstGeom prst="rect">
            <a:avLst/>
          </a:prstGeom>
          <a:noFill/>
          <a:ln/>
        </p:spPr>
        <p:txBody>
          <a:bodyPr wrap="square" lIns="0" tIns="0" rIns="0" bIns="0" rtlCol="0" anchor="ctr"/>
          <a:lstStyle/>
          <a:p>
            <a:pPr indent="0" marL="0">
              <a:buNone/>
            </a:pPr>
            <a:r>
              <a:rPr lang="en-US" sz="1350" b="1" dirty="0">
                <a:solidFill>
                  <a:srgbClr val="1F2A44"/>
                </a:solidFill>
              </a:rPr>
              <a:t>Monitoring   </a:t>
            </a:r>
            <a:pPr indent="0" marL="0">
              <a:buNone/>
            </a:pPr>
            <a:r>
              <a:rPr lang="en-US" sz="1350" dirty="0">
                <a:solidFill>
                  <a:schemeClr val="tx2"/>
                </a:solidFill>
              </a:rPr>
              <a:t>Looks like the app or user it runs as</a:t>
            </a:r>
            <a:endParaRPr lang="en-US" sz="1350" dirty="0"/>
          </a:p>
        </p:txBody>
      </p:sp>
      <p:sp>
        <p:nvSpPr>
          <p:cNvPr id="16" name="Lacks 5" descr="">
            <a:extLst>
              <a:ext uri="{C183D7F6-B498-43B3-948B-1728B52AA6E4}">
                <adec:decorative xmlns:adec="http://schemas.microsoft.com/office/drawing/2017/decorative" val="1"/>
              </a:ext>
            </a:extLst>
          </p:cNvPr>
          <p:cNvSpPr/>
          <p:nvPr/>
        </p:nvSpPr>
        <p:spPr>
          <a:xfrm>
            <a:off x="548640" y="4142232"/>
            <a:ext cx="5669280" cy="420624"/>
          </a:xfrm>
          <a:prstGeom prst="roundRect">
            <a:avLst>
              <a:gd name="adj" fmla="val 1739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Lacks 5 text"/>
          <p:cNvSpPr txBox="1"/>
          <p:nvPr/>
        </p:nvSpPr>
        <p:spPr>
          <a:xfrm>
            <a:off x="731520" y="4142232"/>
            <a:ext cx="5394960" cy="420624"/>
          </a:xfrm>
          <a:prstGeom prst="rect">
            <a:avLst/>
          </a:prstGeom>
          <a:noFill/>
          <a:ln/>
        </p:spPr>
        <p:txBody>
          <a:bodyPr wrap="square" lIns="0" tIns="0" rIns="0" bIns="0" rtlCol="0" anchor="ctr"/>
          <a:lstStyle/>
          <a:p>
            <a:pPr indent="0" marL="0">
              <a:buNone/>
            </a:pPr>
            <a:r>
              <a:rPr lang="en-US" sz="1350" b="1" dirty="0">
                <a:solidFill>
                  <a:srgbClr val="1F2A44"/>
                </a:solidFill>
              </a:rPr>
              <a:t>Leaver   </a:t>
            </a:r>
            <a:pPr indent="0" marL="0">
              <a:buNone/>
            </a:pPr>
            <a:r>
              <a:rPr lang="en-US" sz="1350" dirty="0">
                <a:solidFill>
                  <a:schemeClr val="tx2"/>
                </a:solidFill>
              </a:rPr>
              <a:t>No end date; outlives its project</a:t>
            </a:r>
            <a:endParaRPr lang="en-US" sz="1350" dirty="0"/>
          </a:p>
        </p:txBody>
      </p:sp>
      <p:sp>
        <p:nvSpPr>
          <p:cNvPr id="18" name="Risk box" descr="">
            <a:extLst>
              <a:ext uri="{C183D7F6-B498-43B3-948B-1728B52AA6E4}">
                <adec:decorative xmlns:adec="http://schemas.microsoft.com/office/drawing/2017/decorative" val="1"/>
              </a:ext>
            </a:extLst>
          </p:cNvPr>
          <p:cNvSpPr/>
          <p:nvPr/>
        </p:nvSpPr>
        <p:spPr>
          <a:xfrm>
            <a:off x="7086600" y="1371600"/>
            <a:ext cx="4572000" cy="2971800"/>
          </a:xfrm>
          <a:prstGeom prst="roundRect">
            <a:avLst>
              <a:gd name="adj" fmla="val 246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9" name="Icon FaTriangleExclamation"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21" name="Risk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The risk is identity-shaped</a:t>
            </a:r>
            <a:endParaRPr lang="en-US" sz="1650" dirty="0"/>
          </a:p>
        </p:txBody>
      </p:sp>
      <p:sp>
        <p:nvSpPr>
          <p:cNvPr id="22" name="Risk list"/>
          <p:cNvSpPr txBox="1"/>
          <p:nvPr/>
        </p:nvSpPr>
        <p:spPr>
          <a:xfrm>
            <a:off x="7315200" y="2212848"/>
            <a:ext cx="416052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planted prompt makes an agent act, not just answer badly</a:t>
            </a:r>
            <a:endParaRPr lang="en-US" sz="1400" dirty="0"/>
          </a:p>
          <a:p>
            <a:pPr marL="342900" indent="-342900">
              <a:spcAft>
                <a:spcPts val="600"/>
              </a:spcAft>
              <a:buSzPct val="100000"/>
              <a:buChar char="•"/>
            </a:pPr>
            <a:r>
              <a:rPr lang="en-US" sz="1350" dirty="0">
                <a:solidFill>
                  <a:schemeClr val="tx2"/>
                </a:solidFill>
              </a:rPr>
              <a:t>The blast radius is the access its identity holds</a:t>
            </a:r>
            <a:endParaRPr lang="en-US" sz="1400" dirty="0"/>
          </a:p>
          <a:p>
            <a:pPr marL="342900" indent="-342900">
              <a:spcAft>
                <a:spcPts val="600"/>
              </a:spcAft>
              <a:buSzPct val="100000"/>
              <a:buChar char="•"/>
            </a:pPr>
            <a:r>
              <a:rPr lang="en-US" sz="1350" dirty="0">
                <a:solidFill>
                  <a:schemeClr val="tx2"/>
                </a:solidFill>
              </a:rPr>
              <a:t>CISA joint guidance on agentic AI, May 1, 2026</a:t>
            </a:r>
            <a:endParaRPr lang="en-US" sz="1400" dirty="0"/>
          </a:p>
          <a:p>
            <a:pPr marL="342900" indent="-342900">
              <a:spcAft>
                <a:spcPts val="600"/>
              </a:spcAft>
              <a:buSzPct val="100000"/>
              <a:buChar char="•"/>
            </a:pPr>
            <a:r>
              <a:rPr lang="en-US" sz="1350" dirty="0">
                <a:solidFill>
                  <a:schemeClr val="tx2"/>
                </a:solidFill>
              </a:rPr>
              <a:t>EO 14409 names AI agents used to reach data unlawfully</a:t>
            </a:r>
            <a:endParaRPr lang="en-US" sz="1400" dirty="0"/>
          </a:p>
        </p:txBody>
      </p:sp>
      <p:sp>
        <p:nvSpPr>
          <p:cNvPr id="23"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6"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Treat an agentic AI system with no governed identity as a high-priority finding: it halts, alerts a named person and is never fixed automatically (program design)</a:t>
            </a:r>
            <a:endParaRPr lang="en-US" sz="1400" dirty="0"/>
          </a:p>
        </p:txBody>
      </p:sp>
      <p:sp>
        <p:nvSpPr>
          <p:cNvPr id="27"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System owner and ISSO; the AO informed</a:t>
            </a:r>
            <a:endParaRPr lang="en-US" sz="1400" dirty="0"/>
          </a:p>
        </p:txBody>
      </p:sp>
      <p:sp>
        <p:nvSpPr>
          <p:cNvPr id="28"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As soon as it's found</a:t>
            </a:r>
            <a:endParaRPr lang="en-US" sz="1400" dirty="0"/>
          </a:p>
        </p:txBody>
      </p:sp>
      <p:sp>
        <p:nvSpPr>
          <p:cNvPr id="2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AI 600-1 §2.9; CISA, Careful Adoption of Agentic AI Services (May 1, 2026); EO 14409 §4; OMB 2025 inventory guidance. Book 17, Chapters 01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controls already apply; coverage is the gap</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three-column table with seven rows. Columns: every AI identity needs, what it means, built in. Row 1: an identity record, one record per AI system joined to its inventory entry and its accounts, Chapters 03 and 04. Row 2: an accountable human owner, a named person who answers for the system and can be found in HR records, Chapter 05. Row 3: an organizational placement, the office that owns the mission it serves, Chapters 03 and 05. Row 4, highlighted blue: credentials without stored secrets, managed identity or federation first, least privilege, no standing broad grants, Chapter 06. Row 5: monitoring and drift detection, sign-ins and actions logged, unowned or changed access found and routed, Chapter 07. Row 6: a lifecycle that ends, joiner, mover and leaver for the system and for its owner, Chapter 05. Row 7, highlighted green: evidence the authorizing official can use, records that show the controls ran inside the existing authorization, Chapter 10.">    </p:cNvPr>
          <p:cNvPicPr>
            <a:picLocks noChangeAspect="1"/>
          </p:cNvPicPr>
          <p:nvPr/>
        </p:nvPicPr>
        <p:blipFill>
          <a:blip r:embed="rId1"/>
          <a:stretch>
            <a:fillRect/>
          </a:stretch>
        </p:blipFill>
        <p:spPr>
          <a:xfrm>
            <a:off x="548640" y="1518840"/>
            <a:ext cx="6309360" cy="2997360"/>
          </a:xfrm>
          <a:prstGeom prst="rect">
            <a:avLst/>
          </a:prstGeom>
        </p:spPr>
      </p:pic>
      <p:sp>
        <p:nvSpPr>
          <p:cNvPr id="6" name="Catalog box" descr="">
            <a:extLst>
              <a:ext uri="{C183D7F6-B498-43B3-948B-1728B52AA6E4}">
                <adec:decorative xmlns:adec="http://schemas.microsoft.com/office/drawing/2017/decorative" val="1"/>
              </a:ext>
            </a:extLst>
          </p:cNvPr>
          <p:cNvSpPr/>
          <p:nvPr/>
        </p:nvSpPr>
        <p:spPr>
          <a:xfrm>
            <a:off x="7086600" y="1371600"/>
            <a:ext cx="4572000" cy="3054096"/>
          </a:xfrm>
          <a:prstGeom prst="roundRect">
            <a:avLst>
              <a:gd name="adj" fmla="val 239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Catalog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Already in SP 800-53</a:t>
            </a:r>
            <a:endParaRPr lang="en-US" sz="1650" dirty="0"/>
          </a:p>
        </p:txBody>
      </p:sp>
      <p:sp>
        <p:nvSpPr>
          <p:cNvPr id="10" name="Catalog list"/>
          <p:cNvSpPr txBox="1"/>
          <p:nvPr/>
        </p:nvSpPr>
        <p:spPr>
          <a:xfrm>
            <a:off x="7315200" y="2212848"/>
            <a:ext cx="4160520" cy="21183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AC-2 names system and service accounts</a:t>
            </a:r>
            <a:endParaRPr lang="en-US" sz="1400" dirty="0"/>
          </a:p>
          <a:p>
            <a:pPr marL="342900" indent="-342900">
              <a:spcAft>
                <a:spcPts val="600"/>
              </a:spcAft>
              <a:buSzPct val="100000"/>
              <a:buChar char="•"/>
            </a:pPr>
            <a:r>
              <a:rPr lang="en-US" sz="1350" dirty="0">
                <a:solidFill>
                  <a:schemeClr val="tx2"/>
                </a:solidFill>
              </a:rPr>
              <a:t>IA-4, IA-5: identifiers and authenticators for services</a:t>
            </a:r>
            <a:endParaRPr lang="en-US" sz="1400" dirty="0"/>
          </a:p>
          <a:p>
            <a:pPr marL="342900" indent="-342900">
              <a:spcAft>
                <a:spcPts val="600"/>
              </a:spcAft>
              <a:buSzPct val="100000"/>
              <a:buChar char="•"/>
            </a:pPr>
            <a:r>
              <a:rPr lang="en-US" sz="1350" dirty="0">
                <a:solidFill>
                  <a:schemeClr val="tx2"/>
                </a:solidFill>
              </a:rPr>
              <a:t>AC-6: least privilege for processes, too</a:t>
            </a:r>
            <a:endParaRPr lang="en-US" sz="1400" dirty="0"/>
          </a:p>
          <a:p>
            <a:pPr marL="342900" indent="-342900">
              <a:spcAft>
                <a:spcPts val="600"/>
              </a:spcAft>
              <a:buSzPct val="100000"/>
              <a:buChar char="•"/>
            </a:pPr>
            <a:r>
              <a:rPr lang="en-US" sz="1350" dirty="0">
                <a:solidFill>
                  <a:schemeClr val="tx2"/>
                </a:solidFill>
              </a:rPr>
              <a:t>IA-9: services authenticate before they talk</a:t>
            </a:r>
            <a:endParaRPr lang="en-US" sz="1400" dirty="0"/>
          </a:p>
          <a:p>
            <a:pPr marL="342900" indent="-342900">
              <a:spcAft>
                <a:spcPts val="600"/>
              </a:spcAft>
              <a:buSzPct val="100000"/>
              <a:buChar char="•"/>
            </a:pPr>
            <a:r>
              <a:rPr lang="en-US" sz="1350" dirty="0">
                <a:solidFill>
                  <a:schemeClr val="tx2"/>
                </a:solidFill>
              </a:rPr>
              <a:t>AI RMF Govern: inventory, decommission, roles</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List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The gap isn't in the catalog; it's in coverage.  </a:t>
            </a:r>
            <a:pPr indent="0" marL="0">
              <a:buNone/>
            </a:pPr>
            <a:r>
              <a:rPr lang="en-US" sz="1650" dirty="0">
                <a:solidFill>
                  <a:schemeClr val="tx2"/>
                </a:solidFill>
              </a:rPr>
              <a:t>The AI system's account is often simply missing from the account inventory the controls are tested against.</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(AC-2, AC-6, IA-4, IA-5, IA-9), release 5.2.0; NIST AI 100-1, GOVERN 1.6, 1.7 and 2.1. Book 17,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federal AI rules require, and what they don't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463040"/>
                <a:gridCol w="1280160"/>
                <a:gridCol w="356616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Instrument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asks of agencies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EO 14179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Jan 23,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Revise the AI use and acquisition memos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M-25-21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Apr 3,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Chief AI Officer, inventory, minimum practices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M-25-22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Apr 3,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Acquisition terms; ATO before deployment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M-26-04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Dec 11,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Unbiased-AI terms for LLMs; ends Dec 2027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EO 14409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Jun 2,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Harden federal systems; CISA directives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EO 14434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Sep 29,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Say “Super Intelligence”; same definitions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mits box" descr="">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Limit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What M-25-21 doesn't do</a:t>
            </a:r>
            <a:endParaRPr lang="en-US" sz="1650" dirty="0"/>
          </a:p>
        </p:txBody>
      </p:sp>
      <p:sp>
        <p:nvSpPr>
          <p:cNvPr id="10" name="Limits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Create an AI-specific authorization to operate</a:t>
            </a:r>
            <a:endParaRPr lang="en-US" sz="1400" dirty="0"/>
          </a:p>
          <a:p>
            <a:pPr marL="342900" indent="-342900">
              <a:spcAft>
                <a:spcPts val="600"/>
              </a:spcAft>
              <a:buSzPct val="100000"/>
              <a:buChar char="•"/>
            </a:pPr>
            <a:r>
              <a:rPr lang="en-US" sz="1350" dirty="0">
                <a:solidFill>
                  <a:schemeClr val="tx2"/>
                </a:solidFill>
              </a:rPr>
              <a:t>Govern the whole information system</a:t>
            </a:r>
            <a:endParaRPr lang="en-US" sz="1400" dirty="0"/>
          </a:p>
          <a:p>
            <a:pPr marL="342900" indent="-342900">
              <a:spcAft>
                <a:spcPts val="600"/>
              </a:spcAft>
              <a:buSzPct val="100000"/>
              <a:buChar char="•"/>
            </a:pPr>
            <a:r>
              <a:rPr lang="en-US" sz="1350" dirty="0">
                <a:solidFill>
                  <a:schemeClr val="tx2"/>
                </a:solidFill>
              </a:rPr>
              <a:t>Set any identity requirement</a:t>
            </a:r>
            <a:endParaRPr lang="en-US" sz="1400" dirty="0"/>
          </a:p>
          <a:p>
            <a:pPr marL="342900" indent="-342900">
              <a:spcAft>
                <a:spcPts val="600"/>
              </a:spcAft>
              <a:buSzPct val="100000"/>
              <a:buChar char="•"/>
            </a:pPr>
            <a:r>
              <a:rPr lang="en-US" sz="1350" dirty="0">
                <a:solidFill>
                  <a:schemeClr val="tx2"/>
                </a:solidFill>
              </a:rPr>
              <a:t>Require the NIST AI RMF</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Create no separate AI authorization: put every AI system's accounts in the boundary the authorizing official already reviews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deployment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EO 14179; OMB M-25-21 (footnotes 22 and 29); M-25-22 §4(e)(i); M-26-04; EO 14409; EO 14434; OMB memoranda index. Book 17,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signatures before high-impact AI deploys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n amber card at the top: a high-impact AI use case, ready to deploy, running as functionality inside an information system. A blue arrow leads down to a blue card: the AI system's identity record, holding the owner, accounts, permissions and the records both decisions rely on. Two dashed arrows labeled evidence lead from it to two cards side by side. The violet card: M-25-21 risk acceptance, the impact assessment, independent review and the signature of the official accepting the risk. The slate card: authorization to operate, the system's existing A-130 and RMF process, in which the authorizing official decides. Green arrows from both lead to a green card at the bottom: deploy, only when both decisions are in place.">    </p:cNvPr>
          <p:cNvPicPr>
            <a:picLocks noChangeAspect="1"/>
          </p:cNvPicPr>
          <p:nvPr/>
        </p:nvPicPr>
        <p:blipFill>
          <a:blip r:embed="rId1"/>
          <a:stretch>
            <a:fillRect/>
          </a:stretch>
        </p:blipFill>
        <p:spPr>
          <a:xfrm>
            <a:off x="908538" y="1371600"/>
            <a:ext cx="5589563" cy="3291840"/>
          </a:xfrm>
          <a:prstGeom prst="rect">
            <a:avLst/>
          </a:prstGeom>
        </p:spPr>
      </p:pic>
      <p:sp>
        <p:nvSpPr>
          <p:cNvPr id="6" name="Practices box" descr="">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Practice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The seven minimum practices</a:t>
            </a:r>
            <a:endParaRPr lang="en-US" sz="1650" dirty="0"/>
          </a:p>
        </p:txBody>
      </p:sp>
      <p:sp>
        <p:nvSpPr>
          <p:cNvPr id="10" name="Practices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Testing, impact assessment, monitoring, training</a:t>
            </a:r>
            <a:endParaRPr lang="en-US" sz="1400" dirty="0"/>
          </a:p>
          <a:p>
            <a:pPr marL="342900" indent="-342900">
              <a:spcAft>
                <a:spcPts val="600"/>
              </a:spcAft>
              <a:buSzPct val="100000"/>
              <a:buChar char="•"/>
            </a:pPr>
            <a:r>
              <a:rPr lang="en-US" sz="1350" dirty="0">
                <a:solidFill>
                  <a:schemeClr val="tx2"/>
                </a:solidFill>
              </a:rPr>
              <a:t>Oversight with a fail-safe, appeals, feedback</a:t>
            </a:r>
            <a:endParaRPr lang="en-US" sz="1400" dirty="0"/>
          </a:p>
          <a:p>
            <a:pPr marL="342900" indent="-342900">
              <a:spcAft>
                <a:spcPts val="600"/>
              </a:spcAft>
              <a:buSzPct val="100000"/>
              <a:buChar char="•"/>
            </a:pPr>
            <a:r>
              <a:rPr lang="en-US" sz="1350" dirty="0">
                <a:solidFill>
                  <a:schemeClr val="tx2"/>
                </a:solidFill>
              </a:rPr>
              <a:t>Documented by April 3, 2026, and for each new case</a:t>
            </a:r>
            <a:endParaRPr lang="en-US" sz="1400" dirty="0"/>
          </a:p>
          <a:p>
            <a:pPr marL="342900" indent="-342900">
              <a:spcAft>
                <a:spcPts val="600"/>
              </a:spcAft>
              <a:buSzPct val="100000"/>
              <a:buChar char="•"/>
            </a:pPr>
            <a:r>
              <a:rPr lang="en-US" sz="1350" dirty="0">
                <a:solidFill>
                  <a:schemeClr val="tx2"/>
                </a:solidFill>
              </a:rPr>
              <a:t>Waivers: the Chief AI Officer's, not delegable</a:t>
            </a:r>
            <a:endParaRPr lang="en-US" sz="1400" dirty="0"/>
          </a:p>
          <a:p>
            <a:pPr marL="342900" indent="-342900">
              <a:spcAft>
                <a:spcPts val="600"/>
              </a:spcAft>
              <a:buSzPct val="100000"/>
              <a:buChar char="•"/>
            </a:pPr>
            <a:r>
              <a:rPr lang="en-US" sz="1350" dirty="0">
                <a:solidFill>
                  <a:schemeClr val="tx2"/>
                </a:solidFill>
              </a:rPr>
              <a:t>Pilots exempt only if certified</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Require both decisions for high-impact AI, made on one identity record: the signed impact-assessment risk acceptance and the system's ATO</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Use-case risk acceptor; 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use case deploys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§3(b)(i), §4(a)–(b), footnotes 21–22; NIST SP 800-37 Rev. 2, Appendix D. Book 17, Chapters 02, 03, 08 and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inventory is a seed list, not an identity source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diagram. A slate card at the top reads: one individually reported AI use case, 36 columns in OMB's consolidated file, and which are required depends on stage and impact. It branches into three cards side by side. A green card labeled anchors, fields an identity record can key on: id, stable and never reused; agency_bureau, organizational placement; development_stage, lifecycle state, where Retired is a leaver event. An amber card labeled leads, fields that point somewhere: contact_email, which may be a public inbox; vendor_name, a third party; system_name_ato, an authorization boundary; classification, where Agentic AI can act. A red card labeled not in the inventory, facts the record still needs: the principal it signs in as; credential type and expiry; permissions it holds; named owner and risk acceptor; delegated or autonomous access. All three cards point to a blue card at the bottom, AI system identity record, inventory ID joined to the directory objects the system actually uses. The arrows are labeled key from the green card, verify from the amber card, and discover, dashed, from the red card.">    </p:cNvPr>
          <p:cNvPicPr>
            <a:picLocks noChangeAspect="1"/>
          </p:cNvPicPr>
          <p:nvPr/>
        </p:nvPicPr>
        <p:blipFill>
          <a:blip r:embed="rId1"/>
          <a:stretch>
            <a:fillRect/>
          </a:stretch>
        </p:blipFill>
        <p:spPr>
          <a:xfrm>
            <a:off x="548640" y="1579179"/>
            <a:ext cx="6309360" cy="2876681"/>
          </a:xfrm>
          <a:prstGeom prst="rect">
            <a:avLst/>
          </a:prstGeom>
        </p:spPr>
      </p:pic>
      <p:sp>
        <p:nvSpPr>
          <p:cNvPr id="6" name="Status box" descr="">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Statu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Status, not evidence</a:t>
            </a:r>
            <a:endParaRPr lang="en-US" sz="1650" dirty="0"/>
          </a:p>
        </p:txBody>
      </p:sp>
      <p:sp>
        <p:nvSpPr>
          <p:cNvPr id="10" name="Status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Nine high-impact fields report all seven practices</a:t>
            </a:r>
            <a:endParaRPr lang="en-US" sz="1400" dirty="0"/>
          </a:p>
          <a:p>
            <a:pPr marL="342900" indent="-342900">
              <a:spcAft>
                <a:spcPts val="600"/>
              </a:spcAft>
              <a:buSzPct val="100000"/>
              <a:buChar char="•"/>
            </a:pPr>
            <a:r>
              <a:rPr lang="en-US" sz="1350" dirty="0">
                <a:solidFill>
                  <a:schemeClr val="tx2"/>
                </a:solidFill>
              </a:rPr>
              <a:t>None carries a document, a log or a name</a:t>
            </a:r>
            <a:endParaRPr lang="en-US" sz="1400" dirty="0"/>
          </a:p>
          <a:p>
            <a:pPr marL="342900" indent="-342900">
              <a:spcAft>
                <a:spcPts val="600"/>
              </a:spcAft>
              <a:buSzPct val="100000"/>
              <a:buChar char="•"/>
            </a:pPr>
            <a:r>
              <a:rPr lang="en-US" sz="1350" dirty="0">
                <a:solidFill>
                  <a:schemeClr val="tx2"/>
                </a:solidFill>
              </a:rPr>
              <a:t>101 of 227 deployed high-impact cases answered none</a:t>
            </a:r>
            <a:endParaRPr lang="en-US" sz="1400" dirty="0"/>
          </a:p>
          <a:p>
            <a:pPr marL="342900" indent="-342900">
              <a:spcAft>
                <a:spcPts val="600"/>
              </a:spcAft>
              <a:buSzPct val="100000"/>
              <a:buChar char="•"/>
            </a:pPr>
            <a:r>
              <a:rPr lang="en-US" sz="1350" dirty="0">
                <a:solidFill>
                  <a:schemeClr val="tx2"/>
                </a:solidFill>
              </a:rPr>
              <a:t>An answer is a snapshot; access changes daily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No use case is recorded as piloted or deployed in the inventory without a link to its AI identity record (program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Chief AI Officer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From the next inventory submission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Guidance on 2025 AI Reporting; 2025 inventory data dictionary and CSV (counts computed Oct 21, 2026); M-25-21 §3(b)(v). Book 17, Chapters 03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Kinds of AI identity, and what your cloud has today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diagram. A slate card at the top asks: when the AI system calls a resource, whose token does it present? Three cards branch from it. A blue card labeled delegated, a signed-in user's: on-behalf-of flow; the user is the subject and the agent is the actor; the user's policies and consent apply. A blue card labeled autonomous, its own identity: a workload identity or agent identity; client credentials, app-only; its own grants, with a Block-only policy for agents. An amber card labeled agent user, its own user account: paired one to one with an agent identity; mailbox, licenses and groups; preview, with separate policies. A dashed red arrow labeled if it skips Entra ID runs from the autonomous card to a red card at the bottom: a stored API key or secret outside Entra ID, with no token issuance, so no Conditional Access and no sign-in log in Entra ID.">    </p:cNvPr>
          <p:cNvPicPr>
            <a:picLocks noChangeAspect="1"/>
          </p:cNvPicPr>
          <p:nvPr/>
        </p:nvPicPr>
        <p:blipFill>
          <a:blip r:embed="rId1"/>
          <a:stretch>
            <a:fillRect/>
          </a:stretch>
        </p:blipFill>
        <p:spPr>
          <a:xfrm>
            <a:off x="548640" y="1772570"/>
            <a:ext cx="6309360" cy="2489901"/>
          </a:xfrm>
          <a:prstGeom prst="rect">
            <a:avLst/>
          </a:prstGeom>
        </p:spPr>
      </p:pic>
      <p:sp>
        <p:nvSpPr>
          <p:cNvPr id="6" name="Stage box" descr="">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Stage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Release stage, October 2026</a:t>
            </a:r>
            <a:endParaRPr lang="en-US" sz="1650" dirty="0"/>
          </a:p>
        </p:txBody>
      </p:sp>
      <p:sp>
        <p:nvSpPr>
          <p:cNvPr id="10" name="Stage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Agent ID platform: generally available, April 2026</a:t>
            </a:r>
            <a:endParaRPr lang="en-US" sz="1400" dirty="0"/>
          </a:p>
          <a:p>
            <a:pPr marL="342900" indent="-342900">
              <a:spcAft>
                <a:spcPts val="600"/>
              </a:spcAft>
              <a:buSzPct val="100000"/>
              <a:buChar char="•"/>
            </a:pPr>
            <a:r>
              <a:rPr lang="en-US" sz="1350" dirty="0">
                <a:solidFill>
                  <a:schemeClr val="tx2"/>
                </a:solidFill>
              </a:rPr>
              <a:t>Agent policies: preview; agent identities Block only</a:t>
            </a:r>
            <a:endParaRPr lang="en-US" sz="1400" dirty="0"/>
          </a:p>
          <a:p>
            <a:pPr marL="342900" indent="-342900">
              <a:spcAft>
                <a:spcPts val="600"/>
              </a:spcAft>
              <a:buSzPct val="100000"/>
              <a:buChar char="•"/>
            </a:pPr>
            <a:r>
              <a:rPr lang="en-US" sz="1350" dirty="0">
                <a:solidFill>
                  <a:schemeClr val="tx2"/>
                </a:solidFill>
              </a:rPr>
              <a:t>GCC: a documented, partial subset</a:t>
            </a:r>
            <a:endParaRPr lang="en-US" sz="1400" dirty="0"/>
          </a:p>
          <a:p>
            <a:pPr marL="342900" indent="-342900">
              <a:spcAft>
                <a:spcPts val="600"/>
              </a:spcAft>
              <a:buSzPct val="100000"/>
              <a:buChar char="•"/>
            </a:pPr>
            <a:r>
              <a:rPr lang="en-US" sz="1350" dirty="0">
                <a:solidFill>
                  <a:schemeClr val="tx2"/>
                </a:solidFill>
              </a:rPr>
              <a:t>GCC High and DoD: no published availability</a:t>
            </a:r>
            <a:endParaRPr lang="en-US" sz="1400" dirty="0"/>
          </a:p>
          <a:p>
            <a:pPr marL="342900" indent="-342900">
              <a:spcAft>
                <a:spcPts val="600"/>
              </a:spcAft>
              <a:buSzPct val="100000"/>
              <a:buChar char="•"/>
            </a:pPr>
            <a:r>
              <a:rPr lang="en-US" sz="1350" dirty="0">
                <a:solidFill>
                  <a:schemeClr val="tx2"/>
                </a:solidFill>
              </a:rPr>
              <a:t>Agent 365: FedRAMP High authorization pending</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Budget the licenses agent governance needs, and confirm each capability in the agency's own cloud before anyone plans on it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CIO, with the executive sponsor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planning on any agent feature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Conditional Access for agents; Agent ID; Agent 365; Entra feature availability; licensing (Oct 2026). Book 17, Chapters 04, 05,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named human, and a lifecycle that ends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flow of five stages. First, a blue card, Create, the joiner: an inventory record and purpose, a named sponsor who is a federal employee, a technical owner, and one identity per agent from a governed blueprint. Second, a blue card, Operate: access only through access packages with an end date, never standing direct grants. Third, an amber card, Sponsor or organization changes, the mover: a lifecycle workflow notifies and transfers sponsorship, and the new sponsor confirms within a grace period. Fourth, a violet card, Recertify: at each expiry the sponsor extends with a new approval or lets access lapse. Fifth, a slate card, Retire, the leaver: disable first, then delete, record the decision, and restore only within the 30-day window. A red card on the side, Orphaned, lists no confirmed sponsor, no owner, no activity, or a deleted blueprint; dashed red arrows lead to it from the mover and recertify stages, labeled no successor confirmed and no attestation, and a red arrow from it leads to Retire, labeled suspend, then decide.">    </p:cNvPr>
          <p:cNvPicPr>
            <a:picLocks noChangeAspect="1"/>
          </p:cNvPicPr>
          <p:nvPr/>
        </p:nvPicPr>
        <p:blipFill>
          <a:blip r:embed="rId1"/>
          <a:stretch>
            <a:fillRect/>
          </a:stretch>
        </p:blipFill>
        <p:spPr>
          <a:xfrm>
            <a:off x="548640" y="1387055"/>
            <a:ext cx="3291840" cy="3260931"/>
          </a:xfrm>
          <a:prstGeom prst="rect">
            <a:avLst/>
          </a:prstGeom>
        </p:spPr>
      </p:pic>
      <p:sp>
        <p:nvSpPr>
          <p:cNvPr id="6" name="Rule box" descr="">
            <a:extLst>
              <a:ext uri="{C183D7F6-B498-43B3-948B-1728B52AA6E4}">
                <adec:decorative xmlns:adec="http://schemas.microsoft.com/office/drawing/2017/decorative" val="1"/>
              </a:ext>
            </a:extLst>
          </p:cNvPr>
          <p:cNvSpPr/>
          <p:nvPr/>
        </p:nvSpPr>
        <p:spPr>
          <a:xfrm>
            <a:off x="4023360" y="1371600"/>
            <a:ext cx="3749040" cy="2971800"/>
          </a:xfrm>
          <a:prstGeom prst="roundRect">
            <a:avLst>
              <a:gd name="adj" fmla="val 246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Check" descr="">
            <a:extLst>
              <a:ext uri="{C183D7F6-B498-43B3-948B-1728B52AA6E4}">
                <adec:decorative xmlns:adec="http://schemas.microsoft.com/office/drawing/2017/decorative" val="1"/>
              </a:ext>
            </a:extLst>
          </p:cNvPr>
          <p:cNvSpPr/>
          <p:nvPr/>
        </p:nvSpPr>
        <p:spPr>
          <a:xfrm>
            <a:off x="425196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383634" y="1649578"/>
            <a:ext cx="285293" cy="285293"/>
          </a:xfrm>
          <a:prstGeom prst="rect">
            <a:avLst/>
          </a:prstGeom>
        </p:spPr>
      </p:pic>
      <p:sp>
        <p:nvSpPr>
          <p:cNvPr id="9" name="Rule head"/>
          <p:cNvSpPr txBox="1"/>
          <p:nvPr/>
        </p:nvSpPr>
        <p:spPr>
          <a:xfrm>
            <a:off x="4937760" y="1517904"/>
            <a:ext cx="269748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Two named humans and a record</a:t>
            </a:r>
            <a:endParaRPr lang="en-US" sz="1650" dirty="0"/>
          </a:p>
        </p:txBody>
      </p:sp>
      <p:sp>
        <p:nvSpPr>
          <p:cNvPr id="10" name="Rule list"/>
          <p:cNvSpPr txBox="1"/>
          <p:nvPr/>
        </p:nvSpPr>
        <p:spPr>
          <a:xfrm>
            <a:off x="4251960" y="2212848"/>
            <a:ext cx="333756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Sponsor: a federal employee mastered in HR</a:t>
            </a:r>
            <a:endParaRPr lang="en-US" sz="1400" dirty="0"/>
          </a:p>
          <a:p>
            <a:pPr marL="342900" indent="-342900">
              <a:spcAft>
                <a:spcPts val="600"/>
              </a:spcAft>
              <a:buSzPct val="100000"/>
              <a:buChar char="•"/>
            </a:pPr>
            <a:r>
              <a:rPr lang="en-US" sz="1350" dirty="0">
                <a:solidFill>
                  <a:schemeClr val="tx2"/>
                </a:solidFill>
              </a:rPr>
              <a:t>Co-sponsor: a small dynamic group of stewards</a:t>
            </a:r>
            <a:endParaRPr lang="en-US" sz="1400" dirty="0"/>
          </a:p>
          <a:p>
            <a:pPr marL="342900" indent="-342900">
              <a:spcAft>
                <a:spcPts val="600"/>
              </a:spcAft>
              <a:buSzPct val="100000"/>
              <a:buChar char="•"/>
            </a:pPr>
            <a:r>
              <a:rPr lang="en-US" sz="1350" dirty="0">
                <a:solidFill>
                  <a:schemeClr val="tx2"/>
                </a:solidFill>
              </a:rPr>
              <a:t>Technical owner holds credentials; never sponsors</a:t>
            </a:r>
            <a:endParaRPr lang="en-US" sz="1400" dirty="0"/>
          </a:p>
          <a:p>
            <a:pPr marL="342900" indent="-342900">
              <a:spcAft>
                <a:spcPts val="600"/>
              </a:spcAft>
              <a:buSzPct val="100000"/>
              <a:buChar char="•"/>
            </a:pPr>
            <a:r>
              <a:rPr lang="en-US" sz="1350" dirty="0">
                <a:solidFill>
                  <a:schemeClr val="tx2"/>
                </a:solidFill>
              </a:rPr>
              <a:t>Administrators sponsor nothing</a:t>
            </a:r>
            <a:endParaRPr lang="en-US" sz="1400" dirty="0"/>
          </a:p>
        </p:txBody>
      </p:sp>
      <p:sp>
        <p:nvSpPr>
          <p:cNvPr id="11" name="HR box" descr="">
            <a:extLst>
              <a:ext uri="{C183D7F6-B498-43B3-948B-1728B52AA6E4}">
                <adec:decorative xmlns:adec="http://schemas.microsoft.com/office/drawing/2017/decorative" val="1"/>
              </a:ext>
            </a:extLst>
          </p:cNvPr>
          <p:cNvSpPr/>
          <p:nvPr/>
        </p:nvSpPr>
        <p:spPr>
          <a:xfrm>
            <a:off x="7909560" y="1371600"/>
            <a:ext cx="3749040" cy="2971800"/>
          </a:xfrm>
          <a:prstGeom prst="roundRect">
            <a:avLst>
              <a:gd name="adj" fmla="val 246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ArrowsRotate" descr="">
            <a:extLst>
              <a:ext uri="{C183D7F6-B498-43B3-948B-1728B52AA6E4}">
                <adec:decorative xmlns:adec="http://schemas.microsoft.com/office/drawing/2017/decorative" val="1"/>
              </a:ext>
            </a:extLst>
          </p:cNvPr>
          <p:cNvSpPr/>
          <p:nvPr/>
        </p:nvSpPr>
        <p:spPr>
          <a:xfrm>
            <a:off x="8138160" y="1517904"/>
            <a:ext cx="548640" cy="548640"/>
          </a:xfrm>
          <a:prstGeom prst="ellipse">
            <a:avLst/>
          </a:prstGeom>
          <a:solidFill>
            <a:srgbClr val="1F2A44"/>
          </a:solidFill>
          <a:ln w="12700">
            <a:solidFill>
              <a:srgbClr val="1F2A44"/>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269834" y="1649578"/>
            <a:ext cx="285293" cy="285293"/>
          </a:xfrm>
          <a:prstGeom prst="rect">
            <a:avLst/>
          </a:prstGeom>
        </p:spPr>
      </p:pic>
      <p:sp>
        <p:nvSpPr>
          <p:cNvPr id="14" name="HR head"/>
          <p:cNvSpPr txBox="1"/>
          <p:nvPr/>
        </p:nvSpPr>
        <p:spPr>
          <a:xfrm>
            <a:off x="8823960" y="1517904"/>
            <a:ext cx="269748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HR events reach the agent</a:t>
            </a:r>
            <a:endParaRPr lang="en-US" sz="1650" dirty="0"/>
          </a:p>
        </p:txBody>
      </p:sp>
      <p:sp>
        <p:nvSpPr>
          <p:cNvPr id="15" name="HR list"/>
          <p:cNvSpPr txBox="1"/>
          <p:nvPr/>
        </p:nvSpPr>
        <p:spPr>
          <a:xfrm>
            <a:off x="8138160" y="2212848"/>
            <a:ext cx="333756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Sponsor leaves: sponsorship moves to the manager</a:t>
            </a:r>
            <a:endParaRPr lang="en-US" sz="1400" dirty="0"/>
          </a:p>
          <a:p>
            <a:pPr marL="342900" indent="-342900">
              <a:spcAft>
                <a:spcPts val="600"/>
              </a:spcAft>
              <a:buSzPct val="100000"/>
              <a:buChar char="•"/>
            </a:pPr>
            <a:r>
              <a:rPr lang="en-US" sz="1350" dirty="0">
                <a:solidFill>
                  <a:schemeClr val="tx2"/>
                </a:solidFill>
              </a:rPr>
              <a:t>Ten business days to confirm, or it's orphaned</a:t>
            </a:r>
            <a:endParaRPr lang="en-US" sz="1400" dirty="0"/>
          </a:p>
          <a:p>
            <a:pPr marL="342900" indent="-342900">
              <a:spcAft>
                <a:spcPts val="600"/>
              </a:spcAft>
              <a:buSzPct val="100000"/>
              <a:buChar char="•"/>
            </a:pPr>
            <a:r>
              <a:rPr lang="en-US" sz="1350" dirty="0">
                <a:solidFill>
                  <a:schemeClr val="tx2"/>
                </a:solidFill>
              </a:rPr>
              <a:t>Orphaned agents are suspended, then decided</a:t>
            </a:r>
            <a:endParaRPr lang="en-US" sz="1400" dirty="0"/>
          </a:p>
          <a:p>
            <a:pPr marL="342900" indent="-342900">
              <a:spcAft>
                <a:spcPts val="600"/>
              </a:spcAft>
              <a:buSzPct val="100000"/>
              <a:buChar char="•"/>
            </a:pPr>
            <a:r>
              <a:rPr lang="en-US" sz="1350" dirty="0">
                <a:solidFill>
                  <a:schemeClr val="tx2"/>
                </a:solidFill>
              </a:rPr>
              <a:t>Access expires unless the sponsor renews it</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Name an agency employee as the sponsor of every AI system, and move sponsorship from the builder to the using program at publication</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System owner</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At creation, and again at publication</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Agent ID owners, sponsors and managers; Lifecycle Workflows; access packages for agents; deletion. Book 17, Chapters 05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No stored secrets, no standing privilege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decision flow. A violet card at the top: the blueprint holds the credential and every agent identity created from it shares it, so the blueprint is the credential boundary. An amber question card asks whether the agent runs on Azure. Yes leads to a green card, first choice: a managed identity configured as a federated credential on the blueprint, with no stored secret. No leads to a second amber question card asking whether the agent's platform issues tokens Entra ID can trust. Yes leads to a green card, second choice: workload identity federation from the platform's issuer, recording the issuer and subject. No leads to an amber card, third choice: a certificate kept in a key vault or HSM, with a lifetime capped by policy and automated rotation. A red card at the bottom, a client secret, reads development and test only, blocked in production by an app management policy, reached by a dashed red arrow labeled exception only.">    </p:cNvPr>
          <p:cNvPicPr>
            <a:picLocks noChangeAspect="1"/>
          </p:cNvPicPr>
          <p:nvPr/>
        </p:nvPicPr>
        <p:blipFill>
          <a:blip r:embed="rId1"/>
          <a:stretch>
            <a:fillRect/>
          </a:stretch>
        </p:blipFill>
        <p:spPr>
          <a:xfrm>
            <a:off x="600020" y="1371600"/>
            <a:ext cx="4743561" cy="3291840"/>
          </a:xfrm>
          <a:prstGeom prst="rect">
            <a:avLst/>
          </a:prstGeom>
        </p:spPr>
      </p:pic>
      <p:sp>
        <p:nvSpPr>
          <p:cNvPr id="6" name="Privilege box" descr="">
            <a:extLst>
              <a:ext uri="{C183D7F6-B498-43B3-948B-1728B52AA6E4}">
                <adec:decorative xmlns:adec="http://schemas.microsoft.com/office/drawing/2017/decorative" val="1"/>
              </a:ext>
            </a:extLst>
          </p:cNvPr>
          <p:cNvSpPr/>
          <p:nvPr/>
        </p:nvSpPr>
        <p:spPr>
          <a:xfrm>
            <a:off x="5577840" y="1371600"/>
            <a:ext cx="6080760" cy="2642616"/>
          </a:xfrm>
          <a:prstGeom prst="roundRect">
            <a:avLst>
              <a:gd name="adj" fmla="val 276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Key" descr="">
            <a:extLst>
              <a:ext uri="{C183D7F6-B498-43B3-948B-1728B52AA6E4}">
                <adec:decorative xmlns:adec="http://schemas.microsoft.com/office/drawing/2017/decorative" val="1"/>
              </a:ext>
            </a:extLst>
          </p:cNvPr>
          <p:cNvSpPr/>
          <p:nvPr/>
        </p:nvSpPr>
        <p:spPr>
          <a:xfrm>
            <a:off x="580644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938114" y="1649578"/>
            <a:ext cx="285293" cy="285293"/>
          </a:xfrm>
          <a:prstGeom prst="rect">
            <a:avLst/>
          </a:prstGeom>
        </p:spPr>
      </p:pic>
      <p:sp>
        <p:nvSpPr>
          <p:cNvPr id="9" name="Privilege head"/>
          <p:cNvSpPr txBox="1"/>
          <p:nvPr/>
        </p:nvSpPr>
        <p:spPr>
          <a:xfrm>
            <a:off x="6492240" y="1517904"/>
            <a:ext cx="502920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Least privilege, decided in advance</a:t>
            </a:r>
            <a:endParaRPr lang="en-US" sz="1650" dirty="0"/>
          </a:p>
        </p:txBody>
      </p:sp>
      <p:sp>
        <p:nvSpPr>
          <p:cNvPr id="10" name="Privilege list"/>
          <p:cNvSpPr txBox="1"/>
          <p:nvPr/>
        </p:nvSpPr>
        <p:spPr>
          <a:xfrm>
            <a:off x="5806440" y="2212848"/>
            <a:ext cx="566928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MFA for agents: every control is set before it asks</a:t>
            </a:r>
            <a:endParaRPr lang="en-US" sz="1400" dirty="0"/>
          </a:p>
          <a:p>
            <a:pPr marL="342900" indent="-342900">
              <a:spcAft>
                <a:spcPts val="600"/>
              </a:spcAft>
              <a:buSzPct val="100000"/>
              <a:buChar char="•"/>
            </a:pPr>
            <a:r>
              <a:rPr lang="en-US" sz="1350" dirty="0">
                <a:solidFill>
                  <a:schemeClr val="tx2"/>
                </a:solidFill>
              </a:rPr>
              <a:t>On behalf of a user first; app-only only with no user present</a:t>
            </a:r>
            <a:endParaRPr lang="en-US" sz="1400" dirty="0"/>
          </a:p>
          <a:p>
            <a:pPr marL="342900" indent="-342900">
              <a:spcAft>
                <a:spcPts val="600"/>
              </a:spcAft>
              <a:buSzPct val="100000"/>
              <a:buChar char="•"/>
            </a:pPr>
            <a:r>
              <a:rPr lang="en-US" sz="1350" dirty="0">
                <a:solidFill>
                  <a:schemeClr val="tx2"/>
                </a:solidFill>
              </a:rPr>
              <a:t>Microsoft's block list is a floor, not least privilege</a:t>
            </a:r>
            <a:endParaRPr lang="en-US" sz="1400" dirty="0"/>
          </a:p>
          <a:p>
            <a:pPr marL="342900" indent="-342900">
              <a:spcAft>
                <a:spcPts val="600"/>
              </a:spcAft>
              <a:buSzPct val="100000"/>
              <a:buChar char="•"/>
            </a:pPr>
            <a:r>
              <a:rPr lang="en-US" sz="1350" dirty="0">
                <a:solidFill>
                  <a:schemeClr val="tx2"/>
                </a:solidFill>
              </a:rPr>
              <a:t>No AI identity holds a standing privileged role</a:t>
            </a:r>
            <a:endParaRPr lang="en-US" sz="1400" dirty="0"/>
          </a:p>
          <a:p>
            <a:pPr marL="342900" indent="-342900">
              <a:spcAft>
                <a:spcPts val="600"/>
              </a:spcAft>
              <a:buSzPct val="100000"/>
              <a:buChar char="•"/>
            </a:pPr>
            <a:r>
              <a:rPr lang="en-US" sz="1350" dirty="0">
                <a:solidFill>
                  <a:schemeClr val="tx2"/>
                </a:solidFill>
              </a:rPr>
              <a:t>Block unapproved agents; report-only while in preview</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Set the control requirements for AI identities: no client secrets in production, no standing privileged roles, and a block-unless-approved agent policy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identity engineering builds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first production agent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Agent ID authorization, best practices, blueprints, Conditional Access for agents; BOD 25-01; SP 800-53. Book 17,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Watch it, and find what nobody declared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Four slate cards across the top. People: generative AI services in use, seen by cloud app discovery and network discovery. Consent: apps holding granted access, seen by the consent inventory and app governance. Agents: local and network-visible agents, seen by endpoint discovery and network discovery in preview. Workloads: AI built in agency clouds, seen by cloud posture discovery of AI services. All four point to a violet card, reconcile with the identity record, matching on the identity record key, not on a display name. From it a green arrow labeled match leads to a green card, governed: record, owner and authorization all present. A red arrow labeled no match leads to a red card, shadow AI finding: no record, P1 if it acts with credentials.">    </p:cNvPr>
          <p:cNvPicPr>
            <a:picLocks noChangeAspect="1"/>
          </p:cNvPicPr>
          <p:nvPr/>
        </p:nvPicPr>
        <p:blipFill>
          <a:blip r:embed="rId1"/>
          <a:stretch>
            <a:fillRect/>
          </a:stretch>
        </p:blipFill>
        <p:spPr>
          <a:xfrm>
            <a:off x="548640" y="1638359"/>
            <a:ext cx="6309360" cy="2758323"/>
          </a:xfrm>
          <a:prstGeom prst="rect">
            <a:avLst/>
          </a:prstGeom>
        </p:spPr>
      </p:pic>
      <p:sp>
        <p:nvSpPr>
          <p:cNvPr id="6" name="Findings box" descr="">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Finding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Findings that halt (P1)</a:t>
            </a:r>
            <a:endParaRPr lang="en-US" sz="1650" dirty="0"/>
          </a:p>
        </p:txBody>
      </p:sp>
      <p:sp>
        <p:nvSpPr>
          <p:cNvPr id="10" name="Findings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agentic AI system with no governed identity</a:t>
            </a:r>
            <a:endParaRPr lang="en-US" sz="1400" dirty="0"/>
          </a:p>
          <a:p>
            <a:pPr marL="342900" indent="-342900">
              <a:spcAft>
                <a:spcPts val="600"/>
              </a:spcAft>
              <a:buSzPct val="100000"/>
              <a:buChar char="•"/>
            </a:pPr>
            <a:r>
              <a:rPr lang="en-US" sz="1350" dirty="0">
                <a:solidFill>
                  <a:schemeClr val="tx2"/>
                </a:solidFill>
              </a:rPr>
              <a:t>Shadow AI acting with credentials</a:t>
            </a:r>
            <a:endParaRPr lang="en-US" sz="1400" dirty="0"/>
          </a:p>
          <a:p>
            <a:pPr marL="342900" indent="-342900">
              <a:spcAft>
                <a:spcPts val="600"/>
              </a:spcAft>
              <a:buSzPct val="100000"/>
              <a:buChar char="•"/>
            </a:pPr>
            <a:r>
              <a:rPr lang="en-US" sz="1350" dirty="0">
                <a:solidFill>
                  <a:schemeClr val="tx2"/>
                </a:solidFill>
              </a:rPr>
              <a:t>A credential or grant added outside the pipeline</a:t>
            </a:r>
            <a:endParaRPr lang="en-US" sz="1400" dirty="0"/>
          </a:p>
          <a:p>
            <a:pPr marL="342900" indent="-342900">
              <a:spcAft>
                <a:spcPts val="600"/>
              </a:spcAft>
              <a:buSzPct val="100000"/>
              <a:buChar char="•"/>
            </a:pPr>
            <a:r>
              <a:rPr lang="en-US" sz="1350" dirty="0">
                <a:solidFill>
                  <a:schemeClr val="tx2"/>
                </a:solidFill>
              </a:rPr>
              <a:t>A deployed system confirmed to have no ATO</a:t>
            </a:r>
            <a:endParaRPr lang="en-US" sz="1400" dirty="0"/>
          </a:p>
          <a:p>
            <a:pPr marL="342900" indent="-342900">
              <a:spcAft>
                <a:spcPts val="600"/>
              </a:spcAft>
              <a:buSzPct val="100000"/>
              <a:buChar char="•"/>
            </a:pPr>
            <a:r>
              <a:rPr lang="en-US" sz="1350" dirty="0">
                <a:solidFill>
                  <a:schemeClr val="tx2"/>
                </a:solidFill>
              </a:rPr>
              <a:t>Never fixed automatically; a person decides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Decide the future of shadow AI once security operations has contained it: keep it in a system's boundary or remove it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System owner; the CIO if it belongs to no system</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When discovery finds it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§4(b)(iii); Microsoft Learn — Agent ID logs, ID Protection, Defender and Global Secure Access discovery (Oct 2026). Book 17, Chapters 07,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decision tracks meet on one AI system</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wo cards side by side at the top. Left, a violet card labeled AI use-case track under M-25-21, titled Chief AI Officer: inventory and high-impact determination; waivers, which aren't delegable; and the accountable official signs the impact assessment. Right, an amber card labeled authorization track under the RMF, titled authorizing official: authorization to operate before deployment; alone accepts security and privacy risk; ongoing authorization. Both point to a blue card in the middle, one AI system, one identity record, carrying owner, sponsor, placement, credentials, permissions, and authorization and PIA references. A dashed arrow leads from it to a red pill: neither decision stands in for the other.">    </p:cNvPr>
          <p:cNvPicPr>
            <a:picLocks noChangeAspect="1"/>
          </p:cNvPicPr>
          <p:nvPr/>
        </p:nvPicPr>
        <p:blipFill>
          <a:blip r:embed="rId1"/>
          <a:stretch>
            <a:fillRect/>
          </a:stretch>
        </p:blipFill>
        <p:spPr>
          <a:xfrm>
            <a:off x="594360" y="1371600"/>
            <a:ext cx="6217920" cy="3291840"/>
          </a:xfrm>
          <a:prstGeom prst="rect">
            <a:avLst/>
          </a:prstGeom>
        </p:spPr>
      </p:pic>
      <p:sp>
        <p:nvSpPr>
          <p:cNvPr id="6" name="Apart box" descr="">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Apart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Keeping the roles apart</a:t>
            </a:r>
            <a:endParaRPr lang="en-US" sz="1650" dirty="0"/>
          </a:p>
        </p:txBody>
      </p:sp>
      <p:sp>
        <p:nvSpPr>
          <p:cNvPr id="10" name="Apart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Chief AI Officer owns the declared side</a:t>
            </a:r>
            <a:endParaRPr lang="en-US" sz="1400" dirty="0"/>
          </a:p>
          <a:p>
            <a:pPr marL="342900" indent="-342900">
              <a:spcAft>
                <a:spcPts val="600"/>
              </a:spcAft>
              <a:buSzPct val="100000"/>
              <a:buChar char="•"/>
            </a:pPr>
            <a:r>
              <a:rPr lang="en-US" sz="1350" dirty="0">
                <a:solidFill>
                  <a:schemeClr val="tx2"/>
                </a:solidFill>
              </a:rPr>
              <a:t>Only the AO accepts the system's residual risk</a:t>
            </a:r>
            <a:endParaRPr lang="en-US" sz="1400" dirty="0"/>
          </a:p>
          <a:p>
            <a:pPr marL="342900" indent="-342900">
              <a:spcAft>
                <a:spcPts val="600"/>
              </a:spcAft>
              <a:buSzPct val="100000"/>
              <a:buChar char="•"/>
            </a:pPr>
            <a:r>
              <a:rPr lang="en-US" sz="1350" dirty="0">
                <a:solidFill>
                  <a:schemeClr val="tx2"/>
                </a:solidFill>
              </a:rPr>
              <a:t>Whoever waived a practice isn't also the sole AO</a:t>
            </a:r>
            <a:endParaRPr lang="en-US" sz="1400" dirty="0"/>
          </a:p>
          <a:p>
            <a:pPr marL="342900" indent="-342900">
              <a:spcAft>
                <a:spcPts val="600"/>
              </a:spcAft>
              <a:buSzPct val="100000"/>
              <a:buChar char="•"/>
            </a:pPr>
            <a:r>
              <a:rPr lang="en-US" sz="1350" dirty="0">
                <a:solidFill>
                  <a:schemeClr val="tx2"/>
                </a:solidFill>
              </a:rPr>
              <a:t>The builder doesn't sponsor a published agent</a:t>
            </a:r>
            <a:endParaRPr lang="en-US" sz="1400" dirty="0"/>
          </a:p>
          <a:p>
            <a:pPr marL="342900" indent="-342900">
              <a:spcAft>
                <a:spcPts val="600"/>
              </a:spcAft>
              <a:buSzPct val="100000"/>
              <a:buChar char="•"/>
            </a:pPr>
            <a:r>
              <a:rPr lang="en-US" sz="1350" dirty="0">
                <a:solidFill>
                  <a:schemeClr val="tx2"/>
                </a:solidFill>
              </a:rPr>
              <a:t>No AI identity approves access or consent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Create the AI system's identity record before any credential is issued to it (program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Identity governance officer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any credential is issued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§3(a), footnotes 21–22; M-25-22 §4(e)(i); NIST SP 800-37 Rev. 2, Appendix D; NIST AI 100-1 GOVERN 2.1. Book 17,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what for an AI identity</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657600"/>
                <a:gridCol w="265176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Inventory, high-impact calls, waivers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Chief AI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Impact assessment risk acceptance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Use-case risk acceptor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Authorization; changes needing 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Control requirements for AI identities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Licenses; shadow AI owned by no system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Sponsor; data and tools it may reach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System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Admin consent; orphaned AI identities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Disabling during an incident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Security operations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PIA for an AI system with PII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Privacy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s box" descr="">
            <a:extLst>
              <a:ext uri="{C183D7F6-B498-43B3-948B-1728B52AA6E4}">
                <adec:decorative xmlns:adec="http://schemas.microsoft.com/office/drawing/2017/decorative" val="1"/>
              </a:ext>
            </a:extLst>
          </p:cNvPr>
          <p:cNvSpPr/>
          <p:nvPr/>
        </p:nvSpPr>
        <p:spPr>
          <a:xfrm>
            <a:off x="7086600" y="1371600"/>
            <a:ext cx="4572000" cy="2971800"/>
          </a:xfrm>
          <a:prstGeom prst="roundRect">
            <a:avLst>
              <a:gd name="adj" fmla="val 246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Call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Calls that land on the wrong desk</a:t>
            </a:r>
            <a:endParaRPr lang="en-US" sz="1650" dirty="0"/>
          </a:p>
        </p:txBody>
      </p:sp>
      <p:sp>
        <p:nvSpPr>
          <p:cNvPr id="10" name="Calls list"/>
          <p:cNvSpPr txBox="1"/>
          <p:nvPr/>
        </p:nvSpPr>
        <p:spPr>
          <a:xfrm>
            <a:off x="7315200" y="2212848"/>
            <a:ext cx="416052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impact assessment isn't an ATO, nor the reverse</a:t>
            </a:r>
            <a:endParaRPr lang="en-US" sz="1400" dirty="0"/>
          </a:p>
          <a:p>
            <a:pPr marL="342900" indent="-342900">
              <a:spcAft>
                <a:spcPts val="600"/>
              </a:spcAft>
              <a:buSzPct val="100000"/>
              <a:buChar char="•"/>
            </a:pPr>
            <a:r>
              <a:rPr lang="en-US" sz="1350" dirty="0">
                <a:solidFill>
                  <a:schemeClr val="tx2"/>
                </a:solidFill>
              </a:rPr>
              <a:t>Bounded exception: CISO; open-ended: the AO</a:t>
            </a:r>
            <a:endParaRPr lang="en-US" sz="1400" dirty="0"/>
          </a:p>
          <a:p>
            <a:pPr marL="342900" indent="-342900">
              <a:spcAft>
                <a:spcPts val="600"/>
              </a:spcAft>
              <a:buSzPct val="100000"/>
              <a:buChar char="•"/>
            </a:pPr>
            <a:r>
              <a:rPr lang="en-US" sz="1350" dirty="0">
                <a:solidFill>
                  <a:schemeClr val="tx2"/>
                </a:solidFill>
              </a:rPr>
              <a:t>Incident disable: security ops; its future: the sponsor</a:t>
            </a:r>
            <a:endParaRPr lang="en-US" sz="1400" dirty="0"/>
          </a:p>
          <a:p>
            <a:pPr marL="342900" indent="-342900">
              <a:spcAft>
                <a:spcPts val="600"/>
              </a:spcAft>
              <a:buSzPct val="100000"/>
              <a:buChar char="•"/>
            </a:pPr>
            <a:r>
              <a:rPr lang="en-US" sz="1350" dirty="0">
                <a:solidFill>
                  <a:schemeClr val="tx2"/>
                </a:solidFill>
              </a:rPr>
              <a:t>Contractors build; officials sponsor and accept risk</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Treat each new tool, permission, user account or model for an AI system as a candidate significant change to its authorization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System owner raises; the AO decides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At every such change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M-25-22; NIST SP 800-37 Rev. 2, Appendix D; NIST AI 100-1 GOVERN 2.1. Book 17, Chapter 08 (responsibility matrix).</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Run the inventory scan on the agency's own file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top-to-bottom flow. A slate card, step 1 Load, one inventory vintage: the agency's own submission or OMB's consolidated public file; record the vintage, the file's hash and what is missing. It branches into two cards side by side. An amber card, step 2 Detect, inventory answers: agentic with no authorization answer; no authorization answer; no contact or placement; PII with no PIA link. A blue card, step 2 Detect, agency only, directory join: no identity record; no accountable sponsor; identity with no inventory row; retired but still holds access. Both lead to a violet card, step 3 Prioritize, priority and route: agentic systems first, severities as in Chapter 07. That leads to a violet card, step 4 Report, one row per system: finding, obligation, action, control, owner; then to a blue card, step 5 Remediate, owners act: identity team, ISSO, privacy officer, sponsor; then to a green card, closed only on a later observation: the next scan or the directory shows the fixed state, and a ticket closes nothing. A dashed arrow labeled next vintage: delta runs from the green card back to the load card.">    </p:cNvPr>
          <p:cNvPicPr>
            <a:picLocks noChangeAspect="1"/>
          </p:cNvPicPr>
          <p:nvPr/>
        </p:nvPicPr>
        <p:blipFill>
          <a:blip r:embed="rId1"/>
          <a:stretch>
            <a:fillRect/>
          </a:stretch>
        </p:blipFill>
        <p:spPr>
          <a:xfrm>
            <a:off x="555510" y="1371600"/>
            <a:ext cx="4512540" cy="3291840"/>
          </a:xfrm>
          <a:prstGeom prst="rect">
            <a:avLst/>
          </a:prstGeom>
        </p:spPr>
      </p:pic>
      <p:sp>
        <p:nvSpPr>
          <p:cNvPr id="6" name="Counts box" descr="">
            <a:extLst>
              <a:ext uri="{C183D7F6-B498-43B3-948B-1728B52AA6E4}">
                <adec:decorative xmlns:adec="http://schemas.microsoft.com/office/drawing/2017/decorative" val="1"/>
              </a:ext>
            </a:extLst>
          </p:cNvPr>
          <p:cNvSpPr/>
          <p:nvPr/>
        </p:nvSpPr>
        <p:spPr>
          <a:xfrm>
            <a:off x="5257800" y="1371600"/>
            <a:ext cx="6400800" cy="2432304"/>
          </a:xfrm>
          <a:prstGeom prst="roundRect">
            <a:avLst>
              <a:gd name="adj" fmla="val 300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TableList" descr="">
            <a:extLst>
              <a:ext uri="{C183D7F6-B498-43B3-948B-1728B52AA6E4}">
                <adec:decorative xmlns:adec="http://schemas.microsoft.com/office/drawing/2017/decorative" val="1"/>
              </a:ext>
            </a:extLst>
          </p:cNvPr>
          <p:cNvSpPr/>
          <p:nvPr/>
        </p:nvSpPr>
        <p:spPr>
          <a:xfrm>
            <a:off x="548640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618074" y="1649578"/>
            <a:ext cx="285293" cy="285293"/>
          </a:xfrm>
          <a:prstGeom prst="rect">
            <a:avLst/>
          </a:prstGeom>
        </p:spPr>
      </p:pic>
      <p:sp>
        <p:nvSpPr>
          <p:cNvPr id="9" name="Counts head"/>
          <p:cNvSpPr txBox="1"/>
          <p:nvPr/>
        </p:nvSpPr>
        <p:spPr>
          <a:xfrm>
            <a:off x="6172200" y="1517904"/>
            <a:ext cx="53492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In the published 2025 file</a:t>
            </a:r>
            <a:endParaRPr lang="en-US" sz="1650" dirty="0"/>
          </a:p>
        </p:txBody>
      </p:sp>
      <p:sp>
        <p:nvSpPr>
          <p:cNvPr id="10" name="Counts list"/>
          <p:cNvSpPr txBox="1"/>
          <p:nvPr/>
        </p:nvSpPr>
        <p:spPr>
          <a:xfrm>
            <a:off x="5486400" y="2212848"/>
            <a:ext cx="59893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1,480 use cases recorded as piloted or deployed</a:t>
            </a:r>
            <a:endParaRPr lang="en-US" sz="1400" dirty="0"/>
          </a:p>
          <a:p>
            <a:pPr marL="342900" indent="-342900">
              <a:spcAft>
                <a:spcPts val="600"/>
              </a:spcAft>
              <a:buSzPct val="100000"/>
              <a:buChar char="•"/>
            </a:pPr>
            <a:r>
              <a:rPr lang="en-US" sz="1350" dirty="0">
                <a:solidFill>
                  <a:schemeClr val="tx2"/>
                </a:solidFill>
              </a:rPr>
              <a:t>54% give no authorization answer; 33% name no contact</a:t>
            </a:r>
            <a:endParaRPr lang="en-US" sz="1400" dirty="0"/>
          </a:p>
          <a:p>
            <a:pPr marL="342900" indent="-342900">
              <a:spcAft>
                <a:spcPts val="600"/>
              </a:spcAft>
              <a:buSzPct val="100000"/>
              <a:buChar char="•"/>
            </a:pPr>
            <a:r>
              <a:rPr lang="en-US" sz="1350" dirty="0">
                <a:solidFill>
                  <a:schemeClr val="tx2"/>
                </a:solidFill>
              </a:rPr>
              <a:t>72% trip at least one inventory-answer check</a:t>
            </a:r>
            <a:endParaRPr lang="en-US" sz="1400" dirty="0"/>
          </a:p>
          <a:p>
            <a:pPr marL="342900" indent="-342900">
              <a:spcAft>
                <a:spcPts val="600"/>
              </a:spcAft>
              <a:buSzPct val="100000"/>
              <a:buChar char="•"/>
            </a:pPr>
            <a:r>
              <a:rPr lang="en-US" sz="1350" dirty="0">
                <a:solidFill>
                  <a:schemeClr val="tx2"/>
                </a:solidFill>
              </a:rPr>
              <a:t>Answers to reconcile, not findings against agencies</a:t>
            </a:r>
            <a:endParaRPr lang="en-US" sz="1400" dirty="0"/>
          </a:p>
          <a:p>
            <a:pPr marL="342900" indent="-342900">
              <a:spcAft>
                <a:spcPts val="600"/>
              </a:spcAft>
              <a:buSzPct val="100000"/>
              <a:buChar char="•"/>
            </a:pPr>
            <a:r>
              <a:rPr lang="en-US" sz="1350" dirty="0">
                <a:solidFill>
                  <a:schemeClr val="tx2"/>
                </a:solidFill>
              </a:rPr>
              <a:t>Directory checks need the agency's own submission</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Run the inventory checks on the agency's own submission each vintage, agentic and authorization findings first, and close a finding only on observation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Chief AI Officer (inventory); system owners remediate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Each new inventory vintage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2025 AI Use Case Inventory (README, data dictionary and CSV; counts computed Oct 21, 2026); OMB M-25-21 §3(b)(v). Book 17,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central scan starts the conversation, not the fix</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Five cards stacked top to bottom. Violet, Tier 0, central: scan the public inventory, one run over every agency's published file, no data-sharing agreement needed. Violet, Tier 1, central to agency: deliver each agency its own findings, scoped to that agency's rows, agentic and authorization findings first. Blue, Tier 2, agency: remediate with existing tools; owners assigned, authorizations reconciled, PIAs located, the inventory updated. A dashed arrow labeled next vintage shows the fix runs from Tier 2 back to Tier 0. Amber, Tier 3, agency only: govern the credential itself; directory join, credential lifecycle, shadow AI, Chapters 05 to 07. A dashed red arrow labeled closes runs from Tier 3 to a red card: what no central scan can see, whether a credential exists, rotates or was revoked, and AI nobody inventoried.">    </p:cNvPr>
          <p:cNvPicPr>
            <a:picLocks noChangeAspect="1"/>
          </p:cNvPicPr>
          <p:nvPr/>
        </p:nvPicPr>
        <p:blipFill>
          <a:blip r:embed="rId1"/>
          <a:stretch>
            <a:fillRect/>
          </a:stretch>
        </p:blipFill>
        <p:spPr>
          <a:xfrm>
            <a:off x="555232" y="1371600"/>
            <a:ext cx="4604537" cy="3291840"/>
          </a:xfrm>
          <a:prstGeom prst="rect">
            <a:avLst/>
          </a:prstGeom>
        </p:spPr>
      </p:pic>
      <p:sp>
        <p:nvSpPr>
          <p:cNvPr id="6" name="CDM box" descr="">
            <a:extLst>
              <a:ext uri="{C183D7F6-B498-43B3-948B-1728B52AA6E4}">
                <adec:decorative xmlns:adec="http://schemas.microsoft.com/office/drawing/2017/decorative" val="1"/>
              </a:ext>
            </a:extLst>
          </p:cNvPr>
          <p:cNvSpPr/>
          <p:nvPr/>
        </p:nvSpPr>
        <p:spPr>
          <a:xfrm>
            <a:off x="5349240" y="1371600"/>
            <a:ext cx="6309360" cy="2432304"/>
          </a:xfrm>
          <a:prstGeom prst="roundRect">
            <a:avLst>
              <a:gd name="adj" fmla="val 300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Sitemap" descr="">
            <a:extLst>
              <a:ext uri="{C183D7F6-B498-43B3-948B-1728B52AA6E4}">
                <adec:decorative xmlns:adec="http://schemas.microsoft.com/office/drawing/2017/decorative" val="1"/>
              </a:ext>
            </a:extLst>
          </p:cNvPr>
          <p:cNvSpPr/>
          <p:nvPr/>
        </p:nvSpPr>
        <p:spPr>
          <a:xfrm>
            <a:off x="55778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09514" y="1649578"/>
            <a:ext cx="285293" cy="285293"/>
          </a:xfrm>
          <a:prstGeom prst="rect">
            <a:avLst/>
          </a:prstGeom>
        </p:spPr>
      </p:pic>
      <p:sp>
        <p:nvSpPr>
          <p:cNvPr id="9" name="CDM head"/>
          <p:cNvSpPr txBox="1"/>
          <p:nvPr/>
        </p:nvSpPr>
        <p:spPr>
          <a:xfrm>
            <a:off x="6263640" y="1517904"/>
            <a:ext cx="525780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What the CDM comparison supports</a:t>
            </a:r>
            <a:endParaRPr lang="en-US" sz="1650" dirty="0"/>
          </a:p>
        </p:txBody>
      </p:sp>
      <p:sp>
        <p:nvSpPr>
          <p:cNvPr id="10" name="CDM list"/>
          <p:cNvSpPr txBox="1"/>
          <p:nvPr/>
        </p:nvSpPr>
        <p:spPr>
          <a:xfrm>
            <a:off x="5577840" y="2212848"/>
            <a:ext cx="589788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CDM tools run in agencies; summaries flow up to CISA</a:t>
            </a:r>
            <a:endParaRPr lang="en-US" sz="1400" dirty="0"/>
          </a:p>
          <a:p>
            <a:pPr marL="342900" indent="-342900">
              <a:spcAft>
                <a:spcPts val="600"/>
              </a:spcAft>
              <a:buSzPct val="100000"/>
              <a:buChar char="•"/>
            </a:pPr>
            <a:r>
              <a:rPr lang="en-US" sz="1350" dirty="0">
                <a:solidFill>
                  <a:schemeClr val="tx2"/>
                </a:solidFill>
              </a:rPr>
              <a:t>Kept: a central view, with agency remediation</a:t>
            </a:r>
            <a:endParaRPr lang="en-US" sz="1400" dirty="0"/>
          </a:p>
          <a:p>
            <a:pPr marL="342900" indent="-342900">
              <a:spcAft>
                <a:spcPts val="600"/>
              </a:spcAft>
              <a:buSzPct val="100000"/>
              <a:buChar char="•"/>
            </a:pPr>
            <a:r>
              <a:rPr lang="en-US" sz="1350" dirty="0">
                <a:solidFill>
                  <a:schemeClr val="tx2"/>
                </a:solidFill>
              </a:rPr>
              <a:t>A central scan reads public answers, not tool output</a:t>
            </a:r>
            <a:endParaRPr lang="en-US" sz="1400" dirty="0"/>
          </a:p>
          <a:p>
            <a:pPr marL="342900" indent="-342900">
              <a:spcAft>
                <a:spcPts val="600"/>
              </a:spcAft>
              <a:buSzPct val="100000"/>
              <a:buChar char="•"/>
            </a:pPr>
            <a:r>
              <a:rPr lang="en-US" sz="1350" dirty="0">
                <a:solidFill>
                  <a:schemeClr val="tx2"/>
                </a:solidFill>
              </a:rPr>
              <a:t>It can't see a credential, a rotation or a revocation</a:t>
            </a:r>
            <a:endParaRPr lang="en-US" sz="1400" dirty="0"/>
          </a:p>
          <a:p>
            <a:pPr marL="342900" indent="-342900">
              <a:spcAft>
                <a:spcPts val="600"/>
              </a:spcAft>
              <a:buSzPct val="100000"/>
              <a:buChar char="•"/>
            </a:pPr>
            <a:r>
              <a:rPr lang="en-US" sz="1350" dirty="0">
                <a:solidFill>
                  <a:schemeClr val="tx2"/>
                </a:solidFill>
              </a:rPr>
              <a:t>Its 72-hour and 30-day windows are acknowledgments</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itemap"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Tier 3 stays with the agency.  </a:t>
            </a:r>
            <a:pPr indent="0" marL="0">
              <a:buNone/>
            </a:pPr>
            <a:r>
              <a:rPr lang="en-US" sz="1650" dirty="0">
                <a:solidFill>
                  <a:schemeClr val="tx2"/>
                </a:solidFill>
              </a:rPr>
              <a:t>The directory join, the credential lifecycle and shadow AI discovery are what close the gap; no central scan can.</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CISA CDM program, fact sheet and dashboards; CISA BOD 23-01; OMB 2025 AI Use Case Inventory. Book 17, Chapter 09. The central scan is a program proposal.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Evidence the authorizing official can use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slate card at the top: an AI system the inventory lists; first question, whose boundary does it run in? Three cards below. Blue, part of a system: inside an authorized system, a new component of that system's plan and a significant change review. Blue, its own system: a new system, full RMF, categorize, select, assess, authorize. Amber, provider's cloud: a certified service; the agency authorizes use, and the agency's own tenant identities stay its job. All three lead to a violet card at the bottom: one package carries the AI identity evidence, owner, credentials, permissions, monitoring and lifecycle, in that system's plan and assessment.">    </p:cNvPr>
          <p:cNvPicPr>
            <a:picLocks noChangeAspect="1"/>
          </p:cNvPicPr>
          <p:nvPr/>
        </p:nvPicPr>
        <p:blipFill>
          <a:blip r:embed="rId1"/>
          <a:stretch>
            <a:fillRect/>
          </a:stretch>
        </p:blipFill>
        <p:spPr>
          <a:xfrm>
            <a:off x="561703" y="1371600"/>
            <a:ext cx="6008914" cy="3291840"/>
          </a:xfrm>
          <a:prstGeom prst="rect">
            <a:avLst/>
          </a:prstGeom>
        </p:spPr>
      </p:pic>
      <p:sp>
        <p:nvSpPr>
          <p:cNvPr id="6" name="Five box" descr="">
            <a:extLst>
              <a:ext uri="{C183D7F6-B498-43B3-948B-1728B52AA6E4}">
                <adec:decorative xmlns:adec="http://schemas.microsoft.com/office/drawing/2017/decorative" val="1"/>
              </a:ext>
            </a:extLst>
          </p:cNvPr>
          <p:cNvSpPr/>
          <p:nvPr/>
        </p:nvSpPr>
        <p:spPr>
          <a:xfrm>
            <a:off x="6812280" y="1371600"/>
            <a:ext cx="4846320" cy="2432304"/>
          </a:xfrm>
          <a:prstGeom prst="roundRect">
            <a:avLst>
              <a:gd name="adj" fmla="val 300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FileShield" descr="">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172554" y="1649578"/>
            <a:ext cx="285293" cy="285293"/>
          </a:xfrm>
          <a:prstGeom prst="rect">
            <a:avLst/>
          </a:prstGeom>
        </p:spPr>
      </p:pic>
      <p:sp>
        <p:nvSpPr>
          <p:cNvPr id="9" name="Five head"/>
          <p:cNvSpPr txBox="1"/>
          <p:nvPr/>
        </p:nvSpPr>
        <p:spPr>
          <a:xfrm>
            <a:off x="7726680" y="1517904"/>
            <a:ext cx="379476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Five questions for the package</a:t>
            </a:r>
            <a:endParaRPr lang="en-US" sz="1650" dirty="0"/>
          </a:p>
        </p:txBody>
      </p:sp>
      <p:sp>
        <p:nvSpPr>
          <p:cNvPr id="10" name="Five list"/>
          <p:cNvSpPr txBox="1"/>
          <p:nvPr/>
        </p:nvSpPr>
        <p:spPr>
          <a:xfrm>
            <a:off x="7040880" y="2212848"/>
            <a:ext cx="44348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Owner: who answers for it, today?</a:t>
            </a:r>
            <a:endParaRPr lang="en-US" sz="1400" dirty="0"/>
          </a:p>
          <a:p>
            <a:pPr marL="342900" indent="-342900">
              <a:spcAft>
                <a:spcPts val="600"/>
              </a:spcAft>
              <a:buSzPct val="100000"/>
              <a:buChar char="•"/>
            </a:pPr>
            <a:r>
              <a:rPr lang="en-US" sz="1350" dirty="0">
                <a:solidFill>
                  <a:schemeClr val="tx2"/>
                </a:solidFill>
              </a:rPr>
              <a:t>Credentials: how it signs in; no secrets</a:t>
            </a:r>
            <a:endParaRPr lang="en-US" sz="1400" dirty="0"/>
          </a:p>
          <a:p>
            <a:pPr marL="342900" indent="-342900">
              <a:spcAft>
                <a:spcPts val="600"/>
              </a:spcAft>
              <a:buSzPct val="100000"/>
              <a:buChar char="•"/>
            </a:pPr>
            <a:r>
              <a:rPr lang="en-US" sz="1350" dirty="0">
                <a:solidFill>
                  <a:schemeClr val="tx2"/>
                </a:solidFill>
              </a:rPr>
              <a:t>Permissions: what it reaches; who approved</a:t>
            </a:r>
            <a:endParaRPr lang="en-US" sz="1400" dirty="0"/>
          </a:p>
          <a:p>
            <a:pPr marL="342900" indent="-342900">
              <a:spcAft>
                <a:spcPts val="600"/>
              </a:spcAft>
              <a:buSzPct val="100000"/>
              <a:buChar char="•"/>
            </a:pPr>
            <a:r>
              <a:rPr lang="en-US" sz="1350" dirty="0">
                <a:solidFill>
                  <a:schemeClr val="tx2"/>
                </a:solidFill>
              </a:rPr>
              <a:t>Monitoring: who watches; what they found</a:t>
            </a:r>
            <a:endParaRPr lang="en-US" sz="1400" dirty="0"/>
          </a:p>
          <a:p>
            <a:pPr marL="342900" indent="-342900">
              <a:spcAft>
                <a:spcPts val="600"/>
              </a:spcAft>
              <a:buSzPct val="100000"/>
              <a:buChar char="•"/>
            </a:pPr>
            <a:r>
              <a:rPr lang="en-US" sz="1350" dirty="0">
                <a:solidFill>
                  <a:schemeClr val="tx2"/>
                </a:solidFill>
              </a:rPr>
              <a:t>Lifecycle: when its access ends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Tailor IA-9 into the security plan of every system with an AI system acting under its own identity, naming the services it calls (program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System owner and ISSO; the AO approves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next authorization decision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fn. 29; M-25-22 §4(e)(i); NIST SP 800-37 Rev. 2; SP 800-53 Rev. 5 and SP 800-53B; FedRAMP 2026 control reference. Book 17,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Keep the evidence current: three AI clocks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554480"/>
                <a:gridCol w="2148840"/>
                <a:gridCol w="260604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Cadence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For the package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At least annually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AI use-case inventory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Vintage comparison; new and retired parts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Every two years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Compliance plan; next in 2027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States how the agency meets the memo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Yearly; 30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Waivers certified, reported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Each is an exception with an expiry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64748B"/>
                          </a:solidFill>
                          <a:latin typeface="Calibri" pitchFamily="34" charset="0"/>
                          <a:ea typeface="Calibri" pitchFamily="34" charset="-122"/>
                          <a:cs typeface="Calibri" pitchFamily="34" charset="-120"/>
                        </a:rPr>
                        <a:t>Annually (FISMA)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Security testing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Covers the AI controls, IA-9 included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Overlays box" descr="">
            <a:extLst>
              <a:ext uri="{C183D7F6-B498-43B3-948B-1728B52AA6E4}">
                <adec:decorative xmlns:adec="http://schemas.microsoft.com/office/drawing/2017/decorative" val="1"/>
              </a:ext>
            </a:extLst>
          </p:cNvPr>
          <p:cNvSpPr/>
          <p:nvPr/>
        </p:nvSpPr>
        <p:spPr>
          <a:xfrm>
            <a:off x="7086600" y="1371600"/>
            <a:ext cx="4572000" cy="2560320"/>
          </a:xfrm>
          <a:prstGeom prst="roundRect">
            <a:avLst>
              <a:gd name="adj" fmla="val 2857"/>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Overlay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AI control overlays: none yet</a:t>
            </a:r>
            <a:endParaRPr lang="en-US" sz="1650" dirty="0"/>
          </a:p>
        </p:txBody>
      </p:sp>
      <p:sp>
        <p:nvSpPr>
          <p:cNvPr id="10" name="Overlays list"/>
          <p:cNvSpPr txBox="1"/>
          <p:nvPr/>
        </p:nvSpPr>
        <p:spPr>
          <a:xfrm>
            <a:off x="7315200" y="2212848"/>
            <a:ext cx="4160520" cy="1630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NIST concept paper, Aug 2025; an outline, Jan 2026</a:t>
            </a:r>
            <a:endParaRPr lang="en-US" sz="1400" dirty="0"/>
          </a:p>
          <a:p>
            <a:pPr marL="342900" indent="-342900">
              <a:spcAft>
                <a:spcPts val="600"/>
              </a:spcAft>
              <a:buSzPct val="100000"/>
              <a:buChar char="•"/>
            </a:pPr>
            <a:r>
              <a:rPr lang="en-US" sz="1350" dirty="0">
                <a:solidFill>
                  <a:schemeClr val="tx2"/>
                </a:solidFill>
              </a:rPr>
              <a:t>No public draft as of October 21, 2026</a:t>
            </a:r>
            <a:endParaRPr lang="en-US" sz="1400" dirty="0"/>
          </a:p>
          <a:p>
            <a:pPr marL="342900" indent="-342900">
              <a:spcAft>
                <a:spcPts val="600"/>
              </a:spcAft>
              <a:buSzPct val="100000"/>
              <a:buChar char="•"/>
            </a:pPr>
            <a:r>
              <a:rPr lang="en-US" sz="1350" dirty="0">
                <a:solidFill>
                  <a:schemeClr val="tx2"/>
                </a:solidFill>
              </a:rPr>
              <a:t>Renamed COSIS on October 20, 2026</a:t>
            </a:r>
            <a:endParaRPr lang="en-US" sz="1400" dirty="0"/>
          </a:p>
          <a:p>
            <a:pPr marL="342900" indent="-342900">
              <a:spcAft>
                <a:spcPts val="600"/>
              </a:spcAft>
              <a:buSzPct val="100000"/>
              <a:buChar char="•"/>
            </a:pPr>
            <a:r>
              <a:rPr lang="en-US" sz="1350" dirty="0">
                <a:solidFill>
                  <a:schemeClr val="tx2"/>
                </a:solidFill>
              </a:rPr>
              <a:t>Tailor the baseline now; compare when final</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Record every waiver and pilot certification as a governed exception with an expiry date; any with no end date goes to the authorizing official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Chief AI Officer; the AO if open-ended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Annually, and within 30 days of a change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§3(b)(ii), §3(b)(v), §4(a); 44 U.S.C. § 3554(b)(5); OMB A-130 App. I; NIST COSIS project page; EO 14434. Book 17,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35040"/>
                <a:gridCol w="2926080"/>
                <a:gridCol w="21488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Treat an agentic AI system with no governed identity as P1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System owner and ISSO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As soon as it's found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Authorize AI in the existing process; no separate AI ATO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deployment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Put both high-impact signatures on one identity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Risk acceptor; the AO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deployment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Link every live inventory entry to an identity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Chief AI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Next inventory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Budget agent licenses; confirm each feature in your cloud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CIO, with the 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planning on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Name an agency employee as every AI system's 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System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Creation; publication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production secrets, no standing privilege, block unapproved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First production agent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Decide the future of shadow AI once it's contained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System owner, or the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When it's found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Create the identity record before any credential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any credential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Raise new tools, permissions and models as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System owner; the AO 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At each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Scan each vintage; close findings only on observation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Chief AI Officer; system owners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Each vintage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Tailor IA-9 in; make waivers expiring exceptions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System owner; CAIO; the AO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Next authorization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468112"/>
            <a:ext cx="11109960" cy="457200"/>
          </a:xfrm>
          <a:prstGeom prst="rect">
            <a:avLst/>
          </a:prstGeom>
          <a:noFill/>
          <a:ln/>
        </p:spPr>
        <p:txBody>
          <a:bodyPr wrap="square" lIns="0" tIns="0" rIns="0" bIns="0" rtlCol="0" anchor="ctr"/>
          <a:lstStyle/>
          <a:p>
            <a:pPr algn="ctr" indent="0" marL="0">
              <a:buNone/>
            </a:pPr>
            <a:r>
              <a:rPr lang="en-US" sz="1500" b="1" dirty="0">
                <a:solidFill>
                  <a:srgbClr val="B45309"/>
                </a:solidFill>
              </a:rPr>
              <a:t>None of these needs a new authorization.  </a:t>
            </a:r>
            <a:pPr algn="ctr" indent="0" marL="0">
              <a:buNone/>
            </a:pPr>
            <a:r>
              <a:rPr lang="en-US" sz="1500" dirty="0">
                <a:solidFill>
                  <a:schemeClr val="tx2"/>
                </a:solidFill>
              </a:rPr>
              <a:t>Every AI system gets an identity, an owner and an end date, inside the process you already run.</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M-25-22 §4(e)(i); NIST SP 800-37 Rev. 2; SP 800-53 Rev. 5; Microsoft Learn, Oct 2026. Book 17, Chapters 01–10.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AI rules, NIST and CISA</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OMB M-25-21, Accelerating Federal Use of AI through Innovation, Governance, and Public Trust (April 3, 2025), §2–§6 and footnotes 11, 21, 22 and 29.  ·  OMB M-25-22, Driving Efficient Acquisition of Artificial Intelligence in Government (April 3, 2025), §3–§4.  ·  OMB M-26-04 (December 11, 2025).  ·  OMB M-26-10 (March 31, 2026).  ·  OMB memoranda index, through M-26-19.</a:t>
            </a:r>
            <a:endParaRPr lang="en-US" sz="1400" dirty="0"/>
          </a:p>
          <a:p>
            <a:pPr marL="342900" indent="-342900">
              <a:spcAft>
                <a:spcPts val="800"/>
              </a:spcAft>
              <a:buSzPct val="100000"/>
              <a:buChar char="•"/>
            </a:pPr>
            <a:r>
              <a:rPr lang="en-US" sz="1300" dirty="0">
                <a:solidFill>
                  <a:schemeClr val="tx2"/>
                </a:solidFill>
              </a:rPr>
              <a:t>Executive Orders 14179 (January 23, 2025), 14319 (July 23, 2025), 14409 (June 2, 2026) and 14434 (September 29, 2026), Federal Register.  ·  OMB Circular A-130, Appendix I.  ·  44 U.S.C. § 3554 (FISMA).</a:t>
            </a:r>
            <a:endParaRPr lang="en-US" sz="1400" dirty="0"/>
          </a:p>
          <a:p>
            <a:pPr marL="342900" indent="-342900">
              <a:spcAft>
                <a:spcPts val="800"/>
              </a:spcAft>
              <a:buSzPct val="100000"/>
              <a:buChar char="•"/>
            </a:pPr>
            <a:r>
              <a:rPr lang="en-US" sz="1300" dirty="0">
                <a:solidFill>
                  <a:schemeClr val="tx2"/>
                </a:solidFill>
              </a:rPr>
              <a:t>OMB, Guidance on 2025 Agency Artificial Intelligence Reporting; 2025 Federal Agency AI Use Case Inventory: README (as of April 13, 2026), data dictionary, individually reported and consolidated COTS CSV files; 2024 inventory README.</a:t>
            </a:r>
            <a:endParaRPr lang="en-US" sz="1400" dirty="0"/>
          </a:p>
          <a:p>
            <a:pPr marL="342900" indent="-342900">
              <a:spcAft>
                <a:spcPts val="800"/>
              </a:spcAft>
              <a:buSzPct val="100000"/>
              <a:buChar char="•"/>
            </a:pPr>
            <a:r>
              <a:rPr lang="en-US" sz="1300" dirty="0">
                <a:solidFill>
                  <a:schemeClr val="tx2"/>
                </a:solidFill>
              </a:rPr>
              <a:t>NIST AI 100-1, AI RMF 1.0 (January 2023).  ·  NIST AI 600-1, Generative AI Profile (July 26, 2024).  ·  SP 800-53 Rev. 5, release 5.2.0, and SP 800-53B.  ·  SP 800-37 Rev. 2, Appendix D and Tasks P-18 and M-7.  ·  NIST COSIS (formerly COSAiS) project page.  ·  OSCAL 1.2.3 (August 7, 2026).</a:t>
            </a:r>
            <a:endParaRPr lang="en-US" sz="1400" dirty="0"/>
          </a:p>
          <a:p>
            <a:pPr marL="342900" indent="-342900">
              <a:spcAft>
                <a:spcPts val="800"/>
              </a:spcAft>
              <a:buSzPct val="100000"/>
              <a:buChar char="•"/>
            </a:pPr>
            <a:r>
              <a:rPr lang="en-US" sz="1300" dirty="0">
                <a:solidFill>
                  <a:schemeClr val="tx2"/>
                </a:solidFill>
              </a:rPr>
              <a:t>CISA, Careful Adoption of Agentic AI Services (May 1, 2026); Deploying AI Systems Securely (April 15, 2024); BOD 25-01 required configurations; BOD 23-01; CDM program, fact sheet and dashboards.  ·  FedRAMP, AI Prioritization Initiative; Consolidated Rules for 2026, control reference.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identity platforms, as of October 2026</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Microsoft Learn, Microsoft Entra Agent ID: overview; what are agent identities; agent identities; the agent's user account; owners, sponsors and managers; authorization; best practices; create a blueprint; inheritable permissions; agent identity deletion; logs; FAQ; what's new (April 2026 general availability).</a:t>
            </a:r>
            <a:endParaRPr lang="en-US" sz="1400" dirty="0"/>
          </a:p>
          <a:p>
            <a:pPr marL="342900" indent="-342900">
              <a:spcAft>
                <a:spcPts val="800"/>
              </a:spcAft>
              <a:buSzPct val="100000"/>
              <a:buChar char="•"/>
            </a:pPr>
            <a:r>
              <a:rPr lang="en-US" sz="1300" dirty="0">
                <a:solidFill>
                  <a:schemeClr val="tx2"/>
                </a:solidFill>
              </a:rPr>
              <a:t>Microsoft Learn, Conditional Access: for agents; target agent identities; Grant; secure autonomous agents; for workload identities.  ·  ID Protection for agents; securing workload identities.  ·  Entra ID Governance: governing agent identities; access packages for agents; Lifecycle Workflows sponsor tasks and templates; licensing fundamentals.</a:t>
            </a:r>
            <a:endParaRPr lang="en-US" sz="1400" dirty="0"/>
          </a:p>
          <a:p>
            <a:pPr marL="342900" indent="-342900">
              <a:spcAft>
                <a:spcPts val="800"/>
              </a:spcAft>
              <a:buSzPct val="100000"/>
              <a:buChar char="•"/>
            </a:pPr>
            <a:r>
              <a:rPr lang="en-US" sz="1300" dirty="0">
                <a:solidFill>
                  <a:schemeClr val="tx2"/>
                </a:solidFill>
              </a:rPr>
              <a:t>Microsoft Learn, Microsoft Agent 365 service description (feature availability, GCC column, FedRAMP High note as of October 1, 2026); Agent 365 identity; US Government cloud endpoints; MCP server approval.  ·  Microsoft Entra feature availability for Azure Government.</a:t>
            </a:r>
            <a:endParaRPr lang="en-US" sz="1400" dirty="0"/>
          </a:p>
          <a:p>
            <a:pPr marL="342900" indent="-342900">
              <a:spcAft>
                <a:spcPts val="800"/>
              </a:spcAft>
              <a:buSzPct val="100000"/>
              <a:buChar char="•"/>
            </a:pPr>
            <a:r>
              <a:rPr lang="en-US" sz="1300" dirty="0">
                <a:solidFill>
                  <a:schemeClr val="tx2"/>
                </a:solidFill>
              </a:rPr>
              <a:t>Microsoft Learn, Defender for Cloud Apps generative AI discovery; Global Secure Access shadow AI and AI agent discovery; Defender for Endpoint local AI agent discovery; Defender for Cloud AI security posture.  ·  AWS Bedrock AgentCore Identity and GovCloud; Google Cloud agent identity (named as examples only).</a:t>
            </a:r>
            <a:endParaRPr lang="en-US" sz="1400" dirty="0"/>
          </a:p>
          <a:p>
            <a:pPr marL="342900" indent="-342900">
              <a:spcAft>
                <a:spcPts val="800"/>
              </a:spcAft>
              <a:buSzPct val="100000"/>
              <a:buChar char="•"/>
            </a:pPr>
            <a:r>
              <a:rPr lang="en-US" sz="1300" dirty="0">
                <a:solidFill>
                  <a:schemeClr val="tx2"/>
                </a:solidFill>
              </a:rPr>
              <a:t>Full footnotes with links and access dates (October 21–22, 2026): Book 17, every chapter and Appendix A (whalermike.github.io/modernization-workbook/docs/books/b17-ai-identity/).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17 — AI Identity Governance</dc:title>
  <dc:subject>PptxGenJS Presentation</dc:subject>
  <dc:creator>Michael F. Stratton</dc:creator>
  <cp:lastModifiedBy>Michael F. Stratton</cp:lastModifiedBy>
  <cp:revision>1</cp:revision>
  <dcterms:created xsi:type="dcterms:W3CDTF">2026-10-25T08:12:04Z</dcterms:created>
  <dcterms:modified xsi:type="dcterms:W3CDTF">2026-10-25T08:12:04Z</dcterms:modified>
</cp:coreProperties>
</file>