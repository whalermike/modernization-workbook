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rientation" id="{9285c5a9-7ae0-7608-63a3-db44cb60e6aa}">
          <p14:sldIdLst>
            <p14:sldId id="256"/>
            <p14:sldId id="257"/>
          </p14:sldIdLst>
        </p14:section>
        <p14:section name="The products" id="{0c21d43c-6eb8-6b6a-f8e9-5e28a5984668}">
          <p14:sldIdLst>
            <p14:sldId id="258"/>
            <p14:sldId id="259"/>
            <p14:sldId id="260"/>
          </p14:sldIdLst>
        </p14:section>
        <p14:section name="The loop and the lanes" id="{34dea811-d2e2-65e1-5cae-2b4447f36cc8}">
          <p14:sldIdLst>
            <p14:sldId id="261"/>
            <p14:sldId id="262"/>
          </p14:sldIdLst>
        </p14:section>
        <p14:section name="Gaps" id="{7b1023e9-c27c-ca6b-06de-5c0926090b55}">
          <p14:sldIdLst>
            <p14:sldId id="263"/>
            <p14:sldId id="264"/>
          </p14:sldIdLst>
        </p14:section>
        <p14:section name="Identity fixes and federal availability" id="{24bb329c-6c8e-fafd-761c-233ff77fef0a}">
          <p14:sldIdLst>
            <p14:sldId id="265"/>
            <p14:sldId id="266"/>
            <p14:sldId id="267"/>
          </p14:sldIdLst>
        </p14:section>
        <p14:section name="Close" id="{996b9041-1bb0-9a54-3076-d306e2d3aed3}">
          <p14:sldIdLst>
            <p14:sldId id="268"/>
          </p14:sldIdLst>
        </p14:section>
        <p14:section name="Backup" id="{6c5ff7fb-e235-793c-6fd4-9a6bd150902a}">
          <p14:sldIdLst>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[0:00–0:44]  Welcome. This is Ticket-to-Machine on ServiceNow and SailPoint, a research example from the Federal Modernization Workbook. It's the vendor-named companion to Book 13's Appendix B, the Ticket-to-Machine Reference, which is vendor-neutral on purpose. Here we take the same loop, the same lanes and the same identity fixes, and work them through two named products: ServiceNow as the front door and the record, and SailPoint Identity Security Cloud for identity governance. It's an example, not an endorsement, and it's still under review. In about ten minutes we'll see where the products fit the loop, and four places where they don't. First, why name products at all?
Detail: A narrated walk through the research example "Ticket-to-Machine on ServiceNow and SailPoint: An Example," the vendor-named companion to the vendor-neutral Book 13, Appendix B — Ticket-to-Machine Reference. Appendix B is vendor-neutral on purpose: the loop runs on "whatever ITSM platform the agency already has." This companion picks two products to show what the loop looks like in practice: ServiceNow as the front door and the record, and SailPoint Identity Security Cloud (ISC) as identity governance. Other products can fill the same slots. The loop in Book 13 has five steps: test, detect drift, raise a typed task, actuate on the native surface, and close with evidence from a re-read. The draft "Keeping Identity Correct After HR Becomes the Source" applies it to identity, with a catalog of the fixes that still happen. The page walks both through the two named products, and finds four places where the products, used as shipped, fall short of the loop. Product facts are the vendors' own statements, checked on October 24, 2026; mappings marked (inference) or (design guidance) are the program's. Status: in review. The page names products to illustrate the vendor-neutral design; it isn't an endorsement by any agency.
Workbook: Research, Ticket-to-Machine on ServiceNow and SailPoint: An Example (opening; Status and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[0:44–1:31]  Appendix B is written so the loop runs on whatever service management platform an agency already has. That's the right default, but it can feel abstract. Naming two products shows what the loop looks like in practice, down to which feature does which step. So treat this as an illustration, not an endorsement. ServiceNow fills the front-door slot and SailPoint fills the identity-governance slot, but other products can fill the same slots. Every product fact here is the vendor's own statement, checked on October 24, 2026. Anything marked inference or design guidance is the program's reasoning, not the vendor's. With that framing, let's meet the products and their federal status.
Detail: An example, not a recommendation. Book 13, Appendix B is vendor-neutral on purpose: the loop runs on "whatever ITSM platform the agency already has." This companion picks two products to show what the loop looks like in practice: ServiceNow as the front door and the record, and SailPoint Identity Security Cloud as identity governance. Other products can fill the same slots. The five steps of Book 13's loop: test, detect drift, raise a typed task, actuate on the native surface, and close with evidence from a re-read. The identity-maintenance draft applies the loop to identity, with a catalog of the fixes that still happen; this page walks both through the two products and finds four gaps. Labels: product facts are the vendors' own statements, checked on October 24, 2026. Mappings marked (inference) or (design guidance) are the program's, not the vendors'. The page names products to illustrate the vendor-neutral design; it isn't an endorsement by any agency.
Workbook: Research, Ticket-to-Machine on ServiceNow and SailPoint: An Example (An example, not a recommendation; opening).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[1:31–2:21]  Here are the two products, and what the FedRAMP Marketplace shows for each. ServiceNow's Government Community Cloud is authorized at High. SailPoint Identity Security Cloud is authorized at Moderate. Why Identity Security Cloud rather than IdentityIQ, SailPoint's self-hosted product? Because it has a public listing anyone can check, it reaches both Entra ID and Active Directory, and SailPoint documents its ServiceNow integrations. IdentityIQ still fits an agency that has to run governance inside its own boundary, needs a High system, or wants change-request tickets from the governance tool. One caution: SailPoint now markets the product as Human Fabric, while the Marketplace uses the older name. So confirm that what you buy is what was authorized. Now, the picture.
Detail: The products in this example, with their federal status from FedRAMP Marketplace data on October 24, 2026. Front door, task record and change approval: ServiceNow, Government Community Cloud, FedRAMP Certified at High (Class D), JAB, since August 12, 2019 (F1305072116). Identity governance (HR aggregation, lifecycle, requests, certifications, provisioning): SailPoint Identity Security Cloud, FedRAMP Certified at Moderate (Class C), agency authorization, since June 5, 2024 (FR2001938710A). The alternative, SailPoint IdentityIQ, self-hosted, has no listing of its own; it appears as a component inside another provider's High authorization (UberEther IAM Advantage, FR2208555094, whose component list includes IdentityIQ). Why ISC for the example: it has a public FedRAMP listing a reader can check, it reaches both Entra ID and Active Directory, and SailPoint documents its ServiceNow integrations. IdentityIQ fits an agency that must run identity governance inside its own boundary, needs a High system, or needs ServiceNow change-request tickets from the governance tool, which only IdentityIQ's integration offers. Caution: SailPoint now markets ISC as "Human Fabric" while the Marketplace still uses the older name, so confirm that the product purchased is the one authorized.
Workbook: Research, Ticket-to-Machine on ServiceNow and SailPoint: An Example (The products in this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[2:21–3:07]  This is the whole design on one page. Core HCM is the source of authority, and it's where HR corrects facts. SailPoint aggregates from it, runs lifecycle states, requests and certifications, and provisions Entra ID and Active Directory through its connectors. ServiceNow is the front door and the one closure record, and it can reach Entra directly through its Entra spoke for simple, low-authority tasks. Now notice what closes the record: a re-read, meaning the next aggregation or a native-change event, not a ticket status. And the dashed red line is the declared exception, for applications SailPoint can't reach. So how do the two products pass work back and forth?
Detail: The loop on ServiceNow and SailPoint. Core HCM is the source of authority, where HR corrects facts, and it feeds SailPoint Identity Security Cloud by aggregation. SailPoint is identity governance: it aggregates HR and runs lifecycle states, access requests and certifications, and native change detection; it provisions Entra ID and AD through connectors. SailPoint and ServiceNow exchange tickets and requests. ServiceNow is the front door and the record: the catalog, cases and change records, approvals per authority class, and one closure record; it reaches Entra through its Entra spoke for A0 and A1 tasks. Entra and AD lead to a re-read on the next aggregation or a native-change event, not the ticket status, and that evidence closes the ServiceNow record. A dashed red line from SailPoint leads to a declared exception: a disconnected application handled by a Service Desk ticket, a recorded session and an end date.
Workbook: Research, Ticket-to-Machine on ServiceNow and SailPoint: An Example (figure).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[3:07–3:53]  SailPoint publishes its ServiceNow integrations as its own ServiceNow apps, each licensed separately. ServiceNow's documentation shows no SailPoint integration of its own. There are three apps. The Service Desk integration turns provisioning that SailPoint can't do directly into ServiceNow requests or incidents, for disconnected applications. The Service Catalog app lets people request SailPoint access inside ServiceNow, with approval defined in ServiceNow. And the Identity Governance app lets certifiers review inside ServiceNow. The fourth path skips SailPoint entirely: ServiceNow's Entra ID spoke, working through Microsoft Graph, for simple, low-authority tasks. Two of these handoffs turn out to be gaps, and we'll come back to them. First, the loop itself.
Detail: SailPoint publishes the ServiceNow integrations as its own ServiceNow apps, each licensed separately; ServiceNow's documentation shows no SailPoint integration of its own. SailPoint to ServiceNow, the Service Desk integration: it turns provisioning actions SailPoint can't perform directly into ServiceNow Service Requests or Incidents, for "disconnected applications," and checks the ticket's status "at regular intervals." In the loop that's the residual manual step and the declared exception, and it's Gap 1. ServiceNow to SailPoint, the Service Catalog app: people request SailPoint roles, access profiles and entitlements in ServiceNow; SailPoint checks separation of duties; approval is "defined in ServiceNow"; SailPoint provisions and writes the status back. One front door for people, and Gap 2. Both directions, the Identity Governance app: syncs user data and lets certifiers review inside ServiceNow, and governs ServiceNow's own roles, so reviewers work in one tool. ServiceNow to Entra ID, the Entra ID spoke (Integration Hub): create, update, enable, disable and delete users, revoke sign-in sessions and more, through Microsoft Graph; simple, low-authority tasks routed to ServiceNow, as Book 15 describes.
Workbook: Research, Ticket-to-Machine on ServiceNow and SailPoint: An Example (How the two products hand work to each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[3:53–4:40]  Walk the five steps, and most of the loop is documented by the vendors. SailPoint tests on its scheduled refreshes and aggregations. It detects drift in two useful ways: when attributes from the authoritative source change, and when someone changes an account outside SailPoint. Calling those Book 13's drift classes is our inference. Actuation runs through SailPoint's connectors, or through the ServiceNow Entra spoke. The weak spots are steps three and five. Turning a drift event into a typed ServiceNow task is something you build with a SailPoint workflow; it isn't shipped. And closing with evidence is only partial, which is the first gap. Before the gaps, though, let's place the lanes.
Detail: The loop, step by step. 1, Test: SailPoint refresh and aggregation; lifecycle states are evaluated on scheduled refreshes, and missing access is provisioned. Documented. 2, Detect drift: SailPoint raises "Identity Attributes Changed" when authoritative-source attributes differ, native-change events when an account is updated outside SailPoint, and certification findings. Documented; treating these as Book 13's drift classes is (inference). 3, Raise a typed task: ServiceNow, through Service Desk tickets from SailPoint, Service Catalog requests, and drift events raised by a SailPoint workflow calling ServiceNow. Tickets and catalog are documented; drift-to-task is a build (design guidance). 4, Actuate: SailPoint connectors and the ServiceNow Entra spoke. The Entra SaaS connector covers accounts, groups, licenses, roles, administrative units, access packages and PIM; the AD connector runs through SailPoint's on-premises appliance; plus the spoke's actions. Documented as vendor capability. 5, Close with evidence: SailPoint events and search, and the ServiceNow record. SailPoint records Service Desk activity as events in Search, and search covers identities, entitlements, events and account activity. Partial: this is Gap 1.
Workbook: Research, Ticket-to-Machine on ServiceNow and SailPoint: An Example (The loop, step by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[4:40–5:27]  Book 13 sorts every change into lanes, and each lane lands somewhere on these products. Most of this mapping is our inference, so read it as a proposal. The autonomous lane maps to SailPoint lifecycle states and birthright access, and to ServiceNow's pre-authorized standard changes. The gated lane is a SailPoint access request with an approver, or a ServiceNow normal change. Human decisions are certifications and the change board, and one highpoint there is documented: unsigned revoke decisions aren't applied. Certificates sit with neither product; they stay with the certificate platform. And a disconnected application becomes a declared exception, with a ticket, a recorded session and an end date. Now the gaps.
Detail: The lanes on these products. Machine, autonomous: SailPoint lifecycle states and birthright access, and ServiceNow standard change, which covers pre-authorized, low-risk standard changes; the mapping is (inference). Machine, gated: a SailPoint access request with approval, where approvers are set by owner, manager or governance group, and a ServiceNow normal change with approvals; (inference) mapping. Human decision: SailPoint certification decisions and ServiceNow approval or the CAB; documented that unsigned revoke decisions aren't applied. Protocol-enforced: neither product; certificates stay with the CLM platform, as Book 07 describes. Declared exception: a Service Desk ticket for a disconnected application, a recorded session and an end date (design guidance). Emergency change: a ServiceNow emergency change, and a SailPoint workflow or lifecycle-state change. Emergency changes go straight to the CAB, and unplanned changes to a configuration item create an unauthorized change request; partly documented.
Workbook: Research, Ticket-to-Machine on ServiceNow and SailPoint: An Example (The loop, step by step: lane rows).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[5:27–6:17]  Here are the first two places where the products, used as shipped, fall short of the loop. Gap one is the big one. SailPoint's own best practices say the mapped ServiceNow status decides when a provisioning task counts as complete. That's exactly what Book 13 calls closure by assertion. Our guidance: close the ServiceNow record only on evidence, the next aggregation or a native-change event showing the intended state. Gap two is about who approves. Book 15 says access an owner governs is decided in the identity governance platform, but the catalog app moves approval into ServiceNow. The fix is to choose one approver system per authority class and write it down. Two more gaps to go.
Detail: Four gaps between the products and the loop; the first two here. Gap 1, a ticket status isn't a re-read. SailPoint's Service Desk best practices say the mapped ServiceNow status decides when the provisioning task is "treated as complete." That's the failure Book 13 calls closure by assertion. (Design guidance:) the ServiceNow record closes only on evidence: the next SailPoint aggregation, or a native-change event, showing the account in the intended state. Gap 2, the catalog app moves access approval into ServiceNow. In Book 15, Chapter 03, access governed by an owner (classes A2 and A3) is decided in the identity governance platform. With the Service Catalog app, approval is defined in ServiceNow. (Design guidance:) choose one approver system per authority class and write it down: for example, ServiceNow approves A0 and A1, and SailPoint approves A2 and A3, with the catalog app only collecting the request.
Workbook: Research, Ticket-to-Machine on ServiceNow and SailPoint: An Example (Four gaps between the products and the loop, 1 and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[6:17–7:03]  Gap three is narrower. Identity Security Cloud's Service Desk integration creates service requests and incidents only; it can't create change requests. IdentityIQ's can. So where a change class needs a change record, a ServiceNow flow raises it from the request. Gap four is about who writes to the directory. SailPoint reads Oracle HCM Cloud directly and writes back only user name and work email, which fits Book 03. But Book 03 makes Entra inbound provisioning the one writer into the directory. So pick one writer per attribute. Either inbound provisioning stays the door and SailPoint governs entitlements, or SailPoint takes on the provisioning duties. Not both. Now, the identity fixes.
Detail: Gap 3, no change-request tickets from ISC. ISC's Service Desk integration creates Service Requests and Incidents only; IdentityIQ's can create change requests. Where a change class needs a change record, a ServiceNow flow raises it from the request (design guidance). Gap 4, one door into the directory becomes a choice. SailPoint reads Oracle HCM Cloud directly, with no on-premises appliance, and writes back only the user name and work email, which matches what Book 03 (The provisioning pipeline) allows. But Book 03's design makes Entra inbound provisioning the one writer into the directory. (Design guidance:) pick one writer per attribute. Either Entra inbound provisioning stays the door and SailPoint governs entitlements, or SailPoint becomes the provisioning service and takes on Book 03's middleware duties. Not both.
Workbook: Research, Ticket-to-Machine on ServiceNow and SailPoint: An Example (Four gaps between the products and the loop, 3 and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[7:03–7:54]  The identity-maintenance draft lists the fixes that still happen once HR is the source. Here's how the first five land on these products, mostly as our inference. A wrong fact in HR goes to HR as a ServiceNow case; HR corrects it in Core HCM, and SailPoint picks it up on the next aggregation. A late personnel action, or an urgent leaver HR hasn't entered, runs the leaver sequence through a ServiceNow emergency change. A record the pipeline couldn't apply is re-run through SailPoint, never by hand. And the standout is a write made outside the pipeline. SailPoint's native change detection catches it, and SailPoint restores the value. That's the closest one-to-one fit in the catalog. Here are the rest.
Detail: The identity fixes, on these products, from the identity-maintenance draft's fix catalog. Everything here is (inference) or (design guidance) unless a vendor source is cited. A wrong fact in HR: detected by SailPoint's "Identity Attributes Changed" trigger, or a caller uses a ServiceNow "my information is wrong" item; routed as a ServiceNow case to HR; HR corrects it in Core HCM and SailPoint re-aggregates. SailPoint can't write HR-mastered attributes back: only user name and work email are writable (Oracle HCM Cloud connector). A late or retroactive personnel action: detected as a lifecycle-state change on aggregation; a ServiceNow emergency change if after the fact; the leaver state disables accounts and the Entra connector revokes sessions on disable. An urgent leaver HR hasn't entered: a manager or security calls; a ServiceNow emergency change; a SailPoint workflow or a manual lifecycle-state change runs the same leaver sequence. A record the pipeline couldn't apply: a failed provisioning action or a Service Desk "Failed" status; a ServiceNow task to the identity data steward; re-run through SailPoint, never by hand. A write outside the pipeline: SailPoint native change detection, an account updated outside SailPoint; a ServiceNow task in the provenance class; SailPoint restores the value and the writer's access is reviewed. The closest one-to-one fit in the catalog.
Workbook: Research, Ticket-to-Machine on ServiceNow and SailPoint: An Example (The identity fixes, on these products, rows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[7:54–8:40]  The remaining fixes lean more on people. An account that matches nobody goes to its owner, who correlates it to a person or disables it. The same person twice is a correlation-rule change, and SailPoint notes that it supports some mover cases only partially. Contractors come from a separate source, corrected by the sponsor. SailPoint says its Non-Employee Risk Management product is inside the FedRAMP authorization, but confirm that from the authorization package, not the press release. A rule that derives the wrong access surfaces in a certification and goes to the governance body. And a credential that outlives the person sits outside both products entirely. Next, federal availability.
Detail: The rest of the fix catalog on these products, (inference) or (design guidance) unless a vendor source is cited. An account that matches nobody: uncorrelated accounts on aggregation; the account owner decides; correlate it to a person, or disable it. The same person twice, or a broken link: SailPoint correlation, with rehire and conversion handling; routed to the data architect; a correlation-rule change. SailPoint notes partial support for some mover cases in the change feed. A fact HR doesn't own (contractors): a separate contractor source in SailPoint; the sponsor; correct it in the contractor source. SailPoint says its Non-Employee Risk Management (NERM) product is inside the ISC FedRAMP authorization (press release, March 4, 2025); confirm that from the authorization package, not the press release. A rule that derives the wrong access: a certification campaign; the governance body, through a ServiceNow normal change; change the role or lifecycle rule. Residual access after a move: the attribute-change trigger, then a certification; access granted by the previous lifecycle state is revoked automatically; the entitlement owner; revocation through the connector, else a Service Desk ticket. A credential that outlives the person: outside both products, PIV and certificates; the credentialing office; the card system and the CLM platform (Book 07).
Workbook: Research, Ticket-to-Machine on ServiceNow and SailPoint: An Example (The identity fixes, on these products, rows 6–11).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[8:40–9:30]  Federal availability is where you need the most care. For a Microsoft 365 GCC tenant, the worldwide Graph endpoints apply, and SailPoint documents endpoint overrides for GCC High. ServiceNow's Entra spoke fits GCC through its default endpoint, but its page doesn't cover GCC High, and it needs an Integration Hub subscription. SailPoint's ServiceNow apps aren't confirmed in ServiceNow's government Store. Then three cautions. SailPoint's cloud connectors call Graph from SailPoint's cloud, and only Active Directory runs through its on-premises appliance, so record which actions run from the vendor's cloud. A vendor's MFA feature isn't a help desk reset with identity proofing. And confirm what's in the FedRAMP environment before relying on any of it. So, what's next?
Detail: Federal availability. SailPoint ISC: in GCC (Microsoft 365 Moderate) the worldwide Microsoft Graph endpoints apply; for GCC High, endpoint overrides are documented for the Entra source; FedRAMP Moderate. The ServiceNow Entra ID spoke: the default Graph endpoint fits GCC; GCC High isn't documented on the spoke page; it needs an Integration Hub subscription. SailPoint's ServiceNow apps: not confirmed in ServiceNow's government Store for either; ServiceNow's government cloud has an isolated Store instance. Cautions. Where the connector runs matters: SailPoint's cloud connectors call Microsoft Graph from SailPoint's cloud; only the Active Directory path runs through SailPoint's on-premises appliance. Book 15's rule is to execute through a connector inside the boundary, so record which actions run from the vendor's cloud (inference). Vendor claims aren't help desk policy: the Entra connector lists "MFA attribute management"; that isn't the same as an authentication-method reset with identity proofing, which stays with the help desk procedure in Book 15. Confirm what's in the FedRAMP environment: no SailPoint page was found that lists which features are or aren't available in the FedRAMP environment; ask before relying on any of the above.
Workbook: Research, Ticket-to-Machine on ServiceNow and SailPoint: An Example (Federal availability and cautions).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[9:30–10:20]  To move this example from under review to proved, build the loop in a lab with a test tenant, and record the evidence. Start by confirming what the vendors haven't said publicly, like feature parity in the FedRAMP environment and the apps in the government Store. The decisions are the four gaps restated: what closes a record, one approver system per authority class, how change records get raised, and one writer per attribute. And remember, this is an example, not an endorsement; other products can fill the same slots. For the design itself, read Book 13's vendor-neutral Appendix B, or watch its narrated deck, and then the draft on keeping identity correct after HR becomes the source. Thanks for listening.
Detail: Status: in review. To move this example to Proved, build the loop in a lab with a test tenant and record the evidence on the page. What couldn't be verified, and so should be checked: the ServiceNow Store listings for the SailPoint apps, their availability in the government Store, the Service Catalog app's internals, ISC feature parity in the FedRAMP environment, the Service Desk status-check interval, event retention in SailPoint, end-dated access requests, and the Entra spoke in GCC High. Decisions, restating the four gaps as design guidance: the ServiceNow record closes only on evidence from a re-read; one approver system per authority class, written down; a ServiceNow flow raises change records where a change class needs one; one writer per attribute into the directory, not both. Read next: Book 13, Appendix B — Ticket-to-Machine Reference and its narrated deck; Book 15 — Compliance Automation &amp; Day-2 Operations; and the draft Keeping Identity Correct After HR Becomes the Source. The page names products to illustrate the vendor-neutral design; it isn't an endorsement by any agency. Comments and corrections are welcome as issues on GitHub.
Workbook: Research, Ticket-to-Machine on ServiceNow and SailPoint: An Example (Status and review; Related).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rtlCol="0"/>
          <a:lstStyle>
            <a:lvl1pPr algn="l" indent="0" marL="0">
              <a:buNone/>
              <a:defRPr lang="en-US" sz="44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rtlCol="0"/>
          <a:lstStyle>
            <a:lvl1pPr indent="0" marL="0">
              <a:buNone/>
              <a:defRPr lang="en-US" sz="2200" dirty="0">
                <a:solidFill>
                  <a:schemeClr val="accent2"/>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rtlCol="0"/>
          <a:lstStyle>
            <a:lvl1pPr algn="ctr" indent="0" marL="0">
              <a:buNone/>
              <a:defRPr lang="en-US" sz="3000" b="1" dirty="0">
                <a:solidFill>
                  <a:schemeClr val="tx1"/>
                </a:solidFill>
                <a:latin typeface="Cambria" pitchFamily="34" charset="0"/>
                <a:ea typeface="Cambria" pitchFamily="34" charset="-122"/>
                <a:cs typeface="Cambria" pitchFamily="34" charset="-120"/>
              </a:defRPr>
            </a:lvl1pPr>
          </a:lstStyle>
          <a:p>
            <a:pPr algn="ctr" indent="0" marL="0">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Ticket-to-Machine on ServiceNow and SailPoint  ·  An example  ·  Research — under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1463040"/>
            <a:ext cx="6217920" cy="1920240"/>
          </a:xfrm>
          <a:prstGeom prst="rect">
            <a:avLst/>
          </a:prstGeom>
          <a:noFill/>
          <a:ln/>
        </p:spPr>
        <p:txBody>
          <a:bodyPr wrap="square" lIns="0" tIns="0" rIns="0" bIns="0" rtlCol="0" anchor="b"/>
          <a:lstStyle/>
          <a:p>
            <a:pPr algn="l" indent="0" marL="0">
              <a:buNone/>
            </a:pPr>
            <a:r>
              <a:rPr lang="en-US" sz="4400" b="1" dirty="0">
                <a:solidFill>
                  <a:schemeClr val="tx1"/>
                </a:solidFill>
                <a:latin typeface="Cambria" pitchFamily="34" charset="0"/>
                <a:ea typeface="Cambria" pitchFamily="34" charset="-122"/>
                <a:cs typeface="Cambria" pitchFamily="34" charset="-120"/>
              </a:rPr>
              <a:t>Ticket-to-Machine on ServiceNow and SailPoint</a:t>
            </a:r>
            <a:endParaRPr lang="en-US" sz="4400" dirty="0"/>
          </a:p>
        </p:txBody>
      </p:sp>
      <p:sp>
        <p:nvSpPr>
          <p:cNvPr id="3" name="Text 0"/>
          <p:cNvSpPr/>
          <p:nvPr>
            <p:ph idx="101" type="body" hasCustomPrompt="1"/>
          </p:nvPr>
        </p:nvSpPr>
        <p:spPr>
          <a:xfrm>
            <a:off x="731520" y="3520440"/>
            <a:ext cx="6035040" cy="822960"/>
          </a:xfrm>
          <a:prstGeom prst="rect">
            <a:avLst/>
          </a:prstGeom>
          <a:noFill/>
          <a:ln/>
        </p:spPr>
        <p:txBody>
          <a:bodyPr wrap="square" lIns="0" tIns="0" rIns="0" bIns="0" rtlCol="0" anchor="t"/>
          <a:lstStyle/>
          <a:p>
            <a:pPr indent="0" marL="0">
              <a:buNone/>
            </a:pPr>
            <a:r>
              <a:rPr lang="en-US" sz="2200" dirty="0">
                <a:solidFill>
                  <a:schemeClr val="accent2"/>
                </a:solidFill>
              </a:rPr>
              <a:t>An example  ·  Research — under review</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indent="0" marL="0">
              <a:buNone/>
            </a:pPr>
            <a:r>
              <a:rPr lang="en-US" sz="1600" dirty="0">
                <a:solidFill>
                  <a:srgbClr val="64748B"/>
                </a:solidFill>
              </a:rPr>
              <a:t>Presented by  </a:t>
            </a:r>
            <a:pPr indent="0" marL="0">
              <a:buNone/>
            </a:pP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indent="0" marL="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Session map"/>
          <p:cNvSpPr txBox="1"/>
          <p:nvPr/>
        </p:nvSpPr>
        <p:spPr>
          <a:xfrm>
            <a:off x="731520" y="4343400"/>
            <a:ext cx="7863840" cy="1097280"/>
          </a:xfrm>
          <a:prstGeom prst="rect">
            <a:avLst/>
          </a:prstGeom>
          <a:noFill/>
          <a:ln/>
        </p:spPr>
        <p:txBody>
          <a:bodyPr wrap="square" lIns="0" tIns="0" rIns="0" bIns="0" rtlCol="0" anchor="t"/>
          <a:lstStyle/>
          <a:p>
            <a:pPr indent="0" marL="0">
              <a:spcAft>
                <a:spcPts val="200"/>
              </a:spcAft>
              <a:buNone/>
            </a:pPr>
            <a:r>
              <a:rPr lang="en-US" sz="1200" b="1" dirty="0">
                <a:solidFill>
                  <a:srgbClr val="64748B"/>
                </a:solidFill>
              </a:rPr>
              <a:t>THE VENDOR-NAMED COMPANION TO BOOK 13, APPENDIX B  ·  ABOUT 10 MINUTES</a:t>
            </a:r>
            <a:endParaRPr lang="en-US" sz="1500" dirty="0"/>
          </a:p>
          <a:p>
            <a:pPr indent="0" marL="0">
              <a:spcAft>
                <a:spcPts val="200"/>
              </a:spcAft>
              <a:buNone/>
            </a:pPr>
            <a:r>
              <a:rPr lang="en-US" sz="1500" dirty="0">
                <a:solidFill>
                  <a:srgbClr val="334155"/>
                </a:solidFill>
              </a:rPr>
              <a:t>The products and their FedRAMP status  ·  How they hand work to each other</a:t>
            </a:r>
            <a:endParaRPr lang="en-US" sz="1500" dirty="0"/>
          </a:p>
          <a:p>
            <a:pPr indent="0" marL="0">
              <a:spcAft>
                <a:spcPts val="200"/>
              </a:spcAft>
              <a:buNone/>
            </a:pPr>
            <a:r>
              <a:rPr lang="en-US" sz="1500" dirty="0">
                <a:solidFill>
                  <a:srgbClr val="334155"/>
                </a:solidFill>
              </a:rPr>
              <a:t>The loop and the lanes  ·  Four gaps  ·  Identity fixes  ·  Federal cautions</a:t>
            </a:r>
            <a:endParaRPr lang="en-US" sz="1500" dirty="0"/>
          </a:p>
        </p:txBody>
      </p:sp>
      <p:sp>
        <p:nvSpPr>
          <p:cNvPr id="7" name="Sources"/>
          <p:cNvSpPr txBox="1"/>
          <p:nvPr/>
        </p:nvSpPr>
        <p:spPr>
          <a:xfrm>
            <a:off x="548640" y="5559552"/>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SailPoint, ServiceNow, Microsoft Learn and FedRAMP Marketplace data, opened Oct 24, 2026. An example, not a recommendation or an endorsement.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An example, not a recommendation</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Loop 1" descr="">
            <a:extLst>
              <a:ext uri="{C183D7F6-B498-43B3-948B-1728B52AA6E4}">
                <adec:decorative xmlns:adec="http://schemas.microsoft.com/office/drawing/2017/decorative" val="1"/>
              </a:ext>
            </a:extLst>
          </p:cNvPr>
          <p:cNvSpPr/>
          <p:nvPr/>
        </p:nvSpPr>
        <p:spPr>
          <a:xfrm>
            <a:off x="548640" y="1417320"/>
            <a:ext cx="2017166"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6" name="Loop 1 text"/>
          <p:cNvSpPr txBox="1"/>
          <p:nvPr/>
        </p:nvSpPr>
        <p:spPr>
          <a:xfrm>
            <a:off x="640080" y="1490472"/>
            <a:ext cx="1834286" cy="76809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1  Test</a:t>
            </a:r>
            <a:endParaRPr lang="en-US" sz="1250" dirty="0"/>
          </a:p>
        </p:txBody>
      </p:sp>
      <p:sp>
        <p:nvSpPr>
          <p:cNvPr id="7" name="Loop arrow 1" descr="">
            <a:extLst>
              <a:ext uri="{C183D7F6-B498-43B3-948B-1728B52AA6E4}">
                <adec:decorative xmlns:adec="http://schemas.microsoft.com/office/drawing/2017/decorative" val="1"/>
              </a:ext>
            </a:extLst>
          </p:cNvPr>
          <p:cNvSpPr/>
          <p:nvPr/>
        </p:nvSpPr>
        <p:spPr>
          <a:xfrm>
            <a:off x="2593238" y="1773936"/>
            <a:ext cx="201168" cy="201168"/>
          </a:xfrm>
          <a:prstGeom prst="rightArrow">
            <a:avLst/>
          </a:prstGeom>
          <a:solidFill>
            <a:srgbClr val="64748B"/>
          </a:solidFill>
          <a:ln w="12700">
            <a:solidFill>
              <a:srgbClr val="64748B"/>
            </a:solidFill>
            <a:prstDash val="solid"/>
          </a:ln>
        </p:spPr>
      </p:sp>
      <p:sp>
        <p:nvSpPr>
          <p:cNvPr id="8" name="Loop 2" descr="">
            <a:extLst>
              <a:ext uri="{C183D7F6-B498-43B3-948B-1728B52AA6E4}">
                <adec:decorative xmlns:adec="http://schemas.microsoft.com/office/drawing/2017/decorative" val="1"/>
              </a:ext>
            </a:extLst>
          </p:cNvPr>
          <p:cNvSpPr/>
          <p:nvPr/>
        </p:nvSpPr>
        <p:spPr>
          <a:xfrm>
            <a:off x="2821838" y="1417320"/>
            <a:ext cx="2017166"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Loop 2 text"/>
          <p:cNvSpPr txBox="1"/>
          <p:nvPr/>
        </p:nvSpPr>
        <p:spPr>
          <a:xfrm>
            <a:off x="2913278" y="1490472"/>
            <a:ext cx="1834286" cy="768096"/>
          </a:xfrm>
          <a:prstGeom prst="rect">
            <a:avLst/>
          </a:prstGeom>
          <a:noFill/>
          <a:ln/>
        </p:spPr>
        <p:txBody>
          <a:bodyPr wrap="square" lIns="0" tIns="0" rIns="0" bIns="0" rtlCol="0" anchor="t"/>
          <a:lstStyle/>
          <a:p>
            <a:pPr indent="0" marL="0">
              <a:spcAft>
                <a:spcPts val="200"/>
              </a:spcAft>
              <a:buNone/>
            </a:pPr>
            <a:r>
              <a:rPr lang="en-US" sz="1400" b="1" dirty="0">
                <a:solidFill>
                  <a:srgbClr val="0F766E"/>
                </a:solidFill>
                <a:latin typeface="Cambria" pitchFamily="34" charset="0"/>
                <a:ea typeface="Cambria" pitchFamily="34" charset="-122"/>
                <a:cs typeface="Cambria" pitchFamily="34" charset="-120"/>
              </a:rPr>
              <a:t>2  Detect drift</a:t>
            </a:r>
            <a:endParaRPr lang="en-US" sz="1250" dirty="0"/>
          </a:p>
        </p:txBody>
      </p:sp>
      <p:sp>
        <p:nvSpPr>
          <p:cNvPr id="10" name="Loop arrow 2" descr="">
            <a:extLst>
              <a:ext uri="{C183D7F6-B498-43B3-948B-1728B52AA6E4}">
                <adec:decorative xmlns:adec="http://schemas.microsoft.com/office/drawing/2017/decorative" val="1"/>
              </a:ext>
            </a:extLst>
          </p:cNvPr>
          <p:cNvSpPr/>
          <p:nvPr/>
        </p:nvSpPr>
        <p:spPr>
          <a:xfrm>
            <a:off x="4866437" y="1773936"/>
            <a:ext cx="201168" cy="201168"/>
          </a:xfrm>
          <a:prstGeom prst="rightArrow">
            <a:avLst/>
          </a:prstGeom>
          <a:solidFill>
            <a:srgbClr val="64748B"/>
          </a:solidFill>
          <a:ln w="12700">
            <a:solidFill>
              <a:srgbClr val="64748B"/>
            </a:solidFill>
            <a:prstDash val="solid"/>
          </a:ln>
        </p:spPr>
      </p:sp>
      <p:sp>
        <p:nvSpPr>
          <p:cNvPr id="11" name="Loop 3" descr="">
            <a:extLst>
              <a:ext uri="{C183D7F6-B498-43B3-948B-1728B52AA6E4}">
                <adec:decorative xmlns:adec="http://schemas.microsoft.com/office/drawing/2017/decorative" val="1"/>
              </a:ext>
            </a:extLst>
          </p:cNvPr>
          <p:cNvSpPr/>
          <p:nvPr/>
        </p:nvSpPr>
        <p:spPr>
          <a:xfrm>
            <a:off x="5095037" y="1417320"/>
            <a:ext cx="2017166" cy="914400"/>
          </a:xfrm>
          <a:prstGeom prst="roundRect">
            <a:avLst>
              <a:gd name="adj" fmla="val 8000"/>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2" name="Loop 3 text"/>
          <p:cNvSpPr txBox="1"/>
          <p:nvPr/>
        </p:nvSpPr>
        <p:spPr>
          <a:xfrm>
            <a:off x="5186477" y="1490472"/>
            <a:ext cx="1834286" cy="768096"/>
          </a:xfrm>
          <a:prstGeom prst="rect">
            <a:avLst/>
          </a:prstGeom>
          <a:noFill/>
          <a:ln/>
        </p:spPr>
        <p:txBody>
          <a:bodyPr wrap="square" lIns="0" tIns="0" rIns="0" bIns="0" rtlCol="0" anchor="t"/>
          <a:lstStyle/>
          <a:p>
            <a:pPr indent="0" marL="0">
              <a:spcAft>
                <a:spcPts val="200"/>
              </a:spcAft>
              <a:buNone/>
            </a:pPr>
            <a:r>
              <a:rPr lang="en-US" sz="1400" b="1" dirty="0">
                <a:solidFill>
                  <a:srgbClr val="1F2A44"/>
                </a:solidFill>
                <a:latin typeface="Cambria" pitchFamily="34" charset="0"/>
                <a:ea typeface="Cambria" pitchFamily="34" charset="-122"/>
                <a:cs typeface="Cambria" pitchFamily="34" charset="-120"/>
              </a:rPr>
              <a:t>3  Raise a typed task</a:t>
            </a:r>
            <a:endParaRPr lang="en-US" sz="1250" dirty="0"/>
          </a:p>
        </p:txBody>
      </p:sp>
      <p:sp>
        <p:nvSpPr>
          <p:cNvPr id="13" name="Loop arrow 3" descr="">
            <a:extLst>
              <a:ext uri="{C183D7F6-B498-43B3-948B-1728B52AA6E4}">
                <adec:decorative xmlns:adec="http://schemas.microsoft.com/office/drawing/2017/decorative" val="1"/>
              </a:ext>
            </a:extLst>
          </p:cNvPr>
          <p:cNvSpPr/>
          <p:nvPr/>
        </p:nvSpPr>
        <p:spPr>
          <a:xfrm>
            <a:off x="7139635" y="1773936"/>
            <a:ext cx="201168" cy="201168"/>
          </a:xfrm>
          <a:prstGeom prst="rightArrow">
            <a:avLst/>
          </a:prstGeom>
          <a:solidFill>
            <a:srgbClr val="64748B"/>
          </a:solidFill>
          <a:ln w="12700">
            <a:solidFill>
              <a:srgbClr val="64748B"/>
            </a:solidFill>
            <a:prstDash val="solid"/>
          </a:ln>
        </p:spPr>
      </p:sp>
      <p:sp>
        <p:nvSpPr>
          <p:cNvPr id="14" name="Loop 4" descr="">
            <a:extLst>
              <a:ext uri="{C183D7F6-B498-43B3-948B-1728B52AA6E4}">
                <adec:decorative xmlns:adec="http://schemas.microsoft.com/office/drawing/2017/decorative" val="1"/>
              </a:ext>
            </a:extLst>
          </p:cNvPr>
          <p:cNvSpPr/>
          <p:nvPr/>
        </p:nvSpPr>
        <p:spPr>
          <a:xfrm>
            <a:off x="7368235" y="1417320"/>
            <a:ext cx="2017166" cy="914400"/>
          </a:xfrm>
          <a:prstGeom prst="roundRect">
            <a:avLst>
              <a:gd name="adj" fmla="val 8000"/>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15" name="Loop 4 text"/>
          <p:cNvSpPr txBox="1"/>
          <p:nvPr/>
        </p:nvSpPr>
        <p:spPr>
          <a:xfrm>
            <a:off x="7459675" y="1490472"/>
            <a:ext cx="1834286" cy="768096"/>
          </a:xfrm>
          <a:prstGeom prst="rect">
            <a:avLst/>
          </a:prstGeom>
          <a:noFill/>
          <a:ln/>
        </p:spPr>
        <p:txBody>
          <a:bodyPr wrap="square" lIns="0" tIns="0" rIns="0" bIns="0" rtlCol="0" anchor="t"/>
          <a:lstStyle/>
          <a:p>
            <a:pPr indent="0" marL="0">
              <a:spcAft>
                <a:spcPts val="200"/>
              </a:spcAft>
              <a:buNone/>
            </a:pPr>
            <a:r>
              <a:rPr lang="en-US" sz="1400" b="1" dirty="0">
                <a:solidFill>
                  <a:srgbClr val="0F766E"/>
                </a:solidFill>
                <a:latin typeface="Cambria" pitchFamily="34" charset="0"/>
                <a:ea typeface="Cambria" pitchFamily="34" charset="-122"/>
                <a:cs typeface="Cambria" pitchFamily="34" charset="-120"/>
              </a:rPr>
              <a:t>4  Actuate natively</a:t>
            </a:r>
            <a:endParaRPr lang="en-US" sz="1250" dirty="0"/>
          </a:p>
        </p:txBody>
      </p:sp>
      <p:sp>
        <p:nvSpPr>
          <p:cNvPr id="16" name="Loop arrow 4" descr="">
            <a:extLst>
              <a:ext uri="{C183D7F6-B498-43B3-948B-1728B52AA6E4}">
                <adec:decorative xmlns:adec="http://schemas.microsoft.com/office/drawing/2017/decorative" val="1"/>
              </a:ext>
            </a:extLst>
          </p:cNvPr>
          <p:cNvSpPr/>
          <p:nvPr/>
        </p:nvSpPr>
        <p:spPr>
          <a:xfrm>
            <a:off x="9412834" y="1773936"/>
            <a:ext cx="201168" cy="201168"/>
          </a:xfrm>
          <a:prstGeom prst="rightArrow">
            <a:avLst/>
          </a:prstGeom>
          <a:solidFill>
            <a:srgbClr val="64748B"/>
          </a:solidFill>
          <a:ln w="12700">
            <a:solidFill>
              <a:srgbClr val="64748B"/>
            </a:solidFill>
            <a:prstDash val="solid"/>
          </a:ln>
        </p:spPr>
      </p:sp>
      <p:sp>
        <p:nvSpPr>
          <p:cNvPr id="17" name="Loop 5" descr="">
            <a:extLst>
              <a:ext uri="{C183D7F6-B498-43B3-948B-1728B52AA6E4}">
                <adec:decorative xmlns:adec="http://schemas.microsoft.com/office/drawing/2017/decorative" val="1"/>
              </a:ext>
            </a:extLst>
          </p:cNvPr>
          <p:cNvSpPr/>
          <p:nvPr/>
        </p:nvSpPr>
        <p:spPr>
          <a:xfrm>
            <a:off x="9641434" y="1417320"/>
            <a:ext cx="2017166" cy="914400"/>
          </a:xfrm>
          <a:prstGeom prst="roundRect">
            <a:avLst>
              <a:gd name="adj" fmla="val 8000"/>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8" name="Loop 5 text"/>
          <p:cNvSpPr txBox="1"/>
          <p:nvPr/>
        </p:nvSpPr>
        <p:spPr>
          <a:xfrm>
            <a:off x="9732874" y="1490472"/>
            <a:ext cx="1834286" cy="768096"/>
          </a:xfrm>
          <a:prstGeom prst="rect">
            <a:avLst/>
          </a:prstGeom>
          <a:noFill/>
          <a:ln/>
        </p:spPr>
        <p:txBody>
          <a:bodyPr wrap="square" lIns="0" tIns="0" rIns="0" bIns="0" rtlCol="0" anchor="t"/>
          <a:lstStyle/>
          <a:p>
            <a:pPr indent="0" marL="0">
              <a:spcAft>
                <a:spcPts val="200"/>
              </a:spcAft>
              <a:buNone/>
            </a:pPr>
            <a:r>
              <a:rPr lang="en-US" sz="1400" b="1" dirty="0">
                <a:solidFill>
                  <a:srgbClr val="B45309"/>
                </a:solidFill>
                <a:latin typeface="Cambria" pitchFamily="34" charset="0"/>
                <a:ea typeface="Cambria" pitchFamily="34" charset="-122"/>
                <a:cs typeface="Cambria" pitchFamily="34" charset="-120"/>
              </a:rPr>
              <a:t>5  Close with a re-read</a:t>
            </a:r>
            <a:endParaRPr lang="en-US" sz="1250" dirty="0"/>
          </a:p>
        </p:txBody>
      </p:sp>
      <p:sp>
        <p:nvSpPr>
          <p:cNvPr id="19" name="Why name" descr="">
            <a:extLst>
              <a:ext uri="{C183D7F6-B498-43B3-948B-1728B52AA6E4}">
                <adec:decorative xmlns:adec="http://schemas.microsoft.com/office/drawing/2017/decorative" val="1"/>
              </a:ext>
            </a:extLst>
          </p:cNvPr>
          <p:cNvSpPr/>
          <p:nvPr/>
        </p:nvSpPr>
        <p:spPr>
          <a:xfrm>
            <a:off x="548640" y="2514600"/>
            <a:ext cx="5486400" cy="2240280"/>
          </a:xfrm>
          <a:prstGeom prst="roundRect">
            <a:avLst>
              <a:gd name="adj" fmla="val 3265"/>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20" name="Why name head"/>
          <p:cNvSpPr txBox="1"/>
          <p:nvPr/>
        </p:nvSpPr>
        <p:spPr>
          <a:xfrm>
            <a:off x="731520" y="2624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WHY NAME PRODUCTS</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Show the loop in practice</a:t>
            </a:r>
            <a:endParaRPr lang="en-US" sz="1400" dirty="0"/>
          </a:p>
        </p:txBody>
      </p:sp>
      <p:sp>
        <p:nvSpPr>
          <p:cNvPr id="21" name="Why name list"/>
          <p:cNvSpPr txBox="1"/>
          <p:nvPr/>
        </p:nvSpPr>
        <p:spPr>
          <a:xfrm>
            <a:off x="731520" y="3273552"/>
            <a:ext cx="5166360" cy="140817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Appendix B is vendor-neutral on purpose: the loop runs on "whatever ITSM platform the agency already has"</a:t>
            </a:r>
            <a:endParaRPr lang="en-US" sz="1400" dirty="0"/>
          </a:p>
          <a:p>
            <a:pPr marL="342900" indent="-342900">
              <a:spcAft>
                <a:spcPts val="300"/>
              </a:spcAft>
              <a:buSzPct val="100000"/>
              <a:buChar char="•"/>
            </a:pPr>
            <a:r>
              <a:rPr lang="en-US" sz="1300" dirty="0">
                <a:solidFill>
                  <a:schemeClr val="tx2"/>
                </a:solidFill>
              </a:rPr>
              <a:t>This companion works the same loop, lanes and identity fixes through two named products</a:t>
            </a:r>
            <a:endParaRPr lang="en-US" sz="1400" dirty="0"/>
          </a:p>
          <a:p>
            <a:pPr marL="342900" indent="-342900">
              <a:spcAft>
                <a:spcPts val="300"/>
              </a:spcAft>
              <a:buSzPct val="100000"/>
              <a:buChar char="•"/>
            </a:pPr>
            <a:r>
              <a:rPr lang="en-US" sz="1300" dirty="0">
                <a:solidFill>
                  <a:schemeClr val="tx2"/>
                </a:solidFill>
              </a:rPr>
              <a:t>It finds four places where the products, used as shipped, fall short of the loop</a:t>
            </a:r>
            <a:endParaRPr lang="en-US" sz="1400" dirty="0"/>
          </a:p>
        </p:txBody>
      </p:sp>
      <p:sp>
        <p:nvSpPr>
          <p:cNvPr id="22" name="Slots" descr="">
            <a:extLst>
              <a:ext uri="{C183D7F6-B498-43B3-948B-1728B52AA6E4}">
                <adec:decorative xmlns:adec="http://schemas.microsoft.com/office/drawing/2017/decorative" val="1"/>
              </a:ext>
            </a:extLst>
          </p:cNvPr>
          <p:cNvSpPr/>
          <p:nvPr/>
        </p:nvSpPr>
        <p:spPr>
          <a:xfrm>
            <a:off x="6172200" y="2514600"/>
            <a:ext cx="5486400" cy="2240280"/>
          </a:xfrm>
          <a:prstGeom prst="roundRect">
            <a:avLst>
              <a:gd name="adj" fmla="val 3265"/>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23" name="Slots head"/>
          <p:cNvSpPr txBox="1"/>
          <p:nvPr/>
        </p:nvSpPr>
        <p:spPr>
          <a:xfrm>
            <a:off x="6355080" y="2624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THE SLOTS IN THE LOOP</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Other products can fill the same slots</a:t>
            </a:r>
            <a:endParaRPr lang="en-US" sz="1400" dirty="0"/>
          </a:p>
        </p:txBody>
      </p:sp>
      <p:sp>
        <p:nvSpPr>
          <p:cNvPr id="24" name="Slots list"/>
          <p:cNvSpPr txBox="1"/>
          <p:nvPr/>
        </p:nvSpPr>
        <p:spPr>
          <a:xfrm>
            <a:off x="6355080" y="3273552"/>
            <a:ext cx="5166360" cy="1408176"/>
          </a:xfrm>
          <a:prstGeom prst="rect">
            <a:avLst/>
          </a:prstGeom>
          <a:noFill/>
          <a:ln/>
        </p:spPr>
        <p:txBody>
          <a:bodyPr wrap="square" lIns="0" tIns="0" rIns="0" bIns="0" rtlCol="0" anchor="t"/>
          <a:lstStyle/>
          <a:p>
            <a:pPr marL="342900" indent="-342900">
              <a:spcAft>
                <a:spcPts val="300"/>
              </a:spcAft>
              <a:buSzPct val="100000"/>
              <a:buChar char="•"/>
            </a:pPr>
            <a:r>
              <a:rPr lang="en-US" sz="1300" dirty="0">
                <a:solidFill>
                  <a:schemeClr val="tx2"/>
                </a:solidFill>
              </a:rPr>
              <a:t>Front door and the record: ServiceNow, in this example</a:t>
            </a:r>
            <a:endParaRPr lang="en-US" sz="1400" dirty="0"/>
          </a:p>
          <a:p>
            <a:pPr marL="342900" indent="-342900">
              <a:spcAft>
                <a:spcPts val="300"/>
              </a:spcAft>
              <a:buSzPct val="100000"/>
              <a:buChar char="•"/>
            </a:pPr>
            <a:r>
              <a:rPr lang="en-US" sz="1300" dirty="0">
                <a:solidFill>
                  <a:schemeClr val="tx2"/>
                </a:solidFill>
              </a:rPr>
              <a:t>Identity governance: SailPoint Identity Security Cloud, in this example</a:t>
            </a:r>
            <a:endParaRPr lang="en-US" sz="1400" dirty="0"/>
          </a:p>
          <a:p>
            <a:pPr marL="342900" indent="-342900">
              <a:spcAft>
                <a:spcPts val="300"/>
              </a:spcAft>
              <a:buSzPct val="100000"/>
              <a:buChar char="•"/>
            </a:pPr>
            <a:r>
              <a:rPr lang="en-US" sz="1300" dirty="0">
                <a:solidFill>
                  <a:schemeClr val="tx2"/>
                </a:solidFill>
              </a:rPr>
              <a:t>Names products to illustrate the design; not an endorsement by any agency</a:t>
            </a:r>
            <a:endParaRPr lang="en-US" sz="1400" dirty="0"/>
          </a:p>
        </p:txBody>
      </p:sp>
      <p:sp>
        <p:nvSpPr>
          <p:cNvPr id="25" name="Labels" descr="">
            <a:extLst>
              <a:ext uri="{C183D7F6-B498-43B3-948B-1728B52AA6E4}">
                <adec:decorative xmlns:adec="http://schemas.microsoft.com/office/drawing/2017/decorative" val="1"/>
              </a:ext>
            </a:extLst>
          </p:cNvPr>
          <p:cNvSpPr/>
          <p:nvPr/>
        </p:nvSpPr>
        <p:spPr>
          <a:xfrm>
            <a:off x="548640" y="4937760"/>
            <a:ext cx="11109960" cy="914400"/>
          </a:xfrm>
          <a:prstGeom prst="roundRect">
            <a:avLst>
              <a:gd name="adj" fmla="val 8000"/>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26" name="Icon FaClipboardCheck" descr="">
            <a:extLst>
              <a:ext uri="{C183D7F6-B498-43B3-948B-1728B52AA6E4}">
                <adec:decorative xmlns:adec="http://schemas.microsoft.com/office/drawing/2017/decorative" val="1"/>
              </a:ext>
            </a:extLst>
          </p:cNvPr>
          <p:cNvSpPr/>
          <p:nvPr/>
        </p:nvSpPr>
        <p:spPr>
          <a:xfrm>
            <a:off x="777240" y="5029200"/>
            <a:ext cx="731520" cy="731520"/>
          </a:xfrm>
          <a:prstGeom prst="ellipse">
            <a:avLst/>
          </a:prstGeom>
          <a:solidFill>
            <a:srgbClr val="B45309"/>
          </a:solidFill>
          <a:ln w="12700">
            <a:solidFill>
              <a:srgbClr val="B45309"/>
            </a:solidFill>
            <a:prstDash val="solid"/>
          </a:ln>
        </p:spPr>
      </p:sp>
      <p:pic>
        <p:nvPicPr>
          <p:cNvPr id="27"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52805" y="5204765"/>
            <a:ext cx="380390" cy="380390"/>
          </a:xfrm>
          <a:prstGeom prst="rect">
            <a:avLst/>
          </a:prstGeom>
        </p:spPr>
      </p:pic>
      <p:sp>
        <p:nvSpPr>
          <p:cNvPr id="28" name="Labels text"/>
          <p:cNvSpPr txBox="1"/>
          <p:nvPr/>
        </p:nvSpPr>
        <p:spPr>
          <a:xfrm>
            <a:off x="1737360" y="4983480"/>
            <a:ext cx="9738360" cy="822960"/>
          </a:xfrm>
          <a:prstGeom prst="rect">
            <a:avLst/>
          </a:prstGeom>
          <a:noFill/>
          <a:ln/>
        </p:spPr>
        <p:txBody>
          <a:bodyPr wrap="square" lIns="0" tIns="0" rIns="0" bIns="0" rtlCol="0" anchor="ctr"/>
          <a:lstStyle/>
          <a:p>
            <a:pPr indent="0" marL="0">
              <a:buNone/>
            </a:pPr>
            <a:r>
              <a:rPr lang="en-US" sz="1500" b="1" dirty="0">
                <a:solidFill>
                  <a:srgbClr val="B45309"/>
                </a:solidFill>
              </a:rPr>
              <a:t>Whose statement is it? </a:t>
            </a:r>
            <a:pPr indent="0" marL="0">
              <a:buNone/>
            </a:pPr>
            <a:r>
              <a:rPr lang="en-US" sz="1500" dirty="0">
                <a:solidFill>
                  <a:schemeClr val="tx2"/>
                </a:solidFill>
              </a:rPr>
              <a:t>Product facts are the vendors' own, checked Oct 24, 2026. Mappings marked (inference) or (design guidance) are the program's.</a:t>
            </a:r>
            <a:endParaRPr lang="en-US" sz="1500" dirty="0"/>
          </a:p>
        </p:txBody>
      </p:sp>
      <p:sp>
        <p:nvSpPr>
          <p:cNvPr id="29"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page (An example, not a recommendation; Status and review); Book 13, Appendix B (The coordination loop).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products and their FedRAMP status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4" name="Product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3520440"/>
                <a:gridCol w="3017520"/>
                <a:gridCol w="457200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Slot in the loop</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Product</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FedRAMP Marketplace, Oct 24, 2026</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Front door, task record, change approval</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ServiceNow, Government Community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FedRAMP Certified, High (Class D), JAB, since August 12, 2019</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812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Identity governance: HR aggregation, lifecycle, requests, certifications, provisioning</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SailPoint Identity Security Cloud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FedRAMP Certified, Moderate (Class C), agency authorization, since June 5, 2024</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The alternative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SailPoint IdentityIQ, self-hosted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 listing of its own; a component inside another provider's High authorization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hy ISC" descr="">
            <a:extLst>
              <a:ext uri="{C183D7F6-B498-43B3-948B-1728B52AA6E4}">
                <adec:decorative xmlns:adec="http://schemas.microsoft.com/office/drawing/2017/decorative" val="1"/>
              </a:ext>
            </a:extLst>
          </p:cNvPr>
          <p:cNvSpPr/>
          <p:nvPr/>
        </p:nvSpPr>
        <p:spPr>
          <a:xfrm>
            <a:off x="548640" y="3471672"/>
            <a:ext cx="5486400" cy="1874520"/>
          </a:xfrm>
          <a:prstGeom prst="roundRect">
            <a:avLst>
              <a:gd name="adj" fmla="val 390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Why ISC head"/>
          <p:cNvSpPr txBox="1"/>
          <p:nvPr/>
        </p:nvSpPr>
        <p:spPr>
          <a:xfrm>
            <a:off x="731520" y="3581400"/>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WHY IDENTITY SECURITY CLOUD FOR THE EXAMPLE</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A listing a reader can check</a:t>
            </a:r>
            <a:endParaRPr lang="en-US" sz="1400" dirty="0"/>
          </a:p>
        </p:txBody>
      </p:sp>
      <p:sp>
        <p:nvSpPr>
          <p:cNvPr id="8" name="Why ISC list"/>
          <p:cNvSpPr txBox="1"/>
          <p:nvPr/>
        </p:nvSpPr>
        <p:spPr>
          <a:xfrm>
            <a:off x="731520" y="4230624"/>
            <a:ext cx="5166360" cy="104241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A public FedRAMP listing, at Moderate</a:t>
            </a:r>
            <a:endParaRPr lang="en-US" sz="1400" dirty="0"/>
          </a:p>
          <a:p>
            <a:pPr marL="342900" indent="-342900">
              <a:spcAft>
                <a:spcPts val="300"/>
              </a:spcAft>
              <a:buSzPct val="100000"/>
              <a:buChar char="•"/>
            </a:pPr>
            <a:r>
              <a:rPr lang="en-US" sz="1250" dirty="0">
                <a:solidFill>
                  <a:schemeClr val="tx2"/>
                </a:solidFill>
              </a:rPr>
              <a:t>It reaches both Entra ID and Active Directory</a:t>
            </a:r>
            <a:endParaRPr lang="en-US" sz="1400" dirty="0"/>
          </a:p>
          <a:p>
            <a:pPr marL="342900" indent="-342900">
              <a:spcAft>
                <a:spcPts val="300"/>
              </a:spcAft>
              <a:buSzPct val="100000"/>
              <a:buChar char="•"/>
            </a:pPr>
            <a:r>
              <a:rPr lang="en-US" sz="1250" dirty="0">
                <a:solidFill>
                  <a:schemeClr val="tx2"/>
                </a:solidFill>
              </a:rPr>
              <a:t>SailPoint documents its ServiceNow integrations</a:t>
            </a:r>
            <a:endParaRPr lang="en-US" sz="1400" dirty="0"/>
          </a:p>
        </p:txBody>
      </p:sp>
      <p:sp>
        <p:nvSpPr>
          <p:cNvPr id="9" name="When IIQ" descr="">
            <a:extLst>
              <a:ext uri="{C183D7F6-B498-43B3-948B-1728B52AA6E4}">
                <adec:decorative xmlns:adec="http://schemas.microsoft.com/office/drawing/2017/decorative" val="1"/>
              </a:ext>
            </a:extLst>
          </p:cNvPr>
          <p:cNvSpPr/>
          <p:nvPr/>
        </p:nvSpPr>
        <p:spPr>
          <a:xfrm>
            <a:off x="6172200" y="3471672"/>
            <a:ext cx="5486400" cy="1874520"/>
          </a:xfrm>
          <a:prstGeom prst="roundRect">
            <a:avLst>
              <a:gd name="adj" fmla="val 390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0" name="When IIQ head"/>
          <p:cNvSpPr txBox="1"/>
          <p:nvPr/>
        </p:nvSpPr>
        <p:spPr>
          <a:xfrm>
            <a:off x="6355080" y="3581400"/>
            <a:ext cx="5120640" cy="640080"/>
          </a:xfrm>
          <a:prstGeom prst="rect">
            <a:avLst/>
          </a:prstGeom>
          <a:noFill/>
          <a:ln/>
        </p:spPr>
        <p:txBody>
          <a:bodyPr wrap="square" lIns="0" tIns="0" rIns="0" bIns="0" rtlCol="0" anchor="t"/>
          <a:lstStyle/>
          <a:p>
            <a:pPr indent="0" marL="0">
              <a:buNone/>
            </a:pPr>
            <a:r>
              <a:rPr lang="en-US" sz="1100" b="1" dirty="0">
                <a:solidFill>
                  <a:srgbClr val="64748B"/>
                </a:solidFill>
              </a:rPr>
              <a:t>WHEN IDENTITYIQ FITS INSTEAD</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The self-hosted alternative</a:t>
            </a:r>
            <a:endParaRPr lang="en-US" sz="1400" dirty="0"/>
          </a:p>
        </p:txBody>
      </p:sp>
      <p:sp>
        <p:nvSpPr>
          <p:cNvPr id="11" name="When IIQ list"/>
          <p:cNvSpPr txBox="1"/>
          <p:nvPr/>
        </p:nvSpPr>
        <p:spPr>
          <a:xfrm>
            <a:off x="6355080" y="4230624"/>
            <a:ext cx="5166360" cy="1042416"/>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Identity governance must run inside the agency's own boundary</a:t>
            </a:r>
            <a:endParaRPr lang="en-US" sz="1400" dirty="0"/>
          </a:p>
          <a:p>
            <a:pPr marL="342900" indent="-342900">
              <a:spcAft>
                <a:spcPts val="300"/>
              </a:spcAft>
              <a:buSzPct val="100000"/>
              <a:buChar char="•"/>
            </a:pPr>
            <a:r>
              <a:rPr lang="en-US" sz="1250" dirty="0">
                <a:solidFill>
                  <a:schemeClr val="tx2"/>
                </a:solidFill>
              </a:rPr>
              <a:t>The agency needs a High system</a:t>
            </a:r>
            <a:endParaRPr lang="en-US" sz="1400" dirty="0"/>
          </a:p>
          <a:p>
            <a:pPr marL="342900" indent="-342900">
              <a:spcAft>
                <a:spcPts val="300"/>
              </a:spcAft>
              <a:buSzPct val="100000"/>
              <a:buChar char="•"/>
            </a:pPr>
            <a:r>
              <a:rPr lang="en-US" sz="1250" dirty="0">
                <a:solidFill>
                  <a:schemeClr val="tx2"/>
                </a:solidFill>
              </a:rPr>
              <a:t>It needs ServiceNow change-request tickets from the governance tool</a:t>
            </a:r>
            <a:endParaRPr lang="en-US" sz="1400" dirty="0"/>
          </a:p>
        </p:txBody>
      </p:sp>
      <p:sp>
        <p:nvSpPr>
          <p:cNvPr id="12" name="Human Fabric" descr="">
            <a:extLst>
              <a:ext uri="{C183D7F6-B498-43B3-948B-1728B52AA6E4}">
                <adec:decorative xmlns:adec="http://schemas.microsoft.com/office/drawing/2017/decorative" val="1"/>
              </a:ext>
            </a:extLst>
          </p:cNvPr>
          <p:cNvSpPr/>
          <p:nvPr/>
        </p:nvSpPr>
        <p:spPr>
          <a:xfrm>
            <a:off x="548640" y="5455920"/>
            <a:ext cx="11109960" cy="566928"/>
          </a:xfrm>
          <a:prstGeom prst="roundRect">
            <a:avLst>
              <a:gd name="adj" fmla="val 12903"/>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3" name="Icon FaTriangleExclamation" descr="">
            <a:extLst>
              <a:ext uri="{C183D7F6-B498-43B3-948B-1728B52AA6E4}">
                <adec:decorative xmlns:adec="http://schemas.microsoft.com/office/drawing/2017/decorative" val="1"/>
              </a:ext>
            </a:extLst>
          </p:cNvPr>
          <p:cNvSpPr/>
          <p:nvPr/>
        </p:nvSpPr>
        <p:spPr>
          <a:xfrm>
            <a:off x="777240" y="5547360"/>
            <a:ext cx="384048" cy="384048"/>
          </a:xfrm>
          <a:prstGeom prst="ellipse">
            <a:avLst/>
          </a:prstGeom>
          <a:solidFill>
            <a:srgbClr val="B91C1C"/>
          </a:solidFill>
          <a:ln w="12700">
            <a:solidFill>
              <a:srgbClr val="B91C1C"/>
            </a:solidFill>
            <a:prstDash val="solid"/>
          </a:ln>
        </p:spPr>
      </p:sp>
      <p:pic>
        <p:nvPicPr>
          <p:cNvPr id="14"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869412" y="5639532"/>
            <a:ext cx="199705" cy="199705"/>
          </a:xfrm>
          <a:prstGeom prst="rect">
            <a:avLst/>
          </a:prstGeom>
        </p:spPr>
      </p:pic>
      <p:sp>
        <p:nvSpPr>
          <p:cNvPr id="15" name="Human Fabric text"/>
          <p:cNvSpPr txBox="1"/>
          <p:nvPr/>
        </p:nvSpPr>
        <p:spPr>
          <a:xfrm>
            <a:off x="1737360" y="5501640"/>
            <a:ext cx="9738360" cy="475488"/>
          </a:xfrm>
          <a:prstGeom prst="rect">
            <a:avLst/>
          </a:prstGeom>
          <a:noFill/>
          <a:ln/>
        </p:spPr>
        <p:txBody>
          <a:bodyPr wrap="square" lIns="0" tIns="0" rIns="0" bIns="0" rtlCol="0" anchor="ctr"/>
          <a:lstStyle/>
          <a:p>
            <a:pPr indent="0" marL="0">
              <a:buNone/>
            </a:pPr>
            <a:r>
              <a:rPr lang="en-US" sz="1450" b="1" dirty="0">
                <a:solidFill>
                  <a:srgbClr val="B91C1C"/>
                </a:solidFill>
              </a:rPr>
              <a:t>Check the name: </a:t>
            </a:r>
            <a:pPr indent="0" marL="0">
              <a:buNone/>
            </a:pPr>
            <a:r>
              <a:rPr lang="en-US" sz="1450" dirty="0">
                <a:solidFill>
                  <a:schemeClr val="tx2"/>
                </a:solidFill>
              </a:rPr>
              <a:t>SailPoint now markets ISC as "Human Fabric"; the Marketplace uses the older name. Confirm the product bought is the one authorized.</a:t>
            </a:r>
            <a:endParaRPr lang="en-US" sz="1450" dirty="0"/>
          </a:p>
        </p:txBody>
      </p:sp>
      <p:sp>
        <p:nvSpPr>
          <p:cNvPr id="16"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FedRAMP Marketplace products.json (F1305072116; FR2001938710A; FR2208555094); SailPoint IdentityIQ ITSM and SDIM docs; Human Fabric page.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picture: the loop on ServiceNow and SailPoint</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pic>
        <p:nvPicPr>
          <p:cNvPr id="5" name="Image 0" descr="Diagram. Core HCM, the source of authority where HR corrects facts, feeds SailPoint Identity Security Cloud by aggregation. SailPoint (identity governance: aggregates HR and runs lifecycle states, access requests and certifications, and native change detection) exchanges tickets and requests with ServiceNow (the front door and record: catalog, cases and change records, approvals per authority class, one closure record). SailPoint provisions Entra ID and AD through connectors; ServiceNow reaches Entra through its Entra spoke for A0 and A1 tasks. Entra and AD lead to a re-read on the next aggregation or a native-change event, not ticket status, and the evidence closes the ServiceNow record. A dashed red line from SailPoint leads to a declared exception: a disconnected application handled by a Service Desk ticket, a recorded session and an end date.">    </p:cNvPr>
          <p:cNvPicPr>
            <a:picLocks noChangeAspect="1"/>
          </p:cNvPicPr>
          <p:nvPr/>
        </p:nvPicPr>
        <p:blipFill>
          <a:blip r:embed="rId1"/>
          <a:stretch>
            <a:fillRect/>
          </a:stretch>
        </p:blipFill>
        <p:spPr>
          <a:xfrm>
            <a:off x="548640" y="1417320"/>
            <a:ext cx="11109960" cy="2655705"/>
          </a:xfrm>
          <a:prstGeom prst="rect">
            <a:avLst/>
          </a:prstGeom>
        </p:spPr>
      </p:pic>
      <p:sp>
        <p:nvSpPr>
          <p:cNvPr id="6" name="Roles 1" descr="">
            <a:extLst>
              <a:ext uri="{C183D7F6-B498-43B3-948B-1728B52AA6E4}">
                <adec:decorative xmlns:adec="http://schemas.microsoft.com/office/drawing/2017/decorative" val="1"/>
              </a:ext>
            </a:extLst>
          </p:cNvPr>
          <p:cNvSpPr/>
          <p:nvPr/>
        </p:nvSpPr>
        <p:spPr>
          <a:xfrm>
            <a:off x="548640" y="4343400"/>
            <a:ext cx="2674620" cy="150876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7" name="Roles 1 text"/>
          <p:cNvSpPr txBox="1"/>
          <p:nvPr/>
        </p:nvSpPr>
        <p:spPr>
          <a:xfrm>
            <a:off x="685800" y="4416552"/>
            <a:ext cx="2400300" cy="1380744"/>
          </a:xfrm>
          <a:prstGeom prst="rect">
            <a:avLst/>
          </a:prstGeom>
          <a:noFill/>
          <a:ln/>
        </p:spPr>
        <p:txBody>
          <a:bodyPr wrap="square" lIns="0" tIns="0" rIns="0" bIns="0" rtlCol="0" anchor="ctr"/>
          <a:lstStyle/>
          <a:p>
            <a:pPr indent="0" marL="0">
              <a:buNone/>
            </a:pPr>
            <a:r>
              <a:rPr lang="en-US" sz="1500" b="1" dirty="0">
                <a:solidFill>
                  <a:srgbClr val="1F2A44"/>
                </a:solidFill>
                <a:latin typeface="Cambria" pitchFamily="34" charset="0"/>
                <a:ea typeface="Cambria" pitchFamily="34" charset="-122"/>
                <a:cs typeface="Cambria" pitchFamily="34" charset="-120"/>
              </a:rPr>
              <a:t>Core HCM</a:t>
            </a:r>
            <a:endParaRPr lang="en-US" sz="1400" dirty="0"/>
          </a:p>
          <a:p>
            <a:pPr indent="0" marL="0">
              <a:buNone/>
            </a:pPr>
            <a:r>
              <a:rPr lang="en-US" sz="1250" dirty="0">
                <a:solidFill>
                  <a:schemeClr val="tx2"/>
                </a:solidFill>
              </a:rPr>
              <a:t>The source of authority, where HR corrects facts; feeds SailPoint by aggregation</a:t>
            </a:r>
            <a:endParaRPr lang="en-US" sz="1400" dirty="0"/>
          </a:p>
        </p:txBody>
      </p:sp>
      <p:sp>
        <p:nvSpPr>
          <p:cNvPr id="8" name="Roles 2" descr="">
            <a:extLst>
              <a:ext uri="{C183D7F6-B498-43B3-948B-1728B52AA6E4}">
                <adec:decorative xmlns:adec="http://schemas.microsoft.com/office/drawing/2017/decorative" val="1"/>
              </a:ext>
            </a:extLst>
          </p:cNvPr>
          <p:cNvSpPr/>
          <p:nvPr/>
        </p:nvSpPr>
        <p:spPr>
          <a:xfrm>
            <a:off x="3360420" y="4343400"/>
            <a:ext cx="2674620" cy="1508760"/>
          </a:xfrm>
          <a:prstGeom prst="roundRect">
            <a:avLst>
              <a:gd name="adj" fmla="val 4848"/>
            </a:avLst>
          </a:prstGeom>
          <a:solidFill>
            <a:srgbClr val="DCEFEC"/>
          </a:solidFill>
          <a:ln w="12700">
            <a:solidFill>
              <a:srgbClr val="DCEFEC"/>
            </a:solidFill>
            <a:prstDash val="solid"/>
          </a:ln>
          <a:effectLst>
            <a:outerShdw sx="100000" sy="100000" kx="0" ky="0" algn="bl" rotWithShape="0" blurRad="76200" dist="25400" dir="5400000">
              <a:srgbClr val="64748B">
                <a:alpha val="22000"/>
              </a:srgbClr>
            </a:outerShdw>
          </a:effectLst>
        </p:spPr>
      </p:sp>
      <p:sp>
        <p:nvSpPr>
          <p:cNvPr id="9" name="Roles 2 text"/>
          <p:cNvSpPr txBox="1"/>
          <p:nvPr/>
        </p:nvSpPr>
        <p:spPr>
          <a:xfrm>
            <a:off x="3497580" y="4416552"/>
            <a:ext cx="2400300" cy="1380744"/>
          </a:xfrm>
          <a:prstGeom prst="rect">
            <a:avLst/>
          </a:prstGeom>
          <a:noFill/>
          <a:ln/>
        </p:spPr>
        <p:txBody>
          <a:bodyPr wrap="square" lIns="0" tIns="0" rIns="0" bIns="0" rtlCol="0" anchor="ctr"/>
          <a:lstStyle/>
          <a:p>
            <a:pPr indent="0" marL="0">
              <a:buNone/>
            </a:pPr>
            <a:r>
              <a:rPr lang="en-US" sz="1500" b="1" dirty="0">
                <a:solidFill>
                  <a:srgbClr val="0F766E"/>
                </a:solidFill>
                <a:latin typeface="Cambria" pitchFamily="34" charset="0"/>
                <a:ea typeface="Cambria" pitchFamily="34" charset="-122"/>
                <a:cs typeface="Cambria" pitchFamily="34" charset="-120"/>
              </a:rPr>
              <a:t>SailPoint</a:t>
            </a:r>
            <a:endParaRPr lang="en-US" sz="1400" dirty="0"/>
          </a:p>
          <a:p>
            <a:pPr indent="0" marL="0">
              <a:buNone/>
            </a:pPr>
            <a:r>
              <a:rPr lang="en-US" sz="1250" dirty="0">
                <a:solidFill>
                  <a:schemeClr val="tx2"/>
                </a:solidFill>
              </a:rPr>
              <a:t>Governs identities and entitlements; provisions Entra ID and AD through connectors</a:t>
            </a:r>
            <a:endParaRPr lang="en-US" sz="1400" dirty="0"/>
          </a:p>
        </p:txBody>
      </p:sp>
      <p:sp>
        <p:nvSpPr>
          <p:cNvPr id="10" name="Roles 3" descr="">
            <a:extLst>
              <a:ext uri="{C183D7F6-B498-43B3-948B-1728B52AA6E4}">
                <adec:decorative xmlns:adec="http://schemas.microsoft.com/office/drawing/2017/decorative" val="1"/>
              </a:ext>
            </a:extLst>
          </p:cNvPr>
          <p:cNvSpPr/>
          <p:nvPr/>
        </p:nvSpPr>
        <p:spPr>
          <a:xfrm>
            <a:off x="6172200" y="4343400"/>
            <a:ext cx="2674620" cy="1508760"/>
          </a:xfrm>
          <a:prstGeom prst="roundRect">
            <a:avLst>
              <a:gd name="adj" fmla="val 4848"/>
            </a:avLst>
          </a:prstGeom>
          <a:solidFill>
            <a:srgbClr val="E4EAF4"/>
          </a:solidFill>
          <a:ln w="12700">
            <a:solidFill>
              <a:srgbClr val="E4EAF4"/>
            </a:solidFill>
            <a:prstDash val="solid"/>
          </a:ln>
          <a:effectLst>
            <a:outerShdw sx="100000" sy="100000" kx="0" ky="0" algn="bl" rotWithShape="0" blurRad="76200" dist="25400" dir="5400000">
              <a:srgbClr val="64748B">
                <a:alpha val="22000"/>
              </a:srgbClr>
            </a:outerShdw>
          </a:effectLst>
        </p:spPr>
      </p:sp>
      <p:sp>
        <p:nvSpPr>
          <p:cNvPr id="11" name="Roles 3 text"/>
          <p:cNvSpPr txBox="1"/>
          <p:nvPr/>
        </p:nvSpPr>
        <p:spPr>
          <a:xfrm>
            <a:off x="6309360" y="4416552"/>
            <a:ext cx="2400300" cy="1380744"/>
          </a:xfrm>
          <a:prstGeom prst="rect">
            <a:avLst/>
          </a:prstGeom>
          <a:noFill/>
          <a:ln/>
        </p:spPr>
        <p:txBody>
          <a:bodyPr wrap="square" lIns="0" tIns="0" rIns="0" bIns="0" rtlCol="0" anchor="ctr"/>
          <a:lstStyle/>
          <a:p>
            <a:pPr indent="0" marL="0">
              <a:buNone/>
            </a:pPr>
            <a:r>
              <a:rPr lang="en-US" sz="1500" b="1" dirty="0">
                <a:solidFill>
                  <a:srgbClr val="1F2A44"/>
                </a:solidFill>
                <a:latin typeface="Cambria" pitchFamily="34" charset="0"/>
                <a:ea typeface="Cambria" pitchFamily="34" charset="-122"/>
                <a:cs typeface="Cambria" pitchFamily="34" charset="-120"/>
              </a:rPr>
              <a:t>ServiceNow</a:t>
            </a:r>
            <a:endParaRPr lang="en-US" sz="1400" dirty="0"/>
          </a:p>
          <a:p>
            <a:pPr indent="0" marL="0">
              <a:buNone/>
            </a:pPr>
            <a:r>
              <a:rPr lang="en-US" sz="1250" dirty="0">
                <a:solidFill>
                  <a:schemeClr val="tx2"/>
                </a:solidFill>
              </a:rPr>
              <a:t>The front door and the one closure record; its Entra spoke handles simple tasks</a:t>
            </a:r>
            <a:endParaRPr lang="en-US" sz="1400" dirty="0"/>
          </a:p>
        </p:txBody>
      </p:sp>
      <p:sp>
        <p:nvSpPr>
          <p:cNvPr id="12" name="Roles 4" descr="">
            <a:extLst>
              <a:ext uri="{C183D7F6-B498-43B3-948B-1728B52AA6E4}">
                <adec:decorative xmlns:adec="http://schemas.microsoft.com/office/drawing/2017/decorative" val="1"/>
              </a:ext>
            </a:extLst>
          </p:cNvPr>
          <p:cNvSpPr/>
          <p:nvPr/>
        </p:nvSpPr>
        <p:spPr>
          <a:xfrm>
            <a:off x="8983980" y="4343400"/>
            <a:ext cx="2674620" cy="1508760"/>
          </a:xfrm>
          <a:prstGeom prst="roundRect">
            <a:avLst>
              <a:gd name="adj" fmla="val 4848"/>
            </a:avLst>
          </a:prstGeom>
          <a:solidFill>
            <a:srgbClr val="FBEEDC"/>
          </a:solidFill>
          <a:ln w="12700">
            <a:solidFill>
              <a:srgbClr val="FBEEDC"/>
            </a:solidFill>
            <a:prstDash val="solid"/>
          </a:ln>
          <a:effectLst>
            <a:outerShdw sx="100000" sy="100000" kx="0" ky="0" algn="bl" rotWithShape="0" blurRad="76200" dist="25400" dir="5400000">
              <a:srgbClr val="64748B">
                <a:alpha val="22000"/>
              </a:srgbClr>
            </a:outerShdw>
          </a:effectLst>
        </p:spPr>
      </p:sp>
      <p:sp>
        <p:nvSpPr>
          <p:cNvPr id="13" name="Roles 4 text"/>
          <p:cNvSpPr txBox="1"/>
          <p:nvPr/>
        </p:nvSpPr>
        <p:spPr>
          <a:xfrm>
            <a:off x="9121140" y="4416552"/>
            <a:ext cx="2400300" cy="1380744"/>
          </a:xfrm>
          <a:prstGeom prst="rect">
            <a:avLst/>
          </a:prstGeom>
          <a:noFill/>
          <a:ln/>
        </p:spPr>
        <p:txBody>
          <a:bodyPr wrap="square" lIns="0" tIns="0" rIns="0" bIns="0" rtlCol="0" anchor="ctr"/>
          <a:lstStyle/>
          <a:p>
            <a:pPr indent="0" marL="0">
              <a:buNone/>
            </a:pPr>
            <a:r>
              <a:rPr lang="en-US" sz="1500" b="1" dirty="0">
                <a:solidFill>
                  <a:srgbClr val="B45309"/>
                </a:solidFill>
                <a:latin typeface="Cambria" pitchFamily="34" charset="0"/>
                <a:ea typeface="Cambria" pitchFamily="34" charset="-122"/>
                <a:cs typeface="Cambria" pitchFamily="34" charset="-120"/>
              </a:rPr>
              <a:t>The re-read</a:t>
            </a:r>
            <a:endParaRPr lang="en-US" sz="1400" dirty="0"/>
          </a:p>
          <a:p>
            <a:pPr indent="0" marL="0">
              <a:buNone/>
            </a:pPr>
            <a:r>
              <a:rPr lang="en-US" sz="1250" dirty="0">
                <a:solidFill>
                  <a:schemeClr val="tx2"/>
                </a:solidFill>
              </a:rPr>
              <a:t>The next aggregation or a native-change event closes the record, not the ticket status</a:t>
            </a:r>
            <a:endParaRPr lang="en-US" sz="1400" dirty="0"/>
          </a:p>
        </p:txBody>
      </p:sp>
      <p:sp>
        <p:nvSpPr>
          <p:cNvPr id="1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page (figure: the loop on ServiceNow and SailPoint); Book 13, Appendix B (The coordination loop).</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How the two products hand work to each other</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6" name="Handoff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011680"/>
                <a:gridCol w="2148840"/>
                <a:gridCol w="4206240"/>
                <a:gridCol w="274320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Direction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What it does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Fit with the loop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8412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SailPoint to ServiceNow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Desk integration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Turns provisioning SailPoint can't do directly into ServiceNow Service Requests or Incidents, for "disconnected applications"; checks ticket status "at regular intervals"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residual manual step, and the declared exception. Gap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84124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ServiceNow to SailPoint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Catalog app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People request SailPoint roles, access profiles and entitlements in ServiceNow; SailPoint checks separation of duties; approval is "defined in ServiceNow"; SailPoint provisions and writes status back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One front door for people. Gap 2</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Both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Governance app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Syncs user data and lets certifiers review inside ServiceNow; governs ServiceNow's own roles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Reviewers work in one tool</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ServiceNow to Entra ID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ID spoke (Integration Hub)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Create, update, enable, disable and delete users, revoke sign-in sessions and more, through Microsoft Graph</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Simple, low-authority tasks routed to ServiceNow (Book 15)</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Apps" descr="">
            <a:extLst>
              <a:ext uri="{C183D7F6-B498-43B3-948B-1728B52AA6E4}">
                <adec:decorative xmlns:adec="http://schemas.microsoft.com/office/drawing/2017/decorative" val="1"/>
              </a:ext>
            </a:extLst>
          </p:cNvPr>
          <p:cNvSpPr/>
          <p:nvPr/>
        </p:nvSpPr>
        <p:spPr>
          <a:xfrm>
            <a:off x="548640" y="4663440"/>
            <a:ext cx="11109960" cy="822960"/>
          </a:xfrm>
          <a:prstGeom prst="roundRect">
            <a:avLst>
              <a:gd name="adj" fmla="val 8889"/>
            </a:avLst>
          </a:prstGeom>
          <a:solidFill>
            <a:srgbClr val="FFFFFF"/>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7" name="Icon FaCubes" descr="">
            <a:extLst>
              <a:ext uri="{C183D7F6-B498-43B3-948B-1728B52AA6E4}">
                <adec:decorative xmlns:adec="http://schemas.microsoft.com/office/drawing/2017/decorative" val="1"/>
              </a:ext>
            </a:extLst>
          </p:cNvPr>
          <p:cNvSpPr/>
          <p:nvPr/>
        </p:nvSpPr>
        <p:spPr>
          <a:xfrm>
            <a:off x="777240" y="4754880"/>
            <a:ext cx="640080" cy="640080"/>
          </a:xfrm>
          <a:prstGeom prst="ellipse">
            <a:avLst/>
          </a:prstGeom>
          <a:solidFill>
            <a:srgbClr val="0F766E"/>
          </a:solidFill>
          <a:ln w="12700">
            <a:solidFill>
              <a:srgbClr val="0F766E"/>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4908499"/>
            <a:ext cx="332842" cy="332842"/>
          </a:xfrm>
          <a:prstGeom prst="rect">
            <a:avLst/>
          </a:prstGeom>
        </p:spPr>
      </p:pic>
      <p:sp>
        <p:nvSpPr>
          <p:cNvPr id="9" name="Apps text"/>
          <p:cNvSpPr txBox="1"/>
          <p:nvPr/>
        </p:nvSpPr>
        <p:spPr>
          <a:xfrm>
            <a:off x="1737360" y="4709160"/>
            <a:ext cx="9738360" cy="731520"/>
          </a:xfrm>
          <a:prstGeom prst="rect">
            <a:avLst/>
          </a:prstGeom>
          <a:noFill/>
          <a:ln/>
        </p:spPr>
        <p:txBody>
          <a:bodyPr wrap="square" lIns="0" tIns="0" rIns="0" bIns="0" rtlCol="0" anchor="ctr"/>
          <a:lstStyle/>
          <a:p>
            <a:pPr indent="0" marL="0">
              <a:buNone/>
            </a:pPr>
            <a:r>
              <a:rPr lang="en-US" sz="1450" b="1" dirty="0">
                <a:solidFill>
                  <a:srgbClr val="0F766E"/>
                </a:solidFill>
              </a:rPr>
              <a:t>Who builds the integration: </a:t>
            </a:r>
            <a:pPr indent="0" marL="0">
              <a:buNone/>
            </a:pPr>
            <a:r>
              <a:rPr lang="en-US" sz="1450" dirty="0">
                <a:solidFill>
                  <a:schemeClr val="tx2"/>
                </a:solidFill>
              </a:rPr>
              <a:t>SailPoint publishes these as its own ServiceNow apps, each licensed separately. ServiceNow's docs show no SailPoint integration of its own.</a:t>
            </a:r>
            <a:endParaRPr lang="en-US" sz="14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SailPoint, Getting Started with ServiceNow; ISC with the Service Catalog app; SDIM intro and status mapping. ServiceNow, Entra ID spoke (Zurich).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loop, step by step, on these products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graphicFrame>
        <p:nvGraphicFramePr>
          <p:cNvPr id="7" name="Steps"/>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1737360"/>
                <a:gridCol w="2331720"/>
                <a:gridCol w="4800600"/>
                <a:gridCol w="224028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Loop step</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Documented mechanism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1  Test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 refresh and aggregation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Lifecycle states are evaluated on scheduled refreshes, and missing access is provisioned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Documented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2  Detect drift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"Identity Attributes Changed" when authoritative-source attributes differ; native-change events when an account is updated outside SailPoint; certification findings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Documented; as Book 13's drift classes (inference)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3  Raise a typed task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ServiceNow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Desk tickets from SailPoint; Service Catalog requests; drift events raised by a SailPoint workflow calling ServiceNow</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Drift-to-task is a build (design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4  Actuate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 connectors; the ServiceNow Entra spoke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Entra SaaS connector (accounts, groups, licenses, roles, administrative units, access packages, PIM); AD connector through SailPoint's on-premises appliance; spoke actions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Documented as vendor capability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5  Close with evidence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 events and search; the ServiceNow record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 records Service Desk activity as events in Search; search covers identities, entitlements, events and account activity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b="1" dirty="0">
                          <a:solidFill>
                            <a:srgbClr val="B91C1C"/>
                          </a:solidFill>
                          <a:latin typeface="Calibri" pitchFamily="34" charset="0"/>
                          <a:ea typeface="Calibri" pitchFamily="34" charset="-122"/>
                          <a:cs typeface="Calibri" pitchFamily="34" charset="-120"/>
                        </a:rPr>
                        <a:t>Partial: Gap 1</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eak spots" descr="">
            <a:extLst>
              <a:ext uri="{C183D7F6-B498-43B3-948B-1728B52AA6E4}">
                <adec:decorative xmlns:adec="http://schemas.microsoft.com/office/drawing/2017/decorative" val="1"/>
              </a:ext>
            </a:extLst>
          </p:cNvPr>
          <p:cNvSpPr/>
          <p:nvPr/>
        </p:nvSpPr>
        <p:spPr>
          <a:xfrm>
            <a:off x="548640" y="4937760"/>
            <a:ext cx="11109960" cy="777240"/>
          </a:xfrm>
          <a:prstGeom prst="roundRect">
            <a:avLst>
              <a:gd name="adj" fmla="val 9412"/>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Icon FaRoute" descr="">
            <a:extLst>
              <a:ext uri="{C183D7F6-B498-43B3-948B-1728B52AA6E4}">
                <adec:decorative xmlns:adec="http://schemas.microsoft.com/office/drawing/2017/decorative" val="1"/>
              </a:ext>
            </a:extLst>
          </p:cNvPr>
          <p:cNvSpPr/>
          <p:nvPr/>
        </p:nvSpPr>
        <p:spPr>
          <a:xfrm>
            <a:off x="777240" y="5029200"/>
            <a:ext cx="594360" cy="594360"/>
          </a:xfrm>
          <a:prstGeom prst="ellipse">
            <a:avLst/>
          </a:prstGeom>
          <a:solidFill>
            <a:srgbClr val="B45309"/>
          </a:solidFill>
          <a:ln w="12700">
            <a:solidFill>
              <a:srgbClr val="B45309"/>
            </a:solidFill>
            <a:prstDash val="solid"/>
          </a:ln>
        </p:spPr>
      </p:sp>
      <p:pic>
        <p:nvPicPr>
          <p:cNvPr id="8"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19886" y="5171846"/>
            <a:ext cx="309067" cy="309067"/>
          </a:xfrm>
          <a:prstGeom prst="rect">
            <a:avLst/>
          </a:prstGeom>
        </p:spPr>
      </p:pic>
      <p:sp>
        <p:nvSpPr>
          <p:cNvPr id="9" name="Weak spots text"/>
          <p:cNvSpPr txBox="1"/>
          <p:nvPr/>
        </p:nvSpPr>
        <p:spPr>
          <a:xfrm>
            <a:off x="1737360" y="4983480"/>
            <a:ext cx="9738360" cy="685800"/>
          </a:xfrm>
          <a:prstGeom prst="rect">
            <a:avLst/>
          </a:prstGeom>
          <a:noFill/>
          <a:ln/>
        </p:spPr>
        <p:txBody>
          <a:bodyPr wrap="square" lIns="0" tIns="0" rIns="0" bIns="0" rtlCol="0" anchor="ctr"/>
          <a:lstStyle/>
          <a:p>
            <a:pPr indent="0" marL="0">
              <a:buNone/>
            </a:pPr>
            <a:r>
              <a:rPr lang="en-US" sz="1450" b="1" dirty="0">
                <a:solidFill>
                  <a:srgbClr val="B45309"/>
                </a:solidFill>
              </a:rPr>
              <a:t>The weak spots are steps 3 and 5: </a:t>
            </a:r>
            <a:pPr indent="0" marL="0">
              <a:buNone/>
            </a:pPr>
            <a:r>
              <a:rPr lang="en-US" sz="1450" dirty="0">
                <a:solidFill>
                  <a:schemeClr val="tx2"/>
                </a:solidFill>
              </a:rPr>
              <a:t>turning drift into a typed task is something you build, and closing with evidence is only partial.</a:t>
            </a:r>
            <a:endParaRPr lang="en-US" sz="1450" dirty="0"/>
          </a:p>
        </p:txBody>
      </p:sp>
      <p:sp>
        <p:nvSpPr>
          <p:cNvPr id="10"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SailPoint Developer (Lifecycle States; Identity Attributes Changed; Native Change; Workflows; Search); SailPoint Entra, AD, SDIM and certification docs.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The lanes on these products</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THE STATUS COLUMN SAYS WHAT THE VENDORS DOCUMENT AND WHAT IS THE PROGRAM'S (INFERENCE) OR (DESIGN GUIDANCE)</a:t>
            </a:r>
            <a:endParaRPr lang="en-US" sz="1100" dirty="0"/>
          </a:p>
        </p:txBody>
      </p:sp>
      <p:graphicFrame>
        <p:nvGraphicFramePr>
          <p:cNvPr id="8" name="Lanes"/>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2057400"/>
                <a:gridCol w="4206240"/>
                <a:gridCol w="3291840"/>
                <a:gridCol w="155448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Lane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Done by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Mechanism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Machine, autonomous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 lifecycle states and birthright access; ServiceNow standard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Pre-authorized, low-risk standard changes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(inference) mapping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Machine, gated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 access request with approval; ServiceNow normal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Approvers by owner, manager or governance group; normal change with approvals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(inference) mapping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Human decision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 certification decisions; ServiceNow approval or CAB</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Unsigned revoke decisions aren't applied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Documented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Protocol-enforced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Neither product: certificates stay with the CLM platform (Book 07)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Declared exception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Desk ticket for a disconnected application, a recorded session and an end date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 Desk integration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(design guidance)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Emergency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ServiceNow emergency change; a SailPoint workflow or lifecycle-state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Emergency changes go straight to the CAB; unplanned changes to a configuration item create an unauthorized change request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Partly documented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ServiceNow, Change types (Zurich ITSM); SailPoint Developer, Access Request Approvals; SailPoint, Understanding Certifications; SDIM intro.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Gaps 1 and 2: ticket status, and who approves</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Gap 1" descr="">
            <a:extLst>
              <a:ext uri="{C183D7F6-B498-43B3-948B-1728B52AA6E4}">
                <adec:decorative xmlns:adec="http://schemas.microsoft.com/office/drawing/2017/decorative" val="1"/>
              </a:ext>
            </a:extLst>
          </p:cNvPr>
          <p:cNvSpPr/>
          <p:nvPr/>
        </p:nvSpPr>
        <p:spPr>
          <a:xfrm>
            <a:off x="548640" y="1371600"/>
            <a:ext cx="5486400" cy="3246120"/>
          </a:xfrm>
          <a:prstGeom prst="roundRect">
            <a:avLst>
              <a:gd name="adj" fmla="val 225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Gap 1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GAP 1</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A ticket status isn't a re-read</a:t>
            </a:r>
            <a:endParaRPr lang="en-US" sz="1400" dirty="0"/>
          </a:p>
        </p:txBody>
      </p:sp>
      <p:sp>
        <p:nvSpPr>
          <p:cNvPr id="7" name="Gap 1 list"/>
          <p:cNvSpPr txBox="1"/>
          <p:nvPr/>
        </p:nvSpPr>
        <p:spPr>
          <a:xfrm>
            <a:off x="731520" y="213055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450" dirty="0">
                <a:solidFill>
                  <a:schemeClr val="tx2"/>
                </a:solidFill>
              </a:rPr>
              <a:t>SailPoint's Service Desk best practices: the mapped ServiceNow status decides when the provisioning task is "treated as complete"</a:t>
            </a:r>
            <a:endParaRPr lang="en-US" sz="1400" dirty="0"/>
          </a:p>
          <a:p>
            <a:pPr marL="342900" indent="-342900">
              <a:spcAft>
                <a:spcPts val="300"/>
              </a:spcAft>
              <a:buSzPct val="100000"/>
              <a:buChar char="•"/>
            </a:pPr>
            <a:r>
              <a:rPr lang="en-US" sz="1450" dirty="0">
                <a:solidFill>
                  <a:schemeClr val="tx2"/>
                </a:solidFill>
              </a:rPr>
              <a:t>That is what Book 13 calls closure by assertion</a:t>
            </a:r>
            <a:endParaRPr lang="en-US" sz="1400" dirty="0"/>
          </a:p>
          <a:p>
            <a:pPr marL="342900" indent="-342900">
              <a:spcAft>
                <a:spcPts val="300"/>
              </a:spcAft>
              <a:buSzPct val="100000"/>
              <a:buChar char="•"/>
            </a:pPr>
            <a:r>
              <a:rPr lang="en-US" sz="1450" dirty="0">
                <a:solidFill>
                  <a:schemeClr val="tx2"/>
                </a:solidFill>
              </a:rPr>
              <a:t>(Design guidance) Close the ServiceNow record only on evidence: the next SailPoint aggregation, or a native-change event, showing the account in the intended state</a:t>
            </a:r>
            <a:endParaRPr lang="en-US" sz="1400" dirty="0"/>
          </a:p>
        </p:txBody>
      </p:sp>
      <p:sp>
        <p:nvSpPr>
          <p:cNvPr id="8" name="Gap 2" descr="">
            <a:extLst>
              <a:ext uri="{C183D7F6-B498-43B3-948B-1728B52AA6E4}">
                <adec:decorative xmlns:adec="http://schemas.microsoft.com/office/drawing/2017/decorative" val="1"/>
              </a:ext>
            </a:extLst>
          </p:cNvPr>
          <p:cNvSpPr/>
          <p:nvPr/>
        </p:nvSpPr>
        <p:spPr>
          <a:xfrm>
            <a:off x="6172200" y="1371600"/>
            <a:ext cx="5486400" cy="3246120"/>
          </a:xfrm>
          <a:prstGeom prst="roundRect">
            <a:avLst>
              <a:gd name="adj" fmla="val 225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Gap 2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GAP 2</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The catalog app moves approval into ServiceNow</a:t>
            </a:r>
            <a:endParaRPr lang="en-US" sz="1400" dirty="0"/>
          </a:p>
        </p:txBody>
      </p:sp>
      <p:sp>
        <p:nvSpPr>
          <p:cNvPr id="10" name="Gap 2 list"/>
          <p:cNvSpPr txBox="1"/>
          <p:nvPr/>
        </p:nvSpPr>
        <p:spPr>
          <a:xfrm>
            <a:off x="6355080" y="213055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450" dirty="0">
                <a:solidFill>
                  <a:schemeClr val="tx2"/>
                </a:solidFill>
              </a:rPr>
              <a:t>Book 15, Chapter 03: owner-governed access (A2 and A3) is decided in the identity governance platform</a:t>
            </a:r>
            <a:endParaRPr lang="en-US" sz="1400" dirty="0"/>
          </a:p>
          <a:p>
            <a:pPr marL="342900" indent="-342900">
              <a:spcAft>
                <a:spcPts val="300"/>
              </a:spcAft>
              <a:buSzPct val="100000"/>
              <a:buChar char="•"/>
            </a:pPr>
            <a:r>
              <a:rPr lang="en-US" sz="1450" dirty="0">
                <a:solidFill>
                  <a:schemeClr val="tx2"/>
                </a:solidFill>
              </a:rPr>
              <a:t>With the Service Catalog app, approval is defined in ServiceNow</a:t>
            </a:r>
            <a:endParaRPr lang="en-US" sz="1400" dirty="0"/>
          </a:p>
          <a:p>
            <a:pPr marL="342900" indent="-342900">
              <a:spcAft>
                <a:spcPts val="300"/>
              </a:spcAft>
              <a:buSzPct val="100000"/>
              <a:buChar char="•"/>
            </a:pPr>
            <a:r>
              <a:rPr lang="en-US" sz="1450" dirty="0">
                <a:solidFill>
                  <a:schemeClr val="tx2"/>
                </a:solidFill>
              </a:rPr>
              <a:t>(Design guidance) Choose one approver system per authority class and write it down: for example, ServiceNow approves A0 and A1, SailPoint approves A2 and A3, and the catalog app only collects the request</a:t>
            </a:r>
            <a:endParaRPr lang="en-US" sz="1400" dirty="0"/>
          </a:p>
        </p:txBody>
      </p:sp>
      <p:sp>
        <p:nvSpPr>
          <p:cNvPr id="11" name="As shipped" descr="">
            <a:extLst>
              <a:ext uri="{C183D7F6-B498-43B3-948B-1728B52AA6E4}">
                <adec:decorative xmlns:adec="http://schemas.microsoft.com/office/drawing/2017/decorative" val="1"/>
              </a:ext>
            </a:extLst>
          </p:cNvPr>
          <p:cNvSpPr/>
          <p:nvPr/>
        </p:nvSpPr>
        <p:spPr>
          <a:xfrm>
            <a:off x="548640" y="4846320"/>
            <a:ext cx="11109960" cy="868680"/>
          </a:xfrm>
          <a:prstGeom prst="roundRect">
            <a:avLst>
              <a:gd name="adj" fmla="val 8421"/>
            </a:avLst>
          </a:prstGeom>
          <a:solidFill>
            <a:srgbClr val="FFFFFF"/>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12" name="Icon FaTriangleExclamation" descr="">
            <a:extLst>
              <a:ext uri="{C183D7F6-B498-43B3-948B-1728B52AA6E4}">
                <adec:decorative xmlns:adec="http://schemas.microsoft.com/office/drawing/2017/decorative" val="1"/>
              </a:ext>
            </a:extLst>
          </p:cNvPr>
          <p:cNvSpPr/>
          <p:nvPr/>
        </p:nvSpPr>
        <p:spPr>
          <a:xfrm>
            <a:off x="777240" y="4937760"/>
            <a:ext cx="685800" cy="685800"/>
          </a:xfrm>
          <a:prstGeom prst="ellipse">
            <a:avLst/>
          </a:prstGeom>
          <a:solidFill>
            <a:srgbClr val="B91C1C"/>
          </a:solidFill>
          <a:ln w="12700">
            <a:solidFill>
              <a:srgbClr val="B91C1C"/>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5102352"/>
            <a:ext cx="356616" cy="356616"/>
          </a:xfrm>
          <a:prstGeom prst="rect">
            <a:avLst/>
          </a:prstGeom>
        </p:spPr>
      </p:pic>
      <p:sp>
        <p:nvSpPr>
          <p:cNvPr id="14" name="As shipped text"/>
          <p:cNvSpPr txBox="1"/>
          <p:nvPr/>
        </p:nvSpPr>
        <p:spPr>
          <a:xfrm>
            <a:off x="1737360" y="4892040"/>
            <a:ext cx="9738360" cy="777240"/>
          </a:xfrm>
          <a:prstGeom prst="rect">
            <a:avLst/>
          </a:prstGeom>
          <a:noFill/>
          <a:ln/>
        </p:spPr>
        <p:txBody>
          <a:bodyPr wrap="square" lIns="0" tIns="0" rIns="0" bIns="0" rtlCol="0" anchor="ctr"/>
          <a:lstStyle/>
          <a:p>
            <a:pPr indent="0" marL="0">
              <a:buNone/>
            </a:pPr>
            <a:r>
              <a:rPr lang="en-US" sz="1450" b="1" dirty="0">
                <a:solidFill>
                  <a:srgbClr val="B91C1C"/>
                </a:solidFill>
              </a:rPr>
              <a:t>Used as shipped, </a:t>
            </a:r>
            <a:pPr indent="0" marL="0">
              <a:buNone/>
            </a:pPr>
            <a:r>
              <a:rPr lang="en-US" sz="1450" dirty="0">
                <a:solidFill>
                  <a:schemeClr val="tx2"/>
                </a:solidFill>
              </a:rPr>
              <a:t>the products fall short of Book 13's loop in these two places. In each case the fix is a design choice (design guidance).</a:t>
            </a:r>
            <a:endParaRPr lang="en-US" sz="14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SailPoint, SDIM: Best Practices; Getting Started with ServiceNow and ISC with the Service Catalog app; Book 15, Ch 03; Book 13, Ch 10.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Gaps 3 and 4: change records, and one writer</a:t>
            </a:r>
            <a:endParaRPr lang="en-US" sz="3000" dirty="0"/>
          </a:p>
        </p:txBody>
      </p:sp>
      <p:sp>
        <p:nvSpPr>
          <p:cNvPr id="3" name="Tag Why"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WHY</a:t>
            </a:r>
            <a:endParaRPr lang="en-US" sz="1100" dirty="0"/>
          </a:p>
        </p:txBody>
      </p:sp>
      <p:sp>
        <p:nvSpPr>
          <p:cNvPr id="5" name="Gap 3" descr="">
            <a:extLst>
              <a:ext uri="{C183D7F6-B498-43B3-948B-1728B52AA6E4}">
                <adec:decorative xmlns:adec="http://schemas.microsoft.com/office/drawing/2017/decorative" val="1"/>
              </a:ext>
            </a:extLst>
          </p:cNvPr>
          <p:cNvSpPr/>
          <p:nvPr/>
        </p:nvSpPr>
        <p:spPr>
          <a:xfrm>
            <a:off x="548640" y="1371600"/>
            <a:ext cx="5486400" cy="3246120"/>
          </a:xfrm>
          <a:prstGeom prst="roundRect">
            <a:avLst>
              <a:gd name="adj" fmla="val 225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6" name="Gap 3 head"/>
          <p:cNvSpPr txBox="1"/>
          <p:nvPr/>
        </p:nvSpPr>
        <p:spPr>
          <a:xfrm>
            <a:off x="73152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GAP 3</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No change-request tickets from ISC</a:t>
            </a:r>
            <a:endParaRPr lang="en-US" sz="1400" dirty="0"/>
          </a:p>
        </p:txBody>
      </p:sp>
      <p:sp>
        <p:nvSpPr>
          <p:cNvPr id="7" name="Gap 3 list"/>
          <p:cNvSpPr txBox="1"/>
          <p:nvPr/>
        </p:nvSpPr>
        <p:spPr>
          <a:xfrm>
            <a:off x="731520" y="213055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450" dirty="0">
                <a:solidFill>
                  <a:schemeClr val="tx2"/>
                </a:solidFill>
              </a:rPr>
              <a:t>ISC's Service Desk integration creates Service Requests and Incidents only</a:t>
            </a:r>
            <a:endParaRPr lang="en-US" sz="1400" dirty="0"/>
          </a:p>
          <a:p>
            <a:pPr marL="342900" indent="-342900">
              <a:spcAft>
                <a:spcPts val="300"/>
              </a:spcAft>
              <a:buSzPct val="100000"/>
              <a:buChar char="•"/>
            </a:pPr>
            <a:r>
              <a:rPr lang="en-US" sz="1450" dirty="0">
                <a:solidFill>
                  <a:schemeClr val="tx2"/>
                </a:solidFill>
              </a:rPr>
              <a:t>IdentityIQ's integration can create change requests</a:t>
            </a:r>
            <a:endParaRPr lang="en-US" sz="1400" dirty="0"/>
          </a:p>
          <a:p>
            <a:pPr marL="342900" indent="-342900">
              <a:spcAft>
                <a:spcPts val="300"/>
              </a:spcAft>
              <a:buSzPct val="100000"/>
              <a:buChar char="•"/>
            </a:pPr>
            <a:r>
              <a:rPr lang="en-US" sz="1450" dirty="0">
                <a:solidFill>
                  <a:schemeClr val="tx2"/>
                </a:solidFill>
              </a:rPr>
              <a:t>(Design guidance) Where a change class needs a change record, a ServiceNow flow raises it from the request</a:t>
            </a:r>
            <a:endParaRPr lang="en-US" sz="1400" dirty="0"/>
          </a:p>
          <a:p>
            <a:pPr marL="342900" indent="-342900">
              <a:spcAft>
                <a:spcPts val="300"/>
              </a:spcAft>
              <a:buSzPct val="100000"/>
              <a:buChar char="•"/>
            </a:pPr>
            <a:r>
              <a:rPr lang="en-US" sz="1450" dirty="0">
                <a:solidFill>
                  <a:schemeClr val="tx2"/>
                </a:solidFill>
              </a:rPr>
              <a:t>An agency that needs change-request tickets from the governance tool itself is an IdentityIQ case</a:t>
            </a:r>
            <a:endParaRPr lang="en-US" sz="1400" dirty="0"/>
          </a:p>
        </p:txBody>
      </p:sp>
      <p:sp>
        <p:nvSpPr>
          <p:cNvPr id="8" name="Gap 4" descr="">
            <a:extLst>
              <a:ext uri="{C183D7F6-B498-43B3-948B-1728B52AA6E4}">
                <adec:decorative xmlns:adec="http://schemas.microsoft.com/office/drawing/2017/decorative" val="1"/>
              </a:ext>
            </a:extLst>
          </p:cNvPr>
          <p:cNvSpPr/>
          <p:nvPr/>
        </p:nvSpPr>
        <p:spPr>
          <a:xfrm>
            <a:off x="6172200" y="1371600"/>
            <a:ext cx="5486400" cy="3246120"/>
          </a:xfrm>
          <a:prstGeom prst="roundRect">
            <a:avLst>
              <a:gd name="adj" fmla="val 2254"/>
            </a:avLst>
          </a:prstGeom>
          <a:solidFill>
            <a:srgbClr val="FBE4E4"/>
          </a:solidFill>
          <a:ln w="12700">
            <a:solidFill>
              <a:srgbClr val="B91C1C"/>
            </a:solidFill>
            <a:prstDash val="solid"/>
          </a:ln>
          <a:effectLst>
            <a:outerShdw sx="100000" sy="100000" kx="0" ky="0" algn="bl" rotWithShape="0" blurRad="76200" dist="25400" dir="5400000">
              <a:srgbClr val="64748B">
                <a:alpha val="22000"/>
              </a:srgbClr>
            </a:outerShdw>
          </a:effectLst>
        </p:spPr>
      </p:sp>
      <p:sp>
        <p:nvSpPr>
          <p:cNvPr id="9" name="Gap 4 head"/>
          <p:cNvSpPr txBox="1"/>
          <p:nvPr/>
        </p:nvSpPr>
        <p:spPr>
          <a:xfrm>
            <a:off x="6355080" y="1481328"/>
            <a:ext cx="5120640" cy="640080"/>
          </a:xfrm>
          <a:prstGeom prst="rect">
            <a:avLst/>
          </a:prstGeom>
          <a:noFill/>
          <a:ln/>
        </p:spPr>
        <p:txBody>
          <a:bodyPr wrap="square" lIns="0" tIns="0" rIns="0" bIns="0" rtlCol="0" anchor="t"/>
          <a:lstStyle/>
          <a:p>
            <a:pPr indent="0" marL="0">
              <a:buNone/>
            </a:pPr>
            <a:r>
              <a:rPr lang="en-US" sz="1100" b="1" dirty="0">
                <a:solidFill>
                  <a:srgbClr val="64748B"/>
                </a:solidFill>
              </a:rPr>
              <a:t>GAP 4</a:t>
            </a:r>
            <a:endParaRPr lang="en-US" sz="1400" dirty="0"/>
          </a:p>
          <a:p>
            <a:pPr indent="0" marL="0">
              <a:buNone/>
            </a:pPr>
            <a:r>
              <a:rPr lang="en-US" sz="1550" b="1" dirty="0">
                <a:solidFill>
                  <a:srgbClr val="B91C1C"/>
                </a:solidFill>
                <a:latin typeface="Cambria" pitchFamily="34" charset="0"/>
                <a:ea typeface="Cambria" pitchFamily="34" charset="-122"/>
                <a:cs typeface="Cambria" pitchFamily="34" charset="-120"/>
              </a:rPr>
              <a:t>One door into the directory becomes a choice</a:t>
            </a:r>
            <a:endParaRPr lang="en-US" sz="1400" dirty="0"/>
          </a:p>
        </p:txBody>
      </p:sp>
      <p:sp>
        <p:nvSpPr>
          <p:cNvPr id="10" name="Gap 4 list"/>
          <p:cNvSpPr txBox="1"/>
          <p:nvPr/>
        </p:nvSpPr>
        <p:spPr>
          <a:xfrm>
            <a:off x="6355080" y="2130552"/>
            <a:ext cx="5166360" cy="2414016"/>
          </a:xfrm>
          <a:prstGeom prst="rect">
            <a:avLst/>
          </a:prstGeom>
          <a:noFill/>
          <a:ln/>
        </p:spPr>
        <p:txBody>
          <a:bodyPr wrap="square" lIns="0" tIns="0" rIns="0" bIns="0" rtlCol="0" anchor="t"/>
          <a:lstStyle/>
          <a:p>
            <a:pPr marL="342900" indent="-342900">
              <a:spcAft>
                <a:spcPts val="300"/>
              </a:spcAft>
              <a:buSzPct val="100000"/>
              <a:buChar char="•"/>
            </a:pPr>
            <a:r>
              <a:rPr lang="en-US" sz="1450" dirty="0">
                <a:solidFill>
                  <a:schemeClr val="tx2"/>
                </a:solidFill>
              </a:rPr>
              <a:t>SailPoint reads Oracle HCM Cloud directly, with no on-premises appliance, and writes back only user name and work email, as Book 03 allows</a:t>
            </a:r>
            <a:endParaRPr lang="en-US" sz="1400" dirty="0"/>
          </a:p>
          <a:p>
            <a:pPr marL="342900" indent="-342900">
              <a:spcAft>
                <a:spcPts val="300"/>
              </a:spcAft>
              <a:buSzPct val="100000"/>
              <a:buChar char="•"/>
            </a:pPr>
            <a:r>
              <a:rPr lang="en-US" sz="1450" dirty="0">
                <a:solidFill>
                  <a:schemeClr val="tx2"/>
                </a:solidFill>
              </a:rPr>
              <a:t>Book 03's design makes Entra inbound provisioning the one writer into the directory</a:t>
            </a:r>
            <a:endParaRPr lang="en-US" sz="1400" dirty="0"/>
          </a:p>
          <a:p>
            <a:pPr marL="342900" indent="-342900">
              <a:spcAft>
                <a:spcPts val="300"/>
              </a:spcAft>
              <a:buSzPct val="100000"/>
              <a:buChar char="•"/>
            </a:pPr>
            <a:r>
              <a:rPr lang="en-US" sz="1450" dirty="0">
                <a:solidFill>
                  <a:schemeClr val="tx2"/>
                </a:solidFill>
              </a:rPr>
              <a:t>(Design guidance) Pick one writer per attribute: inbound provisioning stays the door and SailPoint governs entitlements, or SailPoint becomes the provisioning service with Book 03's middleware duties</a:t>
            </a:r>
            <a:endParaRPr lang="en-US" sz="1400" dirty="0"/>
          </a:p>
        </p:txBody>
      </p:sp>
      <p:sp>
        <p:nvSpPr>
          <p:cNvPr id="11" name="Not both" descr="">
            <a:extLst>
              <a:ext uri="{C183D7F6-B498-43B3-948B-1728B52AA6E4}">
                <adec:decorative xmlns:adec="http://schemas.microsoft.com/office/drawing/2017/decorative" val="1"/>
              </a:ext>
            </a:extLst>
          </p:cNvPr>
          <p:cNvSpPr/>
          <p:nvPr/>
        </p:nvSpPr>
        <p:spPr>
          <a:xfrm>
            <a:off x="548640" y="4846320"/>
            <a:ext cx="11109960" cy="868680"/>
          </a:xfrm>
          <a:prstGeom prst="roundRect">
            <a:avLst>
              <a:gd name="adj" fmla="val 8421"/>
            </a:avLst>
          </a:prstGeom>
          <a:solidFill>
            <a:srgbClr val="FFFFFF"/>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12" name="Icon FaRightLeft" descr="">
            <a:extLst>
              <a:ext uri="{C183D7F6-B498-43B3-948B-1728B52AA6E4}">
                <adec:decorative xmlns:adec="http://schemas.microsoft.com/office/drawing/2017/decorative" val="1"/>
              </a:ext>
            </a:extLst>
          </p:cNvPr>
          <p:cNvSpPr/>
          <p:nvPr/>
        </p:nvSpPr>
        <p:spPr>
          <a:xfrm>
            <a:off x="777240" y="4937760"/>
            <a:ext cx="685800" cy="685800"/>
          </a:xfrm>
          <a:prstGeom prst="ellipse">
            <a:avLst/>
          </a:prstGeom>
          <a:solidFill>
            <a:srgbClr val="1F2A44"/>
          </a:solidFill>
          <a:ln w="12700">
            <a:solidFill>
              <a:srgbClr val="1F2A44"/>
            </a:solidFill>
            <a:prstDash val="solid"/>
          </a:ln>
        </p:spPr>
      </p:sp>
      <p:pic>
        <p:nvPicPr>
          <p:cNvPr id="13"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41832" y="5102352"/>
            <a:ext cx="356616" cy="356616"/>
          </a:xfrm>
          <a:prstGeom prst="rect">
            <a:avLst/>
          </a:prstGeom>
        </p:spPr>
      </p:pic>
      <p:sp>
        <p:nvSpPr>
          <p:cNvPr id="14" name="Not both text"/>
          <p:cNvSpPr txBox="1"/>
          <p:nvPr/>
        </p:nvSpPr>
        <p:spPr>
          <a:xfrm>
            <a:off x="1737360" y="4892040"/>
            <a:ext cx="9738360" cy="777240"/>
          </a:xfrm>
          <a:prstGeom prst="rect">
            <a:avLst/>
          </a:prstGeom>
          <a:noFill/>
          <a:ln/>
        </p:spPr>
        <p:txBody>
          <a:bodyPr wrap="square" lIns="0" tIns="0" rIns="0" bIns="0" rtlCol="0" anchor="ctr"/>
          <a:lstStyle/>
          <a:p>
            <a:pPr indent="0" marL="0">
              <a:buNone/>
            </a:pPr>
            <a:r>
              <a:rPr lang="en-US" sz="1450" b="1" dirty="0">
                <a:solidFill>
                  <a:srgbClr val="1F2A44"/>
                </a:solidFill>
              </a:rPr>
              <a:t>Not both: </a:t>
            </a:r>
            <a:pPr indent="0" marL="0">
              <a:buNone/>
            </a:pPr>
            <a:r>
              <a:rPr lang="en-US" sz="1450" dirty="0">
                <a:solidFill>
                  <a:schemeClr val="tx2"/>
                </a:solidFill>
              </a:rPr>
              <a:t>either Entra inbound provisioning or SailPoint writes each attribute into the directory (design guidance).</a:t>
            </a:r>
            <a:endParaRPr lang="en-US" sz="145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SailPoint, SDIM intro; Configuring IdentityIQ to Integrate with ServiceNow; Oracle HCM Cloud SaaS: Supported Features; Book 03, Ch 05.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Identity fixes: HR facts, leavers and stray writes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(INFERENCE) OR (DESIGN GUIDANCE) UNLESS THE SOURCES LINE CITES A VENDOR  ·  FROM THE IDENTITY-MAINTENANCE FIX CATALOG</a:t>
            </a:r>
            <a:endParaRPr lang="en-US" sz="1100" dirty="0"/>
          </a:p>
        </p:txBody>
      </p:sp>
      <p:graphicFrame>
        <p:nvGraphicFramePr>
          <p:cNvPr id="11" name="Fixes 1"/>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2468880"/>
                <a:gridCol w="2880360"/>
                <a:gridCol w="2148840"/>
                <a:gridCol w="361188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Route and track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 and carry back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wrong fact in HR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 "Identity Attributes Changed", or a ServiceNow "my information is wrong" item</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ServiceNow case to HR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HR corrects it in Core HCM; SailPoint re-aggregates. Only user name and work email are writable back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late or retroactive personnel action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lifecycle-state change on aggregation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ServiceNow emergency change if after the fact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leaver state disables accounts; the Entra connector revokes sessions on disable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 urgent leaver HR hasn't entered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manager or security calls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ServiceNow emergency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SailPoint workflow or manual lifecycle-state change runs the same leaver sequence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record the pipeline couldn't apply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failed provisioning action, or a Service Desk "Failed" status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ServiceNow task to the identity data steward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Re-run through SailPoint, never by hand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write outside the pipeline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 native change detection: an account updated outside SailPoint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ServiceNow task, provenance class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 restores the value; the writer's access is reviewed. The closest one-to-one fit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SailPoint Developer (Identity Attributes Changed; Lifecycle States; Workflows; Native Change); SailPoint Entra, Oracle HCM and SDIM status docs.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Identity fixes: matching, contractors and rules</a:t>
            </a:r>
            <a:endParaRPr lang="en-US" sz="3000" dirty="0"/>
          </a:p>
        </p:txBody>
      </p:sp>
      <p:sp>
        <p:nvSpPr>
          <p:cNvPr id="3" name="Tag How"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HOW</a:t>
            </a:r>
            <a:endParaRPr lang="en-US" sz="1100" dirty="0"/>
          </a:p>
        </p:txBody>
      </p:sp>
      <p:sp>
        <p:nvSpPr>
          <p:cNvPr id="5" name="Design label"/>
          <p:cNvSpPr txBox="1"/>
          <p:nvPr/>
        </p:nvSpPr>
        <p:spPr>
          <a:xfrm>
            <a:off x="548640" y="1298448"/>
            <a:ext cx="11109960" cy="256032"/>
          </a:xfrm>
          <a:prstGeom prst="rect">
            <a:avLst/>
          </a:prstGeom>
          <a:noFill/>
          <a:ln/>
        </p:spPr>
        <p:txBody>
          <a:bodyPr wrap="square" lIns="0" tIns="0" rIns="0" bIns="0" rtlCol="0" anchor="ctr"/>
          <a:lstStyle/>
          <a:p>
            <a:pPr indent="0" marL="0">
              <a:buNone/>
            </a:pPr>
            <a:r>
              <a:rPr lang="en-US" sz="1100" b="1" dirty="0">
                <a:solidFill>
                  <a:srgbClr val="B45309"/>
                </a:solidFill>
              </a:rPr>
              <a:t>(INFERENCE) OR (DESIGN GUIDANCE) UNLESS THE SOURCES LINE CITES A VENDOR  ·  FROM THE IDENTITY-MAINTENANCE FIX CATALOG</a:t>
            </a:r>
            <a:endParaRPr lang="en-US" sz="1100" dirty="0"/>
          </a:p>
        </p:txBody>
      </p:sp>
      <p:graphicFrame>
        <p:nvGraphicFramePr>
          <p:cNvPr id="12" name="Fixes 2"/>
          <p:cNvGraphicFramePr>
            <a:graphicFrameLocks noGrp="1"/>
          </p:cNvGraphicFramePr>
          <p:nvPr>
            <p:extLst>
              <p:ext uri="{D42A27DB-BD31-4B8C-83A1-F6EECF244321}">
                <p14:modId xmlns:p14="http://schemas.microsoft.com/office/powerpoint/2010/main" val="1579011935"/>
              </p:ext>
            </p:extLst>
          </p:nvPr>
        </p:nvGraphicFramePr>
        <p:xfrm>
          <a:off x="548640" y="1627632"/>
          <a:ext cx="11109960" cy="914400"/>
        </p:xfrm>
        <a:graphic>
          <a:graphicData uri="http://schemas.openxmlformats.org/drawingml/2006/table">
            <a:tbl>
              <a:tblPr firstRow="1" bandRow="1"/>
              <a:tblGrid>
                <a:gridCol w="2468880"/>
                <a:gridCol w="2880360"/>
                <a:gridCol w="2148840"/>
                <a:gridCol w="3611880"/>
              </a:tblGrid>
              <a:tr h="292608">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Detect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Route and track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00" b="1" dirty="0">
                          <a:solidFill>
                            <a:srgbClr val="FFFFFF"/>
                          </a:solidFill>
                          <a:latin typeface="Calibri" pitchFamily="34" charset="0"/>
                          <a:ea typeface="Calibri" pitchFamily="34" charset="-122"/>
                          <a:cs typeface="Calibri" pitchFamily="34" charset="-120"/>
                        </a:rPr>
                        <a:t>Fix and carry back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An account that matches nobody</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Uncorrelated accounts on aggregation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account owner decides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Correlate it to a person, or disable it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The same person twice, or a broken link</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SailPoint correlation; rehire and conversion handling</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Data architect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correlation-rule change; partial support for some mover cases in the change feed</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fact HR doesn't own (contractors)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separate contractor source in SailPoint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Sponsor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Correct it in the contractor source; confirm NERM is in the ISC authorization from the package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rule that derives the wrong access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 certification campaign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Governance body, via a ServiceNow normal change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Change the role or lifecycle rule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5836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Residual access after a move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Attribute-change trigger, then a certification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Entitlement owner</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Previous-state access is revoked automatically; else through the connector or a Service Desk ticket</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75488">
                <a:tc>
                  <a:txBody>
                    <a:bodyPr/>
                    <a:lstStyle/>
                    <a:p>
                      <a:pPr indent="0" marL="0">
                        <a:buNone/>
                      </a:pPr>
                      <a:r>
                        <a:rPr lang="en-US" sz="1200" b="1" dirty="0">
                          <a:solidFill>
                            <a:srgbClr val="1F2A44"/>
                          </a:solidFill>
                          <a:latin typeface="Calibri" pitchFamily="34" charset="0"/>
                          <a:ea typeface="Calibri" pitchFamily="34" charset="-122"/>
                          <a:cs typeface="Calibri" pitchFamily="34" charset="-120"/>
                        </a:rPr>
                        <a:t>A credential that outlives the person</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Outside both products: PIV and certificates</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Credentialing office</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00" dirty="0">
                          <a:solidFill>
                            <a:srgbClr val="334155"/>
                          </a:solidFill>
                          <a:latin typeface="Calibri" pitchFamily="34" charset="0"/>
                          <a:ea typeface="Calibri" pitchFamily="34" charset="-122"/>
                          <a:cs typeface="Calibri" pitchFamily="34" charset="-120"/>
                        </a:rPr>
                        <a:t>The card system and the CLM platform (Book 07)</a:t>
                      </a:r>
                      <a:endParaRPr lang="en-US" sz="120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SailPoint Developer (Native Change; Identity Attributes Changed; Lifecycle States); SailPoint Oracle HCM and certification docs; NERM press release (Mar 4, 2025).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Federal availability and cautions</a:t>
            </a:r>
            <a:endParaRPr lang="en-US" sz="3000" dirty="0"/>
          </a:p>
        </p:txBody>
      </p:sp>
      <p:sp>
        <p:nvSpPr>
          <p:cNvPr id="3" name="Tag What"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WHAT</a:t>
            </a:r>
            <a:endParaRPr lang="en-US" sz="1100" dirty="0"/>
          </a:p>
        </p:txBody>
      </p:sp>
      <p:graphicFrame>
        <p:nvGraphicFramePr>
          <p:cNvPr id="13" name="Availability"/>
          <p:cNvGraphicFramePr>
            <a:graphicFrameLocks noGrp="1"/>
          </p:cNvGraphicFramePr>
          <p:nvPr>
            <p:extLst>
              <p:ext uri="{D42A27DB-BD31-4B8C-83A1-F6EECF244321}">
                <p14:modId xmlns:p14="http://schemas.microsoft.com/office/powerpoint/2010/main" val="1579011935"/>
              </p:ext>
            </p:extLst>
          </p:nvPr>
        </p:nvGraphicFramePr>
        <p:xfrm>
          <a:off x="548640" y="1371600"/>
          <a:ext cx="11109960" cy="914400"/>
        </p:xfrm>
        <a:graphic>
          <a:graphicData uri="http://schemas.openxmlformats.org/drawingml/2006/table">
            <a:tbl>
              <a:tblPr firstRow="1" bandRow="1"/>
              <a:tblGrid>
                <a:gridCol w="2834640"/>
                <a:gridCol w="3063240"/>
                <a:gridCol w="2651760"/>
                <a:gridCol w="2560320"/>
              </a:tblGrid>
              <a:tr h="300228">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Piece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GCC (Microsoft 365 Moderate)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GCC High</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indent="0" marL="0">
                        <a:buNone/>
                      </a:pPr>
                      <a:r>
                        <a:rPr lang="en-US" sz="1250" b="1" dirty="0">
                          <a:solidFill>
                            <a:srgbClr val="FFFFFF"/>
                          </a:solidFill>
                          <a:latin typeface="Calibri" pitchFamily="34" charset="0"/>
                          <a:ea typeface="Calibri" pitchFamily="34" charset="-122"/>
                          <a:cs typeface="Calibri" pitchFamily="34" charset="-120"/>
                        </a:rPr>
                        <a:t>Note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SailPoint ISC</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Worldwide Microsoft Graph endpoints apply</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Endpoint overrides documented for the Entra source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FedRAMP Moderate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ServiceNow Entra ID spoke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Default Graph endpoint fits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documented on the spoke page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Needs an Integration Hub subscription</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490728">
                <a:tc>
                  <a:txBody>
                    <a:bodyPr/>
                    <a:lstStyle/>
                    <a:p>
                      <a:pPr indent="0" marL="0">
                        <a:buNone/>
                      </a:pPr>
                      <a:r>
                        <a:rPr lang="en-US" sz="1250" b="1" dirty="0">
                          <a:solidFill>
                            <a:srgbClr val="1F2A44"/>
                          </a:solidFill>
                          <a:latin typeface="Calibri" pitchFamily="34" charset="0"/>
                          <a:ea typeface="Calibri" pitchFamily="34" charset="-122"/>
                          <a:cs typeface="Calibri" pitchFamily="34" charset="-120"/>
                        </a:rPr>
                        <a:t>SailPoint's ServiceNow apps</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confirmed in ServiceNow's government Store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Not confirmed</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250" dirty="0">
                          <a:solidFill>
                            <a:srgbClr val="334155"/>
                          </a:solidFill>
                          <a:latin typeface="Calibri" pitchFamily="34" charset="0"/>
                          <a:ea typeface="Calibri" pitchFamily="34" charset="-122"/>
                          <a:cs typeface="Calibri" pitchFamily="34" charset="-120"/>
                        </a:rPr>
                        <a:t>The government cloud has an isolated Store instance</a:t>
                      </a:r>
                      <a:endParaRPr lang="en-US" sz="1250" dirty="0">
                        <a:latin typeface="Calibri" charset="0"/>
                        <a:ea typeface="Calibri" charset="0"/>
                        <a:cs typeface="Calibri" charset="0"/>
                      </a:endParaRPr>
                    </a:p>
                  </a:txBody>
                  <a:tcPr marL="91440" marR="91440" marT="45720" marB="4572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6" name="Where" descr="">
            <a:extLst>
              <a:ext uri="{C183D7F6-B498-43B3-948B-1728B52AA6E4}">
                <adec:decorative xmlns:adec="http://schemas.microsoft.com/office/drawing/2017/decorative" val="1"/>
              </a:ext>
            </a:extLst>
          </p:cNvPr>
          <p:cNvSpPr/>
          <p:nvPr/>
        </p:nvSpPr>
        <p:spPr>
          <a:xfrm>
            <a:off x="548640" y="3326892"/>
            <a:ext cx="3611880" cy="2570988"/>
          </a:xfrm>
          <a:prstGeom prst="roundRect">
            <a:avLst>
              <a:gd name="adj" fmla="val 284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7" name="Where head"/>
          <p:cNvSpPr txBox="1"/>
          <p:nvPr/>
        </p:nvSpPr>
        <p:spPr>
          <a:xfrm>
            <a:off x="731520" y="3436620"/>
            <a:ext cx="3246120" cy="640080"/>
          </a:xfrm>
          <a:prstGeom prst="rect">
            <a:avLst/>
          </a:prstGeom>
          <a:noFill/>
          <a:ln/>
        </p:spPr>
        <p:txBody>
          <a:bodyPr wrap="square" lIns="0" tIns="0" rIns="0" bIns="0" rtlCol="0" anchor="t"/>
          <a:lstStyle/>
          <a:p>
            <a:pPr indent="0" marL="0">
              <a:buNone/>
            </a:pPr>
            <a:r>
              <a:rPr lang="en-US" sz="1100" b="1" dirty="0">
                <a:solidFill>
                  <a:srgbClr val="64748B"/>
                </a:solidFill>
              </a:rPr>
              <a:t>CAUTION 1</a:t>
            </a:r>
            <a:endParaRPr lang="en-US" sz="1400" dirty="0"/>
          </a:p>
          <a:p>
            <a:pPr indent="0" marL="0">
              <a:buNone/>
            </a:pPr>
            <a:r>
              <a:rPr lang="en-US" sz="1550" b="1" dirty="0">
                <a:solidFill>
                  <a:srgbClr val="B45309"/>
                </a:solidFill>
                <a:latin typeface="Cambria" pitchFamily="34" charset="0"/>
                <a:ea typeface="Cambria" pitchFamily="34" charset="-122"/>
                <a:cs typeface="Cambria" pitchFamily="34" charset="-120"/>
              </a:rPr>
              <a:t>Where the connector runs</a:t>
            </a:r>
            <a:endParaRPr lang="en-US" sz="1400" dirty="0"/>
          </a:p>
        </p:txBody>
      </p:sp>
      <p:sp>
        <p:nvSpPr>
          <p:cNvPr id="8" name="Where list"/>
          <p:cNvSpPr txBox="1"/>
          <p:nvPr/>
        </p:nvSpPr>
        <p:spPr>
          <a:xfrm>
            <a:off x="731520" y="4085844"/>
            <a:ext cx="3291840" cy="173888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Cloud connectors call Graph from SailPoint's cloud; only AD runs through the on-premises appliance</a:t>
            </a:r>
            <a:endParaRPr lang="en-US" sz="1400" dirty="0"/>
          </a:p>
          <a:p>
            <a:pPr marL="342900" indent="-342900">
              <a:spcAft>
                <a:spcPts val="300"/>
              </a:spcAft>
              <a:buSzPct val="100000"/>
              <a:buChar char="•"/>
            </a:pPr>
            <a:r>
              <a:rPr lang="en-US" sz="1250" dirty="0">
                <a:solidFill>
                  <a:schemeClr val="tx2"/>
                </a:solidFill>
              </a:rPr>
              <a:t>Record which actions run from the vendor's cloud (inference)</a:t>
            </a:r>
            <a:endParaRPr lang="en-US" sz="1400" dirty="0"/>
          </a:p>
        </p:txBody>
      </p:sp>
      <p:sp>
        <p:nvSpPr>
          <p:cNvPr id="9" name="MFA" descr="">
            <a:extLst>
              <a:ext uri="{C183D7F6-B498-43B3-948B-1728B52AA6E4}">
                <adec:decorative xmlns:adec="http://schemas.microsoft.com/office/drawing/2017/decorative" val="1"/>
              </a:ext>
            </a:extLst>
          </p:cNvPr>
          <p:cNvSpPr/>
          <p:nvPr/>
        </p:nvSpPr>
        <p:spPr>
          <a:xfrm>
            <a:off x="4297680" y="3326892"/>
            <a:ext cx="3611880" cy="2570988"/>
          </a:xfrm>
          <a:prstGeom prst="roundRect">
            <a:avLst>
              <a:gd name="adj" fmla="val 284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0" name="MFA head"/>
          <p:cNvSpPr txBox="1"/>
          <p:nvPr/>
        </p:nvSpPr>
        <p:spPr>
          <a:xfrm>
            <a:off x="4480560" y="3436620"/>
            <a:ext cx="3246120" cy="640080"/>
          </a:xfrm>
          <a:prstGeom prst="rect">
            <a:avLst/>
          </a:prstGeom>
          <a:noFill/>
          <a:ln/>
        </p:spPr>
        <p:txBody>
          <a:bodyPr wrap="square" lIns="0" tIns="0" rIns="0" bIns="0" rtlCol="0" anchor="t"/>
          <a:lstStyle/>
          <a:p>
            <a:pPr indent="0" marL="0">
              <a:buNone/>
            </a:pPr>
            <a:r>
              <a:rPr lang="en-US" sz="1100" b="1" dirty="0">
                <a:solidFill>
                  <a:srgbClr val="64748B"/>
                </a:solidFill>
              </a:rPr>
              <a:t>CAUTION 2</a:t>
            </a:r>
            <a:endParaRPr lang="en-US" sz="1400" dirty="0"/>
          </a:p>
          <a:p>
            <a:pPr indent="0" marL="0">
              <a:buNone/>
            </a:pPr>
            <a:r>
              <a:rPr lang="en-US" sz="1550" b="1" dirty="0">
                <a:solidFill>
                  <a:srgbClr val="B45309"/>
                </a:solidFill>
                <a:latin typeface="Cambria" pitchFamily="34" charset="0"/>
                <a:ea typeface="Cambria" pitchFamily="34" charset="-122"/>
                <a:cs typeface="Cambria" pitchFamily="34" charset="-120"/>
              </a:rPr>
              <a:t>Vendor claims aren't policy</a:t>
            </a:r>
            <a:endParaRPr lang="en-US" sz="1400" dirty="0"/>
          </a:p>
        </p:txBody>
      </p:sp>
      <p:sp>
        <p:nvSpPr>
          <p:cNvPr id="11" name="MFA list"/>
          <p:cNvSpPr txBox="1"/>
          <p:nvPr/>
        </p:nvSpPr>
        <p:spPr>
          <a:xfrm>
            <a:off x="4480560" y="4085844"/>
            <a:ext cx="3291840" cy="173888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"MFA attribute management" isn't an authentication-method reset with identity proofing</a:t>
            </a:r>
            <a:endParaRPr lang="en-US" sz="1400" dirty="0"/>
          </a:p>
          <a:p>
            <a:pPr marL="342900" indent="-342900">
              <a:spcAft>
                <a:spcPts val="300"/>
              </a:spcAft>
              <a:buSzPct val="100000"/>
              <a:buChar char="•"/>
            </a:pPr>
            <a:r>
              <a:rPr lang="en-US" sz="1250" dirty="0">
                <a:solidFill>
                  <a:schemeClr val="tx2"/>
                </a:solidFill>
              </a:rPr>
              <a:t>That reset stays with the Book 15 help desk procedure</a:t>
            </a:r>
            <a:endParaRPr lang="en-US" sz="1400" dirty="0"/>
          </a:p>
        </p:txBody>
      </p:sp>
      <p:sp>
        <p:nvSpPr>
          <p:cNvPr id="12" name="Parity" descr="">
            <a:extLst>
              <a:ext uri="{C183D7F6-B498-43B3-948B-1728B52AA6E4}">
                <adec:decorative xmlns:adec="http://schemas.microsoft.com/office/drawing/2017/decorative" val="1"/>
              </a:ext>
            </a:extLst>
          </p:cNvPr>
          <p:cNvSpPr/>
          <p:nvPr/>
        </p:nvSpPr>
        <p:spPr>
          <a:xfrm>
            <a:off x="8046720" y="3326892"/>
            <a:ext cx="3611880" cy="2570988"/>
          </a:xfrm>
          <a:prstGeom prst="roundRect">
            <a:avLst>
              <a:gd name="adj" fmla="val 2845"/>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3" name="Parity head"/>
          <p:cNvSpPr txBox="1"/>
          <p:nvPr/>
        </p:nvSpPr>
        <p:spPr>
          <a:xfrm>
            <a:off x="8229600" y="3436620"/>
            <a:ext cx="3246120" cy="640080"/>
          </a:xfrm>
          <a:prstGeom prst="rect">
            <a:avLst/>
          </a:prstGeom>
          <a:noFill/>
          <a:ln/>
        </p:spPr>
        <p:txBody>
          <a:bodyPr wrap="square" lIns="0" tIns="0" rIns="0" bIns="0" rtlCol="0" anchor="t"/>
          <a:lstStyle/>
          <a:p>
            <a:pPr indent="0" marL="0">
              <a:buNone/>
            </a:pPr>
            <a:r>
              <a:rPr lang="en-US" sz="1100" b="1" dirty="0">
                <a:solidFill>
                  <a:srgbClr val="64748B"/>
                </a:solidFill>
              </a:rPr>
              <a:t>CAUTION 3</a:t>
            </a:r>
            <a:endParaRPr lang="en-US" sz="1400" dirty="0"/>
          </a:p>
          <a:p>
            <a:pPr indent="0" marL="0">
              <a:buNone/>
            </a:pPr>
            <a:r>
              <a:rPr lang="en-US" sz="1550" b="1" dirty="0">
                <a:solidFill>
                  <a:srgbClr val="B45309"/>
                </a:solidFill>
                <a:latin typeface="Cambria" pitchFamily="34" charset="0"/>
                <a:ea typeface="Cambria" pitchFamily="34" charset="-122"/>
                <a:cs typeface="Cambria" pitchFamily="34" charset="-120"/>
              </a:rPr>
              <a:t>Confirm the FedRAMP environment</a:t>
            </a:r>
            <a:endParaRPr lang="en-US" sz="1400" dirty="0"/>
          </a:p>
        </p:txBody>
      </p:sp>
      <p:sp>
        <p:nvSpPr>
          <p:cNvPr id="14" name="Parity list"/>
          <p:cNvSpPr txBox="1"/>
          <p:nvPr/>
        </p:nvSpPr>
        <p:spPr>
          <a:xfrm>
            <a:off x="8229600" y="4085844"/>
            <a:ext cx="3291840" cy="1738884"/>
          </a:xfrm>
          <a:prstGeom prst="rect">
            <a:avLst/>
          </a:prstGeom>
          <a:noFill/>
          <a:ln/>
        </p:spPr>
        <p:txBody>
          <a:bodyPr wrap="square" lIns="0" tIns="0" rIns="0" bIns="0" rtlCol="0" anchor="t"/>
          <a:lstStyle/>
          <a:p>
            <a:pPr marL="342900" indent="-342900">
              <a:spcAft>
                <a:spcPts val="300"/>
              </a:spcAft>
              <a:buSzPct val="100000"/>
              <a:buChar char="•"/>
            </a:pPr>
            <a:r>
              <a:rPr lang="en-US" sz="1250" dirty="0">
                <a:solidFill>
                  <a:schemeClr val="tx2"/>
                </a:solidFill>
              </a:rPr>
              <a:t>No SailPoint page found lists which features are or aren't in the FedRAMP environment</a:t>
            </a:r>
            <a:endParaRPr lang="en-US" sz="1400" dirty="0"/>
          </a:p>
          <a:p>
            <a:pPr marL="342900" indent="-342900">
              <a:spcAft>
                <a:spcPts val="300"/>
              </a:spcAft>
              <a:buSzPct val="100000"/>
              <a:buChar char="•"/>
            </a:pPr>
            <a:r>
              <a:rPr lang="en-US" sz="1250" dirty="0">
                <a:solidFill>
                  <a:schemeClr val="tx2"/>
                </a:solidFill>
              </a:rPr>
              <a:t>Ask before relying on any of this</a:t>
            </a:r>
            <a:endParaRPr lang="en-US" sz="1400" dirty="0"/>
          </a:p>
        </p:txBody>
      </p:sp>
      <p:sp>
        <p:nvSpPr>
          <p:cNvPr id="15"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Microsoft Learn, Graph national cloud deployments; SailPoint Azure Government endpoints, AD and Entra docs; ServiceNow Entra spoke; federal Store page. Oct 24, 2026.</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What to verify, decide, and read next</a:t>
            </a:r>
            <a:endParaRPr lang="en-US" sz="3000" dirty="0"/>
          </a:p>
        </p:txBody>
      </p:sp>
      <p:sp>
        <p:nvSpPr>
          <p:cNvPr id="3" name="Tag Who" descr="">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algn="ctr" indent="0" marL="0">
              <a:buNone/>
            </a:pPr>
            <a:r>
              <a:rPr lang="en-US" sz="1100" b="1" spc="100" kern="0" dirty="0">
                <a:solidFill>
                  <a:srgbClr val="FFFFFF"/>
                </a:solidFill>
              </a:rPr>
              <a:t>WHO</a:t>
            </a:r>
            <a:endParaRPr lang="en-US" sz="1100" dirty="0"/>
          </a:p>
        </p:txBody>
      </p:sp>
      <p:sp>
        <p:nvSpPr>
          <p:cNvPr id="5" name="Verify" descr="">
            <a:extLst>
              <a:ext uri="{C183D7F6-B498-43B3-948B-1728B52AA6E4}">
                <adec:decorative xmlns:adec="http://schemas.microsoft.com/office/drawing/2017/decorative" val="1"/>
              </a:ext>
            </a:extLst>
          </p:cNvPr>
          <p:cNvSpPr/>
          <p:nvPr/>
        </p:nvSpPr>
        <p:spPr>
          <a:xfrm>
            <a:off x="548640" y="1371600"/>
            <a:ext cx="3611880" cy="3291840"/>
          </a:xfrm>
          <a:prstGeom prst="roundRect">
            <a:avLst>
              <a:gd name="adj" fmla="val 2222"/>
            </a:avLst>
          </a:prstGeom>
          <a:solidFill>
            <a:srgbClr val="E4EAF4"/>
          </a:solidFill>
          <a:ln w="12700">
            <a:solidFill>
              <a:srgbClr val="1F2A44"/>
            </a:solidFill>
            <a:prstDash val="solid"/>
          </a:ln>
          <a:effectLst>
            <a:outerShdw sx="100000" sy="100000" kx="0" ky="0" algn="bl" rotWithShape="0" blurRad="76200" dist="25400" dir="5400000">
              <a:srgbClr val="64748B">
                <a:alpha val="22000"/>
              </a:srgbClr>
            </a:outerShdw>
          </a:effectLst>
        </p:spPr>
      </p:sp>
      <p:sp>
        <p:nvSpPr>
          <p:cNvPr id="6" name="Verify head"/>
          <p:cNvSpPr txBox="1"/>
          <p:nvPr/>
        </p:nvSpPr>
        <p:spPr>
          <a:xfrm>
            <a:off x="73152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VERIFY IN A LAB</a:t>
            </a:r>
            <a:endParaRPr lang="en-US" sz="1400" dirty="0"/>
          </a:p>
          <a:p>
            <a:pPr indent="0" marL="0">
              <a:buNone/>
            </a:pPr>
            <a:r>
              <a:rPr lang="en-US" sz="1550" b="1" dirty="0">
                <a:solidFill>
                  <a:srgbClr val="1F2A44"/>
                </a:solidFill>
                <a:latin typeface="Cambria" pitchFamily="34" charset="0"/>
                <a:ea typeface="Cambria" pitchFamily="34" charset="-122"/>
                <a:cs typeface="Cambria" pitchFamily="34" charset="-120"/>
              </a:rPr>
              <a:t>From under review to Proved</a:t>
            </a:r>
            <a:endParaRPr lang="en-US" sz="1400" dirty="0"/>
          </a:p>
        </p:txBody>
      </p:sp>
      <p:sp>
        <p:nvSpPr>
          <p:cNvPr id="7" name="Verify list"/>
          <p:cNvSpPr txBox="1"/>
          <p:nvPr/>
        </p:nvSpPr>
        <p:spPr>
          <a:xfrm>
            <a:off x="731520" y="2130552"/>
            <a:ext cx="3291840" cy="2459736"/>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Build the loop with a test tenant and record the evidence</a:t>
            </a:r>
            <a:endParaRPr lang="en-US" sz="1400" dirty="0"/>
          </a:p>
          <a:p>
            <a:pPr marL="342900" indent="-342900">
              <a:spcAft>
                <a:spcPts val="300"/>
              </a:spcAft>
              <a:buSzPct val="100000"/>
              <a:buChar char="•"/>
            </a:pPr>
            <a:r>
              <a:rPr lang="en-US" sz="1350" dirty="0">
                <a:solidFill>
                  <a:schemeClr val="tx2"/>
                </a:solidFill>
              </a:rPr>
              <a:t>ISC feature parity in the FedRAMP environment</a:t>
            </a:r>
            <a:endParaRPr lang="en-US" sz="1400" dirty="0"/>
          </a:p>
          <a:p>
            <a:pPr marL="342900" indent="-342900">
              <a:spcAft>
                <a:spcPts val="300"/>
              </a:spcAft>
              <a:buSzPct val="100000"/>
              <a:buChar char="•"/>
            </a:pPr>
            <a:r>
              <a:rPr lang="en-US" sz="1350" dirty="0">
                <a:solidFill>
                  <a:schemeClr val="tx2"/>
                </a:solidFill>
              </a:rPr>
              <a:t>The SailPoint apps in the government Store</a:t>
            </a:r>
            <a:endParaRPr lang="en-US" sz="1400" dirty="0"/>
          </a:p>
          <a:p>
            <a:pPr marL="342900" indent="-342900">
              <a:spcAft>
                <a:spcPts val="300"/>
              </a:spcAft>
              <a:buSzPct val="100000"/>
              <a:buChar char="•"/>
            </a:pPr>
            <a:r>
              <a:rPr lang="en-US" sz="1350" dirty="0">
                <a:solidFill>
                  <a:schemeClr val="tx2"/>
                </a:solidFill>
              </a:rPr>
              <a:t>The Entra spoke in GCC High</a:t>
            </a:r>
            <a:endParaRPr lang="en-US" sz="1400" dirty="0"/>
          </a:p>
        </p:txBody>
      </p:sp>
      <p:sp>
        <p:nvSpPr>
          <p:cNvPr id="8" name="Decide" descr="">
            <a:extLst>
              <a:ext uri="{C183D7F6-B498-43B3-948B-1728B52AA6E4}">
                <adec:decorative xmlns:adec="http://schemas.microsoft.com/office/drawing/2017/decorative" val="1"/>
              </a:ext>
            </a:extLst>
          </p:cNvPr>
          <p:cNvSpPr/>
          <p:nvPr/>
        </p:nvSpPr>
        <p:spPr>
          <a:xfrm>
            <a:off x="4297680" y="1371600"/>
            <a:ext cx="3611880" cy="3291840"/>
          </a:xfrm>
          <a:prstGeom prst="roundRect">
            <a:avLst>
              <a:gd name="adj" fmla="val 2222"/>
            </a:avLst>
          </a:prstGeom>
          <a:solidFill>
            <a:srgbClr val="DCEFEC"/>
          </a:solidFill>
          <a:ln w="12700">
            <a:solidFill>
              <a:srgbClr val="0F766E"/>
            </a:solidFill>
            <a:prstDash val="solid"/>
          </a:ln>
          <a:effectLst>
            <a:outerShdw sx="100000" sy="100000" kx="0" ky="0" algn="bl" rotWithShape="0" blurRad="76200" dist="25400" dir="5400000">
              <a:srgbClr val="64748B">
                <a:alpha val="22000"/>
              </a:srgbClr>
            </a:outerShdw>
          </a:effectLst>
        </p:spPr>
      </p:sp>
      <p:sp>
        <p:nvSpPr>
          <p:cNvPr id="9" name="Decide head"/>
          <p:cNvSpPr txBox="1"/>
          <p:nvPr/>
        </p:nvSpPr>
        <p:spPr>
          <a:xfrm>
            <a:off x="448056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DECIDE (DESIGN GUIDANCE)</a:t>
            </a:r>
            <a:endParaRPr lang="en-US" sz="1400" dirty="0"/>
          </a:p>
          <a:p>
            <a:pPr indent="0" marL="0">
              <a:buNone/>
            </a:pPr>
            <a:r>
              <a:rPr lang="en-US" sz="1550" b="1" dirty="0">
                <a:solidFill>
                  <a:srgbClr val="0F766E"/>
                </a:solidFill>
                <a:latin typeface="Cambria" pitchFamily="34" charset="0"/>
                <a:ea typeface="Cambria" pitchFamily="34" charset="-122"/>
                <a:cs typeface="Cambria" pitchFamily="34" charset="-120"/>
              </a:rPr>
              <a:t>The four gaps, as decisions</a:t>
            </a:r>
            <a:endParaRPr lang="en-US" sz="1400" dirty="0"/>
          </a:p>
        </p:txBody>
      </p:sp>
      <p:sp>
        <p:nvSpPr>
          <p:cNvPr id="10" name="Decide list"/>
          <p:cNvSpPr txBox="1"/>
          <p:nvPr/>
        </p:nvSpPr>
        <p:spPr>
          <a:xfrm>
            <a:off x="4480560" y="2130552"/>
            <a:ext cx="3291840" cy="2459736"/>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A record closes on a re-read, not a ticket status</a:t>
            </a:r>
            <a:endParaRPr lang="en-US" sz="1400" dirty="0"/>
          </a:p>
          <a:p>
            <a:pPr marL="342900" indent="-342900">
              <a:spcAft>
                <a:spcPts val="300"/>
              </a:spcAft>
              <a:buSzPct val="100000"/>
              <a:buChar char="•"/>
            </a:pPr>
            <a:r>
              <a:rPr lang="en-US" sz="1350" dirty="0">
                <a:solidFill>
                  <a:schemeClr val="tx2"/>
                </a:solidFill>
              </a:rPr>
              <a:t>One approver system per authority class</a:t>
            </a:r>
            <a:endParaRPr lang="en-US" sz="1400" dirty="0"/>
          </a:p>
          <a:p>
            <a:pPr marL="342900" indent="-342900">
              <a:spcAft>
                <a:spcPts val="300"/>
              </a:spcAft>
              <a:buSzPct val="100000"/>
              <a:buChar char="•"/>
            </a:pPr>
            <a:r>
              <a:rPr lang="en-US" sz="1350" dirty="0">
                <a:solidFill>
                  <a:schemeClr val="tx2"/>
                </a:solidFill>
              </a:rPr>
              <a:t>How change records are raised from requests</a:t>
            </a:r>
            <a:endParaRPr lang="en-US" sz="1400" dirty="0"/>
          </a:p>
          <a:p>
            <a:pPr marL="342900" indent="-342900">
              <a:spcAft>
                <a:spcPts val="300"/>
              </a:spcAft>
              <a:buSzPct val="100000"/>
              <a:buChar char="•"/>
            </a:pPr>
            <a:r>
              <a:rPr lang="en-US" sz="1350" dirty="0">
                <a:solidFill>
                  <a:schemeClr val="tx2"/>
                </a:solidFill>
              </a:rPr>
              <a:t>One writer into the directory per attribute</a:t>
            </a:r>
            <a:endParaRPr lang="en-US" sz="1400" dirty="0"/>
          </a:p>
        </p:txBody>
      </p:sp>
      <p:sp>
        <p:nvSpPr>
          <p:cNvPr id="11" name="Read" descr="">
            <a:extLst>
              <a:ext uri="{C183D7F6-B498-43B3-948B-1728B52AA6E4}">
                <adec:decorative xmlns:adec="http://schemas.microsoft.com/office/drawing/2017/decorative" val="1"/>
              </a:ext>
            </a:extLst>
          </p:cNvPr>
          <p:cNvSpPr/>
          <p:nvPr/>
        </p:nvSpPr>
        <p:spPr>
          <a:xfrm>
            <a:off x="8046720" y="1371600"/>
            <a:ext cx="3611880" cy="3291840"/>
          </a:xfrm>
          <a:prstGeom prst="roundRect">
            <a:avLst>
              <a:gd name="adj" fmla="val 2222"/>
            </a:avLst>
          </a:prstGeom>
          <a:solidFill>
            <a:srgbClr val="FBEEDC"/>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2" name="Read head"/>
          <p:cNvSpPr txBox="1"/>
          <p:nvPr/>
        </p:nvSpPr>
        <p:spPr>
          <a:xfrm>
            <a:off x="8229600" y="1481328"/>
            <a:ext cx="3246120" cy="640080"/>
          </a:xfrm>
          <a:prstGeom prst="rect">
            <a:avLst/>
          </a:prstGeom>
          <a:noFill/>
          <a:ln/>
        </p:spPr>
        <p:txBody>
          <a:bodyPr wrap="square" lIns="0" tIns="0" rIns="0" bIns="0" rtlCol="0" anchor="t"/>
          <a:lstStyle/>
          <a:p>
            <a:pPr indent="0" marL="0">
              <a:buNone/>
            </a:pPr>
            <a:r>
              <a:rPr lang="en-US" sz="1100" b="1" dirty="0">
                <a:solidFill>
                  <a:srgbClr val="64748B"/>
                </a:solidFill>
              </a:rPr>
              <a:t>READ NEXT</a:t>
            </a:r>
            <a:endParaRPr lang="en-US" sz="1400" dirty="0"/>
          </a:p>
          <a:p>
            <a:pPr indent="0" marL="0">
              <a:buNone/>
            </a:pPr>
            <a:r>
              <a:rPr lang="en-US" sz="1550" b="1" dirty="0">
                <a:solidFill>
                  <a:srgbClr val="B45309"/>
                </a:solidFill>
                <a:latin typeface="Cambria" pitchFamily="34" charset="0"/>
                <a:ea typeface="Cambria" pitchFamily="34" charset="-122"/>
                <a:cs typeface="Cambria" pitchFamily="34" charset="-120"/>
              </a:rPr>
              <a:t>The vendor-neutral originals</a:t>
            </a:r>
            <a:endParaRPr lang="en-US" sz="1400" dirty="0"/>
          </a:p>
        </p:txBody>
      </p:sp>
      <p:sp>
        <p:nvSpPr>
          <p:cNvPr id="13" name="Read list"/>
          <p:cNvSpPr txBox="1"/>
          <p:nvPr/>
        </p:nvSpPr>
        <p:spPr>
          <a:xfrm>
            <a:off x="8229600" y="2130552"/>
            <a:ext cx="3291840" cy="2459736"/>
          </a:xfrm>
          <a:prstGeom prst="rect">
            <a:avLst/>
          </a:prstGeom>
          <a:noFill/>
          <a:ln/>
        </p:spPr>
        <p:txBody>
          <a:bodyPr wrap="square" lIns="0" tIns="0" rIns="0" bIns="0" rtlCol="0" anchor="t"/>
          <a:lstStyle/>
          <a:p>
            <a:pPr marL="342900" indent="-342900">
              <a:spcAft>
                <a:spcPts val="300"/>
              </a:spcAft>
              <a:buSzPct val="100000"/>
              <a:buChar char="•"/>
            </a:pPr>
            <a:r>
              <a:rPr lang="en-US" sz="1350" dirty="0">
                <a:solidFill>
                  <a:schemeClr val="tx2"/>
                </a:solidFill>
              </a:rPr>
              <a:t>Book 13, Appendix B — Ticket-to-Machine Reference, and its narrated deck</a:t>
            </a:r>
            <a:endParaRPr lang="en-US" sz="1400" dirty="0"/>
          </a:p>
          <a:p>
            <a:pPr marL="342900" indent="-342900">
              <a:spcAft>
                <a:spcPts val="300"/>
              </a:spcAft>
              <a:buSzPct val="100000"/>
              <a:buChar char="•"/>
            </a:pPr>
            <a:r>
              <a:rPr lang="en-US" sz="1350" dirty="0">
                <a:solidFill>
                  <a:schemeClr val="tx2"/>
                </a:solidFill>
              </a:rPr>
              <a:t>Keeping Identity Correct After HR Becomes the Source (draft)</a:t>
            </a:r>
            <a:endParaRPr lang="en-US" sz="1400" dirty="0"/>
          </a:p>
          <a:p>
            <a:pPr marL="342900" indent="-342900">
              <a:spcAft>
                <a:spcPts val="300"/>
              </a:spcAft>
              <a:buSzPct val="100000"/>
              <a:buChar char="•"/>
            </a:pPr>
            <a:r>
              <a:rPr lang="en-US" sz="1350" dirty="0">
                <a:solidFill>
                  <a:schemeClr val="tx2"/>
                </a:solidFill>
              </a:rPr>
              <a:t>Book 15 — Compliance Automation &amp; Day-2 Operations</a:t>
            </a:r>
            <a:endParaRPr lang="en-US" sz="1400" dirty="0"/>
          </a:p>
        </p:txBody>
      </p:sp>
      <p:sp>
        <p:nvSpPr>
          <p:cNvPr id="14" name="Example" descr="">
            <a:extLst>
              <a:ext uri="{C183D7F6-B498-43B3-948B-1728B52AA6E4}">
                <adec:decorative xmlns:adec="http://schemas.microsoft.com/office/drawing/2017/decorative" val="1"/>
              </a:ext>
            </a:extLst>
          </p:cNvPr>
          <p:cNvSpPr/>
          <p:nvPr/>
        </p:nvSpPr>
        <p:spPr>
          <a:xfrm>
            <a:off x="548640" y="4846320"/>
            <a:ext cx="11109960" cy="822960"/>
          </a:xfrm>
          <a:prstGeom prst="roundRect">
            <a:avLst>
              <a:gd name="adj" fmla="val 8889"/>
            </a:avLst>
          </a:prstGeom>
          <a:solidFill>
            <a:srgbClr val="FFFFFF"/>
          </a:solidFill>
          <a:ln w="12700">
            <a:solidFill>
              <a:srgbClr val="B45309"/>
            </a:solidFill>
            <a:prstDash val="solid"/>
          </a:ln>
          <a:effectLst>
            <a:outerShdw sx="100000" sy="100000" kx="0" ky="0" algn="bl" rotWithShape="0" blurRad="76200" dist="25400" dir="5400000">
              <a:srgbClr val="64748B">
                <a:alpha val="22000"/>
              </a:srgbClr>
            </a:outerShdw>
          </a:effectLst>
        </p:spPr>
      </p:sp>
      <p:sp>
        <p:nvSpPr>
          <p:cNvPr id="15" name="Icon FaLightbulb" descr="">
            <a:extLst>
              <a:ext uri="{C183D7F6-B498-43B3-948B-1728B52AA6E4}">
                <adec:decorative xmlns:adec="http://schemas.microsoft.com/office/drawing/2017/decorative" val="1"/>
              </a:ext>
            </a:extLst>
          </p:cNvPr>
          <p:cNvSpPr/>
          <p:nvPr/>
        </p:nvSpPr>
        <p:spPr>
          <a:xfrm>
            <a:off x="777240" y="4937760"/>
            <a:ext cx="640080" cy="640080"/>
          </a:xfrm>
          <a:prstGeom prst="ellipse">
            <a:avLst/>
          </a:prstGeom>
          <a:solidFill>
            <a:srgbClr val="B45309"/>
          </a:solidFill>
          <a:ln w="12700">
            <a:solidFill>
              <a:srgbClr val="B45309"/>
            </a:solidFill>
            <a:prstDash val="solid"/>
          </a:ln>
        </p:spPr>
      </p:sp>
      <p:pic>
        <p:nvPicPr>
          <p:cNvPr id="16"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930859" y="5091379"/>
            <a:ext cx="332842" cy="332842"/>
          </a:xfrm>
          <a:prstGeom prst="rect">
            <a:avLst/>
          </a:prstGeom>
        </p:spPr>
      </p:pic>
      <p:sp>
        <p:nvSpPr>
          <p:cNvPr id="17" name="Example text"/>
          <p:cNvSpPr txBox="1"/>
          <p:nvPr/>
        </p:nvSpPr>
        <p:spPr>
          <a:xfrm>
            <a:off x="1737360" y="4892040"/>
            <a:ext cx="9738360" cy="731520"/>
          </a:xfrm>
          <a:prstGeom prst="rect">
            <a:avLst/>
          </a:prstGeom>
          <a:noFill/>
          <a:ln/>
        </p:spPr>
        <p:txBody>
          <a:bodyPr wrap="square" lIns="0" tIns="0" rIns="0" bIns="0" rtlCol="0" anchor="ctr"/>
          <a:lstStyle/>
          <a:p>
            <a:pPr indent="0" marL="0">
              <a:buNone/>
            </a:pPr>
            <a:r>
              <a:rPr lang="en-US" sz="1450" b="1" dirty="0">
                <a:solidFill>
                  <a:srgbClr val="B45309"/>
                </a:solidFill>
              </a:rPr>
              <a:t>An example, not an endorsement: </a:t>
            </a:r>
            <a:pPr indent="0" marL="0">
              <a:buNone/>
            </a:pPr>
            <a:r>
              <a:rPr lang="en-US" sz="1450" dirty="0">
                <a:solidFill>
                  <a:schemeClr val="tx2"/>
                </a:solidFill>
              </a:rPr>
              <a:t>other products can fill the same slots. The loop, the lanes and the fixes are the design; the products illustrate it.</a:t>
            </a:r>
            <a:endParaRPr lang="en-US" sz="1450" dirty="0"/>
          </a:p>
        </p:txBody>
      </p:sp>
      <p:sp>
        <p:nvSpPr>
          <p:cNvPr id="18"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page (Status and review; Related); Book 13, Appendix B; identity-maintenance draft.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Backup</a:t>
            </a:r>
            <a:endParaRPr lang="en-US" sz="3000" dirty="0"/>
          </a:p>
        </p:txBody>
      </p:sp>
      <p:sp>
        <p:nvSpPr>
          <p:cNvPr id="3" name="Backup note"/>
          <p:cNvSpPr txBox="1"/>
          <p:nvPr/>
        </p:nvSpPr>
        <p:spPr>
          <a:xfrm>
            <a:off x="548640" y="2926080"/>
            <a:ext cx="11064240" cy="548640"/>
          </a:xfrm>
          <a:prstGeom prst="rect">
            <a:avLst/>
          </a:prstGeom>
          <a:noFill/>
          <a:ln/>
        </p:spPr>
        <p:txBody>
          <a:bodyPr wrap="square" lIns="0" tIns="0" rIns="0" bIns="0" rtlCol="0" anchor="t"/>
          <a:lstStyle/>
          <a:p>
            <a:pPr algn="ctr" indent="0" marL="0">
              <a:buNone/>
            </a:pPr>
            <a:r>
              <a:rPr lang="en-US" sz="1800" dirty="0">
                <a:solidFill>
                  <a:srgbClr val="64748B"/>
                </a:solidFill>
              </a:rPr>
              <a:t>The slides after this one are reference material and are not narrated.</a:t>
            </a:r>
            <a:endParaRPr lang="en-US" sz="18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full list on the following slides.</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Couldn't verify</a:t>
            </a:r>
            <a:endParaRPr lang="en-US" sz="3000" dirty="0"/>
          </a:p>
        </p:txBody>
      </p:sp>
      <p:sp>
        <p:nvSpPr>
          <p:cNvPr id="3" name="Gaps"/>
          <p:cNvSpPr txBox="1"/>
          <p:nvPr/>
        </p:nvSpPr>
        <p:spPr>
          <a:xfrm>
            <a:off x="548640" y="1371600"/>
            <a:ext cx="11064240" cy="42062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The ServiceNow Store listings for the SailPoint apps: the pages render by script.</a:t>
            </a:r>
            <a:endParaRPr lang="en-US" sz="1600" dirty="0"/>
          </a:p>
          <a:p>
            <a:pPr marL="342900" indent="-342900">
              <a:spcAft>
                <a:spcPts val="800"/>
              </a:spcAft>
              <a:buSzPct val="100000"/>
              <a:buChar char="•"/>
            </a:pPr>
            <a:r>
              <a:rPr lang="en-US" sz="1600" dirty="0">
                <a:solidFill>
                  <a:schemeClr val="tx2"/>
                </a:solidFill>
              </a:rPr>
              <a:t>Their availability in ServiceNow's government Store.</a:t>
            </a:r>
            <a:endParaRPr lang="en-US" sz="1600" dirty="0"/>
          </a:p>
          <a:p>
            <a:pPr marL="342900" indent="-342900">
              <a:spcAft>
                <a:spcPts val="800"/>
              </a:spcAft>
              <a:buSzPct val="100000"/>
              <a:buChar char="•"/>
            </a:pPr>
            <a:r>
              <a:rPr lang="en-US" sz="1600" dirty="0">
                <a:solidFill>
                  <a:schemeClr val="tx2"/>
                </a:solidFill>
              </a:rPr>
              <a:t>The Service Catalog app's internals.</a:t>
            </a:r>
            <a:endParaRPr lang="en-US" sz="1600" dirty="0"/>
          </a:p>
          <a:p>
            <a:pPr marL="342900" indent="-342900">
              <a:spcAft>
                <a:spcPts val="800"/>
              </a:spcAft>
              <a:buSzPct val="100000"/>
              <a:buChar char="•"/>
            </a:pPr>
            <a:r>
              <a:rPr lang="en-US" sz="1600" dirty="0">
                <a:solidFill>
                  <a:schemeClr val="tx2"/>
                </a:solidFill>
              </a:rPr>
              <a:t>ISC feature parity in the FedRAMP environment.</a:t>
            </a:r>
            <a:endParaRPr lang="en-US" sz="1600" dirty="0"/>
          </a:p>
          <a:p>
            <a:pPr marL="342900" indent="-342900">
              <a:spcAft>
                <a:spcPts val="800"/>
              </a:spcAft>
              <a:buSzPct val="100000"/>
              <a:buChar char="•"/>
            </a:pPr>
            <a:r>
              <a:rPr lang="en-US" sz="1600" dirty="0">
                <a:solidFill>
                  <a:schemeClr val="tx2"/>
                </a:solidFill>
              </a:rPr>
              <a:t>The Service Desk status-check interval (documented only as "at regular intervals").</a:t>
            </a:r>
            <a:endParaRPr lang="en-US" sz="1600" dirty="0"/>
          </a:p>
          <a:p>
            <a:pPr marL="342900" indent="-342900">
              <a:spcAft>
                <a:spcPts val="800"/>
              </a:spcAft>
              <a:buSzPct val="100000"/>
              <a:buChar char="•"/>
            </a:pPr>
            <a:r>
              <a:rPr lang="en-US" sz="1600" dirty="0">
                <a:solidFill>
                  <a:schemeClr val="tx2"/>
                </a:solidFill>
              </a:rPr>
              <a:t>Event retention in SailPoint.</a:t>
            </a:r>
            <a:endParaRPr lang="en-US" sz="1600" dirty="0"/>
          </a:p>
          <a:p>
            <a:pPr marL="342900" indent="-342900">
              <a:spcAft>
                <a:spcPts val="800"/>
              </a:spcAft>
              <a:buSzPct val="100000"/>
              <a:buChar char="•"/>
            </a:pPr>
            <a:r>
              <a:rPr lang="en-US" sz="1600" dirty="0">
                <a:solidFill>
                  <a:schemeClr val="tx2"/>
                </a:solidFill>
              </a:rPr>
              <a:t>End-dated access requests.</a:t>
            </a:r>
            <a:endParaRPr lang="en-US" sz="1600" dirty="0"/>
          </a:p>
          <a:p>
            <a:pPr marL="342900" indent="-342900">
              <a:spcAft>
                <a:spcPts val="800"/>
              </a:spcAft>
              <a:buSzPct val="100000"/>
              <a:buChar char="•"/>
            </a:pPr>
            <a:r>
              <a:rPr lang="en-US" sz="1600" dirty="0">
                <a:solidFill>
                  <a:schemeClr val="tx2"/>
                </a:solidFill>
              </a:rPr>
              <a:t>The ServiceNow Entra ID spoke in GCC High.</a:t>
            </a:r>
            <a:endParaRPr lang="en-US" sz="16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research page (Status and review), Oct 24, 2026. To move the example to Proved, build the loop in a lab with a test tenant.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64240" cy="77724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Sources behind this example</a:t>
            </a:r>
            <a:endParaRPr lang="en-US" sz="3000" dirty="0"/>
          </a:p>
        </p:txBody>
      </p:sp>
      <p:sp>
        <p:nvSpPr>
          <p:cNvPr id="3" name="Source list"/>
          <p:cNvSpPr txBox="1"/>
          <p:nvPr/>
        </p:nvSpPr>
        <p:spPr>
          <a:xfrm>
            <a:off x="548640" y="1325880"/>
            <a:ext cx="11064240" cy="461772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chemeClr val="tx2"/>
                </a:solidFill>
              </a:rPr>
              <a:t>FedRAMP Marketplace data, fedramp.gov/marketplace/products.json (last change Oct 24, 2026): ServiceNow Government Community Cloud (F1305072116); SailPoint Identity Security Cloud (FR2001938710A); UberEther IAM Advantage (FR2208555094).</a:t>
            </a:r>
            <a:endParaRPr lang="en-US" sz="1200" dirty="0"/>
          </a:p>
          <a:p>
            <a:pPr marL="342900" indent="-342900">
              <a:spcAft>
                <a:spcPts val="500"/>
              </a:spcAft>
              <a:buSzPct val="100000"/>
              <a:buChar char="•"/>
            </a:pPr>
            <a:r>
              <a:rPr lang="en-US" sz="1200" dirty="0">
                <a:solidFill>
                  <a:schemeClr val="tx2"/>
                </a:solidFill>
              </a:rPr>
              <a:t>SailPoint documentation: Configuring IdentityIQ to Integrate with ServiceNow; Integrating SailPoint with ServiceNow Service Desk (Sept 21, 2026); SDIM: Status Mapping, Configuring SailPoint, Best Practices; Getting Started with ServiceNow; Integrating ISC with the ServiceNow Service Catalog Application (Oct 23, 2026).</a:t>
            </a:r>
            <a:endParaRPr lang="en-US" sz="1200" dirty="0"/>
          </a:p>
          <a:p>
            <a:pPr marL="342900" indent="-342900">
              <a:spcAft>
                <a:spcPts val="500"/>
              </a:spcAft>
              <a:buSzPct val="100000"/>
              <a:buChar char="•"/>
            </a:pPr>
            <a:r>
              <a:rPr lang="en-US" sz="1200" dirty="0">
                <a:solidFill>
                  <a:schemeClr val="tx2"/>
                </a:solidFill>
              </a:rPr>
              <a:t>SailPoint documentation: Understanding Certifications; Microsoft Entra SaaS: Supported Features; Azure Government Endpoint Configuration; Integrating SailPoint with Active Directory (Sept 17, 2026); Oracle HCM Cloud SaaS: Supported Features.</a:t>
            </a:r>
            <a:endParaRPr lang="en-US" sz="1200" dirty="0"/>
          </a:p>
          <a:p>
            <a:pPr marL="342900" indent="-342900">
              <a:spcAft>
                <a:spcPts val="500"/>
              </a:spcAft>
              <a:buSzPct val="100000"/>
              <a:buChar char="•"/>
            </a:pPr>
            <a:r>
              <a:rPr lang="en-US" sz="1200" dirty="0">
                <a:solidFill>
                  <a:schemeClr val="tx2"/>
                </a:solidFill>
              </a:rPr>
              <a:t>SailPoint Developer: Lifecycle States; Identity Attributes Changed and Native Change Account Updated event triggers; Workflows; Search; Access Request Approvals.</a:t>
            </a:r>
            <a:endParaRPr lang="en-US" sz="1200" dirty="0"/>
          </a:p>
          <a:p>
            <a:pPr marL="342900" indent="-342900">
              <a:spcAft>
                <a:spcPts val="500"/>
              </a:spcAft>
              <a:buSzPct val="100000"/>
              <a:buChar char="•"/>
            </a:pPr>
            <a:r>
              <a:rPr lang="en-US" sz="1200" dirty="0">
                <a:solidFill>
                  <a:schemeClr val="tx2"/>
                </a:solidFill>
              </a:rPr>
              <a:t>SailPoint: Human Fabric product page; press release, Non-Employee Risk Management FedRAMP authorized (Mar 4, 2025).</a:t>
            </a:r>
            <a:endParaRPr lang="en-US" sz="1200" dirty="0"/>
          </a:p>
          <a:p>
            <a:pPr marL="342900" indent="-342900">
              <a:spcAft>
                <a:spcPts val="500"/>
              </a:spcAft>
              <a:buSzPct val="100000"/>
              <a:buChar char="•"/>
            </a:pPr>
            <a:r>
              <a:rPr lang="en-US" sz="1200" dirty="0">
                <a:solidFill>
                  <a:schemeClr val="tx2"/>
                </a:solidFill>
              </a:rPr>
              <a:t>ServiceNow: Microsoft Entra ID spoke (Zurich); Change types (Zurich IT Service Management); Environments with federal or regional ServiceNow Store instances (Yokohama).</a:t>
            </a:r>
            <a:endParaRPr lang="en-US" sz="1200" dirty="0"/>
          </a:p>
          <a:p>
            <a:pPr marL="342900" indent="-342900">
              <a:spcAft>
                <a:spcPts val="500"/>
              </a:spcAft>
              <a:buSzPct val="100000"/>
              <a:buChar char="•"/>
            </a:pPr>
            <a:r>
              <a:rPr lang="en-US" sz="1200" dirty="0">
                <a:solidFill>
                  <a:schemeClr val="tx2"/>
                </a:solidFill>
              </a:rPr>
              <a:t>Microsoft Learn: Microsoft Graph national cloud deployments. Diagram: the research page's figure. Full links in the page's footnotes; all accessed Oct 24, 2026.</a:t>
            </a:r>
            <a:endParaRPr lang="en-US" sz="1200" dirty="0"/>
          </a:p>
        </p:txBody>
      </p:sp>
      <p:sp>
        <p:nvSpPr>
          <p:cNvPr id="4" name="Sources"/>
          <p:cNvSpPr txBox="1"/>
          <p:nvPr/>
        </p:nvSpPr>
        <p:spPr>
          <a:xfrm>
            <a:off x="548640" y="6053328"/>
            <a:ext cx="10607040" cy="292608"/>
          </a:xfrm>
          <a:prstGeom prst="rect">
            <a:avLst/>
          </a:prstGeom>
          <a:noFill/>
          <a:ln/>
        </p:spPr>
        <p:txBody>
          <a:bodyPr wrap="square" lIns="0" tIns="0" rIns="0" bIns="0" rtlCol="0" anchor="t"/>
          <a:lstStyle/>
          <a:p>
            <a:pPr indent="0" marL="0">
              <a:buNone/>
            </a:pPr>
            <a:r>
              <a:rPr lang="en-US" sz="1000" i="1" dirty="0">
                <a:solidFill>
                  <a:srgbClr val="64748B"/>
                </a:solidFill>
              </a:rPr>
              <a:t>Sources: as listed. Product facts are the vendors' own; (inference) and (design guidance) are the program's. An example, not a recommendation.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Ticket-to-Machine on ServiceNow and SailPoint — An Example</dc:title>
  <dc:subject>PptxGenJS Presentation</dc:subject>
  <dc:creator>Michael F. Stratton</dc:creator>
  <cp:lastModifiedBy>Michael F. Stratton</cp:lastModifiedBy>
  <cp:revision>1</cp:revision>
  <dcterms:created xsi:type="dcterms:W3CDTF">2026-10-24T11:56:39Z</dcterms:created>
  <dcterms:modified xsi:type="dcterms:W3CDTF">2026-10-24T11:56:39Z</dcterms:modified>
</cp:coreProperties>
</file>