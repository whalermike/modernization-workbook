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7BCDF5-F71D-401A-CE21-1FFAB425FAC1}">
          <p14:sldIdLst>
            <p14:sldId id="256"/>
          </p14:sldIdLst>
        </p14:section>
        <p14:section name="Why" id="{2281BD82-4847-C52A-674E-7BA51D973A72}">
          <p14:sldIdLst>
            <p14:sldId id="257"/>
            <p14:sldId id="258"/>
          </p14:sldIdLst>
        </p14:section>
        <p14:section name="What" id="{B0E1C8C5-241E-DB69-9998-5B9B2D1C57AC}">
          <p14:sldIdLst>
            <p14:sldId id="259"/>
            <p14:sldId id="260"/>
            <p14:sldId id="261"/>
            <p14:sldId id="262"/>
            <p14:sldId id="263"/>
            <p14:sldId id="264"/>
            <p14:sldId id="265"/>
            <p14:sldId id="266"/>
          </p14:sldIdLst>
        </p14:section>
        <p14:section name="Who" id="{9F0E12B6-B478-FD25-8833-D62BFEF5FD6E}">
          <p14:sldIdLst>
            <p14:sldId id="267"/>
          </p14:sldIdLst>
        </p14:section>
        <p14:section name="How" id="{86231329-838A-47E7-7D6D-C924A153B196}">
          <p14:sldIdLst>
            <p14:sldId id="268"/>
            <p14:sldId id="269"/>
            <p14:sldId id="270"/>
            <p14:sldId id="271"/>
            <p14:sldId id="272"/>
          </p14:sldIdLst>
        </p14:section>
        <p14:section name="Backup" id="{8977CD93-7AB8-FB36-B049-C69A611665B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9492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2: ownership and the orphan rule. An account nobody will own is the one nobody will notice when it's misused, so the rule for it is decided once, written down, and run by code a reviewer has read. We'll start from Learn's own Graph samples for finding ownerless apps, see what they miss, then walk the ownership check, the orphan rule as a reviewed plan, the separate write path, two labs and the dangers. One note before we begin: the code is illustrative, tested against fixtures.
Detail: The chapter delivers the check and the plan behind the project plan's Gate 1, "every non-person identity owned." You start with Learn's own Graph samples for finding service principals with no owner or one owner, adding an owner, and recording a serviceManagementReference, which the repository keeps as a pinned copy, and you send them to a fake Graph to see what they find and what they miss. Then you use examples/non-person-identity for what they leave to you: the ownership check over Chapter 01's register, findings with stable IDs, the AI sponsor fields Chapter 09 will check, and the orphan rule (decision D-N2) as a dry-run plan, applied only by a separate write path after a reviewer approves the plan's SHA-256. Lab 1 runs on a laptop with no tenant; Lab 2 uses a test tenant and a test domain.
Sources: Microsoft Learn, "Manage Microsoft Entra applications using Microsoft Graph," manage owners; configure other basic properties, https://learn.microsoft.com/graph/tutorial-applications-basics (accessed Oct 30, 2026).
Workbook: Building Non-Person Identity, Chapter 02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ownership come before everything else? Because an owner isn't just a name on a form. An owner can add a credential to an app and act as it, so an app nobody owns is an app nobody is watching. The plan's second gate asks that every non-person identity be owned, and that the ones nobody claims are disabled, never deleted, with a thirty-day window for someone to step forward. Learn points the same way: at least two owners, a reference to a team record that outlives any one person, and a short list reviewed regularly.
Detail: Goal: by the end of this chapter you can check, from code, the ownership the plan's task N1.1 asks for ("an application owner found for every service account; two human owners on every app registration and service principal; serviceManagementReference set"), and produce the orphan rule's plan for N1.3 ("unowned identities disabled, not deleted, under the orphan rule; each a retirement candidate with a 30-day claim window") as a file a reviewer approves before anything changes. You can say, for each rule, whether it is Learn's, Learn's sample, or the program's design. Owners are the most misunderstood control on an application: an owner can add a credential and act as the app (Book 04, Chapter 05). Learn recommends monitoring so that every application has at least two owners where possible, and using the application's serviceManagementReference to reference the team contact from the organization's service or asset management database, so a contact survives any one person leaving. Learn's guidance for application owners is to keep ownership to a minimal set of people and review the list every few months.
Sources: Microsoft Learn, "Overview of enterprise application ownership in Microsoft Entra ID," FAQ, https://learn.microsoft.com/entra/identity/enterprise-apps/overview-assign-app-owners (accessed Oct 30, 2026). · Microsoft Learn, "Security best practices for application properties in Microsoft Entra ID," app ownership configuration, https://learn.microsoft.com/entra/identity-platform/security-best-practices-for-app-registration (accessed Oct 30, 2026).
Workbook: Building Non-Person Identity, Chapter 02 — “Goal and audience”; “The rule the code holds”.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For this estate, a GCC tenant, every Graph read and write goes to the worldwide endpoint, and the three Graph calls this chapter writes with are all listed for the government service levels as well. The code takes the host from its cloud table and checks it on every request, which matters because Learn's tutorial simply hard-codes the worldwide host. On the directory side, the disables go only to the domain you name, and one detail to remember: the disable command won't work against a read-only domain controller.
Detail: The reads and writes in this chapter go to Graph at graph.microsoft.com for the target estate, Microsoft 365 GCC; GCC High and DoD use graph.microsoft.us and dod-graph.microsoft.us. Listing an application's owners, adding an owner and updating a service principal all list the global service, US Government L4 and US Government L5. The disables in Active Directory go to the domain named with -Domain; Disable-ADAccount doesn't work against a read-only domain controller. Learn's tutorial hard-codes graph.microsoft.com, which is wrong for GCC High and DoD; the code takes the host from the cloud table, checked on every request.
Sources: Microsoft Learn, "Microsoft Graph national cloud deployments," https://learn.microsoft.com/graph/deployments (accessed Oct 30, 2026). · Microsoft Learn, "List owners of an application," https://learn.microsoft.com/graph/api/application-list-owners?view=graph-rest-1.0 (accessed Oct 30, 2026). · Microsoft Learn, "Add owner" (application), https://learn.microsoft.com/graph/api/application-post-owners?view=graph-rest-1.0 (accessed Oct 30, 2026). · Microsoft Learn, "Update servicePrincipal," permissions, https://learn.microsoft.com/graph/api/serviceprincipal-update?view=graph-rest-1.0 (accessed Oct 30, 2026). · Microsoft Learn, "Disable-ADAccount," description and notes, https://learn.microsoft.com/powershell/module/activedirectory/disable-adaccount (accessed Oct 30, 2026).
Workbook: Building Non-Person Identity, Chapter 02 — “Which cloud, for this check and these writes”.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rule? Learn is permissive: a service principal's owners can be users or other service principals. The program is stricter, and this is labeled design guidance. Every app needs two human owners who are enabled members, not guests and not bots. Its reference has to point at a real record in the system inventory, not a line of free text. And every directory service account needs an application owner. Active Directory has no owners attribute the code can trust, so that owner comes from a file kept with the record.
Detail: Learn describes a service principal's owners as users or service principals. The program's rule, from the plan and Book 02, is stricter (design guidance). Two human owners on every app registration and service principal, "never service accounts" (Book 02, Chapter 09), and, in the plan's ownership task, "not service principals or guests." The code counts an owner only if it is a user, a member and enabled. A service-management reference that names a record in the system inventory, the plan's source of record (D-N1), not free text. An application owner for every Active Directory account, found "before the account is touched" (Book 02, Chapter 10). Active Directory has no owners attribute the code can trust, so the owner comes from an owners file kept with the record.
Sources: Microsoft Learn, "Get-MgServicePrincipalOwner," description, https://learn.microsoft.com/powershell/module/microsoft.graph.applications/get-mgserviceprincipalowner?view=graph-powershell-1.0 (accessed Oct 31, 2026). · Microsoft Learn, "Overview of enterprise application ownership in Microsoft Entra ID," FAQ, https://learn.microsoft.com/entra/identity/enterprise-apps/overview-assign-app-owners (accessed Oct 30, 2026).
Workbook: Building Non-Person Identity, Chapter 02 — “The rule the code holds”.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orphan rule itself. The plan's decision, owned by the chief information security officer, is to disable first, once the identity governance officer confirms, then give the office thirty days to claim it. Book 04 runs the other way round, and the chapter keeps that difference open rather than quietly picking. Learn agrees on the shape: disable, don't delete. It offers two reversible switches. One deactivates the registration everywhere, but its procedure is still on the beta endpoint. The other disables sign-in in this tenant on the stable endpoint, and that's the one the code uses.
Detail: The orphan rule is the plan's decision D-N2, which the CISO owns: disable once the identity governance officer confirms the finding, then 30 days for the office to name an owner or retire it, "Book 04's rule, applied at once to agents because they can act." Book 04, Chapter 06's own policy runs the other way round, 30 days to assign an owner, then suspension on day 31 (Book 04, Chapter 06); Book 17 disables first, for agents (Book 17, Chapter 05). The code follows D-N2 as the plan states it, the stricter, and the difference stays open for the CISO (research gaps, row 11). Learn's own governance guidance agrees on the shape: if owners fail to review, disable the account but don't delete it until the review is complete; delete only after a defined period and a warning to owners. Disable, never delete. For an app registration, Learn offers two reversible switches: deactivating the registration (isDisabled, which blocks tokens in every tenant), and disabling sign-in on the tenant's service principal (accountEnabled false, which blocks tokens in that tenant only). Both keep the configuration; deletion leaves a 30-day recycle bin. Learn's procedure for deactivation is on the beta endpoint, so the code disables the service principal, on v1.0 (research gaps, row 12). Deactivation: existing tokens stay valid until they expire; remove owners to prevent reactivation; reactivation is shown on v1.0. For Active Directory, Disable-ADAccount disables a user, computer or service account.
Sources: Microsoft Learn, "Governing Microsoft Entra service accounts," build a lifecycle process, https://learn.microsoft.com/entra/architecture/govern-service-accounts (accessed Oct 30, 2026). · Microsoft Learn, "Govern on-premises service accounts," deprovision service accounts, https://learn.microsoft.com/entra/architecture/service-accounts-govern-on-premises (accessed Oct 30, 2026). · Microsoft Learn, "Deactivate an app registration," https://learn.microsoft.com/entra/identity/enterprise-apps/deactivate-app-registration (accessed Oct 30, 2026). · Microsoft Learn, "Disable user sign-in for an application," prerequisites; Microsoft Graph and PowerShell; restore tenant-local sign-in, https://learn.microsoft.com/entra/identity/enterprise-apps/disable-user-sign-in-portal (accessed Oct 30, 2026). · Microsoft Learn, "Disable-ADAccount," description and notes, https://learn.microsoft.com/powershell/module/activedirectory/disable-adaccount (accessed Oct 30, 2026).
Workbook: Building Non-Person Identity, Chapter 02 — “The rule the code holds” — the orphan rule; “Disable, never delete”.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here is a Graph tutorial. It gives a query for service principals with no owner or just one, requests that add an owner, and a sample that sets the service reference. As before, those samples exist only inside the page, so the repository pins its source unchanged, with hashes a test checks and a weekly watch for changes. The harness then reads each request straight out of the page and sends it to a fake Graph, which behaves like the real one, right down to refusing an advanced query that's missing its required header.
Detail: Learn's Graph tutorial Manage Microsoft Entra applications using Microsoft Graph is Microsoft's procedure for this chapter. Its "Manage owners" section gives three HTTP samples: a query for service principals with no owner or one owner (owners/$count eq 0 or owners/$count eq 1, with the ConsistencyLevel: eventual header that advanced queries need), a request that adds an owner to an application, and one that adds an owner to a service principal. Its "basic properties" sample sets an application's serviceManagementReference. List applications has the same owners/$count query for applications, and Add owner documents the request and its permissions. The pinned copy: the samples exist only inside the Learn page, so the repository pins the page's source, unmodified, in examples/third_party/graph-applications-tutorial-page: tutorial-applications-basics.md from microsoftgraph/microsoft-graph-docs-contrib at commit a693031 (October 30, 2026), retrieved October 30, 2026, with the repository's licenses (MIT for code, Creative Commons Attribution 4.0 for documentation). snapshot.json records each file's SHA-256, checked against the upstream git blob hashes, and a unit test checks them. The weekly source watch reports new commits to the page. Updating the copy is a reviewed pull request. tests/LearnSampleHarness.ps1 finds each HTTP sample by its name in the page's source, parses the method, URL, headers and body, and sends it unmodified to the fake Graph, which serves the fixture estate, evaluates the owners/$count filter, and refuses an advanced query without ConsistencyLevel: eventual as Learn says Graph does.
Sources: Microsoft Learn, "Manage Microsoft Entra applications using Microsoft Graph," manage owners; configure other basic properties, https://learn.microsoft.com/graph/tutorial-applications-basics (accessed Oct 30, 2026). · Microsoft Learn, "List applications," example 5, https://learn.microsoft.com/graph/api/application-list?view=graph-rest-1.0 (accessed Oct 30, 2026). · Microsoft Learn, "Add owner" (application), https://learn.microsoft.com/graph/api/application-post-owners?view=graph-rest-1.0 (accessed Oct 30, 2026). · Microsoft, microsoftgraph/microsoft-graph-docs-contrib, concepts/tutorial-applications-basics.md at commit a69303123e9701eecbf56568d152ece936a97f1e (October 30, 2026; the page last changed July 3, 2026), code MIT License, documentation Creative Commons Attribution 4.0, https://github.com/microsoftgraph/microsoft-graph-docs-contrib/blob/a69303123e9701eecbf56568d152ece936a97f1e/concepts/tutorial-applications-basics.md (accessed Oct 30, 2026); pinned copy in examples/third_party/graph-applications-tutorial-page.
Workbook: Building Non-Person Identity, Chapter 02 — “Start with Microsoft's sample”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samples to the fake shows the problem quickly. The query's shape is right, so it's kept as the model. But most of what it calls ownerless is noise: managed identities, which have no owners to add, a third party's app, and Graph itself. It checks the service principal, when the owners who matter are the ones on the registration, where the credentials live. It counts a guest or a bot as an owner, just like a person. And it labels a simple read with a write permission. Each of these is pinned by a test.
Detail: Each row is pinned by a test: in tests/MicrosoftSamples.Tests.ps1 for the samples, and in tests/NpiOwnership.Tests.ps1 for the example. Finds service principals with no owner or one owner, with ConsistencyLevel: eventual: kept as the model; Chapter 01 reads owners for every app registration and legacy service principal, every page followed. Returns managed identities, an external app and Microsoft Graph's own service principal among the "ownerless": the list is mostly noise nobody can act on; managed identities have no owners to add, and a third party's app is owned in its home tenant; owner rules apply to app registrations and legacy service principals; managed identities, external apps and own apps' service principals are left out, with the reason in the register. Reads service principal owners, so an app registration with one owner is missed when its service principal has two: the credentials live on the registration; its owners are the ones who can add one; the rule is checked on the registration's owners (research gaps, row 19). Counts a guest and a service principal as owners, like any person: an app owned by a guest and one member, or a person and a bot, passes the query; each owner read with userType and accountEnabled; service principals, guests and disabled users don't count (NPI-OWN-03 to -05). Labels this read with the least-privileged delegated permission Application.ReadWrite.All: a write permission for a read; List servicePrincipals names Application.Read.All; owners are read in Chapter 01 with Application.Read.All, the people with User.Read.All (research gaps, row 13).
Sources: Microsoft Learn, "Manage Microsoft Entra applications using Microsoft Graph," manage owners; configure other basic properties, https://learn.microsoft.com/graph/tutorial-applications-basics (accessed Oct 30, 2026). · Microsoft Learn, "List servicePrincipals," permissions, https://learn.microsoft.com/graph/api/serviceprincipal-list?view=graph-rest-1.0 (accessed Oct 30, 2026).
Workbook: Building Non-Person Identity, Chapter 02 — “What it leaves to you” — rows 1 to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there's what the samples don't cover at all. They'll add any object as an owner, a bot included. The reference they set is free text, even though Learn's own guidance says to point at the service management database. They say nothing about directory service accounts, which is half the gate. And there's no orphan rule, no disable and no claim window. So the verdict: keep Learn's query and its owner requests as the model for the reads and for the one write that adds an owner, but don't use the query as the check. It counts the wrong owners, on the wrong object.
Detail: Adds any directory object as an owner, a service principal included: Learn allows it; the program's rule doesn't; an owner is added only from a claim, only if the nominee is an enabled member, and only through the reviewed write path. Hard-codes graph.microsoft.com: the host is wrong for GCC High and DoD; the host from the cloud table, checked on every request. Sets serviceManagementReference to free-text owner aliases: Learn's own guidance is a reference to the service management database; free text can't be checked; a record key that must name an active record in the service records file (NPI-OWN-06, -07; research gaps, row 17). Nothing about Active Directory service accounts: half of Gate 1; an application owner from the owners file, checked as an enabled member, and its record (NPI-OWN-08). No step that disables an orphan, or records a claim window: the orphan rule is left to you; the rule as a dry-run plan, with the identity governance officer's confirmation, the 30-day claim window, and a separate write path. The verdict: use Learn's query and its owner requests as the model for the reads and the one write that adds an owner. Don't use the query as the ownership check: it counts the wrong owners on the wrong object and can't see Active Directory.
Sources: Microsoft Learn, "Add owner" (application), https://learn.microsoft.com/graph/api/application-post-owners?view=graph-rest-1.0 (accessed Oct 30, 2026). · Microsoft Learn, "Overview of enterprise application ownership in Microsoft Entra ID," FAQ, https://learn.microsoft.com/entra/identity/enterprise-apps/overview-assign-app-owners (accessed Oct 30, 2026). · Microsoft Learn, "Manage Microsoft Entra applications using Microsoft Graph," manage owners; configure other basic properties, https://learn.microsoft.com/graph/tutorial-applications-basics (accessed Oct 30, 2026).
Workbook: Building Non-Person Identity, Chapter 02 — “What it leaves to you” — rows 6 to 10;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check. It reads each owner and each nominee once, with a single call and a single read permission, so it can tell a member from a guest and an enabled account from a disabled one. Then it applies nine rules. The findings are the ones that block the gate: no valid human owner, only one, a missing reference, a reference that points at nothing or at a retired record, and a directory account with no application owner. Guests, bots and disabled owners are warnings. And anything that might be a person isn't checked until someone confirms it.
Detail: Test-NpiOwnership reads each owner and each nominated person once, through a reader for the ownership task, whose only call is GET /users/{id} with $select=id,userPrincipalName,userType,accountEnabled and User.Read.All. A guest's user principal name holds #, which Learn says to encode as %23; the reader encodes every key. Properties outside the default set need $select. NPI-OWN-01 Finding: an app registration or legacy service principal with no valid human owner, an orphan candidate (Book 02; Learn: at least two owners). NPI-OWN-02 Finding: one valid human owner (Book 02, Chapter 09). NPI-OWN-03 Warn: an owner that is a service principal (Book 02: "never service accounts"). NPI-OWN-04 Warn: an owner that is a guest (project plan, N1.1; design guidance; research gaps, row 16). NPI-OWN-05 Warn: an owner whose account is disabled or not found (design guidance). NPI-OWN-06 Finding: no service-management reference (Learn; project plan, N1.1). NPI-OWN-07 Finding: a reference that isn't a record key, names no record, or names a retired one (D-N1; design guidance). NPI-OWN-08 Finding: an AD account with no valid application owner in the owners file, an orphan candidate (Book 02, Chapter 10). NPI-OWN-09 Info: an AD account found only by a password that never expires, not checked until someone confirms it's a service account (Chapter 01, NPI-INV-08). Every finding has a stable ID, &lt;rule&gt;:&lt;identity&gt;, so the same gap keeps its ID from run to run and the weekly comparison in Chapter 10 can tell a new finding from an old one.
Sources: Microsoft Learn, "Get a user," permissions and HTTP request, https://learn.microsoft.com/graph/api/user-get?view=graph-rest-1.0, and "Get-MgUser," https://learn.microsoft.com/powershell/module/microsoft.graph.users/get-mguser?view=graph-powershell-1.0 (accessed Oct 30, 2026). · Microsoft Learn, "Overview of enterprise application ownership in Microsoft Entra ID," FAQ, https://learn.microsoft.com/entra/identity/enterprise-apps/overview-assign-app-owners (accessed Oct 30, 2026).
Workbook: Building Non-Person Identity, Chapter 02 — “The code” — “The check”.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orphan rule becomes a plan, and nothing in the plan writes. Each orphan candidate and each claim turns into exactly one action. Most are bookkeeping: waiting for the officer's confirmation, a claim window still open, an exception with an end date, or a retirement candidate once the window closes. Only two actions ever write: disabling a confirmed orphan, and adding an owner someone claimed. Here's the clever part. The same inputs always give the same plan, byte for byte, so a reviewer doesn't approve a description. They approve a hash.
Detail: New-NpiOrphanPlan turns each orphan candidate and each claim into one action. Nothing in it writes. AwaitConfirmation: no confirmation from the identity governance officer, or one this code can't read; no write. Disable: confirmed, still enabled; a service principal gets PATCH /servicePrincipals/{id} with {"accountEnabled": false}; an AD account gets Disable-ADAccount -Identity &lt;objectGUID&gt;; the claim window is 30 days from the disable; a write, after review. AlreadyDisabled: confirmed, already disabled; record DisabledOn so the window has a start; no write. ClaimWindowOpen: disabled, inside the 30 days; no write. ClaimRecorded: disabled and claimed inside the window; re-enabling is a person's decision; no write. RetirementCandidate: disabled, the window closed, no claim; retire through the reviewed decommission process; this code never deletes; no write. ReEnabledOutsideRule: recorded as disabled, but enabled now; a new confirmation is needed; no write. Exception, ExceptionExpired: a dated exception, still running or ended; no write. HandedOff: a SQL Server account; the Data Platform plan decides; no write. AddOwner: a claim names an enabled member for an app registration: POST /applications/{id}/owners/$ref; a write, after review. NomineeRefused, AlreadyOwner, RecordOwner: the nominee is a guest, disabled or not found; already an owner; or the identity is an AD account, whose owner goes in the owners file in a reviewed change; no write. The plan is written as orphan-plan.json with the register's SHA-256, the tenant, the cloud and the date, and the run prints the plan's own SHA-256. The same inputs give the same plan, byte for byte, so a reviewer approves a hash. The AI sponsor fields: the plan's task N1.2 asks every AI identity for a federal sponsor mastered in HR, a sponsoring group, a technical owner who isn't the sponsor and a matching inventory record (Book 17, Chapter 05). This chapter records those four fields, empty, for every agent identity, agent identity blueprint and record marked IsAI, in ai-sponsor-fields.json, and checks none of them: Chapter 09 reads the sponsors and builds the check (research gaps, row 18). Agent identities and blueprints are left out of the owner rule here.
Sources: Microsoft Learn, "Update servicePrincipal," permissions, https://learn.microsoft.com/graph/api/serviceprincipal-update?view=graph-rest-1.0 (accessed Oct 30, 2026). · Microsoft Learn, "Disable user sign-in for an application," prerequisites; Microsoft Graph and PowerShell; restore tenant-local sign-in, https://learn.microsoft.com/entra/identity/enterprise-apps/disable-user-sign-in-portal (accessed Oct 30, 2026). · Microsoft Learn, "Add owner" (application), https://learn.microsoft.com/graph/api/application-post-owners?view=graph-rest-1.0 (accessed Oct 30, 2026). · Microsoft Learn, "Disable-ADAccount," description and notes, https://learn.microsoft.com/powershell/module/activedirectory/disable-adaccount (accessed Oct 30, 2026).
Workbook: Building Non-Person Identity, Chapter 02 — “The orphan rule as a plan”; “The AI sponsor fields”.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code in the example that can write, and it's built to refuse. It won't run unless the plan's hash is the one the reviewer approved, the plan belongs to this tenant and cloud, and it's less than a week old. It can only send a body that disables, or one that adds an owner, and it never deletes. Before each write it looks again, and skips if an owner has appeared. And it runs only as a person, never an app, because the permission it needs could let an app act as every other app. Disabling is never automatic.
Detail: Invoke-NpiOrphanAction.ps1 is the only code in the example that can write, and it writes only through New-NpiWriter, whose calls are the orphan-apply task's. It refuses to run unless: the plan file's SHA-256 is the one passed as -ApprovedSha256; the plan is for this tenant and this cloud, and no more than seven days old (design guidance); each write is a declared orphan-apply call with the declared method; the only PATCH body allowed is {"accountEnabled": false}, the only POST body a @odata.id naming a directory object on the cloud's own Graph host, and DELETE is never sent; a live run is delegated: a person signed in with Cloud Application Administrator, never an unattended app. Disabling is never automatic (Book 17, Chapter 05). Before each write it re-reads the target (the registration's or service principal's owners, the AD account's state) and skips the write if an owner has appeared or the account is already disabled since the plan was reviewed. Without -Apply it stops after the prechecks and reports WouldSend. With -Apply it sends, records every request in its manifest, and tells the operator the date to record as DisabledOn and when the claim window ends. Tasks: ownership (read): GET /users/{id}, User.Read.All. orphan-apply (write, delegated only): re-read owners; read the nominee; PATCH /servicePrincipals/{id}; POST /applications/{id}/owners/$ref; Get-ADUser, Get-ADServiceAccount, Disable-ADAccount; Application.Read.All, User.Read.All, Application.ReadWrite.All, Directory.Read.All, Cloud Application Administrator; a delegated right to disable accounts in the account's OU (research gaps, row 15). Application.ReadWrite.All is the least-privileged delegated permission for updating a service principal; the application permission Application.ReadWrite.OwnedBy reaches only service principals the caller owns, which an orphan isn't, and Learn says it isn't sufficient to add another owner. Learn's permissions reference warns that permissions that can manage credentials, such as Application.ReadWrite.All, let an app act as other entities. That is why the write path is a person's delegated session, not an app's standing permission. Add owner also lists Hybrid Identity, Cloud Application or Application Administrator; Add owner's permission table and its note disagree about Application.ReadWrite.OwnedBy (research gaps, row 14). Disable sign-in: Cloud Application Administrator, Application Administrator or the service principal's owner.
Sources: Microsoft Learn, "Update servicePrincipal," permissions, https://learn.microsoft.com/graph/api/serviceprincipal-update?view=graph-rest-1.0 (accessed Oct 30, 2026). · Microsoft Learn, "Add owner" (application), https://learn.microsoft.com/graph/api/application-post-owners?view=graph-rest-1.0 (accessed Oct 30, 2026). · Microsoft Learn, "Disable user sign-in for an application," prerequisites; Microsoft Graph and PowerShell; restore tenant-local sign-in, https://learn.microsoft.com/entra/identity/enterprise-apps/disable-user-sign-in-portal (accessed Oct 30, 2026). · Microsoft Learn, "Microsoft Graph permissions reference," Application.ReadWrite.All, https://learn.microsoft.com/graph/permissions-reference (accessed Oct 30, 2026).
Workbook: Building Non-Person Identity, Chapter 02 —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code. The identity governance officer confirms every orphan before anything is disabled, and the chief information security officer owns the rule itself. Application owners and security officers review the results, and a second person approves the plan. The inputs are deliberately plain files, each kept by the people who actually know the answer: application owners for directory accounts, the system inventory for records, the governance officer for confirmations, and the offices that claim an identity. You don't need a tenant until Lab 2.
Detail: Audience: developers who build the project's ownership and lifecycle code, the identity governance officer who confirms each orphan, and the application owners and ISSOs who review the results. You should read PowerShell 7 and know Chapter 01's register. You don't need a tenant until Lab 2. This chapter's code is powershell/NpiOwnership/NpiOwnership.psm1, two entry scripts (Invoke-NpiOwnership.ps1, which only reads, and Invoke-NpiOrphanAction.ps1, the write path), the ownership and orphan-apply tasks in config/calls.json, and four input files kept with the records. The inputs: Chapter 01's run folder, kept by the pipeline: register.json and manifest.json; the check refuses a register whose SHA-256 isn't the manifest's. application-owners.csv, kept by application owners through the identity governance office: for each AD account, SamAccountName, OwnerUpn, ApplicationRecord. service-records.csv, the system inventory (D-N1): RecordId, Name, Status (Active or Retired), IsAI. igo-confirmations.csv, the identity governance officer: for each orphan, IdentityId, Decision (Disable or Exception), ConfirmedBy, ConfirmedOn, then DisabledOn after the disable, or ExceptionEnds. owner-claims.csv, the offices that claim an identity: IdentityId, NomineeUpn, ClaimedBy, ClaimedOn. The tests: Pester 5 under PowerShell 7; tests/MicrosoftSamples.Tests.ps1, 10 tests in the Chapter 02 block, Learn's HTTP samples sent as published; tests/NpiOwnership.Tests.ps1, 31 tests: the register's hash, the read-only task, each rule, stable IDs, the AI sponsor fields, each plan action, the deterministic plan hash, the writer's refusals (hash, tenant, age, method, body, host), dry run, -Apply, the precheck that skips a disable, and the entry scripts.
Sources: Building Non-Person Identity, Chapter 02, docs/project-plans/developer-workbooks/non-person-identity/02-ownership-and-the-orphan-rule.md
Workbook: Building Non-Person Identity, Chapter 02 — “Goal and audience”; “The inputs”;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using the register you built in Chapter 1's lab. First, send Learn's samples to the fake, and read the test that drops the required header: the fake refuses it, just as Graph would. Second, list what each task needs, and notice the split: the check needs one read permission, and only the write path asks for more. Third, run the check and build the plan. Twenty-two identities are checked, seven are orphan candidates, and the plan has ten actions, only three of which would write. Run it again, and the plan's hash is the same.
Detail: You need PowerShell 7.1 or later with Pester 5. Work in examples/non-person-identity, with Chapter 01's out/inventory in place (Lab 1 of Chapter 01, step 3). Step 1, send Learn's samples to the fake: Invoke-Pester -Path tests/MicrosoftSamples.Tests.ps1 -FullNameFilter '*Chapter 02*' -Output None -PassThru | Select-Object PassedCount, FailedCount, NotRunCount gives PassedCount 10, FailedCount 0, NotRunCount 20 (the twenty are Chapter 01's). Read the test that sends the query without its header: the fake answers 400, as Graph does for an advanced query without ConsistencyLevel: eventual. Step 2, list what each task needs: Import-Module ./powershell/NpiOwnership/NpiOwnership.psm1; foreach ($t in 'ownership', 'orphan-apply') { $p = Get-NpiRequiredPermission -Task $t; "$t : " + ($p.GraphPermissions -join ', ') } gives "ownership : User.Read.All" and "orphan-apply : Application.Read.All, Application.ReadWrite.All, Directory.Read.All, User.Read.All". Step 3, check ownership and build the plan: ./Invoke-NpiOwnership.ps1 -Cloud gcc -RegisterRun out/inventory -FixturePath tests/fixtures/estate.json -InputPath tests/fixtures/inputs -OutputPath out/ownership gives "Ownership: 22 identities checked; 7 orphan candidates", "Findings: 20 Finding, 3 Warn, 1 Info. AI sponsor fields recorded for Chapter 09: 2", "Orphan plan: 10 actions, 3 of them writes (1 AddOwner, 2 Disable); nothing sent", "Plan SHA-256: 1e1799d7181bd1a3dc271c645fff8a60fc741ab1ebc219bb3011cc25953bad3e". The plan's hash is the same on every run with these inputs. Illustrative code: the commands send Learn's pinned samples to a fake, and run the example against a fictional estate. -Apply in Lab 1 changes only the fake, in memory. Review the code, and run Lab 2 in a test tenant and test domain, before it reads or writes a real one.
Sources: Building Non-Person Identity, Chapter 02, docs/project-plans/developer-workbooks/non-person-identity/02-ownership-and-the-orphan-rule.md
Workbook: Building Non-Person Identity, Chapter 02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what it found. Two apps have no valid owner at all. Four have only one, and the other "owner" turns out to be a bot, a guest, or someone who's left. Several references are missing, free text, or point at a retired record, and five directory accounts have no application owner. The plan shows the rule at work: one account disabled last month and never claimed is now a retirement candidate, another's window is still open, and a claim naming a guest is refused. Then you dry-run the plan, apply it to the fake, and watch an unapproved hash get refused.
Detail: Step 4, read the findings: Get-Content out/ownership/findings.json -Raw | ConvertFrom-Json | Where-Object Severity -eq 'Finding' | Group-Object Rule | Format-Table Name, Count. NPI-OWN-01 twice (Legacy Reports, Old SAML Connector), NPI-OWN-02 four times (HR Connector; Build Pipeline, whose other owner is a service principal; Vendor Portal, whose other owner is a guest; Mail Automation, whose other owner is disabled), NPI-OWN-06 six times, NPI-OWN-07 three times (Build Pipeline's free text, Vendor Portal's retired record, svc-ldapbind's unknown one) and NPI-OWN-08 five times (svc-backup, whose only owner is disabled, and four AD accounts with none). Payroll Export and Deploy Bot pass. jdoe is the one Info: not checked until someone confirms it's a service account. Step 5, read the plan: Get-Content out/ownership/orphan-plan.json -Raw | ConvertFrom-Json | Select-Object -ExpandProperty actions | Format-Table Action, Name, Write. Disable svc-backup True; AwaitConfirmation svc-oldftp False; RetirementCandidate svc-reports False; ClaimWindowOpen sa-printsvc False; Exception gmsa-ops$ False; Disable Legacy Reports True; AwaitConfirmation Old SAML Connector False; AddOwner HR Connector True; NomineeRefused Build Pipeline False; RecordOwner svc-oldftp False. svc-reports was disabled on September 12 and nobody claimed it by October 12: a retirement candidate, with no write. sa-printsvc's window runs to November 15. The Build Pipeline claim named a guest and is refused. Step 6, dry-run the plan with its approved hash: $sha = (Get-FileHash out/ownership/orphan-plan.json -Algorithm SHA256).Hash.ToLower(); ./Invoke-NpiOrphanAction.ps1 -Cloud gcc -PlanPath out/ownership/orphan-plan.json -ApprovedSha256 $sha -FixturePath tests/fixtures/estate.json -OutputPath out/orphan-dryrun gives "DryRun: 3 WouldSend": WouldSend Disable WRITE Disable-ADAccount -Identity ad000000-0000-4000-8000-000000000003; WouldSend Disable PATCH https://graph.microsoft.com/v1.0/servicePrincipals/5b000000-0000-4000-8000-000000000003; WouldSend AddOwner POST https://graph.microsoft.com/v1.0/applications/0a000000-0000-4000-8000-000000000002/owners/$ref. Step 7, apply it to the fake, then try a hash nobody approved: the same command with -OutputPath out/orphan-apply -Apply, then with -ApprovedSha256 ('0' * 64) and -OutputPath out/orphan-x. Output: Apply: 3 Sent, each disable's detail saying to record DisabledOn 2026-10-30 and that the claim window ends 2026-11-29; then the refusal, "The plan's SHA-256 is 1e1799d7…, not the approved 0000…; refusing to run a plan nobody reviewed." Step 8, run the tests: Invoke-Pester -Path tests. Expected result: 513 tests passing, out/ownership/manifest.json listing 14 user reads and the SHA-256 of the register and of each input, and out/orphan-apply/manifest.json listing the prechecks and the three writes. Delete out when you're done.
Sources: Building Non-Person Identity, Chapter 02, docs/project-plans/developer-workbooks/non-person-identity/02-ownership-and-the-orphan-rule.md
Workbook: Building Non-Person Identity, Chapter 02 — “Lab 1: fixtures, no tenant,” steps 4–8.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domain, never production. You create two deliberate orphans, an app with no owners and a service account with no application owner, and run the check with a single read permission. Both should show up. Then you do what the governance officer would: confirm them, and have a second person approve the plan's hash. Only then do you sign in as a person, dry-run, and apply. The admin center shows the app as deactivated, the account is disabled, and you record the date. Then put everything back the way it was.
Detail: Use a test tenant in the worldwide or GCC cloud and a test Active Directory domain, never production, with fictional people, and Chapter 01's Lab 2 run (out/inventory-test). 1 Make two test orphans: a test app registration with no owners, and an enabled test service account (svc- prefix) in a test OU. Add both to service-records.csv and give the account no row in application-owners.csv. 2 Run the check with an app holding only User.Read.All, signed in as in Chapter 01: ./Invoke-NpiOwnership.ps1 -Cloud gcc -RegisterRun out/inventory-test -InputPath &lt;inputs&gt; -OutputPath out/ownership-test. Both test orphans should be candidates (NPI-OWN-01 and NPI-OWN-08). Confirm that a guest owner comes back with userType Guest (research gaps, row 16). 3 Confirm them as the identity governance officer would: add both to igo-confirmations.csv with Decision Disable, run step 2 again, and have a second person review orphan-plan.json and pass you its SHA-256. 4 Dry-run, then apply, signed in as a person with Cloud Application Administrator and a delegated right to disable accounts in the test OU: Connect-MgGraph -Environment Global -TenantId &lt;tenant-id&gt; -Scopes Application.Read.All, Application.ReadWrite.All, Directory.Read.All, User.Read.All; ./Invoke-NpiOrphanAction.ps1 -Cloud gcc -PlanPath out/ownership-test/orphan-plan.json -ApprovedSha256 &lt;sha&gt; -Domain &lt;test-domain&gt; -OutputPath out/orphan-test; then the same with -OutputPath out/orphan-test-apply -Apply. 5 Check the result: the test app's enterprise application shows Activation status Deactivated, from accountEnabled false (activation status shows Deactivated for accountEnabled false, isDisabled true, or Microsoft's disablement); the test account is disabled; record DisabledOn in the confirmations log. Confirm the right the AD disable needed (research gaps, row 15). 6 Back it out: set the service principal's accountEnabled back to true, as Learn's restore step describes, enable the test account, delete both test objects and the test app's registration, and delete the out folders: they name owners.
Sources: Microsoft Learn, "Properties of an enterprise application," activation status, https://learn.microsoft.com/entra/identity/enterprise-apps/application-properties (accessed Oct 30, 2026). · Microsoft Learn, "Disable user sign-in for an application," prerequisites; Microsoft Graph and PowerShell; restore tenant-local sign-in, https://learn.microsoft.com/entra/identity/enterprise-apps/disable-user-sign-in-portal (accessed Oct 30, 2026). · Microsoft Learn, "Disable-ADAccount," description and notes, https://learn.microsoft.com/powershell/module/activedirectory/disable-adaccount (accessed Oct 30, 2026).
Workbook: Building Non-Person Identity, Chapter 02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The quiet one is counting the wrong owners, a guest, a bot or someone who's left, so the gate passes on people who can't answer for the app. The loud ones are a disable on a guess and a delete, and the code answers both: nothing is disabled without the officer's confirmation and a fresh look, and there is simply no delete. A plan changed after review won't run, and the write path can't send anything but a disable. Notice, again, that each guard is a rule the code enforces every time.
Detail: A guest, a bot or a leaver counted as an owner: Gate 1 passes on owners who can't answer for the app; guard: each owner read with userType and accountEnabled; only enabled members count. A disable on a guess: a job fails, and nobody knew it was claimed; guard: only after the identity governance officer's confirmation; re-read before the write; skipped if an owner appeared. A delete: configuration gone once the 30-day recycle bin empties; guard: no delete action exists; the writer refuses DELETE; retirement goes through the reviewed decommission process. An unattended app with Application.ReadWrite.All: a standing permission that can act as every app; guard: the write path is delegated only, a person with Cloud Application Administrator; the read path holds User.Read.All alone. A plan changed after review: different writes from the ones approved; guard: the approved SHA-256 is checked; the plan must be for this tenant and cloud, and no older than seven days. A body that does more than disable: a PATCH that also changes other properties; guard: the only body allowed is {"accountEnabled": false}; the only POST body a directory object on the cloud's host. A register that changed since Chapter 01: the check runs on evidence the ISSO never saw; guard: the register's SHA-256 must match its manifest. A person treated as an orphaned account: someone's account is disabled; guard: accounts found only by a password that never expires are skipped (NPI-OWN-09). An app re-enabled after the rule disabled it: the orphan is back with nobody accountable; guard: ReEnabledOutsideRule, a new confirmation is needed. The window never closes: disabled orphans pile up; guard: RetirementCandidate once 30 days pass with no claim. Where Learn's pages differ: the tutorial labels its ownerless read with Application.ReadWrite.All while List servicePrincipals names Application.Read.All (research gaps, row 13); Add owner's permission table and its note disagree about Application.ReadWrite.OwnedBy (row 14); the tutorial's serviceManagementReference sample is free text where the ownership overview says to reference the service management database (row 17); and deactivation is shown on beta while reactivation is shown on v1.0 (row 12). The code follows the stricter reading in each case.
Sources: Microsoft Learn, "Deactivate an app registration," https://learn.microsoft.com/entra/identity/enterprise-apps/deactivate-app-registration (accessed Oct 30, 2026). · Microsoft Learn, "Microsoft Graph permissions reference," Application.ReadWrite.All, https://learn.microsoft.com/graph/permissions-reference (accessed Oct 30, 2026). · Microsoft Learn, "List servicePrincipals," permissions, https://learn.microsoft.com/graph/api/serviceprincipal-list?view=graph-rest-1.0 (accessed Oct 30, 2026). · Microsoft Learn, "Add owner" (application), https://learn.microsoft.com/graph/api/application-post-owners?view=graph-rest-1.0 (accessed Oct 30, 2026).
Workbook: Building Non-Person Identity, Chapter 02 — “Dangers”;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app has two owners who are real, enabled people, or a finding with someone assigned to fix it. Every reference points at a live record, and every directory account has an application owner or is a candidate. No orphan was disabled without the governance officer's confirmation. The plan's hash was approved by someone other than the person who applied it, the write ran as a person, and every disable has its date. With owners in place, Chapter 3 turns each account's candidate target into a decision. Thanks for watching.
Detail: Checklist: Every app registration and legacy service principal has two owners who are enabled members, or a finding with an owner of the fix. Every serviceManagementReference names an active record in the system inventory. Every AD service account has an application owner in the owners file, or is an orphan candidate. Every orphan candidate is confirmed, excepted with an end date, or awaiting the identity governance officer, and none was disabled without a confirmation. The plan's SHA-256 was approved by someone other than the person who applies it. The write path ran as a person, delegated, with Cloud Application Administrator, and its manifest is filed with the decision record. Every disable has its DisabledOn recorded, and every claim window that closed has a retirement decision. The AI sponsor fields file has gone to the Chapter 09 work. The pinned Learn page matches its manifest, and every upstream commit since the pin has been reviewed. Next: Chapter 03 — The Migration Path Matrix as Code. (Chapter 01: the candidate target is a candidate only; Chapter 03 makes the decision.)
Sources: Microsoft, microsoftgraph/microsoft-graph-docs-contrib, concepts/tutorial-applications-basics.md at commit a69303123e9701eecbf56568d152ece936a97f1e (October 30, 2026; the page last changed July 3, 2026), code MIT License, documentation Creative Commons Attribution 4.0, https://github.com/microsoftgraph/microsoft-graph-docs-contrib/blob/a69303123e9701eecbf56568d152ece936a97f1e/concepts/tutorial-applications-basics.md (accessed Oct 30, 2026); pinned copy in examples/third_party/graph-applications-tutorial-page.
Workbook: Building Non-Person Identity, Chapter 02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7.xml"/><Relationship Id="rId7"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02: Ownership and the Orphan Rule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owners · the program's rule · Learn's samples and their gaps · the check, the plan, the write path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EC922DAA-A20D-7BB1-5074-92EF8CFAF5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F507B4-085E-4355-ADA5-4540ACF6A65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60"/>
    </mc:Choice>
    <mc:Fallback>
      <p:transition spd="slow" advTm="4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ownership is the gate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Owners are the most misunderstood control on an application: an owner can add a credential and act as the app.</a:t>
            </a:r>
            <a:endParaRPr lang="en-US" sz="1800" dirty="0"/>
          </a:p>
        </p:txBody>
      </p:sp>
      <p:sp>
        <p:nvSpPr>
          <p:cNvPr id="6" name="Panel What the plan asks for">
            <a:extLst>
              <a:ext uri="{C183D7F6-B498-43B3-948B-1728B52AA6E4}">
                <adec:decorative xmlns:adec="http://schemas.microsoft.com/office/drawing/2017/decorative" val="1"/>
              </a:ext>
            </a:extLst>
          </p:cNvPr>
          <p:cNvSpPr/>
          <p:nvPr/>
        </p:nvSpPr>
        <p:spPr>
          <a:xfrm>
            <a:off x="548640" y="2112264"/>
            <a:ext cx="5417820" cy="2764536"/>
          </a:xfrm>
          <a:prstGeom prst="roundRect">
            <a:avLst>
              <a:gd name="adj" fmla="val 264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the plan asks for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PLAN ASKS FOR</a:t>
            </a:r>
            <a:endParaRPr lang="en-US" sz="1100" dirty="0"/>
          </a:p>
        </p:txBody>
      </p:sp>
      <p:sp>
        <p:nvSpPr>
          <p:cNvPr id="8" name="Panel What the plan asks for list"/>
          <p:cNvSpPr txBox="1"/>
          <p:nvPr/>
        </p:nvSpPr>
        <p:spPr>
          <a:xfrm>
            <a:off x="731520" y="2523744"/>
            <a:ext cx="5097780"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Gate 1: "every non-person identity owned"</a:t>
            </a:r>
            <a:endParaRPr lang="en-US" sz="1600" dirty="0"/>
          </a:p>
          <a:p>
            <a:pPr marL="342900" indent="-342900">
              <a:spcAft>
                <a:spcPts val="400"/>
              </a:spcAft>
              <a:buSzPct val="100000"/>
              <a:buChar char="•"/>
            </a:pPr>
            <a:r>
              <a:rPr lang="en-US" sz="1600" dirty="0">
                <a:solidFill>
                  <a:srgbClr val="334155"/>
                </a:solidFill>
              </a:rPr>
              <a:t>N1.1: an application owner for every service account; two human owners on every app registration and service principal; serviceManagementReference set</a:t>
            </a:r>
            <a:endParaRPr lang="en-US" sz="1600" dirty="0"/>
          </a:p>
          <a:p>
            <a:pPr marL="342900" indent="-342900">
              <a:spcAft>
                <a:spcPts val="400"/>
              </a:spcAft>
              <a:buSzPct val="100000"/>
              <a:buChar char="•"/>
            </a:pPr>
            <a:r>
              <a:rPr lang="en-US" sz="1600" dirty="0">
                <a:solidFill>
                  <a:srgbClr val="334155"/>
                </a:solidFill>
              </a:rPr>
              <a:t>N1.3: unowned identities disabled, not deleted, each a retirement candidate with a 30-day claim window</a:t>
            </a:r>
            <a:endParaRPr lang="en-US" sz="1600" dirty="0"/>
          </a:p>
        </p:txBody>
      </p:sp>
      <p:sp>
        <p:nvSpPr>
          <p:cNvPr id="9" name="Panel What Learn recommends">
            <a:extLst>
              <a:ext uri="{C183D7F6-B498-43B3-948B-1728B52AA6E4}">
                <adec:decorative xmlns:adec="http://schemas.microsoft.com/office/drawing/2017/decorative" val="1"/>
              </a:ext>
            </a:extLst>
          </p:cNvPr>
          <p:cNvSpPr/>
          <p:nvPr/>
        </p:nvSpPr>
        <p:spPr>
          <a:xfrm>
            <a:off x="6240780" y="2112264"/>
            <a:ext cx="5417820" cy="2764536"/>
          </a:xfrm>
          <a:prstGeom prst="roundRect">
            <a:avLst>
              <a:gd name="adj" fmla="val 264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What Learn recommends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LEARN RECOMMENDS</a:t>
            </a:r>
            <a:endParaRPr lang="en-US" sz="1100" dirty="0"/>
          </a:p>
        </p:txBody>
      </p:sp>
      <p:sp>
        <p:nvSpPr>
          <p:cNvPr id="11" name="Panel What Learn recommends list"/>
          <p:cNvSpPr txBox="1"/>
          <p:nvPr/>
        </p:nvSpPr>
        <p:spPr>
          <a:xfrm>
            <a:off x="6423660" y="2523744"/>
            <a:ext cx="5097780"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At least two owners where possible, monitored</a:t>
            </a:r>
            <a:endParaRPr lang="en-US" sz="1600" dirty="0"/>
          </a:p>
          <a:p>
            <a:pPr marL="342900" indent="-342900">
              <a:spcAft>
                <a:spcPts val="400"/>
              </a:spcAft>
              <a:buSzPct val="100000"/>
              <a:buChar char="•"/>
            </a:pPr>
            <a:r>
              <a:rPr lang="en-US" sz="1600" dirty="0">
                <a:solidFill>
                  <a:srgbClr val="334155"/>
                </a:solidFill>
              </a:rPr>
              <a:t>serviceManagementReference points to the team contact in the service or asset management database, so a contact survives any one person leaving</a:t>
            </a:r>
            <a:endParaRPr lang="en-US" sz="1600" dirty="0"/>
          </a:p>
          <a:p>
            <a:pPr marL="342900" indent="-342900">
              <a:spcAft>
                <a:spcPts val="400"/>
              </a:spcAft>
              <a:buSzPct val="100000"/>
              <a:buChar char="•"/>
            </a:pPr>
            <a:r>
              <a:rPr lang="en-US" sz="1600" dirty="0">
                <a:solidFill>
                  <a:srgbClr val="334155"/>
                </a:solidFill>
              </a:rPr>
              <a:t>Keep ownership to a minimal set of people; review the list every few months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Overview of enterprise application ownership; Security best practices for application properties; Book 04, Ch 05. Chapter 02, “Goal and audience,”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2704FAE-6374-6E5A-7B72-C0C07A68F1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BCE3E9-BF03-4DE7-80EC-335D5055BDB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90"/>
    </mc:Choice>
    <mc:Fallback>
      <p:transition spd="slow" advTm="35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8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for this check and these writes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89632"/>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5356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Piece</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Microsoft 365 GCC (this estate)</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GCC High and DoD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9740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Graph reads and writes</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graph.microsoft.com</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graph.microsoft.us (GCC High); dod-graph.microsoft.us (DoD)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List owners, add owner, update service principal</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Global service listed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US Government L4 and L5 listed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740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Active Directory disables</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The domain named with -Domain</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The same; Disable-ADAccount doesn't work against a read-only domain controller</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89839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3971544"/>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117116"/>
            <a:ext cx="315407" cy="315407"/>
          </a:xfrm>
          <a:prstGeom prst="rect">
            <a:avLst/>
          </a:prstGeom>
        </p:spPr>
      </p:pic>
      <p:sp>
        <p:nvSpPr>
          <p:cNvPr id="9" name="Callout text"/>
          <p:cNvSpPr txBox="1"/>
          <p:nvPr/>
        </p:nvSpPr>
        <p:spPr>
          <a:xfrm>
            <a:off x="1600200" y="395325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host comes from the cloud table and is checked on every request; Learn's tutorial hard-codes graph.microsoft.com, which is wrong for GCC High and DoD.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List owners of an application; Add owner; Update servicePrincipal; Disable-ADAccount. Chapter 02,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DD7D2C0-50C7-3F52-97E0-1F8D76BDC0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637551-A7B8-452F-8B7F-DA4B3FE22E6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10"/>
    </mc:Choice>
    <mc:Fallback>
      <p:transition spd="slow" advTm="36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rule the code holds: stricter than Learn's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Learn describes a service principal's owners as users or service principals. The program's rule is stricter (design guidance).</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2112264"/>
            <a:ext cx="3550920" cy="2118360"/>
          </a:xfrm>
          <a:prstGeom prst="roundRect">
            <a:avLst>
              <a:gd name="adj" fmla="val 345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2112264"/>
            <a:ext cx="82296" cy="211836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Two human owners</a:t>
            </a:r>
            <a:endParaRPr lang="en-US" sz="1400" dirty="0"/>
          </a:p>
          <a:p>
            <a:pPr marL="0" indent="0">
              <a:spcAft>
                <a:spcPts val="300"/>
              </a:spcAft>
              <a:buNone/>
            </a:pPr>
            <a:r>
              <a:rPr lang="en-US" sz="1550" dirty="0">
                <a:solidFill>
                  <a:srgbClr val="334155"/>
                </a:solidFill>
              </a:rPr>
              <a:t>On every app registration and service principal: "never service accounts" (Book 02), "not service principals or guests" (the plan). An owner counts only if it is a user, a member and enabled</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2112264"/>
            <a:ext cx="3550920" cy="2118360"/>
          </a:xfrm>
          <a:prstGeom prst="roundRect">
            <a:avLst>
              <a:gd name="adj" fmla="val 345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2112264"/>
            <a:ext cx="82296" cy="211836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A record, not free text</a:t>
            </a:r>
            <a:endParaRPr lang="en-US" sz="1400" dirty="0"/>
          </a:p>
          <a:p>
            <a:pPr marL="0" indent="0">
              <a:spcAft>
                <a:spcPts val="300"/>
              </a:spcAft>
              <a:buNone/>
            </a:pPr>
            <a:r>
              <a:rPr lang="en-US" sz="1550" dirty="0">
                <a:solidFill>
                  <a:srgbClr val="334155"/>
                </a:solidFill>
              </a:rPr>
              <a:t>serviceManagementReference must name a record in the system inventory, the plan's source of record (D-N1)</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2112264"/>
            <a:ext cx="3550920" cy="2118360"/>
          </a:xfrm>
          <a:prstGeom prst="roundRect">
            <a:avLst>
              <a:gd name="adj" fmla="val 345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2112264"/>
            <a:ext cx="82296" cy="211836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An owner for every AD account</a:t>
            </a:r>
            <a:endParaRPr lang="en-US" sz="1400" dirty="0"/>
          </a:p>
          <a:p>
            <a:pPr marL="0" indent="0">
              <a:spcAft>
                <a:spcPts val="300"/>
              </a:spcAft>
              <a:buNone/>
            </a:pPr>
            <a:r>
              <a:rPr lang="en-US" sz="1550" dirty="0">
                <a:solidFill>
                  <a:srgbClr val="334155"/>
                </a:solidFill>
              </a:rPr>
              <a:t>Found "before the account is touched" (Book 02, Ch 10). AD has no owners attribute the code can trust, so the owner comes from an owners file kept with the record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Get-MgServicePrincipalOwner; Overview of enterprise application ownership. Book 02, Ch 09 and 10; project plan, N1.1, D-N1. Chapter 02, “The rule the code holds.”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394501A-EADD-9865-CE2F-95004EBB61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DBFEF46-3D51-458F-A132-DDFF6714EF4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40"/>
    </mc:Choice>
    <mc:Fallback>
      <p:transition spd="slow" advTm="3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orphan rule: disable first, never delete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rule">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l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a:t>
            </a:r>
            <a:endParaRPr lang="en-US" sz="1100" dirty="0"/>
          </a:p>
        </p:txBody>
      </p:sp>
      <p:sp>
        <p:nvSpPr>
          <p:cNvPr id="7" name="Panel The rule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Plan decision D-N2, owned by the CISO: disable once the identity governance officer confirms, then 30 days to name an owner or retire it</a:t>
            </a:r>
            <a:endParaRPr lang="en-US" sz="1550" dirty="0"/>
          </a:p>
          <a:p>
            <a:pPr marL="342900" indent="-342900">
              <a:spcAft>
                <a:spcPts val="400"/>
              </a:spcAft>
              <a:buSzPct val="100000"/>
              <a:buChar char="•"/>
            </a:pPr>
            <a:r>
              <a:rPr lang="en-US" sz="1550" dirty="0">
                <a:solidFill>
                  <a:srgbClr val="334155"/>
                </a:solidFill>
              </a:rPr>
              <a:t>Book 04, Ch 06 runs the other way: 30 days to assign an owner, suspension on day 31; Book 17 disables first, for agents</a:t>
            </a:r>
            <a:endParaRPr lang="en-US" sz="1550" dirty="0"/>
          </a:p>
          <a:p>
            <a:pPr marL="342900" indent="-342900">
              <a:spcAft>
                <a:spcPts val="400"/>
              </a:spcAft>
              <a:buSzPct val="100000"/>
              <a:buChar char="•"/>
            </a:pPr>
            <a:r>
              <a:rPr lang="en-US" sz="1550" dirty="0">
                <a:solidFill>
                  <a:srgbClr val="334155"/>
                </a:solidFill>
              </a:rPr>
              <a:t>The code follows D-N2, the stricter; the difference stays open for the CISO (research gaps, row 11)</a:t>
            </a:r>
            <a:endParaRPr lang="en-US" sz="1550" dirty="0"/>
          </a:p>
          <a:p>
            <a:pPr marL="342900" indent="-342900">
              <a:spcAft>
                <a:spcPts val="400"/>
              </a:spcAft>
              <a:buSzPct val="100000"/>
              <a:buChar char="•"/>
            </a:pPr>
            <a:r>
              <a:rPr lang="en-US" sz="1550" dirty="0">
                <a:solidFill>
                  <a:srgbClr val="334155"/>
                </a:solidFill>
              </a:rPr>
              <a:t>Learn agrees on the shape: disable until the review is complete; delete only after a defined period and a warning</a:t>
            </a:r>
            <a:endParaRPr lang="en-US" sz="1550" dirty="0"/>
          </a:p>
        </p:txBody>
      </p:sp>
      <p:sp>
        <p:nvSpPr>
          <p:cNvPr id="8" name="Panel Learn's reversible switches">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Learn&amp;apos;s reversible switch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LEARN'S REVERSIBLE SWITCHES</a:t>
            </a:r>
            <a:endParaRPr lang="en-US" sz="1100" dirty="0"/>
          </a:p>
        </p:txBody>
      </p:sp>
      <p:sp>
        <p:nvSpPr>
          <p:cNvPr id="10" name="Panel Learn's reversible switches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Deactivate the registration (isDisabled): blocks tokens in every tenant; Learn's procedure is on </a:t>
            </a:r>
            <a:r>
              <a:rPr lang="en-US" sz="1550" b="1" dirty="0">
                <a:solidFill>
                  <a:srgbClr val="1F2A44"/>
                </a:solidFill>
              </a:rPr>
              <a:t>beta</a:t>
            </a:r>
            <a:endParaRPr lang="en-US" sz="1550" dirty="0"/>
          </a:p>
          <a:p>
            <a:pPr marL="342900" indent="-342900">
              <a:spcAft>
                <a:spcPts val="400"/>
              </a:spcAft>
              <a:buSzPct val="100000"/>
              <a:buChar char="•"/>
            </a:pPr>
            <a:r>
              <a:rPr lang="en-US" sz="1550" dirty="0">
                <a:solidFill>
                  <a:srgbClr val="334155"/>
                </a:solidFill>
              </a:rPr>
              <a:t>Disable sign-in on the service principal (accountEnabled false): blocks tokens in this tenant only, on v1.0. </a:t>
            </a:r>
            <a:r>
              <a:rPr lang="en-US" sz="1550" b="1" dirty="0">
                <a:solidFill>
                  <a:srgbClr val="1F2A44"/>
                </a:solidFill>
              </a:rPr>
              <a:t>The code uses this</a:t>
            </a:r>
            <a:r>
              <a:rPr lang="en-US" sz="1550" dirty="0">
                <a:solidFill>
                  <a:srgbClr val="334155"/>
                </a:solidFill>
              </a:rPr>
              <a:t> (row 12)</a:t>
            </a:r>
            <a:endParaRPr lang="en-US" sz="1550" dirty="0"/>
          </a:p>
          <a:p>
            <a:pPr marL="342900" indent="-342900">
              <a:spcAft>
                <a:spcPts val="400"/>
              </a:spcAft>
              <a:buSzPct val="100000"/>
              <a:buChar char="•"/>
            </a:pPr>
            <a:r>
              <a:rPr lang="en-US" sz="1550" dirty="0">
                <a:solidFill>
                  <a:srgbClr val="334155"/>
                </a:solidFill>
              </a:rPr>
              <a:t>Both keep the configuration; deletion leaves a 30-day recycle bin</a:t>
            </a:r>
            <a:endParaRPr lang="en-US" sz="1550" dirty="0"/>
          </a:p>
          <a:p>
            <a:pPr marL="342900" indent="-342900">
              <a:spcAft>
                <a:spcPts val="400"/>
              </a:spcAft>
              <a:buSzPct val="100000"/>
              <a:buChar char="•"/>
            </a:pPr>
            <a:r>
              <a:rPr lang="en-US" sz="1550" dirty="0">
                <a:solidFill>
                  <a:srgbClr val="334155"/>
                </a:solidFill>
              </a:rPr>
              <a:t>AD: Disable-ADAccount disables a user, computer or service account</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Governing Entra service accounts; Govern on-prem accounts; Deactivate an app registration; Disable user sign-in; Disable-ADAccount. Chapter 02,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62C338D3-0FAC-788C-73AC-A8549C882F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3DAF8AA-007D-472C-ACFE-9EB7712189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50"/>
    </mc:Choice>
    <mc:Fallback>
      <p:transition spd="slow" advTm="40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4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Graph samples, pinned and sent to a fake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Microsoft gives you">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Tutorial, "Manage owners": service principals with no owner or one owner (owners/$count eq 0 or owners/$count eq 1, with ConsistencyLevel: eventual)</a:t>
            </a:r>
            <a:endParaRPr lang="en-US" sz="1550" dirty="0"/>
          </a:p>
          <a:p>
            <a:pPr marL="342900" indent="-342900">
              <a:spcAft>
                <a:spcPts val="400"/>
              </a:spcAft>
              <a:buSzPct val="100000"/>
              <a:buChar char="•"/>
            </a:pPr>
            <a:r>
              <a:rPr lang="en-US" sz="1550" dirty="0">
                <a:solidFill>
                  <a:srgbClr val="334155"/>
                </a:solidFill>
              </a:rPr>
              <a:t>Requests that add an owner to an application and to a service principal</a:t>
            </a:r>
            <a:endParaRPr lang="en-US" sz="1550" dirty="0"/>
          </a:p>
          <a:p>
            <a:pPr marL="342900" indent="-342900">
              <a:spcAft>
                <a:spcPts val="400"/>
              </a:spcAft>
              <a:buSzPct val="100000"/>
              <a:buChar char="•"/>
            </a:pPr>
            <a:r>
              <a:rPr lang="en-US" sz="1550" dirty="0">
                <a:solidFill>
                  <a:srgbClr val="334155"/>
                </a:solidFill>
              </a:rPr>
              <a:t>"Basic properties": sets an application's serviceManagementReference</a:t>
            </a:r>
            <a:endParaRPr lang="en-US" sz="1550" dirty="0"/>
          </a:p>
          <a:p>
            <a:pPr marL="342900" indent="-342900">
              <a:spcAft>
                <a:spcPts val="400"/>
              </a:spcAft>
              <a:buSzPct val="100000"/>
              <a:buChar char="•"/>
            </a:pPr>
            <a:r>
              <a:rPr lang="en-US" sz="1550" dirty="0">
                <a:solidFill>
                  <a:srgbClr val="334155"/>
                </a:solidFill>
              </a:rPr>
              <a:t>List applications has the same owners/$count query; Add owner documents the request and its permissions</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tutorial-applications-basics.md from microsoft-graph-docs-contrib at commit a693031 (Oct 30, 2026), unmodified</a:t>
            </a:r>
            <a:endParaRPr lang="en-US" sz="1550" dirty="0"/>
          </a:p>
          <a:p>
            <a:pPr marL="342900" indent="-342900">
              <a:spcAft>
                <a:spcPts val="400"/>
              </a:spcAft>
              <a:buSzPct val="100000"/>
              <a:buChar char="•"/>
            </a:pPr>
            <a:r>
              <a:rPr lang="en-US" sz="1550" dirty="0">
                <a:solidFill>
                  <a:srgbClr val="334155"/>
                </a:solidFill>
              </a:rPr>
              <a:t>Licenses: MIT for code, Creative Commons Attribution 4.0 for documentation</a:t>
            </a:r>
            <a:endParaRPr lang="en-US" sz="1550" dirty="0"/>
          </a:p>
          <a:p>
            <a:pPr marL="342900" indent="-342900">
              <a:spcAft>
                <a:spcPts val="400"/>
              </a:spcAft>
              <a:buSzPct val="100000"/>
              <a:buChar char="•"/>
            </a:pPr>
            <a:r>
              <a:rPr lang="en-US" sz="1550" dirty="0">
                <a:solidFill>
                  <a:srgbClr val="334155"/>
                </a:solidFill>
              </a:rPr>
              <a:t>snapshot.json SHA-256 per file;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The harness parses each HTTP sample and sends it unmodified to the fake Graph, which refuses an advanced query without ConsistencyLevel: eventual, as Graph does</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Entra applications using Microsoft Graph; List applications; Add owner; microsoft-graph-docs-contrib at a693031. Chapter 02,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3803020E-EB9A-411D-FB09-DE78DBB40D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A5377DE-270C-4463-87E6-C91D49F7772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70"/>
    </mc:Choice>
    <mc:Fallback>
      <p:transition spd="slow" advTm="37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6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query counts wrong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Finds service principals with no owner or one owner, with ConsistencyLevel: eventual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Chapter 01 reads owners for every app registration and legacy service principal, every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Returns managed identities, an external app and Graph's own service principal as "ownerless"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Mostly noise: managed identities have no owners to add; a third party's app is owned in its home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Owner rules on app registrations and legacy service principals; the rest left out, with the reason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Reads service principal owners, so a registration with one owner is missed when its service principal has two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credentials live on the registration; its owners can add one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Checked on the registration's owners (research gaps, row 19)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Counts a guest and a service principal as owners, like any person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guest and one member, or a person and a bot, passes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userType and accountEnabled read; NPI-OWN-03 to -05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Labels the read with delegated Application.ReadWrite.All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write permission for a read; List servicePrincipals names Application.Read.All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Owners read with Application.Read.All; people with User.Read.All (row 13)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Entra applications using Graph; List servicePrincipals. Chapter 02, “What it leaves to you” (tests/MicrosoftSamples.Tests.ps1, tests/NpiOwnership.Tests.ps1).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ED9FB41-ABDC-5427-B885-B8D99A2DFF5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9676F4-2425-4556-A90E-756204D9632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190"/>
    </mc:Choice>
    <mc:Fallback>
      <p:transition spd="slow" advTm="34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1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out entirely, and the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4446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Learn's sample, as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the example adds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Adds any directory object as an owner, a service principal included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allows it; the program's rule doesn't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Added only from a claim, only an enabled member, only through the reviewed write path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Hard-codes graph.microsoft.com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Wrong for GCC High and DoD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host from the cloud table, checked on every request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Sets serviceManagementReference to free-text owner aliases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Learn's own guidance is a reference to the service management database; free text can't be checked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record key naming an active record (NPI-OWN-06, -07; row 17)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Nothing about Active Directory service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Half of Gate 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application owner from the owners file, an enabled member, and its record (NPI-OWN-08)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 step that disables an orphan or records a claim window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orphan rule is left to you</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dry-run plan, the officer's confirmation, the 30-day window, a separate write path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253228"/>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Verdict: keep the query and the owner requests as the model; don't use the query as the ownership check.</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Add owner; Overview of enterprise application ownership; Manage Entra applications using Graph. Chapter 02,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35C930B-D317-7E7F-90E6-609DD787F7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F278DA-5C8D-45D7-B748-78766089493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40"/>
    </mc:Choice>
    <mc:Fallback>
      <p:transition spd="slow" advTm="37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 nine rules, NPI-OWN-01 to NPI-OWN-09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576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flags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app registration or legacy service principal with no valid human owner: an orphan candidate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02; Learn: two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valid human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02, Ch 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owner that is a service principal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02: "never service accounts"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owner that is a guest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Plan, N1.1 (design guidance; row 16)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owner whose account is disabled or not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service-management reference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Learn; plan, N1.1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reference that isn't a record key, names no record, or names a retired 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D-N1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AD account with no valid application owner in the owners file: an orphan candidate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Book 02, Ch 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NPI-OWN-09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Info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Found only by a password that never expires: not checked until confirmed a service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Chapter 01, NPI-INV-08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166360"/>
            <a:ext cx="11109960" cy="557784"/>
          </a:xfrm>
          <a:prstGeom prst="rect">
            <a:avLst/>
          </a:prstGeom>
          <a:noFill/>
          <a:ln/>
        </p:spPr>
        <p:txBody>
          <a:bodyPr wrap="square" lIns="0" tIns="0" rIns="0" bIns="0" rtlCol="0" anchor="t"/>
          <a:lstStyle/>
          <a:p>
            <a:pPr marL="0" indent="0">
              <a:buNone/>
            </a:pPr>
            <a:r>
              <a:rPr lang="en-US" sz="1650" b="1" dirty="0">
                <a:solidFill>
                  <a:srgbClr val="1F2A44"/>
                </a:solidFill>
              </a:rPr>
              <a:t>One read: GET /users/{id}, $select=id,userPrincipalName,userType,accountEnabled, User.Read.All; a guest's # encoded as %23.</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a user; Get-MgUser; Overview of enterprise application ownership. Chapter 02,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7B82C64-C972-4B1F-6009-B280550E05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4BD61B-D84C-49BD-9E68-06D60E8994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80"/>
    </mc:Choice>
    <mc:Fallback>
      <p:transition spd="slow" advTm="37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orphan rule as a plan nothing in it writes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067958" cy="3442716"/>
        </p:xfrm>
        <a:graphic>
          <a:graphicData uri="http://schemas.openxmlformats.org/drawingml/2006/table">
            <a:tbl>
              <a:tblPr firstRow="1" bandRow="1"/>
              <a:tblGrid>
                <a:gridCol w="2022653">
                  <a:extLst>
                    <a:ext uri="{9D8B030D-6E8A-4147-A177-3AD203B41FA5}">
                      <a16:colId xmlns:a16="http://schemas.microsoft.com/office/drawing/2014/main" val="20000"/>
                    </a:ext>
                  </a:extLst>
                </a:gridCol>
                <a:gridCol w="4045306">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AwaitConfirmation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confirmation from the officer, or one the code can't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Disable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Confirmed, still enabled: PATCH accountEnabled false, or Disable-ADAccount by objectGUID; window starts. A write, after review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AlreadyDisabled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Record DisabledOn so the window has a start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ClaimWindowOpen; ClaimRecorded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Inside the 30 days; claimed, re-enabling is a person's decision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RetirementCandidate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Window closed, no claim: the reviewed decommission process. Never a delete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ReEnabledOutsideRule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Recorded disabled, enabled now: a new confirmation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6890918" y="1325880"/>
          <a:ext cx="4767682" cy="3017520"/>
        </p:xfrm>
        <a:graphic>
          <a:graphicData uri="http://schemas.openxmlformats.org/drawingml/2006/table">
            <a:tbl>
              <a:tblPr firstRow="1" bandRow="1"/>
              <a:tblGrid>
                <a:gridCol w="1979038">
                  <a:extLst>
                    <a:ext uri="{9D8B030D-6E8A-4147-A177-3AD203B41FA5}">
                      <a16:colId xmlns:a16="http://schemas.microsoft.com/office/drawing/2014/main" val="20000"/>
                    </a:ext>
                  </a:extLst>
                </a:gridCol>
                <a:gridCol w="2788644">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Exception, ExceptionExpired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dated exception, running or ended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HandedOff</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SQL Server account: the Data Platform plan decides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AddOwner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claim names an enabled member: POST …/owners/$ref. A write, after review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3268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NomineeRefused, AlreadyOwner, RecordOwner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Guest, disabled or not found; already an owner; an AD account's owner goes in the owners 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4951476"/>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Hashtag">
            <a:extLst>
              <a:ext uri="{C183D7F6-B498-43B3-948B-1728B52AA6E4}">
                <adec:decorative xmlns:adec="http://schemas.microsoft.com/office/drawing/2017/decorative" val="1"/>
              </a:ext>
            </a:extLst>
          </p:cNvPr>
          <p:cNvSpPr/>
          <p:nvPr/>
        </p:nvSpPr>
        <p:spPr>
          <a:xfrm>
            <a:off x="749808" y="5024628"/>
            <a:ext cx="606552" cy="606552"/>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170200"/>
            <a:ext cx="315407" cy="315407"/>
          </a:xfrm>
          <a:prstGeom prst="rect">
            <a:avLst/>
          </a:prstGeom>
        </p:spPr>
      </p:pic>
      <p:sp>
        <p:nvSpPr>
          <p:cNvPr id="10" name="Callout text"/>
          <p:cNvSpPr txBox="1"/>
          <p:nvPr/>
        </p:nvSpPr>
        <p:spPr>
          <a:xfrm>
            <a:off x="1600200" y="5006340"/>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Deterministic: </a:t>
            </a:r>
            <a:r>
              <a:rPr lang="en-US" sz="1750" dirty="0">
                <a:solidFill>
                  <a:srgbClr val="334155"/>
                </a:solidFill>
              </a:rPr>
              <a:t>orphan-plan.json carries the register's SHA-256, tenant, cloud and date; the same inputs give the same plan, byte for byte, so a reviewer approves a hash.</a:t>
            </a:r>
            <a:endParaRPr lang="en-US" sz="17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servicePrincipal; Disable user sign-in; Add owner; Disable-ADAccount. Chapter 02, “The orphan rule as a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7F04202-E990-1466-0861-191D5678DB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412AFEF-2DCA-4677-82D2-89C35309CF8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separate write path, and why it's a person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Invoke-NpiOrphanAction.ps1 refuses unless">
            <a:extLst>
              <a:ext uri="{C183D7F6-B498-43B3-948B-1728B52AA6E4}">
                <adec:decorative xmlns:adec="http://schemas.microsoft.com/office/drawing/2017/decorative" val="1"/>
              </a:ext>
            </a:extLst>
          </p:cNvPr>
          <p:cNvSpPr/>
          <p:nvPr/>
        </p:nvSpPr>
        <p:spPr>
          <a:xfrm>
            <a:off x="548640" y="1325880"/>
            <a:ext cx="5742889" cy="3685032"/>
          </a:xfrm>
          <a:prstGeom prst="roundRect">
            <a:avLst>
              <a:gd name="adj" fmla="val 198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Invoke-NpiOrphanAction.ps1 refuses unless label"/>
          <p:cNvSpPr txBox="1"/>
          <p:nvPr/>
        </p:nvSpPr>
        <p:spPr>
          <a:xfrm>
            <a:off x="731520" y="1435608"/>
            <a:ext cx="5377129" cy="274320"/>
          </a:xfrm>
          <a:prstGeom prst="rect">
            <a:avLst/>
          </a:prstGeom>
          <a:noFill/>
          <a:ln/>
        </p:spPr>
        <p:txBody>
          <a:bodyPr wrap="square" lIns="0" tIns="0" rIns="0" bIns="0" rtlCol="0" anchor="t"/>
          <a:lstStyle/>
          <a:p>
            <a:pPr marL="0" indent="0">
              <a:buNone/>
            </a:pPr>
            <a:r>
              <a:rPr lang="en-US" sz="1100" b="1" kern="0" spc="50" dirty="0">
                <a:solidFill>
                  <a:srgbClr val="B91C1C"/>
                </a:solidFill>
              </a:rPr>
              <a:t>INVOKE-NPIORPHANACTION.PS1 REFUSES UNLESS</a:t>
            </a:r>
            <a:endParaRPr lang="en-US" sz="1100" dirty="0"/>
          </a:p>
        </p:txBody>
      </p:sp>
      <p:sp>
        <p:nvSpPr>
          <p:cNvPr id="7" name="Panel Invoke-NpiOrphanAction.ps1 refuses unless list"/>
          <p:cNvSpPr txBox="1"/>
          <p:nvPr/>
        </p:nvSpPr>
        <p:spPr>
          <a:xfrm>
            <a:off x="731520" y="1737360"/>
            <a:ext cx="5422849"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must be the one passed as -ApprovedSha256</a:t>
            </a:r>
            <a:endParaRPr lang="en-US" sz="1500" dirty="0"/>
          </a:p>
          <a:p>
            <a:pPr marL="342900" indent="-342900">
              <a:spcAft>
                <a:spcPts val="400"/>
              </a:spcAft>
              <a:buSzPct val="100000"/>
              <a:buChar char="•"/>
            </a:pPr>
            <a:r>
              <a:rPr lang="en-US" sz="1500" dirty="0">
                <a:solidFill>
                  <a:srgbClr val="334155"/>
                </a:solidFill>
              </a:rPr>
              <a:t>The plan is for this tenant and cloud, and no more than seven days old (design guidance)</a:t>
            </a:r>
            <a:endParaRPr lang="en-US" sz="1500" dirty="0"/>
          </a:p>
          <a:p>
            <a:pPr marL="342900" indent="-342900">
              <a:spcAft>
                <a:spcPts val="400"/>
              </a:spcAft>
              <a:buSzPct val="100000"/>
              <a:buChar char="•"/>
            </a:pPr>
            <a:r>
              <a:rPr lang="en-US" sz="1500" dirty="0">
                <a:solidFill>
                  <a:srgbClr val="334155"/>
                </a:solidFill>
              </a:rPr>
              <a:t>Only declared orphan-apply calls: PATCH body only {"accountEnabled": false}; POST body only an @odata.id on the cloud's host; DELETE never sent</a:t>
            </a:r>
            <a:endParaRPr lang="en-US" sz="1500" dirty="0"/>
          </a:p>
          <a:p>
            <a:pPr marL="342900" indent="-342900">
              <a:spcAft>
                <a:spcPts val="400"/>
              </a:spcAft>
              <a:buSzPct val="100000"/>
              <a:buChar char="•"/>
            </a:pPr>
            <a:r>
              <a:rPr lang="en-US" sz="1500" dirty="0">
                <a:solidFill>
                  <a:srgbClr val="334155"/>
                </a:solidFill>
              </a:rPr>
              <a:t>Delegated only: a person with Cloud Application Administrator, never an unattended app. Disabling is never automatic</a:t>
            </a:r>
            <a:endParaRPr lang="en-US" sz="1500" dirty="0"/>
          </a:p>
          <a:p>
            <a:pPr marL="342900" indent="-342900">
              <a:spcAft>
                <a:spcPts val="400"/>
              </a:spcAft>
              <a:buSzPct val="100000"/>
              <a:buChar char="•"/>
            </a:pPr>
            <a:r>
              <a:rPr lang="en-US" sz="1500" dirty="0">
                <a:solidFill>
                  <a:srgbClr val="334155"/>
                </a:solidFill>
              </a:rPr>
              <a:t>Re-reads each target first; skips if an owner appeared or it's already disabled. No -Apply: WouldSend</a:t>
            </a:r>
            <a:endParaRPr lang="en-US" sz="15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565849" y="1325880"/>
          <a:ext cx="5092751" cy="1822704"/>
        </p:xfrm>
        <a:graphic>
          <a:graphicData uri="http://schemas.openxmlformats.org/drawingml/2006/table">
            <a:tbl>
              <a:tblPr firstRow="1" bandRow="1"/>
              <a:tblGrid>
                <a:gridCol w="1633524">
                  <a:extLst>
                    <a:ext uri="{9D8B030D-6E8A-4147-A177-3AD203B41FA5}">
                      <a16:colId xmlns:a16="http://schemas.microsoft.com/office/drawing/2014/main" val="20000"/>
                    </a:ext>
                  </a:extLst>
                </a:gridCol>
                <a:gridCol w="3459227">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Permissions, role or right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ownership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User.Read.All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7652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orphan-apply (write, delegated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User.Read.All, Application.ReadWrite.All, Directory.Read.All; Cloud Application Administrator; a delegated right to disable in the account's OU (row 15)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Callout">
            <a:extLst>
              <a:ext uri="{C183D7F6-B498-43B3-948B-1728B52AA6E4}">
                <adec:decorative xmlns:adec="http://schemas.microsoft.com/office/drawing/2017/decorative" val="1"/>
              </a:ext>
            </a:extLst>
          </p:cNvPr>
          <p:cNvSpPr/>
          <p:nvPr/>
        </p:nvSpPr>
        <p:spPr>
          <a:xfrm>
            <a:off x="6565849" y="3331464"/>
            <a:ext cx="5092751" cy="1324356"/>
          </a:xfrm>
          <a:prstGeom prst="roundRect">
            <a:avLst>
              <a:gd name="adj" fmla="val 552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UserShield">
            <a:extLst>
              <a:ext uri="{C183D7F6-B498-43B3-948B-1728B52AA6E4}">
                <adec:decorative xmlns:adec="http://schemas.microsoft.com/office/drawing/2017/decorative" val="1"/>
              </a:ext>
            </a:extLst>
          </p:cNvPr>
          <p:cNvSpPr/>
          <p:nvPr/>
        </p:nvSpPr>
        <p:spPr>
          <a:xfrm>
            <a:off x="6767017" y="3673602"/>
            <a:ext cx="640080" cy="64008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20636" y="3827221"/>
            <a:ext cx="332842" cy="332842"/>
          </a:xfrm>
          <a:prstGeom prst="rect">
            <a:avLst/>
          </a:prstGeom>
        </p:spPr>
      </p:pic>
      <p:sp>
        <p:nvSpPr>
          <p:cNvPr id="8" name="Callout text"/>
          <p:cNvSpPr txBox="1"/>
          <p:nvPr/>
        </p:nvSpPr>
        <p:spPr>
          <a:xfrm>
            <a:off x="7617409" y="3386328"/>
            <a:ext cx="3858311" cy="1214628"/>
          </a:xfrm>
          <a:prstGeom prst="rect">
            <a:avLst/>
          </a:prstGeom>
          <a:noFill/>
          <a:ln/>
        </p:spPr>
        <p:txBody>
          <a:bodyPr wrap="square" lIns="0" tIns="0" rIns="0" bIns="0" rtlCol="0" anchor="ctr"/>
          <a:lstStyle/>
          <a:p>
            <a:pPr marL="0" indent="0">
              <a:buNone/>
            </a:pPr>
            <a:r>
              <a:rPr lang="en-US" sz="1450" b="1" dirty="0">
                <a:solidFill>
                  <a:srgbClr val="B45309"/>
                </a:solidFill>
              </a:rPr>
              <a:t>Why delegated: </a:t>
            </a:r>
            <a:r>
              <a:rPr lang="en-US" sz="1450" dirty="0">
                <a:solidFill>
                  <a:srgbClr val="334155"/>
                </a:solidFill>
              </a:rPr>
              <a:t>Application.ReadWrite.OwnedBy reaches only service principals the caller owns, which an orphan isn't; Application.ReadWrite.All lets an app act as others.</a:t>
            </a:r>
            <a:endParaRPr lang="en-US" sz="14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servicePrincipal; Add owner; Disable user sign-in; Graph permissions reference. Chapter 02,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3A1DFAC2-CE6A-AA5E-45B1-B842BA2E62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329D7E8-7D0C-4153-8262-0379147A188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20"/>
    </mc:Choice>
    <mc:Fallback>
      <p:transition spd="slow" advTm="3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keeps each input, and who decides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ownership and lifecycle code; read PowerShell 7 and know Chapter 01's register</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marL="0" indent="0">
              <a:spcAft>
                <a:spcPts val="300"/>
              </a:spcAft>
              <a:buNone/>
            </a:pPr>
            <a:r>
              <a:rPr lang="en-US" sz="1500" dirty="0">
                <a:solidFill>
                  <a:srgbClr val="334155"/>
                </a:solidFill>
              </a:rPr>
              <a:t>Confirms each orphan before anything is disabled; the CISO owns the rule</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 owners and ISSOs</a:t>
            </a:r>
            <a:endParaRPr lang="en-US" sz="1400" dirty="0"/>
          </a:p>
          <a:p>
            <a:pPr marL="0" indent="0">
              <a:spcAft>
                <a:spcPts val="300"/>
              </a:spcAft>
              <a:buNone/>
            </a:pPr>
            <a:r>
              <a:rPr lang="en-US" sz="1500" dirty="0">
                <a:solidFill>
                  <a:srgbClr val="334155"/>
                </a:solidFill>
              </a:rPr>
              <a:t>Review the results; a second person approves the plan's hash</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510028"/>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3492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Chapter 01's run folder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register.json and manifest.json; refused if the SHA-256 isn't the manifest's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application-owners.csv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Application owners, through the governance office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SamAccountName, OwnerUpn, ApplicationRecord for each AD account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service-records.csv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system inventory (D-N1)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RecordId, Name, Status (Active or Retired), IsAI</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igo-confirmations.csv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identity governance officer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IdentityId, Decision (Disable or Exception), ConfirmedBy, ConfirmedOn; DisabledOn or ExceptionEnds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owner-claims.csv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offices that claim an identity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IdentityId, NomineeUpn, ClaimedBy, ClaimedOn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“Goal and audience,” “The inputs”; project plan, D-N1 and D-N2.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9AC7EABC-0CEA-B723-1B2D-997B606275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D774D6-4A0A-4543-BCF8-074D67AC2C4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20"/>
    </mc:Choice>
    <mc:Fallback>
      <p:transition spd="slow" advTm="39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samples, permissions, the check and the plan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samples to the fake: PassedCount 10, FailedCount 0, NotRunCount 20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02*'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ownership : User.Read.All</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orphan-apply : Application.Read.All, Application.ReadWrite.All, Directory.Read.All, User.Read.All</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Check ownership and build the plan (Chapter 01's out/inventory in place)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./Invoke-NpiOwnership.ps1 -Cloud gcc -RegisterRun out/inventory -FixturePath … -OutputPath out/ownership</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Ownership: 22 identities checked; 7 orphan candidates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20 Finding, 3 Warn, 1 Info. AI sponsor fields recorded for Chapter 09: 2</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Orphan plan: 10 actions, 3 of them writes (1 AddOwner, 2 Disable); nothing sent</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SHA-256: 1e1799d7181bd1a3dc271c645fff8a60fc741ab1ebc219bb3011cc25953bad3e</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25653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32968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75256"/>
            <a:ext cx="315407" cy="315407"/>
          </a:xfrm>
          <a:prstGeom prst="rect">
            <a:avLst/>
          </a:prstGeom>
        </p:spPr>
      </p:pic>
      <p:sp>
        <p:nvSpPr>
          <p:cNvPr id="11" name="Callout text"/>
          <p:cNvSpPr txBox="1"/>
          <p:nvPr/>
        </p:nvSpPr>
        <p:spPr>
          <a:xfrm>
            <a:off x="1600200" y="431139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the header test: </a:t>
            </a:r>
            <a:r>
              <a:rPr lang="en-US" sz="1750" dirty="0">
                <a:solidFill>
                  <a:srgbClr val="334155"/>
                </a:solidFill>
              </a:rPr>
              <a:t>sent without its header, the query gets a 400 from the fake, as Graph does for an advanced query without ConsistencyLevel: eventual.</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02,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59EC6F78-825F-8651-BFD3-43D192A4F4D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A351B4-4058-49D4-90FE-16D1E02A9B9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findings, the plan, and a refused hash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921508"/>
        </p:xfrm>
        <a:graphic>
          <a:graphicData uri="http://schemas.openxmlformats.org/drawingml/2006/table">
            <a:tbl>
              <a:tblPr firstRow="1" bandRow="1"/>
              <a:tblGrid>
                <a:gridCol w="1332251">
                  <a:extLst>
                    <a:ext uri="{9D8B030D-6E8A-4147-A177-3AD203B41FA5}">
                      <a16:colId xmlns:a16="http://schemas.microsoft.com/office/drawing/2014/main" val="20000"/>
                    </a:ext>
                  </a:extLst>
                </a:gridCol>
                <a:gridCol w="4085569">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in the fixtures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NPI-OWN-01 ×2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Legacy Reports, Old SAML Connector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NPI-OWN-02 ×4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HR Connector; Build Pipeline (other owner a service principal); Vendor Portal (a guest); Mail Automation (disabled)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NPI-OWN-06 ×6; -07 ×3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Build Pipeline's free text, Vendor Portal's retired record, svc-ldapbind's unknown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NPI-OWN-08 ×5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svc-backup (only owner disabled), four AD accounts with none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Pass;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Payroll Export and Deploy Bot pass; jdoe is the one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ode panel">
            <a:extLst>
              <a:ext uri="{C183D7F6-B498-43B3-948B-1728B52AA6E4}">
                <adec:decorative xmlns:adec="http://schemas.microsoft.com/office/drawing/2017/decorative" val="1"/>
              </a:ext>
            </a:extLst>
          </p:cNvPr>
          <p:cNvSpPr/>
          <p:nvPr/>
        </p:nvSpPr>
        <p:spPr>
          <a:xfrm>
            <a:off x="6240780" y="1325880"/>
            <a:ext cx="5417820" cy="2465832"/>
          </a:xfrm>
          <a:prstGeom prst="roundRect">
            <a:avLst>
              <a:gd name="adj" fmla="val 296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7" name="Code label"/>
          <p:cNvSpPr txBox="1"/>
          <p:nvPr/>
        </p:nvSpPr>
        <p:spPr>
          <a:xfrm>
            <a:off x="6405372" y="1399032"/>
            <a:ext cx="5088636" cy="228600"/>
          </a:xfrm>
          <a:prstGeom prst="rect">
            <a:avLst/>
          </a:prstGeom>
          <a:noFill/>
          <a:ln/>
        </p:spPr>
        <p:txBody>
          <a:bodyPr wrap="square" lIns="0" tIns="0" rIns="0" bIns="0" rtlCol="0" anchor="t"/>
          <a:lstStyle/>
          <a:p>
            <a:pPr marL="0" indent="0">
              <a:buNone/>
            </a:pPr>
            <a:r>
              <a:rPr lang="en-US" sz="1050" b="1" dirty="0">
                <a:solidFill>
                  <a:srgbClr val="64748B"/>
                </a:solidFill>
              </a:rPr>
              <a:t>STEP 5: orphan-plan.json actions</a:t>
            </a:r>
            <a:endParaRPr lang="en-US" sz="1050" dirty="0"/>
          </a:p>
        </p:txBody>
      </p:sp>
      <p:sp>
        <p:nvSpPr>
          <p:cNvPr id="8" name="Code"/>
          <p:cNvSpPr txBox="1"/>
          <p:nvPr/>
        </p:nvSpPr>
        <p:spPr>
          <a:xfrm>
            <a:off x="6405372" y="1664208"/>
            <a:ext cx="5143500" cy="208178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Disable             svc-backup          True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AwaitConfirmation   svc-oldftp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RetirementCandidate svc-reports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ClaimWindowOpen     sa-printsvc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Exception           gmsa-ops$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Disable             Legacy Reports      True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AwaitConfirmation   Old SAML Connector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AddOwner            HR Connector        True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NomineeRefused      Build Pipeline     False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RecordOwner         svc-oldftp         False</a:t>
            </a:r>
            <a:endParaRPr lang="en-US" sz="1300" dirty="0"/>
          </a:p>
        </p:txBody>
      </p:sp>
      <p:sp>
        <p:nvSpPr>
          <p:cNvPr id="9" name="Lead"/>
          <p:cNvSpPr txBox="1"/>
          <p:nvPr/>
        </p:nvSpPr>
        <p:spPr>
          <a:xfrm>
            <a:off x="548640" y="443026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Steps 6–7: dry run, 3 WouldSend; -Apply, 3 Sent (DisabledOn 2026-10-30, window ends 2026-11-29); an unapproved hash is refused.</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Chapter 02, “Lab 1: fixtures, no tenant,” steps 4–8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DB5F1F9-A24A-C896-CE2C-CE68DB2E7A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22B618-E7E5-4BAD-80F5-FB90EDCC3D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two test orphans, confirmed and disabled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Make two test orphans: </a:t>
            </a:r>
            <a:r>
              <a:rPr lang="en-US" sz="1450" dirty="0">
                <a:solidFill>
                  <a:srgbClr val="334155"/>
                </a:solidFill>
              </a:rPr>
              <a:t>A test app registration with no owners, and an enabled svc- account in a test OU; both in service-records.csv, the account with no row in application-owners.csv</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Run the check: </a:t>
            </a:r>
            <a:r>
              <a:rPr lang="en-US" sz="1450" dirty="0">
                <a:solidFill>
                  <a:srgbClr val="334155"/>
                </a:solidFill>
              </a:rPr>
              <a:t>With an app holding only User.Read.All: both are candidates (NPI-OWN-01, -08); a guest owner comes back with userType Guest (row 16)</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Confirm them: </a:t>
            </a:r>
            <a:r>
              <a:rPr lang="en-US" sz="1450" dirty="0">
                <a:solidFill>
                  <a:srgbClr val="334155"/>
                </a:solidFill>
              </a:rPr>
              <a:t>As the identity governance officer would, Decision Disable; rerun; a second person reviews orphan-plan.json and passes you its SHA-256</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Dry-run, then apply: </a:t>
            </a:r>
            <a:r>
              <a:rPr lang="en-US" sz="1450" dirty="0">
                <a:solidFill>
                  <a:srgbClr val="334155"/>
                </a:solidFill>
              </a:rPr>
              <a:t>As a person with Cloud Application Administrator and a delegated right to disable in the test OU: Connect-MgGraph -Environment Global, then Invoke-NpiOrphanAction.ps1, then with -Apply</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Check the result: </a:t>
            </a:r>
            <a:r>
              <a:rPr lang="en-US" sz="1450" dirty="0">
                <a:solidFill>
                  <a:srgbClr val="334155"/>
                </a:solidFill>
              </a:rPr>
              <a:t>The enterprise app shows Activation status Deactivated, from accountEnabled false; the account is disabled; record DisabledOn; confirm the AD right needed (row 15)</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accountEnabled back to true, as Learn's restore step says; enable the account; delete the test objects and the out folders: they name owners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and a test domain, never production, with fictional people, and Chapter 01's Lab 2 run.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Properties of an enterprise application (activation status); Disable user sign-in (restore); Disable-ADAccount. Chapter 02,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0F7021A1-3999-7CA9-29C6-C981209BFA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2F0AB04-B499-44D8-A8F7-D95B5465E53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20"/>
    </mc:Choice>
    <mc:Fallback>
      <p:transition spd="slow" advTm="3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2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guest, a bot or a leaver counted as an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 1 passes on owners who can't answer for the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userType and accountEnabled read; only enabled members 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disable on a guess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job fails, and nobody knew it was claimed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after the officer's confirmation; re-read before the write; skipped if an owner appeared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delete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Configuration gone once the 30-day recycle bin empties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delete action; the writer refuses DELETE; retirement goes through decommission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unattended app with Application.ReadWrite.All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standing permission that can act as every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Delegated only, a person; the read path holds User.Read.All alone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plan changed after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Different writes from the ones approved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Approved SHA-256; this tenant and cloud; no older than seven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body that does more than disable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PATCH that changes other properties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{"accountEnabled": false}; POST only a directory object on the cloud's host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register changed since Chapter 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check runs on evidence the ISSO never saw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register's SHA-256 must match its manifest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person treated as an orphan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Someone's account is disabled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Never-expires-only accounts skipped (NPI-OWN-09)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Re-enabled after the rule; a window that never closes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orphan is back unaccountable; disabled orphans pile 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ReEnabledOutsideRule; RetirementCandidate after 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“Dangers,” “Verified facts” (where Learn's pages differ); Learn, Deactivate an app registration (recycle bin); Graph permissions reference.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5A6418A-32D5-45E2-E015-4AFABE14F40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E34055-92EE-4F1D-900F-B1E147B8C45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40"/>
    </mc:Choice>
    <mc:Fallback>
      <p:transition spd="slow" advTm="35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Ownership">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Ownership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OWNERSHIP</a:t>
            </a:r>
            <a:endParaRPr lang="en-US" sz="1100" dirty="0"/>
          </a:p>
        </p:txBody>
      </p:sp>
      <p:sp>
        <p:nvSpPr>
          <p:cNvPr id="7" name="Panel Ownership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app registration and legacy service principal has two owners who are enabled members, or a finding with an owner of the fix</a:t>
            </a:r>
            <a:endParaRPr lang="en-US" sz="1500" dirty="0"/>
          </a:p>
          <a:p>
            <a:pPr marL="342900" indent="-342900">
              <a:spcAft>
                <a:spcPts val="400"/>
              </a:spcAft>
              <a:buSzPct val="100000"/>
              <a:buChar char="•"/>
            </a:pPr>
            <a:r>
              <a:rPr lang="en-US" sz="1500" dirty="0">
                <a:solidFill>
                  <a:srgbClr val="334155"/>
                </a:solidFill>
              </a:rPr>
              <a:t>Every serviceManagementReference names an active record in the system inventory</a:t>
            </a:r>
            <a:endParaRPr lang="en-US" sz="1500" dirty="0"/>
          </a:p>
          <a:p>
            <a:pPr marL="342900" indent="-342900">
              <a:spcAft>
                <a:spcPts val="400"/>
              </a:spcAft>
              <a:buSzPct val="100000"/>
              <a:buChar char="•"/>
            </a:pPr>
            <a:r>
              <a:rPr lang="en-US" sz="1500" dirty="0">
                <a:solidFill>
                  <a:srgbClr val="334155"/>
                </a:solidFill>
              </a:rPr>
              <a:t>Every AD service account has an application owner in the owners file, or is an orphan candidate</a:t>
            </a:r>
            <a:endParaRPr lang="en-US" sz="1500" dirty="0"/>
          </a:p>
          <a:p>
            <a:pPr marL="342900" indent="-342900">
              <a:spcAft>
                <a:spcPts val="400"/>
              </a:spcAft>
              <a:buSzPct val="100000"/>
              <a:buChar char="•"/>
            </a:pPr>
            <a:r>
              <a:rPr lang="en-US" sz="1500" dirty="0">
                <a:solidFill>
                  <a:srgbClr val="334155"/>
                </a:solidFill>
              </a:rPr>
              <a:t>Every orphan candidate is confirmed, excepted with an end date, or awaiting the officer; none disabled without a confirmation</a:t>
            </a:r>
            <a:endParaRPr lang="en-US" sz="1500" dirty="0"/>
          </a:p>
        </p:txBody>
      </p:sp>
      <p:sp>
        <p:nvSpPr>
          <p:cNvPr id="8" name="Panel The orphan rule and the evidence">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orphan rule and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ORPHAN RULE AND THE EVIDENCE</a:t>
            </a:r>
            <a:endParaRPr lang="en-US" sz="1100" dirty="0"/>
          </a:p>
        </p:txBody>
      </p:sp>
      <p:sp>
        <p:nvSpPr>
          <p:cNvPr id="10" name="Panel The orphan rule and the evidence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was approved by someone other than the person who applies it</a:t>
            </a:r>
            <a:endParaRPr lang="en-US" sz="1500" dirty="0"/>
          </a:p>
          <a:p>
            <a:pPr marL="342900" indent="-342900">
              <a:spcAft>
                <a:spcPts val="400"/>
              </a:spcAft>
              <a:buSzPct val="100000"/>
              <a:buChar char="•"/>
            </a:pPr>
            <a:r>
              <a:rPr lang="en-US" sz="1500" dirty="0">
                <a:solidFill>
                  <a:srgbClr val="334155"/>
                </a:solidFill>
              </a:rPr>
              <a:t>The write path ran as a person, delegated, with Cloud Application Administrator; its manifest filed with the decision record</a:t>
            </a:r>
            <a:endParaRPr lang="en-US" sz="1500" dirty="0"/>
          </a:p>
          <a:p>
            <a:pPr marL="342900" indent="-342900">
              <a:spcAft>
                <a:spcPts val="400"/>
              </a:spcAft>
              <a:buSzPct val="100000"/>
              <a:buChar char="•"/>
            </a:pPr>
            <a:r>
              <a:rPr lang="en-US" sz="1500" dirty="0">
                <a:solidFill>
                  <a:srgbClr val="334155"/>
                </a:solidFill>
              </a:rPr>
              <a:t>Every disable has DisabledOn recorded; every closed window has a retirement decision</a:t>
            </a:r>
            <a:endParaRPr lang="en-US" sz="1500" dirty="0"/>
          </a:p>
          <a:p>
            <a:pPr marL="342900" indent="-342900">
              <a:spcAft>
                <a:spcPts val="400"/>
              </a:spcAft>
              <a:buSzPct val="100000"/>
              <a:buChar char="•"/>
            </a:pPr>
            <a:r>
              <a:rPr lang="en-US" sz="1500" dirty="0">
                <a:solidFill>
                  <a:srgbClr val="334155"/>
                </a:solidFill>
              </a:rPr>
              <a:t>The AI sponsor fields file has gone to the Chapter 09 work; the pinned Learn page matches its manifest</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03, The Migration Path Matrix as Code, turns each owned account's candidate target into a decision.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“Checklist”; “Continue the book”; Chapter 01, “Risk, targets, stale leads and the hand-off.”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52366C6-4B9A-8912-65DF-2A81210D99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F42068-6FFD-4C7D-B61F-61FB252247D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13087</Words>
  <Application>Microsoft Office PowerPoint</Application>
  <PresentationFormat>Widescreen</PresentationFormat>
  <Paragraphs>385</Paragraphs>
  <Slides>17</Slides>
  <Notes>17</Notes>
  <HiddenSlides>0</HiddenSlides>
  <MMClips>17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Federal Modernization Workbook</vt:lpstr>
      <vt:lpstr>Chapter 02: Ownership and the Orphan Rule</vt:lpstr>
      <vt:lpstr>Why ownership is the gate</vt:lpstr>
      <vt:lpstr>Which cloud, for this check and these writes</vt:lpstr>
      <vt:lpstr>The rule the code holds: stricter than Learn's</vt:lpstr>
      <vt:lpstr>The orphan rule: disable first, never delete</vt:lpstr>
      <vt:lpstr>Learn's Graph samples, pinned and sent to a fake</vt:lpstr>
      <vt:lpstr>What the query counts wrong</vt:lpstr>
      <vt:lpstr>What the samples leave out entirely, and the verdict</vt:lpstr>
      <vt:lpstr>The check: nine rules, NPI-OWN-01 to NPI-OWN-09</vt:lpstr>
      <vt:lpstr>The orphan rule as a plan nothing in it writes</vt:lpstr>
      <vt:lpstr>The separate write path, and why it's a person</vt:lpstr>
      <vt:lpstr>Who keeps each input, and who decides</vt:lpstr>
      <vt:lpstr>Lab 1: samples, permissions, the check and the plan</vt:lpstr>
      <vt:lpstr>Lab 1: the findings, the plan, and a refused hash</vt:lpstr>
      <vt:lpstr>Lab 2: two test orphans, confirmed and disabled</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02 — Ownership and the Orphan Rule</dc:title>
  <dc:subject>PptxGenJS Presentation</dc:subject>
  <dc:creator>Michael F. Stratton</dc:creator>
  <cp:lastModifiedBy>Michael F. Stratton</cp:lastModifiedBy>
  <cp:revision>2</cp:revision>
  <dcterms:created xsi:type="dcterms:W3CDTF">2026-10-31T14:33:40Z</dcterms:created>
  <dcterms:modified xsi:type="dcterms:W3CDTF">2026-10-31T15:57:42Z</dcterms:modified>
</cp:coreProperties>
</file>