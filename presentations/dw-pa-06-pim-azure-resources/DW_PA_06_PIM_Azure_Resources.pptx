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888b5ae-6631-22c2-20b0-8027776e5a37}">
          <p14:sldIdLst>
            <p14:sldId id="256"/>
          </p14:sldIdLst>
        </p14:section>
        <p14:section name="Why" id="{d0875bb3-5750-9c6a-9b8d-0906734197b7}">
          <p14:sldIdLst>
            <p14:sldId id="257"/>
            <p14:sldId id="258"/>
          </p14:sldIdLst>
        </p14:section>
        <p14:section name="What" id="{bf5cd314-be68-d1c5-598b-dc7e658eafcf}">
          <p14:sldIdLst>
            <p14:sldId id="259"/>
            <p14:sldId id="260"/>
            <p14:sldId id="261"/>
            <p14:sldId id="262"/>
            <p14:sldId id="263"/>
            <p14:sldId id="264"/>
            <p14:sldId id="265"/>
            <p14:sldId id="266"/>
            <p14:sldId id="267"/>
          </p14:sldIdLst>
        </p14:section>
        <p14:section name="Who" id="{51178f90-fe53-fce9-b6c5-05359d76a5d5}">
          <p14:sldIdLst>
            <p14:sldId id="268"/>
          </p14:sldIdLst>
        </p14:section>
        <p14:section name="How" id="{51bf2a67-2b43-788b-2058-d089621a671d}">
          <p14:sldIdLst>
            <p14:sldId id="269"/>
            <p14:sldId id="270"/>
            <p14:sldId id="271"/>
            <p14:sldId id="272"/>
            <p14:sldId id="273"/>
          </p14:sldIdLst>
        </p14:section>
        <p14:section name="Backup" id="{29c58eb4-fbb8-d3a1-291a-f0ddfe20a7e0}">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6: PIM for Azure resources. Standing Owner and Contributor are what an attacker hopes to find, so this chapter makes those roles eligible, time-bound and approved, and holds the settings as reviewed code at every scope. We'll start from Learn's walkthroughs and Microsoft's own request examples, see what they leave to you, then walk the plan, the dry run, the apply, two labs and the dangers. One note before we begin: the code is illustrative, tested against fixtures.
Detail: The chapter delivers the code behind the project plan's task A3.2, "Azure privileged roles eligible through PIM; three subscription owners at most." It starts with Learn's walkthroughs for the PIM for Azure resources REST API and Microsoft's own request and response examples for it, which the repository keeps as a pinned copy, and replays the examples through the code against a fake Resource Manager. Then it builds PaAzurePim in examples/privileged-access for what they leave to you: role settings by tier at every scope, eligible assignments as a reviewed file, standing Owner, Contributor and User Access Administrator found and converted, and a plan that is a dry run until you say -Apply. Lab 1 runs on a laptop with no tenant; Lab 2 uses a test subscription.
Sources: Microsoft Learn, "Use Azure PIM to manage eligible access with the REST API," https://learn.microsoft.com/rest/api/authorization/privileged-role-eligibility-rest-sample (accessed Oct 30, 2026).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Workbook: Building Privileged Access, Chapter 06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Because a standing Owner is privilege that's always on. Nobody has to activate it, approve it, or explain it, so an attacker who takes the account doesn't have to wait either. The fix is the one you already know from Entra roles: make the role eligible, time-bound and approved. What's different in Azure is that every scope keeps its own rules. The chapter governs the three roles the plan names, Owner, Contributor and User Access Administrator, with Microsoft's ceiling of three subscription owners on top.
Detail: Chapter epigraph: an Owner who never has to activate is an Owner an attacker never has to wait for. In Azure the fix is the same as in Entra: eligible, time-bound, approved. The difference is that every scope keeps its own rules. The code is behind the project plan's task A3.2, "Azure privileged roles eligible through PIM; three subscription owners at most." What counts as privileged: Learn's privileged administrator roles are Owner, Contributor, Reservations Administrator, Role Based Access Control Administrator and User Access Administrator. This chapter governs the three the project plan names, Owner, Contributor and User Access Administrator, and the desired state can add the others by role definition ID. Microsoft's best practice is at most three subscription owners. Learn's PIM deployment plan: zero permanently active assignments except the emergency access accounts.
Sources: Microsoft Learn, "Azure built-in roles for Privileged," Role Based Access Control Administrator and User Access Administrator, https://learn.microsoft.com/azure/role-based-access-control/built-in-roles/privileged, and "Steps to assign an Azure role," check your prerequisites, https://learn.microsoft.com/azure/role-based-access-control/role-assignments-steps (accessed Oct 30, 2026). · Microsoft Learn, "Best practices for Azure RBAC," limit the number of subscription owners, https://learn.microsoft.com/azure/role-based-access-control/best-practices (accessed Oct 30, 2026; read for Chapter 01). · Microsoft Learn, "Plan a Privileged Identity Management deployment," type of assignments, and plan and implement PIM for Azure resource roles, https://learn.microsoft.com/entra/id-governance/privileged-identity-management/pim-deployment-plan (accessed Oct 30, 2026).
Workbook: Building Privileged Access, Chapter 06 — Opening; “In this chapter”; “The context the code depends on” — what counts as privileged.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estate's tenant is GCC on the worldwide endpoints, with commercial Azure, so every call in this chapter goes to the commercial Resource Manager host. GCC High and Department of Defense subscriptions live in Azure Government, which has its own host. The licensing PIM needs is available in all of these clouds, but notice the honest gap: no page the chapter read states the PIM Resource Manager API's availability in Azure Government outright. So the code makes you name the cloud every time, and refuses a file written for a different one.
Detail: The target estate is Microsoft 365 GCC (Moderate) with commercial Azure. GCC uses the worldwide endpoints: sign-in at login.microsoftonline.com, Graph at graph.microsoft.com, and Resource Manager at management.azure.com, which is the host for every call in this chapter. GCC High and DoD use their own Graph hosts, and their Azure subscriptions are in Azure Government, whose Resource Manager host is management.usgovcloudapi.net. Microsoft Entra ID P1 and P2 for GCC are hosted in the Azure commercial environment, and Microsoft Entra ID Governance, which PIM needs, is available in GCC, GCC High and DoD. No Learn page read for this chapter states the PIM Resource Manager API's availability in Azure Government in so many words (research gaps, row 65). The code takes the cloud as a required parameter, with no default, uses Chapter 01's cloud table, and refuses a desired-state file written for another cloud.
Sources: Microsoft Learn, "Microsoft Graph national cloud deployments," https://learn.microsoft.com/graph/deployments (accessed Oct 30, 2026; read for Chapter 01). · Microsoft Learn, "Compare Azure Government and global Azure," guidance for developers, https://learn.microsoft.com/azure/azure-government/compare-azure-government-global-azure (accessed Oct 30, 2026; read for the first workbook's Chapter 02). · Microsoft Learn, "Enterprise Mobility + Security for US Government service description," EMS for US GCC customers, https://learn.microsoft.com/enterprise-mobility-security/solutions/ems-govt-service-description (accessed Oct 30, 2026; read for Chapter 01). · Microsoft Learn, "Microsoft Entra feature availability," other Microsoft Entra products, https://learn.microsoft.com/entra/identity/authentication/feature-availability (accessed Oct 30, 2026).
Workbook: Building Privileged Access, Chapter 06 — “Which cloud, for these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thing to know: PIM for Azure resources isn't in Microsoft Graph at all. Entra roles and groups are managed through Graph, but Azure resources go through Resource Manager, with no Graph permissions. Three resource types do the work: one for eligible assignments, one for active assignments and activations, and one for the role settings. The schedules they produce are the same lists Chapter 1's inventory already reads. And there's a deadline: the old beta endpoint stops returning data at the end of October 2026, so the chapter uses only the current API.
Detail: PIM for Azure resources isn't in Microsoft Graph. Learn says PIM for Microsoft Entra roles and PIM for Groups are managed through Graph, and PIM for Azure resources through Azure Resource Manager, with no Graph permissions at all: the caller needs at least Owner or User Access Administrator on the resource it administers. The same page calls this third iteration of the PIM APIs the final one, generally available for Azure resources, and says the older /beta/privilegedAccess/azureResources endpoint is deprecated and stops returning data on October 28, 2026. By that date, code written against the old endpoint no longer gets data; Learn's page still says "will stop", so check it before you rely on this. This chapter uses only the current one. Three resource types under Microsoft.Authorization do the work: roleEligibilityScheduleRequests creates or removes an eligible assignment (AdminAssign, AdminRemove), PUT {scope}/providers/Microsoft.Authorization/roleEligibilityScheduleRequests/{guid}; roleAssignmentScheduleRequests creates or removes an active assignment, or activates an eligible one, PUT {scope}/providers/Microsoft.Authorization/roleAssignmentScheduleRequests/{guid}; roleManagementPolicies holds the role settings (activation length, approval, justification, ticket, authentication context, how long assignments may last), PATCH {scope}/providers/Microsoft.Authorization/roleManagementPolicies/{guid}. The schedules a request produces are read back from roleEligibilitySchedules and roleAssignmentSchedules, the two lists Chapter 01's inventory already reads. Learn's walkthroughs give the scope forms for a management group (providers/Microsoft.Management/managementGroups/{name}), a subscription and a resource group.
Sources: Microsoft Learn, "Privileged Identity Management APIs," PIM API history and permissions, https://learn.microsoft.com/entra/id-governance/privileged-identity-management/pim-apis (accessed Oct 30, 2026). · Microsoft Learn, "Use Azure PIM to manage eligible access with the REST API," https://learn.microsoft.com/rest/api/authorization/privileged-role-eligibility-rest-sample (accessed Oct 30, 2026). · Microsoft Learn, "Use Azure PIM to manage active access with the REST API," https://learn.microsoft.com/rest/api/authorization/privileged-role-assignment-rest-sample (accessed Oct 30, 2026). · Microsoft Learn, "Use Role Management Policies to manage rules for each role within each resource," https://learn.microsoft.com/rest/api/authorization/privileged-role-policy-rest-sample (accessed Oct 30, 2026). · Microsoft Learn, "Role Management Policies - Update," API version 2020-10-01, https://learn.microsoft.com/rest/api/authorization/role-management-policies/update (accessed Oct 30, 2026).
Workbook: Building Privileged Access, Chapter 06 — “The context the code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shape the code. First, the version: the generally available release covers every PIM resource type, and the code pins it, even though one of Learn's how-to pages still shows an older preview. When Learn's pages disagree, the chapter follows the stricter one and writes the disagreement down. Second, settings don't inherit. A resource group under a governed subscription keeps its defaults, so the file has to list every scope. Third, only users and groups can be eligible. A pipeline's service principal can't activate, so it can't be converted.
Detail: The API version is 2020-10-01. Learn's list of Azure RBAC API versions marks 2020-10-01 as the generally available release of every PIM resource type: role assignment and eligibility schedule requests, schedules and instances, eligible child resources, and role management policies and their assignments. The only later stable version, 2022-04-01, made role assignment conditions GA and lists no PIM change. The template reference also lists preview versions of roleEligibilityScheduleRequests (2022-04-01-preview, 2024-02-01-preview, 2024-09-01-preview); the code doesn't use them. Learn's own PIM how-to for assigning Azure roles through Resource Manager still shows 2020-10-01-preview in its sample request, with the scope written providers/Microsoft.Subscription/subscriptions/{id}. The two pages differ; the code follows the stricter one, the GA version, and the walkthroughs' scope form, and calls-ch06.json pins it (research gaps, row 64). Policies don't inherit: Learn says role settings are defined per role and per resource, and settings at a subscription aren't inherited by a resource group under it. So the desired state lists every scope it governs, and the code reads and sets each role's policy at each of them. A resource group left out of the file keeps whatever settings it has. Who can be eligible: Learn says you can make users eligible but not applications, service principals or managed identities, because they can't perform the activation steps, and that users with eligible or time-bound assignments need a valid license (Microsoft Entra ID P2 or Microsoft Entra ID Governance). So a standing Contributor held by a deployment pipeline can't be converted. The code reports it and leaves it alone.
Sources: Microsoft Learn, "API versions of Azure RBAC REST APIs," stable versions and release notes, https://learn.microsoft.com/rest/api/authorization/versions (accessed Oct 30, 2026). · Microsoft Learn, "Microsoft.Authorization roleEligibilityScheduleRequests," template reference, versions, https://learn.microsoft.com/azure/templates/microsoft.authorization/roleeligibilityschedulerequests (accessed Oct 30, 2026). · Microsoft Learn, "Assign Azure resource roles in Privileged Identity Management," assign a role using Azure Resource Manager API, and role assignment conditions, https://learn.microsoft.com/entra/id-governance/privileged-identity-management/pim-resource-roles-assign-roles (accessed Oct 30, 2026). · Microsoft Learn, "Use Azure PIM to manage eligible access with the REST API," https://learn.microsoft.com/rest/api/authorization/privileged-role-eligibility-rest-sample (accessed Oct 30, 2026). · Microsoft Learn, "Configure Azure resource role settings in Privileged Identity Management," https://learn.microsoft.com/entra/id-governance/privileged-identity-management/pim-resource-roles-configure-role-settings (accessed Oct 30, 2026). · Microsoft Learn, "Eligible and time-bound role assignments in Azure RBAC," PIM functionality, https://learn.microsoft.com/azure/role-based-access-control/pim-integration (accessed Oct 30, 2026).
Workbook: Building Privileged Access, Chapter 06 — “The context the code depends on”; “Verified facts” — the API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 has three walkthroughs, one per job: eligible access, active access, and the role settings. Together they show how to list, grant, remove, activate, and patch a role's rules, and which errors come back when a request breaks a rule. Their source isn't public, so they can't be pinned. But Microsoft's request and response examples for the same calls are, so the repository pins six of them, unmodified, with hashes a test checks. A stand-in Resource Manager then replays them through the code, and nothing signs in or leaves the machine.
Detail: Learn has three walkthroughs for this API, one per job: Use Azure PIM to manage eligible access with the REST API, Use Azure PIM to manage active access with the REST API, and Use Role Management Policies to manage rules for each role within each resource. Together they show how to list schedules with a scope and a filter, grant and remove an eligible assignment, grant and remove an active one, activate and deactivate, list a role's policy with $filter=roleDefinitionId eq '{scope}/providers/Microsoft.Authorization/roleDefinitions/{id}', and patch its rules. They name the five rule types (enablement, expiration, notification, approval and authentication context), say you never create a policy because every role at every resource has a default one, and list the errors a request returns when it breaks a rule, such as ExpirationRule and JustificationRule. The walkthroughs' source isn't in a public Microsoft repository, so the pages can't be pinned and checked. Microsoft's request and response examples for the same calls are: they live in Azure/azure-rest-api-specs beside the API definition, and the Learn REST reference renders them on each operation's page. No Azure-Samples repository for PIM for Azure resources was found. The repository pins six of those examples, unmodified, in examples/third_party/azure-pim-rest-examples: list assignment schedules, list eligibility schedules, list role management policies, create an eligibility schedule request, create an assignment schedule request, and the partial policy PATCH, all for API version 2020-10-01, from commit 411fb22 (October 30, 2026), with the repository's MIT license. snapshot.json records each file's SHA-256, checked against the upstream git blob hashes, and a unit test checks them. The weekly source watch reports new commits to the examples folder. Updating the copy is a reviewed pull request. tests/AzurePim.Tests.ps1 replays them: a stand-in Resource Manager answers each list with the example's own response body, and the chapter's code reads it as it would read a tenant. The write examples are compared field by field with what the code would send. Nothing signs in and nothing leaves the machine.
Sources: Microsoft Learn, "Use Azure PIM to manage eligible access with the REST API," https://learn.microsoft.com/rest/api/authorization/privileged-role-eligibility-rest-sample (accessed Oct 30, 2026). · Microsoft Learn, "Use Azure PIM to manage active access with the REST API," https://learn.microsoft.com/rest/api/authorization/privileged-role-assignment-rest-sample (accessed Oct 30, 2026). · Microsoft Learn, "Use Role Management Policies to manage rules for each role within each resource," https://learn.microsoft.com/rest/api/authorization/privileged-role-policy-rest-sample (accessed Oct 30, 2026). · Microsoft Learn, "Role Management Policies - Update," API version 2020-10-01, https://learn.microsoft.com/rest/api/authorization/role-management-policies/update (accessed Oct 30, 2026).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Workbook: Building Privileged Access, Chapter 06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Replaying the examples turns up some real traps. The list examples show one page for one person, but a busy subscription spans many pages. One example's role ID and its friendly name disagree, so code that trusts the name files a row under the wrong role. Another example says "assigned", but it's really an activation, and read naively it looks like standing access. The scope is written three different ways, which quietly breaks any diff. And the sample eligibility lasts a year, with no justification, longer than any tier allows. Each of these is pinned by a test.
Detail: Replaying the examples, and reading them beside the walkthroughs, shows what they do and what they leave out. Every row is pinned by a test in tests/AzurePim.Tests.ps1. Row 1: each list example is one page, filtered to one principal with assignedTo(); an unfiltered list of a busy subscription spans pages, and reading one misses holders; Chapter 01's Invoke-PaList follows nextLink on the cloud's own host, and page sizes of 1, 2 and 50 give the same state. Row 2: the eligibility example's roleDefinitionId ends in the Contributor ID, while its expandedProperties.roleDefinition carries a different ID with the display name Contributor; a reader that trusts the expanded object or the name can file a row under the wrong role; rows key on properties.roleDefinitionId and the role GUID, never on a display name. Row 3: the assignment example says assignmentType: Assigned but carries a linkedRoleEligibilityScheduleId and an eight-hour end; it is the activation the active-access walkthrough creates, and read naively it looks like an assignment; a schedule linked to an eligibility is Activated, never standing. Row 4: the examples address the scope as providers/Microsoft.Subscription/subscriptions/{id}; the walkthroughs use subscriptions/{id}; responses return /subscriptions/{id}; two forms of one scope make diffs and de-duplication fail; the code uses the walkthrough's form, the one responses use, and any other form is refused. Row 5: the AdminAssign example makes Contributor eligible for 365 days, with an attribute condition and no justification; a year is longer than any tier allows, and a missing justification fails a policy that requires one; the code takes the duration from the tier (90 days for Tier 0, 180 for Tier 1, from Appendix B), puts a justification on every request, and puts no condition on a privileged administrator role.
Sources: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 Microsoft Learn, "Use Azure PIM to manage active access with the REST API," https://learn.microsoft.com/rest/api/authorization/privileged-role-assignment-rest-sample (accessed Oct 30, 2026). · Microsoft Learn, "Use Azure PIM to manage eligible access with the REST API," https://learn.microsoft.com/rest/api/authorization/privileged-role-eligibility-rest-sample (accessed Oct 30, 2026).
Workbook: Building Privileged Access, Chapter 06 — “What it leaves to you,”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aren't mistakes, they're things the examples never try to do. They show one rule patched at one subscription, but settings don't inherit, so every scope needs its own. Nothing in them finds standing Owner, which is the whole point of the project. Every write is a request you send by hand, with nothing to review first. And every request goes to the commercial host. So the verdict: use the walkthroughs as the procedure and the examples as the contract for shapes, but don't drive the estate from them.
Detail: Row 6: the policy PATCH example sends two rules, one of them an email notification to a fixed address; it shows partial patches work, and says nothing about which rules a program should own; the code compares seven managed rules with the tier's settings, and a PATCH carries only the rules that differ, each with its id, ruleType and target as read. Row 7: every example shows one subscription; settings don't inherit, so a resource group under a governed subscription keeps the defaults; each role's policy is read and set at every scope in the desired state. Row 8: nothing finds standing assignments or converts them; standing Owner is the state the project exists to remove; PA-AZ-01 to PA-AZ-06, eligible replacement first, then AdminRemove; service principals, root elevation and the caller left alone, with the reason. Row 9: each write is a request you send by hand, with nothing to review before it lands; a plan and a diff, a dry run by default, and writes only through an apply client with -Apply. Row 10: every request goes to management.azure.com, right for GCC and wrong for GCC High and DoD; the host comes from the cloud table. The verdict: use Learn's walkthroughs as the procedure and the examples as the contract for request and response shapes. Don't drive the estate from them: they make one change at a time, at one scope, with nothing to review first.
Sources: Microsoft Learn, "Configure Azure resource role settings in Privileged Identity Management," https://learn.microsoft.com/entra/id-governance/privileged-identity-management/pim-resource-roles-configure-role-settings (accessed Oct 30, 2026).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 Microsoft Learn, "Role Management Policies - Update," API version 2020-10-01, https://learn.microsoft.com/rest/api/authorization/role-management-policies/update (accessed Oct 30, 2026).
Workbook: Building Privileged Access, Chapter 06 — “What it leaves to you,” rows 6–10;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 a second module that imports Chapter 1's and changes nothing in it, so every read is declared, paged to the end, and recorded. The call list has two tasks. Reading needs only Reader. Writing needs User Access Administrator, which can manage role assignments but can't change the resources themselves, the way Owner can. There's one more candidate, the role-based access control administrator, which holds the same write action. But the PIM pages name only Owner and User Access Administrator, so the code takes the stricter reading until a lab proves otherwise.
Detail: examples/privileged-access gains a second module for this chapter, powershell/PaAzurePim/PaAzurePim.psm1, with its own call list config/calls-ch06.json, entry script Invoke-PaAzurePim.ps1, tests and fixtures; the notes are in docs/ch06.md. The module imports Chapter 01's PrivilegedAccess module and changes nothing in it. It uses Get-PaCloud for the hosts, with no default cloud; Get-PaTierMap and Get-PaAzureTier for each row's tier, by role and scope, with the desired state's control-plane subscriptions added (Book 04, Chapter 04's placements, design guidance); and Invoke-PaList for every read. A PaAzurePim client has the same shape as Chapter 01's reader, so every GET is declared, paged to the end, recorded, and refused if it isn't a GET or isn't on the cloud's host. A call list with two tasks: azure-pim-read holds the three lists; azure-pim-apply adds the two PUTs and the PATCH. Role assignment schedules, list for scope: GET, Reader, needs Microsoft.Authorization/roleAssignments/read, which every built-in role has. Role eligibility schedules, list for scope: GET, Reader, the same action. Role management policies, list for scope: GET, Reader, the same action. Role eligibility schedule request, create: PUT, User Access Administrator, needs Microsoft.Authorization/roleAssignments/write, "only Owner and User Access Administrator" of the built-in roles. Role assignment schedule request, create (AdminRemove only): PUT, User Access Administrator, the same. Role management policy, update: PATCH, User Access Administrator; Owner or User Access Administrator manages role settings; the action is Microsoft.Authorization/roleManagementPolicies/write. User Access Administrator is the narrower of the two roles Learn names: it holds */read and Microsoft.Authorization/*, while Owner can also change every resource. Role Based Access Control Administrator holds roleAssignments/write too, and Learn's general role-assignment pages offer it as the least-privileged way to assign roles, but the PIM walkthroughs and the PIM APIs page name only Owner and User Access Administrator. The code follows the stricter statement and declares User Access Administrator (research gaps, row 62). Get-PaAzRequiredRole returns the union for a task, so the dry run needs Reader and the apply needs User Access Administrator, and the manifest says which.
Sources: Microsoft Learn, "Use Azure PIM to manage eligible access with the REST API," https://learn.microsoft.com/rest/api/authorization/privileged-role-eligibility-rest-sample (accessed Oct 30, 2026). · Microsoft Learn, "Use Azure PIM to manage active access with the REST API," https://learn.microsoft.com/rest/api/authorization/privileged-role-assignment-rest-sample (accessed Oct 30, 2026). · Microsoft Learn, "Use Role Management Policies to manage rules for each role within each resource," https://learn.microsoft.com/rest/api/authorization/privileged-role-policy-rest-sample (accessed Oct 30, 2026). · Microsoft Learn, "Configure Azure resource role settings in Privileged Identity Management," https://learn.microsoft.com/entra/id-governance/privileged-identity-management/pim-resource-roles-configure-role-settings (accessed Oct 30, 2026). · Microsoft Learn, "Azure permissions for Management and governance," Microsoft.Authorization, https://learn.microsoft.com/azure/role-based-access-control/permissions/management-and-governance (accessed Oct 30, 2026). · Microsoft Learn, "Azure built-in roles for Privileged," Role Based Access Control Administrator and User Access Administrator, https://learn.microsoft.com/azure/role-based-access-control/built-in-roles/privileged, and "Steps to assign an Azure role," check your prerequisites, https://learn.microsoft.com/azure/role-based-access-control/role-assignments-steps (accessed Oct 30, 2026). · Microsoft Learn, "Privileged Identity Management APIs," PIM API history and permissions, https://learn.microsoft.com/entra/id-governance/privileged-identity-management/pim-apis (accessed Oct 30, 2026).
Workbook: Building Privileged Access, Chapter 06 — “The code: PaAzurePim” — “What it builds on”; “What it adds” — the call list; “Verified facts” — the least-privileged write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configuration is one reviewed file. It names the scopes, the roles, who's eligible, and the settings for each tier, taken from Book 04's role settings: shorter activations and tighter eligibility for the most sensitive tier, approval by a named group, and a justification and ticket on every activation. Those values are the program's design guidance. The loader also refuses what Learn or the program rules out. The subtle one is authentication context: Learn says to create its Conditional Access policy before you point PIM at it, so the file can't use it until that's confirmed.
Detail: Read-PaAzDesiredState loads the reviewed file and refuses what Learn or the program rules out: a service principal as an eligible holder, an activation outside 1 to 24 hours, approval with no approver group, the root scope, and an authentication context before its Conditional Access policy is confirmed. That last guard is Learn's advice: create and enable the Conditional Access policy for the authentication context before you set it in PIM. The authentication context c1 and its policy are Chapter 03's (planned). The settings per tier follow Book 04, Appendix B: four hours of activation for Tier 0 and eight for Tier 1, approval by PIM-Approvers-T0 or PIM-Approvers-T1, justification and a ticket on activation, MFA and justification on an active assignment, eligibility for at most 90 or 180 days, and no permanent active assignment. Design guidance for the values. The reviewed JSON file says which scopes are governed, which roles, the settings for each tier, who is eligible, and which standing assignments are allowed and who owns each one.
Sources: Microsoft Learn, "Eligible and time-bound role assignments in Azure RBAC," PIM functionality, https://learn.microsoft.com/azure/role-based-access-control/pim-integration (accessed Oct 30, 2026). · Microsoft Learn, "Configure Azure resource role settings in Privileged Identity Management," https://learn.microsoft.com/entra/id-governance/privileged-identity-management/pim-resource-roles-configure-role-settings (accessed Oct 30, 2026).
Workbook: Building Privileged Access, Chapter 06 — “What it adds” — a desired state;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is straightforward: at each governed scope, both schedule lists and one policy per role. A schedule counts as permanently active only when it's assigned, never ends, isn't an activation, and is direct. The plan is where order matters. Policies go first, because a request that breaks the policy is refused. New eligible assignments go second. And standing access is removed last, so nobody loses a role before they can activate it. Anything eligible that the file doesn't mention is reported, not removed: taking access away is its own reviewed change.
Detail: A read: Get-PaAzPimState reads, at each governed scope, both schedule lists and one policy per governed role, found with the walkthrough's roleDefinitionId filter. Rows are de-duplicated by ID and inherited rows skipped, as in Chapter 01. A schedule is ActivePermanent only when it is Assigned, has no end, isn't linked to an eligibility, and is direct. A plan: New-PaAzPlan compares the two and lists operations in the order they must be sent. 1, policy updates: for each scope and role, the seven managed rules (Expiration_Admin_Eligibility, Expiration_Admin_Assignment, Expiration_EndUser_Assignment, Enablement_Admin_Assignment, Enablement_EndUser_Assignment, AuthenticationContext_EndUser_Assignment and Approval_EndUser_Assignment) are compared with the tier's settings. One PATCH carries only the rules that differ. Notification rules aren't managed here. 2, new eligible assignments: each declared eligibility the estate doesn't hold, as AdminAssign with an AfterDuration expiration of the tier's maximum and the declared justification. 3, removal of standing assignments: each standing Owner, Contributor or User Access Administrator held by a user or group, outside the exceptions, gets an eligible replacement in step 2 and an AdminRemove in step 3. Eligible first, so no holder loses the role before they can activate it. The policies go first because a request that breaks the policy is refused: an eligibility longer than the rule allows fails with ExpirationRule. The fake enforces that too, and a test shows it. Each request is named with a GUID derived from the run ID and the operation, so the dry run and the apply on the same day send exactly the requests the reviewer read. An eligibility the estate holds but the file doesn't declare is reported (PA-AZ-04), never removed by the plan: removing access is its own reviewed change.
Sources: Microsoft Learn, "Use Azure PIM to manage eligible access with the REST API," https://learn.microsoft.com/rest/api/authorization/privileged-role-eligibility-rest-sample (accessed Oct 30, 2026).
Workbook: Building Privileged Access, Chapter 06 — “What it adds” — a read;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also reports what it found, and just as important, what it won't touch. Standing privileged roles outside owned exceptions are findings. A service principal is reported, never converted, because it can't activate. Root-scope elevation is flagged for removal. The identity running the plan never plans away its own access; that's decided last, from another session. And a subscription that would end up with more than three owners is flagged. Writing, meanwhile, is hard to do by accident: it's a dry run unless you ask to apply, and every run leaves evidence, including the state as read, which is your back-out.
Detail: PA-AZ-01, Finding (Info on the exceptions list): standing Owner, Contributor or User Access Administrator outside the exceptions; an exception with no owner doesn't count. Source: Learn, zero permanently active assignments except the emergency accounts; design guidance for the exceptions. PA-AZ-02, Finding: a standing assignment held by a service principal or managed identity. Learn: they can't be made eligible. PA-AZ-03, Finding: User Access Administrator at root scope (/). Learn: elevated access, to be removed when the task is done; Book 04 treats it as a Tier 0 event. PA-AZ-04, Warn: an eligibility on a governed role not in the desired state, or one that never expires. Design guidance (Appendix B bounds eligibility by tier). PA-AZ-05, Finding: a standing assignment held by the identity the plan runs as. Design guidance: the apply needs it to finish; decide it last, from another session. PA-AZ-06, Finding: more than three Owners on a subscription, eligible or active, after the plan. Learn: at most three subscription owners. Learn's deployment plan also says only Owner or User Access Administrator manage Azure resource role assignments. The apply: Invoke-PaAzPlan is a dry run unless called with -Apply and a client built for azure-pim-apply. The live invoker, New-PaAzLiveInvoker, uses Invoke-AzRestMethod, refuses an Az session signed in to another cloud, and refuses any host but the cloud's own. With -Apply, the entry script reads the estate again afterwards and writes what is still different to diff-after.txt. Every run writes state.json (including each policy's rules as read, which is the back-out), plan.json, diff.txt, findings.json and manifest.json with the SHA-256 of each file and every request sent. The tests: Pester 5 under PowerShell 7, 38 tests in tests/AzurePim.Tests.ps1, none needing a module, a tenant or a network. 6 on the call list and the client: one API version, GET only for reads, exactly Reader and User Access Administrator, the GCC and Azure Government hosts, a write refused by a read client, a name that isn't a GUID refused. 6 replaying Microsoft's examples, one for each row of the gap table that the examples show. 4 on the read, 5 on the desired state, 10 on the plan, and 7 on the dry run, the apply against the fake, the fake's policy and principal checks, and the entry script. With Chapters 01 and 02's tests, the example runs 116 (the chapter's Lab 1 expected result says 330 tests passing across the whole tests folder).
Sources: Microsoft Learn, "Plan a Privileged Identity Management deployment," type of assignments, and plan and implement PIM for Azure resource roles, https://learn.microsoft.com/entra/id-governance/privileged-identity-management/pim-deployment-plan (accessed Oct 30, 2026). · Microsoft Learn, "Eligible and time-bound role assignments in Azure RBAC," PIM functionality, https://learn.microsoft.com/azure/role-based-access-control/pim-integration (accessed Oct 30, 2026). · Microsoft Learn, "Azure roles, Microsoft Entra roles, and classic subscription administrator roles," do Azure roles and Microsoft Entra roles overlap, https://learn.microsoft.com/azure/role-based-access-control/rbac-and-directory-admin-roles (accessed Oct 30, 2026; read for Chapter 01). · Microsoft Learn, "Best practices for Azure RBAC," limit the number of subscription owners, https://learn.microsoft.com/azure/role-based-access-control/best-practices (accessed Oct 30, 2026; read for Chapter 01).
Workbook: Building Privileged Access, Chapter 06 — “What it adds” — findings; the apply;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The platform engineers who own the Azure management group hierarchy write and keep the file. The identity engineers and the information system security officers review every change before it's applied, by reading the diff and the plan. The eligible holders are people and groups, licensed for PIM, who'll now activate with a reason, a ticket and an approval. And the automation itself runs with as little as possible: Reader for the dry run, User Access Administrator held only for a day or so for the apply, never Owner, and no Graph permissions at all.
Detail: Audience: platform engineers who own the Azure management group hierarchy, and the identity engineers and ISSOs who review their changes. You should read PowerShell 7 and know what an Azure role assignment and a scope are. Chapter 01's Azure section is the read this chapter builds on. You don't need a subscription until Lab 2. Goal: by the end of this chapter you can hold PIM for Azure resources as code. A reviewed JSON file says which scopes are governed, which roles, the settings for each tier, who is eligible, and which standing assignments are allowed and who owns each one. The code reads the estate through Resource Manager, prints a diff, writes the requests it would send, and sends them only when you run it again with -Apply. You can say, for each rule in the code, whether it is Microsoft's contract, Microsoft's sample, or the program's own design. The automation identity: an app registration with a certificate credential, or a managed identity; no Graph permission; Reader for the dry run; User Access Administrator, time-bound, for the apply, never Owner (checklist). Eligible users need Microsoft Entra ID P2 or Microsoft Entra ID Governance.
Sources: Microsoft Learn, "Privileged Identity Management APIs," PIM API history and permissions, https://learn.microsoft.com/entra/id-governance/privileged-identity-management/pim-apis (accessed Oct 30, 2026). · Microsoft Learn, "Eligible and time-bound role assignments in Azure RBAC," PIM functionality, https://learn.microsoft.com/azure/role-based-access-control/pim-integration (accessed Oct 30, 2026).
Workbook: Building Privileged Access, Chapter 06 — “Goal and audience”; “Lab 2,” step 1;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and no network. First you replay Microsoft's own examples, and the six tests pass. Read the second one: Microsoft's assignment example is really an activation. Next, ask the code which roles each task needs. Owner isn't needed for anything. Then plan against a small fictional estate, as a dry run. It reads the schedules and policies, plans eleven policy updates, five new eligible assignments and three removals, and writes nineteen requests without sending one. Let's read what it planned.
Detail: You need PowerShell 7.1 or later with Pester 5. Work in examples/privileged-access. The fixture estate has a management group (contoso-root), a workload subscription, a control-plane subscription and a resource group, rg-payroll. The identity that would run the apply is the fictional service principal sp-pim-automation, c3000000-0000-4000-8000-000000000003. Step 1, replay Microsoft's examples: Invoke-Pester -Path tests/AzurePim.Tests.ps1 -FullNameFilter "*Microsoft's examples*" -Output None -PassThru | Select-Object PassedCount, FailedCount, NotRunCount gives PassedCount 6, FailedCount 0, NotRunCount 32. Open the test file and read the second test: Microsoft's own assignment example is an activation, though its assignmentType says Assigned. Step 2, list the roles each task needs: Import-Module ./powershell/PaAzurePim/PaAzurePim.psm1; (Get-PaAzRequiredRole -Task azure-pim-read).AzureRoles -join ', ' and the same for azure-pim-apply give Reader, then Reader, User Access Administrator. Owner isn't needed for anything. Step 3, plan as a dry run: ./Invoke-PaAzurePim.ps1 -Cloud gcc -FixturePath tests/fixtures/ch06/estate.json -DesiredPath tests/fixtures/ch06/desired.json -CallerPrincipalId c3000000-0000-4000-8000-000000000003 -OutputPath out/ch06 -RunId lab. Output: "Read: 9 assignment and 2 eligibility schedules, 12 policies at 4 scopes"; "Plan: 11 policy updates, 5 eligible assignments to add, 3 standing assignments to remove"; "Findings: 7 Finding, 2 Warn, 1 Info"; "Dry run: 19 requests written to plan.json, none sent. Review diff.txt, then rerun with -Apply."; "Written to out/ch06 (manifest.json lists every request and file hash)". out/ch06/manifest.json lists 23 requests, every one a GET. The commands replay Microsoft's pinned examples against a stand-in, and run the example against a fictional estate served by a fake. They show what the code does, not that a tenant returns the same shapes or accepts the same requests.
Sources: Building Privileged Access, Chapter 06, docs/project-plans/developer-workbooks/privileged-access/06-pim-for-azure-resources.md
Workbook: Building Privileged Access, Chapter 06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the plan the way a reviewer would. Three standing assignments become eligible, each with a matching removal, and two declared groups gain eligibility. Seventy policy rules change, but a policy that's already right isn't touched. The findings tell the rest: the automation's own access is left alone, a root-scope elevation is flagged, a pipeline's service principal is reported, not converted, and one subscription would have four owners. Then apply against the fake, and a fresh read shows nothing left to change. Finally, watch the code refuse an undeclared write and a scope it doesn't govern.
Detail: Step 4, read the diff and the findings: Get-Content out/ch06/diff.txt | Where-Object { $_ -match '^[+-] ' }; the count of '^~ ' lines; and findings.json filtered to Severity -ne 'Warn', formatted as Rule, Severity, Role, Scope. Five + eligible lines and three - active lines. Three of the eligible lines end in (converted): the standing User Access Administrator held by the group PRV-T0-UserAccessAdmin-Root at the management group (Tier 0, 90 days), a user's standing Owner on the workload subscription, and a user's standing Contributor on rg-payroll (Tier 1, 180 days). Each has its - active line. The other two are the declared groups PRV-T1-Owner-Workload and PRV-T1-Contributor-Payroll. Then 70 ~ policy lines, one per rule that changes; the control-plane subscription's User Access Administrator policy is already at Tier 0 and isn't touched. The findings: three PA-AZ-01 for the three conversions; PA-AZ-05 for sp-pim-automation's own User Access Administrator; PA-AZ-03 for a user's User Access Administrator at /; PA-AZ-02 for sp-deploy-pipeline's standing Contributor; PA-AZ-01 as Info for sp-log-export, which is on the exceptions list with an owner; and PA-AZ-06, because the workload subscription would have four Owners. The two Warns are one user's permanent eligibility for Owner, which the file doesn't declare. Step 5, apply against the fake: the same command with -OutputPath out/ch06-apply -Apply. The same first three lines, then "Applied: 19 requests sent; left to change after a fresh read: 0". The manifest lists 45 GETs, 11 PATCHes and 8 PUTs, in that order of kind: policies, then eligibility, then removals. The fake started from the file again, so nothing you ran here changed the fixture. Step 6, see the code refuse: Invoke-PaAzWrite with a read client and -CallId azpim-policy-update gives "Undeclared call 'azpim-policy-update' for task 'azure-pim-read'; add it to config/calls-ch06.json with its role."; ConvertTo-PaAzScope on a Microsoft.Web/sites/payroll path gives "... isn't a management group, subscription or resource group scope". Step 7, Invoke-Pester -Path tests. Expected result: 330 tests passing, 38 of them this chapter's, every row of the gap table seen with your own eyes, and a plan you could hand a reviewer. Delete out when you're done.
Sources: Building Privileged Access, Chapter 06, docs/project-plans/developer-workbooks/privileged-access/06-pim-for-azure-resources.md
Workbook: Building Privileged Access, Chapter 06 — “Lab 1: fixtures, no tenant,” steps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subscription, never production. You give a reader app nothing but Reader, write a small desired state with one hand-made standing Owner to convert, and plan live, comparing what the code read with what the admin center shows. Then you grant the write role for a single day, apply, and activate as the test user to see the approval flow. There's also a small experiment to settle an open question about the narrower role. And to back it out, wait five minutes first: Learn says a new assignment can't be removed sooner.
Detail: Use a test tenant in the worldwide or GCC cloud, with a test management group, subscription and resource group, never production, and fictional users and groups. Eligible users need Microsoft Entra ID P2 or Microsoft Entra ID Governance. 1 Prepare the identity: register an app in the tenant's own cloud (for GCC, the worldwide Microsoft Entra admin center) with a certificate credential, or use a managed identity. It needs no Graph permission. Grant it Reader on each test scope. 2 Write the desired state for the test scopes: two test groups for the approvers, a test group to be eligible, and one standing Owner assignment you create by hand on the test subscription for a test user, so there is something to convert. If Chapter 03's PIM-Activation-c1 policy doesn't exist in the test tenant, leave authenticationContext out of the settings rather than confirming it. 3 Plan, live: Connect-AzAccount -ServicePrincipal -Environment AzureCloud -Tenant &lt;tenant-id&gt; -ApplicationId &lt;app-id&gt; -CertificateThumbprint &lt;thumbprint&gt;, then ./Invoke-PaAzurePim.ps1 -Cloud gcc -DesiredPath desired-test.json -CallerPrincipalId &lt;app-object-id&gt; -OutputPath out/ch06-test-dry -TenantId &lt;tenant-id&gt;. Compare state.json with ID Governance &gt; Privileged Identity Management &gt; Azure resources in the admin center for each scope. Check the three things the fixture assumed: whether a list at the management group returns a root-scope assignment, and with which memberType (research gaps, row 66); that each policy list with the roleDefinitionId filter returns exactly one policy; and that each schedule appears once. 4 Apply: give the app User Access Administrator on the test scopes, itself as a time-bound assignment of one day. Rerun with -Apply and a new output path. diff-after.txt should be empty. In the admin center, check one role's settings and the eligible assignments, then sign in as the test user and activate Owner: it should ask for the justification and ticket and wait for approval. 5 Try the narrower role: on one test scope, swap User Access Administrator for Role Based Access Control Administrator and send one eligibility request. Record whether Resource Manager accepts it (research gaps, row 62), and whether a request whose role definition ID is in the management group or resource group form is accepted (research gaps, row 63). 6 Back it out: wait at least five minutes after the last assignment: Learn says a role assignment can't be removed within five minutes of being made. Remove the eligible assignments the run created, with AdminRemove or in the admin center; restore each policy from the rules saved in the dry run's state.json; remove the test user's eligibility and the hand-made Owner if it still exists; remove the app's User Access Administrator and Reader assignments; delete the app registration and its certificate; and delete the out/ch06-test-* folders, which name the test holders.
Sources: Microsoft Learn, "Eligible and time-bound role assignments in Azure RBAC," PIM functionality, https://learn.microsoft.com/azure/role-based-access-control/pim-integration (accessed Oct 30, 2026). · Microsoft Learn, "Privileged Identity Management APIs," PIM API history and permissions, https://learn.microsoft.com/entra/id-governance/privileged-identity-management/pim-apis (accessed Oct 30, 2026). · Microsoft Learn, "Configure Azure resource role settings in Privileged Identity Management," https://learn.microsoft.com/entra/id-governance/privileged-identity-management/pim-resource-roles-configure-role-settings (accessed Oct 30, 2026). · Microsoft Learn, "Assign Azure resource roles in Privileged Identity Management," assign a role using Azure Resource Manager API, and role assignment conditions, https://learn.microsoft.com/entra/id-governance/privileged-identity-management/pim-resource-roles-assign-roles (accessed Oct 30, 2026).
Workbook: Building Privileged Access, Chapter 06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is a way a well-meant change goes wrong in production, and each has a guard in the code. The worst is order: remove standing Owner before the eligible role exists and someone loses access in the middle of a task. Close behind is the automation removing its own access halfway through a run. Others are quieter: a resource group nobody listed keeps its defaults, an authentication context points at a policy that isn't there, or a typo lands unreviewed. The pattern is the same as before: a dry run by default, and rules that run every time.
Detail: A standing Owner removed before the eligible one exists: the holder loses access mid-task, or a scope is left with no one who can act; guard: eligible first, removal after, in one ordered plan; a test pins the order. The apply identity removes its own access: the run stops halfway, with policies changed and conversions half done; guard: PA-AZ-05, the caller's own standing assignment is never planned for removal. A pipeline's service principal "converted": the request fails, or the pipeline loses access it can't reactivate; guard: PA-AZ-02, reported, never planned; desired state refuses a service principal as eligible. A resource group left on default settings: activation there has no approval and lasts the default; guard: every governed scope is read and set; a test pins the resource group. An authentication context with no policy behind it: activation falls back to MFA only, or is blocked; guard: the desired state refuses c1 until its policy is confirmed. A write nobody reviewed: a typo in JSON changes a production policy; guard: dry run by default; -Apply needs an apply client; diff.txt and plan.json are the review. A rerun after a partial failure: requests repeat, and RoleAssignmentExists errors hide the real one; guard: the plan reads the estate first, so done work isn't planned again; request names are stable within a run ID. Owner instead of User Access Administrator for the apply: the automation can change every resource it governs; guard: the call list declares User Access Administrator; the manifest records the roles the task needed. Root elevation treated as a normal assignment: elevate access is converted, or quietly kept; guard: PA-AZ-03, reported for removal, never converted. The wrong cloud: a GCC High run sends tokens to management.azure.com; guard: explicit cloud, no default; the live invoker checks the Az session and the host; the desired state names its cloud. The old beta API: code built on /beta/privilegedAccess/azureResources stops returning data; guard: only the Resource Manager API at the GA version.
Sources: Microsoft Learn, "Privileged Identity Management APIs," PIM API history and permissions, https://learn.microsoft.com/entra/id-governance/privileged-identity-management/pim-apis (accessed Oct 30, 2026). · Microsoft Learn, "Eligible and time-bound role assignments in Azure RBAC," PIM functionality, https://learn.microsoft.com/azure/role-based-access-control/pim-integration (accessed Oct 30, 2026). · Microsoft Learn, "Configure Azure resource role settings in Privileged Identity Management," https://learn.microsoft.com/entra/id-governance/privileged-identity-management/pim-resource-roles-configure-role-settings (accessed Oct 30, 2026).
Workbook: Building Privileged Access, Chapter 06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estate side: every governed scope is listed, and you've written down what isn't; each role's settings match the tier everywhere, and a fresh read after the apply shows nothing left; no standing privileged roles remain outside owned exceptions; and no subscription has more than three owners. On the run side: the right roles, held briefly, the right cloud, a reviewer who read the plan before the apply, and pinned examples still matching what was reviewed. Next, Chapter 7 reviews who holds these privileged roles. Thanks for watching.
Detail: Checklist: the desired state lists every management group, subscription and resource group to be governed, and the gap to the full hierarchy is written down. Each governed role's settings match Appendix B by tier at every scope, and diff-after.txt from the last apply is empty. No PA-AZ-01 Finding is left; every Info has an exception with an owner and a reason. Every PA-AZ-02, PA-AZ-03 and PA-AZ-05 has a decision and a ticket. No subscription has more than three Owners (PA-AZ-06). The dry run ran as Reader and the apply as User Access Administrator, time-bound, never Owner, with a certificate or managed identity. The cloud is explicit, and nothing in a GCC configuration is a .us or usgovcloudapi.net host. The reviewer read diff.txt and plan.json before -Apply, and the manifest's hashes match the files kept as evidence. The pinned examples match their manifest, and every upstream commit since the pin has been reviewed. Next: Chapter 07 — Access Reviews of Privileged Roles.
Sources: Microsoft Learn, "Best practices for Azure RBAC," limit the number of subscription owners, https://learn.microsoft.com/azure/role-based-access-control/best-practices (accessed Oct 30, 2026; read for Chapter 01).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Workbook: Building Privileged Access, Chapter 06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docs/project-plans/developer-workbooks/privileged-access/06-pim-for-azure-resources.md.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docs/project-plans/developer-workbooks/privileged-access/06-pim-for-azure-resources.md.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06: PIM for Azure Resources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standing Owner goes · Resource Manager, not Graph · the examples and their gaps · plan, dry run, apply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standing Azure roles have to go</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An Owner who never has to activate is an Owner an attacker never has to wait for.</a:t>
            </a:r>
            <a:endParaRPr lang="en-US" sz="1800" dirty="0"/>
          </a:p>
        </p:txBody>
      </p:sp>
      <p:sp>
        <p:nvSpPr>
          <p:cNvPr id="6" name="Panel The task" descr="">
            <a:extLst>
              <a:ext uri="{C183D7F6-B498-43B3-948B-1728B52AA6E4}">
                <adec:decorative xmlns:adec="http://schemas.microsoft.com/office/drawing/2017/decorative" val="1"/>
              </a:ext>
            </a:extLst>
          </p:cNvPr>
          <p:cNvSpPr/>
          <p:nvPr/>
        </p:nvSpPr>
        <p:spPr>
          <a:xfrm>
            <a:off x="548640" y="1837944"/>
            <a:ext cx="5417820" cy="3076956"/>
          </a:xfrm>
          <a:prstGeom prst="roundRect">
            <a:avLst>
              <a:gd name="adj" fmla="val 237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he task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TASK</a:t>
            </a:r>
            <a:endParaRPr lang="en-US" sz="1100" dirty="0"/>
          </a:p>
        </p:txBody>
      </p:sp>
      <p:sp>
        <p:nvSpPr>
          <p:cNvPr id="8" name="Panel The task list"/>
          <p:cNvSpPr txBox="1"/>
          <p:nvPr/>
        </p:nvSpPr>
        <p:spPr>
          <a:xfrm>
            <a:off x="731520" y="2249424"/>
            <a:ext cx="5097780" cy="261975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The plan's task A3.2: Azure privileged roles eligible through PIM; three subscription owners at most</a:t>
            </a:r>
            <a:endParaRPr lang="en-US" sz="1650" dirty="0"/>
          </a:p>
          <a:p>
            <a:pPr marL="342900" indent="-342900">
              <a:spcAft>
                <a:spcPts val="400"/>
              </a:spcAft>
              <a:buSzPct val="100000"/>
              <a:buChar char="•"/>
            </a:pPr>
            <a:r>
              <a:rPr lang="en-US" sz="1650" dirty="0">
                <a:solidFill>
                  <a:srgbClr val="334155"/>
                </a:solidFill>
              </a:rPr>
              <a:t>The fix is the same as in Entra: eligible, time-bound, approved</a:t>
            </a:r>
            <a:endParaRPr lang="en-US" sz="1650" dirty="0"/>
          </a:p>
          <a:p>
            <a:pPr marL="342900" indent="-342900">
              <a:spcAft>
                <a:spcPts val="400"/>
              </a:spcAft>
              <a:buSzPct val="100000"/>
              <a:buChar char="•"/>
            </a:pPr>
            <a:r>
              <a:rPr lang="en-US" sz="1650" dirty="0">
                <a:solidFill>
                  <a:srgbClr val="334155"/>
                </a:solidFill>
              </a:rPr>
              <a:t>The difference: every scope keeps its own rules</a:t>
            </a:r>
            <a:endParaRPr lang="en-US" sz="1650" dirty="0"/>
          </a:p>
        </p:txBody>
      </p:sp>
      <p:sp>
        <p:nvSpPr>
          <p:cNvPr id="9" name="Panel What counts as privileged" descr="">
            <a:extLst>
              <a:ext uri="{C183D7F6-B498-43B3-948B-1728B52AA6E4}">
                <adec:decorative xmlns:adec="http://schemas.microsoft.com/office/drawing/2017/decorative" val="1"/>
              </a:ext>
            </a:extLst>
          </p:cNvPr>
          <p:cNvSpPr/>
          <p:nvPr/>
        </p:nvSpPr>
        <p:spPr>
          <a:xfrm>
            <a:off x="6240780" y="1837944"/>
            <a:ext cx="5417820" cy="3076956"/>
          </a:xfrm>
          <a:prstGeom prst="roundRect">
            <a:avLst>
              <a:gd name="adj" fmla="val 23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Panel What counts as privileged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COUNTS AS PRIVILEGED</a:t>
            </a:r>
            <a:endParaRPr lang="en-US" sz="1100" dirty="0"/>
          </a:p>
        </p:txBody>
      </p:sp>
      <p:sp>
        <p:nvSpPr>
          <p:cNvPr id="11" name="Panel What counts as privileged list"/>
          <p:cNvSpPr txBox="1"/>
          <p:nvPr/>
        </p:nvSpPr>
        <p:spPr>
          <a:xfrm>
            <a:off x="6423660" y="2249424"/>
            <a:ext cx="5097780" cy="261975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Learn's privileged administrator roles: Owner, Contributor, Reservations Administrator, Role Based Access Control Administrator, User Access Administrator</a:t>
            </a:r>
            <a:endParaRPr lang="en-US" sz="1650" dirty="0"/>
          </a:p>
          <a:p>
            <a:pPr marL="342900" indent="-342900">
              <a:spcAft>
                <a:spcPts val="400"/>
              </a:spcAft>
              <a:buSzPct val="100000"/>
              <a:buChar char="•"/>
            </a:pPr>
            <a:r>
              <a:rPr lang="en-US" sz="1650" dirty="0">
                <a:solidFill>
                  <a:srgbClr val="334155"/>
                </a:solidFill>
              </a:rPr>
              <a:t>This chapter governs the three the plan names: Owner, Contributor, User Access Administrator; the others can be added by role definition ID</a:t>
            </a:r>
            <a:endParaRPr lang="en-US" sz="1650" dirty="0"/>
          </a:p>
          <a:p>
            <a:pPr marL="342900" indent="-342900">
              <a:spcAft>
                <a:spcPts val="400"/>
              </a:spcAft>
              <a:buSzPct val="100000"/>
              <a:buChar char="•"/>
            </a:pPr>
            <a:r>
              <a:rPr lang="en-US" sz="1650" dirty="0">
                <a:solidFill>
                  <a:srgbClr val="334155"/>
                </a:solidFill>
              </a:rPr>
              <a:t>Zero permanently active assignments, except the emergency accounts</a:t>
            </a:r>
            <a:endParaRPr lang="en-US" sz="1650" dirty="0"/>
          </a:p>
        </p:txBody>
      </p:sp>
      <p:sp>
        <p:nvSpPr>
          <p:cNvPr id="12" name="Callout" descr="">
            <a:extLst>
              <a:ext uri="{C183D7F6-B498-43B3-948B-1728B52AA6E4}">
                <adec:decorative xmlns:adec="http://schemas.microsoft.com/office/drawing/2017/decorative" val="1"/>
              </a:ext>
            </a:extLst>
          </p:cNvPr>
          <p:cNvSpPr/>
          <p:nvPr/>
        </p:nvSpPr>
        <p:spPr>
          <a:xfrm>
            <a:off x="548640" y="5097780"/>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UserShield" descr="">
            <a:extLst>
              <a:ext uri="{C183D7F6-B498-43B3-948B-1728B52AA6E4}">
                <adec:decorative xmlns:adec="http://schemas.microsoft.com/office/drawing/2017/decorative" val="1"/>
              </a:ext>
            </a:extLst>
          </p:cNvPr>
          <p:cNvSpPr/>
          <p:nvPr/>
        </p:nvSpPr>
        <p:spPr>
          <a:xfrm>
            <a:off x="749808" y="5170932"/>
            <a:ext cx="585216" cy="585216"/>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311384"/>
            <a:ext cx="304312" cy="304312"/>
          </a:xfrm>
          <a:prstGeom prst="rect">
            <a:avLst/>
          </a:prstGeom>
        </p:spPr>
      </p:pic>
      <p:sp>
        <p:nvSpPr>
          <p:cNvPr id="15" name="Callout text"/>
          <p:cNvSpPr txBox="1"/>
          <p:nvPr/>
        </p:nvSpPr>
        <p:spPr>
          <a:xfrm>
            <a:off x="1600200" y="5152644"/>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And a ceiling: </a:t>
            </a:r>
            <a:pPr indent="0" marL="0">
              <a:buNone/>
            </a:pPr>
            <a:r>
              <a:rPr lang="en-US" sz="1750" dirty="0">
                <a:solidFill>
                  <a:srgbClr val="334155"/>
                </a:solidFill>
              </a:rPr>
              <a:t>Microsoft's best practice is at most three subscription owners.</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Azure built-in roles for Privileged; Best practices for Azure RBAC; Plan a PIM deployment. Chapter 06, opening;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the Resource Manager host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10840"/>
        </p:xfrm>
        <a:graphic>
          <a:graphicData uri="http://schemas.openxmlformats.org/drawingml/2006/table">
            <a:tbl>
              <a:tblPr firstRow="1" bandRow="1"/>
              <a:tblGrid>
                <a:gridCol w="2144027"/>
                <a:gridCol w="4872789"/>
                <a:gridCol w="4093143"/>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Sign-in and Graph</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login.microsoftonline.com; graph.microsoft.com (the worldwide endpoints)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Their own Graph hosts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Resource Manager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management.azure.com: the host for every call in this chapter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Azure Government: management.usgovcloudapi.net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Licensing</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Entra ID P1 and P2 for GCC are hosted in Azure commercial</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Entra ID Governance, which PIM needs, is available in GCC, 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1838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PIM API itself</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Generally available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Availability in Azure Government not stated on any page read (research gaps, row 65)</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41960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49275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638324"/>
            <a:ext cx="315407" cy="315407"/>
          </a:xfrm>
          <a:prstGeom prst="rect">
            <a:avLst/>
          </a:prstGeom>
        </p:spPr>
      </p:pic>
      <p:sp>
        <p:nvSpPr>
          <p:cNvPr id="9" name="Callout text"/>
          <p:cNvSpPr txBox="1"/>
          <p:nvPr/>
        </p:nvSpPr>
        <p:spPr>
          <a:xfrm>
            <a:off x="1600200" y="447446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In the code: </a:t>
            </a:r>
            <a:pPr indent="0" marL="0">
              <a:buNone/>
            </a:pPr>
            <a:r>
              <a:rPr lang="en-US" sz="1750" dirty="0">
                <a:solidFill>
                  <a:srgbClr val="334155"/>
                </a:solidFill>
              </a:rPr>
              <a:t>the cloud is a required parameter with no default; a desired-state file written for another cloud is refused.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Compare Azure Government and global Azure; EMS for US Government; Entra feature availability. Chapter 06,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Resource Manager, not Graph: three resource types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27732"/>
        </p:xfrm>
        <a:graphic>
          <a:graphicData uri="http://schemas.openxmlformats.org/drawingml/2006/table">
            <a:tbl>
              <a:tblPr firstRow="1" bandRow="1"/>
              <a:tblGrid>
                <a:gridCol w="3108960"/>
                <a:gridCol w="4206240"/>
                <a:gridCol w="3794760"/>
              </a:tblGrid>
              <a:tr h="55168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Resource (Microsoft.Authorization)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roleEligibilityScheduleRequests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Creates or removes an eligible assignment (AdminAssign, AdminRemove)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PUT {scope}/…/roleEligibilityScheduleRequests/{guid}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roleAssignmentScheduleRequests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Creates or removes an active assignment, or activates an eligible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PUT {scope}/…/roleAssignmentScheduleRequests/{guid}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roleManagementPolicies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Role settings: activation length, approval, justification, ticket, authentication context, assignment length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PATCH {scope}/…/roleManagementPolicies/{guid}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e API" descr="">
            <a:extLst>
              <a:ext uri="{C183D7F6-B498-43B3-948B-1728B52AA6E4}">
                <adec:decorative xmlns:adec="http://schemas.microsoft.com/office/drawing/2017/decorative" val="1"/>
              </a:ext>
            </a:extLst>
          </p:cNvPr>
          <p:cNvSpPr/>
          <p:nvPr/>
        </p:nvSpPr>
        <p:spPr>
          <a:xfrm>
            <a:off x="548640" y="3936492"/>
            <a:ext cx="5417820" cy="1930908"/>
          </a:xfrm>
          <a:prstGeom prst="roundRect">
            <a:avLst>
              <a:gd name="adj" fmla="val 378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API label"/>
          <p:cNvSpPr txBox="1"/>
          <p:nvPr/>
        </p:nvSpPr>
        <p:spPr>
          <a:xfrm>
            <a:off x="731520" y="4046220"/>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API</a:t>
            </a:r>
            <a:endParaRPr lang="en-US" sz="1100" dirty="0"/>
          </a:p>
        </p:txBody>
      </p:sp>
      <p:sp>
        <p:nvSpPr>
          <p:cNvPr id="8" name="Panel The API list"/>
          <p:cNvSpPr txBox="1"/>
          <p:nvPr/>
        </p:nvSpPr>
        <p:spPr>
          <a:xfrm>
            <a:off x="731520" y="4347972"/>
            <a:ext cx="5097780" cy="1473708"/>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 Graph permissions: the caller needs at least Owner or User Access Administrator on the resource</a:t>
            </a:r>
            <a:endParaRPr lang="en-US" sz="1550" dirty="0"/>
          </a:p>
          <a:p>
            <a:pPr marL="342900" indent="-342900">
              <a:spcAft>
                <a:spcPts val="400"/>
              </a:spcAft>
              <a:buSzPct val="100000"/>
              <a:buChar char="•"/>
            </a:pPr>
            <a:r>
              <a:rPr lang="en-US" sz="1550" dirty="0">
                <a:solidFill>
                  <a:srgbClr val="334155"/>
                </a:solidFill>
              </a:rPr>
              <a:t>Results read back from roleEligibilitySchedules and roleAssignmentSchedules, Chapter 01's lists</a:t>
            </a:r>
            <a:endParaRPr lang="en-US" sz="1550" dirty="0"/>
          </a:p>
        </p:txBody>
      </p:sp>
      <p:sp>
        <p:nvSpPr>
          <p:cNvPr id="9" name="Panel The old endpoint" descr="">
            <a:extLst>
              <a:ext uri="{C183D7F6-B498-43B3-948B-1728B52AA6E4}">
                <adec:decorative xmlns:adec="http://schemas.microsoft.com/office/drawing/2017/decorative" val="1"/>
              </a:ext>
            </a:extLst>
          </p:cNvPr>
          <p:cNvSpPr/>
          <p:nvPr/>
        </p:nvSpPr>
        <p:spPr>
          <a:xfrm>
            <a:off x="6240780" y="3936492"/>
            <a:ext cx="5417820" cy="1930908"/>
          </a:xfrm>
          <a:prstGeom prst="roundRect">
            <a:avLst>
              <a:gd name="adj" fmla="val 378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Panel The old endpoint label"/>
          <p:cNvSpPr txBox="1"/>
          <p:nvPr/>
        </p:nvSpPr>
        <p:spPr>
          <a:xfrm>
            <a:off x="6423660" y="4046220"/>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OLD ENDPOINT</a:t>
            </a:r>
            <a:endParaRPr lang="en-US" sz="1100" dirty="0"/>
          </a:p>
        </p:txBody>
      </p:sp>
      <p:sp>
        <p:nvSpPr>
          <p:cNvPr id="11" name="Panel The old endpoint list"/>
          <p:cNvSpPr txBox="1"/>
          <p:nvPr/>
        </p:nvSpPr>
        <p:spPr>
          <a:xfrm>
            <a:off x="6423660" y="4347972"/>
            <a:ext cx="5097780" cy="1473708"/>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Iteration 3 is the final one, GA for Azure resources</a:t>
            </a:r>
            <a:endParaRPr lang="en-US" sz="1550" dirty="0"/>
          </a:p>
          <a:p>
            <a:pPr marL="342900" indent="-342900">
              <a:spcAft>
                <a:spcPts val="400"/>
              </a:spcAft>
              <a:buSzPct val="100000"/>
              <a:buChar char="•"/>
            </a:pPr>
            <a:r>
              <a:rPr lang="en-US" sz="1550" dirty="0">
                <a:solidFill>
                  <a:srgbClr val="334155"/>
                </a:solidFill>
              </a:rPr>
              <a:t>The old /beta/privilegedAccess/azureResources is deprecated; stops returning data October 28, 2026 (Learn still says "will stop")</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APIs; REST walkthroughs (eligible, active, policies); Role Management Policies - Update. Chapter 06,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version, the scopes and who can be eligible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2072640"/>
          </a:xfrm>
          <a:prstGeom prst="roundRect">
            <a:avLst>
              <a:gd name="adj" fmla="val 352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20726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8440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API version 2020-10-01</a:t>
            </a:r>
            <a:endParaRPr lang="en-US" sz="1400" dirty="0"/>
          </a:p>
          <a:p>
            <a:pPr indent="0" marL="0">
              <a:spcAft>
                <a:spcPts val="300"/>
              </a:spcAft>
              <a:buNone/>
            </a:pPr>
            <a:r>
              <a:rPr lang="en-US" sz="1500" dirty="0">
                <a:solidFill>
                  <a:srgbClr val="334155"/>
                </a:solidFill>
              </a:rPr>
              <a:t>GA of every PIM resource type; 2022-04-01 lists no PIM change. Preview versions exist (2022-04-01-preview, 2024-02-01-preview, 2024-09-01-preview); the code doesn't use them</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2072640"/>
          </a:xfrm>
          <a:prstGeom prst="roundRect">
            <a:avLst>
              <a:gd name="adj" fmla="val 352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2072640"/>
          </a:xfrm>
          <a:prstGeom prst="rect">
            <a:avLst/>
          </a:prstGeom>
          <a:solidFill>
            <a:srgbClr val="B45309"/>
          </a:solidFill>
          <a:ln w="12700">
            <a:solidFill>
              <a:srgbClr val="B45309"/>
            </a:solidFill>
            <a:prstDash val="solid"/>
          </a:ln>
        </p:spPr>
      </p:sp>
      <p:sp>
        <p:nvSpPr>
          <p:cNvPr id="10" name="Card 2 text"/>
          <p:cNvSpPr txBox="1"/>
          <p:nvPr/>
        </p:nvSpPr>
        <p:spPr>
          <a:xfrm>
            <a:off x="4556760" y="1463040"/>
            <a:ext cx="3185160" cy="18440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Policies don't inherit</a:t>
            </a:r>
            <a:endParaRPr lang="en-US" sz="1400" dirty="0"/>
          </a:p>
          <a:p>
            <a:pPr indent="0" marL="0">
              <a:spcAft>
                <a:spcPts val="300"/>
              </a:spcAft>
              <a:buNone/>
            </a:pPr>
            <a:r>
              <a:rPr lang="en-US" sz="1500" dirty="0">
                <a:solidFill>
                  <a:srgbClr val="334155"/>
                </a:solidFill>
              </a:rPr>
              <a:t>Settings are per role and per resource; a subscription's aren't inherited by its resource groups. A scope left out of the file keeps whatever it has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2072640"/>
          </a:xfrm>
          <a:prstGeom prst="roundRect">
            <a:avLst>
              <a:gd name="adj" fmla="val 352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2072640"/>
          </a:xfrm>
          <a:prstGeom prst="rect">
            <a:avLst/>
          </a:prstGeom>
          <a:solidFill>
            <a:srgbClr val="0F766E"/>
          </a:solidFill>
          <a:ln w="12700">
            <a:solidFill>
              <a:srgbClr val="0F766E"/>
            </a:solidFill>
            <a:prstDash val="solid"/>
          </a:ln>
        </p:spPr>
      </p:sp>
      <p:sp>
        <p:nvSpPr>
          <p:cNvPr id="13" name="Card 3 text"/>
          <p:cNvSpPr txBox="1"/>
          <p:nvPr/>
        </p:nvSpPr>
        <p:spPr>
          <a:xfrm>
            <a:off x="8336280" y="1463040"/>
            <a:ext cx="3185160" cy="18440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Users, not service principals</a:t>
            </a:r>
            <a:endParaRPr lang="en-US" sz="1400" dirty="0"/>
          </a:p>
          <a:p>
            <a:pPr indent="0" marL="0">
              <a:spcAft>
                <a:spcPts val="300"/>
              </a:spcAft>
              <a:buNone/>
            </a:pPr>
            <a:r>
              <a:rPr lang="en-US" sz="1500" dirty="0">
                <a:solidFill>
                  <a:srgbClr val="334155"/>
                </a:solidFill>
              </a:rPr>
              <a:t>Applications, service principals and managed identities can't be eligible: they can't activate. Eligible users need Entra ID P2 or ID Governance</a:t>
            </a:r>
            <a:endParaRPr lang="en-US" sz="1400" dirty="0"/>
          </a:p>
        </p:txBody>
      </p:sp>
      <p:sp>
        <p:nvSpPr>
          <p:cNvPr id="14" name="Callout" descr="">
            <a:extLst>
              <a:ext uri="{C183D7F6-B498-43B3-948B-1728B52AA6E4}">
                <adec:decorative xmlns:adec="http://schemas.microsoft.com/office/drawing/2017/decorative" val="1"/>
              </a:ext>
            </a:extLst>
          </p:cNvPr>
          <p:cNvSpPr/>
          <p:nvPr/>
        </p:nvSpPr>
        <p:spPr>
          <a:xfrm>
            <a:off x="548640" y="3581400"/>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ScaleBalanced" descr="">
            <a:extLst>
              <a:ext uri="{C183D7F6-B498-43B3-948B-1728B52AA6E4}">
                <adec:decorative xmlns:adec="http://schemas.microsoft.com/office/drawing/2017/decorative" val="1"/>
              </a:ext>
            </a:extLst>
          </p:cNvPr>
          <p:cNvSpPr/>
          <p:nvPr/>
        </p:nvSpPr>
        <p:spPr>
          <a:xfrm>
            <a:off x="749808" y="3771138"/>
            <a:ext cx="640080" cy="64008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3924757"/>
            <a:ext cx="332842" cy="332842"/>
          </a:xfrm>
          <a:prstGeom prst="rect">
            <a:avLst/>
          </a:prstGeom>
        </p:spPr>
      </p:pic>
      <p:sp>
        <p:nvSpPr>
          <p:cNvPr id="17" name="Callout text"/>
          <p:cNvSpPr txBox="1"/>
          <p:nvPr/>
        </p:nvSpPr>
        <p:spPr>
          <a:xfrm>
            <a:off x="1600200" y="3636264"/>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Where Learn's pages differ: </a:t>
            </a:r>
            <a:pPr indent="0" marL="0">
              <a:buNone/>
            </a:pPr>
            <a:r>
              <a:rPr lang="en-US" sz="1750" dirty="0">
                <a:solidFill>
                  <a:srgbClr val="334155"/>
                </a:solidFill>
              </a:rPr>
              <a:t>Learn's PIM how-to still shows 2020-10-01-preview and the providers/Microsoft.Subscription scope form. The code follows the GA version and the walkthroughs' form; calls-ch06.json pins it (research gaps, row 64).</a:t>
            </a:r>
            <a:endParaRPr lang="en-US" sz="17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API versions of Azure RBAC; roleEligibilityScheduleRequests template; Assign Azure resource roles; role settings; PIM integration. Chapter 06, “The context.”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sample: walkthroughs and pinned examples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3540252"/>
          </a:xfrm>
          <a:prstGeom prst="roundRect">
            <a:avLst>
              <a:gd name="adj" fmla="val 206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Three Learn walkthroughs: eligible access, active access, role management policies</a:t>
            </a:r>
            <a:endParaRPr lang="en-US" sz="1550" dirty="0"/>
          </a:p>
          <a:p>
            <a:pPr marL="342900" indent="-342900">
              <a:spcAft>
                <a:spcPts val="400"/>
              </a:spcAft>
              <a:buSzPct val="100000"/>
              <a:buChar char="•"/>
            </a:pPr>
            <a:r>
              <a:rPr lang="en-US" sz="1550" dirty="0">
                <a:solidFill>
                  <a:srgbClr val="334155"/>
                </a:solidFill>
              </a:rPr>
              <a:t>List with a scope and a filter; grant and remove; activate and deactivate; list a role's policy by roleDefinitionId; patch its rules</a:t>
            </a:r>
            <a:endParaRPr lang="en-US" sz="1550" dirty="0"/>
          </a:p>
          <a:p>
            <a:pPr marL="342900" indent="-342900">
              <a:spcAft>
                <a:spcPts val="400"/>
              </a:spcAft>
              <a:buSzPct val="100000"/>
              <a:buChar char="•"/>
            </a:pPr>
            <a:r>
              <a:rPr lang="en-US" sz="1550" dirty="0">
                <a:solidFill>
                  <a:srgbClr val="334155"/>
                </a:solidFill>
              </a:rPr>
              <a:t>Five rule types: enablement, expiration, notification, approval, authentication context</a:t>
            </a:r>
            <a:endParaRPr lang="en-US" sz="1550" dirty="0"/>
          </a:p>
          <a:p>
            <a:pPr marL="342900" indent="-342900">
              <a:spcAft>
                <a:spcPts val="400"/>
              </a:spcAft>
              <a:buSzPct val="100000"/>
              <a:buChar char="•"/>
            </a:pPr>
            <a:r>
              <a:rPr lang="en-US" sz="1550" dirty="0">
                <a:solidFill>
                  <a:srgbClr val="334155"/>
                </a:solidFill>
              </a:rPr>
              <a:t>You never create a policy: every role at every resource has a default one</a:t>
            </a:r>
            <a:endParaRPr lang="en-US" sz="1550" dirty="0"/>
          </a:p>
          <a:p>
            <a:pPr marL="342900" indent="-342900">
              <a:spcAft>
                <a:spcPts val="400"/>
              </a:spcAft>
              <a:buSzPct val="100000"/>
              <a:buChar char="•"/>
            </a:pPr>
            <a:r>
              <a:rPr lang="en-US" sz="1550" dirty="0">
                <a:solidFill>
                  <a:srgbClr val="334155"/>
                </a:solidFill>
              </a:rPr>
              <a:t>Errors such as ExpirationRule and JustificationRule</a:t>
            </a:r>
            <a:endParaRPr lang="en-US" sz="155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540252"/>
          </a:xfrm>
          <a:prstGeom prst="roundRect">
            <a:avLst>
              <a:gd name="adj" fmla="val 206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walkthroughs' source isn't public, so they can't be pinned</a:t>
            </a:r>
            <a:endParaRPr lang="en-US" sz="1550" dirty="0"/>
          </a:p>
          <a:p>
            <a:pPr marL="342900" indent="-342900">
              <a:spcAft>
                <a:spcPts val="400"/>
              </a:spcAft>
              <a:buSzPct val="100000"/>
              <a:buChar char="•"/>
            </a:pPr>
            <a:r>
              <a:rPr lang="en-US" sz="1550" dirty="0">
                <a:solidFill>
                  <a:srgbClr val="334155"/>
                </a:solidFill>
              </a:rPr>
              <a:t>The request and response examples are: in Azure/azure-rest-api-specs, rendered on the REST reference</a:t>
            </a:r>
            <a:endParaRPr lang="en-US" sz="1550" dirty="0"/>
          </a:p>
          <a:p>
            <a:pPr marL="342900" indent="-342900">
              <a:spcAft>
                <a:spcPts val="400"/>
              </a:spcAft>
              <a:buSzPct val="100000"/>
              <a:buChar char="•"/>
            </a:pPr>
            <a:r>
              <a:rPr lang="en-US" sz="1550" dirty="0">
                <a:solidFill>
                  <a:srgbClr val="334155"/>
                </a:solidFill>
              </a:rPr>
              <a:t>Six pinned unmodified in examples/third_party/azure-pim-rest-examples, 2020-10-01, commit 411fb22 (Oct 30, 2026), MIT</a:t>
            </a:r>
            <a:endParaRPr lang="en-US" sz="1550" dirty="0"/>
          </a:p>
          <a:p>
            <a:pPr marL="342900" indent="-342900">
              <a:spcAft>
                <a:spcPts val="400"/>
              </a:spcAft>
              <a:buSzPct val="100000"/>
              <a:buChar char="•"/>
            </a:pPr>
            <a:r>
              <a:rPr lang="en-US" sz="1550" dirty="0">
                <a:solidFill>
                  <a:srgbClr val="334155"/>
                </a:solidFill>
              </a:rPr>
              <a:t>snapshot.json SHA-256s, a unit test, the weekly source watch</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5049012"/>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5122164"/>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267736"/>
            <a:ext cx="315407" cy="315407"/>
          </a:xfrm>
          <a:prstGeom prst="rect">
            <a:avLst/>
          </a:prstGeom>
        </p:spPr>
      </p:pic>
      <p:sp>
        <p:nvSpPr>
          <p:cNvPr id="14" name="Callout text"/>
          <p:cNvSpPr txBox="1"/>
          <p:nvPr/>
        </p:nvSpPr>
        <p:spPr>
          <a:xfrm>
            <a:off x="1600200" y="5103876"/>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Replayed against a stand-in: </a:t>
            </a:r>
            <a:pPr indent="0" marL="0">
              <a:buNone/>
            </a:pPr>
            <a:r>
              <a:rPr lang="en-US" sz="1750" dirty="0">
                <a:solidFill>
                  <a:srgbClr val="334155"/>
                </a:solidFill>
              </a:rPr>
              <a:t>tests/AzurePim.Tests.ps1 answers each list with the example's own response, and compares each write field by field. Nothing signs in.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REST walkthroughs (eligible, active, policies); Role Management Policies - Update; Azure/azure-rest-api-specs at 411fb22 (MIT). Chapter 06,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examples get wrong if read naively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72128"/>
        </p:xfrm>
        <a:graphic>
          <a:graphicData uri="http://schemas.openxmlformats.org/drawingml/2006/table">
            <a:tbl>
              <a:tblPr firstRow="1" bandRow="1"/>
              <a:tblGrid>
                <a:gridCol w="3749040"/>
                <a:gridCol w="3657600"/>
                <a:gridCol w="37033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PaAzurePim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Each list example is one page, filtered to one principal with assignedTo()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busy subscription spans pages; reading one misses holders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Invoke-PaList follows nextLink; page sizes 1, 2 and 50 give the same state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6316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eligibility example's roleDefinitionId ends in Contributor's ID; its expanded roleDefinition carries a different ID named Contributor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Trusting the expanded object or the name files a row under the wrong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Rows key on properties.roleDefinitionId and the role GUID, never a display name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assignment example says Assigned but carries a linkedRoleEligibilityScheduleId and an eight-hour end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It's an activation; read naively it looks like an assignment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schedule linked to an eligibility is Activated, never standing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Three scope forms: providers/Microsoft.Subscription/…, subscriptions/{id}, /subscriptions/{id}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Two forms of one scope break diffs and de-duplication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walkthrough's form, the one responses use; any other refused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AdminAssign makes Contributor eligible for 365 days, with a condition and no justification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Longer than any tier allows; fails a policy requiring justification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Tier duration (90 days Tier 0, 180 Tier 1); a justification always; no condition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Azure/azure-rest-api-specs examples at 411fb22; Learn, REST walkthroughs (eligible, active). Chapter 06, “What it leaves to you,” rows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examples leave out entirely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3566160"/>
                <a:gridCol w="3749040"/>
                <a:gridCol w="37947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PaAzurePim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policy PATCH sends two rules, one an email to a fixed address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Partial patches work; nothing on which rules a program should own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Seven managed rules; a PATCH carries only those that differ, each with its id, ruleType and target as read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Every example shows one subscription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Settings don't inherit: a resource group under it keeps the defaults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Each role's policy read and set at every scope in the desired 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Nothing finds or converts standing assignments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Standing Owner is what the project exists to remove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PA-AZ-01 to 06; eligible first, then AdminRemove; service principals, root elevation and the caller left alone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Each write is a request you send by hand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to review before it lands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plan and a diff, a dry run by default, writes only with -Apply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Every request goes to management.azure.com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Right for GCC; wrong for GCC High and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host comes from the cloud table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39868"/>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walkthroughs as the procedure, examples as the contract for shapes; don't drive the estate from them.</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role settings (no inheritance); Azure/azure-rest-api-specs examples at 411fb22. Chapter 06, “What it leaves to you,” rows 6–10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a call list with least-privileged roles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00300"/>
        </p:xfrm>
        <a:graphic>
          <a:graphicData uri="http://schemas.openxmlformats.org/drawingml/2006/table">
            <a:tbl>
              <a:tblPr firstRow="1" bandRow="1"/>
              <a:tblGrid>
                <a:gridCol w="3931920"/>
                <a:gridCol w="1097280"/>
                <a:gridCol w="2377440"/>
                <a:gridCol w="37033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Method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Least-privileged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Assignment schedules, eligibility schedules, role management policies: list for scope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roleAssignments/read, which every built-in role has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Role eligibility schedule request, create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PUT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 Access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roleAssignments/write: "only Owner and User Access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Role assignment schedule request, create (AdminRemove 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PUT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 Access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same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Role management policy, update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PATCH</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 Access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Owner or User Access Administrator; action roleManagementPolicies/write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Built on Chapter 01" descr="">
            <a:extLst>
              <a:ext uri="{C183D7F6-B498-43B3-948B-1728B52AA6E4}">
                <adec:decorative xmlns:adec="http://schemas.microsoft.com/office/drawing/2017/decorative" val="1"/>
              </a:ext>
            </a:extLst>
          </p:cNvPr>
          <p:cNvSpPr/>
          <p:nvPr/>
        </p:nvSpPr>
        <p:spPr>
          <a:xfrm>
            <a:off x="548640" y="3909060"/>
            <a:ext cx="5417820" cy="1880616"/>
          </a:xfrm>
          <a:prstGeom prst="roundRect">
            <a:avLst>
              <a:gd name="adj" fmla="val 389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Built on Chapter 01 label"/>
          <p:cNvSpPr txBox="1"/>
          <p:nvPr/>
        </p:nvSpPr>
        <p:spPr>
          <a:xfrm>
            <a:off x="731520" y="401878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BUILT ON CHAPTER 01</a:t>
            </a:r>
            <a:endParaRPr lang="en-US" sz="1100" dirty="0"/>
          </a:p>
        </p:txBody>
      </p:sp>
      <p:sp>
        <p:nvSpPr>
          <p:cNvPr id="8" name="Panel Built on Chapter 01 list"/>
          <p:cNvSpPr txBox="1"/>
          <p:nvPr/>
        </p:nvSpPr>
        <p:spPr>
          <a:xfrm>
            <a:off x="731520" y="4320540"/>
            <a:ext cx="5097780" cy="14234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A second module, PaAzurePim, importing Chapter 01's and changing nothing</a:t>
            </a:r>
            <a:endParaRPr lang="en-US" sz="1400" dirty="0"/>
          </a:p>
          <a:p>
            <a:pPr marL="342900" indent="-342900">
              <a:spcAft>
                <a:spcPts val="400"/>
              </a:spcAft>
              <a:buSzPct val="100000"/>
              <a:buChar char="•"/>
            </a:pPr>
            <a:r>
              <a:rPr lang="en-US" sz="1400" dirty="0">
                <a:solidFill>
                  <a:srgbClr val="334155"/>
                </a:solidFill>
              </a:rPr>
              <a:t>Get-PaCloud, Get-PaTierMap, Get-PaAzureTier, Invoke-PaList: every GET declared, paged, recorded</a:t>
            </a:r>
            <a:endParaRPr lang="en-US" sz="1400" dirty="0"/>
          </a:p>
          <a:p>
            <a:pPr marL="342900" indent="-342900">
              <a:spcAft>
                <a:spcPts val="400"/>
              </a:spcAft>
              <a:buSzPct val="100000"/>
              <a:buChar char="•"/>
            </a:pPr>
            <a:r>
              <a:rPr lang="en-US" sz="1400" dirty="0">
                <a:solidFill>
                  <a:srgbClr val="334155"/>
                </a:solidFill>
              </a:rPr>
              <a:t>Two tasks: azure-pim-read and azure-pim-apply</a:t>
            </a:r>
            <a:endParaRPr lang="en-US" sz="1400" dirty="0"/>
          </a:p>
        </p:txBody>
      </p:sp>
      <p:sp>
        <p:nvSpPr>
          <p:cNvPr id="9" name="Panel Why not Owner, or RBAC Administrator" descr="">
            <a:extLst>
              <a:ext uri="{C183D7F6-B498-43B3-948B-1728B52AA6E4}">
                <adec:decorative xmlns:adec="http://schemas.microsoft.com/office/drawing/2017/decorative" val="1"/>
              </a:ext>
            </a:extLst>
          </p:cNvPr>
          <p:cNvSpPr/>
          <p:nvPr/>
        </p:nvSpPr>
        <p:spPr>
          <a:xfrm>
            <a:off x="6240780" y="3909060"/>
            <a:ext cx="5417820" cy="1880616"/>
          </a:xfrm>
          <a:prstGeom prst="roundRect">
            <a:avLst>
              <a:gd name="adj" fmla="val 389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Panel Why not Owner, or RBAC Administrator label"/>
          <p:cNvSpPr txBox="1"/>
          <p:nvPr/>
        </p:nvSpPr>
        <p:spPr>
          <a:xfrm>
            <a:off x="6423660" y="401878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WHY NOT OWNER, OR RBAC ADMINISTRATOR</a:t>
            </a:r>
            <a:endParaRPr lang="en-US" sz="1100" dirty="0"/>
          </a:p>
        </p:txBody>
      </p:sp>
      <p:sp>
        <p:nvSpPr>
          <p:cNvPr id="11" name="Panel Why not Owner, or RBAC Administrator list"/>
          <p:cNvSpPr txBox="1"/>
          <p:nvPr/>
        </p:nvSpPr>
        <p:spPr>
          <a:xfrm>
            <a:off x="6423660" y="4320540"/>
            <a:ext cx="5097780" cy="14234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User Access Administrator: */read and Microsoft.Authorization/*; Owner can change every resource</a:t>
            </a:r>
            <a:endParaRPr lang="en-US" sz="1400" dirty="0"/>
          </a:p>
          <a:p>
            <a:pPr marL="342900" indent="-342900">
              <a:spcAft>
                <a:spcPts val="400"/>
              </a:spcAft>
              <a:buSzPct val="100000"/>
              <a:buChar char="•"/>
            </a:pPr>
            <a:r>
              <a:rPr lang="en-US" sz="1400" dirty="0">
                <a:solidFill>
                  <a:srgbClr val="334155"/>
                </a:solidFill>
              </a:rPr>
              <a:t>RBAC Administrator also holds roleAssignments/write, but the PIM pages name only Owner and UAA: the code declares UAA (research gaps, row 62)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REST walkthroughs; role settings; Azure permissions for Management and governance; built-in roles for Privileged; PIM APIs. Chapter 06, “What it adds.”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desired state: settings by tier, and its refusals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68296"/>
        </p:xfrm>
        <a:graphic>
          <a:graphicData uri="http://schemas.openxmlformats.org/drawingml/2006/table">
            <a:tbl>
              <a:tblPr firstRow="1" bandRow="1"/>
              <a:tblGrid>
                <a:gridCol w="5623560"/>
                <a:gridCol w="2743200"/>
                <a:gridCol w="274320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Setting (Book 04, Appendix B; design guidance)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Tier 0</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Tier 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Activation length</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4 hours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8 hours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Approval by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PIM-Approvers-T0</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PIM-Approvers-T1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On activation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Justification and a ticket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Justification and a ticket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On an active assignment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MFA and justification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MFA and justification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Eligibility lasts at most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90 days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180 days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Permanent active assignment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Read-PaAzDesiredState refuses" descr="">
            <a:extLst>
              <a:ext uri="{C183D7F6-B498-43B3-948B-1728B52AA6E4}">
                <adec:decorative xmlns:adec="http://schemas.microsoft.com/office/drawing/2017/decorative" val="1"/>
              </a:ext>
            </a:extLst>
          </p:cNvPr>
          <p:cNvSpPr/>
          <p:nvPr/>
        </p:nvSpPr>
        <p:spPr>
          <a:xfrm>
            <a:off x="548640" y="3877056"/>
            <a:ext cx="11109960" cy="1664208"/>
          </a:xfrm>
          <a:prstGeom prst="roundRect">
            <a:avLst>
              <a:gd name="adj" fmla="val 439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Read-PaAzDesiredState refuses label"/>
          <p:cNvSpPr txBox="1"/>
          <p:nvPr/>
        </p:nvSpPr>
        <p:spPr>
          <a:xfrm>
            <a:off x="731520" y="3986784"/>
            <a:ext cx="10744200" cy="274320"/>
          </a:xfrm>
          <a:prstGeom prst="rect">
            <a:avLst/>
          </a:prstGeom>
          <a:noFill/>
          <a:ln/>
        </p:spPr>
        <p:txBody>
          <a:bodyPr wrap="square" lIns="0" tIns="0" rIns="0" bIns="0" rtlCol="0" anchor="t"/>
          <a:lstStyle/>
          <a:p>
            <a:pPr indent="0" marL="0">
              <a:buNone/>
            </a:pPr>
            <a:r>
              <a:rPr lang="en-US" sz="1100" b="1" spc="50" kern="0" dirty="0">
                <a:solidFill>
                  <a:srgbClr val="B91C1C"/>
                </a:solidFill>
              </a:rPr>
              <a:t>READ-PAAZDESIREDSTATE REFUSES</a:t>
            </a:r>
            <a:endParaRPr lang="en-US" sz="1100" dirty="0"/>
          </a:p>
        </p:txBody>
      </p:sp>
      <p:sp>
        <p:nvSpPr>
          <p:cNvPr id="8" name="Panel Read-PaAzDesiredState refuses list"/>
          <p:cNvSpPr txBox="1"/>
          <p:nvPr/>
        </p:nvSpPr>
        <p:spPr>
          <a:xfrm>
            <a:off x="731520" y="4288536"/>
            <a:ext cx="10789920" cy="12070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 service principal as an eligible holder; an activation outside 1 to 24 hours; approval with no approver group; the root scope</a:t>
            </a:r>
            <a:endParaRPr lang="en-US" sz="1500" dirty="0"/>
          </a:p>
          <a:p>
            <a:pPr marL="342900" indent="-342900">
              <a:spcAft>
                <a:spcPts val="400"/>
              </a:spcAft>
              <a:buSzPct val="100000"/>
              <a:buChar char="•"/>
            </a:pPr>
            <a:r>
              <a:rPr lang="en-US" sz="1500" dirty="0">
                <a:solidFill>
                  <a:srgbClr val="334155"/>
                </a:solidFill>
              </a:rPr>
              <a:t>An authentication context before its Conditional Access policy is confirmed: Learn says create and enable the policy first (c1 is Chapter 03's, planned)</a:t>
            </a:r>
            <a:endParaRPr lang="en-US" sz="15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integration (who can be eligible); Configure Azure resource role settings. Book 04, Appendix B. Chapter 06, “What it adds” — a desired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read and the plan, in the order it must run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91084" cy="29108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818388"/>
          </a:xfrm>
          <a:prstGeom prst="rect">
            <a:avLst/>
          </a:prstGeom>
          <a:noFill/>
          <a:ln/>
        </p:spPr>
        <p:txBody>
          <a:bodyPr wrap="square" lIns="0" tIns="0" rIns="0" bIns="0" rtlCol="0" anchor="t"/>
          <a:lstStyle/>
          <a:p>
            <a:pPr indent="0" marL="0">
              <a:buNone/>
            </a:pPr>
            <a:r>
              <a:rPr lang="en-US" sz="1550" b="1" dirty="0">
                <a:solidFill>
                  <a:srgbClr val="1F2A44"/>
                </a:solidFill>
              </a:rPr>
              <a:t>Policy updates: </a:t>
            </a:r>
            <a:pPr indent="0" marL="0">
              <a:buNone/>
            </a:pPr>
            <a:r>
              <a:rPr lang="en-US" sz="1550" dirty="0">
                <a:solidFill>
                  <a:srgbClr val="334155"/>
                </a:solidFill>
              </a:rPr>
              <a:t>Per scope and role, seven managed rules compared with the tier: the three Expiration rules, two Enablement, AuthenticationContext and Approval. One PATCH carries only those that differ; notifications aren't managed</a:t>
            </a:r>
            <a:endParaRPr lang="en-US" sz="1550" dirty="0"/>
          </a:p>
        </p:txBody>
      </p:sp>
      <p:sp>
        <p:nvSpPr>
          <p:cNvPr id="8" name="Step 2 dot" descr="">
            <a:extLst>
              <a:ext uri="{C183D7F6-B498-43B3-948B-1728B52AA6E4}">
                <adec:decorative xmlns:adec="http://schemas.microsoft.com/office/drawing/2017/decorative" val="1"/>
              </a:ext>
            </a:extLst>
          </p:cNvPr>
          <p:cNvSpPr/>
          <p:nvPr/>
        </p:nvSpPr>
        <p:spPr>
          <a:xfrm>
            <a:off x="548640" y="2162556"/>
            <a:ext cx="291084" cy="291084"/>
          </a:xfrm>
          <a:prstGeom prst="ellipse">
            <a:avLst/>
          </a:prstGeom>
          <a:solidFill>
            <a:srgbClr val="B45309"/>
          </a:solidFill>
          <a:ln w="12700">
            <a:solidFill>
              <a:srgbClr val="B45309"/>
            </a:solidFill>
            <a:prstDash val="solid"/>
          </a:ln>
        </p:spPr>
      </p:sp>
      <p:sp>
        <p:nvSpPr>
          <p:cNvPr id="9" name="Step 2 number"/>
          <p:cNvSpPr txBox="1"/>
          <p:nvPr/>
        </p:nvSpPr>
        <p:spPr>
          <a:xfrm>
            <a:off x="548640" y="2162556"/>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2144268"/>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New eligible assignments: </a:t>
            </a:r>
            <a:pPr indent="0" marL="0">
              <a:buNone/>
            </a:pPr>
            <a:r>
              <a:rPr lang="en-US" sz="1550" dirty="0">
                <a:solidFill>
                  <a:srgbClr val="334155"/>
                </a:solidFill>
              </a:rPr>
              <a:t>Each declared eligibility the estate doesn't hold: AdminAssign, an AfterDuration expiration of the tier's maximum, the declared justification</a:t>
            </a:r>
            <a:endParaRPr lang="en-US" sz="1550" dirty="0"/>
          </a:p>
        </p:txBody>
      </p:sp>
      <p:sp>
        <p:nvSpPr>
          <p:cNvPr id="11" name="Step 3 dot" descr="">
            <a:extLst>
              <a:ext uri="{C183D7F6-B498-43B3-948B-1728B52AA6E4}">
                <adec:decorative xmlns:adec="http://schemas.microsoft.com/office/drawing/2017/decorative" val="1"/>
              </a:ext>
            </a:extLst>
          </p:cNvPr>
          <p:cNvSpPr/>
          <p:nvPr/>
        </p:nvSpPr>
        <p:spPr>
          <a:xfrm>
            <a:off x="548640" y="2744724"/>
            <a:ext cx="291084" cy="291084"/>
          </a:xfrm>
          <a:prstGeom prst="ellipse">
            <a:avLst/>
          </a:prstGeom>
          <a:solidFill>
            <a:srgbClr val="B45309"/>
          </a:solidFill>
          <a:ln w="12700">
            <a:solidFill>
              <a:srgbClr val="B45309"/>
            </a:solidFill>
            <a:prstDash val="solid"/>
          </a:ln>
        </p:spPr>
      </p:sp>
      <p:sp>
        <p:nvSpPr>
          <p:cNvPr id="12" name="Step 3 number"/>
          <p:cNvSpPr txBox="1"/>
          <p:nvPr/>
        </p:nvSpPr>
        <p:spPr>
          <a:xfrm>
            <a:off x="548640" y="2744724"/>
            <a:ext cx="291084" cy="29108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726436"/>
            <a:ext cx="10561320" cy="582168"/>
          </a:xfrm>
          <a:prstGeom prst="rect">
            <a:avLst/>
          </a:prstGeom>
          <a:noFill/>
          <a:ln/>
        </p:spPr>
        <p:txBody>
          <a:bodyPr wrap="square" lIns="0" tIns="0" rIns="0" bIns="0" rtlCol="0" anchor="t"/>
          <a:lstStyle/>
          <a:p>
            <a:pPr indent="0" marL="0">
              <a:buNone/>
            </a:pPr>
            <a:r>
              <a:rPr lang="en-US" sz="1550" b="1" dirty="0">
                <a:solidFill>
                  <a:srgbClr val="1F2A44"/>
                </a:solidFill>
              </a:rPr>
              <a:t>Removal of standing assignments: </a:t>
            </a:r>
            <a:pPr indent="0" marL="0">
              <a:buNone/>
            </a:pPr>
            <a:r>
              <a:rPr lang="en-US" sz="1550" dirty="0">
                <a:solidFill>
                  <a:srgbClr val="334155"/>
                </a:solidFill>
              </a:rPr>
              <a:t>Standing Owner, Contributor or User Access Administrator held by a user or group, outside the exceptions: an eligible replacement in step 2, then AdminRemove</a:t>
            </a:r>
            <a:endParaRPr lang="en-US" sz="1550" dirty="0"/>
          </a:p>
        </p:txBody>
      </p:sp>
      <p:sp>
        <p:nvSpPr>
          <p:cNvPr id="14" name="Callout" descr="">
            <a:extLst>
              <a:ext uri="{C183D7F6-B498-43B3-948B-1728B52AA6E4}">
                <adec:decorative xmlns:adec="http://schemas.microsoft.com/office/drawing/2017/decorative" val="1"/>
              </a:ext>
            </a:extLst>
          </p:cNvPr>
          <p:cNvSpPr/>
          <p:nvPr/>
        </p:nvSpPr>
        <p:spPr>
          <a:xfrm>
            <a:off x="548640" y="3491484"/>
            <a:ext cx="5417820" cy="1552956"/>
          </a:xfrm>
          <a:prstGeom prst="roundRect">
            <a:avLst>
              <a:gd name="adj" fmla="val 471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5" name="Icon FaListCheck" descr="">
            <a:extLst>
              <a:ext uri="{C183D7F6-B498-43B3-948B-1728B52AA6E4}">
                <adec:decorative xmlns:adec="http://schemas.microsoft.com/office/drawing/2017/decorative" val="1"/>
              </a:ext>
            </a:extLst>
          </p:cNvPr>
          <p:cNvSpPr/>
          <p:nvPr/>
        </p:nvSpPr>
        <p:spPr>
          <a:xfrm>
            <a:off x="749808" y="3947922"/>
            <a:ext cx="640080" cy="64008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101541"/>
            <a:ext cx="332842" cy="332842"/>
          </a:xfrm>
          <a:prstGeom prst="rect">
            <a:avLst/>
          </a:prstGeom>
        </p:spPr>
      </p:pic>
      <p:sp>
        <p:nvSpPr>
          <p:cNvPr id="17" name="Callout text"/>
          <p:cNvSpPr txBox="1"/>
          <p:nvPr/>
        </p:nvSpPr>
        <p:spPr>
          <a:xfrm>
            <a:off x="1600200" y="3546348"/>
            <a:ext cx="4183380" cy="1443228"/>
          </a:xfrm>
          <a:prstGeom prst="rect">
            <a:avLst/>
          </a:prstGeom>
          <a:noFill/>
          <a:ln/>
        </p:spPr>
        <p:txBody>
          <a:bodyPr wrap="square" lIns="0" tIns="0" rIns="0" bIns="0" rtlCol="0" anchor="ctr"/>
          <a:lstStyle/>
          <a:p>
            <a:pPr indent="0" marL="0">
              <a:buNone/>
            </a:pPr>
            <a:r>
              <a:rPr lang="en-US" sz="1750" b="1" dirty="0">
                <a:solidFill>
                  <a:srgbClr val="0F766E"/>
                </a:solidFill>
              </a:rPr>
              <a:t>Policies first: </a:t>
            </a:r>
            <a:pPr indent="0" marL="0">
              <a:buNone/>
            </a:pPr>
            <a:r>
              <a:rPr lang="en-US" sz="1750" dirty="0">
                <a:solidFill>
                  <a:srgbClr val="334155"/>
                </a:solidFill>
              </a:rPr>
              <a:t>a request that breaks the policy is refused: an eligibility longer than the rule allows fails with ExpirationRule. The fake enforces it too.</a:t>
            </a:r>
            <a:endParaRPr lang="en-US" sz="1750" dirty="0"/>
          </a:p>
        </p:txBody>
      </p:sp>
      <p:sp>
        <p:nvSpPr>
          <p:cNvPr id="18" name="Callout" descr="">
            <a:extLst>
              <a:ext uri="{C183D7F6-B498-43B3-948B-1728B52AA6E4}">
                <adec:decorative xmlns:adec="http://schemas.microsoft.com/office/drawing/2017/decorative" val="1"/>
              </a:ext>
            </a:extLst>
          </p:cNvPr>
          <p:cNvSpPr/>
          <p:nvPr/>
        </p:nvSpPr>
        <p:spPr>
          <a:xfrm>
            <a:off x="6240780" y="3491484"/>
            <a:ext cx="5417820" cy="1819656"/>
          </a:xfrm>
          <a:prstGeom prst="roundRect">
            <a:avLst>
              <a:gd name="adj" fmla="val 402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Icon FaUserShield" descr="">
            <a:extLst>
              <a:ext uri="{C183D7F6-B498-43B3-948B-1728B52AA6E4}">
                <adec:decorative xmlns:adec="http://schemas.microsoft.com/office/drawing/2017/decorative" val="1"/>
              </a:ext>
            </a:extLst>
          </p:cNvPr>
          <p:cNvSpPr/>
          <p:nvPr/>
        </p:nvSpPr>
        <p:spPr>
          <a:xfrm>
            <a:off x="6441948" y="4081272"/>
            <a:ext cx="640080" cy="640080"/>
          </a:xfrm>
          <a:prstGeom prst="ellipse">
            <a:avLst/>
          </a:prstGeom>
          <a:solidFill>
            <a:srgbClr val="B45309"/>
          </a:solidFill>
          <a:ln w="12700">
            <a:solidFill>
              <a:srgbClr val="B45309"/>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95567" y="4234891"/>
            <a:ext cx="332842" cy="332842"/>
          </a:xfrm>
          <a:prstGeom prst="rect">
            <a:avLst/>
          </a:prstGeom>
        </p:spPr>
      </p:pic>
      <p:sp>
        <p:nvSpPr>
          <p:cNvPr id="21" name="Callout text"/>
          <p:cNvSpPr txBox="1"/>
          <p:nvPr/>
        </p:nvSpPr>
        <p:spPr>
          <a:xfrm>
            <a:off x="7292340" y="3546348"/>
            <a:ext cx="4183380" cy="1709928"/>
          </a:xfrm>
          <a:prstGeom prst="rect">
            <a:avLst/>
          </a:prstGeom>
          <a:noFill/>
          <a:ln/>
        </p:spPr>
        <p:txBody>
          <a:bodyPr wrap="square" lIns="0" tIns="0" rIns="0" bIns="0" rtlCol="0" anchor="ctr"/>
          <a:lstStyle/>
          <a:p>
            <a:pPr indent="0" marL="0">
              <a:buNone/>
            </a:pPr>
            <a:r>
              <a:rPr lang="en-US" sz="1750" b="1" dirty="0">
                <a:solidFill>
                  <a:srgbClr val="B45309"/>
                </a:solidFill>
              </a:rPr>
              <a:t>Never removed by the plan: </a:t>
            </a:r>
            <a:pPr indent="0" marL="0">
              <a:buNone/>
            </a:pPr>
            <a:r>
              <a:rPr lang="en-US" sz="1750" dirty="0">
                <a:solidFill>
                  <a:srgbClr val="334155"/>
                </a:solidFill>
              </a:rPr>
              <a:t>an eligibility the file doesn't declare is reported (PA-AZ-04), never removed. Request names derive from the run ID, so the apply sends what the reviewer read.</a:t>
            </a:r>
            <a:endParaRPr lang="en-US" sz="17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 Azure PIM to manage eligible access with the REST API (ExpirationRule). Chapter 06, “What it adds” — a read, a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Findings, and an apply that is off by default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5096"/>
        </p:xfrm>
        <a:graphic>
          <a:graphicData uri="http://schemas.openxmlformats.org/drawingml/2006/table">
            <a:tbl>
              <a:tblPr firstRow="1" bandRow="1"/>
              <a:tblGrid>
                <a:gridCol w="1143000"/>
                <a:gridCol w="1737360"/>
                <a:gridCol w="5029200"/>
                <a:gridCol w="32004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PA-AZ-01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 (Info if excepted)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Standing Owner, Contributor or User Access Administrator outside the exceptions; an exception with no owner doesn't 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zero permanently active except emergency accounts; design guidance for exceptions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PA-AZ-02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standing assignment held by a service principal or managed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they can't be made eligible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PA-AZ-03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 Access Administrator at root scope (/)</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elevated access, removed when done; Book 04: a Tier 0 event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PA-AZ-04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eligibility on a governed role not in the desired state, or one that never expires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Design guidance (Appendix B)</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PA-AZ-05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standing assignment held by the identity the plan runs 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Design guidance: decide it last, from another session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PA-AZ-06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More than three Owners on a subscription, eligible or active, after the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at most three subscription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943856"/>
            <a:ext cx="11109960" cy="950976"/>
          </a:xfrm>
          <a:prstGeom prst="roundRect">
            <a:avLst>
              <a:gd name="adj" fmla="val 769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749808" y="5099304"/>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52923"/>
            <a:ext cx="332842" cy="332842"/>
          </a:xfrm>
          <a:prstGeom prst="rect">
            <a:avLst/>
          </a:prstGeom>
        </p:spPr>
      </p:pic>
      <p:sp>
        <p:nvSpPr>
          <p:cNvPr id="9" name="Callout text"/>
          <p:cNvSpPr txBox="1"/>
          <p:nvPr/>
        </p:nvSpPr>
        <p:spPr>
          <a:xfrm>
            <a:off x="1600200" y="4998720"/>
            <a:ext cx="9875520" cy="841248"/>
          </a:xfrm>
          <a:prstGeom prst="rect">
            <a:avLst/>
          </a:prstGeom>
          <a:noFill/>
          <a:ln/>
        </p:spPr>
        <p:txBody>
          <a:bodyPr wrap="square" lIns="0" tIns="0" rIns="0" bIns="0" rtlCol="0" anchor="ctr"/>
          <a:lstStyle/>
          <a:p>
            <a:pPr indent="0" marL="0">
              <a:buNone/>
            </a:pPr>
            <a:r>
              <a:rPr lang="en-US" sz="1600" b="1" dirty="0">
                <a:solidFill>
                  <a:srgbClr val="0F766E"/>
                </a:solidFill>
              </a:rPr>
              <a:t>The apply: </a:t>
            </a:r>
            <a:pPr indent="0" marL="0">
              <a:buNone/>
            </a:pPr>
            <a:r>
              <a:rPr lang="en-US" sz="1600" dirty="0">
                <a:solidFill>
                  <a:srgbClr val="334155"/>
                </a:solidFill>
              </a:rPr>
              <a:t>a dry run unless -Apply and an apply client; the live invoker refuses another cloud's session or host; afterwards a fresh read writes diff-after.txt. Every run writes state.json (the back-out), plan.json, diff.txt, findings.json, manifest.json.</a:t>
            </a:r>
            <a:endParaRPr lang="en-US" sz="16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Plan a PIM deployment; PIM integration; Azure roles and Entra roles (elevate access); Best practices for Azure RBAC. Chapter 06, “Findings,” “The apply.”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it, who reviews it, what it runs as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645920"/>
          </a:xfrm>
          <a:prstGeom prst="roundRect">
            <a:avLst>
              <a:gd name="adj" fmla="val 444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45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Platform engineers</a:t>
            </a:r>
            <a:endParaRPr lang="en-US" sz="1400" dirty="0"/>
          </a:p>
          <a:p>
            <a:pPr indent="0" marL="0">
              <a:spcAft>
                <a:spcPts val="300"/>
              </a:spcAft>
              <a:buNone/>
            </a:pPr>
            <a:r>
              <a:rPr lang="en-US" sz="1550" dirty="0">
                <a:solidFill>
                  <a:srgbClr val="334155"/>
                </a:solidFill>
              </a:rPr>
              <a:t>Own the Azure management group hierarchy, and the desired-state file for it</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645920"/>
          </a:xfrm>
          <a:prstGeom prst="roundRect">
            <a:avLst>
              <a:gd name="adj" fmla="val 444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645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 and ISSOs</a:t>
            </a:r>
            <a:endParaRPr lang="en-US" sz="1400" dirty="0"/>
          </a:p>
          <a:p>
            <a:pPr indent="0" marL="0">
              <a:spcAft>
                <a:spcPts val="300"/>
              </a:spcAft>
              <a:buNone/>
            </a:pPr>
            <a:r>
              <a:rPr lang="en-US" sz="1550" dirty="0">
                <a:solidFill>
                  <a:srgbClr val="334155"/>
                </a:solidFill>
              </a:rPr>
              <a:t>Review the changes: read diff.txt and plan.json before anyone runs -Apply</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645920"/>
          </a:xfrm>
          <a:prstGeom prst="roundRect">
            <a:avLst>
              <a:gd name="adj" fmla="val 444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645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1732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Eligible holders</a:t>
            </a:r>
            <a:endParaRPr lang="en-US" sz="1400" dirty="0"/>
          </a:p>
          <a:p>
            <a:pPr indent="0" marL="0">
              <a:spcAft>
                <a:spcPts val="300"/>
              </a:spcAft>
              <a:buNone/>
            </a:pPr>
            <a:r>
              <a:rPr lang="en-US" sz="1550" dirty="0">
                <a:solidFill>
                  <a:srgbClr val="334155"/>
                </a:solidFill>
              </a:rPr>
              <a:t>Users and groups only, licensed for Entra ID P2 or ID Governance; they activate with justification, ticket and approval</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54680"/>
          <a:ext cx="11109960" cy="1810512"/>
        </p:xfrm>
        <a:graphic>
          <a:graphicData uri="http://schemas.openxmlformats.org/drawingml/2006/table">
            <a:tbl>
              <a:tblPr firstRow="1" bandRow="1"/>
              <a:tblGrid>
                <a:gridCol w="3794760"/>
                <a:gridCol w="3200400"/>
                <a:gridCol w="411480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The automation identity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Dry run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Apply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Azure role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Reader on each governed scope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User Access Administrator, time-bound; never Owner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Credential</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 certificate or a managed identity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same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Graph permissions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Lead"/>
          <p:cNvSpPr txBox="1"/>
          <p:nvPr/>
        </p:nvSpPr>
        <p:spPr>
          <a:xfrm>
            <a:off x="548640" y="5148072"/>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You should read PowerShell 7 and know what a role assignment and a scope are; no subscription until Lab 2.</a:t>
            </a:r>
            <a:endParaRPr lang="en-US" sz="18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APIs (no Graph permissions); PIM integration (P2 or ID Governance). Chapter 06, “Goal and audience,”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replay the examples and plan a dry 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Microsoft's examples: PassedCount 6, FailedCount 0, NotRunCount 32</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tests/AzurePim.Tests.ps1 -FullNameFilter "*Microsoft's examples*" -Output None -PassThru</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2  Roles per task: Reader; then Reader, User Access Administrator</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(Get-PaAzRequiredRole -Task azure-pim-apply).AzureRoles -join ',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Plan, as a dry run</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./Invoke-PaAzurePim.ps1 -Cloud gcc -FixturePath …/ch06/estate.json -DesiredPath …/ch06/desired.json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-CallerPrincipalId c3000000-0000-4000-8000-000000000003 -OutputPath out/ch06 -RunId lab</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Read: 9 assignment and 2 eligibility schedules, 12 policies at 4 scopes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Plan: 11 policy updates, 5 eligible assignments to add, 3 standing assignments to remove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Findings: 7 Finding, 2 Warn, 1 Info</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Dry run: 19 requests written to plan.json, none sent. Review diff.txt, then rerun with -Apply.</a:t>
            </a:r>
            <a:endParaRPr lang="en-US" sz="1300" dirty="0"/>
          </a:p>
        </p:txBody>
      </p:sp>
      <p:sp>
        <p:nvSpPr>
          <p:cNvPr id="8" name="Callout" descr="">
            <a:extLst>
              <a:ext uri="{C183D7F6-B498-43B3-948B-1728B52AA6E4}">
                <adec:decorative xmlns:adec="http://schemas.microsoft.com/office/drawing/2017/decorative" val="1"/>
              </a:ext>
            </a:extLst>
          </p:cNvPr>
          <p:cNvSpPr/>
          <p:nvPr/>
        </p:nvSpPr>
        <p:spPr>
          <a:xfrm>
            <a:off x="548640" y="4172712"/>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aptop" descr="">
            <a:extLst>
              <a:ext uri="{C183D7F6-B498-43B3-948B-1728B52AA6E4}">
                <adec:decorative xmlns:adec="http://schemas.microsoft.com/office/drawing/2017/decorative" val="1"/>
              </a:ext>
            </a:extLst>
          </p:cNvPr>
          <p:cNvSpPr/>
          <p:nvPr/>
        </p:nvSpPr>
        <p:spPr>
          <a:xfrm>
            <a:off x="749808" y="4362450"/>
            <a:ext cx="640080" cy="640080"/>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516069"/>
            <a:ext cx="332842" cy="332842"/>
          </a:xfrm>
          <a:prstGeom prst="rect">
            <a:avLst/>
          </a:prstGeom>
        </p:spPr>
      </p:pic>
      <p:sp>
        <p:nvSpPr>
          <p:cNvPr id="11" name="Callout text"/>
          <p:cNvSpPr txBox="1"/>
          <p:nvPr/>
        </p:nvSpPr>
        <p:spPr>
          <a:xfrm>
            <a:off x="1600200" y="4227576"/>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The fixture estate: </a:t>
            </a:r>
            <a:pPr indent="0" marL="0">
              <a:buNone/>
            </a:pPr>
            <a:r>
              <a:rPr lang="en-US" sz="1750" dirty="0">
                <a:solidFill>
                  <a:srgbClr val="334155"/>
                </a:solidFill>
              </a:rPr>
              <a:t>a management group, a workload and a control-plane subscription, rg-payroll; the apply would run as sp-pim-automation. The manifest lists 23 requests, every one a GET.</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Chapter 06,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plan, applying, the refusals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566160"/>
                <a:gridCol w="75438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Five + eligible, three - active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Three conversions: a group's User Access Administrator at the management group (Tier 0, 90 days), a user's Owner, a user's Contributor on rg-payroll (Tier 1, 180 days); two declared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70 ~ policy lines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per rule that changes; the control-plane User Access Administrator policy is already Tier 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findings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Three PA-AZ-01; PA-AZ-05 for sp-pim-automation; PA-AZ-03 at /; PA-AZ-02 for sp-deploy-pipeline; Info for excepted sp-log-export; PA-AZ-06: four Owners; two Warns, an undeclared permanent eligibility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Step 5, -Apply against the fake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19 requests sent; 0 left after a fresh read; 45 GETs, 11 PATCHes, 8 PUTs: policies, eligibility, removals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Step 6, the refusals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write on a read client: "Undeclared call"; a web-app scope: "isn't a management group, subscription or resource group scope"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940808"/>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Step 7, Invoke-Pester -Path tests: 330 passing, 38 of them this chapter's.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fixtures (fictional estate). Chapter 06,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subscription, a live plan, a back-out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Prepare the identity: </a:t>
            </a:r>
            <a:pPr indent="0" marL="0">
              <a:buNone/>
            </a:pPr>
            <a:r>
              <a:rPr lang="en-US" sz="1450" dirty="0">
                <a:solidFill>
                  <a:srgbClr val="334155"/>
                </a:solidFill>
              </a:rPr>
              <a:t>An app in the tenant's own cloud with a certificate, or a managed identity; no Graph permission; Reader on each test scope</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Write the desired state: </a:t>
            </a:r>
            <a:pPr indent="0" marL="0">
              <a:buNone/>
            </a:pPr>
            <a:r>
              <a:rPr lang="en-US" sz="1450" dirty="0">
                <a:solidFill>
                  <a:srgbClr val="334155"/>
                </a:solidFill>
              </a:rPr>
              <a:t>Test approver groups, a test group to be eligible, one hand-made standing Owner to convert; leave authenticationContext out if PIM-Activation-c1 doesn't exist</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Plan, live: </a:t>
            </a:r>
            <a:pPr indent="0" marL="0">
              <a:buNone/>
            </a:pPr>
            <a:r>
              <a:rPr lang="en-US" sz="1450" dirty="0">
                <a:solidFill>
                  <a:srgbClr val="334155"/>
                </a:solidFill>
              </a:rPr>
              <a:t>Connect-AzAccount -Environment AzureCloud, then a dry run; compare state.json with the admin center; check root-scope rows (row 66), one policy per filter, each schedule once</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Apply: </a:t>
            </a:r>
            <a:pPr indent="0" marL="0">
              <a:buNone/>
            </a:pPr>
            <a:r>
              <a:rPr lang="en-US" sz="1450" dirty="0">
                <a:solidFill>
                  <a:srgbClr val="334155"/>
                </a:solidFill>
              </a:rPr>
              <a:t>User Access Administrator, time-bound for one day; rerun with -Apply; diff-after.txt empty; activate Owner as the test user: justification, ticket, approval</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Try the narrower role: </a:t>
            </a:r>
            <a:pPr indent="0" marL="0">
              <a:buNone/>
            </a:pPr>
            <a:r>
              <a:rPr lang="en-US" sz="1450" dirty="0">
                <a:solidFill>
                  <a:srgbClr val="334155"/>
                </a:solidFill>
              </a:rPr>
              <a:t>Role Based Access Control Administrator on one scope: is the request accepted (row 62)? Is a management group or resource group role definition form accepted (row 63)?</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Back it out: </a:t>
            </a:r>
            <a:pPr indent="0" marL="0">
              <a:buNone/>
            </a:pPr>
            <a:r>
              <a:rPr lang="en-US" sz="1450" dirty="0">
                <a:solidFill>
                  <a:srgbClr val="334155"/>
                </a:solidFill>
              </a:rPr>
              <a:t>Wait five minutes after the last assignment; remove eligibilities; restore policies from state.json; remove the app's roles, the app and certificate, the out/ch06-test-* folders</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with a test management group, subscription and resource group, never production; fictional users and groups.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APIs; PIM integration; Configure Azure resource role settings; Assign Azure resource roles (five-minute rule). Chapter 06,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01312"/>
        </p:xfrm>
        <a:graphic>
          <a:graphicData uri="http://schemas.openxmlformats.org/drawingml/2006/table">
            <a:tbl>
              <a:tblPr firstRow="1" bandRow="1"/>
              <a:tblGrid>
                <a:gridCol w="3383280"/>
                <a:gridCol w="3749040"/>
                <a:gridCol w="397764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Standing Owner removed before the eligible one exists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holder loses access mid-task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Eligible first, removal after; a test pins the order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apply identity removes its own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run stops halfway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PA-AZ-05: never planned for removal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pipeline's service principal "converted"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request fails, or the pipeline loses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PA-AZ-02: reported, never planned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resource group left on defaults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Activation there has no approval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governed scope read and set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An authentication context with no policy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Falls back to MFA only, or is blocked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c1 refused until its policy is confirmed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write nobody reviewed; a rerun after partial failure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JSON typo changes production; repeats hide the real error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Dry run by default; the plan reads first; stable request names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Owner for the apply; root elevation kept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Automation can change every resource; elevation stays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 Access Administrator declared; PA-AZ-03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wrong cloud; the old beta API</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Tokens sent to the wrong host; no data after Oct 28, 2026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Explicit cloud, host checks; GA Resource Manager API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APIs (beta deprecation); PIM integration; role settings. Chapter 06,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estate" descr="">
            <a:extLst>
              <a:ext uri="{C183D7F6-B498-43B3-948B-1728B52AA6E4}">
                <adec:decorative xmlns:adec="http://schemas.microsoft.com/office/drawing/2017/decorative" val="1"/>
              </a:ext>
            </a:extLst>
          </p:cNvPr>
          <p:cNvSpPr/>
          <p:nvPr/>
        </p:nvSpPr>
        <p:spPr>
          <a:xfrm>
            <a:off x="548640" y="1325880"/>
            <a:ext cx="5417820" cy="2935224"/>
          </a:xfrm>
          <a:prstGeom prst="roundRect">
            <a:avLst>
              <a:gd name="adj" fmla="val 249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estate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ESTATE</a:t>
            </a:r>
            <a:endParaRPr lang="en-US" sz="1100" dirty="0"/>
          </a:p>
        </p:txBody>
      </p:sp>
      <p:sp>
        <p:nvSpPr>
          <p:cNvPr id="7" name="Panel The estate list"/>
          <p:cNvSpPr txBox="1"/>
          <p:nvPr/>
        </p:nvSpPr>
        <p:spPr>
          <a:xfrm>
            <a:off x="73152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desired state lists every governed management group, subscription and resource group; the gap to the full hierarchy is written down</a:t>
            </a:r>
            <a:endParaRPr lang="en-US" sz="1500" dirty="0"/>
          </a:p>
          <a:p>
            <a:pPr marL="342900" indent="-342900">
              <a:spcAft>
                <a:spcPts val="400"/>
              </a:spcAft>
              <a:buSzPct val="100000"/>
              <a:buChar char="•"/>
            </a:pPr>
            <a:r>
              <a:rPr lang="en-US" sz="1500" dirty="0">
                <a:solidFill>
                  <a:srgbClr val="334155"/>
                </a:solidFill>
              </a:rPr>
              <a:t>Each governed role matches Appendix B by tier at every scope; diff-after.txt is empty</a:t>
            </a:r>
            <a:endParaRPr lang="en-US" sz="1500" dirty="0"/>
          </a:p>
          <a:p>
            <a:pPr marL="342900" indent="-342900">
              <a:spcAft>
                <a:spcPts val="400"/>
              </a:spcAft>
              <a:buSzPct val="100000"/>
              <a:buChar char="•"/>
            </a:pPr>
            <a:r>
              <a:rPr lang="en-US" sz="1500" dirty="0">
                <a:solidFill>
                  <a:srgbClr val="334155"/>
                </a:solidFill>
              </a:rPr>
              <a:t>No PA-AZ-01 Finding left; every Info has an owned, reasoned exception</a:t>
            </a:r>
            <a:endParaRPr lang="en-US" sz="1500" dirty="0"/>
          </a:p>
          <a:p>
            <a:pPr marL="342900" indent="-342900">
              <a:spcAft>
                <a:spcPts val="400"/>
              </a:spcAft>
              <a:buSzPct val="100000"/>
              <a:buChar char="•"/>
            </a:pPr>
            <a:r>
              <a:rPr lang="en-US" sz="1500" dirty="0">
                <a:solidFill>
                  <a:srgbClr val="334155"/>
                </a:solidFill>
              </a:rPr>
              <a:t>Every PA-AZ-02, 03 and 05 has a decision and a ticket; no subscription over three Owners</a:t>
            </a:r>
            <a:endParaRPr lang="en-US" sz="1500" dirty="0"/>
          </a:p>
        </p:txBody>
      </p:sp>
      <p:sp>
        <p:nvSpPr>
          <p:cNvPr id="8" name="Panel The run and the code" descr="">
            <a:extLst>
              <a:ext uri="{C183D7F6-B498-43B3-948B-1728B52AA6E4}">
                <adec:decorative xmlns:adec="http://schemas.microsoft.com/office/drawing/2017/decorative" val="1"/>
              </a:ext>
            </a:extLst>
          </p:cNvPr>
          <p:cNvSpPr/>
          <p:nvPr/>
        </p:nvSpPr>
        <p:spPr>
          <a:xfrm>
            <a:off x="6240780" y="1325880"/>
            <a:ext cx="5417820" cy="2935224"/>
          </a:xfrm>
          <a:prstGeom prst="roundRect">
            <a:avLst>
              <a:gd name="adj" fmla="val 249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un and the cod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RUN AND THE CODE</a:t>
            </a:r>
            <a:endParaRPr lang="en-US" sz="1100" dirty="0"/>
          </a:p>
        </p:txBody>
      </p:sp>
      <p:sp>
        <p:nvSpPr>
          <p:cNvPr id="10" name="Panel The run and the code list"/>
          <p:cNvSpPr txBox="1"/>
          <p:nvPr/>
        </p:nvSpPr>
        <p:spPr>
          <a:xfrm>
            <a:off x="642366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Dry run as Reader, apply as time-bound User Access Administrator, never Owner, with a certificate or managed identity</a:t>
            </a:r>
            <a:endParaRPr lang="en-US" sz="1500" dirty="0"/>
          </a:p>
          <a:p>
            <a:pPr marL="342900" indent="-342900">
              <a:spcAft>
                <a:spcPts val="400"/>
              </a:spcAft>
              <a:buSzPct val="100000"/>
              <a:buChar char="•"/>
            </a:pPr>
            <a:r>
              <a:rPr lang="en-US" sz="1500" dirty="0">
                <a:solidFill>
                  <a:srgbClr val="334155"/>
                </a:solidFill>
              </a:rPr>
              <a:t>The cloud is explicit; no .us or usgovcloudapi.net host in a GCC configuration</a:t>
            </a:r>
            <a:endParaRPr lang="en-US" sz="1500" dirty="0"/>
          </a:p>
          <a:p>
            <a:pPr marL="342900" indent="-342900">
              <a:spcAft>
                <a:spcPts val="400"/>
              </a:spcAft>
              <a:buSzPct val="100000"/>
              <a:buChar char="•"/>
            </a:pPr>
            <a:r>
              <a:rPr lang="en-US" sz="1500" dirty="0">
                <a:solidFill>
                  <a:srgbClr val="334155"/>
                </a:solidFill>
              </a:rPr>
              <a:t>The reviewer read diff.txt and plan.json before -Apply; the manifest's hashes match the evidence</a:t>
            </a:r>
            <a:endParaRPr lang="en-US" sz="1500" dirty="0"/>
          </a:p>
          <a:p>
            <a:pPr marL="342900" indent="-342900">
              <a:spcAft>
                <a:spcPts val="400"/>
              </a:spcAft>
              <a:buSzPct val="100000"/>
              <a:buChar char="•"/>
            </a:pPr>
            <a:r>
              <a:rPr lang="en-US" sz="1500" dirty="0">
                <a:solidFill>
                  <a:srgbClr val="334155"/>
                </a:solidFill>
              </a:rPr>
              <a:t>The pinned examples match their manifest; every upstream commit since the pin reviewed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443984"/>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17136"/>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657588"/>
            <a:ext cx="304312" cy="304312"/>
          </a:xfrm>
          <a:prstGeom prst="rect">
            <a:avLst/>
          </a:prstGeom>
        </p:spPr>
      </p:pic>
      <p:sp>
        <p:nvSpPr>
          <p:cNvPr id="14" name="Callout text"/>
          <p:cNvSpPr txBox="1"/>
          <p:nvPr/>
        </p:nvSpPr>
        <p:spPr>
          <a:xfrm>
            <a:off x="1600200" y="4498848"/>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07, Access Reviews of Privileged Roles.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06, “Checklist”; Learn, Best practices for Azure RBAC (three owners). Chapter 06,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pa06-pim-apis  </a:t>
            </a:r>
            <a:pPr indent="0" marL="0">
              <a:spcAft>
                <a:spcPts val="300"/>
              </a:spcAft>
              <a:buNone/>
            </a:pPr>
            <a:r>
              <a:rPr lang="en-US" sz="1050" dirty="0">
                <a:solidFill>
                  <a:srgbClr val="334155"/>
                </a:solidFill>
              </a:rPr>
              <a:t>Microsoft Learn, "Privileged Identity Management APIs," PIM API history and permissions, https://learn.microsoft.com/entra/id-governance/privileged-identity-management/pim-apis (accessed Oct 30, 2026).</a:t>
            </a:r>
            <a:endParaRPr lang="en-US" sz="1050" dirty="0"/>
          </a:p>
          <a:p>
            <a:pPr indent="0" marL="0">
              <a:spcAft>
                <a:spcPts val="300"/>
              </a:spcAft>
              <a:buNone/>
            </a:pPr>
            <a:r>
              <a:rPr lang="en-US" sz="1050" b="1" dirty="0">
                <a:solidFill>
                  <a:srgbClr val="1F2A44"/>
                </a:solidFill>
              </a:rPr>
              <a:t>pa06-rest-eligible  </a:t>
            </a:r>
            <a:pPr indent="0" marL="0">
              <a:spcAft>
                <a:spcPts val="300"/>
              </a:spcAft>
              <a:buNone/>
            </a:pPr>
            <a:r>
              <a:rPr lang="en-US" sz="1050" dirty="0">
                <a:solidFill>
                  <a:srgbClr val="334155"/>
                </a:solidFill>
              </a:rPr>
              <a:t>Microsoft Learn, "Use Azure PIM to manage eligible access with the REST API," https://learn.microsoft.com/rest/api/authorization/privileged-role-eligibility-rest-sample (accessed Oct 30, 2026).</a:t>
            </a:r>
            <a:endParaRPr lang="en-US" sz="1050" dirty="0"/>
          </a:p>
          <a:p>
            <a:pPr indent="0" marL="0">
              <a:spcAft>
                <a:spcPts val="300"/>
              </a:spcAft>
              <a:buNone/>
            </a:pPr>
            <a:r>
              <a:rPr lang="en-US" sz="1050" b="1" dirty="0">
                <a:solidFill>
                  <a:srgbClr val="1F2A44"/>
                </a:solidFill>
              </a:rPr>
              <a:t>pa06-rest-active  </a:t>
            </a:r>
            <a:pPr indent="0" marL="0">
              <a:spcAft>
                <a:spcPts val="300"/>
              </a:spcAft>
              <a:buNone/>
            </a:pPr>
            <a:r>
              <a:rPr lang="en-US" sz="1050" dirty="0">
                <a:solidFill>
                  <a:srgbClr val="334155"/>
                </a:solidFill>
              </a:rPr>
              <a:t>Microsoft Learn, "Use Azure PIM to manage active access with the REST API," https://learn.microsoft.com/rest/api/authorization/privileged-role-assignment-rest-sample (accessed Oct 30, 2026).</a:t>
            </a:r>
            <a:endParaRPr lang="en-US" sz="1050" dirty="0"/>
          </a:p>
          <a:p>
            <a:pPr indent="0" marL="0">
              <a:spcAft>
                <a:spcPts val="300"/>
              </a:spcAft>
              <a:buNone/>
            </a:pPr>
            <a:r>
              <a:rPr lang="en-US" sz="1050" b="1" dirty="0">
                <a:solidFill>
                  <a:srgbClr val="1F2A44"/>
                </a:solidFill>
              </a:rPr>
              <a:t>pa06-rest-policy  </a:t>
            </a:r>
            <a:pPr indent="0" marL="0">
              <a:spcAft>
                <a:spcPts val="300"/>
              </a:spcAft>
              <a:buNone/>
            </a:pPr>
            <a:r>
              <a:rPr lang="en-US" sz="1050" dirty="0">
                <a:solidFill>
                  <a:srgbClr val="334155"/>
                </a:solidFill>
              </a:rPr>
              <a:t>Microsoft Learn, "Use Role Management Policies to manage rules for each role within each resource," https://learn.microsoft.com/rest/api/authorization/privileged-role-policy-rest-sample (accessed Oct 30, 2026).</a:t>
            </a:r>
            <a:endParaRPr lang="en-US" sz="1050" dirty="0"/>
          </a:p>
          <a:p>
            <a:pPr indent="0" marL="0">
              <a:spcAft>
                <a:spcPts val="300"/>
              </a:spcAft>
              <a:buNone/>
            </a:pPr>
            <a:r>
              <a:rPr lang="en-US" sz="1050" b="1" dirty="0">
                <a:solidFill>
                  <a:srgbClr val="1F2A44"/>
                </a:solidFill>
              </a:rPr>
              <a:t>pa06-policy-update  </a:t>
            </a:r>
            <a:pPr indent="0" marL="0">
              <a:spcAft>
                <a:spcPts val="300"/>
              </a:spcAft>
              <a:buNone/>
            </a:pPr>
            <a:r>
              <a:rPr lang="en-US" sz="1050" dirty="0">
                <a:solidFill>
                  <a:srgbClr val="334155"/>
                </a:solidFill>
              </a:rPr>
              <a:t>Microsoft Learn, "Role Management Policies - Update," API version 2020-10-01, https://learn.microsoft.com/rest/api/authorization/role-management-policies/update (accessed Oct 30, 2026).</a:t>
            </a:r>
            <a:endParaRPr lang="en-US" sz="1050" dirty="0"/>
          </a:p>
          <a:p>
            <a:pPr indent="0" marL="0">
              <a:spcAft>
                <a:spcPts val="300"/>
              </a:spcAft>
              <a:buNone/>
            </a:pPr>
            <a:r>
              <a:rPr lang="en-US" sz="1050" b="1" dirty="0">
                <a:solidFill>
                  <a:srgbClr val="1F2A44"/>
                </a:solidFill>
              </a:rPr>
              <a:t>pa06-versions  </a:t>
            </a:r>
            <a:pPr indent="0" marL="0">
              <a:spcAft>
                <a:spcPts val="300"/>
              </a:spcAft>
              <a:buNone/>
            </a:pPr>
            <a:r>
              <a:rPr lang="en-US" sz="1050" dirty="0">
                <a:solidFill>
                  <a:srgbClr val="334155"/>
                </a:solidFill>
              </a:rPr>
              <a:t>Microsoft Learn, "API versions of Azure RBAC REST APIs," stable versions and release notes, https://learn.microsoft.com/rest/api/authorization/versions (accessed Oct 30, 2026).</a:t>
            </a:r>
            <a:endParaRPr lang="en-US" sz="1050" dirty="0"/>
          </a:p>
          <a:p>
            <a:pPr indent="0" marL="0">
              <a:spcAft>
                <a:spcPts val="300"/>
              </a:spcAft>
              <a:buNone/>
            </a:pPr>
            <a:r>
              <a:rPr lang="en-US" sz="1050" b="1" dirty="0">
                <a:solidFill>
                  <a:srgbClr val="1F2A44"/>
                </a:solidFill>
              </a:rPr>
              <a:t>pa06-templates  </a:t>
            </a:r>
            <a:pPr indent="0" marL="0">
              <a:spcAft>
                <a:spcPts val="300"/>
              </a:spcAft>
              <a:buNone/>
            </a:pPr>
            <a:r>
              <a:rPr lang="en-US" sz="1050" dirty="0">
                <a:solidFill>
                  <a:srgbClr val="334155"/>
                </a:solidFill>
              </a:rPr>
              <a:t>Microsoft Learn, "Microsoft.Authorization roleEligibilityScheduleRequests," template reference, versions, https://learn.microsoft.com/azure/templates/microsoft.authorization/roleeligibilityschedulerequests (accessed Oct 30, 2026).</a:t>
            </a:r>
            <a:endParaRPr lang="en-US" sz="1050" dirty="0"/>
          </a:p>
          <a:p>
            <a:pPr indent="0" marL="0">
              <a:spcAft>
                <a:spcPts val="300"/>
              </a:spcAft>
              <a:buNone/>
            </a:pPr>
            <a:r>
              <a:rPr lang="en-US" sz="1050" b="1" dirty="0">
                <a:solidFill>
                  <a:srgbClr val="1F2A44"/>
                </a:solidFill>
              </a:rPr>
              <a:t>pa06-assign  </a:t>
            </a:r>
            <a:pPr indent="0" marL="0">
              <a:spcAft>
                <a:spcPts val="300"/>
              </a:spcAft>
              <a:buNone/>
            </a:pPr>
            <a:r>
              <a:rPr lang="en-US" sz="1050" dirty="0">
                <a:solidFill>
                  <a:srgbClr val="334155"/>
                </a:solidFill>
              </a:rPr>
              <a:t>Microsoft Learn, "Assign Azure resource roles in Privileged Identity Management," assign a role using Azure Resource Manager API, and role assignment conditions, https://learn.microsoft.com/entra/id-governance/privileged-identity-management/pim-resource-roles-assign-roles (accessed Oct 30, 2026).</a:t>
            </a:r>
            <a:endParaRPr lang="en-US" sz="1050" dirty="0"/>
          </a:p>
          <a:p>
            <a:pPr indent="0" marL="0">
              <a:spcAft>
                <a:spcPts val="300"/>
              </a:spcAft>
              <a:buNone/>
            </a:pPr>
            <a:r>
              <a:rPr lang="en-US" sz="1050" b="1" dirty="0">
                <a:solidFill>
                  <a:srgbClr val="1F2A44"/>
                </a:solidFill>
              </a:rPr>
              <a:t>pa06-settings  </a:t>
            </a:r>
            <a:pPr indent="0" marL="0">
              <a:spcAft>
                <a:spcPts val="300"/>
              </a:spcAft>
              <a:buNone/>
            </a:pPr>
            <a:r>
              <a:rPr lang="en-US" sz="1050" dirty="0">
                <a:solidFill>
                  <a:srgbClr val="334155"/>
                </a:solidFill>
              </a:rPr>
              <a:t>Microsoft Learn, "Configure Azure resource role settings in Privileged Identity Management," https://learn.microsoft.com/entra/id-governance/privileged-identity-management/pim-resource-roles-configure-role-settings (accessed Oct 30, 2026).</a:t>
            </a:r>
            <a:endParaRPr lang="en-US" sz="1050" dirty="0"/>
          </a:p>
          <a:p>
            <a:pPr indent="0" marL="0">
              <a:spcAft>
                <a:spcPts val="300"/>
              </a:spcAft>
              <a:buNone/>
            </a:pPr>
            <a:r>
              <a:rPr lang="en-US" sz="1050" b="1" dirty="0">
                <a:solidFill>
                  <a:srgbClr val="1F2A44"/>
                </a:solidFill>
              </a:rPr>
              <a:t>pa06-integration  </a:t>
            </a:r>
            <a:pPr indent="0" marL="0">
              <a:spcAft>
                <a:spcPts val="300"/>
              </a:spcAft>
              <a:buNone/>
            </a:pPr>
            <a:r>
              <a:rPr lang="en-US" sz="1050" dirty="0">
                <a:solidFill>
                  <a:srgbClr val="334155"/>
                </a:solidFill>
              </a:rPr>
              <a:t>Microsoft Learn, "Eligible and time-bound role assignments in Azure RBAC," PIM functionality, https://learn.microsoft.com/azure/role-based-access-control/pim-integration (accessed Oct 30, 2026).</a:t>
            </a:r>
            <a:endParaRPr lang="en-US" sz="1050" dirty="0"/>
          </a:p>
          <a:p>
            <a:pPr indent="0" marL="0">
              <a:spcAft>
                <a:spcPts val="300"/>
              </a:spcAft>
              <a:buNone/>
            </a:pPr>
            <a:r>
              <a:rPr lang="en-US" sz="1050" b="1" dirty="0">
                <a:solidFill>
                  <a:srgbClr val="1F2A44"/>
                </a:solidFill>
              </a:rPr>
              <a:t>pa06-privileged-roles  </a:t>
            </a:r>
            <a:pPr indent="0" marL="0">
              <a:spcAft>
                <a:spcPts val="300"/>
              </a:spcAft>
              <a:buNone/>
            </a:pPr>
            <a:r>
              <a:rPr lang="en-US" sz="1050" dirty="0">
                <a:solidFill>
                  <a:srgbClr val="334155"/>
                </a:solidFill>
              </a:rPr>
              <a:t>Microsoft Learn, "Azure built-in roles for Privileged," Role Based Access Control Administrator and User Access Administrator, https://learn.microsoft.com/azure/role-based-access-control/built-in-roles/privileged, and "Steps to assign an Azure role," check your prerequisites, https://learn.microsoft.com/azure/role-based-access-control/role-assignments-steps (accessed Oct 30, 2026).</a:t>
            </a:r>
            <a:endParaRPr lang="en-US" sz="1050" dirty="0"/>
          </a:p>
          <a:p>
            <a:pPr indent="0" marL="0">
              <a:spcAft>
                <a:spcPts val="300"/>
              </a:spcAft>
              <a:buNone/>
            </a:pPr>
            <a:r>
              <a:rPr lang="en-US" sz="1050" b="1" dirty="0">
                <a:solidFill>
                  <a:srgbClr val="1F2A44"/>
                </a:solidFill>
              </a:rPr>
              <a:t>pa06-operations  </a:t>
            </a:r>
            <a:pPr indent="0" marL="0">
              <a:spcAft>
                <a:spcPts val="300"/>
              </a:spcAft>
              <a:buNone/>
            </a:pPr>
            <a:r>
              <a:rPr lang="en-US" sz="1050" dirty="0">
                <a:solidFill>
                  <a:srgbClr val="334155"/>
                </a:solidFill>
              </a:rPr>
              <a:t>Microsoft Learn, "Azure permissions for Management and governance," Microsoft.Authorization, https://learn.microsoft.com/azure/role-based-access-control/permissions/management-and-governance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pa06-pim-plan  </a:t>
            </a:r>
            <a:pPr indent="0" marL="0">
              <a:spcAft>
                <a:spcPts val="300"/>
              </a:spcAft>
              <a:buNone/>
            </a:pPr>
            <a:r>
              <a:rPr lang="en-US" sz="1050" dirty="0">
                <a:solidFill>
                  <a:srgbClr val="334155"/>
                </a:solidFill>
              </a:rPr>
              <a:t>Microsoft Learn, "Plan a Privileged Identity Management deployment," type of assignments, and plan and implement PIM for Azure resource roles, https://learn.microsoft.com/entra/id-governance/privileged-identity-management/pim-deployment-plan (accessed Oct 30, 2026).</a:t>
            </a:r>
            <a:endParaRPr lang="en-US" sz="1050" dirty="0"/>
          </a:p>
          <a:p>
            <a:pPr indent="0" marL="0">
              <a:spcAft>
                <a:spcPts val="300"/>
              </a:spcAft>
              <a:buNone/>
            </a:pPr>
            <a:r>
              <a:rPr lang="en-US" sz="1050" b="1" dirty="0">
                <a:solidFill>
                  <a:srgbClr val="1F2A44"/>
                </a:solidFill>
              </a:rPr>
              <a:t>pa06-azure-best  </a:t>
            </a:r>
            <a:pPr indent="0" marL="0">
              <a:spcAft>
                <a:spcPts val="300"/>
              </a:spcAft>
              <a:buNone/>
            </a:pPr>
            <a:r>
              <a:rPr lang="en-US" sz="1050" dirty="0">
                <a:solidFill>
                  <a:srgbClr val="334155"/>
                </a:solidFill>
              </a:rPr>
              <a:t>Microsoft Learn, "Best practices for Azure RBAC," limit the number of subscription owners, https://learn.microsoft.com/azure/role-based-access-control/best-practices (accessed Oct 30, 2026; read for Chapter 01).</a:t>
            </a:r>
            <a:endParaRPr lang="en-US" sz="1050" dirty="0"/>
          </a:p>
          <a:p>
            <a:pPr indent="0" marL="0">
              <a:spcAft>
                <a:spcPts val="300"/>
              </a:spcAft>
              <a:buNone/>
            </a:pPr>
            <a:r>
              <a:rPr lang="en-US" sz="1050" b="1" dirty="0">
                <a:solidFill>
                  <a:srgbClr val="1F2A44"/>
                </a:solidFill>
              </a:rPr>
              <a:t>pa06-elevate  </a:t>
            </a:r>
            <a:pPr indent="0" marL="0">
              <a:spcAft>
                <a:spcPts val="300"/>
              </a:spcAft>
              <a:buNone/>
            </a:pPr>
            <a:r>
              <a:rPr lang="en-US" sz="1050" dirty="0">
                <a:solidFill>
                  <a:srgbClr val="334155"/>
                </a:solidFill>
              </a:rPr>
              <a:t>Microsoft Learn, "Azure roles, Microsoft Entra roles, and classic subscription administrator roles," do Azure roles and Microsoft Entra roles overlap, https://learn.microsoft.com/azure/role-based-access-control/rbac-and-directory-admin-roles (accessed Oct 30, 2026; read for Chapter 01).</a:t>
            </a:r>
            <a:endParaRPr lang="en-US" sz="1050" dirty="0"/>
          </a:p>
          <a:p>
            <a:pPr indent="0" marL="0">
              <a:spcAft>
                <a:spcPts val="300"/>
              </a:spcAft>
              <a:buNone/>
            </a:pPr>
            <a:r>
              <a:rPr lang="en-US" sz="1050" b="1" dirty="0">
                <a:solidFill>
                  <a:srgbClr val="1F2A44"/>
                </a:solidFill>
              </a:rPr>
              <a:t>pa06-deployments  </a:t>
            </a:r>
            <a:pPr indent="0" marL="0">
              <a:spcAft>
                <a:spcPts val="300"/>
              </a:spcAft>
              <a:buNone/>
            </a:pPr>
            <a:r>
              <a:rPr lang="en-US" sz="1050" dirty="0">
                <a:solidFill>
                  <a:srgbClr val="334155"/>
                </a:solidFill>
              </a:rPr>
              <a:t>Microsoft Learn, "Microsoft Graph national cloud deployments," https://learn.microsoft.com/graph/deployments (accessed Oct 30, 2026; read for Chapter 01).</a:t>
            </a:r>
            <a:endParaRPr lang="en-US" sz="1050" dirty="0"/>
          </a:p>
          <a:p>
            <a:pPr indent="0" marL="0">
              <a:spcAft>
                <a:spcPts val="300"/>
              </a:spcAft>
              <a:buNone/>
            </a:pPr>
            <a:r>
              <a:rPr lang="en-US" sz="1050" b="1" dirty="0">
                <a:solidFill>
                  <a:srgbClr val="1F2A44"/>
                </a:solidFill>
              </a:rPr>
              <a:t>pa06-compare  </a:t>
            </a:r>
            <a:pPr indent="0" marL="0">
              <a:spcAft>
                <a:spcPts val="300"/>
              </a:spcAft>
              <a:buNone/>
            </a:pPr>
            <a:r>
              <a:rPr lang="en-US" sz="1050" dirty="0">
                <a:solidFill>
                  <a:srgbClr val="334155"/>
                </a:solidFill>
              </a:rPr>
              <a:t>Microsoft Learn, "Compare Azure Government and global Azure," guidance for developers, https://learn.microsoft.com/azure/azure-government/compare-azure-government-global-azure (accessed Oct 30, 2026; read for the first workbook's Chapter 02).</a:t>
            </a:r>
            <a:endParaRPr lang="en-US" sz="1050" dirty="0"/>
          </a:p>
          <a:p>
            <a:pPr indent="0" marL="0">
              <a:spcAft>
                <a:spcPts val="300"/>
              </a:spcAft>
              <a:buNone/>
            </a:pPr>
            <a:r>
              <a:rPr lang="en-US" sz="1050" b="1" dirty="0">
                <a:solidFill>
                  <a:srgbClr val="1F2A44"/>
                </a:solidFill>
              </a:rPr>
              <a:t>pa06-ems-gcc  </a:t>
            </a:r>
            <a:pPr indent="0" marL="0">
              <a:spcAft>
                <a:spcPts val="300"/>
              </a:spcAft>
              <a:buNone/>
            </a:pPr>
            <a:r>
              <a:rPr lang="en-US" sz="1050" dirty="0">
                <a:solidFill>
                  <a:srgbClr val="334155"/>
                </a:solidFill>
              </a:rPr>
              <a:t>Microsoft Learn, "Enterprise Mobility + Security for US Government service description," EMS for US GCC customers, https://learn.microsoft.com/enterprise-mobility-security/solutions/ems-govt-service-description (accessed Oct 30, 2026; read for Chapter 01).</a:t>
            </a:r>
            <a:endParaRPr lang="en-US" sz="1050" dirty="0"/>
          </a:p>
          <a:p>
            <a:pPr indent="0" marL="0">
              <a:spcAft>
                <a:spcPts val="300"/>
              </a:spcAft>
              <a:buNone/>
            </a:pPr>
            <a:r>
              <a:rPr lang="en-US" sz="1050" b="1" dirty="0">
                <a:solidFill>
                  <a:srgbClr val="1F2A44"/>
                </a:solidFill>
              </a:rPr>
              <a:t>pa06-availability  </a:t>
            </a:r>
            <a:pPr indent="0" marL="0">
              <a:spcAft>
                <a:spcPts val="300"/>
              </a:spcAft>
              <a:buNone/>
            </a:pPr>
            <a:r>
              <a:rPr lang="en-US" sz="1050" dirty="0">
                <a:solidFill>
                  <a:srgbClr val="334155"/>
                </a:solidFill>
              </a:rPr>
              <a:t>Microsoft Learn, "Microsoft Entra feature availability," other Microsoft Entra products,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pa06-sample-src  </a:t>
            </a:r>
            <a:pPr indent="0" marL="0">
              <a:spcAft>
                <a:spcPts val="300"/>
              </a:spcAft>
              <a:buNone/>
            </a:pPr>
            <a:r>
              <a:rPr lang="en-US" sz="1050" dirty="0">
                <a:solidFill>
                  <a:srgbClr val="334155"/>
                </a:solidFill>
              </a:rPr>
              <a:t>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06 — PIM for Azure Resources</dc:title>
  <dc:subject>PptxGenJS Presentation</dc:subject>
  <dc:creator>Michael F. Stratton</dc:creator>
  <cp:lastModifiedBy>Michael F. Stratton</cp:lastModifiedBy>
  <cp:revision>1</cp:revision>
  <dcterms:created xsi:type="dcterms:W3CDTF">2026-10-31T14:33:57Z</dcterms:created>
  <dcterms:modified xsi:type="dcterms:W3CDTF">2026-10-31T14:33:57Z</dcterms:modified>
</cp:coreProperties>
</file>