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ertificates outlive migrations" id="{6FE20B86-B6DB-B93E-62BF-CF6CF487908E}">
          <p14:sldIdLst>
            <p14:sldId id="256"/>
            <p14:sldId id="257"/>
            <p14:sldId id="258"/>
            <p14:sldId id="259"/>
          </p14:sldIdLst>
        </p14:section>
        <p14:section name="What AD CS holds up and the target" id="{914BD5CA-D508-C0E3-485F-B30EBD7577B9}">
          <p14:sldIdLst>
            <p14:sldId id="260"/>
            <p14:sldId id="261"/>
            <p14:sldId id="262"/>
            <p14:sldId id="263"/>
            <p14:sldId id="264"/>
            <p14:sldId id="265"/>
          </p14:sldIdLst>
        </p14:section>
        <p14:section name="Who owns the certificate estate" id="{473E2263-FE82-79B1-3A30-0C08AE89BC3C}">
          <p14:sldIdLst>
            <p14:sldId id="266"/>
            <p14:sldId id="267"/>
          </p14:sldIdLst>
        </p14:section>
        <p14:section name="How to migrate, renew and retire" id="{BFAE6B92-B258-550A-FBE8-2A385015EA36}">
          <p14:sldIdLst>
            <p14:sldId id="268"/>
            <p14:sldId id="269"/>
            <p14:sldId id="270"/>
            <p14:sldId id="271"/>
            <p14:sldId id="272"/>
            <p14:sldId id="273"/>
          </p14:sldIdLst>
        </p14:section>
        <p14:section name="Backup" id="{24CEFF2A-4468-A0D4-6016-9AE5C99FDD4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6468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07 of the Federal Modernization Workbook, PKI and Certificates. It runs about thirty minutes, for the people who decide: the CIO, the CISO, the PKI owner and authorizing officials.
The argument fits in three sentences. Certificates are how every other migration's answer to "who is this?" gets proved, and they keep working, unchanged, until they expire, so the certificate estate fails on its own clock, not the directory's. There's no single replacement for Active Directory Certificate Services: the target is four issuers, each serving the subjects only it can, held together by one root-of-trust decision and one lifecycle platform. And the move off AD CS runs as its own program, in gated waves, with AD CS retired last and with evidence.
I'll take four questions: why certificates outlive every migration; what AD CS holds up, how to make what stays safe, and what the target is; who owns the certificate estate; and how to migrate, keep renewing and finally retire the old CAs. Every decision slide names the decision, its owner and when it's needed. Where the owner or the timing is the program's model, a planning figure or design guidance, the notes say so. The book checked every external claim against its source on October 20, 2026, and its vendor and cloud-availability statements are dated observations.
Workbook: Book 07, index; Chapter 01 — Why Certificates Outlive Every Migration; Chapter 05 — Who Owns the Certificate Estate.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[1:35–3:16]  Strip away the ceremony and an X.509 certificate makes one statement: the holder of this private key is entitled to this name, and the certification authority vouches for that binding.
An account is a record in a directory; when you move the directory you move the record. A certificate is a signed statement that has already been handed out. It sits in device stores, on smart cards, in load balancers, in SQL Server configuration and in trust stores on systems nobody remembers configuring. It doesn't move when the directory moves. It keeps working until it expires or is revoked, and then whatever relied on it stops.
The list of what AD CS supports is close to a map of the estate's trust: domain controllers proving themselves to Kerberos clients, LDAPS, smart card and PIV logon, 802.1X and VPN through NPS, TLS listeners including SQL Server, code signing, and the S/MIME and EFS keys that old data still needs. Entra certificate-based authentication sits beside them as a relying party; it validates certificates and issues none.
The identity, workforce, device and data-platform books each migrate one slice of these consumers. None of them owns the issuer underneath all of them. And the stakes are federal: M-22-09 names PIV as a phishing-resistant approach, and for most of the federal workforce phishing-resistant sign-in is a certificate on a card. A PKI program that stalls puts zero trust commitments at risk, not just uptime.
Workbook: Book 07, Chapter 01 — Why Certificates Outlive Every Migration (A certificate is a naming claim; What leans on certificates; Why the move off AD CS is its own program).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[3:16–5:00]  Three properties make AD CS the hardest part of Active Directory to leave.
First, an enterprise CA is wired into the forest, and domain members enroll through Group Policy autoenrollment. An Entra-joined device managed by Intune has no Group Policy channel, so autoenrollment doesn't follow it into the cloud. Second, the cloud replacements cover only part of the estate. Cloud PKI issues to Intune-managed devices, and Intune's supported platforms don't include Windows Server, so a web server, an NPS server, a SQL Server host or a domain controller can't get its certificate from Cloud PKI. Third, domain controllers need certificates for as long as domain controllers exist.
So the estate outlives the directory migration twice: issued certificates by however long they have left, and some of the issuer's duties until the last domain controller is decommissioned.
The figure shows the two clocks. On the directory's clock, cutover is declared complete and the first expiry wave finds no issuer, weeks or months later, far from its cause. On the certificate's clock, the replacement issuer is live before each wave and AD CS is retired last, with evidence. The book gives five reasons this is its own program: it fails on a different clock; it belongs to everyone, so to no one; its sequence is fixed by expiry dates; there's no single replacement; and what stays has to be hardened.
In the program's model the sponsor and CIO set scope, funding and sequence, so this call is theirs.
Workbook: Book 07, Chapter 01 (Why the dependency survives the directory move; Why the move off AD CS is its own program); Chapter 05 (The sponsor and CIO).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[5:00–6:44]  A certificate estate used to be something you could leave alone between renewals. Three changes have ended that.
Public TLS lifetimes are shrinking on a fixed schedule. In April 2025 the CA/Browser Forum adopted a ballot that steps the maximum validity of publicly trusted certificates down from 398 days. It's 200 days today, 100 days from March 15, 2027, five months away, and 47 days from March 15, 2029, and the reuse period for domain validation falls to ten days. On the book's arithmetic, a thousand certificates means about seven renewals every working day now and about thirty-one at 47 days. The schedule binds public certificates, not internal CAs, but the program keeps internal lifetimes short too, because a short-lived certificate limits how long a compromised key is useful.
Mapping rules changed under certificates already in use. Microsoft moved domain controllers to full strong-mapping enforcement in February 2025, and since the September 9, 2025 update there's no supported way back.
And the algorithms have a horizon. NIST's draft transition plan would deprecate RSA-2048 after 2030 and disallow RSA and ECDSA signatures after 2035. M-26-15 sets TLS 1.3 by January 2, 2030 and as much quantum risk mitigated as feasible by December 31, 2030. A root built this year with a twenty-year life outlives those dates.
The matrix puts certificate policy, lifetimes included, with the CISO. The book's rule is that no class may depend on a person remembering a date; acting before the 100-day step is design guidance.
Workbook: Book 07, Chapter 01 (The rules are moving under certificates already issued: lifetimes, mapping rules, algorithms; M-26-15); Chapter 05 (matrix: certificate and issuance policy); Chapter 08 (Renewal at scale as lifetimes shrink).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[6:44–8:25]  Before any certificate moves, the program establishes what the AD CS estate actually is.
The inventory has four layers. The CA layer, including whether the revocation and chain URLs inside real certificates are reachable from where relying parties sit, and how big each CRL is, since Entra enforces size limits. The template layer: who can enroll, who can change the template, whether the requester supplies the subject. The issued-certificate layer, where the expiry waves become dates on a calendar; certificates from public CAs, appliances and self-signing don't appear there, so finding them takes network discovery through the lifecycle platform. And the relying-party layer, which decides the order of work, because a new issuer is useful only once every relying party for that use case trusts it.
Then every template gets one verdict, by three questions asked in order. Is the consumer being retired? Then RETIRE. Does an Intune or Entra path replace it? MIGRATE. Does it depend on Active Directory itself, like domain controllers or NPS? BRIDGE. Otherwise RETAIN, which should be a short list with a name and a review date on every entry. The book corrects its source in several places: internal server TLS isn't a Cloud PKI migration, and S/MIME delivery can move while its issuer and key history stay.
The matrix makes template retirement the PKI administrators' decision and work, and the template's owner makes the classification call. Four weeks is the program's planning figure.
Workbook: Book 07, Chapter 02 — What AD CS Holds Up (The typical topology; What the certificate inventory collects; Classifying every use case; The use-case map); Chapter 05 (matrix: template retirement); Chapter 07 (Wave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[8:25–10:10]  A migration off AD CS takes months, and for some workloads it never finishes. Throughout that time the enterprise CA keeps issuing certificates that domain controllers, VPN gateways, RADIUS servers and Entra ID accept as proof of identity. A CA can create credentials the whole environment trusts, so a single over-privileged account or misconfigured setting on it can undo every other identity control. And under the bring-your-own-CA model the book recommends, the new cloud issuing CA chains to the existing hierarchy, so it inherits every weakness there the day it goes live.
That makes hardening the first technical workstream, not a cleanup task at the end. The book uses the industry's ESC1 to ESC8 labels, which Microsoft's Defender for Identity also adopted, purely as names for defensive checks. In the program's risk matrix four classes are Critical, to be fixed immediately, and four are High, within two weeks; every one is a migration blocker until it's verified closed. Detection comes from Defender for Identity's posture assessments, CA audit events and directory change auditing. Two cautions: AD CS produces no audit evidence by default, so two settings have to be turned on together; and two of Defender's assessments were still preview, so confirm they appear in a government tenant before relying on them.
The gate is program design. The book's wave plan has the PKI owner and the security team approve the assessment, with no unclassified templates and every Critical and High finding re-tested, before Wave 2 starts.
Workbook: Book 07, Chapter 03 — Hardening What Stays (The migration gate; The ESC taxonomy; Turn on CA auditing; The risk-scoring matrix; Hardening the AD CS that remains); Chapter 07 (Wave 1 exit gate).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[10:10–11:56]  The guide this book replaced said Cloud PKI removes the need for on-premises AD CS for most use cases. That's true for devices and wrong for the estate.
Microsoft Cloud PKI hosts the root and issuing CAs, a SCEP registration authority and the revocation endpoints. But it issues only to devices enrolled in Intune: Windows, macOS, iOS and Android, never Windows Server. It doesn't issue the server certificates RADIUS, Wi-Fi and VPN infrastructure present; it has no OCSP responder; and a tenant can hold only three CAs. On availability, a GCC tenant uses the commercial Intune service; Cloud PKI reached GCC High in the week of September 28, 2026 and isn't supported in DoD. Licensing changed in 2026: Microsoft 365 E5 and E7 include it for commercial customers from July, and government plans are planned to align, so confirm the entitlement rather than assume it.
So the target is an issuer per class of subject. Cloud PKI for Intune-managed devices. A retained, hardened AD CS for domain controllers and LDAPS, NPS and VPN servers, internal server TLS including SQL Server, network equipment and HSM-held code signing. The Federal PKI for PIV, through the card management system, which the migration doesn't change. And public CAs for names the internet must trust. Entra ID sits beside all of them as a relying party.
The matrix puts the CA hierarchy and target with the sponsor and CIO, because it fixes cost and the system boundary for years. The anchoring choice is on the next slide.
Workbook: Book 07, Chapter 04 — The Target PKI (Microsoft Cloud PKI: can and can't, licensing, availability; AD CS retained; Federal PKI for PIV); Chapter 05 (The sponsor and CIO; matrix: CA hierarchy and target).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[11:56–13:43]  Cloud PKI offers two ways to anchor trust. A Cloud PKI root creates a new chain, with a Microsoft-managed root key, and every relying party, RADIUS servers, VPN gateways and web servers included, has to be given that new root. Bring your own CA, BYOCA, creates a cloud issuing CA whose request your existing private CA signs; relying parties that already trust the private root trust the new certificates through the existing chain.
For an organization with an established hierarchy, an offline root and cross-forest trust, the program recommends BYOCA. It preserves the trust every relying party already holds, uses one of the tenant's three cloud CAs rather than two, and keeps a natural rollback, because the original root and issuing CAs keep running.
Three program rules go with the choice. Harden first: the root's hierarchy passes the gate before it signs anything. Sign with the offline root, not an issuing CA, so the cloud issuer is a peer of the AD CS issuing CAs and retiring them later doesn't touch it. And treat the root CRL as production. Entra certificate-based authentication accepts one CRL location per CA, over HTTP, and fails sign-in if it can't reach it. An offline root that publishes only over LDAP, or publishes late, breaks the cloud issuer as surely as the on-premises one. Publication from an offline root is a scheduled, witnessed ceremony.
The matrix lets PKI administrators decide publication timing within the window the security office sets. Doing it before the signing ceremony is design guidance.
Workbook: Book 07, Chapter 04 (Two deployment models; What BYOCA actually requires; The deployment-model decision matrix; The program's recommendation); Chapter 05 (PKI and CA administrators); Chapter 08 (Operating the CRLs that stay).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[13:43–15:29]  Cloud PKI and Intune issue, renew and revoke the certificates they put on managed devices. Nothing Microsoft-native does the same for server certificates from AD CS, public TLS certificates, appliances or certificates nobody inventoried. That gap is the certificate lifecycle management platform's job: discovery, inventory, ownership, policy and automated renewal across issuers.
The issuer decision follows. Internal names, for web servers, NPS and RADIUS, VPN and Remote Desktop gateways and SQL Server, come from the retained AD CS hierarchy, requested and renewed through the platform rather than by hand or by server autoenrollment, so every server certificate has an owner, an expiry alert and automated renewal in one place. Domain controller certificates stay on autoenrollment. Public names come from a public CA through the same platform.
The program's platform is CyberArk Certificate Manager, formerly Venafi, from its existing machine-identity vendor; it consolidates there and adds no second lifecycle vendor. In the FedRAMP Marketplace data as of October 20, 2026, no package covered Certificate Manager, so the program deploys the self-hosted edition inside its own boundary, a program decision to revisit when the Marketplace changes. Two cautions: the platform's CA account holds the certificate-manager right, so it's scoped and reviewed; and its ACME service can't run with FIPS mode on, so it runs on dedicated servers.
The workbook's Research page has an implementation guide for this platform; the facts here come from Book 07. The book calls this a program decision; giving it to the sponsor and CIO is the program's model.
Workbook: Book 07, Chapter 04 (The issuer decision for internal server certificates; Certificate lifecycle management); Chapter 05 (renewal ownership; CyberArk Certificate Manager roles); Chapter 08 (three renewal engines; ACME where it applies).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[15:29–17:17]  PIV certificates aren't issued by Cloud PKI or the program's AD CS, and the migration doesn't change their issuer. They come from Federal PKI shared service providers through the card management system, under the Federal Common Policy root. What the target has to do for PIV is trust, not issue: distribute that federal root, which isn't in the default Microsoft, Mozilla or Apple stores; keep the forest's NTAuth store and domain controller certificates right while the domain exists; and upload the chain to Entra ID.
The decisions sit in Entra certificate-based authentication. The trust store is a blast radius: adding a CA lets any certificate it issues authenticate any user it can be bound to. CA scoping, generally available since April 2026, ties a CA to one group, for example the PIV provider for cardholders and a Cloud PKI CA for derived software certificates. CBA is only as secure as its weakest binding. Microsoft treats a certificate as multifactor only if a PIN or biometric protects it, so a PIV card qualifies, a software certificate doesn't, and a derived credential with a different policy OID needs its own rule.
The program requires high-affinity bindings in production. That departs from IDManagement.gov's CBA guide, which says to select low affinity, on Microsoft's advice that administrators should use high-affinity bindings exclusively. Low affinity is acceptable only in a pilot with test certificates.
The matrix gives bindings and affinity to the CISO, with the PIV office consulted; a low-affinity binding kept as a standing exception goes to the authorizing official.
Workbook: Book 07, Chapter 04 (Federal PKI for PIV); Chapter 06 — Device and User Certificates (strong mapping and PIV; the trust store; username bindings and affinity; single-factor and multifactor certificates); Chapter 05 (matrix: CBA bindings; low-affinity exception).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[17:17–19:01]  In most Active Directory estates the certificate authority belongs to whoever installed it. On an enterprise CA, the local Administrators, Domain Admins and Enterprise Admins groups are CA administrators by default. Nobody decided that; it's how the role installs.
The target spreads the estate across more systems, not fewer: Cloud PKI administered in Intune, the CAs Entra trusts administered in Entra ID, retained AD CS with its own access list, PIV from the credentialing office, and server and public certificates in the lifecycle platform. Each has its own administrators, and each holds a piece of what the agency trusts.
So the program separates who decides from who does the work. PKI and CA administrators run the CAs and decide only what's purely operational. The CISO decides which CAs may issue for which purposes, lifetimes, key protection, which trust anchors may appear in trust stores, and the minimum binding strength; NIST's SC-17 control asks for exactly that. The authorizing official accepts every standing exception and any AD CS retirement that changes the boundary.
The sponsor and CIO decide the hierarchy and when each AD CS component retires, and they assign renewal ownership per class, because that assignment crosses team lines only the CIO's organization can settle. Expired certificates are the most common way a certificate estate fails, and an expiry is almost always an ownership failure first. Each class gets one owner who answers for it even when automation renews it. Before servers onboard is design guidance.
Workbook: Book 07, Chapter 05 — Who Owns the Certificate Estate (introduction; Decision rights and work are different things; The roles; matrix: renewal ownership per class; Renewal ownership per certificate class).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[19:01–20:44]  Decision rights don't change what a console lets someone do. Roles do, and for certificates there are four separate permission systems.
The AD CS access list governs the retained CAs: CA administrator, certificate manager, auditor, backup custodian and key recovery agent, with template permissions as a separate control point. Intune governs Cloud PKI, where revoking or deleting a CA is permanent. Entra roles govern CBA: one role manages the trust store, another the bindings and affinity, and administrators of synchronized users can change which account a certificate signs in as. And the lifecycle platform has its own roles; its account on the CA holds the certificate-manager right, so it's effectively a certificate manager for every template it can reach, and its top administrators hold that power indirectly.
That's why the book lists everyday console actions that are risk decisions in disguise. Leaving a template published just in case. Adding a CA to the Entra trust store without a CRL, which means certificates it revokes still authenticate. Setting the tenant's binding to low affinity, which is the default. Extending a CRL's validity so an offline root needs fewer ceremonies.
The rule across all four is the same as in the other books: least privilege, privileged roles eligible rather than permanent, and no one who submits a high-impact change approves it. Trust anchors and issuance policy are the CISO's decisions, so the access model is too, in the program's model. Before Wave 2 is design guidance.
Workbook: Book 07, Chapter 05 (Decision rights and work are different things; Four permission systems, one access model; What changes from "whoever installed the CA").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[20:44–22:31]  The book's playbook runs as six waves, each with an entry gate, the work, an exit gate, a rollback and a planning duration. The durations, about forty-four weeks end to end, are the program's planning figures for a single-forest estate, not commitments; scale them to the Wave 1 inventory.
Foundation creates the cloud issuing CA with licensed hardware-backed keys, deploys trust to devices and domain-joined relying parties, and proves a test certificate everywhere, with trust profiles on at least 99 percent of managed devices. Pilot puts 50 to 100 devices and a pilot user group on cloud certificates and Entra CBA, with at least 95 percent issuance success; those thresholds are the program's. Scale extends by rings, removing old autoenrollment ring by ring once the new certificates are accepted. Cutover converts federated domains to managed authentication and turns off AD FS certificate sign-in.
The rollback rules are what make this safe. No wave starts until its rollback has been rehearsed in a test scope. No rollback depends on something the same wave retires, which is why AD CS autoenrollment stays on through the pilot and AD FS stays restorable for thirty days after cutover, for a four-hour recovery objective. Removing or even editing an Intune certificate profile revokes the certificates it issued, so profile changes are changes with impact, not a harmless undo.
Wave 1's exit is approved by the PKI owner and the security team. Approving the later gates sits with the sponsor and CIO, who own sequence in the program's model.
Workbook: Book 07, Chapter 07 — Coexistence and Migration (The migration playbook, Waves 1–6; Rollback rules that hold across waves); Chapter 05 (The sponsor and CIO).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[22:31–24:16]  Coexistence isn't a phase at the end; it's the condition the project runs in. From the first Cloud PKI certificate until the last AD CS-dependent workload retires, devices carry certificates from both issuers, relying parties trust both chains, and two sets of CRLs have to stay reachable.
What stays on AD CS until Active Directory retires: domain controller certificates, which Cloud PKI can't issue because domain controllers aren't Intune-managed, and which also serve LDAPS; and other server certificates, now renewed through the lifecycle platform.
Trust has to run both ways. The AD CS chain goes into the Entra trust store, with internet-facing CRL addresses, which is also what lets AD FS certificate sign-in move to Entra without reissuing a certificate. The cloud chain goes to domain-joined relying parties by Group Policy or directory publication. NTAuth, the forest's list of CAs allowed to issue logon certificates, gets a cloud CA only if it will issue logon certificates, because every entry is a CA the forest lets mint logon credentials.
The book's warning is that most coexistence outages are revocation outages. Relying parties now sit inside the network, on the internet and in Entra ID. A new CRL address appears only in certificates issued after the change. Entra must download a CRL without authentication within ten seconds or fail the sign-in, which is why the program publishes CRLs on plain anonymous web endpoints rather than behind a proxy. And nothing is revoked early: AD CS certificates leave at renewal.
Workbook: Book 07, Chapter 07 (Two PKIs, one estate: the coexistence rules; What stays on AD CS until Active Directory retires; Trust in both directions; CRL availability; Renewal while two issuers overlap).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[24:16–26:03]  Migration ends on a date. Certificates don't. Every certificate reaches its expiry, and every CA that issued it must keep publishing a CRL relying parties can reach until then.
The design rule is that no certificate class may depend on a person remembering a date. Three renewal engines cover everything: Intune profiles for managed devices, autoenrollment for domain controller certificates, and the lifecycle platform for servers, appliances and public TLS. The platform answers three questions for every certificate it finds: which class it belongs to, who owns its renewal, and whether an issuance record explains it. A certificate on a listener with no enrollment record and no owner is a finding, shadow infrastructure or unauthorized issuance. And any certificate within two renewal windows of expiry with no renewal path bound to it is treated as an incident while it can still be fixed.
Revocation is the part that fails silently. Relying parties keep trusting a certificate until they fetch a newer CRL, so CRLs are run as a production service: published before expiry, delivery endpoints monitored, not just the CA, and old addresses kept alive until no unexpired certificate references them.
The drift checks run at least weekly and their outputs are kept as evidence, because an assessor asks how long a finding stayed open; the evidence maps to the IA-5(2), SC-12 and SC-17 controls.
One choice needs care. Intune can make a valid certificate a compliance condition, which turns a failed renewal into lost access. The book makes the grace period a security-office decision.
Workbook: Book 07, Chapter 08 — Lifecycle, Monitoring and Decommissioning (Renewal at scale; Inventory and renewal; Revocation and CRL availability; Monitoring; Compliance and drift detection; The evidence an assessor reads).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[26:03–27:54]  Decommissioning is the last wave, and it applies only to the CAs and role services that no longer serve a retained certificate class. Domain controller, LDAPS and RADIUS certificates usually keep at least one AD CS issuing CA alive for as long as domain controllers exist.
The gate is the program's: cutover complete, the 30-day rollback window passed with no incidents, and every retained class documented and running on the CAs that remain. Then each CA goes through a fixed sequence. Confirm nothing depends on it, using the platform's inventory and the CA database. Stop new issuance. Back up and archive the database and key. Revoke what's outstanding and publish a final CRL whose lifetime outlasts the revoked certificates. Uninstall the role services. Remove the CA from the Entra trust store, Intune profiles, NTAuth and the platform. And keep the revocation and chain endpoints serving until the last certificate expires.
Under the recommended BYOCA model, the root, and any CA that signed the cloud issuing CA, stays in service, publishing CRLs with its keys in custody. Only the AD CS issuing CAs that no longer issue retire.
Records outlive the hardware. NARA's General Records Schedule 3.2 keeps a CA's records for seven and a half to twenty and a half years, depending on its level of operation, and the agency records officer confirms disposition before any archive is destroyed. A rollback after decommissioning means restoring the CA from backup, planned at eight to twelve hours.
The matrix puts each CA's decommissioning with the sponsor and CIO; the PKI administrators run it.
Workbook: Book 07, Chapter 08 (Decommissioning AD CS: gate, steps 1–9, BYOCA variation); Chapter 07 (Wave 6; restore time); Chapter 05 (matrix: AD CS decommissioning, per CA).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[27:54–29:49]  These are the failure modes the book names, in three groups.
Expiry. Expired certificates are the most common way a certificate estate fails, and an expiry is almost always an ownership failure first: the reminder went to someone who left, or the certificate was in no inventory, from an unknown issuer, so nobody touched it. The enrollment infrastructure has certificates of its own, too; NDES's registration-authority certificates expire like any other and are a frequent cause of NDES outages.
Revocation. If Entra can't download a CA's CRL, certificate sign-in fails for every certificate that CA issued. The opposite failure is quieter: a CA uploaded to the trust store without a CRL address lets its revoked certificates keep authenticating. And removing an old CRL endpoint while unexpired certificates still reference it breaks validation.
Trust. With several bindings, CBA is only as secure as the weakest, and a low-affinity value lets any certificate with the same name sign in. Under BYOCA the cloud issuer inherits whatever is wrong with the hierarchy above it, which is why the hardening gate comes first. And a vendor detail with federal weight: CyberArk's installation guide says FIPS isn't supported for its ACME service, so the program runs it on dedicated servers outside the FIPS-mode set.
The matrix splits exceptions by time. A temporary exception with an end date is a control decision for the CISO. A standing one, with no end date or past the agency's limit, is a risk acceptance, and the authorizing official decides it: a template that can't be retired yet, a CA trusted without a working CRL, a low-affinity binding, a CRL validity stretched past policy.
Workbook: Book 07, Chapter 01 (Manual lifecycle management breaks); Chapter 03 (hardening first); Chapter 05 (The authorizing official; matrix: exceptions); Chapter 06 (NDES certificates; affinity); Chapter 08 (CRL availability; ACME and FIPS).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[29:49–31:24]  So, the decisions, with their owners and timing.
The sponsor and CIO run the move off AD CS as its own program, sequenced by expiry dates; adopt the four-issuer target with the cloud CA anchored to the existing root; confirm the self-hosted lifecycle platform inside the boundary and revisit it when the Marketplace changes; name one renewal owner per certificate class; approve each wave's exit gate; and retire each CA only after its gate passes, keeping one for the domain controllers until the last of them retires.
The CISO sets lifetimes by policy and requires automated renewal before they shorten; requires high-affinity bindings in production; owns the single access model across the four permission systems; and sets the grace period before certificate presence becomes a compliance condition.
The PKI and CA administrators classify every template with a named owner, and run the offline root's CRL as a production service within the security office's window. The PKI owner and the security team hold the hardening gate. And the authorizing official accepts each standing exception explicitly, or doesn't.
None of this starts with a purchase; the program already has the platform. It starts with the inventory. Certificates fail on their own clock: own the issuer, renew without people, and retire AD CS last, with evidence. Book 07 has the detail, every claim footnoted. Thank you.
Workbook: Book 07, Chapters 01–08 (owners from Chapter 05's responsibility matrix; timings from the chapters named on each slide, otherwise design guidance or planning figures).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07 PKI &amp; Certificates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21.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0.xml"/><Relationship Id="rId9" Type="http://schemas.openxmlformats.org/officeDocument/2006/relationships/image" Target="../media/image3.png"/><Relationship Id="rId10"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9.png"/><Relationship Id="rId5" Type="http://schemas.openxmlformats.org/officeDocument/2006/relationships/image" Target="../media/image26.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9.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4.xml"/><Relationship Id="rId9"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34.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29.png"/><Relationship Id="rId5" Type="http://schemas.openxmlformats.org/officeDocument/2006/relationships/image" Target="../media/image8.png"/><Relationship Id="rId4" Type="http://schemas.openxmlformats.org/officeDocument/2006/relationships/notesSlide" Target="../notesSlides/notesSlide17.xml"/><Relationship Id="rId9" Type="http://schemas.openxmlformats.org/officeDocument/2006/relationships/image" Target="../media/image3.png"/><Relationship Id="rId10"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PKI &amp; Certificates: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07  ·  PKI &amp; Certificates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the CIO, the CISO, the PKI owner and authorizing officials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20F35232-3782-1C1C-E402-802B6E7D0B4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DE1434-1089-4702-962C-ADFEDBD5A12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40"/>
    </mc:Choice>
    <mc:Fallback>
      <p:transition spd="slow" advTm="48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certificate keeps working after its directory moves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slate card at the top, AD CS hierarchy, internal PKI today: offline root, enterprise issuing CAs, CRL and AIA publication, Group Policy autoenrollment. It connects to three cards. Directory trust, slate, stays while AD stays: KDC certificates on domain controllers, LDAPS on ports 636 and 3269, NTAuth trust for smart card logon. Device and network access, blue, moves with the devices: 802.1X Wi-Fi and wired client certificates, VPN client certificates, NPS and RADIUS server certificates. Servers, code and data, amber, needs its own issuer: TLS on web, API and SQL Server listeners, code signing keys, S/MIME and EFS decryption keys. Dashed red lines from all three lead to a red pill: each consumer fails when its certificate expires, not when the directory is cut over."/>
          <p:cNvPicPr>
            <a:picLocks noChangeAspect="1"/>
          </p:cNvPicPr>
          <p:nvPr/>
        </p:nvPicPr>
        <p:blipFill>
          <a:blip r:embed="rId5"/>
          <a:stretch>
            <a:fillRect/>
          </a:stretch>
        </p:blipFill>
        <p:spPr>
          <a:xfrm>
            <a:off x="548640" y="1371600"/>
            <a:ext cx="5760720" cy="2663874"/>
          </a:xfrm>
          <a:prstGeom prst="rect">
            <a:avLst/>
          </a:prstGeom>
        </p:spPr>
      </p:pic>
      <p:sp>
        <p:nvSpPr>
          <p:cNvPr id="6" name="Consumers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Consumers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leans on certificates</a:t>
            </a:r>
            <a:endParaRPr lang="en-US" sz="1700" dirty="0"/>
          </a:p>
        </p:txBody>
      </p:sp>
      <p:sp>
        <p:nvSpPr>
          <p:cNvPr id="10" name="Consumers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Domain controllers, LDAPS and smart card sign-in</a:t>
            </a:r>
            <a:endParaRPr lang="en-US" sz="1400" dirty="0"/>
          </a:p>
          <a:p>
            <a:pPr marL="342900" indent="-342900">
              <a:spcAft>
                <a:spcPts val="600"/>
              </a:spcAft>
              <a:buSzPct val="100000"/>
              <a:buChar char="•"/>
            </a:pPr>
            <a:r>
              <a:rPr lang="en-US" sz="1350" dirty="0">
                <a:solidFill>
                  <a:schemeClr val="tx2"/>
                </a:solidFill>
              </a:rPr>
              <a:t>Wi-Fi, wired 802.1X and VPN</a:t>
            </a:r>
            <a:endParaRPr lang="en-US" sz="1400" dirty="0"/>
          </a:p>
          <a:p>
            <a:pPr marL="342900" indent="-342900">
              <a:spcAft>
                <a:spcPts val="600"/>
              </a:spcAft>
              <a:buSzPct val="100000"/>
              <a:buChar char="•"/>
            </a:pPr>
            <a:r>
              <a:rPr lang="en-US" sz="1350" dirty="0">
                <a:solidFill>
                  <a:schemeClr val="tx2"/>
                </a:solidFill>
              </a:rPr>
              <a:t>TLS listeners, SQL Server among them</a:t>
            </a:r>
            <a:endParaRPr lang="en-US" sz="1400" dirty="0"/>
          </a:p>
          <a:p>
            <a:pPr marL="342900" indent="-342900">
              <a:spcAft>
                <a:spcPts val="600"/>
              </a:spcAft>
              <a:buSzPct val="100000"/>
              <a:buChar char="•"/>
            </a:pPr>
            <a:r>
              <a:rPr lang="en-US" sz="1350" dirty="0">
                <a:solidFill>
                  <a:schemeClr val="tx2"/>
                </a:solidFill>
              </a:rPr>
              <a:t>Code signing, and the keys that decrypt old mail and files</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No one owns the issuer.  </a:t>
            </a:r>
            <a:r>
              <a:rPr lang="en-US" sz="1650" dirty="0">
                <a:solidFill>
                  <a:schemeClr val="tx2"/>
                </a:solidFill>
              </a:rPr>
              <a:t>Identity, devices, network and data each migrate their own consumers; the CA underneath all of them needs an owner of its own.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What is AD CS?; smart card logon with third-party CAs; NPS certificates; LDAPS certificates; Entra CBA limitations; OMB M-22-09. Book 07,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E3AFB50-49EA-8685-9C3F-C391F0F1F5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F267A8-C0A5-48BC-9201-FFE28D2FB3C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210"/>
    </mc:Choice>
    <mc:Fallback>
      <p:transition spd="slow" advTm="45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clocks: cutover dates and expiry dates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Left to right. A slate starting card, AD CS issuing today: autoenrollment through Group Policy, templates nobody owns, lifetimes of one to five years. A red arrow labeled follow the directory leads to a red card, on the directory's clock, retire AD CS with the forest: cutover declared complete; issued certificates keep working; first expiry wave finds no issuer; outage weeks or months later, far from its cause. A green arrow labeled follow the expiry dates leads to a green card, on the certificate's clock, run PKI as its own program: inventory and classify every template; replacement issuer live before the first expiry; renewals move, use case by use case; AD CS retired last, with evidence."/>
          <p:cNvPicPr>
            <a:picLocks noChangeAspect="1"/>
          </p:cNvPicPr>
          <p:nvPr/>
        </p:nvPicPr>
        <p:blipFill>
          <a:blip r:embed="rId5"/>
          <a:stretch>
            <a:fillRect/>
          </a:stretch>
        </p:blipFill>
        <p:spPr>
          <a:xfrm>
            <a:off x="548640" y="1371600"/>
            <a:ext cx="5486400" cy="3237737"/>
          </a:xfrm>
          <a:prstGeom prst="rect">
            <a:avLst/>
          </a:prstGeom>
        </p:spPr>
      </p:pic>
      <p:sp>
        <p:nvSpPr>
          <p:cNvPr id="6" name="Late box">
            <a:extLst>
              <a:ext uri="{C183D7F6-B498-43B3-948B-1728B52AA6E4}">
                <adec:decorative xmlns:adec="http://schemas.microsoft.com/office/drawing/2017/decorative" val="1"/>
              </a:ext>
            </a:extLst>
          </p:cNvPr>
          <p:cNvSpPr/>
          <p:nvPr/>
        </p:nvSpPr>
        <p:spPr>
          <a:xfrm>
            <a:off x="6263640" y="1371600"/>
            <a:ext cx="53949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23914" y="1649578"/>
            <a:ext cx="285293" cy="285293"/>
          </a:xfrm>
          <a:prstGeom prst="rect">
            <a:avLst/>
          </a:prstGeom>
        </p:spPr>
      </p:pic>
      <p:sp>
        <p:nvSpPr>
          <p:cNvPr id="9" name="Late head"/>
          <p:cNvSpPr txBox="1"/>
          <p:nvPr/>
        </p:nvSpPr>
        <p:spPr>
          <a:xfrm>
            <a:off x="7178040" y="1517904"/>
            <a:ext cx="43891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Why it fails late</a:t>
            </a:r>
            <a:endParaRPr lang="en-US" sz="1700" dirty="0"/>
          </a:p>
        </p:txBody>
      </p:sp>
      <p:sp>
        <p:nvSpPr>
          <p:cNvPr id="10" name="Late list"/>
          <p:cNvSpPr txBox="1"/>
          <p:nvPr/>
        </p:nvSpPr>
        <p:spPr>
          <a:xfrm>
            <a:off x="6492240" y="2194560"/>
            <a:ext cx="50292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Directory work fails at cutover, where someone is watching</a:t>
            </a:r>
            <a:endParaRPr lang="en-US" sz="1400" dirty="0"/>
          </a:p>
          <a:p>
            <a:pPr marL="342900" indent="-342900">
              <a:spcAft>
                <a:spcPts val="600"/>
              </a:spcAft>
              <a:buSzPct val="100000"/>
              <a:buChar char="•"/>
            </a:pPr>
            <a:r>
              <a:rPr lang="en-US" sz="1350" dirty="0">
                <a:solidFill>
                  <a:schemeClr val="tx2"/>
                </a:solidFill>
              </a:rPr>
              <a:t>Certificate work fails at expiry, months later</a:t>
            </a:r>
            <a:endParaRPr lang="en-US" sz="1400" dirty="0"/>
          </a:p>
          <a:p>
            <a:pPr marL="342900" indent="-342900">
              <a:spcAft>
                <a:spcPts val="600"/>
              </a:spcAft>
              <a:buSzPct val="100000"/>
              <a:buChar char="•"/>
            </a:pPr>
            <a:r>
              <a:rPr lang="en-US" sz="1350" dirty="0">
                <a:solidFill>
                  <a:schemeClr val="tx2"/>
                </a:solidFill>
              </a:rPr>
              <a:t>Cloud PKI issues only to Intune-managed devices, not servers</a:t>
            </a:r>
            <a:endParaRPr lang="en-US" sz="1400" dirty="0"/>
          </a:p>
          <a:p>
            <a:pPr marL="342900" indent="-342900">
              <a:spcAft>
                <a:spcPts val="600"/>
              </a:spcAft>
              <a:buSzPct val="100000"/>
              <a:buChar char="•"/>
            </a:pPr>
            <a:r>
              <a:rPr lang="en-US" sz="1350" dirty="0">
                <a:solidFill>
                  <a:schemeClr val="tx2"/>
                </a:solidFill>
              </a:rPr>
              <a:t>Domain controllers need certificates until the last one retires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Run the move off AD CS as its own program with its own owner, sequenced by expiry dates rather than the directory's milestones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Now, before the directory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for Intune; Intune supported platforms; Monitor AD CS publication health; Entra CBA limitations. Book 07, Chapters 01 and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81579FC-2931-181A-B5B4-F2CC64EB34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3E33A7-0E73-4455-B9C6-4A0C8C78C7B4}"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90"/>
    </mc:Choice>
    <mc:Fallback>
      <p:transition spd="slow" advTm="43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8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Lifetimes are shrinking on a fixed public schedule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ife head"/>
          <p:cNvSpPr txBox="1"/>
          <p:nvPr/>
        </p:nvSpPr>
        <p:spPr>
          <a:xfrm>
            <a:off x="548640" y="137160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PUBLIC TLS MAXIMUM VALIDITY</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576072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Certificates issued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Maximum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Renewals a day per 1,000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Before Mar 15, 2026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398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about 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From Mar 15, 2026 (now)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200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about 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From Mar 15, 2027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100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about 15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From Mar 15, 2029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47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about 31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Life note"/>
          <p:cNvSpPr txBox="1"/>
          <p:nvPr/>
        </p:nvSpPr>
        <p:spPr>
          <a:xfrm>
            <a:off x="548640" y="3931920"/>
            <a:ext cx="5760720" cy="457200"/>
          </a:xfrm>
          <a:prstGeom prst="rect">
            <a:avLst/>
          </a:prstGeom>
          <a:noFill/>
          <a:ln/>
        </p:spPr>
        <p:txBody>
          <a:bodyPr wrap="square" lIns="0" tIns="0" rIns="0" bIns="0" rtlCol="0" anchor="t"/>
          <a:lstStyle/>
          <a:p>
            <a:pPr marL="0" indent="0">
              <a:buNone/>
            </a:pPr>
            <a:r>
              <a:rPr lang="en-US" sz="1200" i="1" dirty="0">
                <a:solidFill>
                  <a:srgbClr val="64748B"/>
                </a:solidFill>
              </a:rPr>
              <a:t>Renewals column: the book's arithmetic, 250 working days, no early renewal.</a:t>
            </a:r>
            <a:endParaRPr lang="en-US" sz="1200" dirty="0"/>
          </a:p>
        </p:txBody>
      </p:sp>
      <p:sp>
        <p:nvSpPr>
          <p:cNvPr id="8" name="Moved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9" name="Icon FaArrowsRotate">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52514" y="1649578"/>
            <a:ext cx="285293" cy="285293"/>
          </a:xfrm>
          <a:prstGeom prst="rect">
            <a:avLst/>
          </a:prstGeom>
        </p:spPr>
      </p:pic>
      <p:sp>
        <p:nvSpPr>
          <p:cNvPr id="11" name="Moved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Other rules moved too</a:t>
            </a:r>
            <a:endParaRPr lang="en-US" sz="1700" dirty="0"/>
          </a:p>
        </p:txBody>
      </p:sp>
      <p:sp>
        <p:nvSpPr>
          <p:cNvPr id="12" name="Moved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Strong mapping: full enforcement, no way back since Sep 2025</a:t>
            </a:r>
            <a:endParaRPr lang="en-US" sz="1400" dirty="0"/>
          </a:p>
          <a:p>
            <a:pPr marL="342900" indent="-342900">
              <a:spcAft>
                <a:spcPts val="600"/>
              </a:spcAft>
              <a:buSzPct val="100000"/>
              <a:buChar char="•"/>
            </a:pPr>
            <a:r>
              <a:rPr lang="en-US" sz="1350" dirty="0">
                <a:solidFill>
                  <a:schemeClr val="tx2"/>
                </a:solidFill>
              </a:rPr>
              <a:t>NIST draft: RSA and ECDSA signatures disallowed after 2035</a:t>
            </a:r>
            <a:endParaRPr lang="en-US" sz="1400" dirty="0"/>
          </a:p>
          <a:p>
            <a:pPr marL="342900" indent="-342900">
              <a:spcAft>
                <a:spcPts val="600"/>
              </a:spcAft>
              <a:buSzPct val="100000"/>
              <a:buChar char="•"/>
            </a:pPr>
            <a:r>
              <a:rPr lang="en-US" sz="1350" dirty="0">
                <a:solidFill>
                  <a:schemeClr val="tx2"/>
                </a:solidFill>
              </a:rPr>
              <a:t>M-26-15: TLS 1.3 by Jan 2, 2030; quantum risk cut by end of 2030</a:t>
            </a:r>
            <a:endParaRPr lang="en-US" sz="1400" dirty="0"/>
          </a:p>
          <a:p>
            <a:pPr marL="342900" indent="-342900">
              <a:spcAft>
                <a:spcPts val="600"/>
              </a:spcAft>
              <a:buSzPct val="100000"/>
              <a:buChar char="•"/>
            </a:pPr>
            <a:r>
              <a:rPr lang="en-US" sz="1350" dirty="0">
                <a:solidFill>
                  <a:schemeClr val="tx2"/>
                </a:solidFill>
              </a:rPr>
              <a:t>A root built in 2026 for 20 years expires in 2046</a:t>
            </a:r>
            <a:endParaRPr lang="en-US" sz="1400" dirty="0"/>
          </a:p>
        </p:txBody>
      </p:sp>
      <p:sp>
        <p:nvSpPr>
          <p:cNvPr id="1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certificate lifetimes by policy, and require automated renewal for every class before its lifetime shortens</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March 15, 2027 (the 100-day step)</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CA/Browser Forum Ballot SC-081v3 and Baseline Requirements 2.3.1; KB5014754; NIST IR 8547 (draft); OMB M-26-15. Book 07, Chapters 01,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8F88AE81-C046-7974-CED7-23B54B4FA13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11FE4F-30D6-45F1-BC9F-26DDEB43DDB3}"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710"/>
    </mc:Choice>
    <mc:Fallback>
      <p:transition spd="slow" advTm="48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71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First, inventory what AD CS actually holds up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to bottom. A slate pill: one template and the use case it serves. Question 1, amber: is the consumer being retired? Yes leads to RETIRE, slate: let it expire; remove from autoenrollment; archive the template; keep decryption keys. No leads to question 2, amber: does an Intune or Entra path replace it, meaning Cloud PKI SCEP to a managed device or Entra CBA? Yes, in green, leads to MIGRATE: deploy the new profile; don't renew from AD CS. No leads to question 3, amber: does it depend on AD itself, such as domain controllers, NTAuth or NPS? Yes leads to BRIDGE, amber: AD CS keeps issuing until AD or the service retires. No, in red, leads to RETAIN: no cloud equivalent; record as debt with an owner and review date."/>
          <p:cNvPicPr>
            <a:picLocks noChangeAspect="1"/>
          </p:cNvPicPr>
          <p:nvPr/>
        </p:nvPicPr>
        <p:blipFill>
          <a:blip r:embed="rId5"/>
          <a:stretch>
            <a:fillRect/>
          </a:stretch>
        </p:blipFill>
        <p:spPr>
          <a:xfrm>
            <a:off x="548640" y="1371600"/>
            <a:ext cx="5029200" cy="3275267"/>
          </a:xfrm>
          <a:prstGeom prst="rect">
            <a:avLst/>
          </a:prstGeom>
        </p:spPr>
      </p:pic>
      <p:sp>
        <p:nvSpPr>
          <p:cNvPr id="6" name="Verdicts box">
            <a:extLst>
              <a:ext uri="{C183D7F6-B498-43B3-948B-1728B52AA6E4}">
                <adec:decorative xmlns:adec="http://schemas.microsoft.com/office/drawing/2017/decorative" val="1"/>
              </a:ext>
            </a:extLst>
          </p:cNvPr>
          <p:cNvSpPr/>
          <p:nvPr/>
        </p:nvSpPr>
        <p:spPr>
          <a:xfrm>
            <a:off x="5806440" y="1371600"/>
            <a:ext cx="58521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60350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166714" y="1649578"/>
            <a:ext cx="285293" cy="285293"/>
          </a:xfrm>
          <a:prstGeom prst="rect">
            <a:avLst/>
          </a:prstGeom>
        </p:spPr>
      </p:pic>
      <p:sp>
        <p:nvSpPr>
          <p:cNvPr id="9" name="Verdicts head"/>
          <p:cNvSpPr txBox="1"/>
          <p:nvPr/>
        </p:nvSpPr>
        <p:spPr>
          <a:xfrm>
            <a:off x="6720840" y="1517904"/>
            <a:ext cx="48463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Four layers, four verdicts</a:t>
            </a:r>
            <a:endParaRPr lang="en-US" sz="1700" dirty="0"/>
          </a:p>
        </p:txBody>
      </p:sp>
      <p:sp>
        <p:nvSpPr>
          <p:cNvPr id="10" name="Verdicts list"/>
          <p:cNvSpPr txBox="1"/>
          <p:nvPr/>
        </p:nvSpPr>
        <p:spPr>
          <a:xfrm>
            <a:off x="6035040" y="2194560"/>
            <a:ext cx="54864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Inventory CAs, templates, issued certificates and every relying party</a:t>
            </a:r>
            <a:endParaRPr lang="en-US" sz="1400" dirty="0"/>
          </a:p>
          <a:p>
            <a:pPr marL="342900" indent="-342900">
              <a:spcAft>
                <a:spcPts val="600"/>
              </a:spcAft>
              <a:buSzPct val="100000"/>
              <a:buChar char="•"/>
            </a:pPr>
            <a:r>
              <a:rPr lang="en-US" sz="1350" dirty="0">
                <a:solidFill>
                  <a:schemeClr val="tx2"/>
                </a:solidFill>
              </a:rPr>
              <a:t>MIGRATE: an Intune or Entra path replaces it</a:t>
            </a:r>
            <a:endParaRPr lang="en-US" sz="1400" dirty="0"/>
          </a:p>
          <a:p>
            <a:pPr marL="342900" indent="-342900">
              <a:spcAft>
                <a:spcPts val="600"/>
              </a:spcAft>
              <a:buSzPct val="100000"/>
              <a:buChar char="•"/>
            </a:pPr>
            <a:r>
              <a:rPr lang="en-US" sz="1350" dirty="0">
                <a:solidFill>
                  <a:schemeClr val="tx2"/>
                </a:solidFill>
              </a:rPr>
              <a:t>BRIDGE: it depends on AD; AD CS keeps issuing</a:t>
            </a:r>
            <a:endParaRPr lang="en-US" sz="1400" dirty="0"/>
          </a:p>
          <a:p>
            <a:pPr marL="342900" indent="-342900">
              <a:spcAft>
                <a:spcPts val="600"/>
              </a:spcAft>
              <a:buSzPct val="100000"/>
              <a:buChar char="•"/>
            </a:pPr>
            <a:r>
              <a:rPr lang="en-US" sz="1350" dirty="0">
                <a:solidFill>
                  <a:schemeClr val="tx2"/>
                </a:solidFill>
              </a:rPr>
              <a:t>RETAIN: no cloud path, an owner and a review date; RETIRE: going away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Classify every template MIGRATE, BRIDGE, RETAIN or RETIRE, each with a named owner who makes the call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PKI and CA administrators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Wave 1 (weeks 1–4, planning figure)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Certification Authority role; certificate templates; Monitor AD CS publication health; Cloud PKI for Intune. Book 07, Chapters 02, 05 and 07;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1EC75AA-1191-2DC1-EF43-36A9C75896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8745CF2-68FB-44E3-85DE-43EB8F4896E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700"/>
    </mc:Choice>
    <mc:Fallback>
      <p:transition spd="slow" advTm="4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Harden what stays before anything migrates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our slate cards in a row represent the four AD CS control points. Certificate template objects in Active Directory hold ESC1 requester-supplied subject, ESC2 Any Purpose or no EKU, ESC3 enrollment agent templates, and ESC4 template ACL and owner. Public Key Services objects in the configuration partition hold ESC5, PKI object ACLs including NTAuthCertificates and Enrollment Services. CA configuration on the CA server holds ESC6, the EDITF_ATTRIBUTESUBJECTALTNAME2 flag, and ESC7, CA permissions Manage CA and Issue and Manage Certificates. HTTP enrollment endpoints in IIS hold ESC8, Web Enrollment and Certificate Enrollment Web Service without HTTPS and Extended Protection. Below them, violet cards show the detection sources: Defender for Identity template assessments for ESC1 to ESC4; directory service change auditing event 5136 on domain controllers for ESC5, which has no Defender for Identity assessment; and Defender for Identity CA assessments, which need a sensor on the AD CS server, plus CA audit events 4882, 4890 and 4892 for ESC6 to ESC8. A green card at the bottom reads remediate Critical and High before any workload migrates."/>
          <p:cNvPicPr>
            <a:picLocks noChangeAspect="1"/>
          </p:cNvPicPr>
          <p:nvPr/>
        </p:nvPicPr>
        <p:blipFill>
          <a:blip r:embed="rId5"/>
          <a:stretch>
            <a:fillRect/>
          </a:stretch>
        </p:blipFill>
        <p:spPr>
          <a:xfrm>
            <a:off x="548640" y="1371600"/>
            <a:ext cx="5120640" cy="3253266"/>
          </a:xfrm>
          <a:prstGeom prst="rect">
            <a:avLst/>
          </a:prstGeom>
        </p:spPr>
      </p:pic>
      <p:sp>
        <p:nvSpPr>
          <p:cNvPr id="6" name="Gate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Gate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The migration gate</a:t>
            </a:r>
            <a:endParaRPr lang="en-US" sz="1700" dirty="0"/>
          </a:p>
        </p:txBody>
      </p:sp>
      <p:sp>
        <p:nvSpPr>
          <p:cNvPr id="10" name="Gate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CA can mint credentials the whole estate trusts</a:t>
            </a:r>
            <a:endParaRPr lang="en-US" sz="1400" dirty="0"/>
          </a:p>
          <a:p>
            <a:pPr marL="342900" indent="-342900">
              <a:spcAft>
                <a:spcPts val="600"/>
              </a:spcAft>
              <a:buSzPct val="100000"/>
              <a:buChar char="•"/>
            </a:pPr>
            <a:r>
              <a:rPr lang="en-US" sz="1350" dirty="0">
                <a:solidFill>
                  <a:schemeClr val="tx2"/>
                </a:solidFill>
              </a:rPr>
              <a:t>Eight known misconfiguration classes; four rated Critical</a:t>
            </a:r>
            <a:endParaRPr lang="en-US" sz="1400" dirty="0"/>
          </a:p>
          <a:p>
            <a:pPr marL="342900" indent="-342900">
              <a:spcAft>
                <a:spcPts val="600"/>
              </a:spcAft>
              <a:buSzPct val="100000"/>
              <a:buChar char="•"/>
            </a:pPr>
            <a:r>
              <a:rPr lang="en-US" sz="1350" dirty="0">
                <a:solidFill>
                  <a:schemeClr val="tx2"/>
                </a:solidFill>
              </a:rPr>
              <a:t>AD CS keeps no audit evidence until two settings are on</a:t>
            </a:r>
            <a:endParaRPr lang="en-US" sz="1400" dirty="0"/>
          </a:p>
          <a:p>
            <a:pPr marL="342900" indent="-342900">
              <a:spcAft>
                <a:spcPts val="600"/>
              </a:spcAft>
              <a:buSzPct val="100000"/>
              <a:buChar char="•"/>
            </a:pPr>
            <a:r>
              <a:rPr lang="en-US" sz="1350" dirty="0">
                <a:solidFill>
                  <a:schemeClr val="tx2"/>
                </a:solidFill>
              </a:rPr>
              <a:t>The new cloud issuer inherits the old hierarchy's weaknesses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Hold the gate: no certificate workload migrates until every Critical and High finding is fixed and re-tested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PKI owner and security team</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Wave 1 exit gate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Secure, delegate and audit CA administration; Defender for Identity certificate assessments; Cloud PKI deployment models. Book 07, Chapters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D253741-9B78-CCB6-05F6-0776B416A8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CC4677-43CB-473C-B953-1BA0636FC69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210"/>
    </mc:Choice>
    <mc:Fallback>
      <p:transition spd="slow" advTm="45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target is four issuers, not one replacement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row, four issuer cards. Blue: Microsoft Cloud PKI, issuing through SCEP to Intune-enrolled Windows, macOS, iOS and Android devices. Slate: AD CS, retained, a hardened enterprise CA for domain controllers, LDAPS, NPS and RADIUS servers, internal server TLS, NDES for network devices, and HSM code signing. Blue: Federal PKI shared service provider, issuing PIV certificates through the card management system. Slate: public CA, for names the internet must trust. A dashed amber line joins Cloud PKI and AD CS: the one root decision, where a BYOCA issuing CA chains to the AD CS root. On the bottom row, a violet card for CyberArk Certificate Manager receives arrows from AD CS and the public CA, for discovery, inventory, ownership and renewal. Beside it, a blue card for Microsoft Entra ID, a relying party not an issuer, receives arrows labeled trust store from Cloud PKI, AD CS and Federal PKI, for certificate-based authentication."/>
          <p:cNvPicPr>
            <a:picLocks noChangeAspect="1"/>
          </p:cNvPicPr>
          <p:nvPr/>
        </p:nvPicPr>
        <p:blipFill>
          <a:blip r:embed="rId5"/>
          <a:stretch>
            <a:fillRect/>
          </a:stretch>
        </p:blipFill>
        <p:spPr>
          <a:xfrm>
            <a:off x="548640" y="1371600"/>
            <a:ext cx="5852160" cy="2272539"/>
          </a:xfrm>
          <a:prstGeom prst="rect">
            <a:avLst/>
          </a:prstGeom>
        </p:spPr>
      </p:pic>
      <p:sp>
        <p:nvSpPr>
          <p:cNvPr id="6" name="Relying strip">
            <a:extLst>
              <a:ext uri="{C183D7F6-B498-43B3-948B-1728B52AA6E4}">
                <adec:decorative xmlns:adec="http://schemas.microsoft.com/office/drawing/2017/decorative" val="1"/>
              </a:ext>
            </a:extLst>
          </p:cNvPr>
          <p:cNvSpPr/>
          <p:nvPr/>
        </p:nvSpPr>
        <p:spPr>
          <a:xfrm>
            <a:off x="548640" y="3794760"/>
            <a:ext cx="5852160" cy="868680"/>
          </a:xfrm>
          <a:prstGeom prst="roundRect">
            <a:avLst>
              <a:gd name="adj" fmla="val 84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elying strip text"/>
          <p:cNvSpPr txBox="1"/>
          <p:nvPr/>
        </p:nvSpPr>
        <p:spPr>
          <a:xfrm>
            <a:off x="731520" y="3840480"/>
            <a:ext cx="5486400" cy="777240"/>
          </a:xfrm>
          <a:prstGeom prst="rect">
            <a:avLst/>
          </a:prstGeom>
          <a:noFill/>
          <a:ln/>
        </p:spPr>
        <p:txBody>
          <a:bodyPr wrap="square" lIns="0" tIns="0" rIns="0" bIns="0" rtlCol="0" anchor="ctr"/>
          <a:lstStyle/>
          <a:p>
            <a:pPr marL="0" indent="0">
              <a:buNone/>
            </a:pPr>
            <a:r>
              <a:rPr lang="en-US" sz="1400" b="1" dirty="0">
                <a:solidFill>
                  <a:srgbClr val="1F2A44"/>
                </a:solidFill>
              </a:rPr>
              <a:t>Entra ID:  </a:t>
            </a:r>
            <a:r>
              <a:rPr lang="en-US" sz="1400" dirty="0">
                <a:solidFill>
                  <a:schemeClr val="tx2"/>
                </a:solidFill>
              </a:rPr>
              <a:t>a relying party beside all four, checking certificates and issuing none.</a:t>
            </a:r>
            <a:endParaRPr lang="en-US" sz="1400" dirty="0"/>
          </a:p>
        </p:txBody>
      </p:sp>
      <p:sp>
        <p:nvSpPr>
          <p:cNvPr id="8" name="Issuers box">
            <a:extLst>
              <a:ext uri="{C183D7F6-B498-43B3-948B-1728B52AA6E4}">
                <adec:decorative xmlns:adec="http://schemas.microsoft.com/office/drawing/2017/decorative" val="1"/>
              </a:ext>
            </a:extLst>
          </p:cNvPr>
          <p:cNvSpPr/>
          <p:nvPr/>
        </p:nvSpPr>
        <p:spPr>
          <a:xfrm>
            <a:off x="6583680" y="1371600"/>
            <a:ext cx="50749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Icon FaSitemap">
            <a:extLst>
              <a:ext uri="{C183D7F6-B498-43B3-948B-1728B52AA6E4}">
                <adec:decorative xmlns:adec="http://schemas.microsoft.com/office/drawing/2017/decorative" val="1"/>
              </a:ext>
            </a:extLst>
          </p:cNvPr>
          <p:cNvSpPr/>
          <p:nvPr/>
        </p:nvSpPr>
        <p:spPr>
          <a:xfrm>
            <a:off x="6812280" y="1517904"/>
            <a:ext cx="548640" cy="548640"/>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943954" y="1649578"/>
            <a:ext cx="285293" cy="285293"/>
          </a:xfrm>
          <a:prstGeom prst="rect">
            <a:avLst/>
          </a:prstGeom>
        </p:spPr>
      </p:pic>
      <p:sp>
        <p:nvSpPr>
          <p:cNvPr id="11" name="Issuers head"/>
          <p:cNvSpPr txBox="1"/>
          <p:nvPr/>
        </p:nvSpPr>
        <p:spPr>
          <a:xfrm>
            <a:off x="7498080" y="1517904"/>
            <a:ext cx="40690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Each subject gets the issuer that can serve it</a:t>
            </a:r>
            <a:endParaRPr lang="en-US" sz="1700" dirty="0"/>
          </a:p>
        </p:txBody>
      </p:sp>
      <p:sp>
        <p:nvSpPr>
          <p:cNvPr id="12" name="Issuers list"/>
          <p:cNvSpPr txBox="1"/>
          <p:nvPr/>
        </p:nvSpPr>
        <p:spPr>
          <a:xfrm>
            <a:off x="6812280" y="2194560"/>
            <a:ext cx="47091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Cloud PKI: Intune-managed devices only</a:t>
            </a:r>
            <a:endParaRPr lang="en-US" sz="1400" dirty="0"/>
          </a:p>
          <a:p>
            <a:pPr marL="342900" indent="-342900">
              <a:spcAft>
                <a:spcPts val="600"/>
              </a:spcAft>
              <a:buSzPct val="100000"/>
              <a:buChar char="•"/>
            </a:pPr>
            <a:r>
              <a:rPr lang="en-US" sz="1350" dirty="0">
                <a:solidFill>
                  <a:schemeClr val="tx2"/>
                </a:solidFill>
              </a:rPr>
              <a:t>Retained AD CS: DCs, servers, network gear, HSM code signing</a:t>
            </a:r>
            <a:endParaRPr lang="en-US" sz="1400" dirty="0"/>
          </a:p>
          <a:p>
            <a:pPr marL="342900" indent="-342900">
              <a:spcAft>
                <a:spcPts val="600"/>
              </a:spcAft>
              <a:buSzPct val="100000"/>
              <a:buChar char="•"/>
            </a:pPr>
            <a:r>
              <a:rPr lang="en-US" sz="1350" dirty="0">
                <a:solidFill>
                  <a:schemeClr val="tx2"/>
                </a:solidFill>
              </a:rPr>
              <a:t>Federal PKI: PIV, through the card system</a:t>
            </a:r>
            <a:endParaRPr lang="en-US" sz="1400" dirty="0"/>
          </a:p>
          <a:p>
            <a:pPr marL="342900" indent="-342900">
              <a:spcAft>
                <a:spcPts val="600"/>
              </a:spcAft>
              <a:buSzPct val="100000"/>
              <a:buChar char="•"/>
            </a:pPr>
            <a:r>
              <a:rPr lang="en-US" sz="1350" dirty="0">
                <a:solidFill>
                  <a:schemeClr val="tx2"/>
                </a:solidFill>
              </a:rPr>
              <a:t>Public CA: names the internet must trust</a:t>
            </a:r>
            <a:endParaRPr lang="en-US" sz="1400" dirty="0"/>
          </a:p>
        </p:txBody>
      </p:sp>
      <p:sp>
        <p:nvSpPr>
          <p:cNvPr id="1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Adopt the four-issuer target, with the cloud issuing CA anchored to the existing offline root (BYOCA)</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Wave 2 (Foundation)</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overview and fundamentals; What's new in Intune (Sep 28, 2026); Intune GCC High and DoD; GSA FPKI 101; FIPS 201-3. Book 07, Chapters 04 and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0A8128B-2D69-DC31-5FB3-ACBFC4C4AD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23CAFE9-505E-4431-924B-2C0EFB3761F6}"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40"/>
    </mc:Choice>
    <mc:Fallback>
      <p:transition spd="slow" advTm="44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4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Anchor to the existing root, and keep its CRL alive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side-by-side groups. The left group, Cloud PKI root CA, shows a blue Cloud PKI root card, key in Azure Managed HSM, validity 5 to 25 years, above a blue Cloud PKI issuing CA card, 2 to 10 years, which issues through SCEP to a blue card for Intune-enrolled devices. A red card beside it reads every relying party needs the new root: RADIUS, VPN, web servers, deployed by GPO or by hand. The right group, BYOCA, shows a slate card for the existing offline AD CS root, key on-premises, above two cards side by side: a slate AD CS issuing CA serving domain controllers and servers, and a blue Cloud PKI BYOCA issuing CA, whose validity and hash are set by the signing CA, which issues through SCEP to Intune-enrolled devices. A green card reads relying parties already trust the root; deploy the BYOCA issuing CA certificate as best practice. An amber card under the root reads the root CRL must stay reachable over HTTP, including from Entra ID."/>
          <p:cNvPicPr>
            <a:picLocks noChangeAspect="1"/>
          </p:cNvPicPr>
          <p:nvPr/>
        </p:nvPicPr>
        <p:blipFill>
          <a:blip r:embed="rId5"/>
          <a:stretch>
            <a:fillRect/>
          </a:stretch>
        </p:blipFill>
        <p:spPr>
          <a:xfrm>
            <a:off x="554322" y="1371600"/>
            <a:ext cx="4972115" cy="3291840"/>
          </a:xfrm>
          <a:prstGeom prst="rect">
            <a:avLst/>
          </a:prstGeom>
        </p:spPr>
      </p:pic>
      <p:sp>
        <p:nvSpPr>
          <p:cNvPr id="6" name="BYOCA box">
            <a:extLst>
              <a:ext uri="{C183D7F6-B498-43B3-948B-1728B52AA6E4}">
                <adec:decorative xmlns:adec="http://schemas.microsoft.com/office/drawing/2017/decorative" val="1"/>
              </a:ext>
            </a:extLst>
          </p:cNvPr>
          <p:cNvSpPr/>
          <p:nvPr/>
        </p:nvSpPr>
        <p:spPr>
          <a:xfrm>
            <a:off x="5760720" y="1371600"/>
            <a:ext cx="5897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598932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120994" y="1649578"/>
            <a:ext cx="285293" cy="285293"/>
          </a:xfrm>
          <a:prstGeom prst="rect">
            <a:avLst/>
          </a:prstGeom>
        </p:spPr>
      </p:pic>
      <p:sp>
        <p:nvSpPr>
          <p:cNvPr id="9" name="BYOCA head"/>
          <p:cNvSpPr txBox="1"/>
          <p:nvPr/>
        </p:nvSpPr>
        <p:spPr>
          <a:xfrm>
            <a:off x="6675120" y="1517904"/>
            <a:ext cx="48920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What anchoring brings, and costs</a:t>
            </a:r>
            <a:endParaRPr lang="en-US" sz="1700" dirty="0"/>
          </a:p>
        </p:txBody>
      </p:sp>
      <p:sp>
        <p:nvSpPr>
          <p:cNvPr id="10" name="BYOCA list"/>
          <p:cNvSpPr txBox="1"/>
          <p:nvPr/>
        </p:nvSpPr>
        <p:spPr>
          <a:xfrm>
            <a:off x="5989320" y="2194560"/>
            <a:ext cx="55321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Relying parties keep the root they already trust</a:t>
            </a:r>
            <a:endParaRPr lang="en-US" sz="1400" dirty="0"/>
          </a:p>
          <a:p>
            <a:pPr marL="342900" indent="-342900">
              <a:spcAft>
                <a:spcPts val="600"/>
              </a:spcAft>
              <a:buSzPct val="100000"/>
              <a:buChar char="•"/>
            </a:pPr>
            <a:r>
              <a:rPr lang="en-US" sz="1350" dirty="0">
                <a:solidFill>
                  <a:schemeClr val="tx2"/>
                </a:solidFill>
              </a:rPr>
              <a:t>One cloud CA of the tenant's three, and an easy rollback</a:t>
            </a:r>
            <a:endParaRPr lang="en-US" sz="1400" dirty="0"/>
          </a:p>
          <a:p>
            <a:pPr marL="342900" indent="-342900">
              <a:spcAft>
                <a:spcPts val="600"/>
              </a:spcAft>
              <a:buSzPct val="100000"/>
              <a:buChar char="•"/>
            </a:pPr>
            <a:r>
              <a:rPr lang="en-US" sz="1350" dirty="0">
                <a:solidFill>
                  <a:schemeClr val="tx2"/>
                </a:solidFill>
              </a:rPr>
              <a:t>Signed by the offline root, so the cloud CA outlives the old issuers</a:t>
            </a:r>
            <a:endParaRPr lang="en-US" sz="1400" dirty="0"/>
          </a:p>
          <a:p>
            <a:pPr marL="342900" indent="-342900">
              <a:spcAft>
                <a:spcPts val="600"/>
              </a:spcAft>
              <a:buSzPct val="100000"/>
              <a:buChar char="•"/>
            </a:pPr>
            <a:r>
              <a:rPr lang="en-US" sz="1350" dirty="0">
                <a:solidFill>
                  <a:schemeClr val="tx2"/>
                </a:solidFill>
              </a:rPr>
              <a:t>The root's CRL must stay reachable over HTTP, Entra ID included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Run the offline root's CRL as a production service: published to an internet-reachable HTTP address, with every ceremony dated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PKI and CA admins, in the CISO's window</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root signs the cloud CA</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deployment models; Bring your own CA; Entra CBA CRL; Operate certificate revocation and CRL publication in AD CS. Book 07, Chapters 04,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C8E9708-500B-2B3C-DED3-D5FC156EE6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FB0D630-DD34-42EE-B218-7728BA11165B}"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60"/>
    </mc:Choice>
    <mc:Fallback>
      <p:transition spd="slow" advTm="45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6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Servers renew through one lifecycle platform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Engine head"/>
          <p:cNvSpPr txBox="1"/>
          <p:nvPr/>
        </p:nvSpPr>
        <p:spPr>
          <a:xfrm>
            <a:off x="548640" y="1371600"/>
            <a:ext cx="5943600" cy="274320"/>
          </a:xfrm>
          <a:prstGeom prst="rect">
            <a:avLst/>
          </a:prstGeom>
          <a:noFill/>
          <a:ln/>
        </p:spPr>
        <p:txBody>
          <a:bodyPr wrap="square" lIns="0" tIns="0" rIns="0" bIns="0" rtlCol="0" anchor="t"/>
          <a:lstStyle/>
          <a:p>
            <a:pPr marL="0" indent="0">
              <a:buNone/>
            </a:pPr>
            <a:r>
              <a:rPr lang="en-US" sz="1200" b="1" dirty="0">
                <a:solidFill>
                  <a:srgbClr val="64748B"/>
                </a:solidFill>
              </a:rPr>
              <a:t>WHAT RENEWS EACH CLASS</a:t>
            </a:r>
            <a:endParaRPr lang="en-US" sz="1200" dirty="0"/>
          </a:p>
        </p:txBody>
      </p:sp>
      <p:sp>
        <p:nvSpPr>
          <p:cNvPr id="6" name="Engine 0">
            <a:extLst>
              <a:ext uri="{C183D7F6-B498-43B3-948B-1728B52AA6E4}">
                <adec:decorative xmlns:adec="http://schemas.microsoft.com/office/drawing/2017/decorative" val="1"/>
              </a:ext>
            </a:extLst>
          </p:cNvPr>
          <p:cNvSpPr/>
          <p:nvPr/>
        </p:nvSpPr>
        <p:spPr>
          <a:xfrm>
            <a:off x="548640" y="1719072"/>
            <a:ext cx="594360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Engine 0 text"/>
          <p:cNvSpPr txBox="1"/>
          <p:nvPr/>
        </p:nvSpPr>
        <p:spPr>
          <a:xfrm>
            <a:off x="731520" y="1719072"/>
            <a:ext cx="5669280" cy="530352"/>
          </a:xfrm>
          <a:prstGeom prst="rect">
            <a:avLst/>
          </a:prstGeom>
          <a:noFill/>
          <a:ln/>
        </p:spPr>
        <p:txBody>
          <a:bodyPr wrap="square" lIns="0" tIns="0" rIns="0" bIns="0" rtlCol="0" anchor="ctr"/>
          <a:lstStyle/>
          <a:p>
            <a:pPr marL="0" indent="0">
              <a:buNone/>
            </a:pPr>
            <a:r>
              <a:rPr lang="en-US" sz="1400" b="1" dirty="0">
                <a:solidFill>
                  <a:srgbClr val="1F2A44"/>
                </a:solidFill>
              </a:rPr>
              <a:t>Intune profiles   </a:t>
            </a:r>
            <a:r>
              <a:rPr lang="en-US" sz="1400" dirty="0">
                <a:solidFill>
                  <a:schemeClr val="tx2"/>
                </a:solidFill>
              </a:rPr>
              <a:t>User and device certificates on managed devices</a:t>
            </a:r>
            <a:endParaRPr lang="en-US" sz="1400" dirty="0"/>
          </a:p>
        </p:txBody>
      </p:sp>
      <p:sp>
        <p:nvSpPr>
          <p:cNvPr id="8" name="Engine 1">
            <a:extLst>
              <a:ext uri="{C183D7F6-B498-43B3-948B-1728B52AA6E4}">
                <adec:decorative xmlns:adec="http://schemas.microsoft.com/office/drawing/2017/decorative" val="1"/>
              </a:ext>
            </a:extLst>
          </p:cNvPr>
          <p:cNvSpPr/>
          <p:nvPr/>
        </p:nvSpPr>
        <p:spPr>
          <a:xfrm>
            <a:off x="548640" y="2322576"/>
            <a:ext cx="594360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Engine 1 text"/>
          <p:cNvSpPr txBox="1"/>
          <p:nvPr/>
        </p:nvSpPr>
        <p:spPr>
          <a:xfrm>
            <a:off x="731520" y="2322576"/>
            <a:ext cx="5669280" cy="530352"/>
          </a:xfrm>
          <a:prstGeom prst="rect">
            <a:avLst/>
          </a:prstGeom>
          <a:noFill/>
          <a:ln/>
        </p:spPr>
        <p:txBody>
          <a:bodyPr wrap="square" lIns="0" tIns="0" rIns="0" bIns="0" rtlCol="0" anchor="ctr"/>
          <a:lstStyle/>
          <a:p>
            <a:pPr marL="0" indent="0">
              <a:buNone/>
            </a:pPr>
            <a:r>
              <a:rPr lang="en-US" sz="1400" b="1" dirty="0">
                <a:solidFill>
                  <a:srgbClr val="1F2A44"/>
                </a:solidFill>
              </a:rPr>
              <a:t>Autoenrollment   </a:t>
            </a:r>
            <a:r>
              <a:rPr lang="en-US" sz="1400" dirty="0">
                <a:solidFill>
                  <a:schemeClr val="tx2"/>
                </a:solidFill>
              </a:rPr>
              <a:t>Domain controller certificates, which also serve LDAPS</a:t>
            </a:r>
            <a:endParaRPr lang="en-US" sz="1400" dirty="0"/>
          </a:p>
        </p:txBody>
      </p:sp>
      <p:sp>
        <p:nvSpPr>
          <p:cNvPr id="10" name="Engine 2">
            <a:extLst>
              <a:ext uri="{C183D7F6-B498-43B3-948B-1728B52AA6E4}">
                <adec:decorative xmlns:adec="http://schemas.microsoft.com/office/drawing/2017/decorative" val="1"/>
              </a:ext>
            </a:extLst>
          </p:cNvPr>
          <p:cNvSpPr/>
          <p:nvPr/>
        </p:nvSpPr>
        <p:spPr>
          <a:xfrm>
            <a:off x="548640" y="2926080"/>
            <a:ext cx="594360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Engine 2 text"/>
          <p:cNvSpPr txBox="1"/>
          <p:nvPr/>
        </p:nvSpPr>
        <p:spPr>
          <a:xfrm>
            <a:off x="731520" y="2926080"/>
            <a:ext cx="5669280" cy="530352"/>
          </a:xfrm>
          <a:prstGeom prst="rect">
            <a:avLst/>
          </a:prstGeom>
          <a:noFill/>
          <a:ln/>
        </p:spPr>
        <p:txBody>
          <a:bodyPr wrap="square" lIns="0" tIns="0" rIns="0" bIns="0" rtlCol="0" anchor="ctr"/>
          <a:lstStyle/>
          <a:p>
            <a:pPr marL="0" indent="0">
              <a:buNone/>
            </a:pPr>
            <a:r>
              <a:rPr lang="en-US" sz="1400" b="1" dirty="0">
                <a:solidFill>
                  <a:srgbClr val="1F2A44"/>
                </a:solidFill>
              </a:rPr>
              <a:t>CLM platform   </a:t>
            </a:r>
            <a:r>
              <a:rPr lang="en-US" sz="1400" dirty="0">
                <a:solidFill>
                  <a:schemeClr val="tx2"/>
                </a:solidFill>
              </a:rPr>
              <a:t>Server TLS, RADIUS, appliances and public TLS</a:t>
            </a:r>
            <a:endParaRPr lang="en-US" sz="1400" dirty="0"/>
          </a:p>
        </p:txBody>
      </p:sp>
      <p:sp>
        <p:nvSpPr>
          <p:cNvPr id="12" name="Engine 3">
            <a:extLst>
              <a:ext uri="{C183D7F6-B498-43B3-948B-1728B52AA6E4}">
                <adec:decorative xmlns:adec="http://schemas.microsoft.com/office/drawing/2017/decorative" val="1"/>
              </a:ext>
            </a:extLst>
          </p:cNvPr>
          <p:cNvSpPr/>
          <p:nvPr/>
        </p:nvSpPr>
        <p:spPr>
          <a:xfrm>
            <a:off x="548640" y="3529584"/>
            <a:ext cx="594360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Engine 3 text"/>
          <p:cNvSpPr txBox="1"/>
          <p:nvPr/>
        </p:nvSpPr>
        <p:spPr>
          <a:xfrm>
            <a:off x="731520" y="3529584"/>
            <a:ext cx="5669280" cy="530352"/>
          </a:xfrm>
          <a:prstGeom prst="rect">
            <a:avLst/>
          </a:prstGeom>
          <a:noFill/>
          <a:ln/>
        </p:spPr>
        <p:txBody>
          <a:bodyPr wrap="square" lIns="0" tIns="0" rIns="0" bIns="0" rtlCol="0" anchor="ctr"/>
          <a:lstStyle/>
          <a:p>
            <a:pPr marL="0" indent="0">
              <a:buNone/>
            </a:pPr>
            <a:r>
              <a:rPr lang="en-US" sz="1400" b="1" dirty="0">
                <a:solidFill>
                  <a:srgbClr val="1F2A44"/>
                </a:solidFill>
              </a:rPr>
              <a:t>Card system   </a:t>
            </a:r>
            <a:r>
              <a:rPr lang="en-US" sz="1400" dirty="0">
                <a:solidFill>
                  <a:schemeClr val="tx2"/>
                </a:solidFill>
              </a:rPr>
              <a:t>PIV and derived PIV</a:t>
            </a:r>
            <a:endParaRPr lang="en-US" sz="1400" dirty="0"/>
          </a:p>
        </p:txBody>
      </p:sp>
      <p:sp>
        <p:nvSpPr>
          <p:cNvPr id="14" name="Engine 4">
            <a:extLst>
              <a:ext uri="{C183D7F6-B498-43B3-948B-1728B52AA6E4}">
                <adec:decorative xmlns:adec="http://schemas.microsoft.com/office/drawing/2017/decorative" val="1"/>
              </a:ext>
            </a:extLst>
          </p:cNvPr>
          <p:cNvSpPr/>
          <p:nvPr/>
        </p:nvSpPr>
        <p:spPr>
          <a:xfrm>
            <a:off x="548640" y="4133088"/>
            <a:ext cx="594360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Engine 4 text"/>
          <p:cNvSpPr txBox="1"/>
          <p:nvPr/>
        </p:nvSpPr>
        <p:spPr>
          <a:xfrm>
            <a:off x="731520" y="4133088"/>
            <a:ext cx="5669280" cy="530352"/>
          </a:xfrm>
          <a:prstGeom prst="rect">
            <a:avLst/>
          </a:prstGeom>
          <a:noFill/>
          <a:ln/>
        </p:spPr>
        <p:txBody>
          <a:bodyPr wrap="square" lIns="0" tIns="0" rIns="0" bIns="0" rtlCol="0" anchor="ctr"/>
          <a:lstStyle/>
          <a:p>
            <a:pPr marL="0" indent="0">
              <a:buNone/>
            </a:pPr>
            <a:r>
              <a:rPr lang="en-US" sz="1400" b="1" dirty="0">
                <a:solidFill>
                  <a:srgbClr val="1F2A44"/>
                </a:solidFill>
              </a:rPr>
              <a:t>Key ceremony   </a:t>
            </a:r>
            <a:r>
              <a:rPr lang="en-US" sz="1400" dirty="0">
                <a:solidFill>
                  <a:schemeClr val="tx2"/>
                </a:solidFill>
              </a:rPr>
              <a:t>CA certificates and CRLs</a:t>
            </a:r>
            <a:endParaRPr lang="en-US" sz="1400" dirty="0"/>
          </a:p>
        </p:txBody>
      </p:sp>
      <p:sp>
        <p:nvSpPr>
          <p:cNvPr id="16" name="CLM box">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CloudArrowUp">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81114" y="1649578"/>
            <a:ext cx="285293" cy="285293"/>
          </a:xfrm>
          <a:prstGeom prst="rect">
            <a:avLst/>
          </a:prstGeom>
        </p:spPr>
      </p:pic>
      <p:sp>
        <p:nvSpPr>
          <p:cNvPr id="19" name="CLM head"/>
          <p:cNvSpPr txBox="1"/>
          <p:nvPr/>
        </p:nvSpPr>
        <p:spPr>
          <a:xfrm>
            <a:off x="7635240" y="1517904"/>
            <a:ext cx="39319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The platform decision</a:t>
            </a:r>
            <a:endParaRPr lang="en-US" sz="1700" dirty="0"/>
          </a:p>
        </p:txBody>
      </p:sp>
      <p:sp>
        <p:nvSpPr>
          <p:cNvPr id="20" name="CLM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CyberArk Certificate Manager, the existing vendor; no second tool</a:t>
            </a:r>
            <a:endParaRPr lang="en-US" sz="1400" dirty="0"/>
          </a:p>
          <a:p>
            <a:pPr marL="342900" indent="-342900">
              <a:spcAft>
                <a:spcPts val="600"/>
              </a:spcAft>
              <a:buSzPct val="100000"/>
              <a:buChar char="•"/>
            </a:pPr>
            <a:r>
              <a:rPr lang="en-US" sz="1350" dirty="0">
                <a:solidFill>
                  <a:schemeClr val="tx2"/>
                </a:solidFill>
              </a:rPr>
              <a:t>Its cloud edition had no FedRAMP listing (Oct 20, 2026)</a:t>
            </a:r>
            <a:endParaRPr lang="en-US" sz="1400" dirty="0"/>
          </a:p>
          <a:p>
            <a:pPr marL="342900" indent="-342900">
              <a:spcAft>
                <a:spcPts val="600"/>
              </a:spcAft>
              <a:buSzPct val="100000"/>
              <a:buChar char="•"/>
            </a:pPr>
            <a:r>
              <a:rPr lang="en-US" sz="1350" dirty="0">
                <a:solidFill>
                  <a:schemeClr val="tx2"/>
                </a:solidFill>
              </a:rPr>
              <a:t>So: the self-hosted edition, inside the boundary</a:t>
            </a:r>
            <a:endParaRPr lang="en-US" sz="1400" dirty="0"/>
          </a:p>
          <a:p>
            <a:pPr marL="342900" indent="-342900">
              <a:spcAft>
                <a:spcPts val="600"/>
              </a:spcAft>
              <a:buSzPct val="100000"/>
              <a:buChar char="•"/>
            </a:pPr>
            <a:r>
              <a:rPr lang="en-US" sz="1350" dirty="0">
                <a:solidFill>
                  <a:schemeClr val="tx2"/>
                </a:solidFill>
              </a:rPr>
              <a:t>Its CA account is a certificate manager: scope it</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Run Certificate Manager, Self-Hosted inside the authorization boundary, and revisit when a certificate-management package is authorized</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 (program's model)</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servers onboard</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CyberArk Certificate Manager, Self-Hosted 26.1 docs; Palo Alto Networks (Feb 11, 2026; NGTS); FedRAMP Marketplace data (Oct 20, 2026). Book 07, Chapters 04, 05 and 08.</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2D9BCF5-0C07-B8D7-8614-0493CDB599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A7BEAAD-5636-4A49-BB17-6E9555127333}"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60"/>
    </mc:Choice>
    <mc:Fallback>
      <p:transition spd="slow" advTm="4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6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and certificate sign-in: trust, not issue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sequence diagram with three participants: the user's device, Microsoft Entra ID sign-in, and the certificate authentication endpoint certauth.login.microsoftonline.com. Step 1: the user enters a username and Entra ID performs home realm discovery. Step 2: the user selects Use a certificate or smart card. Step 3: the client is redirected to the certificate authentication endpoint, which requests the client certificate in the TLS handshake. Step 4: the user picks a certificate. Step 5: Entra ID builds the chain against the trust store and checks the CRL of each CA. Step 6: username bindings, in priority order, find exactly one user. Step 7: authentication binding rules set single-factor or multifactor. A green frame: if the certificate is multifactor and Conditional Access requires MFA, sign-in completes and a primary refresh token is returned. An amber frame: if the certificate is single-factor, a second factor such as a passkey or passwordless phone sign-in is required. A red note: TLS inspection of the certificate authentication endpoint breaks the handshake."/>
          <p:cNvPicPr>
            <a:picLocks noChangeAspect="1"/>
          </p:cNvPicPr>
          <p:nvPr/>
        </p:nvPicPr>
        <p:blipFill>
          <a:blip r:embed="rId5"/>
          <a:stretch>
            <a:fillRect/>
          </a:stretch>
        </p:blipFill>
        <p:spPr>
          <a:xfrm>
            <a:off x="563880" y="1371600"/>
            <a:ext cx="2255520" cy="3291840"/>
          </a:xfrm>
          <a:prstGeom prst="rect">
            <a:avLst/>
          </a:prstGeom>
        </p:spPr>
      </p:pic>
      <p:sp>
        <p:nvSpPr>
          <p:cNvPr id="6" name="PIV box">
            <a:extLst>
              <a:ext uri="{C183D7F6-B498-43B3-948B-1728B52AA6E4}">
                <adec:decorative xmlns:adec="http://schemas.microsoft.com/office/drawing/2017/decorative" val="1"/>
              </a:ext>
            </a:extLst>
          </p:cNvPr>
          <p:cNvSpPr/>
          <p:nvPr/>
        </p:nvSpPr>
        <p:spPr>
          <a:xfrm>
            <a:off x="3017520" y="1371600"/>
            <a:ext cx="42519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IdCard">
            <a:extLst>
              <a:ext uri="{C183D7F6-B498-43B3-948B-1728B52AA6E4}">
                <adec:decorative xmlns:adec="http://schemas.microsoft.com/office/drawing/2017/decorative" val="1"/>
              </a:ext>
            </a:extLst>
          </p:cNvPr>
          <p:cNvSpPr/>
          <p:nvPr/>
        </p:nvSpPr>
        <p:spPr>
          <a:xfrm>
            <a:off x="324612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377794" y="1649578"/>
            <a:ext cx="285293" cy="285293"/>
          </a:xfrm>
          <a:prstGeom prst="rect">
            <a:avLst/>
          </a:prstGeom>
        </p:spPr>
      </p:pic>
      <p:sp>
        <p:nvSpPr>
          <p:cNvPr id="9" name="PIV head"/>
          <p:cNvSpPr txBox="1"/>
          <p:nvPr/>
        </p:nvSpPr>
        <p:spPr>
          <a:xfrm>
            <a:off x="3931920" y="1517904"/>
            <a:ext cx="32461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PIV stays with the Federal PKI</a:t>
            </a:r>
            <a:endParaRPr lang="en-US" sz="1700" dirty="0"/>
          </a:p>
        </p:txBody>
      </p:sp>
      <p:sp>
        <p:nvSpPr>
          <p:cNvPr id="10" name="PIV list"/>
          <p:cNvSpPr txBox="1"/>
          <p:nvPr/>
        </p:nvSpPr>
        <p:spPr>
          <a:xfrm>
            <a:off x="3246120" y="2194560"/>
            <a:ext cx="388620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The migration doesn't change the PIV issuer</a:t>
            </a:r>
            <a:endParaRPr lang="en-US" sz="1400" dirty="0"/>
          </a:p>
          <a:p>
            <a:pPr marL="342900" indent="-342900">
              <a:spcAft>
                <a:spcPts val="600"/>
              </a:spcAft>
              <a:buSzPct val="100000"/>
              <a:buChar char="•"/>
            </a:pPr>
            <a:r>
              <a:rPr lang="en-US" sz="1300" dirty="0">
                <a:solidFill>
                  <a:schemeClr val="tx2"/>
                </a:solidFill>
              </a:rPr>
              <a:t>The federal root isn't in default trust stores</a:t>
            </a:r>
            <a:endParaRPr lang="en-US" sz="1400" dirty="0"/>
          </a:p>
          <a:p>
            <a:pPr marL="342900" indent="-342900">
              <a:spcAft>
                <a:spcPts val="600"/>
              </a:spcAft>
              <a:buSzPct val="100000"/>
              <a:buChar char="•"/>
            </a:pPr>
            <a:r>
              <a:rPr lang="en-US" sz="1300" dirty="0">
                <a:solidFill>
                  <a:schemeClr val="tx2"/>
                </a:solidFill>
              </a:rPr>
              <a:t>NTAuth and DC certificates while the domain exists</a:t>
            </a:r>
            <a:endParaRPr lang="en-US" sz="1400" dirty="0"/>
          </a:p>
          <a:p>
            <a:pPr marL="342900" indent="-342900">
              <a:spcAft>
                <a:spcPts val="600"/>
              </a:spcAft>
              <a:buSzPct val="100000"/>
              <a:buChar char="•"/>
            </a:pPr>
            <a:r>
              <a:rPr lang="en-US" sz="1300" dirty="0">
                <a:solidFill>
                  <a:schemeClr val="tx2"/>
                </a:solidFill>
              </a:rPr>
              <a:t>Derived credentials need their own rule</a:t>
            </a:r>
            <a:endParaRPr lang="en-US" sz="1400" dirty="0"/>
          </a:p>
        </p:txBody>
      </p:sp>
      <p:sp>
        <p:nvSpPr>
          <p:cNvPr id="11" name="CBA box">
            <a:extLst>
              <a:ext uri="{C183D7F6-B498-43B3-948B-1728B52AA6E4}">
                <adec:decorative xmlns:adec="http://schemas.microsoft.com/office/drawing/2017/decorative" val="1"/>
              </a:ext>
            </a:extLst>
          </p:cNvPr>
          <p:cNvSpPr/>
          <p:nvPr/>
        </p:nvSpPr>
        <p:spPr>
          <a:xfrm>
            <a:off x="7406640" y="1371600"/>
            <a:ext cx="42519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Fingerprint">
            <a:extLst>
              <a:ext uri="{C183D7F6-B498-43B3-948B-1728B52AA6E4}">
                <adec:decorative xmlns:adec="http://schemas.microsoft.com/office/drawing/2017/decorative" val="1"/>
              </a:ext>
            </a:extLst>
          </p:cNvPr>
          <p:cNvSpPr/>
          <p:nvPr/>
        </p:nvSpPr>
        <p:spPr>
          <a:xfrm>
            <a:off x="7635240" y="1517904"/>
            <a:ext cx="548640" cy="548640"/>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766914" y="1649578"/>
            <a:ext cx="285293" cy="285293"/>
          </a:xfrm>
          <a:prstGeom prst="rect">
            <a:avLst/>
          </a:prstGeom>
        </p:spPr>
      </p:pic>
      <p:sp>
        <p:nvSpPr>
          <p:cNvPr id="14" name="CBA head"/>
          <p:cNvSpPr txBox="1"/>
          <p:nvPr/>
        </p:nvSpPr>
        <p:spPr>
          <a:xfrm>
            <a:off x="8321040" y="1517904"/>
            <a:ext cx="32461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Entra ID only validates</a:t>
            </a:r>
            <a:endParaRPr lang="en-US" sz="1700" dirty="0"/>
          </a:p>
        </p:txBody>
      </p:sp>
      <p:sp>
        <p:nvSpPr>
          <p:cNvPr id="15" name="CBA list"/>
          <p:cNvSpPr txBox="1"/>
          <p:nvPr/>
        </p:nvSpPr>
        <p:spPr>
          <a:xfrm>
            <a:off x="7635240" y="2194560"/>
            <a:ext cx="388620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Any trusted CA can sign in any user it's bound to</a:t>
            </a:r>
            <a:endParaRPr lang="en-US" sz="1400" dirty="0"/>
          </a:p>
          <a:p>
            <a:pPr marL="342900" indent="-342900">
              <a:spcAft>
                <a:spcPts val="600"/>
              </a:spcAft>
              <a:buSzPct val="100000"/>
              <a:buChar char="•"/>
            </a:pPr>
            <a:r>
              <a:rPr lang="en-US" sz="1300" dirty="0">
                <a:solidFill>
                  <a:schemeClr val="tx2"/>
                </a:solidFill>
              </a:rPr>
              <a:t>High-affinity bindings; weak ones only in a pilot</a:t>
            </a:r>
            <a:endParaRPr lang="en-US" sz="1400" dirty="0"/>
          </a:p>
          <a:p>
            <a:pPr marL="342900" indent="-342900">
              <a:spcAft>
                <a:spcPts val="600"/>
              </a:spcAft>
              <a:buSzPct val="100000"/>
              <a:buChar char="•"/>
            </a:pPr>
            <a:r>
              <a:rPr lang="en-US" sz="1300" dirty="0">
                <a:solidFill>
                  <a:schemeClr val="tx2"/>
                </a:solidFill>
              </a:rPr>
              <a:t>A PIN-protected card is multifactor; software isn't</a:t>
            </a:r>
            <a:endParaRPr lang="en-US" sz="1400" dirty="0"/>
          </a:p>
          <a:p>
            <a:pPr marL="342900" indent="-342900">
              <a:spcAft>
                <a:spcPts val="600"/>
              </a:spcAft>
              <a:buSzPct val="100000"/>
              <a:buChar char="•"/>
            </a:pPr>
            <a:r>
              <a:rPr lang="en-US" sz="1300" dirty="0">
                <a:solidFill>
                  <a:schemeClr val="tx2"/>
                </a:solidFill>
              </a:rPr>
              <a:t>Require CRL validation; no OCSP</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Require high-affinity certificate bindings in production; any weaker binding kept becomes a standing exception for the AO</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AO for exceptions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CBA leaves the pilot</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GSA FPKI 101; KB5014754; IDManagement.gov CBA guide v2.0; Microsoft Learn — Entra CBA technical concepts, setup and CRL. Book 07, Chapters 04–06.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A6FEF6E0-13CD-0603-606D-4AFE9814A9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BD4CE57-16E3-4BAD-BF93-33BA649B33EF}"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410"/>
    </mc:Choice>
    <mc:Fallback>
      <p:transition spd="slow" advTm="46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40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 one decided who owns the CA; now name one per row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Four rows of cards. Top row, decision makers: the sponsor and CIO in amber, who own the CA hierarchy decision, the AD CS retirement schedule and renewal ownership; the authorizing official in amber, who accepts standing exceptions and low-assurance bindings; and the CISO and ISSO in violet, who set issuance policy, trust anchors and evidence. Second row, the certificate authorities: PKI and CA administrators in slate, who run AD CS and Cloud PKI and own templates and CRLs; the CLM platform owner in violet, who runs CyberArk Certificate Manager for inventory, discovery and server and public TLS renewal; and the PIV and credentialing office in blue, which issues PIV through the Federal PKI. Third row, the consumers who design and do: the identity team in blue, which owns the Entra trust store and CBA bindings; endpoint engineering in blue, which owns Intune certificate profiles; and server and network teams in slate, which own server TLS and 802.1X and RADIUS. Bottom row: application owners in slate, who decide for TLS and code-signing certificates on their applications, and security operations in violet, which monitors CA audit events, posture findings and drift. Arrows run from the CISO and ISSO to the PKI administrators labeled policy, from the sponsor to the CLM platform owner labeled renewal owners, from the PKI administrators to the identity team and endpoint engineering labeled chains and templates, from the CLM owner to the server and network teams and application owners labeled renewal, and from the PKI administrators to security operations labeled audit events. A dashed arrow labeled consulted runs from the PIV office to the identity team."/>
          <p:cNvPicPr>
            <a:picLocks noChangeAspect="1"/>
          </p:cNvPicPr>
          <p:nvPr/>
        </p:nvPicPr>
        <p:blipFill>
          <a:blip r:embed="rId5"/>
          <a:stretch>
            <a:fillRect/>
          </a:stretch>
        </p:blipFill>
        <p:spPr>
          <a:xfrm>
            <a:off x="552531" y="1371600"/>
            <a:ext cx="5112858" cy="3291840"/>
          </a:xfrm>
          <a:prstGeom prst="rect">
            <a:avLst/>
          </a:prstGeom>
        </p:spPr>
      </p:pic>
      <p:sp>
        <p:nvSpPr>
          <p:cNvPr id="6" name="Decide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Decide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Who decides</a:t>
            </a:r>
            <a:endParaRPr lang="en-US" sz="1700" dirty="0"/>
          </a:p>
        </p:txBody>
      </p:sp>
      <p:sp>
        <p:nvSpPr>
          <p:cNvPr id="10" name="Decide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 and CIO: hierarchy, AD CS retirement, renewal owners</a:t>
            </a:r>
            <a:endParaRPr lang="en-US" sz="1400" dirty="0"/>
          </a:p>
          <a:p>
            <a:pPr marL="342900" indent="-342900">
              <a:spcAft>
                <a:spcPts val="600"/>
              </a:spcAft>
              <a:buSzPct val="100000"/>
              <a:buChar char="•"/>
            </a:pPr>
            <a:r>
              <a:rPr lang="en-US" sz="1350" dirty="0">
                <a:solidFill>
                  <a:schemeClr val="tx2"/>
                </a:solidFill>
              </a:rPr>
              <a:t>CISO: issuance policy, trust anchors, binding strength</a:t>
            </a:r>
            <a:endParaRPr lang="en-US" sz="1400" dirty="0"/>
          </a:p>
          <a:p>
            <a:pPr marL="342900" indent="-342900">
              <a:spcAft>
                <a:spcPts val="600"/>
              </a:spcAft>
              <a:buSzPct val="100000"/>
              <a:buChar char="•"/>
            </a:pPr>
            <a:r>
              <a:rPr lang="en-US" sz="1350" dirty="0">
                <a:solidFill>
                  <a:schemeClr val="tx2"/>
                </a:solidFill>
              </a:rPr>
              <a:t>AO: every standing exception</a:t>
            </a:r>
            <a:endParaRPr lang="en-US" sz="1400" dirty="0"/>
          </a:p>
          <a:p>
            <a:pPr marL="342900" indent="-342900">
              <a:spcAft>
                <a:spcPts val="600"/>
              </a:spcAft>
              <a:buSzPct val="100000"/>
              <a:buChar char="•"/>
            </a:pPr>
            <a:r>
              <a:rPr lang="en-US" sz="1350" dirty="0">
                <a:solidFill>
                  <a:schemeClr val="tx2"/>
                </a:solidFill>
              </a:rPr>
              <a:t>Certificate owners: routine revocation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Name one renewal owner for every certificate class, recorded in the lifecycle platform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servers onboard to the platform</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Secure, delegate and audit CA administration; NIST SP 800-37 Rev. 2; NIST SP 800-53 Rev. 5 (SC-17); CyberArk Certificate Manager docs. Book 07,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48B825E3-CB5F-8E0E-E41A-2B1939E9405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708BDB-8015-47D7-94E0-52221EC65D8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140"/>
    </mc:Choice>
    <mc:Fallback>
      <p:transition spd="slow" advTm="49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1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permission systems, one access model</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Four cards, two above and two below, each connected by a two-way arrow to one violet card in the middle. The first card, in slate, is the AD CS access control list, with CA administrator, certificate manager, auditor, backup custodian and key recovery agent, and template permissions as a separate control point. The second card, in blue, is Intune RBAC for Cloud PKI, with the permissions read CAs, create CAs, disable and reenable CAs, and revoke issued leaf certificates, scoped by scope tags. The third card, in blue, is Microsoft Entra roles for CBA, with Privileged Authentication Administrator for the PKI-based trust store, Authentication Policy Administrator for bindings and affinity, and Hybrid Identity Administrator for synchronized certificate user IDs. The fourth card, in violet, is CyberArk Certificate Manager roles, with Master Admin, Server Owner, Certificate Approver and Team Owner, and a Microsoft CA account that holds certificate-manager rights. The violet card in the middle, labeled Program design, One access model, reads: each team mapped in all four systems, privileged roles eligible through PIM, and no single person who can both change and approve what a CA issues."/>
          <p:cNvPicPr>
            <a:picLocks noChangeAspect="1"/>
          </p:cNvPicPr>
          <p:nvPr/>
        </p:nvPicPr>
        <p:blipFill>
          <a:blip r:embed="rId5"/>
          <a:stretch>
            <a:fillRect/>
          </a:stretch>
        </p:blipFill>
        <p:spPr>
          <a:xfrm>
            <a:off x="561399" y="1371600"/>
            <a:ext cx="4089282" cy="3291840"/>
          </a:xfrm>
          <a:prstGeom prst="rect">
            <a:avLst/>
          </a:prstGeom>
        </p:spPr>
      </p:pic>
      <p:sp>
        <p:nvSpPr>
          <p:cNvPr id="6" name="Disguise box">
            <a:extLst>
              <a:ext uri="{C183D7F6-B498-43B3-948B-1728B52AA6E4}">
                <adec:decorative xmlns:adec="http://schemas.microsoft.com/office/drawing/2017/decorative" val="1"/>
              </a:ext>
            </a:extLst>
          </p:cNvPr>
          <p:cNvSpPr/>
          <p:nvPr/>
        </p:nvSpPr>
        <p:spPr>
          <a:xfrm>
            <a:off x="4892040" y="1371600"/>
            <a:ext cx="67665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51206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52314" y="1649578"/>
            <a:ext cx="285293" cy="285293"/>
          </a:xfrm>
          <a:prstGeom prst="rect">
            <a:avLst/>
          </a:prstGeom>
        </p:spPr>
      </p:pic>
      <p:sp>
        <p:nvSpPr>
          <p:cNvPr id="9" name="Disguise head"/>
          <p:cNvSpPr txBox="1"/>
          <p:nvPr/>
        </p:nvSpPr>
        <p:spPr>
          <a:xfrm>
            <a:off x="5806440" y="1517904"/>
            <a:ext cx="57607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Console clicks that are really risk decisions</a:t>
            </a:r>
            <a:endParaRPr lang="en-US" sz="1700" dirty="0"/>
          </a:p>
        </p:txBody>
      </p:sp>
      <p:sp>
        <p:nvSpPr>
          <p:cNvPr id="10" name="Disguise list"/>
          <p:cNvSpPr txBox="1"/>
          <p:nvPr/>
        </p:nvSpPr>
        <p:spPr>
          <a:xfrm>
            <a:off x="5120640" y="2194560"/>
            <a:ext cx="64008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Leaving a template published “in case someone needs it”</a:t>
            </a:r>
            <a:endParaRPr lang="en-US" sz="1400" dirty="0"/>
          </a:p>
          <a:p>
            <a:pPr marL="342900" indent="-342900">
              <a:spcAft>
                <a:spcPts val="600"/>
              </a:spcAft>
              <a:buSzPct val="100000"/>
              <a:buChar char="•"/>
            </a:pPr>
            <a:r>
              <a:rPr lang="en-US" sz="1350" dirty="0">
                <a:solidFill>
                  <a:schemeClr val="tx2"/>
                </a:solidFill>
              </a:rPr>
              <a:t>Trusting a CA in Entra without a CRL: revoked certificates still work</a:t>
            </a:r>
            <a:endParaRPr lang="en-US" sz="1400" dirty="0"/>
          </a:p>
          <a:p>
            <a:pPr marL="342900" indent="-342900">
              <a:spcAft>
                <a:spcPts val="600"/>
              </a:spcAft>
              <a:buSzPct val="100000"/>
              <a:buChar char="•"/>
            </a:pPr>
            <a:r>
              <a:rPr lang="en-US" sz="1350" dirty="0">
                <a:solidFill>
                  <a:schemeClr val="tx2"/>
                </a:solidFill>
              </a:rPr>
              <a:t>Leaving CBA bindings at the low-affinity default</a:t>
            </a:r>
            <a:endParaRPr lang="en-US" sz="1400" dirty="0"/>
          </a:p>
          <a:p>
            <a:pPr marL="342900" indent="-342900">
              <a:spcAft>
                <a:spcPts val="600"/>
              </a:spcAft>
              <a:buSzPct val="100000"/>
              <a:buChar char="•"/>
            </a:pPr>
            <a:r>
              <a:rPr lang="en-US" sz="1350" dirty="0">
                <a:solidFill>
                  <a:schemeClr val="tx2"/>
                </a:solidFill>
              </a:rPr>
              <a:t>The platform's CA account can approve for every template it reaches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Map every team in all four systems, keep privileged roles eligible, and let no one both change and approve what a CA issues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Wave 2</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custom roles (Cloud PKI); Set up Entra CBA; certificateUserIds roles; CyberArk Microsoft CA template (26.1). Book 07,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207D9D3-5147-5FF0-1171-71A9DD9EC7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8ACE19-F09F-4CB8-A6A7-3B7DB0A67EA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40"/>
    </mc:Choice>
    <mc:Fallback>
      <p:transition spd="slow" advTm="48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gated waves, each with a tested rollback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ix cards from top to bottom. Wave 1, slate, Assess, weeks 1 to 4: gate, every template classified and Critical and High hardening findings closed. Wave 2, amber, Foundation, weeks 5 to 8: gate, issuing CA live, trust profiles at 99 percent of managed devices, test certificate validates. Wave 3, blue, Pilot, weeks 9 to 16: gate, 95 percent issuance success and every pilot relying party accepts the new chain. Wave 4, blue, Scale, weeks 17 to 28: gate, every managed device holds cloud certificates for MIGRATE use cases. Wave 5, green, Cutover, weeks 29 to 36: gate, domains managed, AD FS certificate authentication off, no AD CS certificates left for MIGRATE use cases. Wave 6, violet, Decommission, weeks 37 to 44: gate, MIGRATE-only AD CS components retired, BRIDGE and RETAIN documented. A red text note beside the waves: rollback is defined per wave and is tested before the wave starts."/>
          <p:cNvPicPr>
            <a:picLocks noChangeAspect="1"/>
          </p:cNvPicPr>
          <p:nvPr/>
        </p:nvPicPr>
        <p:blipFill>
          <a:blip r:embed="rId5"/>
          <a:stretch>
            <a:fillRect/>
          </a:stretch>
        </p:blipFill>
        <p:spPr>
          <a:xfrm>
            <a:off x="551180" y="1371600"/>
            <a:ext cx="2600960" cy="329184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337560" y="1371600"/>
          <a:ext cx="832104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32918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Wave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Weeks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Exit gate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 Assess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template classified; Critical and High findings closed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2 Foundation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Cloud issuing CA live; trust deployed; test certificate validates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 Pilot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9–16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Pilot devices and users on cloud certificates and Entra CBA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 Scale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17–28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managed device holds cloud certificates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5 Cutover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29–36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Federated domains managed; AD FS certificate sign-in off</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6 Decommission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37–44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AD CS parts that served only MIGRATE retired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Waves note"/>
          <p:cNvSpPr txBox="1"/>
          <p:nvPr/>
        </p:nvSpPr>
        <p:spPr>
          <a:xfrm>
            <a:off x="3337560" y="4389120"/>
            <a:ext cx="8321040" cy="274320"/>
          </a:xfrm>
          <a:prstGeom prst="rect">
            <a:avLst/>
          </a:prstGeom>
          <a:noFill/>
          <a:ln/>
        </p:spPr>
        <p:txBody>
          <a:bodyPr wrap="square" lIns="0" tIns="0" rIns="0" bIns="0" rtlCol="0" anchor="t"/>
          <a:lstStyle/>
          <a:p>
            <a:pPr marL="0" indent="0">
              <a:buNone/>
            </a:pPr>
            <a:r>
              <a:rPr lang="en-US" sz="1200" i="1" dirty="0">
                <a:solidFill>
                  <a:srgbClr val="64748B"/>
                </a:solidFill>
              </a:rPr>
              <a:t>Weeks are the program's planning figures for one forest, not commitments.</a:t>
            </a:r>
            <a:endParaRPr lang="en-US" sz="1200" dirty="0"/>
          </a:p>
        </p:txBody>
      </p:sp>
      <p:sp>
        <p:nvSpPr>
          <p:cNvPr id="8"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1"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each wave's exit gate before the next starts; no wave begins until its rollback has been rehearsed</a:t>
            </a:r>
            <a:endParaRPr lang="en-US" sz="1400" dirty="0"/>
          </a:p>
        </p:txBody>
      </p:sp>
      <p:sp>
        <p:nvSpPr>
          <p:cNvPr id="12"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 (program's model)</a:t>
            </a:r>
            <a:endParaRPr lang="en-US" sz="1400" dirty="0"/>
          </a:p>
        </p:txBody>
      </p:sp>
      <p:sp>
        <p:nvSpPr>
          <p:cNvPr id="13"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At each wave gate</a:t>
            </a:r>
            <a:endParaRPr lang="en-US" sz="1400" dirty="0"/>
          </a:p>
        </p:txBody>
      </p:sp>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Migrate from federation to cloud authentication; Staged rollout; Remove SCEP or PKCS certificates; AD FS decommission guide. Book 07, Chapters 05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E98E5CC9-63E2-35CA-AA42-9E55E62E29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1F82A8-EF6A-4E87-BDAC-6298339843BB}"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40"/>
    </mc:Choice>
    <mc:Fallback>
      <p:transition spd="slow" advTm="4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74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Coexistence: both PKIs are production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wo clusters side by side. Left, slate, the on-premises Active Directory forest: AD CS with its offline root and enterprise issuing CAs; domain-joined relying parties such as RADIUS, VPN and mutual-TLS web servers; and, in amber, the NTAuth store of CAs allowed to issue logon certificates. Right, blue, the Microsoft cloud: Cloud PKI with a root and issuing CA or a BYOCA issuing CA; the Entra ID CBA trust store holding every CA in the user-certificate chain; and Intune-managed devices with trusted certificate profiles for both chains. Arrows: AD CS to the Entra ID trust store, labeled upload with internet CRL URLs. Cloud PKI to the domain-joined relying parties, labeled Group Policy or -dspublish RootCA. Cloud PKI to NTAuth, dashed amber, labeled only if it issues logon certificates. AD CS and Cloud PKI each to the Intune-managed devices, labeled trusted certificate profile. A red note pointing at AD CS: LDAP-only CRL locations fail for Entra ID and Entra-joined devices."/>
          <p:cNvPicPr>
            <a:picLocks noChangeAspect="1"/>
          </p:cNvPicPr>
          <p:nvPr/>
        </p:nvPicPr>
        <p:blipFill>
          <a:blip r:embed="rId5"/>
          <a:stretch>
            <a:fillRect/>
          </a:stretch>
        </p:blipFill>
        <p:spPr>
          <a:xfrm>
            <a:off x="548640" y="1371600"/>
            <a:ext cx="5212080" cy="3255909"/>
          </a:xfrm>
          <a:prstGeom prst="rect">
            <a:avLst/>
          </a:prstGeom>
        </p:spPr>
      </p:pic>
      <p:sp>
        <p:nvSpPr>
          <p:cNvPr id="6" name="Rules box">
            <a:extLst>
              <a:ext uri="{C183D7F6-B498-43B3-948B-1728B52AA6E4}">
                <adec:decorative xmlns:adec="http://schemas.microsoft.com/office/drawing/2017/decorative" val="1"/>
              </a:ext>
            </a:extLst>
          </p:cNvPr>
          <p:cNvSpPr/>
          <p:nvPr/>
        </p:nvSpPr>
        <p:spPr>
          <a:xfrm>
            <a:off x="5989320" y="1371600"/>
            <a:ext cx="56692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621792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349594" y="1649578"/>
            <a:ext cx="285293" cy="285293"/>
          </a:xfrm>
          <a:prstGeom prst="rect">
            <a:avLst/>
          </a:prstGeom>
        </p:spPr>
      </p:pic>
      <p:sp>
        <p:nvSpPr>
          <p:cNvPr id="9" name="Rules head"/>
          <p:cNvSpPr txBox="1"/>
          <p:nvPr/>
        </p:nvSpPr>
        <p:spPr>
          <a:xfrm>
            <a:off x="6903720" y="1517904"/>
            <a:ext cx="466344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Five coexistence rules</a:t>
            </a:r>
            <a:endParaRPr lang="en-US" sz="1700" dirty="0"/>
          </a:p>
        </p:txBody>
      </p:sp>
      <p:sp>
        <p:nvSpPr>
          <p:cNvPr id="10" name="Rules list"/>
          <p:cNvSpPr txBox="1"/>
          <p:nvPr/>
        </p:nvSpPr>
        <p:spPr>
          <a:xfrm>
            <a:off x="6217920" y="2194560"/>
            <a:ext cx="53035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issuer per use case per population</a:t>
            </a:r>
            <a:endParaRPr lang="en-US" sz="1400" dirty="0"/>
          </a:p>
          <a:p>
            <a:pPr marL="342900" indent="-342900">
              <a:spcAft>
                <a:spcPts val="600"/>
              </a:spcAft>
              <a:buSzPct val="100000"/>
              <a:buChar char="•"/>
            </a:pPr>
            <a:r>
              <a:rPr lang="en-US" sz="1350" dirty="0">
                <a:solidFill>
                  <a:schemeClr val="tx2"/>
                </a:solidFill>
              </a:rPr>
              <a:t>Trust goes up before issuance moves</a:t>
            </a:r>
            <a:endParaRPr lang="en-US" sz="1400" dirty="0"/>
          </a:p>
          <a:p>
            <a:pPr marL="342900" indent="-342900">
              <a:spcAft>
                <a:spcPts val="600"/>
              </a:spcAft>
              <a:buSzPct val="100000"/>
              <a:buChar char="•"/>
            </a:pPr>
            <a:r>
              <a:rPr lang="en-US" sz="1350" dirty="0">
                <a:solidFill>
                  <a:schemeClr val="tx2"/>
                </a:solidFill>
              </a:rPr>
              <a:t>Revocation reachable wherever validation happens</a:t>
            </a:r>
            <a:endParaRPr lang="en-US" sz="1400" dirty="0"/>
          </a:p>
          <a:p>
            <a:pPr marL="342900" indent="-342900">
              <a:spcAft>
                <a:spcPts val="600"/>
              </a:spcAft>
              <a:buSzPct val="100000"/>
              <a:buChar char="•"/>
            </a:pPr>
            <a:r>
              <a:rPr lang="en-US" sz="1350" dirty="0">
                <a:solidFill>
                  <a:schemeClr val="tx2"/>
                </a:solidFill>
              </a:rPr>
              <a:t>Nothing revoked to force a move</a:t>
            </a:r>
            <a:endParaRPr lang="en-US" sz="1400" dirty="0"/>
          </a:p>
          <a:p>
            <a:pPr marL="342900" indent="-342900">
              <a:spcAft>
                <a:spcPts val="600"/>
              </a:spcAft>
              <a:buSzPct val="100000"/>
              <a:buChar char="•"/>
            </a:pPr>
            <a:r>
              <a:rPr lang="en-US" sz="1350" dirty="0">
                <a:solidFill>
                  <a:schemeClr val="tx2"/>
                </a:solidFill>
              </a:rPr>
              <a:t>Every move has a tested rollback</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PlugCircleX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Most coexistence outages are revocation outages.  </a:t>
            </a:r>
            <a:r>
              <a:rPr lang="en-US" sz="1650" dirty="0">
                <a:solidFill>
                  <a:schemeClr val="tx2"/>
                </a:solidFill>
              </a:rPr>
              <a:t>Every CRL must be reachable inside the network, from the internet and by Entra ID, wherever its certificates are checked.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Set up Entra CBA; Entra CBA CRL; NTAuth import; Distribute certificates by Group Policy; EAP-TLS certificate requirements. Book 07,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1AF6E5C-65E7-89DE-C599-4A3D5E458A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702F87-F6E9-47F2-9D55-2C8B09FF87DF}"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70"/>
    </mc:Choice>
    <mc:Fallback>
      <p:transition spd="slow" advTm="43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Monitoring turns expiries into signals, not outages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flow of five cards with a monitoring card beside it. Discover, in slate: CLM discovery scans, the Intune certificates report, and AD CS and Cloud PKI issuance records. Inventory with an owner, in blue: every certificate has a class, an issuer and one renewal owner. Issue under policy, in blue: Intune SCEP and PKCS, AD CS autoenrollment, and CyberArk Certificate Manager with ACME where the endpoint supports it. Renew before expiry, in green: the Intune renewal threshold, autoenrollment and CLM renewal, each with a new key pair. Revoke or let expire, in amber: routine retirement by non-renewal, and revocation published to the CRL for compromise. A violet monitoring card, listing CA audit events, CRL health, CBA sign-in failures, Defender for Identity findings and drift, has dashed arrows back to the inventory card. An arrow also loops from renew back to issue."/>
          <p:cNvPicPr>
            <a:picLocks noChangeAspect="1"/>
          </p:cNvPicPr>
          <p:nvPr/>
        </p:nvPicPr>
        <p:blipFill>
          <a:blip r:embed="rId5"/>
          <a:stretch>
            <a:fillRect/>
          </a:stretch>
        </p:blipFill>
        <p:spPr>
          <a:xfrm>
            <a:off x="551036" y="1371600"/>
            <a:ext cx="3287048" cy="3291840"/>
          </a:xfrm>
          <a:prstGeom prst="rect">
            <a:avLst/>
          </a:prstGeom>
        </p:spPr>
      </p:pic>
      <p:sp>
        <p:nvSpPr>
          <p:cNvPr id="6" name="Watch box">
            <a:extLst>
              <a:ext uri="{C183D7F6-B498-43B3-948B-1728B52AA6E4}">
                <adec:decorative xmlns:adec="http://schemas.microsoft.com/office/drawing/2017/decorative" val="1"/>
              </a:ext>
            </a:extLst>
          </p:cNvPr>
          <p:cNvSpPr/>
          <p:nvPr/>
        </p:nvSpPr>
        <p:spPr>
          <a:xfrm>
            <a:off x="4069080" y="1371600"/>
            <a:ext cx="75895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429768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29354" y="1649578"/>
            <a:ext cx="285293" cy="285293"/>
          </a:xfrm>
          <a:prstGeom prst="rect">
            <a:avLst/>
          </a:prstGeom>
        </p:spPr>
      </p:pic>
      <p:sp>
        <p:nvSpPr>
          <p:cNvPr id="9" name="Watch head"/>
          <p:cNvSpPr txBox="1"/>
          <p:nvPr/>
        </p:nvSpPr>
        <p:spPr>
          <a:xfrm>
            <a:off x="4983480" y="1517904"/>
            <a:ext cx="658368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the program watches</a:t>
            </a:r>
            <a:endParaRPr lang="en-US" sz="1700" dirty="0"/>
          </a:p>
        </p:txBody>
      </p:sp>
      <p:sp>
        <p:nvSpPr>
          <p:cNvPr id="10" name="Watch list"/>
          <p:cNvSpPr txBox="1"/>
          <p:nvPr/>
        </p:nvSpPr>
        <p:spPr>
          <a:xfrm>
            <a:off x="4297680" y="2194560"/>
            <a:ext cx="72237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Any certificate within two renewal windows of expiry with no renewal path</a:t>
            </a:r>
            <a:endParaRPr lang="en-US" sz="1400" dirty="0"/>
          </a:p>
          <a:p>
            <a:pPr marL="342900" indent="-342900">
              <a:spcAft>
                <a:spcPts val="600"/>
              </a:spcAft>
              <a:buSzPct val="100000"/>
              <a:buChar char="•"/>
            </a:pPr>
            <a:r>
              <a:rPr lang="en-US" sz="1350" dirty="0">
                <a:solidFill>
                  <a:schemeClr val="tx2"/>
                </a:solidFill>
              </a:rPr>
              <a:t>Issuance outside policy, and certificates with no enrollment record</a:t>
            </a:r>
            <a:endParaRPr lang="en-US" sz="1400" dirty="0"/>
          </a:p>
          <a:p>
            <a:pPr marL="342900" indent="-342900">
              <a:spcAft>
                <a:spcPts val="600"/>
              </a:spcAft>
              <a:buSzPct val="100000"/>
              <a:buChar char="•"/>
            </a:pPr>
            <a:r>
              <a:rPr lang="en-US" sz="1350" dirty="0">
                <a:solidFill>
                  <a:schemeClr val="tx2"/>
                </a:solidFill>
              </a:rPr>
              <a:t>Trust store drift, stale CRLs and hardening regressions</a:t>
            </a:r>
            <a:endParaRPr lang="en-US" sz="1400" dirty="0"/>
          </a:p>
          <a:p>
            <a:pPr marL="342900" indent="-342900">
              <a:spcAft>
                <a:spcPts val="600"/>
              </a:spcAft>
              <a:buSzPct val="100000"/>
              <a:buChar char="•"/>
            </a:pPr>
            <a:r>
              <a:rPr lang="en-US" sz="1350" dirty="0">
                <a:solidFill>
                  <a:schemeClr val="tx2"/>
                </a:solidFill>
              </a:rPr>
              <a:t>Evidence kept at least weekly: assessors ask how long a finding stayed open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the grace period before a valid certificate becomes a compliance condition that can cut off access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(security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compliance check is turned 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CA/Browser Forum Baseline Requirements; Microsoft Learn — AD CS revocation and CRL publication; Intune custom compliance; NIST SP 800-53 Rev. 5. Book 07, Chapters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79CE71EC-7391-D960-EA3E-F76E5533E6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EB1DD5-2EB3-400D-871B-304C0BCBB01A}"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10"/>
    </mc:Choice>
    <mc:Fallback>
      <p:transition spd="slow" advTm="45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Retire AD CS last, CA by CA, with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sequence that starts with an amber gate pill: cutover complete, 30-day rollback window passed, and retained classes documented. Step 1, in slate: confirm no dependents, using the CLM inventory, the CA database and the Entra and Intune chains. Step 2, in slate: stop new issuance by removing templates from the CA, unlinking autoenrollment and denying pending requests. Step 3, in violet: back up and archive the CA database and key. Step 4, in amber: revoke outstanding certificates for cessation of operation, set the CRL lifetime past the last revoked certificate's expiry, and publish the final CRL. Step 5, in slate: uninstall the role services, with NDES, enrollment web services and web enrollment before the CA. Step 6, in red: clean up trust by removing the CA from the Entra trust store, Intune trusted certificate profiles, NTAuthCertificates and the CLM platform. Step 7, in green: keep the CDP and AIA endpoints serving until the last certificate expires, then remove the Active Directory objects and the database and record the decommission. A side note in amber says that under BYOCA, the root and any CA that signed the Cloud PKI issuing CA stay."/>
          <p:cNvPicPr>
            <a:picLocks noChangeAspect="1"/>
          </p:cNvPicPr>
          <p:nvPr/>
        </p:nvPicPr>
        <p:blipFill>
          <a:blip r:embed="rId5"/>
          <a:stretch>
            <a:fillRect/>
          </a:stretch>
        </p:blipFill>
        <p:spPr>
          <a:xfrm>
            <a:off x="574174" y="1371600"/>
            <a:ext cx="2509252" cy="3291840"/>
          </a:xfrm>
          <a:prstGeom prst="rect">
            <a:avLst/>
          </a:prstGeom>
        </p:spPr>
      </p:pic>
      <p:sp>
        <p:nvSpPr>
          <p:cNvPr id="6" name="Retire box">
            <a:extLst>
              <a:ext uri="{C183D7F6-B498-43B3-948B-1728B52AA6E4}">
                <adec:decorative xmlns:adec="http://schemas.microsoft.com/office/drawing/2017/decorative" val="1"/>
              </a:ext>
            </a:extLst>
          </p:cNvPr>
          <p:cNvSpPr/>
          <p:nvPr/>
        </p:nvSpPr>
        <p:spPr>
          <a:xfrm>
            <a:off x="3291840" y="1371600"/>
            <a:ext cx="836676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DoorClosed">
            <a:extLst>
              <a:ext uri="{C183D7F6-B498-43B3-948B-1728B52AA6E4}">
                <adec:decorative xmlns:adec="http://schemas.microsoft.com/office/drawing/2017/decorative" val="1"/>
              </a:ext>
            </a:extLst>
          </p:cNvPr>
          <p:cNvSpPr/>
          <p:nvPr/>
        </p:nvSpPr>
        <p:spPr>
          <a:xfrm>
            <a:off x="352044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52114" y="1649578"/>
            <a:ext cx="285293" cy="285293"/>
          </a:xfrm>
          <a:prstGeom prst="rect">
            <a:avLst/>
          </a:prstGeom>
        </p:spPr>
      </p:pic>
      <p:sp>
        <p:nvSpPr>
          <p:cNvPr id="9" name="Retire head"/>
          <p:cNvSpPr txBox="1"/>
          <p:nvPr/>
        </p:nvSpPr>
        <p:spPr>
          <a:xfrm>
            <a:off x="4206240" y="1517904"/>
            <a:ext cx="736092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What retirement takes</a:t>
            </a:r>
            <a:endParaRPr lang="en-US" sz="1700" dirty="0"/>
          </a:p>
        </p:txBody>
      </p:sp>
      <p:sp>
        <p:nvSpPr>
          <p:cNvPr id="10" name="Retire list"/>
          <p:cNvSpPr txBox="1"/>
          <p:nvPr/>
        </p:nvSpPr>
        <p:spPr>
          <a:xfrm>
            <a:off x="3520440" y="2194560"/>
            <a:ext cx="8001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Gate: cutover done, 30-day rollback window passed, retained classes running</a:t>
            </a:r>
            <a:endParaRPr lang="en-US" sz="1400" dirty="0"/>
          </a:p>
          <a:p>
            <a:pPr marL="342900" indent="-342900">
              <a:spcAft>
                <a:spcPts val="600"/>
              </a:spcAft>
              <a:buSzPct val="100000"/>
              <a:buChar char="•"/>
            </a:pPr>
            <a:r>
              <a:rPr lang="en-US" sz="1350" dirty="0">
                <a:solidFill>
                  <a:schemeClr val="tx2"/>
                </a:solidFill>
              </a:rPr>
              <a:t>CRL and AIA endpoints keep serving until the last certificate expires</a:t>
            </a:r>
            <a:endParaRPr lang="en-US" sz="1400" dirty="0"/>
          </a:p>
          <a:p>
            <a:pPr marL="342900" indent="-342900">
              <a:spcAft>
                <a:spcPts val="600"/>
              </a:spcAft>
              <a:buSzPct val="100000"/>
              <a:buChar char="•"/>
            </a:pPr>
            <a:r>
              <a:rPr lang="en-US" sz="1350" dirty="0">
                <a:solidFill>
                  <a:schemeClr val="tx2"/>
                </a:solidFill>
              </a:rPr>
              <a:t>Under BYOCA, the root that signed the cloud CA stays</a:t>
            </a:r>
            <a:endParaRPr lang="en-US" sz="1400" dirty="0"/>
          </a:p>
          <a:p>
            <a:pPr marL="342900" indent="-342900">
              <a:spcAft>
                <a:spcPts val="600"/>
              </a:spcAft>
              <a:buSzPct val="100000"/>
              <a:buChar char="•"/>
            </a:pPr>
            <a:r>
              <a:rPr lang="en-US" sz="1350" dirty="0">
                <a:solidFill>
                  <a:schemeClr val="tx2"/>
                </a:solidFill>
              </a:rPr>
              <a:t>CA records kept 7½ to 20½ years (NARA GRS 3.2); the records officer signs off</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each CA's retirement only after its gate passes; domain controllers keep one AD CS CA until the last of them retires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Per CA, after Wave 5</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Decommission an enterprise CA (KB 889250); Operate certificate revocation and CRL publication; NARA GRS 3.2, items 060–062. Book 07, Chapters 05, 07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A3F9D79-2905-5907-3079-B4CACA7440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3D9C9FC-E6E8-4387-9999-F85F1567B8DD}"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30"/>
    </mc:Choice>
    <mc:Fallback>
      <p:transition spd="slow" advTm="47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12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Risks that turn into outages or findings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isk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UserClock">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Risk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Expiry</a:t>
            </a:r>
            <a:endParaRPr lang="en-US" sz="1700" dirty="0"/>
          </a:p>
        </p:txBody>
      </p:sp>
      <p:sp>
        <p:nvSpPr>
          <p:cNvPr id="9" name="Ris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certificate nobody owned</a:t>
            </a:r>
            <a:endParaRPr lang="en-US" sz="1400" dirty="0"/>
          </a:p>
          <a:p>
            <a:pPr marL="342900" indent="-342900">
              <a:spcAft>
                <a:spcPts val="600"/>
              </a:spcAft>
              <a:buSzPct val="100000"/>
              <a:buChar char="•"/>
            </a:pPr>
            <a:r>
              <a:rPr lang="en-US" sz="1350" dirty="0">
                <a:solidFill>
                  <a:schemeClr val="tx2"/>
                </a:solidFill>
              </a:rPr>
              <a:t>Certificates in no inventory</a:t>
            </a:r>
            <a:endParaRPr lang="en-US" sz="1400" dirty="0"/>
          </a:p>
          <a:p>
            <a:pPr marL="342900" indent="-342900">
              <a:spcAft>
                <a:spcPts val="600"/>
              </a:spcAft>
              <a:buSzPct val="100000"/>
              <a:buChar char="•"/>
            </a:pPr>
            <a:r>
              <a:rPr lang="en-US" sz="1350" dirty="0">
                <a:solidFill>
                  <a:schemeClr val="tx2"/>
                </a:solidFill>
              </a:rPr>
              <a:t>Enrollment servers' own certificates lapsing</a:t>
            </a:r>
            <a:endParaRPr lang="en-US" sz="1400" dirty="0"/>
          </a:p>
        </p:txBody>
      </p:sp>
      <p:sp>
        <p:nvSpPr>
          <p:cNvPr id="10" name="Risk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PlugCircleXmark">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Risk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Revocation</a:t>
            </a:r>
            <a:endParaRPr lang="en-US" sz="1700" dirty="0"/>
          </a:p>
        </p:txBody>
      </p:sp>
      <p:sp>
        <p:nvSpPr>
          <p:cNvPr id="14" name="Ris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CRL Entra can't reach fails every sign-in for that CA</a:t>
            </a:r>
            <a:endParaRPr lang="en-US" sz="1400" dirty="0"/>
          </a:p>
          <a:p>
            <a:pPr marL="342900" indent="-342900">
              <a:spcAft>
                <a:spcPts val="600"/>
              </a:spcAft>
              <a:buSzPct val="100000"/>
              <a:buChar char="•"/>
            </a:pPr>
            <a:r>
              <a:rPr lang="en-US" sz="1350" dirty="0">
                <a:solidFill>
                  <a:schemeClr val="tx2"/>
                </a:solidFill>
              </a:rPr>
              <a:t>A CA trusted with no CRL lets revoked certificates work</a:t>
            </a:r>
            <a:endParaRPr lang="en-US" sz="1400" dirty="0"/>
          </a:p>
          <a:p>
            <a:pPr marL="342900" indent="-342900">
              <a:spcAft>
                <a:spcPts val="600"/>
              </a:spcAft>
              <a:buSzPct val="100000"/>
              <a:buChar char="•"/>
            </a:pPr>
            <a:r>
              <a:rPr lang="en-US" sz="1350" dirty="0">
                <a:solidFill>
                  <a:schemeClr val="tx2"/>
                </a:solidFill>
              </a:rPr>
              <a:t>Old CRL addresses removed too early</a:t>
            </a:r>
            <a:endParaRPr lang="en-US" sz="1400" dirty="0"/>
          </a:p>
        </p:txBody>
      </p:sp>
      <p:sp>
        <p:nvSpPr>
          <p:cNvPr id="15" name="Risk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Lock">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Risk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Trust</a:t>
            </a:r>
            <a:endParaRPr lang="en-US" sz="1700" dirty="0"/>
          </a:p>
        </p:txBody>
      </p:sp>
      <p:sp>
        <p:nvSpPr>
          <p:cNvPr id="19" name="Ris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Weak bindings let a same-name certificate sign in</a:t>
            </a:r>
            <a:endParaRPr lang="en-US" sz="1400" dirty="0"/>
          </a:p>
          <a:p>
            <a:pPr marL="342900" indent="-342900">
              <a:spcAft>
                <a:spcPts val="600"/>
              </a:spcAft>
              <a:buSzPct val="100000"/>
              <a:buChar char="•"/>
            </a:pPr>
            <a:r>
              <a:rPr lang="en-US" sz="1350" dirty="0">
                <a:solidFill>
                  <a:schemeClr val="tx2"/>
                </a:solidFill>
              </a:rPr>
              <a:t>The cloud CA inherits the old hierarchy's flaws</a:t>
            </a:r>
            <a:endParaRPr lang="en-US" sz="1400" dirty="0"/>
          </a:p>
          <a:p>
            <a:pPr marL="342900" indent="-342900">
              <a:spcAft>
                <a:spcPts val="600"/>
              </a:spcAft>
              <a:buSzPct val="100000"/>
              <a:buChar char="•"/>
            </a:pPr>
            <a:r>
              <a:rPr lang="en-US" sz="1350" dirty="0">
                <a:solidFill>
                  <a:schemeClr val="tx2"/>
                </a:solidFill>
              </a:rPr>
              <a:t>ACME can't run with FIPS mode on (vendor guide)</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Accept each standing exception explicitly: a CA trusted without a working CRL, a low-affinity binding, a CRL kept past policy</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As each is raised</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CBA CRL; NDES enrollment agent renewal; CyberArk Certificate Manager, Self-Hosted 26.1 installation guide. Book 07, Chapters 03–06 and 08.</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97260322-C8C3-BE4E-FB31-D52BF98E7B4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A75B25-B884-470E-8D3F-2637BDEAAC5D}"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580"/>
    </mc:Choice>
    <mc:Fallback>
      <p:transition spd="slow" advTm="47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58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Run the move off AD CS as its own program, by expiry dates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Set lifetimes by policy; automate renewal for every 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Mar 15, 2027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Classify every template, each with a named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PKI and CA admins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Wave 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Hold the hardening gate: Critical and High fixed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PKI owner; security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Wave 1 exit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Adopt four issuers; anchor the cloud CA to the existing root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Wave 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Run the offline root's CRL as a production 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PKI and CA admins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the signing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Self-hosted lifecycle platform inside the boundary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servers onboard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High-affinity bindings; weaker ones to the 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 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CBA scales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renewal owner per certificate 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servers onboard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Four permission systems, one access model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Wave 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Approve each wave's exit gate; rehearse its rollback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Each gate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Grace period before certificate-based compliance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turning it 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Retire each CA only after its gate passes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 CA, after Wave 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5603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Accept each standing exception explicitly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As each is raised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sp>
        <p:nvSpPr>
          <p:cNvPr id="6" name="Close line"/>
          <p:cNvSpPr txBox="1"/>
          <p:nvPr/>
        </p:nvSpPr>
        <p:spPr>
          <a:xfrm>
            <a:off x="548640" y="5486400"/>
            <a:ext cx="11109960" cy="457200"/>
          </a:xfrm>
          <a:prstGeom prst="rect">
            <a:avLst/>
          </a:prstGeom>
          <a:noFill/>
          <a:ln/>
        </p:spPr>
        <p:txBody>
          <a:bodyPr wrap="square" lIns="0" tIns="0" rIns="0" bIns="0" rtlCol="0" anchor="ctr"/>
          <a:lstStyle/>
          <a:p>
            <a:pPr marL="0" indent="0" algn="ctr">
              <a:buNone/>
            </a:pPr>
            <a:r>
              <a:rPr lang="en-US" sz="1600" b="1" dirty="0">
                <a:solidFill>
                  <a:srgbClr val="B45309"/>
                </a:solidFill>
              </a:rPr>
              <a:t>Certificates fail on their own clock.  </a:t>
            </a:r>
            <a:r>
              <a:rPr lang="en-US" sz="1600" dirty="0">
                <a:solidFill>
                  <a:schemeClr val="tx2"/>
                </a:solidFill>
              </a:rPr>
              <a:t>Own the issuer, renew without people, and retire AD CS last.</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07, Chapters 01–08; owners from Chapter 05's responsibility matrix; timings marked in the notes as planning figures or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EF30AE1-E632-E537-187E-6333CEE6BD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D33D5A-EC55-4CCE-A461-D498A8710FC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660"/>
    </mc:Choice>
    <mc:Fallback>
      <p:transition spd="slow" advTm="51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8571</Words>
  <Application>Microsoft Office PowerPoint</Application>
  <PresentationFormat>Widescreen</PresentationFormat>
  <Paragraphs>377</Paragraphs>
  <Slides>18</Slides>
  <Notes>18</Notes>
  <HiddenSlides>0</HiddenSlides>
  <MMClips>18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Federal Modernization Workbook</vt:lpstr>
      <vt:lpstr>PKI &amp; Certificates: the executive briefing</vt:lpstr>
      <vt:lpstr>A certificate keeps working after its directory moves</vt:lpstr>
      <vt:lpstr>Two clocks: cutover dates and expiry dates</vt:lpstr>
      <vt:lpstr>Lifetimes are shrinking on a fixed public schedule</vt:lpstr>
      <vt:lpstr>First, inventory what AD CS actually holds up</vt:lpstr>
      <vt:lpstr>Harden what stays before anything migrates</vt:lpstr>
      <vt:lpstr>The target is four issuers, not one replacement</vt:lpstr>
      <vt:lpstr>Anchor to the existing root, and keep its CRL alive</vt:lpstr>
      <vt:lpstr>Servers renew through one lifecycle platform</vt:lpstr>
      <vt:lpstr>PIV and certificate sign-in: trust, not issue</vt:lpstr>
      <vt:lpstr>No one decided who owns the CA; now name one per row</vt:lpstr>
      <vt:lpstr>Four permission systems, one access model</vt:lpstr>
      <vt:lpstr>Six gated waves, each with a tested rollback</vt:lpstr>
      <vt:lpstr>Coexistence: both PKIs are production</vt:lpstr>
      <vt:lpstr>Monitoring turns expiries into signals, not outages</vt:lpstr>
      <vt:lpstr>Retire AD CS last, CA by CA, with evidence</vt:lpstr>
      <vt:lpstr>Risks that turn into outages or findings</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07 — PKI &amp; Certificates</dc:title>
  <dc:subject>PptxGenJS Presentation</dc:subject>
  <dc:creator>Michael F. Stratton</dc:creator>
  <cp:lastModifiedBy>Michael F. Stratton</cp:lastModifiedBy>
  <cp:revision>2</cp:revision>
  <dcterms:created xsi:type="dcterms:W3CDTF">2026-10-27T10:05:04Z</dcterms:created>
  <dcterms:modified xsi:type="dcterms:W3CDTF">2026-10-29T11:56:40Z</dcterms:modified>
</cp:coreProperties>
</file>