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database" id="{577C0D89-DE8C-4AC7-E0BE-D6E4F0076440}">
          <p14:sldIdLst>
            <p14:sldId id="256"/>
            <p14:sldId id="257"/>
            <p14:sldId id="258"/>
          </p14:sldIdLst>
        </p14:section>
        <p14:section name="What changes" id="{F3E21540-3526-D82F-95D2-FA40ACC66253}">
          <p14:sldIdLst>
            <p14:sldId id="259"/>
            <p14:sldId id="260"/>
            <p14:sldId id="261"/>
          </p14:sldIdLst>
        </p14:section>
        <p14:section name="Who owns it" id="{E1782838-554D-3E94-3F9A-3CCEEE7C887C}">
          <p14:sldIdLst>
            <p14:sldId id="262"/>
          </p14:sldIdLst>
        </p14:section>
        <p14:section name="How to do it" id="{4B7C7AAC-7979-23BF-F0FD-305F71CEEDF5}">
          <p14:sldIdLst>
            <p14:sldId id="263"/>
            <p14:sldId id="264"/>
            <p14:sldId id="265"/>
            <p14:sldId id="266"/>
          </p14:sldIdLst>
        </p14:section>
        <p14:section name="Backup" id="{AA201502-95BE-DB09-5ADC-A7E7220B5B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41561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[0:00–0:26]  This briefing comes from Book 06 of the Federal Modernization Workbook: the SQL Server estate's move from Windows Authentication to cloud identity.
Every identity program eventually reaches the database, and the database is where it finds the most Windows authentication still in use. I'll take it through why that is, what replaces it, who owns the work, and how to do it, from the estate inventory to a closure condition you can keep proving.
Workbook: Book 06,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[0:26–1:34]  Why is the database where legacy authentication hides? Because SQL Server trusts whatever Windows tells it.
A connection reaches the engine in one of four ways. Kerberos, when the service principal name is right. NTLM, silently, when the SPN is missing. A SQL login, where the engine checks a password itself. Or Microsoft Entra authentication, which is the only one Conditional Access ever sees.
Three facts make the inheritance hard to see. Windows Authentication can't be turned off in SQL Server, because the engine delegates it to the Windows security subsystem. Which protocol a connection used isn't written to any log; it shows only in a dynamic management view, sys.dm_exec_connections. And local connections use NTLM even when the SPN is right, while an SPN registered on the wrong account makes the login fail outright.
The book is careful about one thing: Windows Authentication was good engineering for a domain-joined estate. The case for replacing it rests on that world no longer existing, not on calling it a mistake.
Workbook: Book 06, Chapter 01 — What Windows Authentication Actually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[1:34–2:59]  Three drivers make the inheritance end.
First, NTLM elimination. Microsoft deprecated all versions of NTLM in June 2024 and plans to disable it by default in a future Windows release. The program sets its own backstop, April 1, 2027, for the domain-wide block.
Second, Zero Trust in the authentication path. OMB M-22-09 puts phishing-resistant MFA and the Entra identity plane in front of human access, and Windows Authentication bypasses both.
Third, service-account credentials. The directory modernization in Book 02 ends the domain-joined world those service accounts depend on.
The book is precise about 2027. There's no external NTLM deadline; Microsoft hasn't dated the disable-by-default step. The dates that are real are support dates: SQL Server 2016 went out of support in July 2026, Windows Server 2016 follows in January 2027, the last SQL Server 2014 extended-security year ends in July 2027, and SQL Server 2017 goes out of support in October 2027. SQL Server 2014 and 2017 can't use Entra authentication at all, so they reach the closed state only by upgrade or retirement.
Workbook: Book 06, Chapter 02 — Why the Inheritance Must End; Chapter 21 — What Done Looks Like.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[2:59–4:02]  What changes starts with the estate itself. Before touching authentication, every instance gets one of three verdicts.
Retain: it's supported or can be upgraded in place to SQL Server 2022 or later, it carries load-bearing work, and nothing argues for collapsing it. Consolidate: its workload moves into a target platform and the old instance retires. Retire: there's no live workload, so it's decommissioned instead of migrated.
The inventory has to cover the whole forest. The setspn tool needs its -F switch to search beyond a single domain. Usage, versions and dependencies are read together, and the book warns that index-usage counters reset when SQL Server restarts, so they can't prove disuse on their own. And the assessment uses the migration component in SQL Server Management Studio, because Microsoft retired the Data Migration Assistant in July 2025.
This is the gate for the whole program. Migrating an instance that should have been retired is the most expensive mistake it can make.
Workbook: Book 06, Chapters 03 to 06; Runbook R02.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[4:02–5:14]  What replaces the domain join? Azure Arc gives each instance an Entra identity.
On SQL Server 2025, that's the Arc managed identity. On SQL Server 2022, it's an app registration with a certificate. The Azure extension for SQL Server installs automatically when the host connects to Arc, and Entra connections are always encrypted.
The limits matter, and the old documents missed several. Failover cluster instances can't use Entra authentication on any version. Entra authentication through Arc isn't available in the US Government Virginia region, so a GCC tenant uses a commercial subscription in the same tenant; the old runbook's Azure Government setup would never have produced Entra logins. FIDO2 isn't supported for SQL Server on Arc. And granting the instance identity its Graph permissions needs a Privileged Role Administrator, so that step can't sit with the DBAs.
Arc is the program's chosen path, not the only one: Microsoft documents a manual setup for SQL Server 2022 and later on Windows. Arc wins because it also carries inventory, policy, updates and Defender for the host, which is Book 05.
Workbook: Book 06, Chapters 09 and 10; Runbook R04.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[5:14–6:15]  The logins themselves move to Entra principals, in parallel.
People become Entra users, ideally granted through groups, and they get phishing-resistant MFA and Conditional Access. Groups become Entra group logins, which SQL Server records as type X, with membership driven by HR attributes from Book 03. Applications become service principals and managed identities, and the book is clear that Conditional Access doesn't cover managed identities.
The migration is a parallel run. Create the Entra user beside the Windows user and copy its roles and permissions. Keep both until the audit shows no remaining Windows sessions, then disable the old one. Never convert in one step; and the old runbook's shortcut, ALTER USER with LOGIN, only converts on Azure SQL Managed Instance, not on SQL Server.
One trap: the instance's Entra administrator becomes sysadmin, and changing that administrator leaves the old login as sysadmin until a DBA drops it.
Workbook: Book 06, Chapters 11 and 12; Runbook R05.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[6:15–7:20]  Who owns it? The book's new Chapter 13 separates deciding from doing.
Deciding: the CIO and data leadership decide retain, consolidate or retire. The CISO, the ISSO and the authorizing official decide NTLM and SQL-login exceptions and sign off closure. Application and data owners decide the cutover window for each application.
Doing: the data platform team runs logins, roles, the audit and the parallel run. The identity team creates Entra logins and groups and grants the Graph consent the DBAs can't. The server team onboards hosts to Arc.
Supporting: developers change connection strings and drivers, the help desk handles sign-in issues during cutover, and security operations watches Defender for SQL alerts.
And there are hidden administrators. Azure Contributor on an Arc server is an indirect administrator of SQL Server on that host, and Owner or Contributor on the SQL resource can switch SQL authentication back on. Azure role assignments need the same care as sysadmin.
Workbook: Book 06, Chapter 13 — Who Owns the Data Platform.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[7:20–8:32]  How. NTLM is eliminated in three phases.
Phase A discovers: the authentication audit, together with Windows NTLM logging and auditing events. Phase B restricts: fix SPNs, convert connections to Kerberos or Entra, and migrate the remaining patterns. Phase C eliminates: the domain-wide Restrict NTLM block, on the program's April 2027 backstop.
The details matter. LAN Manager authentication level five refuses LM and NTLM version one but still accepts version two, so it isn't an NTLM block; the block is the Restrict NTLM policies. Their exceptions are lists of server names on clients and domain controllers, not the program's exception registry. And Microsoft's October 2026 change blocks NTLM-version-one-derived single sign-on credentials for Wi-Fi and VPN; it doesn't touch SQL Server traffic.
The fastest exit is migration itself. An instance whose logins have moved to Entra ID isn't affected by the block, so login migration and NTLM elimination are the same work.
Workbook: Book 06, Chapters 14 and 15; Runbook R06.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[8:32–9:38]  With the logins moved, access is granted by attribute and applications move by driver.
Access control: dynamic Entra groups, driven by HR attributes, grant database access, so no DBA provisions it by hand. Administrative units delegate group management, privileged database roles go through PIM from Book 04, and reviews cover the groups, not just the logins.
The application chain: the book sorts SQL-consuming applications into four classes, each with its own migration path. Connection strings name a specific Entra authentication mode in production rather than the catch-all default. Microsoft.Data.SqlClient, ODBC, OLE DB and JDBC all support Entra modes, and the book has a driver table with the minimum versions. Managed identities on Arc hosts get their tokens from the local agent service.
The last mile is the connection string. Every application that still says Integrated Security keeps the Windows path alive, so the application inventory is part of closure, not a follow-up.
Workbook: Book 06, Chapters 16 to 19; Runbooks R07 and R08.</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[9:38–10:50]  The book's last idea is that a transformation doesn't complete; it achieves a posture, and a posture is something you keep proving.
The closed state has five conditions that hold together: every in-scope instance on Entra-only authentication; no SQL logins outside approved exceptions; no NTLM sessions in the continuous audit, counting remote sessions, because local ones always show NTLM; any drift, such as an administrator switching back to mixed mode, detected and treated as a violation; and evidence regenerated from SQL Server Audit and the auth_scheme field, not assembled into a binder.
One correction matters for assessors. Entra sign-in logs can't prove per-instance access or the absence of NTLM, because every SQL resource shares one token audience. The proof has to come from the instance itself.
And there's a certificate layer underneath. SQL Server's TLS certificates still come from Active Directory Certificate Services in most estates. Microsoft Cloud PKI issues only to Intune-managed devices, and Intune doesn't manage Windows Server, so the server-certificate issuer is its own decision.
Workbook: Book 06, Chapters 20 to 22; Runbooks R09 and R10.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[10:50–11:53]  So, four asks.
Run the inventory and the gate: a retain, consolidate or retire verdict for every instance before any authentication work starts.
Fund the Arc bridge: a commercial subscription in the GCC tenant, with SQL Server 2022 or later as the target.
Plan the support dates: upgrade or retire the 2014, 2016 and 2017 instances on their real dates, because they can't use Entra authentication.
And decide the certificate issuer: the Active Directory Certificate Services dependency for server TLS needs its own answer.
The database is where legacy authentication hides longest. Bringing it into Entra ID is what lets Conditional Access, phishing-resistant authentication and continuous evidence finally reach the data.
Book 06 has the narrative and ten runbooks, with every external claim footnoted. Book 05 covers Arc on servers, and Book 04 the access policy it plugs into. Thank you.
Workbook: Book 06, index.</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06 Data Platform: SQL Server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11.xml"/><Relationship Id="rId9" Type="http://schemas.openxmlformats.org/officeDocument/2006/relationships/image" Target="../media/image20.png"/><Relationship Id="rId11"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the Database Where Legacy Authentication Hides?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06 — Data Platform: SQL Server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2FFEF31B-4223-CDFE-0DB8-26B81FBA10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C25980-5B9A-422A-B522-3BF4ADE53DB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70"/>
    </mc:Choice>
    <mc:Fallback>
      <p:transition spd="slow" advTm="40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1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SQL Server trusts whatever Windows tells 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Ways head"/>
          <p:cNvSpPr txBox="1"/>
          <p:nvPr/>
        </p:nvSpPr>
        <p:spPr>
          <a:xfrm>
            <a:off x="548640" y="141732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FOUR WAYS A CONNECTION REACHES THE ENGINE</a:t>
            </a:r>
            <a:endParaRPr lang="en-US" sz="1200" dirty="0"/>
          </a:p>
        </p:txBody>
      </p:sp>
      <p:sp>
        <p:nvSpPr>
          <p:cNvPr id="6" name="Way 0">
            <a:extLst>
              <a:ext uri="{C183D7F6-B498-43B3-948B-1728B52AA6E4}">
                <adec:decorative xmlns:adec="http://schemas.microsoft.com/office/drawing/2017/decorative" val="1"/>
              </a:ext>
            </a:extLst>
          </p:cNvPr>
          <p:cNvSpPr/>
          <p:nvPr/>
        </p:nvSpPr>
        <p:spPr>
          <a:xfrm>
            <a:off x="548640" y="1783080"/>
            <a:ext cx="265176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Way 0 text"/>
          <p:cNvSpPr txBox="1"/>
          <p:nvPr/>
        </p:nvSpPr>
        <p:spPr>
          <a:xfrm>
            <a:off x="731520" y="1920240"/>
            <a:ext cx="2286000" cy="1280160"/>
          </a:xfrm>
          <a:prstGeom prst="rect">
            <a:avLst/>
          </a:prstGeom>
          <a:noFill/>
          <a:ln/>
        </p:spPr>
        <p:txBody>
          <a:bodyPr wrap="square" lIns="0" tIns="0" rIns="0" bIns="0" rtlCol="0" anchor="t"/>
          <a:lstStyle/>
          <a:p>
            <a:pPr marL="0" indent="0">
              <a:buNone/>
            </a:pPr>
            <a:r>
              <a:rPr lang="en-US" sz="1900" b="1" dirty="0">
                <a:solidFill>
                  <a:srgbClr val="64748B"/>
                </a:solidFill>
                <a:latin typeface="Cambria" pitchFamily="34" charset="0"/>
                <a:ea typeface="Cambria" pitchFamily="34" charset="-122"/>
                <a:cs typeface="Cambria" pitchFamily="34" charset="-120"/>
              </a:rPr>
              <a:t>Kerberos</a:t>
            </a:r>
            <a:endParaRPr lang="en-US" sz="1400" dirty="0"/>
          </a:p>
          <a:p>
            <a:pPr marL="0" indent="0">
              <a:buNone/>
            </a:pPr>
            <a:r>
              <a:rPr lang="en-US" sz="1450" dirty="0">
                <a:solidFill>
                  <a:schemeClr val="tx2"/>
                </a:solidFill>
              </a:rPr>
              <a:t>When the SPN is right</a:t>
            </a:r>
            <a:endParaRPr lang="en-US" sz="1400" dirty="0"/>
          </a:p>
        </p:txBody>
      </p:sp>
      <p:sp>
        <p:nvSpPr>
          <p:cNvPr id="8" name="Way 1">
            <a:extLst>
              <a:ext uri="{C183D7F6-B498-43B3-948B-1728B52AA6E4}">
                <adec:decorative xmlns:adec="http://schemas.microsoft.com/office/drawing/2017/decorative" val="1"/>
              </a:ext>
            </a:extLst>
          </p:cNvPr>
          <p:cNvSpPr/>
          <p:nvPr/>
        </p:nvSpPr>
        <p:spPr>
          <a:xfrm>
            <a:off x="3346704" y="1783080"/>
            <a:ext cx="2651760" cy="150876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9" name="Way 1 text"/>
          <p:cNvSpPr txBox="1"/>
          <p:nvPr/>
        </p:nvSpPr>
        <p:spPr>
          <a:xfrm>
            <a:off x="3529584" y="1920240"/>
            <a:ext cx="2286000" cy="128016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NTLM</a:t>
            </a:r>
            <a:endParaRPr lang="en-US" sz="1400" dirty="0"/>
          </a:p>
          <a:p>
            <a:pPr marL="0" indent="0">
              <a:buNone/>
            </a:pPr>
            <a:r>
              <a:rPr lang="en-US" sz="1450" dirty="0">
                <a:solidFill>
                  <a:schemeClr val="tx2"/>
                </a:solidFill>
              </a:rPr>
              <a:t>Silently, when the SPN is missing</a:t>
            </a:r>
            <a:endParaRPr lang="en-US" sz="1400" dirty="0"/>
          </a:p>
        </p:txBody>
      </p:sp>
      <p:sp>
        <p:nvSpPr>
          <p:cNvPr id="10" name="Way 2">
            <a:extLst>
              <a:ext uri="{C183D7F6-B498-43B3-948B-1728B52AA6E4}">
                <adec:decorative xmlns:adec="http://schemas.microsoft.com/office/drawing/2017/decorative" val="1"/>
              </a:ext>
            </a:extLst>
          </p:cNvPr>
          <p:cNvSpPr/>
          <p:nvPr/>
        </p:nvSpPr>
        <p:spPr>
          <a:xfrm>
            <a:off x="6144768" y="1783080"/>
            <a:ext cx="2651760" cy="150876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Way 2 text"/>
          <p:cNvSpPr txBox="1"/>
          <p:nvPr/>
        </p:nvSpPr>
        <p:spPr>
          <a:xfrm>
            <a:off x="6327648" y="1920240"/>
            <a:ext cx="2286000" cy="128016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SQL login</a:t>
            </a:r>
            <a:endParaRPr lang="en-US" sz="1400" dirty="0"/>
          </a:p>
          <a:p>
            <a:pPr marL="0" indent="0">
              <a:buNone/>
            </a:pPr>
            <a:r>
              <a:rPr lang="en-US" sz="1450" dirty="0">
                <a:solidFill>
                  <a:schemeClr val="tx2"/>
                </a:solidFill>
              </a:rPr>
              <a:t>A password the engine checks itself</a:t>
            </a:r>
            <a:endParaRPr lang="en-US" sz="1400" dirty="0"/>
          </a:p>
        </p:txBody>
      </p:sp>
      <p:sp>
        <p:nvSpPr>
          <p:cNvPr id="12" name="Way 3">
            <a:extLst>
              <a:ext uri="{C183D7F6-B498-43B3-948B-1728B52AA6E4}">
                <adec:decorative xmlns:adec="http://schemas.microsoft.com/office/drawing/2017/decorative" val="1"/>
              </a:ext>
            </a:extLst>
          </p:cNvPr>
          <p:cNvSpPr/>
          <p:nvPr/>
        </p:nvSpPr>
        <p:spPr>
          <a:xfrm>
            <a:off x="8942832" y="1783080"/>
            <a:ext cx="26517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Way 3 text"/>
          <p:cNvSpPr txBox="1"/>
          <p:nvPr/>
        </p:nvSpPr>
        <p:spPr>
          <a:xfrm>
            <a:off x="9125712" y="1920240"/>
            <a:ext cx="2286000" cy="1280160"/>
          </a:xfrm>
          <a:prstGeom prst="rect">
            <a:avLst/>
          </a:prstGeom>
          <a:noFill/>
          <a:ln/>
        </p:spPr>
        <p:txBody>
          <a:bodyPr wrap="square" lIns="0" tIns="0" rIns="0" bIns="0" rtlCol="0" anchor="t"/>
          <a:lstStyle/>
          <a:p>
            <a:pPr marL="0" indent="0">
              <a:buNone/>
            </a:pPr>
            <a:r>
              <a:rPr lang="en-US" sz="1900" b="1" dirty="0">
                <a:solidFill>
                  <a:srgbClr val="0F766E"/>
                </a:solidFill>
                <a:latin typeface="Cambria" pitchFamily="34" charset="0"/>
                <a:ea typeface="Cambria" pitchFamily="34" charset="-122"/>
                <a:cs typeface="Cambria" pitchFamily="34" charset="-120"/>
              </a:rPr>
              <a:t>Microsoft Entra</a:t>
            </a:r>
            <a:endParaRPr lang="en-US" sz="1400" dirty="0"/>
          </a:p>
          <a:p>
            <a:pPr marL="0" indent="0">
              <a:buNone/>
            </a:pPr>
            <a:r>
              <a:rPr lang="en-US" sz="1450" dirty="0">
                <a:solidFill>
                  <a:schemeClr val="tx2"/>
                </a:solidFill>
              </a:rPr>
              <a:t>The only path Conditional Access sees</a:t>
            </a:r>
            <a:endParaRPr lang="en-US" sz="1400" dirty="0"/>
          </a:p>
        </p:txBody>
      </p:sp>
      <p:sp>
        <p:nvSpPr>
          <p:cNvPr id="14" name="Facts"/>
          <p:cNvSpPr txBox="1"/>
          <p:nvPr/>
        </p:nvSpPr>
        <p:spPr>
          <a:xfrm>
            <a:off x="548640" y="347472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Windows Authentication can't be turned off in SQL Server — the engine delegates to the Windows security subsystem</a:t>
            </a:r>
            <a:endParaRPr lang="en-US" sz="1400" dirty="0"/>
          </a:p>
          <a:p>
            <a:pPr marL="342900" indent="-342900">
              <a:spcAft>
                <a:spcPts val="500"/>
              </a:spcAft>
              <a:buSzPct val="100000"/>
              <a:buChar char="•"/>
            </a:pPr>
            <a:r>
              <a:rPr lang="en-US" sz="1450" dirty="0">
                <a:solidFill>
                  <a:schemeClr val="tx2"/>
                </a:solidFill>
              </a:rPr>
              <a:t>Which protocol a connection used isn't logged; it shows only in sys.dm_exec_connections.auth_scheme</a:t>
            </a:r>
            <a:endParaRPr lang="en-US" sz="1400" dirty="0"/>
          </a:p>
          <a:p>
            <a:pPr marL="342900" indent="-342900">
              <a:spcAft>
                <a:spcPts val="500"/>
              </a:spcAft>
              <a:buSzPct val="100000"/>
              <a:buChar char="•"/>
            </a:pPr>
            <a:r>
              <a:rPr lang="en-US" sz="1450" dirty="0">
                <a:solidFill>
                  <a:schemeClr val="tx2"/>
                </a:solidFill>
              </a:rPr>
              <a:t>Local connections use NTLM even when the SPN is right; an SPN on the wrong account makes the login fail</a:t>
            </a:r>
            <a:endParaRPr lang="en-US" sz="1400" dirty="0"/>
          </a:p>
        </p:txBody>
      </p:sp>
      <p:sp>
        <p:nvSpPr>
          <p:cNvPr id="15" name="Good engineer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Lightbulb">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8" name="Good engineer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Good engineering, for a world that's gone: </a:t>
            </a:r>
            <a:r>
              <a:rPr lang="en-US" sz="1650" dirty="0">
                <a:solidFill>
                  <a:schemeClr val="tx2"/>
                </a:solidFill>
              </a:rPr>
              <a:t>Windows Authentication was the right design for a domain-joined estate. The case for replacing it rests on that world no longer existing, not on calling it a mistake.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authentication modes, SPNs for Kerberos, sys.dm_exec_connections. Book 06,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43AECCEE-B715-1EC3-E9B2-9452B85A16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DC9F88-D9A7-4651-BE7B-A47EAFF5E21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580"/>
    </mc:Choice>
    <mc:Fallback>
      <p:transition spd="slow" advTm="52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7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drivers, and what is really due in 2027</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PlugCircleXmark">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B91C1C"/>
          </a:solidFill>
          <a:ln w="12700">
            <a:solidFill>
              <a:srgbClr val="B91C1C"/>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Driver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B91C1C"/>
                </a:solidFill>
              </a:rPr>
              <a:t>NTLM elimination</a:t>
            </a:r>
            <a:endParaRPr lang="en-US" sz="1400" dirty="0"/>
          </a:p>
          <a:p>
            <a:pPr marL="0" indent="0">
              <a:buNone/>
            </a:pPr>
            <a:r>
              <a:rPr lang="en-US" sz="1400" dirty="0">
                <a:solidFill>
                  <a:schemeClr val="tx2"/>
                </a:solidFill>
              </a:rPr>
              <a:t>Microsoft deprecated all NTLM in June 2024 and plans to disable it by default; the program sets its own backstop: 2027-04-01.</a:t>
            </a:r>
            <a:endParaRPr lang="en-US" sz="1400" dirty="0"/>
          </a:p>
        </p:txBody>
      </p:sp>
      <p:sp>
        <p:nvSpPr>
          <p:cNvPr id="8" name="Icon FaShieldHalved">
            <a:extLst>
              <a:ext uri="{C183D7F6-B498-43B3-948B-1728B52AA6E4}">
                <adec:decorative xmlns:adec="http://schemas.microsoft.com/office/drawing/2017/decorative" val="1"/>
              </a:ext>
            </a:extLst>
          </p:cNvPr>
          <p:cNvSpPr/>
          <p:nvPr/>
        </p:nvSpPr>
        <p:spPr>
          <a:xfrm>
            <a:off x="548640" y="2496312"/>
            <a:ext cx="566928" cy="566928"/>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32375"/>
            <a:ext cx="294803" cy="294803"/>
          </a:xfrm>
          <a:prstGeom prst="rect">
            <a:avLst/>
          </a:prstGeom>
        </p:spPr>
      </p:pic>
      <p:sp>
        <p:nvSpPr>
          <p:cNvPr id="10" name="Driver 1"/>
          <p:cNvSpPr txBox="1"/>
          <p:nvPr/>
        </p:nvSpPr>
        <p:spPr>
          <a:xfrm>
            <a:off x="1280160" y="2450592"/>
            <a:ext cx="5120640" cy="932688"/>
          </a:xfrm>
          <a:prstGeom prst="rect">
            <a:avLst/>
          </a:prstGeom>
          <a:noFill/>
          <a:ln/>
        </p:spPr>
        <p:txBody>
          <a:bodyPr wrap="square" lIns="0" tIns="0" rIns="0" bIns="0" rtlCol="0" anchor="t"/>
          <a:lstStyle/>
          <a:p>
            <a:pPr marL="0" indent="0">
              <a:buNone/>
            </a:pPr>
            <a:r>
              <a:rPr lang="en-US" sz="1650" b="1" dirty="0">
                <a:solidFill>
                  <a:srgbClr val="1F2A44"/>
                </a:solidFill>
              </a:rPr>
              <a:t>Zero Trust in the path</a:t>
            </a:r>
            <a:endParaRPr lang="en-US" sz="1400" dirty="0"/>
          </a:p>
          <a:p>
            <a:pPr marL="0" indent="0">
              <a:buNone/>
            </a:pPr>
            <a:r>
              <a:rPr lang="en-US" sz="1400" dirty="0">
                <a:solidFill>
                  <a:schemeClr val="tx2"/>
                </a:solidFill>
              </a:rPr>
              <a:t>M-22-09 puts phishing-resistant MFA and the Entra identity plane in front of human access.</a:t>
            </a:r>
            <a:endParaRPr lang="en-US" sz="1400" dirty="0"/>
          </a:p>
        </p:txBody>
      </p:sp>
      <p:sp>
        <p:nvSpPr>
          <p:cNvPr id="11" name="Icon FaKey">
            <a:extLst>
              <a:ext uri="{C183D7F6-B498-43B3-948B-1728B52AA6E4}">
                <adec:decorative xmlns:adec="http://schemas.microsoft.com/office/drawing/2017/decorative" val="1"/>
              </a:ext>
            </a:extLst>
          </p:cNvPr>
          <p:cNvSpPr/>
          <p:nvPr/>
        </p:nvSpPr>
        <p:spPr>
          <a:xfrm>
            <a:off x="548640" y="3483864"/>
            <a:ext cx="566928" cy="566928"/>
          </a:xfrm>
          <a:prstGeom prst="ellipse">
            <a:avLst/>
          </a:prstGeom>
          <a:solidFill>
            <a:srgbClr val="0F766E"/>
          </a:solidFill>
          <a:ln w="12700">
            <a:solidFill>
              <a:srgbClr val="0F766E"/>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19927"/>
            <a:ext cx="294803" cy="294803"/>
          </a:xfrm>
          <a:prstGeom prst="rect">
            <a:avLst/>
          </a:prstGeom>
        </p:spPr>
      </p:pic>
      <p:sp>
        <p:nvSpPr>
          <p:cNvPr id="13" name="Driver 2"/>
          <p:cNvSpPr txBox="1"/>
          <p:nvPr/>
        </p:nvSpPr>
        <p:spPr>
          <a:xfrm>
            <a:off x="1280160" y="3438144"/>
            <a:ext cx="5120640" cy="932688"/>
          </a:xfrm>
          <a:prstGeom prst="rect">
            <a:avLst/>
          </a:prstGeom>
          <a:noFill/>
          <a:ln/>
        </p:spPr>
        <p:txBody>
          <a:bodyPr wrap="square" lIns="0" tIns="0" rIns="0" bIns="0" rtlCol="0" anchor="t"/>
          <a:lstStyle/>
          <a:p>
            <a:pPr marL="0" indent="0">
              <a:buNone/>
            </a:pPr>
            <a:r>
              <a:rPr lang="en-US" sz="1650" b="1" dirty="0">
                <a:solidFill>
                  <a:srgbClr val="0F766E"/>
                </a:solidFill>
              </a:rPr>
              <a:t>Service-account credentials</a:t>
            </a:r>
            <a:endParaRPr lang="en-US" sz="1400" dirty="0"/>
          </a:p>
          <a:p>
            <a:pPr marL="0" indent="0">
              <a:buNone/>
            </a:pPr>
            <a:r>
              <a:rPr lang="en-US" sz="1400" dirty="0">
                <a:solidFill>
                  <a:schemeClr val="tx2"/>
                </a:solidFill>
              </a:rPr>
              <a:t>The directory modernization ends the domain-joined world the service accounts depend 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External event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July 14, 2026</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SQL Server 2016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January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Windows Server 2016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July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Last SQL Server 2014 ESU year ends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October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SQL Server 2017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No deadlin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18" name="No deadlin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No external NTLM deadline: </a:t>
            </a:r>
            <a:r>
              <a:rPr lang="en-US" sz="1650" dirty="0">
                <a:solidFill>
                  <a:schemeClr val="tx2"/>
                </a:solidFill>
              </a:rPr>
              <a:t>Microsoft hasn't dated the disable-by-default step. The 2027 dates that are real are support dates — and SQL Server 2014 and 2017 can't use Entra authentication, so they close only by upgrade or retirement.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features (NTLM), SQL Server and Windows Server lifecycle; OMB M-22-09. Book 06, Chapters 02 and 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E5493B8-C1A7-A23A-EB00-74F11B6E63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6F3DDB-5543-47E2-80F7-2334C231E5F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40"/>
    </mc:Choice>
    <mc:Fallback>
      <p:transition spd="slow" advTm="64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3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Rationalize the estate before migrating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V 0">
            <a:extLst>
              <a:ext uri="{C183D7F6-B498-43B3-948B-1728B52AA6E4}">
                <adec:decorative xmlns:adec="http://schemas.microsoft.com/office/drawing/2017/decorative" val="1"/>
              </a:ext>
            </a:extLst>
          </p:cNvPr>
          <p:cNvSpPr/>
          <p:nvPr/>
        </p:nvSpPr>
        <p:spPr>
          <a:xfrm>
            <a:off x="548640" y="1417320"/>
            <a:ext cx="361188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V 0 text"/>
          <p:cNvSpPr txBox="1"/>
          <p:nvPr/>
        </p:nvSpPr>
        <p:spPr>
          <a:xfrm>
            <a:off x="777240" y="1554480"/>
            <a:ext cx="3154680" cy="1600200"/>
          </a:xfrm>
          <a:prstGeom prst="rect">
            <a:avLst/>
          </a:prstGeom>
          <a:noFill/>
          <a:ln/>
        </p:spPr>
        <p:txBody>
          <a:bodyPr wrap="square" lIns="0" tIns="0" rIns="0" bIns="0" rtlCol="0" anchor="t"/>
          <a:lstStyle/>
          <a:p>
            <a:pPr marL="0" indent="0">
              <a:buNone/>
            </a:pPr>
            <a:r>
              <a:rPr lang="en-US" sz="2100" b="1" dirty="0">
                <a:solidFill>
                  <a:srgbClr val="0F766E"/>
                </a:solidFill>
                <a:latin typeface="Cambria" pitchFamily="34" charset="0"/>
                <a:ea typeface="Cambria" pitchFamily="34" charset="-122"/>
                <a:cs typeface="Cambria" pitchFamily="34" charset="-120"/>
              </a:rPr>
              <a:t>Retain</a:t>
            </a:r>
            <a:endParaRPr lang="en-US" sz="1400" dirty="0"/>
          </a:p>
          <a:p>
            <a:pPr marL="0" indent="0">
              <a:buNone/>
            </a:pPr>
            <a:r>
              <a:rPr lang="en-US" sz="1450" dirty="0">
                <a:solidFill>
                  <a:schemeClr val="tx2"/>
                </a:solidFill>
              </a:rPr>
              <a:t>Supported or upgradable to 2022+, load-bearing, no reason to collapse it</a:t>
            </a:r>
            <a:endParaRPr lang="en-US" sz="1400" dirty="0"/>
          </a:p>
        </p:txBody>
      </p:sp>
      <p:sp>
        <p:nvSpPr>
          <p:cNvPr id="7" name="V 1">
            <a:extLst>
              <a:ext uri="{C183D7F6-B498-43B3-948B-1728B52AA6E4}">
                <adec:decorative xmlns:adec="http://schemas.microsoft.com/office/drawing/2017/decorative" val="1"/>
              </a:ext>
            </a:extLst>
          </p:cNvPr>
          <p:cNvSpPr/>
          <p:nvPr/>
        </p:nvSpPr>
        <p:spPr>
          <a:xfrm>
            <a:off x="4297680" y="1417320"/>
            <a:ext cx="361188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V 1 text"/>
          <p:cNvSpPr txBox="1"/>
          <p:nvPr/>
        </p:nvSpPr>
        <p:spPr>
          <a:xfrm>
            <a:off x="4526280" y="1554480"/>
            <a:ext cx="3154680" cy="1600200"/>
          </a:xfrm>
          <a:prstGeom prst="rect">
            <a:avLst/>
          </a:prstGeom>
          <a:noFill/>
          <a:ln/>
        </p:spPr>
        <p:txBody>
          <a:bodyPr wrap="square" lIns="0" tIns="0" rIns="0" bIns="0" rtlCol="0" anchor="t"/>
          <a:lstStyle/>
          <a:p>
            <a:pPr marL="0" indent="0">
              <a:buNone/>
            </a:pPr>
            <a:r>
              <a:rPr lang="en-US" sz="2100" b="1" dirty="0">
                <a:solidFill>
                  <a:srgbClr val="1F2A44"/>
                </a:solidFill>
                <a:latin typeface="Cambria" pitchFamily="34" charset="0"/>
                <a:ea typeface="Cambria" pitchFamily="34" charset="-122"/>
                <a:cs typeface="Cambria" pitchFamily="34" charset="-120"/>
              </a:rPr>
              <a:t>Consolidate</a:t>
            </a:r>
            <a:endParaRPr lang="en-US" sz="1400" dirty="0"/>
          </a:p>
          <a:p>
            <a:pPr marL="0" indent="0">
              <a:buNone/>
            </a:pPr>
            <a:r>
              <a:rPr lang="en-US" sz="1450" dirty="0">
                <a:solidFill>
                  <a:schemeClr val="tx2"/>
                </a:solidFill>
              </a:rPr>
              <a:t>Workload moves into a target platform; the old instance retires</a:t>
            </a:r>
            <a:endParaRPr lang="en-US" sz="1400" dirty="0"/>
          </a:p>
        </p:txBody>
      </p:sp>
      <p:sp>
        <p:nvSpPr>
          <p:cNvPr id="9" name="V 2">
            <a:extLst>
              <a:ext uri="{C183D7F6-B498-43B3-948B-1728B52AA6E4}">
                <adec:decorative xmlns:adec="http://schemas.microsoft.com/office/drawing/2017/decorative" val="1"/>
              </a:ext>
            </a:extLst>
          </p:cNvPr>
          <p:cNvSpPr/>
          <p:nvPr/>
        </p:nvSpPr>
        <p:spPr>
          <a:xfrm>
            <a:off x="8046720" y="1417320"/>
            <a:ext cx="361188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V 2 text"/>
          <p:cNvSpPr txBox="1"/>
          <p:nvPr/>
        </p:nvSpPr>
        <p:spPr>
          <a:xfrm>
            <a:off x="8275320" y="1554480"/>
            <a:ext cx="3154680" cy="1600200"/>
          </a:xfrm>
          <a:prstGeom prst="rect">
            <a:avLst/>
          </a:prstGeom>
          <a:noFill/>
          <a:ln/>
        </p:spPr>
        <p:txBody>
          <a:bodyPr wrap="square" lIns="0" tIns="0" rIns="0" bIns="0" rtlCol="0" anchor="t"/>
          <a:lstStyle/>
          <a:p>
            <a:pPr marL="0" indent="0">
              <a:buNone/>
            </a:pPr>
            <a:r>
              <a:rPr lang="en-US" sz="2100" b="1" dirty="0">
                <a:solidFill>
                  <a:srgbClr val="B91C1C"/>
                </a:solidFill>
                <a:latin typeface="Cambria" pitchFamily="34" charset="0"/>
                <a:ea typeface="Cambria" pitchFamily="34" charset="-122"/>
                <a:cs typeface="Cambria" pitchFamily="34" charset="-120"/>
              </a:rPr>
              <a:t>Retire</a:t>
            </a:r>
            <a:endParaRPr lang="en-US" sz="1400" dirty="0"/>
          </a:p>
          <a:p>
            <a:pPr marL="0" indent="0">
              <a:buNone/>
            </a:pPr>
            <a:r>
              <a:rPr lang="en-US" sz="1450" dirty="0">
                <a:solidFill>
                  <a:schemeClr val="tx2"/>
                </a:solidFill>
              </a:rPr>
              <a:t>No live workload: decommission instead of migrating</a:t>
            </a:r>
            <a:endParaRPr lang="en-US" sz="1400" dirty="0"/>
          </a:p>
        </p:txBody>
      </p:sp>
      <p:sp>
        <p:nvSpPr>
          <p:cNvPr id="11" name="Inventory"/>
          <p:cNvSpPr txBox="1"/>
          <p:nvPr/>
        </p:nvSpPr>
        <p:spPr>
          <a:xfrm>
            <a:off x="548640" y="342900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Inventory the whole forest — setspn needs -F to search beyond one domain</a:t>
            </a:r>
            <a:endParaRPr lang="en-US" sz="1400" dirty="0"/>
          </a:p>
          <a:p>
            <a:pPr marL="342900" indent="-342900">
              <a:spcAft>
                <a:spcPts val="500"/>
              </a:spcAft>
              <a:buSzPct val="100000"/>
              <a:buChar char="•"/>
            </a:pPr>
            <a:r>
              <a:rPr lang="en-US" sz="1450" dirty="0">
                <a:solidFill>
                  <a:schemeClr val="tx2"/>
                </a:solidFill>
              </a:rPr>
              <a:t>Read usage, versions and dependencies; index counters reset on restart, so they can't prove disuse alone</a:t>
            </a:r>
            <a:endParaRPr lang="en-US" sz="1400" dirty="0"/>
          </a:p>
          <a:p>
            <a:pPr marL="342900" indent="-342900">
              <a:spcAft>
                <a:spcPts val="500"/>
              </a:spcAft>
              <a:buSzPct val="100000"/>
              <a:buChar char="•"/>
            </a:pPr>
            <a:r>
              <a:rPr lang="en-US" sz="1450" dirty="0">
                <a:solidFill>
                  <a:schemeClr val="tx2"/>
                </a:solidFill>
              </a:rPr>
              <a:t>Use SQL Server Management Studio's migration component — the Data Migration Assistant was retired July 16, 2025</a:t>
            </a:r>
            <a:endParaRPr lang="en-US" sz="1400" dirty="0"/>
          </a:p>
        </p:txBody>
      </p:sp>
      <p:sp>
        <p:nvSpPr>
          <p:cNvPr id="12" name="Gat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5" name="Gat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The gate: </a:t>
            </a:r>
            <a:r>
              <a:rPr lang="en-US" sz="1650" dirty="0">
                <a:solidFill>
                  <a:schemeClr val="tx2"/>
                </a:solidFill>
              </a:rPr>
              <a:t>every instance gets one verdict before authentication work starts — migrating what should have been retired is the most expensive mistake in the program.</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setspn, index usage DMVs, SQL Server migration tooling. Book 06, Chapters 03–06 and Runbook R02.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331DD50D-C036-884F-02D8-C1CFC3F5F7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4E0034-9DE8-4651-BB3E-8BDDE82CCEA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860"/>
    </mc:Choice>
    <mc:Fallback>
      <p:transition spd="slow" advTm="5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86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Arc gives each instance an Entra identity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The bridge</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SQL Server 2025: the Arc managed identity</a:t>
            </a:r>
            <a:endParaRPr lang="en-US" sz="1400" dirty="0"/>
          </a:p>
          <a:p>
            <a:pPr marL="342900" indent="-342900">
              <a:spcAft>
                <a:spcPts val="700"/>
              </a:spcAft>
              <a:buSzPct val="100000"/>
              <a:buChar char="•"/>
            </a:pPr>
            <a:r>
              <a:rPr lang="en-US" sz="1450" dirty="0">
                <a:solidFill>
                  <a:schemeClr val="tx2"/>
                </a:solidFill>
              </a:rPr>
              <a:t>SQL Server 2022: an app registration and certificate</a:t>
            </a:r>
            <a:endParaRPr lang="en-US" sz="1400" dirty="0"/>
          </a:p>
          <a:p>
            <a:pPr marL="342900" indent="-342900">
              <a:spcAft>
                <a:spcPts val="700"/>
              </a:spcAft>
              <a:buSzPct val="100000"/>
              <a:buChar char="•"/>
            </a:pPr>
            <a:r>
              <a:rPr lang="en-US" sz="1450" dirty="0">
                <a:solidFill>
                  <a:schemeClr val="tx2"/>
                </a:solidFill>
              </a:rPr>
              <a:t>The Azure extension for SQL Server installs when the host connects</a:t>
            </a:r>
            <a:endParaRPr lang="en-US" sz="1400" dirty="0"/>
          </a:p>
          <a:p>
            <a:pPr marL="342900" indent="-342900">
              <a:spcAft>
                <a:spcPts val="700"/>
              </a:spcAft>
              <a:buSzPct val="100000"/>
              <a:buChar char="•"/>
            </a:pPr>
            <a:r>
              <a:rPr lang="en-US" sz="1450" dirty="0">
                <a:solidFill>
                  <a:schemeClr val="tx2"/>
                </a:solidFill>
              </a:rPr>
              <a:t>Entra connections are always encrypted</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TriangleExclamation">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The limits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Failover cluster instances can't use Entra authentication</a:t>
            </a:r>
            <a:endParaRPr lang="en-US" sz="1400" dirty="0"/>
          </a:p>
          <a:p>
            <a:pPr marL="342900" indent="-342900">
              <a:spcAft>
                <a:spcPts val="700"/>
              </a:spcAft>
              <a:buSzPct val="100000"/>
              <a:buChar char="•"/>
            </a:pPr>
            <a:r>
              <a:rPr lang="en-US" sz="1450" dirty="0">
                <a:solidFill>
                  <a:schemeClr val="tx2"/>
                </a:solidFill>
              </a:rPr>
              <a:t>Not available through Arc in US Gov Virginia — use a commercial subscription in the GCC tenant</a:t>
            </a:r>
            <a:endParaRPr lang="en-US" sz="1400" dirty="0"/>
          </a:p>
          <a:p>
            <a:pPr marL="342900" indent="-342900">
              <a:spcAft>
                <a:spcPts val="700"/>
              </a:spcAft>
              <a:buSzPct val="100000"/>
              <a:buChar char="•"/>
            </a:pPr>
            <a:r>
              <a:rPr lang="en-US" sz="1450" dirty="0">
                <a:solidFill>
                  <a:schemeClr val="tx2"/>
                </a:solidFill>
              </a:rPr>
              <a:t>FIDO2 isn't supported for SQL Server on Arc</a:t>
            </a:r>
            <a:endParaRPr lang="en-US" sz="1400" dirty="0"/>
          </a:p>
          <a:p>
            <a:pPr marL="342900" indent="-342900">
              <a:spcAft>
                <a:spcPts val="700"/>
              </a:spcAft>
              <a:buSzPct val="100000"/>
              <a:buChar char="•"/>
            </a:pPr>
            <a:r>
              <a:rPr lang="en-US" sz="1450" dirty="0">
                <a:solidFill>
                  <a:schemeClr val="tx2"/>
                </a:solidFill>
              </a:rPr>
              <a:t>Granting the identity's Graph permissions needs a Privileged Role Administrator</a:t>
            </a:r>
            <a:endParaRPr lang="en-US" sz="1400" dirty="0"/>
          </a:p>
        </p:txBody>
      </p:sp>
      <p:sp>
        <p:nvSpPr>
          <p:cNvPr id="15" name="Choic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Choic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Arc is the program's chosen path, not the only one: </a:t>
            </a:r>
            <a:r>
              <a:rPr lang="en-US" sz="1650" dirty="0">
                <a:solidFill>
                  <a:schemeClr val="tx2"/>
                </a:solidFill>
              </a:rPr>
              <a:t>Microsoft documents a manual setup for SQL Server 2022+ on Windows; Arc wins because it also carries inventory, policy, updates and Defender for the host (Book 05).</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Microsoft Entra authentication for SQL Server, SQL Server enabled by Azure Arc, Arc in Azure Government. Book 06, Chapters 09–10 and Runbook R04.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D381B98-CBCC-71C4-2121-9C553EFD0B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611C66-43EE-432B-AB27-D56AE0EC59C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380"/>
    </mc:Choice>
    <mc:Fallback>
      <p:transition spd="slow" advTm="60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37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Logins move to Entra principals, in parallel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Principal</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Becomes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Note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People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Entra users, ideally through groups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Phishing-resistant MFA, Conditional Access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Groups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Entra group logins (type X)</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Membership from HR attributes (Book 03)</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Applications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Service principals and managed identities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Not covered by Conditional Access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Parallel"/>
          <p:cNvSpPr txBox="1"/>
          <p:nvPr/>
        </p:nvSpPr>
        <p:spPr>
          <a:xfrm>
            <a:off x="548640" y="3703320"/>
            <a:ext cx="11109960" cy="914400"/>
          </a:xfrm>
          <a:prstGeom prst="rect">
            <a:avLst/>
          </a:prstGeom>
          <a:noFill/>
          <a:ln/>
        </p:spPr>
        <p:txBody>
          <a:bodyPr wrap="square" lIns="0" tIns="0" rIns="0" bIns="0" rtlCol="0" anchor="t"/>
          <a:lstStyle/>
          <a:p>
            <a:pPr marL="0" indent="0">
              <a:buNone/>
            </a:pPr>
            <a:r>
              <a:rPr lang="en-US" sz="1500" b="1" dirty="0">
                <a:solidFill>
                  <a:srgbClr val="0F766E"/>
                </a:solidFill>
              </a:rPr>
              <a:t>The parallel run: </a:t>
            </a:r>
            <a:r>
              <a:rPr lang="en-US" sz="1500" dirty="0">
                <a:solidFill>
                  <a:schemeClr val="tx2"/>
                </a:solidFill>
              </a:rPr>
              <a:t>create the Entra user beside the Windows user and copy roles and permissions; keep both until the audit shows no Windows sessions, then disable — never convert in one step. (ALTER USER … WITH LOGIN converts only on Azure SQL Managed Instance.)</a:t>
            </a:r>
            <a:endParaRPr lang="en-US" sz="1500" dirty="0"/>
          </a:p>
        </p:txBody>
      </p:sp>
      <p:sp>
        <p:nvSpPr>
          <p:cNvPr id="5" name="Admin">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UserShield">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0" name="Admin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Watch the admin: </a:t>
            </a:r>
            <a:r>
              <a:rPr lang="en-US" sz="1650" dirty="0">
                <a:solidFill>
                  <a:schemeClr val="tx2"/>
                </a:solidFill>
              </a:rPr>
              <a:t>the instance's Entra admin becomes sysadmin, and changing it leaves the old login as sysadmin until a DBA drops it.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logins and users for SQL Server, sys.server_principals types, ALTER USER. Book 06, Chapters 11–12 and Runbook 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EBBBEE31-1078-BAB0-6601-D69E3140B8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9D227C-8B56-4A0B-81DD-B0ACF2D2EFF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800"/>
    </mc:Choice>
    <mc:Fallback>
      <p:transition spd="slow" advTm="59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80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data platform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CIO and data leadership</a:t>
            </a:r>
            <a:endParaRPr lang="en-US" sz="1450" dirty="0"/>
          </a:p>
          <a:p>
            <a:pPr marL="0" indent="0">
              <a:spcAft>
                <a:spcPts val="600"/>
              </a:spcAft>
              <a:buNone/>
            </a:pPr>
            <a:r>
              <a:rPr lang="en-US" sz="1450" dirty="0">
                <a:solidFill>
                  <a:schemeClr val="tx2"/>
                </a:solidFill>
              </a:rPr>
              <a:t>Retain, consolidate, retire</a:t>
            </a:r>
            <a:endParaRPr lang="en-US" sz="1450" dirty="0"/>
          </a:p>
          <a:p>
            <a:pPr marL="0" indent="0">
              <a:spcAft>
                <a:spcPts val="600"/>
              </a:spcAft>
              <a:buNone/>
            </a:pPr>
            <a:r>
              <a:rPr lang="en-US" sz="1450" b="1" dirty="0">
                <a:solidFill>
                  <a:srgbClr val="1F2A44"/>
                </a:solidFill>
              </a:rPr>
              <a:t>CISO, ISSO and AO</a:t>
            </a:r>
            <a:endParaRPr lang="en-US" sz="1450" dirty="0"/>
          </a:p>
          <a:p>
            <a:pPr marL="0" indent="0">
              <a:spcAft>
                <a:spcPts val="600"/>
              </a:spcAft>
              <a:buNone/>
            </a:pPr>
            <a:r>
              <a:rPr lang="en-US" sz="1450" dirty="0">
                <a:solidFill>
                  <a:schemeClr val="tx2"/>
                </a:solidFill>
              </a:rPr>
              <a:t>NTLM and SQL-login exceptions, closure</a:t>
            </a:r>
            <a:endParaRPr lang="en-US" sz="1450" dirty="0"/>
          </a:p>
          <a:p>
            <a:pPr marL="0" indent="0">
              <a:spcAft>
                <a:spcPts val="600"/>
              </a:spcAft>
              <a:buNone/>
            </a:pPr>
            <a:r>
              <a:rPr lang="en-US" sz="1450" b="1" dirty="0">
                <a:solidFill>
                  <a:srgbClr val="1F2A44"/>
                </a:solidFill>
              </a:rPr>
              <a:t>Application and data owners</a:t>
            </a:r>
            <a:endParaRPr lang="en-US" sz="1450" dirty="0"/>
          </a:p>
          <a:p>
            <a:pPr marL="0" indent="0">
              <a:spcAft>
                <a:spcPts val="600"/>
              </a:spcAft>
              <a:buNone/>
            </a:pPr>
            <a:r>
              <a:rPr lang="en-US" sz="1450" dirty="0">
                <a:solidFill>
                  <a:schemeClr val="tx2"/>
                </a:solidFill>
              </a:rPr>
              <a:t>Cutover windows per application</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Data platform team</a:t>
            </a:r>
            <a:endParaRPr lang="en-US" sz="1450" dirty="0"/>
          </a:p>
          <a:p>
            <a:pPr marL="0" indent="0">
              <a:spcAft>
                <a:spcPts val="600"/>
              </a:spcAft>
              <a:buNone/>
            </a:pPr>
            <a:r>
              <a:rPr lang="en-US" sz="1450" dirty="0">
                <a:solidFill>
                  <a:schemeClr val="tx2"/>
                </a:solidFill>
              </a:rPr>
              <a:t>Logins, roles, audit, parallel run</a:t>
            </a:r>
            <a:endParaRPr lang="en-US" sz="1450" dirty="0"/>
          </a:p>
          <a:p>
            <a:pPr marL="0" indent="0">
              <a:spcAft>
                <a:spcPts val="600"/>
              </a:spcAft>
              <a:buNone/>
            </a:pPr>
            <a:r>
              <a:rPr lang="en-US" sz="1450" b="1" dirty="0">
                <a:solidFill>
                  <a:srgbClr val="0F766E"/>
                </a:solidFill>
              </a:rPr>
              <a:t>Identity team</a:t>
            </a:r>
            <a:endParaRPr lang="en-US" sz="1450" dirty="0"/>
          </a:p>
          <a:p>
            <a:pPr marL="0" indent="0">
              <a:spcAft>
                <a:spcPts val="600"/>
              </a:spcAft>
              <a:buNone/>
            </a:pPr>
            <a:r>
              <a:rPr lang="en-US" sz="1450" dirty="0">
                <a:solidFill>
                  <a:schemeClr val="tx2"/>
                </a:solidFill>
              </a:rPr>
              <a:t>Entra logins, groups, Graph consent</a:t>
            </a:r>
            <a:endParaRPr lang="en-US" sz="1450" dirty="0"/>
          </a:p>
          <a:p>
            <a:pPr marL="0" indent="0">
              <a:spcAft>
                <a:spcPts val="600"/>
              </a:spcAft>
              <a:buNone/>
            </a:pPr>
            <a:r>
              <a:rPr lang="en-US" sz="1450" b="1" dirty="0">
                <a:solidFill>
                  <a:srgbClr val="0F766E"/>
                </a:solidFill>
              </a:rPr>
              <a:t>Server team</a:t>
            </a:r>
            <a:endParaRPr lang="en-US" sz="1450" dirty="0"/>
          </a:p>
          <a:p>
            <a:pPr marL="0" indent="0">
              <a:spcAft>
                <a:spcPts val="600"/>
              </a:spcAft>
              <a:buNone/>
            </a:pPr>
            <a:r>
              <a:rPr lang="en-US" sz="1450" dirty="0">
                <a:solidFill>
                  <a:schemeClr val="tx2"/>
                </a:solidFill>
              </a:rPr>
              <a:t>Arc onboarding and the host</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Support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Developers</a:t>
            </a:r>
            <a:endParaRPr lang="en-US" sz="1450" dirty="0"/>
          </a:p>
          <a:p>
            <a:pPr marL="0" indent="0">
              <a:spcAft>
                <a:spcPts val="600"/>
              </a:spcAft>
              <a:buNone/>
            </a:pPr>
            <a:r>
              <a:rPr lang="en-US" sz="1450" dirty="0">
                <a:solidFill>
                  <a:schemeClr val="tx2"/>
                </a:solidFill>
              </a:rPr>
              <a:t>Connection strings and drivers</a:t>
            </a:r>
            <a:endParaRPr lang="en-US" sz="1450" dirty="0"/>
          </a:p>
          <a:p>
            <a:pPr marL="0" indent="0">
              <a:spcAft>
                <a:spcPts val="600"/>
              </a:spcAft>
              <a:buNone/>
            </a:pPr>
            <a:r>
              <a:rPr lang="en-US" sz="1450" b="1" dirty="0">
                <a:solidFill>
                  <a:srgbClr val="B45309"/>
                </a:solidFill>
              </a:rPr>
              <a:t>Help desk</a:t>
            </a:r>
            <a:endParaRPr lang="en-US" sz="1450" dirty="0"/>
          </a:p>
          <a:p>
            <a:pPr marL="0" indent="0">
              <a:spcAft>
                <a:spcPts val="600"/>
              </a:spcAft>
              <a:buNone/>
            </a:pPr>
            <a:r>
              <a:rPr lang="en-US" sz="1450" dirty="0">
                <a:solidFill>
                  <a:schemeClr val="tx2"/>
                </a:solidFill>
              </a:rPr>
              <a:t>Sign-in issues during cutover</a:t>
            </a:r>
            <a:endParaRPr lang="en-US" sz="1450" dirty="0"/>
          </a:p>
          <a:p>
            <a:pPr marL="0" indent="0">
              <a:spcAft>
                <a:spcPts val="600"/>
              </a:spcAft>
              <a:buNone/>
            </a:pPr>
            <a:r>
              <a:rPr lang="en-US" sz="1450" b="1" dirty="0">
                <a:solidFill>
                  <a:srgbClr val="B45309"/>
                </a:solidFill>
              </a:rPr>
              <a:t>Security operations</a:t>
            </a:r>
            <a:endParaRPr lang="en-US" sz="1450" dirty="0"/>
          </a:p>
          <a:p>
            <a:pPr marL="0" indent="0">
              <a:spcAft>
                <a:spcPts val="600"/>
              </a:spcAft>
              <a:buNone/>
            </a:pPr>
            <a:r>
              <a:rPr lang="en-US" sz="1450" dirty="0">
                <a:solidFill>
                  <a:schemeClr val="tx2"/>
                </a:solidFill>
              </a:rPr>
              <a:t>Defender for SQL alerts</a:t>
            </a:r>
            <a:endParaRPr lang="en-US" sz="1450" dirty="0"/>
          </a:p>
        </p:txBody>
      </p:sp>
      <p:sp>
        <p:nvSpPr>
          <p:cNvPr id="20" name="Hidden">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Hidden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Hidden admins: </a:t>
            </a:r>
            <a:r>
              <a:rPr lang="en-US" sz="1650" dirty="0">
                <a:solidFill>
                  <a:schemeClr val="tx2"/>
                </a:solidFill>
              </a:rPr>
              <a:t>Azure Contributor on an Arc server is an indirect admin of SQL Server on it, and Owner or Contributor on the SQL resource can switch SQL authentication back on — scope Azure RBAC as carefully as sysadmin.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Microsoft Learn — SQL Server roles, Arc RBAC. Book 06, Chapter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A417CC12-78FD-90C2-E4D9-BE6EF052A4D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2A12438-70A4-4AF7-953C-6BF23BECAC18}"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090"/>
    </mc:Choice>
    <mc:Fallback>
      <p:transition spd="slow" advTm="63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0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Eliminate NTLM in three phases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 0">
            <a:extLst>
              <a:ext uri="{C183D7F6-B498-43B3-948B-1728B52AA6E4}">
                <adec:decorative xmlns:adec="http://schemas.microsoft.com/office/drawing/2017/decorative" val="1"/>
              </a:ext>
            </a:extLst>
          </p:cNvPr>
          <p:cNvSpPr/>
          <p:nvPr/>
        </p:nvSpPr>
        <p:spPr>
          <a:xfrm>
            <a:off x="548640" y="1417320"/>
            <a:ext cx="3611880" cy="1920240"/>
          </a:xfrm>
          <a:prstGeom prst="roundRect">
            <a:avLst>
              <a:gd name="adj" fmla="val 381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 0 text"/>
          <p:cNvSpPr txBox="1"/>
          <p:nvPr/>
        </p:nvSpPr>
        <p:spPr>
          <a:xfrm>
            <a:off x="77724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A</a:t>
            </a:r>
            <a:endParaRPr lang="en-US" sz="1400" dirty="0"/>
          </a:p>
          <a:p>
            <a:pPr marL="0" indent="0">
              <a:buNone/>
            </a:pPr>
            <a:r>
              <a:rPr lang="en-US" sz="2000" b="1" dirty="0">
                <a:solidFill>
                  <a:srgbClr val="64748B"/>
                </a:solidFill>
                <a:latin typeface="Cambria" pitchFamily="34" charset="0"/>
                <a:ea typeface="Cambria" pitchFamily="34" charset="-122"/>
                <a:cs typeface="Cambria" pitchFamily="34" charset="-120"/>
              </a:rPr>
              <a:t>Discover</a:t>
            </a:r>
            <a:endParaRPr lang="en-US" sz="1400" dirty="0"/>
          </a:p>
          <a:p>
            <a:pPr marL="0" indent="0">
              <a:buNone/>
            </a:pPr>
            <a:r>
              <a:rPr lang="en-US" sz="1400" dirty="0">
                <a:solidFill>
                  <a:schemeClr val="tx2"/>
                </a:solidFill>
              </a:rPr>
              <a:t>The authentication audit plus Windows NTLM logging and auditing events</a:t>
            </a:r>
            <a:endParaRPr lang="en-US" sz="1400" dirty="0"/>
          </a:p>
        </p:txBody>
      </p:sp>
      <p:sp>
        <p:nvSpPr>
          <p:cNvPr id="7" name="Ph 1">
            <a:extLst>
              <a:ext uri="{C183D7F6-B498-43B3-948B-1728B52AA6E4}">
                <adec:decorative xmlns:adec="http://schemas.microsoft.com/office/drawing/2017/decorative" val="1"/>
              </a:ext>
            </a:extLst>
          </p:cNvPr>
          <p:cNvSpPr/>
          <p:nvPr/>
        </p:nvSpPr>
        <p:spPr>
          <a:xfrm>
            <a:off x="4297680" y="1417320"/>
            <a:ext cx="3611880" cy="1920240"/>
          </a:xfrm>
          <a:prstGeom prst="roundRect">
            <a:avLst>
              <a:gd name="adj" fmla="val 38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h 1 text"/>
          <p:cNvSpPr txBox="1"/>
          <p:nvPr/>
        </p:nvSpPr>
        <p:spPr>
          <a:xfrm>
            <a:off x="452628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B</a:t>
            </a:r>
            <a:endParaRPr lang="en-US" sz="1400" dirty="0"/>
          </a:p>
          <a:p>
            <a:pPr marL="0" indent="0">
              <a:buNone/>
            </a:pPr>
            <a:r>
              <a:rPr lang="en-US" sz="2000" b="1" dirty="0">
                <a:solidFill>
                  <a:srgbClr val="B45309"/>
                </a:solidFill>
                <a:latin typeface="Cambria" pitchFamily="34" charset="0"/>
                <a:ea typeface="Cambria" pitchFamily="34" charset="-122"/>
                <a:cs typeface="Cambria" pitchFamily="34" charset="-120"/>
              </a:rPr>
              <a:t>Restrict</a:t>
            </a:r>
            <a:endParaRPr lang="en-US" sz="1400" dirty="0"/>
          </a:p>
          <a:p>
            <a:pPr marL="0" indent="0">
              <a:buNone/>
            </a:pPr>
            <a:r>
              <a:rPr lang="en-US" sz="1400" dirty="0">
                <a:solidFill>
                  <a:schemeClr val="tx2"/>
                </a:solidFill>
              </a:rPr>
              <a:t>Fix SPNs, convert to Kerberos or Entra, migrate the remaining patterns</a:t>
            </a:r>
            <a:endParaRPr lang="en-US" sz="1400" dirty="0"/>
          </a:p>
        </p:txBody>
      </p:sp>
      <p:sp>
        <p:nvSpPr>
          <p:cNvPr id="9" name="Ph 2">
            <a:extLst>
              <a:ext uri="{C183D7F6-B498-43B3-948B-1728B52AA6E4}">
                <adec:decorative xmlns:adec="http://schemas.microsoft.com/office/drawing/2017/decorative" val="1"/>
              </a:ext>
            </a:extLst>
          </p:cNvPr>
          <p:cNvSpPr/>
          <p:nvPr/>
        </p:nvSpPr>
        <p:spPr>
          <a:xfrm>
            <a:off x="8046720" y="1417320"/>
            <a:ext cx="3611880" cy="1920240"/>
          </a:xfrm>
          <a:prstGeom prst="roundRect">
            <a:avLst>
              <a:gd name="adj" fmla="val 38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Ph 2 text"/>
          <p:cNvSpPr txBox="1"/>
          <p:nvPr/>
        </p:nvSpPr>
        <p:spPr>
          <a:xfrm>
            <a:off x="827532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C</a:t>
            </a:r>
            <a:endParaRPr lang="en-US" sz="1400" dirty="0"/>
          </a:p>
          <a:p>
            <a:pPr marL="0" indent="0">
              <a:buNone/>
            </a:pPr>
            <a:r>
              <a:rPr lang="en-US" sz="2000" b="1" dirty="0">
                <a:solidFill>
                  <a:srgbClr val="B91C1C"/>
                </a:solidFill>
                <a:latin typeface="Cambria" pitchFamily="34" charset="0"/>
                <a:ea typeface="Cambria" pitchFamily="34" charset="-122"/>
                <a:cs typeface="Cambria" pitchFamily="34" charset="-120"/>
              </a:rPr>
              <a:t>Eliminate</a:t>
            </a:r>
            <a:endParaRPr lang="en-US" sz="1400" dirty="0"/>
          </a:p>
          <a:p>
            <a:pPr marL="0" indent="0">
              <a:buNone/>
            </a:pPr>
            <a:r>
              <a:rPr lang="en-US" sz="1400" dirty="0">
                <a:solidFill>
                  <a:schemeClr val="tx2"/>
                </a:solidFill>
              </a:rPr>
              <a:t>The domain-wide Restrict NTLM block, on the program's 2027-04-01 backstop</a:t>
            </a:r>
            <a:endParaRPr lang="en-US" sz="1400" dirty="0"/>
          </a:p>
        </p:txBody>
      </p:sp>
      <p:sp>
        <p:nvSpPr>
          <p:cNvPr id="11" name="Facts"/>
          <p:cNvSpPr txBox="1"/>
          <p:nvPr/>
        </p:nvSpPr>
        <p:spPr>
          <a:xfrm>
            <a:off x="548640" y="3520440"/>
            <a:ext cx="11109960" cy="132588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LAN Manager level 5 refuses LM and NTLMv1 but still accepts NTLMv2 — the block is the Restrict NTLM policies</a:t>
            </a:r>
            <a:endParaRPr lang="en-US" sz="1400" dirty="0"/>
          </a:p>
          <a:p>
            <a:pPr marL="342900" indent="-342900">
              <a:spcAft>
                <a:spcPts val="500"/>
              </a:spcAft>
              <a:buSzPct val="100000"/>
              <a:buChar char="•"/>
            </a:pPr>
            <a:r>
              <a:rPr lang="en-US" sz="1450" dirty="0">
                <a:solidFill>
                  <a:schemeClr val="tx2"/>
                </a:solidFill>
              </a:rPr>
              <a:t>Restrict NTLM exceptions are server-name lists on clients and domain controllers, not the program's exception registry</a:t>
            </a:r>
            <a:endParaRPr lang="en-US" sz="1400" dirty="0"/>
          </a:p>
          <a:p>
            <a:pPr marL="342900" indent="-342900">
              <a:spcAft>
                <a:spcPts val="500"/>
              </a:spcAft>
              <a:buSzPct val="100000"/>
              <a:buChar char="•"/>
            </a:pPr>
            <a:r>
              <a:rPr lang="en-US" sz="1450" dirty="0">
                <a:solidFill>
                  <a:schemeClr val="tx2"/>
                </a:solidFill>
              </a:rPr>
              <a:t>Microsoft's October 2026 change blocks NTLMv1-derived single sign-on for Wi-Fi/VPN — it doesn't touch SQL Server traffic</a:t>
            </a:r>
            <a:endParaRPr lang="en-US" sz="1400" dirty="0"/>
          </a:p>
        </p:txBody>
      </p:sp>
      <p:sp>
        <p:nvSpPr>
          <p:cNvPr id="12" name="Moved">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Icon FaRightLeft">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5" name="Moved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The fastest exit: </a:t>
            </a:r>
            <a:r>
              <a:rPr lang="en-US" sz="1650" dirty="0">
                <a:solidFill>
                  <a:schemeClr val="tx2"/>
                </a:solidFill>
              </a:rPr>
              <a:t>an instance whose logins have moved to Entra ID isn't affected by the block at all — migration and NTLM elimination are the same work.</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Restrict NTLM policies and auditing, LAN Manager authentication level, KB5066470. Book 06, Chapters 14–15 and Runbook R06.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D3F75D49-B79B-880A-F59E-C1159C25E4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1790FA-2A78-457F-93AC-C157BFED1DD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510"/>
    </mc:Choice>
    <mc:Fallback>
      <p:transition spd="slow" advTm="65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51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by attribute, applications by driver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Access control</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Dynamic groups from HR attributes grant database access</a:t>
            </a:r>
            <a:endParaRPr lang="en-US" sz="1400" dirty="0"/>
          </a:p>
          <a:p>
            <a:pPr marL="342900" indent="-342900">
              <a:spcAft>
                <a:spcPts val="700"/>
              </a:spcAft>
              <a:buSzPct val="100000"/>
              <a:buChar char="•"/>
            </a:pPr>
            <a:r>
              <a:rPr lang="en-US" sz="1450" dirty="0">
                <a:solidFill>
                  <a:schemeClr val="tx2"/>
                </a:solidFill>
              </a:rPr>
              <a:t>Administrative units delegate group management</a:t>
            </a:r>
            <a:endParaRPr lang="en-US" sz="1400" dirty="0"/>
          </a:p>
          <a:p>
            <a:pPr marL="342900" indent="-342900">
              <a:spcAft>
                <a:spcPts val="700"/>
              </a:spcAft>
              <a:buSzPct val="100000"/>
              <a:buChar char="•"/>
            </a:pPr>
            <a:r>
              <a:rPr lang="en-US" sz="1450" dirty="0">
                <a:solidFill>
                  <a:schemeClr val="tx2"/>
                </a:solidFill>
              </a:rPr>
              <a:t>PIM for privileged database roles (Book 04)</a:t>
            </a:r>
            <a:endParaRPr lang="en-US" sz="1400" dirty="0"/>
          </a:p>
          <a:p>
            <a:pPr marL="342900" indent="-342900">
              <a:spcAft>
                <a:spcPts val="700"/>
              </a:spcAft>
              <a:buSzPct val="100000"/>
              <a:buChar char="•"/>
            </a:pPr>
            <a:r>
              <a:rPr lang="en-US" sz="1450" dirty="0">
                <a:solidFill>
                  <a:schemeClr val="tx2"/>
                </a:solidFill>
              </a:rPr>
              <a:t>Review groups, not just logins</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The application chain</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Four classes of SQL-consuming application, each with its own path</a:t>
            </a:r>
            <a:endParaRPr lang="en-US" sz="1400" dirty="0"/>
          </a:p>
          <a:p>
            <a:pPr marL="342900" indent="-342900">
              <a:spcAft>
                <a:spcPts val="700"/>
              </a:spcAft>
              <a:buSzPct val="100000"/>
              <a:buChar char="•"/>
            </a:pPr>
            <a:r>
              <a:rPr lang="en-US" sz="1450" dirty="0">
                <a:solidFill>
                  <a:schemeClr val="tx2"/>
                </a:solidFill>
              </a:rPr>
              <a:t>Connection strings name a specific Entra mode in production</a:t>
            </a:r>
            <a:endParaRPr lang="en-US" sz="1400" dirty="0"/>
          </a:p>
          <a:p>
            <a:pPr marL="342900" indent="-342900">
              <a:spcAft>
                <a:spcPts val="700"/>
              </a:spcAft>
              <a:buSzPct val="100000"/>
              <a:buChar char="•"/>
            </a:pPr>
            <a:r>
              <a:rPr lang="en-US" sz="1450" dirty="0">
                <a:solidFill>
                  <a:schemeClr val="tx2"/>
                </a:solidFill>
              </a:rPr>
              <a:t>SqlClient, ODBC, OLE DB and JDBC all support Entra modes</a:t>
            </a:r>
            <a:endParaRPr lang="en-US" sz="1400" dirty="0"/>
          </a:p>
          <a:p>
            <a:pPr marL="342900" indent="-342900">
              <a:spcAft>
                <a:spcPts val="700"/>
              </a:spcAft>
              <a:buSzPct val="100000"/>
              <a:buChar char="•"/>
            </a:pPr>
            <a:r>
              <a:rPr lang="en-US" sz="1450" dirty="0">
                <a:solidFill>
                  <a:schemeClr val="tx2"/>
                </a:solidFill>
              </a:rPr>
              <a:t>Managed identities on Arc get tokens from the local agent service</a:t>
            </a:r>
            <a:endParaRPr lang="en-US" sz="1400" dirty="0"/>
          </a:p>
        </p:txBody>
      </p:sp>
      <p:sp>
        <p:nvSpPr>
          <p:cNvPr id="15" name="Last mil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Last mil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last mile is the connection string: </a:t>
            </a:r>
            <a:r>
              <a:rPr lang="en-US" sz="1650" dirty="0">
                <a:solidFill>
                  <a:schemeClr val="tx2"/>
                </a:solidFill>
              </a:rPr>
              <a:t>every application that still says Integrated Security keeps the Windows path alive, so the application inventory is part of closure, not a follow-up.</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administrative units, Microsoft.Data.SqlClient and driver authentication modes. Book 06, Chapters 16–19 and Runbooks R07–R08.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85D774AD-1F0C-9B17-8E12-FF809EBE42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0836E1-EB3F-411C-8801-397A9A2549C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260"/>
    </mc:Choice>
    <mc:Fallback>
      <p:transition spd="slow" advTm="58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26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Closure is a posture you keep proving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losure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THE CLOSED STATE, PROVEN CONTINUOUSLY</a:t>
            </a:r>
            <a:endParaRPr lang="en-US" sz="1200" dirty="0"/>
          </a:p>
        </p:txBody>
      </p:sp>
      <p:sp>
        <p:nvSpPr>
          <p:cNvPr id="6" name="Closure list"/>
          <p:cNvSpPr txBox="1"/>
          <p:nvPr/>
        </p:nvSpPr>
        <p:spPr>
          <a:xfrm>
            <a:off x="548640" y="178308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Every in-scope instance on Entra-only authentication</a:t>
            </a:r>
            <a:endParaRPr lang="en-US" sz="1400" dirty="0"/>
          </a:p>
          <a:p>
            <a:pPr marL="342900" indent="-342900">
              <a:spcAft>
                <a:spcPts val="600"/>
              </a:spcAft>
              <a:buSzPct val="100000"/>
              <a:buChar char="•"/>
            </a:pPr>
            <a:r>
              <a:rPr lang="en-US" sz="1450" dirty="0">
                <a:solidFill>
                  <a:schemeClr val="tx2"/>
                </a:solidFill>
              </a:rPr>
              <a:t>No SQL logins outside approved exceptions</a:t>
            </a:r>
            <a:endParaRPr lang="en-US" sz="1400" dirty="0"/>
          </a:p>
          <a:p>
            <a:pPr marL="342900" indent="-342900">
              <a:spcAft>
                <a:spcPts val="600"/>
              </a:spcAft>
              <a:buSzPct val="100000"/>
              <a:buChar char="•"/>
            </a:pPr>
            <a:r>
              <a:rPr lang="en-US" sz="1450" dirty="0">
                <a:solidFill>
                  <a:schemeClr val="tx2"/>
                </a:solidFill>
              </a:rPr>
              <a:t>No NTLM sessions in the continuous audit (remote sessions — local ones always show NTLM)</a:t>
            </a:r>
            <a:endParaRPr lang="en-US" sz="1400" dirty="0"/>
          </a:p>
          <a:p>
            <a:pPr marL="342900" indent="-342900">
              <a:spcAft>
                <a:spcPts val="600"/>
              </a:spcAft>
              <a:buSzPct val="100000"/>
              <a:buChar char="•"/>
            </a:pPr>
            <a:r>
              <a:rPr lang="en-US" sz="1450" dirty="0">
                <a:solidFill>
                  <a:schemeClr val="tx2"/>
                </a:solidFill>
              </a:rPr>
              <a:t>Drift — a switch back to mixed mode — detected and treated as a violation</a:t>
            </a:r>
            <a:endParaRPr lang="en-US" sz="1400" dirty="0"/>
          </a:p>
          <a:p>
            <a:pPr marL="342900" indent="-342900">
              <a:spcAft>
                <a:spcPts val="600"/>
              </a:spcAft>
              <a:buSzPct val="100000"/>
              <a:buChar char="•"/>
            </a:pPr>
            <a:r>
              <a:rPr lang="en-US" sz="1450" dirty="0">
                <a:solidFill>
                  <a:schemeClr val="tx2"/>
                </a:solidFill>
              </a:rPr>
              <a:t>Evidence from SQL Server Audit and auth_scheme, regenerated, not assembled</a:t>
            </a:r>
            <a:endParaRPr lang="en-US" sz="1400" dirty="0"/>
          </a:p>
        </p:txBody>
      </p:sp>
      <p:sp>
        <p:nvSpPr>
          <p:cNvPr id="7" name="PKI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Key">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PKI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The certificate layer</a:t>
            </a:r>
            <a:endParaRPr lang="en-US" sz="1800" dirty="0"/>
          </a:p>
        </p:txBody>
      </p:sp>
      <p:sp>
        <p:nvSpPr>
          <p:cNvPr id="11" name="PKI lis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SQL Server's TLS certificates still come from AD CS in most estates</a:t>
            </a:r>
            <a:endParaRPr lang="en-US" sz="1400" dirty="0"/>
          </a:p>
          <a:p>
            <a:pPr marL="342900" indent="-342900">
              <a:spcAft>
                <a:spcPts val="600"/>
              </a:spcAft>
              <a:buSzPct val="100000"/>
              <a:buChar char="•"/>
            </a:pPr>
            <a:r>
              <a:rPr lang="en-US" sz="1400" dirty="0">
                <a:solidFill>
                  <a:schemeClr val="tx2"/>
                </a:solidFill>
              </a:rPr>
              <a:t>Microsoft Cloud PKI issues only to Intune-managed devices — and Intune doesn't manage Windows Server</a:t>
            </a:r>
            <a:endParaRPr lang="en-US" sz="1400" dirty="0"/>
          </a:p>
          <a:p>
            <a:pPr marL="342900" indent="-342900">
              <a:spcAft>
                <a:spcPts val="600"/>
              </a:spcAft>
              <a:buSzPct val="100000"/>
              <a:buChar char="•"/>
            </a:pPr>
            <a:r>
              <a:rPr lang="en-US" sz="1400" dirty="0">
                <a:solidFill>
                  <a:schemeClr val="tx2"/>
                </a:solidFill>
              </a:rPr>
              <a:t>So the server-certificate issuer is its own decision</a:t>
            </a:r>
            <a:endParaRPr lang="en-US" sz="1400" dirty="0"/>
          </a:p>
        </p:txBody>
      </p:sp>
      <p:sp>
        <p:nvSpPr>
          <p:cNvPr id="12" name="Log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Log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What Entra logs can't prove: </a:t>
            </a:r>
            <a:r>
              <a:rPr lang="en-US" sz="1650" dirty="0">
                <a:solidFill>
                  <a:schemeClr val="tx2"/>
                </a:solidFill>
              </a:rPr>
              <a:t>every SQL resource shares one token audience, so per-instance access and the absence of NTLM have to be proven from the instance itself.</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Audit, authentication mode, Cloud PKI, Intune supported platforms. Book 06, Chapters 20–22 and Runbooks R09–R10.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1294BC29-BEB5-37FD-5A3C-61EEAA9117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BEDD7A-28CC-444F-8EFB-9A0CA8FE327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130"/>
    </mc:Choice>
    <mc:Fallback>
      <p:transition spd="slow" advTm="62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12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Run the inventory and the gate</a:t>
            </a:r>
            <a:endParaRPr lang="en-US" sz="1400" dirty="0"/>
          </a:p>
          <a:p>
            <a:pPr marL="0" indent="0">
              <a:buNone/>
            </a:pPr>
            <a:r>
              <a:rPr lang="en-US" sz="1450" dirty="0">
                <a:solidFill>
                  <a:schemeClr val="tx2"/>
                </a:solidFill>
              </a:rPr>
              <a:t>A verdict for every instance before any authentication work</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erver">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Fund the Arc bridge</a:t>
            </a:r>
            <a:endParaRPr lang="en-US" sz="1400" dirty="0"/>
          </a:p>
          <a:p>
            <a:pPr marL="0" indent="0">
              <a:buNone/>
            </a:pPr>
            <a:r>
              <a:rPr lang="en-US" sz="1450" dirty="0">
                <a:solidFill>
                  <a:schemeClr val="tx2"/>
                </a:solidFill>
              </a:rPr>
              <a:t>Commercial subscription in the GCC tenant; SQL Server 2022+ targets</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UserClo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Plan the support dates</a:t>
            </a:r>
            <a:endParaRPr lang="en-US" sz="1400" dirty="0"/>
          </a:p>
          <a:p>
            <a:pPr marL="0" indent="0">
              <a:buNone/>
            </a:pPr>
            <a:r>
              <a:rPr lang="en-US" sz="1450" dirty="0">
                <a:solidFill>
                  <a:schemeClr val="tx2"/>
                </a:solidFill>
              </a:rPr>
              <a:t>Upgrade or retire 2014, 2016 and 2017 instances on their real dates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Key">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Decide the certificate issuer</a:t>
            </a:r>
            <a:endParaRPr lang="en-US" sz="1400" dirty="0"/>
          </a:p>
          <a:p>
            <a:pPr marL="0" indent="0">
              <a:buNone/>
            </a:pPr>
            <a:r>
              <a:rPr lang="en-US" sz="1450" dirty="0">
                <a:solidFill>
                  <a:schemeClr val="tx2"/>
                </a:solidFill>
              </a:rPr>
              <a:t>The AD CS dependency for server TLS needs its own answer</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06 for the narrative and ten runbooks, every claim footnoted; Book 05 for Arc on servers and Book 04 for the access policy it plugs into.</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03A1453E-E199-7ACA-F9C3-E9ABB47042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FD9294-5A7F-4445-849A-9712C60E2286}"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200"/>
    </mc:Choice>
    <mc:Fallback>
      <p:transition spd="slow" advTm="68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2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3852</Words>
  <Application>Microsoft Office PowerPoint</Application>
  <PresentationFormat>Widescreen</PresentationFormat>
  <Paragraphs>199</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Is the Database Where Legacy Authentication Hides?</vt:lpstr>
      <vt:lpstr>SQL Server trusts whatever Windows tells it</vt:lpstr>
      <vt:lpstr>Three drivers, and what is really due in 2027</vt:lpstr>
      <vt:lpstr>Rationalize the estate before migrating it</vt:lpstr>
      <vt:lpstr>Azure Arc gives each instance an Entra identity</vt:lpstr>
      <vt:lpstr>Logins move to Entra principals, in parallel</vt:lpstr>
      <vt:lpstr>Who decides, who does the work for the data platform</vt:lpstr>
      <vt:lpstr>Eliminate NTLM in three phases</vt:lpstr>
      <vt:lpstr>Access by attribute, applications by driver</vt:lpstr>
      <vt:lpstr>Closure is a posture you keep proving</vt:lpstr>
      <vt:lpstr>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06 — Data Platform: SQL Server Identity</dc:title>
  <dc:subject>PptxGenJS Presentation</dc:subject>
  <dc:creator>Michael F. Stratton</dc:creator>
  <cp:lastModifiedBy>Michael F. Stratton</cp:lastModifiedBy>
  <cp:revision>2</cp:revision>
  <dcterms:created xsi:type="dcterms:W3CDTF">2026-10-21T13:41:16Z</dcterms:created>
  <dcterms:modified xsi:type="dcterms:W3CDTF">2026-10-23T17:43:17Z</dcterms:modified>
</cp:coreProperties>
</file>