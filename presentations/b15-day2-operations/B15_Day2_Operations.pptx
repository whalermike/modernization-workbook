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ay two decides" id="{d0ff353e-a869-7c12-a695-da3ebbb190fe}">
          <p14:sldIdLst>
            <p14:sldId id="256"/>
            <p14:sldId id="257"/>
            <p14:sldId id="258"/>
            <p14:sldId id="259"/>
          </p14:sldIdLst>
        </p14:section>
        <p14:section name="What day two runs on" id="{0132b807-fa08-771f-f92a-dabce905311d}">
          <p14:sldIdLst>
            <p14:sldId id="260"/>
            <p14:sldId id="261"/>
            <p14:sldId id="262"/>
            <p14:sldId id="263"/>
            <p14:sldId id="264"/>
            <p14:sldId id="265"/>
          </p14:sldIdLst>
        </p14:section>
        <p14:section name="Who runs day two" id="{754287b0-c07a-5d0a-4ff0-469533ba60b1}">
          <p14:sldIdLst>
            <p14:sldId id="266"/>
          </p14:sldIdLst>
        </p14:section>
        <p14:section name="How to run it and prove it" id="{571725be-1ad4-1436-9e9d-376ac8c38dcd}">
          <p14:sldIdLst>
            <p14:sldId id="267"/>
            <p14:sldId id="268"/>
          </p14:sldIdLst>
        </p14:section>
        <p14:section name="Backup" id="{4f099d57-6cda-75c5-034a-fd158df1df9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[0:00–0:36]  This briefing comes from Book 15 of the Federal Modernization Workbook, Compliance Automation and Day-Two Operations. It's written for C I Os, service desk and operations leads, and information system security officers.
I'll take four questions: why modernization succeeds or fails at the help desk; what day two runs on; who runs it; and how to run it and prove it works.
The short version: cutover proves the new estate can be built. The first locked-out user on Monday morning proves whether it can be run.
Workbook: Book 15, index; Chapter 01 — Modernization Succeeds or Fails at the Help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[0:36–1:50]  A modernization program spends most of its attention on day one: the tenant is built, identities synchronize, the cutover runs. The estate is judged on day two, when every reset, unlock and new hire lands at the help desk.
In Entra ID the help desk's power is explicit. Microsoft labels the Helpdesk Administrator role privileged, and warns that changing a user's password may mean the ability to assume that user's identity. Requiring M F A re-registration deletes the user's phones, Authenticator registrations and software tokens, and whoever signs in next and registers a method controls the account. So a reset on an unverified request isn't a support task. It's a transfer of the account to whoever asked.
Attackers know it. CISA's advisory on the Scattered Spider group describes calls that convinced help desk staff to reset passwords and transfer M F A tokens. And when the governed path is hard, the desk works around it: an emergency admin account, an email treated as a request, a temporary password sent back to the same inbox.
Workbook: Book 15, Chapter 01 — Modernization Succeeds or Fails at the Help Desk (The help desk holds the keys; Attackers know where the keys are; How modernization quietly reverts); Chapter 02 (What changes for everyday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[1:50–2:59]  Two federal documents frame the reset and recovery path. OMB's zero trust memorandum, M-22-09, requires phishing-resistant M F A, and then names the hole: recovery processes are a potential bypass of standard authentication, and a significant threat vector if not mitigated. It asks for high-friction methods that are costly for an adversary, such as in-person verification or live video.
NIST's digital identity guidelines, revised in July 2025, give recovery its own section. They recognize four methods: saved recovery codes, issued recovery codes, recovery contacts, and repeated identity proofing. A help desk agent is allowed only on the basis of a documented risk analysis, repeated proofing has to be consistent with the original, and every recovery must notify the account holder.
Read together, the help desk reset has to be an exception, not the main path; high-friction for the account's risk; at least as strong as the original proofing; and always followed by a notice. Email, caller I D and knowledge questions verify no one.
Workbook: Book 15, Chapter 01 (Federal guidance treats recovery as a bypass); Chapter 03 — Intake, Triage and Routing (Verify the person before a sensitive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[2:59–4:12]  The same argument holds from the side of the authorization package. An authorization describes the system as it was assessed. The day after, the help desk resets passwords, onboards people, changes groups and fixes a synchronization error, and each change touches a control: account management, least privilege, authenticators, change control, the inventory, the audit trail. Done as portal clicks, each leaves no record the control recognizes, and the package ages with every click.
The moderate baseline asks for automation only in specific places, so the book's emphasis on automation is a design position about volume. At day-two volume, people assembling the record by hand can't keep up, and what they produce is a reconstruction, not evidence.
A control passes three layers: designed, deployed as code, and operated, with an owner, a gate, a clock and an evidence feed. Every operation starts from the source of truth, carries the approval its control requires, runs under a just-in-time role, closes with proof and emits its evidence. Miss one, and the work can't be attested.
Workbook: Book 15, Chapter 02 — Day Two Is Where Compliance Lives or Dies (Compliance decays through routine work; Designed, deployed, operated; The day-two operating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[4:12–5:22]  Now what day two runs on, starting at the front door. Nothing is handled as ad hoc email to the cloud services team. Self-service requests, the team mailbox, the identity governance platform and monitoring alerts all land in one triage queue in the service management platform. The mailbox rule has to redirect, not blind-copy, or there are two queues; pilot it in audit mode first. A reroute rule pulls back anything assigned straight to cloud services.
Triage asks one question: what authority does this task need? No access change is class A0. A change to the requester's own account is A1, and the manager approves. Access an owner governs is A2. Governance actions, such as admin consent, are A3 and never automated. Conditional Access and directory roles escalate.
The checks run in a fixed order, so the dangerous cases are caught first: anything claiming to come from Microsoft, then any target holding a directory role. And an approval nobody answers expires to reject, never to approve.
Workbook: Book 15, Chapter 03 — Intake, Triage and Routing (One front door; Redirecting the mailbox; Triage by required authority; Routing: two pipelines and an escalation lane; The evidence each ticket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[5:22–6:36]  In Entra ID, three things decide what a technician can do: the role decides the action, the target decides whether it applies, and the administrative unit narrows the population. The least-privileged role for a non-admin password reset is Password Administrator. Authentication Administrator handles methods and Temporary Access Passes for members. Only the Privileged Authentication Administrator can reset a privileged administrator, so that role sits outside the desk.
Capability isn't authority. Authentication Administrator can delete and disable users, and Application Administrator can grant consent, so the program replaces it with a custom role that only assigns groups to applications. Executives sit in restricted management units the general desk can't reach. Roles reach technicians through role-assignable groups, eligible through P I M.
And approval isn't identity verification. The ladder is the CISO's decision: a phishing-resistant sign-in first; identity proofing, in person against a PIV card or through Entra account recovery, when every method is lost. Then a one-time pass with the shortest lifetime, a notice on a separate channel, and for high-risk tasks, two approvers besides the executor.
Workbook: Book 15, Chapter 04 — Help Desk Authority in Entra ID (The built-in roles; Capability is not authority; Restricted management units; How the roles reach a technician; The high-risk tasks); Chapter 03 (Verify the person before a sensitive action);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[6:36–7:46]  Every routine change arrives as a typed request. The help desk catalog has ten items, for joiners, movers, leavers, credentials, groups, licenses, Conditional Access exceptions and guests, each bound to the control it exercises and the approval that control needs. Each item closes only when a read of the target confirms the change. The leaver fails audits most often: disable the account, revoke sessions, deprovision every connected application, and reassign what the person owned. And federal 911 rules bind whoever operates the phone system, so a validated emergency address gates every number assignment.
SaaS integration is the densest moment. In GCC, an administrator sees the full commercial application gallery and can federate a third-party service in about fifteen minutes, and nothing in the vendor's path asks about authorization. Restricting consent decides who may approve, not whether the service may hold federal data. So the catalog records a FedRAMP Marketplace verdict before anything is configured, with Class C or higher as the program's default for identity data.
Workbook: Book 15, Chapter 05 — The Service Catalogs: ITSM and Teams Telephony (The identity catalog; The leaver is the one that fails audits; Emergency calling is the agency's obligation); Chapter 06 — SaaS Integration Governance (Why the gate has to be the agency's; Consent restriction answers who, not whether;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[7:46–9:01]  Every ticket names an asset, so the help desk can only be as right as the inventory it routes to. The configuration database earns that trust by agreeing with one authoritative identity, not by being one. Discovery and connectors populate it; the naming and addressing record governs identity. Where the two disagree, the database is wrong, and the disagreement is a finding.
The inventory control asks for no duplicate accounting of components. ServiceNow's identification and reconciliation engine already prevents duplicates and lets only authorized sources write each attribute. The program adds one pass: match each asset to the naming record first, bind it, and flag the rest, either a shadow asset nobody approved, or a gap that's fixed in address management, never in the database.
Duplicates are resolved by binding, not deleting, so no open finding loses its asset. Stale items are disabled and attested before they're retired. It matters because a fix that lands on one duplicate leaves the finding open on the other. And watch the connector that quietly returns half its usual records.
Workbook: Book 15, Chapter 07 — The CMDB and Asset Identity (The CMDB is a projection, not the authority; What CM-8 asks of an inventory; How the platform reconciles, and what the program adds; Duplicate CIs; Stale CIs; Why patching and evidence depend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[9:01–10:14]  Microsoft, AWS and VMware already ship tools that test most of the settings an assessor asks about. The gap is turning each failed test into owned work with a clock, and each closed task into a record. The program runs one loop everywhere: the native tool tests, drift is detected, a typed task is raised against the configuration item, the owning team fixes it natively, and the task closes on a re-test, not a click. The service management platform reads control state; it never writes it.
The government clouds differ. Defender for Cloud's ServiceNow integration isn't available in Azure Government. Compliance Manager's continuous assessments are still rolling out in GCC. AWS Audit Manager closed to new customers on April 30, 2026, and has no GovCloud endpoint. AWS's ServiceNow connector loses support on March 31, 2027, and Security Hub keeps findings only ninety days. In VMware Cloud Foundation 9.1, the compliance benchmarks were replaced by a posture tool that lists no NIST or DISA benchmark. On premises, the agency produces every piece of evidence itself.
Workbook: Book 15, Chapter 08 — Control Compliance Automation: Microsoft 365 and Azure (One loop on every surface; Purview Compliance Manager; Three routes to the ITSM platform); Chapter 09 — Control Compliance Automation: AWS and VMware (AWS Audit Manager; Getting AWS results into the ITSM platform; VMware: the on-premises evidence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[10:14–11:25]  Before anyone builds a compliance application, know what the platform already does. ServiceNow's Policy and Compliance Management schedules control tests and turns gaps into issues. Continuous Authorization and Monitoring walks the seven steps of the Risk Management Framework, gives one view of every plan of action, and in recent releases imports and exports security plans, plans of action and assessment results in OSCAL. Configuration Compliance imports Defender for Cloud results and matches them to configuration items. The government offering is listed as FedRAMP Certified at Class D, High.
So the recommendation is to buy the native applications first and build only what they don't do: join every finding to the authoritative asset identity, close only with proof and flag human-only closures, and check the platform's control set against the control map.
A control is proven by system evidence wherever a system can see it; people attest only to what no system can observe. And FedRAMP's indicators bind providers; for the agency they're vocabulary, not a deliverable.
Workbook: Book 15, Chapter 11 — Attestation, Evidence and the Compliance Application (System evidence first; A correction about FedRAMP's indicators; The platform is the workflow record; What ServiceNow already provides; Build, buy or both); Chapter 02 (What the platform already ships); Chapter 03 (Prefer the connector); Chapter 07; Chapter 08 (Where ServiceNow's own products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[11:25–12:41]  Day two is run by the people who touch the estate most often and decide the least, so every decision sits with someone who isn't holding the keyboard, and every artifact has one owner and a review date.
The service desk has three lines. The first takes every request, classifies it, verifies the person and executes against an approved ticket. Cloud services is the escalation tier, not a second queue. Technicians approve nothing. The supervisor approves routine credential work for ordinary users, never a ticket they execute.
Platform owners own the runbooks and what each catalog item does. The control owner, the CISO or the identity governance officer, owns the approval gate. The service management team builds both and decides neither: changing an approval rule is a normal change the change advisory board authorizes. The configuration database owner keeps the model, not the facts. The board has security and privacy members and authorizes changes, but doesn't accept risk; that goes to the CISO or the authorizing official. A contracted desk fits, because contractors prepare and execute while government officials decide.
Workbook: Book 15, Chapter 10 — Who Runs Day Two (Where the roles come from; The service desk lines; The ITSM platform team; The CMDB owner; The change advisory board; The authorizing official; The responsibility matrix; Keeping the roles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[12:41–13:53]  The runbook turns all of this into a cadence, and each step says what it proves. Daily, a read-only synchronization probe replaces the morning interactive logon to the sync servers, and each error becomes a task; a completeness check confirms every log source is still sending; catalog tasks close with proof. Weekly, detection rules are tested against replayed known-bad events, and every task closed without automated proof is either evidenced or reopened. Monthly, results and the plan of action are regenerated, and the I S S O reviews the harness results. Quarterly, privileged access and trends are reviewed.
The runbook also rewrites eight everyday tasks. A password reset is delivered on a channel separate from the request. A requester's script is never pasted and run: parameters travel, commands don't.
The harnesses check the automation itself. A source past its freshness limit raises a high-severity alert. A deployment that doesn't close its control fails the pipeline. And a harness that stops running looks like one that passes, so check that each one ran.
Workbook: Book 15, Chapter 12 — The Day-Two Operator Runbook and Validation (The runbook at a glance; Daily: the eight everyday tasks, governed; Weekly, monthly and quarterly; Validation and test harnesses; What the harnesses can't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[13:53–15:01]  So, four decisions.
Put the identity-verification procedure under the CISO, and treat every authenticator reset as an account transfer: the most friction on the most sensitive accounts, and an alert on every reset.
Build one front door. Redirect the team mailbox, triage by authority, and let unanswered approvals expire to reject.
Buy the platform's native compliance applications first, and build only what they lack. Record an authorization verdict before any SaaS integration is configured, and check every feature in your own cloud.
And fund the third layer: an owner, a gate, a clock and an evidence feed for every control.
The next step needs no procurement. Measure before you build: run the read-only integration inventory and synchronization probe in a test tenant, size the catalog from what they find, and plan the move off AWS's ServiceNow connector before March 31, 2027.
Operations is where modernization becomes routine or quietly reverts. Book 15 has the detail, every claim footnoted. Thank you.
Workbook: Book 15, Chapters 01 (What leadership should take from this), 02 (What leadership should take from this), 03 (Key takeaways), 06 (Honest limits; the read-only inventory), 08 and 09 (What to take from this chapter), 11 (Build, buy or both) and 12 (the morning synchronization check);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15 Compliance Automation &amp; Day-2 Operations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Can Your Help Desk Run the New Estate?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15 — Compliance Automation &amp; Day-2 Operations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for CIOs, service desk and operations leads, and ISSOs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help desk holds the keys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AS FOUND</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A click and a reply</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 emailed request; a standing admin account</a:t>
            </a:r>
            <a:endParaRPr lang="en-US" sz="1400" dirty="0"/>
          </a:p>
          <a:p>
            <a:pPr marL="342900" indent="-342900">
              <a:spcAft>
                <a:spcPts val="600"/>
              </a:spcAft>
              <a:buSzPct val="100000"/>
              <a:buChar char="•"/>
            </a:pPr>
            <a:r>
              <a:rPr lang="en-US" sz="1400" dirty="0">
                <a:solidFill>
                  <a:schemeClr val="tx2"/>
                </a:solidFill>
              </a:rPr>
              <a:t>“Require re-register MFA” with no check on who asked</a:t>
            </a:r>
            <a:endParaRPr lang="en-US" sz="1400" dirty="0"/>
          </a:p>
          <a:p>
            <a:pPr marL="342900" indent="-342900">
              <a:spcAft>
                <a:spcPts val="600"/>
              </a:spcAft>
              <a:buSzPct val="100000"/>
              <a:buChar char="•"/>
            </a:pPr>
            <a:r>
              <a:rPr lang="en-US" sz="1400" dirty="0">
                <a:solidFill>
                  <a:schemeClr val="tx2"/>
                </a:solidFill>
              </a:rPr>
              <a:t>The temporary password goes back to the same inbox</a:t>
            </a:r>
            <a:endParaRPr lang="en-US" sz="1400" dirty="0"/>
          </a:p>
          <a:p>
            <a:pPr marL="342900" indent="-342900">
              <a:spcAft>
                <a:spcPts val="600"/>
              </a:spcAft>
              <a:buSzPct val="100000"/>
              <a:buChar char="•"/>
            </a:pPr>
            <a:r>
              <a:rPr lang="en-US" sz="1400" dirty="0">
                <a:solidFill>
                  <a:schemeClr val="tx2"/>
                </a:solidFill>
              </a:rPr>
              <a:t>The next person to enroll a method owns the account</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Check"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UNDER THE NEW MODEL</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A request with a record</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 typed request against the identity record</a:t>
            </a:r>
            <a:endParaRPr lang="en-US" sz="1400" dirty="0"/>
          </a:p>
          <a:p>
            <a:pPr marL="342900" indent="-342900">
              <a:spcAft>
                <a:spcPts val="600"/>
              </a:spcAft>
              <a:buSzPct val="100000"/>
              <a:buChar char="•"/>
            </a:pPr>
            <a:r>
              <a:rPr lang="en-US" sz="1400" dirty="0">
                <a:solidFill>
                  <a:schemeClr val="tx2"/>
                </a:solidFill>
              </a:rPr>
              <a:t>The person verified to the CISO's procedure</a:t>
            </a:r>
            <a:endParaRPr lang="en-US" sz="1400" dirty="0"/>
          </a:p>
          <a:p>
            <a:pPr marL="342900" indent="-342900">
              <a:spcAft>
                <a:spcPts val="600"/>
              </a:spcAft>
              <a:buSzPct val="100000"/>
              <a:buChar char="•"/>
            </a:pPr>
            <a:r>
              <a:rPr lang="en-US" sz="1400" dirty="0">
                <a:solidFill>
                  <a:schemeClr val="tx2"/>
                </a:solidFill>
              </a:rPr>
              <a:t>A just-in-time, scoped role; a pass on a separate channel</a:t>
            </a:r>
            <a:endParaRPr lang="en-US" sz="1400" dirty="0"/>
          </a:p>
          <a:p>
            <a:pPr marL="342900" indent="-342900">
              <a:spcAft>
                <a:spcPts val="600"/>
              </a:spcAft>
              <a:buSzPct val="100000"/>
              <a:buChar char="•"/>
            </a:pPr>
            <a:r>
              <a:rPr lang="en-US" sz="1400" dirty="0">
                <a:solidFill>
                  <a:schemeClr val="tx2"/>
                </a:solidFill>
              </a:rPr>
              <a:t>Closed with who asked, who approved and what changed</a:t>
            </a:r>
            <a:endParaRPr lang="en-US" sz="1400" dirty="0"/>
          </a:p>
        </p:txBody>
      </p:sp>
      <p:sp>
        <p:nvSpPr>
          <p:cNvPr id="15" name="Transfe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Key"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Transfer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An authenticator reset is an account transfer: </a:t>
            </a:r>
            <a:pPr indent="0" marL="0">
              <a:buNone/>
            </a:pPr>
            <a:r>
              <a:rPr lang="en-US" sz="1650" dirty="0">
                <a:solidFill>
                  <a:schemeClr val="tx2"/>
                </a:solidFill>
              </a:rPr>
              <a:t>Microsoft labels Helpdesk Administrator privileged. CISA's Scattered Spider advisory describes callers who got help desks to reset passwords and transfer MFA tokens.</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Entra built-in roles and MFA user settings; CISA Advisory AA23-320A, Scattered Spider (rev. July 29, 2025). Book 15, Chapters 01 and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guidance treats recovery as a bypass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Guide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andmark"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Guide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OMB M-22-09</a:t>
            </a:r>
            <a:endParaRPr lang="en-US" sz="1700" dirty="0"/>
          </a:p>
        </p:txBody>
      </p:sp>
      <p:sp>
        <p:nvSpPr>
          <p:cNvPr id="9" name="Guide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Phishing-resistant MFA for staff, contractors and partners</a:t>
            </a:r>
            <a:endParaRPr lang="en-US" sz="1400" dirty="0"/>
          </a:p>
          <a:p>
            <a:pPr marL="342900" indent="-342900">
              <a:spcAft>
                <a:spcPts val="600"/>
              </a:spcAft>
              <a:buSzPct val="100000"/>
              <a:buChar char="•"/>
            </a:pPr>
            <a:r>
              <a:rPr lang="en-US" sz="1350" dirty="0">
                <a:solidFill>
                  <a:schemeClr val="tx2"/>
                </a:solidFill>
              </a:rPr>
              <a:t>Recovery is “a potential bypass” and a significant threat vector</a:t>
            </a:r>
            <a:endParaRPr lang="en-US" sz="1400" dirty="0"/>
          </a:p>
          <a:p>
            <a:pPr marL="342900" indent="-342900">
              <a:spcAft>
                <a:spcPts val="600"/>
              </a:spcAft>
              <a:buSzPct val="100000"/>
              <a:buChar char="•"/>
            </a:pPr>
            <a:r>
              <a:rPr lang="en-US" sz="1350" dirty="0">
                <a:solidFill>
                  <a:schemeClr val="tx2"/>
                </a:solidFill>
              </a:rPr>
              <a:t>High friction: in-person or live video</a:t>
            </a:r>
            <a:endParaRPr lang="en-US" sz="1400" dirty="0"/>
          </a:p>
        </p:txBody>
      </p:sp>
      <p:sp>
        <p:nvSpPr>
          <p:cNvPr id="10" name="Guide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IdCard"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Guide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NIST SP 800-63B-4</a:t>
            </a:r>
            <a:endParaRPr lang="en-US" sz="1700" dirty="0"/>
          </a:p>
        </p:txBody>
      </p:sp>
      <p:sp>
        <p:nvSpPr>
          <p:cNvPr id="14" name="Guide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Four recovery methods, July 2025</a:t>
            </a:r>
            <a:endParaRPr lang="en-US" sz="1400" dirty="0"/>
          </a:p>
          <a:p>
            <a:pPr marL="342900" indent="-342900">
              <a:spcAft>
                <a:spcPts val="600"/>
              </a:spcAft>
              <a:buSzPct val="100000"/>
              <a:buChar char="•"/>
            </a:pPr>
            <a:r>
              <a:rPr lang="en-US" sz="1350" dirty="0">
                <a:solidFill>
                  <a:schemeClr val="tx2"/>
                </a:solidFill>
              </a:rPr>
              <a:t>A help desk agent only on a documented risk analysis</a:t>
            </a:r>
            <a:endParaRPr lang="en-US" sz="1400" dirty="0"/>
          </a:p>
          <a:p>
            <a:pPr marL="342900" indent="-342900">
              <a:spcAft>
                <a:spcPts val="600"/>
              </a:spcAft>
              <a:buSzPct val="100000"/>
              <a:buChar char="•"/>
            </a:pPr>
            <a:r>
              <a:rPr lang="en-US" sz="1350" dirty="0">
                <a:solidFill>
                  <a:schemeClr val="tx2"/>
                </a:solidFill>
              </a:rPr>
              <a:t>Re-proofing as strong as the original; always notify</a:t>
            </a:r>
            <a:endParaRPr lang="en-US" sz="1400" dirty="0"/>
          </a:p>
        </p:txBody>
      </p:sp>
      <p:sp>
        <p:nvSpPr>
          <p:cNvPr id="15" name="Guide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ClipboardCheck"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Guide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control catalog</a:t>
            </a:r>
            <a:endParaRPr lang="en-US" sz="1700" dirty="0"/>
          </a:p>
        </p:txBody>
      </p:sp>
      <p:sp>
        <p:nvSpPr>
          <p:cNvPr id="19" name="Guide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IA-5: verify who receives an authenticator</a:t>
            </a:r>
            <a:endParaRPr lang="en-US" sz="1400" dirty="0"/>
          </a:p>
          <a:p>
            <a:pPr marL="342900" indent="-342900">
              <a:spcAft>
                <a:spcPts val="600"/>
              </a:spcAft>
              <a:buSzPct val="100000"/>
              <a:buChar char="•"/>
            </a:pPr>
            <a:r>
              <a:rPr lang="en-US" sz="1350" dirty="0">
                <a:solidFill>
                  <a:schemeClr val="tx2"/>
                </a:solidFill>
              </a:rPr>
              <a:t>IA-5(1): a new password after recovery</a:t>
            </a:r>
            <a:endParaRPr lang="en-US" sz="1400" dirty="0"/>
          </a:p>
          <a:p>
            <a:pPr marL="342900" indent="-342900">
              <a:spcAft>
                <a:spcPts val="600"/>
              </a:spcAft>
              <a:buSzPct val="100000"/>
              <a:buChar char="•"/>
            </a:pPr>
            <a:r>
              <a:rPr lang="en-US" sz="1350" dirty="0">
                <a:solidFill>
                  <a:schemeClr val="tx2"/>
                </a:solidFill>
              </a:rPr>
              <a:t>IA-12: identity proofing; all at Moderate</a:t>
            </a:r>
            <a:endParaRPr lang="en-US" sz="1400" dirty="0"/>
          </a:p>
        </p:txBody>
      </p:sp>
      <p:sp>
        <p:nvSpPr>
          <p:cNvPr id="20" name="Neve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UserX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Never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These verify no one: </a:t>
            </a:r>
            <a:pPr indent="0" marL="0">
              <a:buNone/>
            </a:pPr>
            <a:r>
              <a:rPr lang="en-US" sz="1650" dirty="0">
                <a:solidFill>
                  <a:schemeClr val="tx2"/>
                </a:solidFill>
              </a:rPr>
              <a:t>email alone, caller ID, a callback to a number the caller supplies, knowledge questions, or a manager's say-so. The reset is an exception, high-friction for the account's risk, and always followed by a notice.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(Jan. 26, 2022); NIST SP 800-63B-4 (July 2025), §§ 4.2, 4.6; NIST SP 800-53 Rev. 5 (IA-5, IA-5(1), IA-12), release 5.2.0. Book 15,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Compliance decays a click at a time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gridCol w="521208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hand-run day-two work erodes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account created from an email has no approval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Routine work done under standing admin rights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IA-5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reset on an unverified request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change whose only trace is a “done” reply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server stood up by hand never reaches the inventory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AU-9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Logs on a share the audited admins can edit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Rules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Five rules for every operation</a:t>
            </a:r>
            <a:endParaRPr lang="en-US" sz="1700" dirty="0"/>
          </a:p>
        </p:txBody>
      </p:sp>
      <p:sp>
        <p:nvSpPr>
          <p:cNvPr id="10" name="Rules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Originate with the source of truth</a:t>
            </a:r>
            <a:endParaRPr lang="en-US" sz="1400" dirty="0"/>
          </a:p>
          <a:p>
            <a:pPr marL="342900" indent="-342900">
              <a:spcAft>
                <a:spcPts val="600"/>
              </a:spcAft>
              <a:buSzPct val="100000"/>
              <a:buChar char="•"/>
            </a:pPr>
            <a:r>
              <a:rPr lang="en-US" sz="1350" dirty="0">
                <a:solidFill>
                  <a:schemeClr val="tx2"/>
                </a:solidFill>
              </a:rPr>
              <a:t>Carry the approval the control requires</a:t>
            </a:r>
            <a:endParaRPr lang="en-US" sz="1400" dirty="0"/>
          </a:p>
          <a:p>
            <a:pPr marL="342900" indent="-342900">
              <a:spcAft>
                <a:spcPts val="600"/>
              </a:spcAft>
              <a:buSzPct val="100000"/>
              <a:buChar char="•"/>
            </a:pPr>
            <a:r>
              <a:rPr lang="en-US" sz="1350" dirty="0">
                <a:solidFill>
                  <a:schemeClr val="tx2"/>
                </a:solidFill>
              </a:rPr>
              <a:t>Run under a just-in-time scoped role</a:t>
            </a:r>
            <a:endParaRPr lang="en-US" sz="1400" dirty="0"/>
          </a:p>
          <a:p>
            <a:pPr marL="342900" indent="-342900">
              <a:spcAft>
                <a:spcPts val="600"/>
              </a:spcAft>
              <a:buSzPct val="100000"/>
              <a:buChar char="•"/>
            </a:pPr>
            <a:r>
              <a:rPr lang="en-US" sz="1350" dirty="0">
                <a:solidFill>
                  <a:schemeClr val="tx2"/>
                </a:solidFill>
              </a:rPr>
              <a:t>Close with proof the change took</a:t>
            </a:r>
            <a:endParaRPr lang="en-US" sz="1400" dirty="0"/>
          </a:p>
          <a:p>
            <a:pPr marL="342900" indent="-342900">
              <a:spcAft>
                <a:spcPts val="600"/>
              </a:spcAft>
              <a:buSzPct val="100000"/>
              <a:buChar char="•"/>
            </a:pPr>
            <a:r>
              <a:rPr lang="en-US" sz="1350" dirty="0">
                <a:solidFill>
                  <a:schemeClr val="tx2"/>
                </a:solidFill>
              </a:rPr>
              <a:t>Emit the evidence automatically</a:t>
            </a:r>
            <a:endParaRPr lang="en-US" sz="1400" dirty="0"/>
          </a:p>
        </p:txBody>
      </p:sp>
      <p:sp>
        <p:nvSpPr>
          <p:cNvPr id="11" name="Layer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Layer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Designed, deployed, operated: </a:t>
            </a:r>
            <a:pPr indent="0" marL="0">
              <a:buNone/>
            </a:pPr>
            <a:r>
              <a:rPr lang="en-US" sz="1650" dirty="0">
                <a:solidFill>
                  <a:schemeClr val="tx2"/>
                </a:solidFill>
              </a:rPr>
              <a:t>a control designed and deployed still decays without an owner, a gate, a clock and an evidence feed. Moderate asks for automation only in places; automating the rest is a design choice about volume.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SP 800-53B Moderate baseline, release 5.2.0 (AC-2, AC-2(1), AC-2(4), AC-6, IA-5, CM-3, CM-8, CM-8(1), AU-9); NIST SP 800-137. Book 15,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front door, triage by authority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lass 1" descr="">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Class 1 text"/>
          <p:cNvSpPr txBox="1"/>
          <p:nvPr/>
        </p:nvSpPr>
        <p:spPr>
          <a:xfrm>
            <a:off x="658368"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A0</a:t>
            </a:r>
            <a:endParaRPr lang="en-US" sz="1400" dirty="0"/>
          </a:p>
          <a:p>
            <a:pPr indent="0" marL="0">
              <a:buNone/>
            </a:pPr>
            <a:r>
              <a:rPr lang="en-US" sz="1400" b="1" dirty="0">
                <a:solidFill>
                  <a:srgbClr val="1F2A44"/>
                </a:solidFill>
              </a:rPr>
              <a:t>No access change</a:t>
            </a:r>
            <a:endParaRPr lang="en-US" sz="1400" dirty="0"/>
          </a:p>
          <a:p>
            <a:pPr indent="0" marL="0">
              <a:buNone/>
            </a:pPr>
            <a:r>
              <a:rPr lang="en-US" sz="1200" dirty="0">
                <a:solidFill>
                  <a:schemeClr val="tx2"/>
                </a:solidFill>
              </a:rPr>
              <a:t>Verified reset; log lookup</a:t>
            </a:r>
            <a:endParaRPr lang="en-US" sz="1400" dirty="0"/>
          </a:p>
        </p:txBody>
      </p:sp>
      <p:sp>
        <p:nvSpPr>
          <p:cNvPr id="7" name="Class 2" descr="">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Class 2 text"/>
          <p:cNvSpPr txBox="1"/>
          <p:nvPr/>
        </p:nvSpPr>
        <p:spPr>
          <a:xfrm>
            <a:off x="2903220"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A1</a:t>
            </a:r>
            <a:endParaRPr lang="en-US" sz="1400" dirty="0"/>
          </a:p>
          <a:p>
            <a:pPr indent="0" marL="0">
              <a:buNone/>
            </a:pPr>
            <a:r>
              <a:rPr lang="en-US" sz="1400" b="1" dirty="0">
                <a:solidFill>
                  <a:srgbClr val="1F2A44"/>
                </a:solidFill>
              </a:rPr>
              <a:t>Own account</a:t>
            </a:r>
            <a:endParaRPr lang="en-US" sz="1400" dirty="0"/>
          </a:p>
          <a:p>
            <a:pPr indent="0" marL="0">
              <a:buNone/>
            </a:pPr>
            <a:r>
              <a:rPr lang="en-US" sz="1200" dirty="0">
                <a:solidFill>
                  <a:schemeClr val="tx2"/>
                </a:solidFill>
              </a:rPr>
              <a:t>Requester's manager approves</a:t>
            </a:r>
            <a:endParaRPr lang="en-US" sz="1400" dirty="0"/>
          </a:p>
        </p:txBody>
      </p:sp>
      <p:sp>
        <p:nvSpPr>
          <p:cNvPr id="9" name="Class 3" descr="">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Class 3 text"/>
          <p:cNvSpPr txBox="1"/>
          <p:nvPr/>
        </p:nvSpPr>
        <p:spPr>
          <a:xfrm>
            <a:off x="5148072"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A2</a:t>
            </a:r>
            <a:endParaRPr lang="en-US" sz="1400" dirty="0"/>
          </a:p>
          <a:p>
            <a:pPr indent="0" marL="0">
              <a:buNone/>
            </a:pPr>
            <a:r>
              <a:rPr lang="en-US" sz="1400" b="1" dirty="0">
                <a:solidFill>
                  <a:srgbClr val="1F2A44"/>
                </a:solidFill>
              </a:rPr>
              <a:t>Owner-governed</a:t>
            </a:r>
            <a:endParaRPr lang="en-US" sz="1400" dirty="0"/>
          </a:p>
          <a:p>
            <a:pPr indent="0" marL="0">
              <a:buNone/>
            </a:pPr>
            <a:r>
              <a:rPr lang="en-US" sz="1200" dirty="0">
                <a:solidFill>
                  <a:schemeClr val="tx2"/>
                </a:solidFill>
              </a:rPr>
              <a:t>Application owner approves</a:t>
            </a:r>
            <a:endParaRPr lang="en-US" sz="1400" dirty="0"/>
          </a:p>
        </p:txBody>
      </p:sp>
      <p:sp>
        <p:nvSpPr>
          <p:cNvPr id="11" name="Class 4" descr="">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Class 4 text"/>
          <p:cNvSpPr txBox="1"/>
          <p:nvPr/>
        </p:nvSpPr>
        <p:spPr>
          <a:xfrm>
            <a:off x="7392924"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A3</a:t>
            </a:r>
            <a:endParaRPr lang="en-US" sz="1400" dirty="0"/>
          </a:p>
          <a:p>
            <a:pPr indent="0" marL="0">
              <a:buNone/>
            </a:pPr>
            <a:r>
              <a:rPr lang="en-US" sz="1400" b="1" dirty="0">
                <a:solidFill>
                  <a:srgbClr val="1F2A44"/>
                </a:solidFill>
              </a:rPr>
              <a:t>Governance action</a:t>
            </a:r>
            <a:endParaRPr lang="en-US" sz="1400" dirty="0"/>
          </a:p>
          <a:p>
            <a:pPr indent="0" marL="0">
              <a:buNone/>
            </a:pPr>
            <a:r>
              <a:rPr lang="en-US" sz="1200" dirty="0">
                <a:solidFill>
                  <a:schemeClr val="tx2"/>
                </a:solidFill>
              </a:rPr>
              <a:t>Owner and governance officer</a:t>
            </a:r>
            <a:endParaRPr lang="en-US" sz="1400" dirty="0"/>
          </a:p>
        </p:txBody>
      </p:sp>
      <p:sp>
        <p:nvSpPr>
          <p:cNvPr id="13" name="Class 5" descr="">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4" name="Class 5 text"/>
          <p:cNvSpPr txBox="1"/>
          <p:nvPr/>
        </p:nvSpPr>
        <p:spPr>
          <a:xfrm>
            <a:off x="9637776" y="1417320"/>
            <a:ext cx="1911096" cy="1143000"/>
          </a:xfrm>
          <a:prstGeom prst="rect">
            <a:avLst/>
          </a:prstGeom>
          <a:noFill/>
          <a:ln/>
        </p:spPr>
        <p:txBody>
          <a:bodyPr wrap="square" lIns="0" tIns="0" rIns="0" bIns="0" rtlCol="0" anchor="ctr"/>
          <a:lstStyle/>
          <a:p>
            <a:pPr indent="0" marL="0">
              <a:buNone/>
            </a:pPr>
            <a:r>
              <a:rPr lang="en-US" sz="2000" b="1" dirty="0">
                <a:solidFill>
                  <a:srgbClr val="B91C1C"/>
                </a:solidFill>
                <a:latin typeface="Cambria" pitchFamily="34" charset="0"/>
                <a:ea typeface="Cambria" pitchFamily="34" charset="-122"/>
                <a:cs typeface="Cambria" pitchFamily="34" charset="-120"/>
              </a:rPr>
              <a:t>Escalate</a:t>
            </a:r>
            <a:endParaRPr lang="en-US" sz="1400" dirty="0"/>
          </a:p>
          <a:p>
            <a:pPr indent="0" marL="0">
              <a:buNone/>
            </a:pPr>
            <a:r>
              <a:rPr lang="en-US" sz="1400" b="1" dirty="0">
                <a:solidFill>
                  <a:srgbClr val="1F2A44"/>
                </a:solidFill>
              </a:rPr>
              <a:t>Out of scope</a:t>
            </a:r>
            <a:endParaRPr lang="en-US" sz="1400" dirty="0"/>
          </a:p>
          <a:p>
            <a:pPr indent="0" marL="0">
              <a:buNone/>
            </a:pPr>
            <a:r>
              <a:rPr lang="en-US" sz="1200" dirty="0">
                <a:solidFill>
                  <a:schemeClr val="tx2"/>
                </a:solidFill>
              </a:rPr>
              <a:t>Escalate to security or engineering</a:t>
            </a:r>
            <a:endParaRPr lang="en-US" sz="1400" dirty="0"/>
          </a:p>
        </p:txBody>
      </p:sp>
      <p:sp>
        <p:nvSpPr>
          <p:cNvPr id="15"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DoorOpen"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Every source, one queue</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Mailbox rule redirects; a blind copy leaves two queues</a:t>
            </a:r>
            <a:endParaRPr lang="en-US" sz="1400" dirty="0"/>
          </a:p>
          <a:p>
            <a:pPr marL="342900" indent="-342900">
              <a:spcAft>
                <a:spcPts val="200"/>
              </a:spcAft>
              <a:buSzPct val="100000"/>
              <a:buChar char="•"/>
            </a:pPr>
            <a:r>
              <a:rPr lang="en-US" sz="1300" dirty="0">
                <a:solidFill>
                  <a:schemeClr val="tx2"/>
                </a:solidFill>
              </a:rPr>
              <a:t>Pilot the rule in audit mode first</a:t>
            </a:r>
            <a:endParaRPr lang="en-US" sz="1400" dirty="0"/>
          </a:p>
          <a:p>
            <a:pPr marL="342900" indent="-342900">
              <a:spcAft>
                <a:spcPts val="200"/>
              </a:spcAft>
              <a:buSzPct val="100000"/>
              <a:buChar char="•"/>
            </a:pPr>
            <a:r>
              <a:rPr lang="en-US" sz="1300" dirty="0">
                <a:solidFill>
                  <a:schemeClr val="tx2"/>
                </a:solidFill>
              </a:rPr>
              <a:t>A reroute rule pulls back work sent straight to cloud services</a:t>
            </a:r>
            <a:endParaRPr lang="en-US" sz="1400" dirty="0"/>
          </a:p>
        </p:txBody>
      </p:sp>
      <p:sp>
        <p:nvSpPr>
          <p:cNvPr id="20"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1" name="Icon FaFilter"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Dangerous cases first</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Claims to come from Microsoft: escalate only</a:t>
            </a:r>
            <a:endParaRPr lang="en-US" sz="1400" dirty="0"/>
          </a:p>
          <a:p>
            <a:pPr marL="342900" indent="-342900">
              <a:spcAft>
                <a:spcPts val="200"/>
              </a:spcAft>
              <a:buSzPct val="100000"/>
              <a:buChar char="•"/>
            </a:pPr>
            <a:r>
              <a:rPr lang="en-US" sz="1300" dirty="0">
                <a:solidFill>
                  <a:schemeClr val="tx2"/>
                </a:solidFill>
              </a:rPr>
              <a:t>Target holds a directory role: escalate</a:t>
            </a:r>
            <a:endParaRPr lang="en-US" sz="1400" dirty="0"/>
          </a:p>
          <a:p>
            <a:pPr marL="342900" indent="-342900">
              <a:spcAft>
                <a:spcPts val="200"/>
              </a:spcAft>
              <a:buSzPct val="100000"/>
              <a:buChar char="•"/>
            </a:pPr>
            <a:r>
              <a:rPr lang="en-US" sz="1300" dirty="0">
                <a:solidFill>
                  <a:schemeClr val="tx2"/>
                </a:solidFill>
              </a:rPr>
              <a:t>Check the tenant's audit log, not the sender</a:t>
            </a:r>
            <a:endParaRPr lang="en-US" sz="1400" dirty="0"/>
          </a:p>
        </p:txBody>
      </p:sp>
      <p:sp>
        <p:nvSpPr>
          <p:cNvPr id="25" name="Reject"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6" name="Icon FaListChe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8" name="Reject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Silence never grants access: </a:t>
            </a:r>
            <a:pPr indent="0" marL="0">
              <a:buNone/>
            </a:pPr>
            <a:r>
              <a:rPr lang="en-US" sz="1650" dirty="0">
                <a:solidFill>
                  <a:schemeClr val="tx2"/>
                </a:solidFill>
              </a:rPr>
              <a:t>every approval carries a due date that rejects or cancels, never approves. The ticket closes with the approval chain, the verification rung, the role activation and the audit-log reference.</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New-TransportRule and PIM email notifications; ServiceNow, inbound email actions and Ask for Approval. Book 15, Chapter 03; classes as settled in Book 04,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Least-privileged roles, and verify before acting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ole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ROLE, THE TARGET, THE SCOPE</a:t>
            </a:r>
            <a:endParaRPr lang="en-US" sz="1200" dirty="0"/>
          </a:p>
        </p:txBody>
      </p:sp>
      <p:sp>
        <p:nvSpPr>
          <p:cNvPr id="6" name="Role 0" descr="">
            <a:extLst>
              <a:ext uri="{C183D7F6-B498-43B3-948B-1728B52AA6E4}">
                <adec:decorative xmlns:adec="http://schemas.microsoft.com/office/drawing/2017/decorative" val="1"/>
              </a:ext>
            </a:extLst>
          </p:cNvPr>
          <p:cNvSpPr/>
          <p:nvPr/>
        </p:nvSpPr>
        <p:spPr>
          <a:xfrm>
            <a:off x="548640" y="1755648"/>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ole 0 text"/>
          <p:cNvSpPr txBox="1"/>
          <p:nvPr/>
        </p:nvSpPr>
        <p:spPr>
          <a:xfrm>
            <a:off x="731520" y="1755648"/>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Password reset   </a:t>
            </a:r>
            <a:pPr indent="0" marL="0">
              <a:buNone/>
            </a:pPr>
            <a:r>
              <a:rPr lang="en-US" sz="1350" dirty="0">
                <a:solidFill>
                  <a:schemeClr val="tx2"/>
                </a:solidFill>
              </a:rPr>
              <a:t>Password or Helpdesk Administrator</a:t>
            </a:r>
            <a:endParaRPr lang="en-US" sz="1350" dirty="0"/>
          </a:p>
        </p:txBody>
      </p:sp>
      <p:sp>
        <p:nvSpPr>
          <p:cNvPr id="8" name="Role 1" descr="">
            <a:extLst>
              <a:ext uri="{C183D7F6-B498-43B3-948B-1728B52AA6E4}">
                <adec:decorative xmlns:adec="http://schemas.microsoft.com/office/drawing/2017/decorative" val="1"/>
              </a:ext>
            </a:extLst>
          </p:cNvPr>
          <p:cNvSpPr/>
          <p:nvPr/>
        </p:nvSpPr>
        <p:spPr>
          <a:xfrm>
            <a:off x="548640" y="2267712"/>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Role 1 text"/>
          <p:cNvSpPr txBox="1"/>
          <p:nvPr/>
        </p:nvSpPr>
        <p:spPr>
          <a:xfrm>
            <a:off x="731520" y="2267712"/>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Methods and passes   </a:t>
            </a:r>
            <a:pPr indent="0" marL="0">
              <a:buNone/>
            </a:pPr>
            <a:r>
              <a:rPr lang="en-US" sz="1350" dirty="0">
                <a:solidFill>
                  <a:schemeClr val="tx2"/>
                </a:solidFill>
              </a:rPr>
              <a:t>Authentication Administrator, members only</a:t>
            </a:r>
            <a:endParaRPr lang="en-US" sz="1350" dirty="0"/>
          </a:p>
        </p:txBody>
      </p:sp>
      <p:sp>
        <p:nvSpPr>
          <p:cNvPr id="10" name="Role 2" descr="">
            <a:extLst>
              <a:ext uri="{C183D7F6-B498-43B3-948B-1728B52AA6E4}">
                <adec:decorative xmlns:adec="http://schemas.microsoft.com/office/drawing/2017/decorative" val="1"/>
              </a:ext>
            </a:extLst>
          </p:cNvPr>
          <p:cNvSpPr/>
          <p:nvPr/>
        </p:nvSpPr>
        <p:spPr>
          <a:xfrm>
            <a:off x="548640" y="2779776"/>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ole 2 text"/>
          <p:cNvSpPr txBox="1"/>
          <p:nvPr/>
        </p:nvSpPr>
        <p:spPr>
          <a:xfrm>
            <a:off x="731520" y="2779776"/>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Privileged admins   </a:t>
            </a:r>
            <a:pPr indent="0" marL="0">
              <a:buNone/>
            </a:pPr>
            <a:r>
              <a:rPr lang="en-US" sz="1350" dirty="0">
                <a:solidFill>
                  <a:schemeClr val="tx2"/>
                </a:solidFill>
              </a:rPr>
              <a:t>Privileged Authentication Admin: not the desk</a:t>
            </a:r>
            <a:endParaRPr lang="en-US" sz="1350" dirty="0"/>
          </a:p>
        </p:txBody>
      </p:sp>
      <p:sp>
        <p:nvSpPr>
          <p:cNvPr id="12" name="Role 3" descr="">
            <a:extLst>
              <a:ext uri="{C183D7F6-B498-43B3-948B-1728B52AA6E4}">
                <adec:decorative xmlns:adec="http://schemas.microsoft.com/office/drawing/2017/decorative" val="1"/>
              </a:ext>
            </a:extLst>
          </p:cNvPr>
          <p:cNvSpPr/>
          <p:nvPr/>
        </p:nvSpPr>
        <p:spPr>
          <a:xfrm>
            <a:off x="548640" y="3291840"/>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ole 3 text"/>
          <p:cNvSpPr txBox="1"/>
          <p:nvPr/>
        </p:nvSpPr>
        <p:spPr>
          <a:xfrm>
            <a:off x="731520" y="3291840"/>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App assignment   </a:t>
            </a:r>
            <a:pPr indent="0" marL="0">
              <a:buNone/>
            </a:pPr>
            <a:r>
              <a:rPr lang="en-US" sz="1350" dirty="0">
                <a:solidFill>
                  <a:schemeClr val="tx2"/>
                </a:solidFill>
              </a:rPr>
              <a:t>A custom role, never Application Admin</a:t>
            </a:r>
            <a:endParaRPr lang="en-US" sz="1350" dirty="0"/>
          </a:p>
        </p:txBody>
      </p:sp>
      <p:sp>
        <p:nvSpPr>
          <p:cNvPr id="14" name="Role 4" descr="">
            <a:extLst>
              <a:ext uri="{C183D7F6-B498-43B3-948B-1728B52AA6E4}">
                <adec:decorative xmlns:adec="http://schemas.microsoft.com/office/drawing/2017/decorative" val="1"/>
              </a:ext>
            </a:extLst>
          </p:cNvPr>
          <p:cNvSpPr/>
          <p:nvPr/>
        </p:nvSpPr>
        <p:spPr>
          <a:xfrm>
            <a:off x="548640" y="3803904"/>
            <a:ext cx="5669280" cy="457200"/>
          </a:xfrm>
          <a:prstGeom prst="roundRect">
            <a:avLst>
              <a:gd name="adj" fmla="val 16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Role 4 text"/>
          <p:cNvSpPr txBox="1"/>
          <p:nvPr/>
        </p:nvSpPr>
        <p:spPr>
          <a:xfrm>
            <a:off x="731520" y="3803904"/>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Scope   </a:t>
            </a:r>
            <a:pPr indent="0" marL="0">
              <a:buNone/>
            </a:pPr>
            <a:r>
              <a:rPr lang="en-US" sz="1350" dirty="0">
                <a:solidFill>
                  <a:schemeClr val="tx2"/>
                </a:solidFill>
              </a:rPr>
              <a:t>Administrative units; executives restricted</a:t>
            </a:r>
            <a:endParaRPr lang="en-US" sz="1350" dirty="0"/>
          </a:p>
        </p:txBody>
      </p:sp>
      <p:sp>
        <p:nvSpPr>
          <p:cNvPr id="16" name="Role 5" descr="">
            <a:extLst>
              <a:ext uri="{C183D7F6-B498-43B3-948B-1728B52AA6E4}">
                <adec:decorative xmlns:adec="http://schemas.microsoft.com/office/drawing/2017/decorative" val="1"/>
              </a:ext>
            </a:extLst>
          </p:cNvPr>
          <p:cNvSpPr/>
          <p:nvPr/>
        </p:nvSpPr>
        <p:spPr>
          <a:xfrm>
            <a:off x="548640" y="4315968"/>
            <a:ext cx="5669280" cy="457200"/>
          </a:xfrm>
          <a:prstGeom prst="roundRect">
            <a:avLst>
              <a:gd name="adj" fmla="val 16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Role 5 text"/>
          <p:cNvSpPr txBox="1"/>
          <p:nvPr/>
        </p:nvSpPr>
        <p:spPr>
          <a:xfrm>
            <a:off x="731520" y="4315968"/>
            <a:ext cx="5394960" cy="457200"/>
          </a:xfrm>
          <a:prstGeom prst="rect">
            <a:avLst/>
          </a:prstGeom>
          <a:noFill/>
          <a:ln/>
        </p:spPr>
        <p:txBody>
          <a:bodyPr wrap="square" lIns="0" tIns="0" rIns="0" bIns="0" rtlCol="0" anchor="ctr"/>
          <a:lstStyle/>
          <a:p>
            <a:pPr indent="0" marL="0">
              <a:buNone/>
            </a:pPr>
            <a:r>
              <a:rPr lang="en-US" sz="1350" b="1" dirty="0">
                <a:solidFill>
                  <a:srgbClr val="1F2A44"/>
                </a:solidFill>
              </a:rPr>
              <a:t>Delivery   </a:t>
            </a:r>
            <a:pPr indent="0" marL="0">
              <a:buNone/>
            </a:pPr>
            <a:r>
              <a:rPr lang="en-US" sz="1350" dirty="0">
                <a:solidFill>
                  <a:schemeClr val="tx2"/>
                </a:solidFill>
              </a:rPr>
              <a:t>Role-assignable groups, eligible through PIM</a:t>
            </a:r>
            <a:endParaRPr lang="en-US" sz="1350" dirty="0"/>
          </a:p>
        </p:txBody>
      </p:sp>
      <p:sp>
        <p:nvSpPr>
          <p:cNvPr id="18" name="Ladder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Fingerprint"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1" name="Ladder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CISO SETS THE VERIFICATION LADDER</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Approval isn't verification</a:t>
            </a:r>
            <a:endParaRPr lang="en-US" sz="1400" dirty="0"/>
          </a:p>
        </p:txBody>
      </p:sp>
      <p:sp>
        <p:nvSpPr>
          <p:cNvPr id="22" name="Ladder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Phishing-resistant sign-in: proceed</a:t>
            </a:r>
            <a:endParaRPr lang="en-US" sz="1400" dirty="0"/>
          </a:p>
          <a:p>
            <a:pPr marL="342900" indent="-342900">
              <a:spcAft>
                <a:spcPts val="600"/>
              </a:spcAft>
              <a:buSzPct val="100000"/>
              <a:buChar char="•"/>
            </a:pPr>
            <a:r>
              <a:rPr lang="en-US" sz="1400" dirty="0">
                <a:solidFill>
                  <a:schemeClr val="tx2"/>
                </a:solidFill>
              </a:rPr>
              <a:t>Every method lost: identity proofing, in person or by Entra account recovery</a:t>
            </a:r>
            <a:endParaRPr lang="en-US" sz="1400" dirty="0"/>
          </a:p>
          <a:p>
            <a:pPr marL="342900" indent="-342900">
              <a:spcAft>
                <a:spcPts val="600"/>
              </a:spcAft>
              <a:buSzPct val="100000"/>
              <a:buChar char="•"/>
            </a:pPr>
            <a:r>
              <a:rPr lang="en-US" sz="1400" dirty="0">
                <a:solidFill>
                  <a:schemeClr val="tx2"/>
                </a:solidFill>
              </a:rPr>
              <a:t>A directory role on the target: escalate</a:t>
            </a:r>
            <a:endParaRPr lang="en-US" sz="1400" dirty="0"/>
          </a:p>
          <a:p>
            <a:pPr marL="342900" indent="-342900">
              <a:spcAft>
                <a:spcPts val="600"/>
              </a:spcAft>
              <a:buSzPct val="100000"/>
              <a:buChar char="•"/>
            </a:pPr>
            <a:r>
              <a:rPr lang="en-US" sz="1400" dirty="0">
                <a:solidFill>
                  <a:schemeClr val="tx2"/>
                </a:solidFill>
              </a:rPr>
              <a:t>One-time pass, shortest lifetime; notify on another channel</a:t>
            </a:r>
            <a:endParaRPr lang="en-US" sz="1400" dirty="0"/>
          </a:p>
        </p:txBody>
      </p:sp>
      <p:sp>
        <p:nvSpPr>
          <p:cNvPr id="23" name="Two"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Icon FaUserShiel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6" name="Two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High-risk tasks need two approvers besides the executor: </a:t>
            </a:r>
            <a:pPr indent="0" marL="0">
              <a:buNone/>
            </a:pPr>
            <a:r>
              <a:rPr lang="en-US" sz="1650" dirty="0">
                <a:solidFill>
                  <a:schemeClr val="tx2"/>
                </a:solidFill>
              </a:rPr>
              <a:t>a reset for a protected account, an ImmutableID repair, an out-of-lifecycle delete. PIM's ticket field isn't checked, so the program correlates it in the SIEM.</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privileged roles and permissions, restricted management units, PIM settings, Temporary Access Pass, account recovery; NIST SP 800-63B-4. Book 15, Chapters 03 and 04;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Catalogs and SaaS: typed requests, verdict first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TableList"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THE SERVICE CATALOGS</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Every change is a typed request</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Ten identity items, each bound to its control and gate</a:t>
            </a:r>
            <a:endParaRPr lang="en-US" sz="1400" dirty="0"/>
          </a:p>
          <a:p>
            <a:pPr marL="342900" indent="-342900">
              <a:spcAft>
                <a:spcPts val="600"/>
              </a:spcAft>
              <a:buSzPct val="100000"/>
              <a:buChar char="•"/>
            </a:pPr>
            <a:r>
              <a:rPr lang="en-US" sz="1400" dirty="0">
                <a:solidFill>
                  <a:schemeClr val="tx2"/>
                </a:solidFill>
              </a:rPr>
              <a:t>Closes only when a read of the target confirms it</a:t>
            </a:r>
            <a:endParaRPr lang="en-US" sz="1400" dirty="0"/>
          </a:p>
          <a:p>
            <a:pPr marL="342900" indent="-342900">
              <a:spcAft>
                <a:spcPts val="600"/>
              </a:spcAft>
              <a:buSzPct val="100000"/>
              <a:buChar char="•"/>
            </a:pPr>
            <a:r>
              <a:rPr lang="en-US" sz="1400" dirty="0">
                <a:solidFill>
                  <a:schemeClr val="tx2"/>
                </a:solidFill>
              </a:rPr>
              <a:t>Leaver: disable, revoke, deprovision apps, reassign</a:t>
            </a:r>
            <a:endParaRPr lang="en-US" sz="1400" dirty="0"/>
          </a:p>
          <a:p>
            <a:pPr marL="342900" indent="-342900">
              <a:spcAft>
                <a:spcPts val="600"/>
              </a:spcAft>
              <a:buSzPct val="100000"/>
              <a:buChar char="•"/>
            </a:pPr>
            <a:r>
              <a:rPr lang="en-US" sz="1400" dirty="0">
                <a:solidFill>
                  <a:schemeClr val="tx2"/>
                </a:solidFill>
              </a:rPr>
              <a:t>Telephony: a validated 911 address gates every number</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oud"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SAAS INTEGRATION GOVERNANCE</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No verdict, no configuration</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GCC shows the full commercial app gallery</a:t>
            </a:r>
            <a:endParaRPr lang="en-US" sz="1400" dirty="0"/>
          </a:p>
          <a:p>
            <a:pPr marL="342900" indent="-342900">
              <a:spcAft>
                <a:spcPts val="600"/>
              </a:spcAft>
              <a:buSzPct val="100000"/>
              <a:buChar char="•"/>
            </a:pPr>
            <a:r>
              <a:rPr lang="en-US" sz="1400" dirty="0">
                <a:solidFill>
                  <a:schemeClr val="tx2"/>
                </a:solidFill>
              </a:rPr>
              <a:t>A FedRAMP Marketplace verdict recorded first</a:t>
            </a:r>
            <a:endParaRPr lang="en-US" sz="1400" dirty="0"/>
          </a:p>
          <a:p>
            <a:pPr marL="342900" indent="-342900">
              <a:spcAft>
                <a:spcPts val="600"/>
              </a:spcAft>
              <a:buSzPct val="100000"/>
              <a:buChar char="•"/>
            </a:pPr>
            <a:r>
              <a:rPr lang="en-US" sz="1400" dirty="0">
                <a:solidFill>
                  <a:schemeClr val="tx2"/>
                </a:solidFill>
              </a:rPr>
              <a:t>Program default for identity data: Class C or higher</a:t>
            </a:r>
            <a:endParaRPr lang="en-US" sz="1400" dirty="0"/>
          </a:p>
          <a:p>
            <a:pPr marL="342900" indent="-342900">
              <a:spcAft>
                <a:spcPts val="600"/>
              </a:spcAft>
              <a:buSzPct val="100000"/>
              <a:buChar char="•"/>
            </a:pPr>
            <a:r>
              <a:rPr lang="en-US" sz="1400" dirty="0">
                <a:solidFill>
                  <a:schemeClr val="tx2"/>
                </a:solidFill>
              </a:rPr>
              <a:t>Single sign-on without provisioning is a manual island</a:t>
            </a:r>
            <a:endParaRPr lang="en-US" sz="1400" dirty="0"/>
          </a:p>
        </p:txBody>
      </p:sp>
      <p:sp>
        <p:nvSpPr>
          <p:cNvPr id="15" name="Whethe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Whether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Consent restriction answers who, not whether: </a:t>
            </a:r>
            <a:pPr indent="0" marL="0">
              <a:buNone/>
            </a:pPr>
            <a:r>
              <a:rPr lang="en-US" sz="1650" dirty="0">
                <a:solidFill>
                  <a:schemeClr val="tx2"/>
                </a:solidFill>
              </a:rPr>
              <a:t>a tenant can pass every consent check and still let an administrator, within policy, connect a service with no FedRAMP certification. Only a recorded verdict closes that gap.</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47 CFR §§ 9.3, 9.16; CISA BOD 25-01 required configurations (MS.AAD.5); FedRAMP Marketplace data (Oct. 21, 2026); Microsoft Learn, app provisioning. Book 15, Chapters 05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CMDB is a reconciled projection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econ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Recon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Populate</a:t>
            </a:r>
            <a:endParaRPr lang="en-US" sz="1400" dirty="0"/>
          </a:p>
          <a:p>
            <a:pPr indent="0" marL="0">
              <a:buNone/>
            </a:pPr>
            <a:r>
              <a:rPr lang="en-US" sz="1200" dirty="0">
                <a:solidFill>
                  <a:schemeClr val="tx2"/>
                </a:solidFill>
              </a:rPr>
              <a:t>Discovery and connectors, never hand entry</a:t>
            </a:r>
            <a:endParaRPr lang="en-US" sz="1400" dirty="0"/>
          </a:p>
        </p:txBody>
      </p:sp>
      <p:sp>
        <p:nvSpPr>
          <p:cNvPr id="7" name="Recon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Recon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Identify</a:t>
            </a:r>
            <a:endParaRPr lang="en-US" sz="1400" dirty="0"/>
          </a:p>
          <a:p>
            <a:pPr indent="0" marL="0">
              <a:buNone/>
            </a:pPr>
            <a:r>
              <a:rPr lang="en-US" sz="1200" dirty="0">
                <a:solidFill>
                  <a:schemeClr val="tx2"/>
                </a:solidFill>
              </a:rPr>
              <a:t>The platform's engine stops duplicates</a:t>
            </a:r>
            <a:endParaRPr lang="en-US" sz="1400" dirty="0"/>
          </a:p>
        </p:txBody>
      </p:sp>
      <p:sp>
        <p:nvSpPr>
          <p:cNvPr id="9" name="Recon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Recon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Match</a:t>
            </a:r>
            <a:endParaRPr lang="en-US" sz="1400" dirty="0"/>
          </a:p>
          <a:p>
            <a:pPr indent="0" marL="0">
              <a:buNone/>
            </a:pPr>
            <a:r>
              <a:rPr lang="en-US" sz="1200" dirty="0">
                <a:solidFill>
                  <a:schemeClr val="tx2"/>
                </a:solidFill>
              </a:rPr>
              <a:t>Authoritative name or address first</a:t>
            </a:r>
            <a:endParaRPr lang="en-US" sz="1400" dirty="0"/>
          </a:p>
        </p:txBody>
      </p:sp>
      <p:sp>
        <p:nvSpPr>
          <p:cNvPr id="11" name="Recon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Recon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Bind or flag</a:t>
            </a:r>
            <a:endParaRPr lang="en-US" sz="1400" dirty="0"/>
          </a:p>
          <a:p>
            <a:pPr indent="0" marL="0">
              <a:buNone/>
            </a:pPr>
            <a:r>
              <a:rPr lang="en-US" sz="1200" dirty="0">
                <a:solidFill>
                  <a:schemeClr val="tx2"/>
                </a:solidFill>
              </a:rPr>
              <a:t>Shadow asset, or a naming-plane gap</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Database"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the inventory control asks</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Accurate, complete, no duplicate accounting</a:t>
            </a:r>
            <a:endParaRPr lang="en-US" sz="1400" dirty="0"/>
          </a:p>
          <a:p>
            <a:pPr marL="342900" indent="-342900">
              <a:spcAft>
                <a:spcPts val="200"/>
              </a:spcAft>
              <a:buSzPct val="100000"/>
              <a:buChar char="•"/>
            </a:pPr>
            <a:r>
              <a:rPr lang="en-US" sz="1300" dirty="0">
                <a:solidFill>
                  <a:schemeClr val="tx2"/>
                </a:solidFill>
              </a:rPr>
              <a:t>Moderate: updated with every install and removal</a:t>
            </a:r>
            <a:endParaRPr lang="en-US" sz="1400" dirty="0"/>
          </a:p>
          <a:p>
            <a:pPr marL="342900" indent="-342900">
              <a:spcAft>
                <a:spcPts val="200"/>
              </a:spcAft>
              <a:buSzPct val="100000"/>
              <a:buChar char="•"/>
            </a:pPr>
            <a:r>
              <a:rPr lang="en-US" sz="1300" dirty="0">
                <a:solidFill>
                  <a:schemeClr val="tx2"/>
                </a:solidFill>
              </a:rPr>
              <a:t>Discover assets every 7 days (BOD 23-01)</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Sitemap"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Duplicates and stale items</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Resolve duplicates by binding, not deleting</a:t>
            </a:r>
            <a:endParaRPr lang="en-US" sz="1400" dirty="0"/>
          </a:p>
          <a:p>
            <a:pPr marL="342900" indent="-342900">
              <a:spcAft>
                <a:spcPts val="200"/>
              </a:spcAft>
              <a:buSzPct val="100000"/>
              <a:buChar char="•"/>
            </a:pPr>
            <a:r>
              <a:rPr lang="en-US" sz="1300" dirty="0">
                <a:solidFill>
                  <a:schemeClr val="tx2"/>
                </a:solidFill>
              </a:rPr>
              <a:t>Disable and attest before retiring a stale item</a:t>
            </a:r>
            <a:endParaRPr lang="en-US" sz="1400" dirty="0"/>
          </a:p>
          <a:p>
            <a:pPr marL="342900" indent="-342900">
              <a:spcAft>
                <a:spcPts val="200"/>
              </a:spcAft>
              <a:buSzPct val="100000"/>
              <a:buChar char="•"/>
            </a:pPr>
            <a:r>
              <a:rPr lang="en-US" sz="1300" dirty="0">
                <a:solidFill>
                  <a:schemeClr val="tx2"/>
                </a:solidFill>
              </a:rPr>
              <a:t>Fix naming gaps upstream, never in the CMDB</a:t>
            </a:r>
            <a:endParaRPr lang="en-US" sz="1400" dirty="0"/>
          </a:p>
        </p:txBody>
      </p:sp>
      <p:sp>
        <p:nvSpPr>
          <p:cNvPr id="23" name="Patch"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Patch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Patching and evidence depend on it: </a:t>
            </a:r>
            <a:pPr indent="0" marL="0">
              <a:buNone/>
            </a:pPr>
            <a:r>
              <a:rPr lang="en-US" sz="1650" dirty="0">
                <a:solidFill>
                  <a:schemeClr val="tx2"/>
                </a:solidFill>
              </a:rPr>
              <a:t>a fix that lands on one duplicate leaves the finding open on the other, and compliance computed over phantom items is wrong. Watch for the connector that quietly returns half its records.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SP 800-53B (CM-8 and enhancements); NIST SP 800-128; CISA BOD 23-01; ServiceNow, IRE, CMDB Health and Data Manager; Microsoft Learn, stale devices. Book 15,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Control automation per cloud, and the gaps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gridCol w="2011680"/>
                <a:gridCol w="297180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Native tests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Government-cloud or on-premises gap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365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ScubaGear, Graph, Purview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B91C1C"/>
                          </a:solidFill>
                          <a:latin typeface="Calibri" pitchFamily="34" charset="0"/>
                          <a:ea typeface="Calibri" pitchFamily="34" charset="-122"/>
                          <a:cs typeface="Calibri" pitchFamily="34" charset="-120"/>
                        </a:rPr>
                        <a:t>Compliance Manager continuous assessments still rolling out in GCC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Azure Policy, Defender for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B91C1C"/>
                          </a:solidFill>
                          <a:latin typeface="Calibri" pitchFamily="34" charset="0"/>
                          <a:ea typeface="Calibri" pitchFamily="34" charset="-122"/>
                          <a:cs typeface="Calibri" pitchFamily="34" charset="-120"/>
                        </a:rPr>
                        <a:t>Defender's ServiceNow integration not in Azure Government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Config packs, Security Hub CSPM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B91C1C"/>
                          </a:solidFill>
                          <a:latin typeface="Calibri" pitchFamily="34" charset="0"/>
                          <a:ea typeface="Calibri" pitchFamily="34" charset="-122"/>
                          <a:cs typeface="Calibri" pitchFamily="34" charset="-120"/>
                        </a:rPr>
                        <a:t>Audit Manager closed to new accounts; no GovCloud endpoint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VMware VCF</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Config Profiles, posture scans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B91C1C"/>
                          </a:solidFill>
                          <a:latin typeface="Calibri" pitchFamily="34" charset="0"/>
                          <a:ea typeface="Calibri" pitchFamily="34" charset="-122"/>
                          <a:cs typeface="Calibri" pitchFamily="34" charset="-120"/>
                        </a:rPr>
                        <a:t>9.1 lists no NIST or DISA benchmark; STIG still a readiness guide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oop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Loop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One loop on every surface</a:t>
            </a:r>
            <a:endParaRPr lang="en-US" sz="1700" dirty="0"/>
          </a:p>
        </p:txBody>
      </p:sp>
      <p:sp>
        <p:nvSpPr>
          <p:cNvPr id="10" name="Loop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native tool tests</a:t>
            </a:r>
            <a:endParaRPr lang="en-US" sz="1400" dirty="0"/>
          </a:p>
          <a:p>
            <a:pPr marL="342900" indent="-342900">
              <a:spcAft>
                <a:spcPts val="600"/>
              </a:spcAft>
              <a:buSzPct val="100000"/>
              <a:buChar char="•"/>
            </a:pPr>
            <a:r>
              <a:rPr lang="en-US" sz="1350" dirty="0">
                <a:solidFill>
                  <a:schemeClr val="tx2"/>
                </a:solidFill>
              </a:rPr>
              <a:t>Drift is detected</a:t>
            </a:r>
            <a:endParaRPr lang="en-US" sz="1400" dirty="0"/>
          </a:p>
          <a:p>
            <a:pPr marL="342900" indent="-342900">
              <a:spcAft>
                <a:spcPts val="600"/>
              </a:spcAft>
              <a:buSzPct val="100000"/>
              <a:buChar char="•"/>
            </a:pPr>
            <a:r>
              <a:rPr lang="en-US" sz="1350" dirty="0">
                <a:solidFill>
                  <a:schemeClr val="tx2"/>
                </a:solidFill>
              </a:rPr>
              <a:t>A typed task is raised against the CI</a:t>
            </a:r>
            <a:endParaRPr lang="en-US" sz="1400" dirty="0"/>
          </a:p>
          <a:p>
            <a:pPr marL="342900" indent="-342900">
              <a:spcAft>
                <a:spcPts val="600"/>
              </a:spcAft>
              <a:buSzPct val="100000"/>
              <a:buChar char="•"/>
            </a:pPr>
            <a:r>
              <a:rPr lang="en-US" sz="1350" dirty="0">
                <a:solidFill>
                  <a:schemeClr val="tx2"/>
                </a:solidFill>
              </a:rPr>
              <a:t>The owner fixes it natively</a:t>
            </a:r>
            <a:endParaRPr lang="en-US" sz="1400" dirty="0"/>
          </a:p>
          <a:p>
            <a:pPr marL="342900" indent="-342900">
              <a:spcAft>
                <a:spcPts val="600"/>
              </a:spcAft>
              <a:buSzPct val="100000"/>
              <a:buChar char="•"/>
            </a:pPr>
            <a:r>
              <a:rPr lang="en-US" sz="1350" dirty="0">
                <a:solidFill>
                  <a:schemeClr val="tx2"/>
                </a:solidFill>
              </a:rPr>
              <a:t>Closed on a re-test, not a click</a:t>
            </a:r>
            <a:endParaRPr lang="en-US" sz="1400" dirty="0"/>
          </a:p>
        </p:txBody>
      </p:sp>
      <p:sp>
        <p:nvSpPr>
          <p:cNvPr id="11" name="Dat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UserClo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Dat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Dates to plan around: </a:t>
            </a:r>
            <a:pPr indent="0" marL="0">
              <a:buNone/>
            </a:pPr>
            <a:r>
              <a:rPr lang="en-US" sz="1650" dirty="0">
                <a:solidFill>
                  <a:schemeClr val="tx2"/>
                </a:solidFill>
              </a:rPr>
              <a:t>AWS Audit Manager closed to new customers April 30, 2026; the AWS ServiceNow connector loses support March 31, 2027; Security Hub keeps findings 90 days. The service platform reads control state; it never writes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v1.8.0, BOD 25-01; Microsoft Learn (Defender for Cloud support matrix; Purview GCC plan); AWS docs (Audit Manager, Service Management Connector, Security Hub); Broadcom TechDocs, VCF 9.0 and 9.1. Book 15, Chapters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Native ServiceNow capabilities first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gridCol w="2331720"/>
                <a:gridCol w="21945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Native coverage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agency adds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Control tests and issues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Policy and Compliance Management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Load controls from the control map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RMF workflow, POA&amp;M view, OSCAL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Continuous Authorization and Monitoring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Link each POA&amp;M item to its fix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Posture findings to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Configuration Compliance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A path for Azure Government, AWS, VMware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 identity and health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IRE, CMDB Health, Data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Reconcile to the asset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Close only with proof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Workflow 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0F766E"/>
                          </a:solidFill>
                          <a:latin typeface="Calibri" pitchFamily="34" charset="0"/>
                          <a:ea typeface="Calibri" pitchFamily="34" charset="-122"/>
                          <a:cs typeface="Calibri" pitchFamily="34" charset="-120"/>
                        </a:rPr>
                        <a:t>The closure gate; flag human-only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uy box" descr="">
            <a:extLst>
              <a:ext uri="{C183D7F6-B498-43B3-948B-1728B52AA6E4}">
                <adec:decorative xmlns:adec="http://schemas.microsoft.com/office/drawing/2017/decorative" val="1"/>
              </a:ext>
            </a:extLst>
          </p:cNvPr>
          <p:cNvSpPr/>
          <p:nvPr/>
        </p:nvSpPr>
        <p:spPr>
          <a:xfrm>
            <a:off x="7086600" y="1371600"/>
            <a:ext cx="4572000" cy="3127248"/>
          </a:xfrm>
          <a:prstGeom prst="roundRect">
            <a:avLst>
              <a:gd name="adj" fmla="val 233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ubes"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Buy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Buy first, build the rest</a:t>
            </a:r>
            <a:endParaRPr lang="en-US" sz="1700" dirty="0"/>
          </a:p>
        </p:txBody>
      </p:sp>
      <p:sp>
        <p:nvSpPr>
          <p:cNvPr id="10" name="Buy list"/>
          <p:cNvSpPr txBox="1"/>
          <p:nvPr/>
        </p:nvSpPr>
        <p:spPr>
          <a:xfrm>
            <a:off x="7315200" y="2212848"/>
            <a:ext cx="4206240" cy="221284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Government offering: FedRAMP Certified, Class D (High)</a:t>
            </a:r>
            <a:endParaRPr lang="en-US" sz="1400" dirty="0"/>
          </a:p>
          <a:p>
            <a:pPr marL="342900" indent="-342900">
              <a:spcAft>
                <a:spcPts val="600"/>
              </a:spcAft>
              <a:buSzPct val="100000"/>
              <a:buChar char="•"/>
            </a:pPr>
            <a:r>
              <a:rPr lang="en-US" sz="1300" dirty="0">
                <a:solidFill>
                  <a:schemeClr val="tx2"/>
                </a:solidFill>
              </a:rPr>
              <a:t>The Entra ID spoke has no MFA reset action</a:t>
            </a:r>
            <a:endParaRPr lang="en-US" sz="1400" dirty="0"/>
          </a:p>
          <a:p>
            <a:pPr marL="342900" indent="-342900">
              <a:spcAft>
                <a:spcPts val="600"/>
              </a:spcAft>
              <a:buSzPct val="100000"/>
              <a:buChar char="•"/>
            </a:pPr>
            <a:r>
              <a:rPr lang="en-US" sz="1300" dirty="0">
                <a:solidFill>
                  <a:schemeClr val="tx2"/>
                </a:solidFill>
              </a:rPr>
              <a:t>Systems prove what they can see; people attest the rest</a:t>
            </a:r>
            <a:endParaRPr lang="en-US" sz="1400" dirty="0"/>
          </a:p>
          <a:p>
            <a:pPr marL="342900" indent="-342900">
              <a:spcAft>
                <a:spcPts val="600"/>
              </a:spcAft>
              <a:buSzPct val="100000"/>
              <a:buChar char="•"/>
            </a:pPr>
            <a:r>
              <a:rPr lang="en-US" sz="1300" dirty="0">
                <a:solidFill>
                  <a:schemeClr val="tx2"/>
                </a:solidFill>
              </a:rPr>
              <a:t>FedRAMP's indicators bind providers, not agencies</a:t>
            </a:r>
            <a:endParaRPr lang="en-US" sz="1400" dirty="0"/>
          </a:p>
        </p:txBody>
      </p:sp>
      <p:sp>
        <p:nvSpPr>
          <p:cNvPr id="11" name="Record"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Record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platform is the workflow record, not the evidence store: </a:t>
            </a:r>
            <a:pPr indent="0" marL="0">
              <a:buNone/>
            </a:pPr>
            <a:r>
              <a:rPr lang="en-US" sz="1650" dirty="0">
                <a:solidFill>
                  <a:schemeClr val="tx2"/>
                </a:solidFill>
              </a:rPr>
              <a:t>it holds the test, the approval, the POA&amp;M item and the closure. Telemetry stays in the log stores, so the agency can change platforms without losing its evidence.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ServiceNow docs (Policy and Compliance Management; Continuous Authorization and Monitoring release notes; Configuration Compliance; IRE; Entra ID spoke); FedRAMP Marketplace data (Oct. 21, 2026); FedRAMP 2026 rules. Book 15, Chapters 02, 03, 07, 08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row, and nobody holding the keyboard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UsersGear"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Execute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Service desk, first line</a:t>
            </a:r>
            <a:endParaRPr lang="en-US" sz="1300" dirty="0"/>
          </a:p>
          <a:p>
            <a:pPr indent="0" marL="0">
              <a:spcAft>
                <a:spcPts val="400"/>
              </a:spcAft>
              <a:buNone/>
            </a:pPr>
            <a:r>
              <a:rPr lang="en-US" sz="1300" dirty="0">
                <a:solidFill>
                  <a:schemeClr val="tx2"/>
                </a:solidFill>
              </a:rPr>
              <a:t>Intake, triage, verification, execution</a:t>
            </a:r>
            <a:endParaRPr lang="en-US" sz="1300" dirty="0"/>
          </a:p>
          <a:p>
            <a:pPr indent="0" marL="0">
              <a:spcAft>
                <a:spcPts val="400"/>
              </a:spcAft>
              <a:buNone/>
            </a:pPr>
            <a:r>
              <a:rPr lang="en-US" sz="1300" b="1" dirty="0">
                <a:solidFill>
                  <a:srgbClr val="0F766E"/>
                </a:solidFill>
              </a:rPr>
              <a:t>Cloud services, second line</a:t>
            </a:r>
            <a:endParaRPr lang="en-US" sz="1300" dirty="0"/>
          </a:p>
          <a:p>
            <a:pPr indent="0" marL="0">
              <a:spcAft>
                <a:spcPts val="400"/>
              </a:spcAft>
              <a:buNone/>
            </a:pPr>
            <a:r>
              <a:rPr lang="en-US" sz="1300" dirty="0">
                <a:solidFill>
                  <a:schemeClr val="tx2"/>
                </a:solidFill>
              </a:rPr>
              <a:t>Escalation tier, not a second queue</a:t>
            </a:r>
            <a:endParaRPr lang="en-US" sz="1300" dirty="0"/>
          </a:p>
          <a:p>
            <a:pPr indent="0" marL="0">
              <a:spcAft>
                <a:spcPts val="400"/>
              </a:spcAft>
              <a:buNone/>
            </a:pPr>
            <a:r>
              <a:rPr lang="en-US" sz="1300" b="1" dirty="0">
                <a:solidFill>
                  <a:srgbClr val="0F766E"/>
                </a:solidFill>
              </a:rPr>
              <a:t>Supervisor</a:t>
            </a:r>
            <a:endParaRPr lang="en-US" sz="1300" dirty="0"/>
          </a:p>
          <a:p>
            <a:pPr indent="0" marL="0">
              <a:spcAft>
                <a:spcPts val="400"/>
              </a:spcAft>
              <a:buNone/>
            </a:pPr>
            <a:r>
              <a:rPr lang="en-US" sz="1300" dirty="0">
                <a:solidFill>
                  <a:schemeClr val="tx2"/>
                </a:solidFill>
              </a:rPr>
              <a:t>Approves routine credential work only</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Sitemap"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Own the artifacts</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Platform owners</a:t>
            </a:r>
            <a:endParaRPr lang="en-US" sz="1300" dirty="0"/>
          </a:p>
          <a:p>
            <a:pPr indent="0" marL="0">
              <a:spcAft>
                <a:spcPts val="400"/>
              </a:spcAft>
              <a:buNone/>
            </a:pPr>
            <a:r>
              <a:rPr lang="en-US" sz="1300" dirty="0">
                <a:solidFill>
                  <a:schemeClr val="tx2"/>
                </a:solidFill>
              </a:rPr>
              <a:t>Runbooks and what each catalog item does</a:t>
            </a:r>
            <a:endParaRPr lang="en-US" sz="1300" dirty="0"/>
          </a:p>
          <a:p>
            <a:pPr indent="0" marL="0">
              <a:spcAft>
                <a:spcPts val="400"/>
              </a:spcAft>
              <a:buNone/>
            </a:pPr>
            <a:r>
              <a:rPr lang="en-US" sz="1300" b="1" dirty="0">
                <a:solidFill>
                  <a:srgbClr val="1F2A44"/>
                </a:solidFill>
              </a:rPr>
              <a:t>CISO or governance officer</a:t>
            </a:r>
            <a:endParaRPr lang="en-US" sz="1300" dirty="0"/>
          </a:p>
          <a:p>
            <a:pPr indent="0" marL="0">
              <a:spcAft>
                <a:spcPts val="400"/>
              </a:spcAft>
              <a:buNone/>
            </a:pPr>
            <a:r>
              <a:rPr lang="en-US" sz="1300" dirty="0">
                <a:solidFill>
                  <a:schemeClr val="tx2"/>
                </a:solidFill>
              </a:rPr>
              <a:t>The approval gate an item enforces</a:t>
            </a:r>
            <a:endParaRPr lang="en-US" sz="1300" dirty="0"/>
          </a:p>
          <a:p>
            <a:pPr indent="0" marL="0">
              <a:spcAft>
                <a:spcPts val="400"/>
              </a:spcAft>
              <a:buNone/>
            </a:pPr>
            <a:r>
              <a:rPr lang="en-US" sz="1300" b="1" dirty="0">
                <a:solidFill>
                  <a:srgbClr val="1F2A44"/>
                </a:solidFill>
              </a:rPr>
              <a:t>CMDB owner</a:t>
            </a:r>
            <a:endParaRPr lang="en-US" sz="1300" dirty="0"/>
          </a:p>
          <a:p>
            <a:pPr indent="0" marL="0">
              <a:spcAft>
                <a:spcPts val="400"/>
              </a:spcAft>
              <a:buNone/>
            </a:pPr>
            <a:r>
              <a:rPr lang="en-US" sz="1300" dirty="0">
                <a:solidFill>
                  <a:schemeClr val="tx2"/>
                </a:solidFill>
              </a:rPr>
              <a:t>The model and the queue, not the facts</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BuildingColumns"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Authorize and accept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Change advisory board</a:t>
            </a:r>
            <a:endParaRPr lang="en-US" sz="1300" dirty="0"/>
          </a:p>
          <a:p>
            <a:pPr indent="0" marL="0">
              <a:spcAft>
                <a:spcPts val="400"/>
              </a:spcAft>
              <a:buNone/>
            </a:pPr>
            <a:r>
              <a:rPr lang="en-US" sz="1300" dirty="0">
                <a:solidFill>
                  <a:schemeClr val="tx2"/>
                </a:solidFill>
              </a:rPr>
              <a:t>Authorizes changes; doesn't accept risk</a:t>
            </a:r>
            <a:endParaRPr lang="en-US" sz="1300" dirty="0"/>
          </a:p>
          <a:p>
            <a:pPr indent="0" marL="0">
              <a:spcAft>
                <a:spcPts val="400"/>
              </a:spcAft>
              <a:buNone/>
            </a:pPr>
            <a:r>
              <a:rPr lang="en-US" sz="1300" b="1" dirty="0">
                <a:solidFill>
                  <a:srgbClr val="B45309"/>
                </a:solidFill>
              </a:rPr>
              <a:t>System owner and ISSO</a:t>
            </a:r>
            <a:endParaRPr lang="en-US" sz="1300" dirty="0"/>
          </a:p>
          <a:p>
            <a:pPr indent="0" marL="0">
              <a:spcAft>
                <a:spcPts val="400"/>
              </a:spcAft>
              <a:buNone/>
            </a:pPr>
            <a:r>
              <a:rPr lang="en-US" sz="1300" dirty="0">
                <a:solidFill>
                  <a:schemeClr val="tx2"/>
                </a:solidFill>
              </a:rPr>
              <a:t>Remediation, impact analysis, evidence</a:t>
            </a:r>
            <a:endParaRPr lang="en-US" sz="1300" dirty="0"/>
          </a:p>
          <a:p>
            <a:pPr indent="0" marL="0">
              <a:spcAft>
                <a:spcPts val="400"/>
              </a:spcAft>
              <a:buNone/>
            </a:pPr>
            <a:r>
              <a:rPr lang="en-US" sz="1300" b="1" dirty="0">
                <a:solidFill>
                  <a:srgbClr val="B45309"/>
                </a:solidFill>
              </a:rPr>
              <a:t>Authorizing official</a:t>
            </a:r>
            <a:endParaRPr lang="en-US" sz="1300" dirty="0"/>
          </a:p>
          <a:p>
            <a:pPr indent="0" marL="0">
              <a:spcAft>
                <a:spcPts val="400"/>
              </a:spcAft>
              <a:buNone/>
            </a:pPr>
            <a:r>
              <a:rPr lang="en-US" sz="1300" dirty="0">
                <a:solidFill>
                  <a:schemeClr val="tx2"/>
                </a:solidFill>
              </a:rPr>
              <a:t>Accepts risk; government-only</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THE SEPARATIONS THE PLATFORM ENFORCES</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0F766E"/>
                </a:solidFill>
              </a:rPr>
              <a:t>Executors don't approve — </a:t>
            </a:r>
            <a:pPr indent="0" marL="0">
              <a:buNone/>
            </a:pPr>
            <a:r>
              <a:rPr lang="en-US" sz="1400" dirty="0">
                <a:solidFill>
                  <a:schemeClr val="tx2"/>
                </a:solidFill>
              </a:rPr>
              <a:t>the platform refuses a ticket whose approver and executor are the same identity</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Nobody changes their own gate — </a:t>
            </a:r>
            <a:pPr indent="0" marL="0">
              <a:buNone/>
            </a:pPr>
            <a:r>
              <a:rPr lang="en-US" sz="1400" dirty="0">
                <a:solidFill>
                  <a:schemeClr val="tx2"/>
                </a:solidFill>
              </a:rPr>
              <a:t>an approval-rule change is a normal change the advisory board authorizes</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Contractors prepare — </a:t>
            </a:r>
            <a:pPr indent="0" marL="0">
              <a:buNone/>
            </a:pPr>
            <a:r>
              <a:rPr lang="en-US" sz="1400" dirty="0">
                <a:solidFill>
                  <a:schemeClr val="tx2"/>
                </a:solidFill>
              </a:rPr>
              <a:t>a contracted desk executes and prepares; government officials decide</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Task M-1); SP 800-53 Rev. 5 (AC-5, CM-3, CM-3(4), CM-5, CM-8(4), CM-9(1)); SP 800-128; ServiceNow change types. Book 15,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runbook, and harnesses that check the automation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adence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Cadence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Daily</a:t>
            </a:r>
            <a:endParaRPr lang="en-US" sz="1400" dirty="0"/>
          </a:p>
          <a:p>
            <a:pPr indent="0" marL="0">
              <a:buNone/>
            </a:pPr>
            <a:r>
              <a:rPr lang="en-US" sz="1400" b="1" dirty="0">
                <a:solidFill>
                  <a:srgbClr val="1F2A44"/>
                </a:solidFill>
              </a:rPr>
              <a:t>Probe and route</a:t>
            </a:r>
            <a:endParaRPr lang="en-US" sz="1400" dirty="0"/>
          </a:p>
          <a:p>
            <a:pPr indent="0" marL="0">
              <a:buNone/>
            </a:pPr>
            <a:r>
              <a:rPr lang="en-US" sz="1200" dirty="0">
                <a:solidFill>
                  <a:schemeClr val="tx2"/>
                </a:solidFill>
              </a:rPr>
              <a:t>Sync probe; log sources; tasks closed with proof</a:t>
            </a:r>
            <a:endParaRPr lang="en-US" sz="1400" dirty="0"/>
          </a:p>
        </p:txBody>
      </p:sp>
      <p:sp>
        <p:nvSpPr>
          <p:cNvPr id="7" name="Cadence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Cadence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Weekly</a:t>
            </a:r>
            <a:endParaRPr lang="en-US" sz="1400" dirty="0"/>
          </a:p>
          <a:p>
            <a:pPr indent="0" marL="0">
              <a:buNone/>
            </a:pPr>
            <a:r>
              <a:rPr lang="en-US" sz="1400" b="1" dirty="0">
                <a:solidFill>
                  <a:srgbClr val="1F2A44"/>
                </a:solidFill>
              </a:rPr>
              <a:t>Test the detectors</a:t>
            </a:r>
            <a:endParaRPr lang="en-US" sz="1400" dirty="0"/>
          </a:p>
          <a:p>
            <a:pPr indent="0" marL="0">
              <a:buNone/>
            </a:pPr>
            <a:r>
              <a:rPr lang="en-US" sz="1200" dirty="0">
                <a:solidFill>
                  <a:schemeClr val="tx2"/>
                </a:solidFill>
              </a:rPr>
              <a:t>Replay known-bad events; review human-only closures</a:t>
            </a:r>
            <a:endParaRPr lang="en-US" sz="1400" dirty="0"/>
          </a:p>
        </p:txBody>
      </p:sp>
      <p:sp>
        <p:nvSpPr>
          <p:cNvPr id="9" name="Cadence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Cadence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Monthly</a:t>
            </a:r>
            <a:endParaRPr lang="en-US" sz="1400" dirty="0"/>
          </a:p>
          <a:p>
            <a:pPr indent="0" marL="0">
              <a:buNone/>
            </a:pPr>
            <a:r>
              <a:rPr lang="en-US" sz="1400" b="1" dirty="0">
                <a:solidFill>
                  <a:srgbClr val="1F2A44"/>
                </a:solidFill>
              </a:rPr>
              <a:t>Regenerate and review</a:t>
            </a:r>
            <a:endParaRPr lang="en-US" sz="1400" dirty="0"/>
          </a:p>
          <a:p>
            <a:pPr indent="0" marL="0">
              <a:buNone/>
            </a:pPr>
            <a:r>
              <a:rPr lang="en-US" sz="1200" dirty="0">
                <a:solidFill>
                  <a:schemeClr val="tx2"/>
                </a:solidFill>
              </a:rPr>
              <a:t>Results and POA&amp;M; harness results</a:t>
            </a:r>
            <a:endParaRPr lang="en-US" sz="1400" dirty="0"/>
          </a:p>
        </p:txBody>
      </p:sp>
      <p:sp>
        <p:nvSpPr>
          <p:cNvPr id="11" name="Cadence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Cadence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Quarterly</a:t>
            </a:r>
            <a:endParaRPr lang="en-US" sz="1400" dirty="0"/>
          </a:p>
          <a:p>
            <a:pPr indent="0" marL="0">
              <a:buNone/>
            </a:pPr>
            <a:r>
              <a:rPr lang="en-US" sz="1400" b="1" dirty="0">
                <a:solidFill>
                  <a:srgbClr val="1F2A44"/>
                </a:solidFill>
              </a:rPr>
              <a:t>Step back</a:t>
            </a:r>
            <a:endParaRPr lang="en-US" sz="1400" dirty="0"/>
          </a:p>
          <a:p>
            <a:pPr indent="0" marL="0">
              <a:buNone/>
            </a:pPr>
            <a:r>
              <a:rPr lang="en-US" sz="1200" dirty="0">
                <a:solidFill>
                  <a:schemeClr val="tx2"/>
                </a:solidFill>
              </a:rPr>
              <a:t>Privileged access; trends; refresh the library</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ListCheck"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Everyday tasks, governed</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 reset delivered on a separate channel</a:t>
            </a:r>
            <a:endParaRPr lang="en-US" sz="1400" dirty="0"/>
          </a:p>
          <a:p>
            <a:pPr marL="342900" indent="-342900">
              <a:spcAft>
                <a:spcPts val="200"/>
              </a:spcAft>
              <a:buSzPct val="100000"/>
              <a:buChar char="•"/>
            </a:pPr>
            <a:r>
              <a:rPr lang="en-US" sz="1300" dirty="0">
                <a:solidFill>
                  <a:schemeClr val="tx2"/>
                </a:solidFill>
              </a:rPr>
              <a:t>Parameters travel; commands don't</a:t>
            </a:r>
            <a:endParaRPr lang="en-US" sz="1400" dirty="0"/>
          </a:p>
          <a:p>
            <a:pPr marL="342900" indent="-342900">
              <a:spcAft>
                <a:spcPts val="200"/>
              </a:spcAft>
              <a:buSzPct val="100000"/>
              <a:buChar char="•"/>
            </a:pPr>
            <a:r>
              <a:rPr lang="en-US" sz="1300" dirty="0">
                <a:solidFill>
                  <a:schemeClr val="tx2"/>
                </a:solidFill>
              </a:rPr>
              <a:t>A read-only probe replaces the morning logon</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ChartLine"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Make silent failure loud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 source past its freshness limit raises an alert</a:t>
            </a:r>
            <a:endParaRPr lang="en-US" sz="1400" dirty="0"/>
          </a:p>
          <a:p>
            <a:pPr marL="342900" indent="-342900">
              <a:spcAft>
                <a:spcPts val="200"/>
              </a:spcAft>
              <a:buSzPct val="100000"/>
              <a:buChar char="•"/>
            </a:pPr>
            <a:r>
              <a:rPr lang="en-US" sz="1300" dirty="0">
                <a:solidFill>
                  <a:schemeClr val="tx2"/>
                </a:solidFill>
              </a:rPr>
              <a:t>A deploy that doesn't close its control fails</a:t>
            </a:r>
            <a:endParaRPr lang="en-US" sz="1400" dirty="0"/>
          </a:p>
          <a:p>
            <a:pPr marL="342900" indent="-342900">
              <a:spcAft>
                <a:spcPts val="200"/>
              </a:spcAft>
              <a:buSzPct val="100000"/>
              <a:buChar char="•"/>
            </a:pPr>
            <a:r>
              <a:rPr lang="en-US" sz="1300" dirty="0">
                <a:solidFill>
                  <a:schemeClr val="tx2"/>
                </a:solidFill>
              </a:rPr>
              <a:t>Workflow tests run only in non-production</a:t>
            </a:r>
            <a:endParaRPr lang="en-US" sz="1400" dirty="0"/>
          </a:p>
        </p:txBody>
      </p:sp>
      <p:sp>
        <p:nvSpPr>
          <p:cNvPr id="23" name="Ran"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Ran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A harness that stops running looks like one that passes: </a:t>
            </a:r>
            <a:pPr indent="0" marL="0">
              <a:buNone/>
            </a:pPr>
            <a:r>
              <a:rPr lang="en-US" sz="1650" dirty="0">
                <a:solidFill>
                  <a:schemeClr val="tx2"/>
                </a:solidFill>
              </a:rPr>
              <a:t>the monthly review checks that each one ran. At Moderate the harnesses are evidence for control assessment and continuous monitoring; SI-6 is in the High baseline only.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and SP 800-53B (CA-2, CA-7, AC-6(7), AU-9, SI-6); Microsoft Learn (Entra Connect Sync scheduler; Connect Health; KQL union); ServiceNow ATF. Book 15,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Fingerprint"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Put verification under the CISO</a:t>
            </a:r>
            <a:endParaRPr lang="en-US" sz="1400" dirty="0"/>
          </a:p>
          <a:p>
            <a:pPr indent="0" marL="0">
              <a:buNone/>
            </a:pPr>
            <a:r>
              <a:rPr lang="en-US" sz="1450" dirty="0">
                <a:solidFill>
                  <a:schemeClr val="tx2"/>
                </a:solidFill>
              </a:rPr>
              <a:t>Most friction on sensitive accounts; alert on every reset</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Icon FaDoorOpen"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Build one front door</a:t>
            </a:r>
            <a:endParaRPr lang="en-US" sz="1400" dirty="0"/>
          </a:p>
          <a:p>
            <a:pPr indent="0" marL="0">
              <a:buNone/>
            </a:pPr>
            <a:r>
              <a:rPr lang="en-US" sz="1450" dirty="0">
                <a:solidFill>
                  <a:schemeClr val="tx2"/>
                </a:solidFill>
              </a:rPr>
              <a:t>Redirect the mailbox; triage by authority; expire to reject</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Cubes"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Buy native, build the gaps</a:t>
            </a:r>
            <a:endParaRPr lang="en-US" sz="1400" dirty="0"/>
          </a:p>
          <a:p>
            <a:pPr indent="0" marL="0">
              <a:buNone/>
            </a:pPr>
            <a:r>
              <a:rPr lang="en-US" sz="1450" dirty="0">
                <a:solidFill>
                  <a:schemeClr val="tx2"/>
                </a:solidFill>
              </a:rPr>
              <a:t>Verdict before SaaS; check every feature in your cloud</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UsersGear"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Fund the third layer</a:t>
            </a:r>
            <a:endParaRPr lang="en-US" sz="1400" dirty="0"/>
          </a:p>
          <a:p>
            <a:pPr indent="0" marL="0">
              <a:buNone/>
            </a:pPr>
            <a:r>
              <a:rPr lang="en-US" sz="1450" dirty="0">
                <a:solidFill>
                  <a:schemeClr val="tx2"/>
                </a:solidFill>
              </a:rPr>
              <a:t>Owner, gate, clock, evidence feed; mostly automation</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no procurement: </a:t>
            </a:r>
            <a:pPr indent="0" marL="0">
              <a:buNone/>
            </a:pPr>
            <a:r>
              <a:rPr lang="en-US" sz="1650" dirty="0">
                <a:solidFill>
                  <a:schemeClr val="tx2"/>
                </a:solidFill>
              </a:rPr>
              <a:t>measure before you build. Run the read-only SaaS integration inventory and synchronization probe in a test tenant, size the catalog from what they find, and plan the move off AWS's ServiceNow connector before March 31, 2027.</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800-63B-4; FedRAMP Marketplace data; AWS Service Management Connector end-of-support notice. Book 15, Chapters 01, 02, 03, 06, 08, 09,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OMB M-22-09 (January 26, 2022).  ·  NIST SP 800-63B-4 (July 2025), §§ 2.2.2, 3.2.5, 4.1.2.1, 4.2, 4.6.  ·  NIST SP 800-53 Rev. 5 (release 5.2.0) and SP 800-53B baselines; SP 800-37 Rev. 2; SP 800-128; SP 800-137.</a:t>
            </a:r>
            <a:endParaRPr lang="en-US" sz="1400" dirty="0"/>
          </a:p>
          <a:p>
            <a:pPr marL="342900" indent="-342900">
              <a:spcAft>
                <a:spcPts val="600"/>
              </a:spcAft>
              <a:buSzPct val="100000"/>
              <a:buChar char="•"/>
            </a:pPr>
            <a:r>
              <a:rPr lang="en-US" sz="1200" dirty="0">
                <a:solidFill>
                  <a:schemeClr val="tx2"/>
                </a:solidFill>
              </a:rPr>
              <a:t>CISA: Advisory AA23-320A, Scattered Spider (November 16, 2023, revised July 29, 2025); BOD 23-01; BOD 25-01 and its required configurations; ScubaGear v1.8.0; BOD 26-04 (June 10, 2026).  ·  FCC 19-76; 47 CFR §§ 9.3, 9.16.</a:t>
            </a:r>
            <a:endParaRPr lang="en-US" sz="1400" dirty="0"/>
          </a:p>
          <a:p>
            <a:pPr marL="342900" indent="-342900">
              <a:spcAft>
                <a:spcPts val="600"/>
              </a:spcAft>
              <a:buSzPct val="100000"/>
              <a:buChar char="•"/>
            </a:pPr>
            <a:r>
              <a:rPr lang="en-US" sz="1200" dirty="0">
                <a:solidFill>
                  <a:schemeClr val="tx2"/>
                </a:solidFill>
              </a:rPr>
              <a:t>FedRAMP Consolidated Rules for 2026 (Using a Certified Cloud Service; Key Security Indicators; Security Decision Record; Vulnerability Detection and Response); FedRAMP Marketplace data, products.json (October 21, 2026).</a:t>
            </a:r>
            <a:endParaRPr lang="en-US" sz="1400" dirty="0"/>
          </a:p>
          <a:p>
            <a:pPr marL="342900" indent="-342900">
              <a:spcAft>
                <a:spcPts val="600"/>
              </a:spcAft>
              <a:buSzPct val="100000"/>
              <a:buChar char="•"/>
            </a:pPr>
            <a:r>
              <a:rPr lang="en-US" sz="1200" dirty="0">
                <a:solidFill>
                  <a:schemeClr val="tx2"/>
                </a:solidFill>
              </a:rPr>
              <a:t>Microsoft Learn: Entra built-in roles, privileged roles, administrative and restricted management units, PIM, Temporary Access Pass, account recovery and Verified ID, SSPR and writeback, app provisioning, Defender for Cloud, Azure Policy, Purview, Teams emergency calling, Entra Connect.</a:t>
            </a:r>
            <a:endParaRPr lang="en-US" sz="1400" dirty="0"/>
          </a:p>
          <a:p>
            <a:pPr marL="342900" indent="-342900">
              <a:spcAft>
                <a:spcPts val="600"/>
              </a:spcAft>
              <a:buSzPct val="100000"/>
              <a:buChar char="•"/>
            </a:pPr>
            <a:r>
              <a:rPr lang="en-US" sz="1200" dirty="0">
                <a:solidFill>
                  <a:schemeClr val="tx2"/>
                </a:solidFill>
              </a:rPr>
              <a:t>ServiceNow: Microsoft Entra ID spoke; inbound email and approvals; MID Server; Discovery, IRE, CMDB Health and Data Manager; Policy and Compliance Management; Continuous Authorization and Monitoring; Configuration Compliance; change types; ATF.</a:t>
            </a:r>
            <a:endParaRPr lang="en-US" sz="1400" dirty="0"/>
          </a:p>
          <a:p>
            <a:pPr marL="342900" indent="-342900">
              <a:spcAft>
                <a:spcPts val="600"/>
              </a:spcAft>
              <a:buSzPct val="100000"/>
              <a:buChar char="•"/>
            </a:pPr>
            <a:r>
              <a:rPr lang="en-US" sz="1200" dirty="0">
                <a:solidFill>
                  <a:schemeClr val="tx2"/>
                </a:solidFill>
              </a:rPr>
              <a:t>AWS: Config conformance packs, Security Hub CSPM and Security Hub, Audit Manager availability change, Service Management Connector end of support.  ·  Broadcom: vSphere Configuration Profiles, Lifecycle Manager, VCF Operations 9.0 and 9.1, VCF STIG content.</a:t>
            </a:r>
            <a:endParaRPr lang="en-US" sz="1400" dirty="0"/>
          </a:p>
          <a:p>
            <a:pPr marL="342900" indent="-342900">
              <a:spcAft>
                <a:spcPts val="600"/>
              </a:spcAft>
              <a:buSzPct val="100000"/>
              <a:buChar char="•"/>
            </a:pPr>
            <a:r>
              <a:rPr lang="en-US" sz="1200" dirty="0">
                <a:solidFill>
                  <a:schemeClr val="tx2"/>
                </a:solidFill>
              </a:rPr>
              <a:t>Full footnotes with links and access dates (October 21, 2026): Book 15, every chapter and Appendix A (whalermike.github.io/modernization-workbook/docs/books/b15-day2-operations/).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Compliance Automation &amp; Day-2 Operations</dc:title>
  <dc:subject>PptxGenJS Presentation</dc:subject>
  <dc:creator>Michael F. Stratton</dc:creator>
  <cp:lastModifiedBy>Michael F. Stratton</cp:lastModifiedBy>
  <cp:revision>1</cp:revision>
  <dcterms:created xsi:type="dcterms:W3CDTF">2026-10-21T22:55:25Z</dcterms:created>
  <dcterms:modified xsi:type="dcterms:W3CDTF">2026-10-21T22:55:25Z</dcterms:modified>
</cp:coreProperties>
</file>