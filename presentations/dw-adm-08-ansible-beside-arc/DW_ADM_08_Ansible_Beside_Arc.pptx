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99f09c3e-3153-54a5-d0f7-ac0f28ec30aa}">
          <p14:sldIdLst>
            <p14:sldId id="256"/>
          </p14:sldIdLst>
        </p14:section>
        <p14:section name="Why" id="{9e264035-c1a1-aecc-6642-3305192db01f}">
          <p14:sldIdLst>
            <p14:sldId id="257"/>
            <p14:sldId id="258"/>
            <p14:sldId id="259"/>
          </p14:sldIdLst>
        </p14:section>
        <p14:section name="What" id="{a4ed8231-6ad3-0477-f851-e3a5726d3029}">
          <p14:sldIdLst>
            <p14:sldId id="260"/>
            <p14:sldId id="261"/>
            <p14:sldId id="262"/>
            <p14:sldId id="263"/>
            <p14:sldId id="264"/>
            <p14:sldId id="265"/>
            <p14:sldId id="266"/>
            <p14:sldId id="267"/>
          </p14:sldIdLst>
        </p14:section>
        <p14:section name="Who" id="{6f371c38-7ce0-4123-770b-9f3f5e01a3c9}">
          <p14:sldIdLst>
            <p14:sldId id="268"/>
          </p14:sldIdLst>
        </p14:section>
        <p14:section name="How" id="{6b91b33d-5b69-da43-a44b-d6e854beea3b}">
          <p14:sldIdLst>
            <p14:sldId id="269"/>
            <p14:sldId id="270"/>
            <p14:sldId id="271"/>
            <p14:sldId id="272"/>
            <p14:sldId id="273"/>
          </p14:sldIdLst>
        </p14:section>
        <p14:section name="Backup" id="{fb2dd51a-25c3-fb74-f1fa-d5530a48d330}">
          <p14:sldIdLst>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Federal Modernization Workbook's developer workbook, Building the Attribute-Driven Migration. This is Chapter 8: Ansible beside Arc. Microsoft's role connects a server to Azure Arc, but it doesn't know which tool owns the server's settings, which tool patches it, or which wave it belongs to. The configuration database knows, and the inventory has to carry that to every connect. We'll start from Microsoft's own role, see what it leaves out, then walk the inventory, the wave plan, the onboarding playbook, two labs and the dangers. One note before we begin: the code is illustrative, tested against fixtures.
Detail: How Ansible onboards servers to Azure Arc without taking anything another tool owns. You start from Microsoft's own azure.azcollection.azure_arc role, which Learn documents and the repository keeps as a pinned copy, run it offline, and see what it leaves to you. Then you build on examples/ansible: a patch_owner column in the CMDB export, an inventory that reads both owners and turns them into the ConfigOwner and PatchOwner tags, a wave plan written before anything runs, a dry run the role can't do itself, and a guard that keeps a GCC estate on commercial Azure. Lab 1 runs on a laptop with no subscription; Lab 2 uses a test subscription and a disposable server. Goal: by the end of the chapter you can onboard one wave of servers to Arc with Microsoft's role, from a CMDB export, with every server tagged with the tool that owns its settings and the tool that patches it. You can show a reviewer the plan before the run and the result after it. For each rule in the code you can say whether it is Microsoft's contract, Microsoft's sample, or the program's own design.
Sources: Microsoft Learn, "Connect machines to Azure Arc at scale with Ansible," https://learn.microsoft.com/azure/azure-arc/servers/onboard-ansible-playbooks (accessed Oct 30, 2026). · Microsoft and the Ansible community, azure.azcollection azure_arc role, ansible-collections/azure, roles/azure_arc at commit afa62c3bcf3e283645336039e13c8e3019b8fcdd (release v4.2.0, October 30, 2026), GPL-3.0-or-later, https://github.com/ansible-collections/azure/tree/afa62c3bcf3e283645336039e13c8e3019b8fcdd/roles/azure_arc (accessed Oct 30, 2026); pinned copy in examples/third_party/azure-arc-role. Not a Learn page: Learn's role page links the role's Galaxy listing.
Workbook: Building the Attribute-Driven Migration, Chapter 08 — “In this chapter”; “Goal and audience”.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does this chapter matter? Because the program gives every setting one owning tool, and every server one patching tool, and both are recorded in the configuration database. Arc doesn't change any of that. What it does is turn the server into an Azure resource, and from then on, tags tell Azure's tools which servers are theirs. Those tags are written once, at the moment of connection. So the onboarding run is the one place owners get read, checked and carried. Connect a server without them, and it belongs to whichever tool reaches it first.
Detail: The program gives every setting one owning tool. The CMDB records it for each asset as config_owner, and the Arc track mirrors it to the Arc ConfigOwner tag. Patching has one owner too: the Ansible guide's rule 5 names a patch_owner field, mirrored to the PatchOwner tag. Where Ansible already patches a fleet, Update Manager only assesses those servers and schedules nothing on them (design guidance). Arc doesn't change who owns what. It makes the server an Azure resource, and the tags tell the Azure tools which servers are theirs. So the tags are written once, at the connect, from the CMDB. That makes the onboarding run the place where owners are read, checked and carried. A server connected without them is open to whichever tool reaches it first.
Sources: Building the Attribute-Driven Migration, Chapter 08, docs/project-plans/developer-workbooks/attribute-driven-migration/08-ansible-beside-arc.md
Workbook: Building the Attribute-Driven Migration, Chapter 08 — “Where Ansible sits beside Arc”.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who reads those tags once a server is connected. Machine configuration, from the last chapter, only enforces on servers whose configuration owner tag names it. Update Manager's dynamic scopes can group machines by tag, and they're evaluated at every scheduled run, so a scope on the patch owner tag follows the tag. The built-in assessment policy can be scoped by tag too. And the validation kit checks afterward for a server carrying enforcement it shouldn't. Every one of them depends on the tag being right from the start. Next, which Azure.
Detail: Chapter 07's enforcing definitions filter on ConfigOwner, so machine configuration changes only the servers it owns. Update Manager's dynamic scopes group machines by tags, among other criteria, and are evaluated at each scheduled run, so a scope on PatchOwner follows the tag. Learn: dynamic scope groups machines by subscription, resource group, location, resource type, OS type and tags, evaluated at run time; Arc servers have no patch orchestration prerequisite. The built-in policy for periodic assessment on Arc servers can be scoped by tag too. After the fact, VK-ARC-07 in the validation kit reports a server whose owner isn't machine configuration but which carries an enforcing machine configuration assignment.
Sources: Microsoft Learn, "About dynamic scoping" (Azure Update Manager), https://learn.microsoft.com/azure/update-manager/dynamic-scope-overview (accessed Oct 30, 2026). · Microsoft Learn, "Azure Policy built-in definitions for Azure Arc-enabled servers," https://learn.microsoft.com/azure/azure-arc/servers/policy-reference (accessed Oct 30, 2026).
Workbook: Building the Attribute-Driven Migration, Chapter 08 — “Where Ansible sits beside Arc”.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Which Azure? This is easy to get wrong. The estate is a Microsoft 365 GCC tenant, and Learn says GCC uses the public directory, which can't be associated with an Azure Government subscription. So the estate's Arc servers go to a commercial subscription, using the agent's default cloud and the commercial endpoints on the slide. GCC High and Defense tenants are different: they use the government directory, Azure Government, and the dot U S endpoints. The code guards both directions, as we'll see.
Detail: The program's estate is a Microsoft 365 GCC tenant. Learn says Office 365 GCC uses Microsoft Entra Public, and an Azure Government subscription can't be associated with a directory there. So a GCC estate's Arc servers go to a commercial subscription, and the agent connects with --cloud AzureCloud, the default. The agent then needs the commercial endpoints: login.microsoftonline.com, *.login.microsoft.com, pas.windows.net, management.azure.com (only to connect or disconnect), *.his.arc.azure.com and *.guestconfiguration.azure.com, among others (notification service endpoints too). GCC High and DoD tenants use Microsoft Entra Government and Azure Government: AzureUSGovernment, US Gov regions, and the .us endpoints: login.microsoftonline.us, management.usgovcloudapi.net, *.his.arc.azure.us, *.guestconfiguration.azure.us.
Sources: Microsoft Learn, "Planning identity for Azure Government applications," https://learn.microsoft.com/azure/azure-government/documentation-government-plan-identity (accessed Oct 30, 2026). · Microsoft Learn, "azcmagent connect," https://learn.microsoft.com/azure/azure-arc/servers/azcmagent-connect (accessed Oct 30, 2026). · Microsoft Learn, "Connected Machine agent network requirements," https://learn.microsoft.com/azure/azure-arc/servers/network-requirements (accessed Oct 30, 2026).
Workbook: Building the Attribute-Driven Migration, Chapter 08 — “Where Ansible sits beside Arc” — “Which Azure”; “Verified facts”.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Microsoft gives you. Learn documents Arc onboarding with Ansible through one role in the Azure collection. It installs the agent and registers each host, and it's idempotent, so a connected machine is simply skipped. Learn's page covers the onboarding role, the variables, and authentication, recommending the control node's managed identity in production because it removes stored secrets. It also suggests scheduling the job nightly. But Learn's planning page adds something the role page doesn't: pilot first, on non-critical machines, for at least thirty days, with a rollback plan.
Detail: Learn documents Arc onboarding with Ansible through the Azure Arc onboarding role in the azure.azcollection collection. The role installs the Connected Machine agent and registers each host in the resource group and subscription you give it. It is idempotent: a machine that's already connected is skipped. It doesn't discover machines. Permissions: the identity Ansible uses needs Azure Connected Machine Onboarding at subscription or resource group scope; Microsoft.HybridCompute and Microsoft.GuestConfiguration registered. Variables: azure_arc_resource_group, azure_arc_subscription_id, azure_arc_tenant_id, azure_arc_location, azure_arc_cloud (default AzureCloud), azure_arc_tags, proxy. Authentication: auth_source: cli for development; auth_source: msi, the control node's managed identity, recommended for production because it removes stored secrets; in Ansible Automation Platform, a managed identity or a service principal through auth_source: env. Inventory: static groups such as arc_linux, or dynamic inventories; in Automation Platform, a constructed inventory, including from a CMDB. Scale: run the same playbook across groups; in Automation Platform, schedule the job nightly so new machines are onboarded as they appear. Learn's planning page adds what the role page doesn't: pilot first, on a representative set of machines that aren't business critical, for at least 30 days, with a written plan that includes rollback. Release stage: generally available: Learn's role page and the role carry no preview label. --enable-automatic-upgrade on azcmagent connect is in public preview, and the kit doesn't use it.
Sources: Microsoft Learn, "Connect machines to Azure Arc at scale with Ansible," https://learn.microsoft.com/azure/azure-arc/servers/onboard-ansible-playbooks (accessed Oct 30, 2026). · Microsoft Learn, "Plan and deploy Azure Arc-enabled servers," https://learn.microsoft.com/azure/azure-arc/servers/plan-at-scale-deployment (accessed Oct 30, 2026). · Microsoft Learn, "azcmagent connect," https://learn.microsoft.com/azure/azure-arc/servers/azcmagent-connect (accessed Oct 30, 2026).
Workbook: Building the Attribute-Driven Migration, Chapter 08 — “What Learn gives you”; “Verified facts” — release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repository keeps an unmodified copy of the role, from the released version, with every file's hash checked against upstream and against the published package. The collection is pinned to that version, and a test fails if the installed role isn't the pinned copy. Reading the code turned up two things Learn's page doesn't say. The role's default tag is different from the one Learn's table gives. And unless you turn it off, it sends a signal about your subscription, resource group, tenant and region back to Microsoft. The chapter follows the code, because that's what runs.
Detail: The repository keeps an unmodified copy of the role in examples/third_party/azure-arc-role, from ansible-collections/azure at the v4.2.0 release (commit afa62c3, October 30, 2026), with its GPL-3.0-or-later license. It holds the role's README, defaults, metadata and tasks. Each file's git blob hash was checked against the upstream tree, and the role files in the 4.2.0 package on Ansible Galaxy match them byte for byte. snapshot.json records the commit and the SHA-256 of every file, and a unit test fails if one changes. examples/ansible/requirements.yml pins azure.azcollection to 4.2.0, and tests/test_microsoft_role.py fails if the installed role isn't the pinned copy. The weekly source watch reports new upstream commits to the role. Updating either is a reviewed pull request, the same pattern as Chapter 01. Reading the role shows two things Learn's page doesn't say. Its default tag is ArcSQLServerExtensionDeployment: Disabled, where Learn's variable table gives { archost: "true" }. And unless azure_arc_log_enabled is false, it sends a success or failure signal with the subscription, resource group, tenant and region to the Arc hybrid identity service (gbl.his.arc.azure.com in commercial Azure). The chapter follows the code, because the code is what runs. Both are recorded in the verification log. The role's behavior in check mode, its token scope, its default tag and its signal come from the pinned code and from running it, not from Learn.
Sources: Microsoft and the Ansible community, azure.azcollection azure_arc role, ansible-collections/azure, roles/azure_arc at commit afa62c3bcf3e283645336039e13c8e3019b8fcdd (release v4.2.0, October 30, 2026), GPL-3.0-or-later, https://github.com/ansible-collections/azure/tree/afa62c3bcf3e283645336039e13c8e3019b8fcdd/roles/azure_arc (accessed Oct 30, 2026); pinned copy in examples/third_party/azure-arc-role. Not a Learn page: Learn's role page links the role's Galaxy listing. · Microsoft Learn, "Connect machines to Azure Arc at scale with Ansible," https://learn.microsoft.com/azure/azure-arc/servers/onboard-ansible-playbooks (accessed Oct 30, 2026).
Workbook: Building the Attribute-Driven Migration, Chapter 08 — “The pinned copy”.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Running the role offline, and reading it, shows what it leaves to you, starting with owners and waves. It connects whatever the inventory names, with no owner tags. It has no waves or batches, so one mistake reaches everything at once. It can't do a real dry run on a server without the agent; it wrongly decides the agent is installed, then fails. Passing your own tags silently drops its default that keeps database servers from auto-onboarding. And it sends that signal by default. Each gap gets a fix, and each is pinned by a test.
Detail: Running the role offline against a control node with no agent, and reading the pinned copy, shows what it doesn't do. Each row is pinned by a test. Connects whatever hosts the inventory names: a server goes into Azure without the tags that tell machine configuration and Update Manager whether it's theirs: the inventory reads config_owner and patch_owner, refuses a tool it doesn't know, blocks a candidate without either, and writes ConfigOwner and PatchOwner into the tags (test_inventory.py). No waves or batches; Learn's Automation Platform option onboards every new machine on a schedule: a wrong tag, rule or network setting reaches the whole estate in one run; Learn says pilot first: arc_wave in the CMDB; -e onboarding_wave=N; one canary server, then 5, then 25 percent, stopping at the first failure; waves 0 and 1 refuse production servers (design guidance) (test_read_only.py, test_local_runs.py). Can't run in check mode on a server without the agent: the install check is skipped, so it decides the agent is installed, then its status read fails: no dry run of what a wave would send: 06_arc_onboarding_role.yml doesn't call the role without confirm_change=true, and prints what each server would get; the wave plan is written first (test_microsoft_role.py, test_local_runs.py). Passing your own tags replaces its default ArcSQLServerExtensionDeployment: Disabled: a SQL Server host is auto-onboarded to Arc-enabled SQL Server, which the Arc track says to decide before the connect: the playbook adds the tag back from arc_sql_extension_deployment (test_read_only.py, test_local_runs.py). Sends a signal with the subscription, resource group, tenant and region by default; Learn's page doesn't mention it: what leaves the estate should be a decision on record: arc_role_log_enabled: false (design guidance: on only for a support case) (test_read_only.py, test_microsoft_role.py).
Sources: Microsoft and the Ansible community, azure.azcollection azure_arc role, ansible-collections/azure, roles/azure_arc at commit afa62c3bcf3e283645336039e13c8e3019b8fcdd (release v4.2.0, October 30, 2026), GPL-3.0-or-later, https://github.com/ansible-collections/azure/tree/afa62c3bcf3e283645336039e13c8e3019b8fcdd/roles/azure_arc (accessed Oct 30, 2026); pinned copy in examples/third_party/azure-arc-role. Not a Learn page: Learn's role page links the role's Galaxy listing. · Microsoft Learn, "Plan and deploy Azure Arc-enabled servers," https://learn.microsoft.com/azure/azure-arc/servers/plan-at-scale-deployment (accessed Oct 30, 2026).
Workbook: Building the Attribute-Driven Migration, Chapter 08 — “What it leaves to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rest of the gaps are about the cloud and the record. The role's token is for commercial Resource Manager, which is right for this estate, so the role-based playbook refuses any other cloud, and a separate playbook handles Azure Government. The token is briefly visible on the server's command line; the chapter accepts that, since tokens are short-lived. Nothing checks the region against the cloud, nothing is written down, and Learn's setup installs whatever's newest. The verdict: use Microsoft's role, unchanged, and put the checks around it.
Detail: Requests its token for https://management.azure.com/.default: right for a GCC estate on commercial Azure; not the Azure Government Resource Manager: 06 refuses any cloud but AzureCloud; 02_arc_onboarding.yml handles Azure Government (test_microsoft_role.py, test_local_runs.py). Passes the access token on the azcmagent connect command line, hidden from Ansible's output by no_log: the token is visible to other processes on the server while the connect runs; Learn says access tokens are short-lived: accepted for the role; 02 keeps a service principal secret in a root-only --config file, as Learn recommends (test_microsoft_role.py). Takes the region and cloud it's given: a US Gov region with AzureCloud fails halfway through a wave: the wave plan stops a region from the other cloud (test_local_runs.py). Leaves no record of what was planned or connected: Gate 3 of the Arc track asks for each wave's evidence: a plan (JSON and CSV) before the run; a result with each server's Arc resource ID after it (test_local_runs.py). Learn's requirements.yml installs the latest collection from Galaxy: a rerun a month later runs a different role: requirements.yml pins 4.2.0; the installed role must match the pinned copy (test_microsoft_role.py). The verdict: use Microsoft's role. It does the install and connect, it is the role Learn documents, and the kit calls it unchanged. What the kit adds sits around it: what goes in (owners, wave, tags, cloud), what a dry run shows, how many servers at a time, and what is written down.
Sources: Microsoft and the Ansible community, azure.azcollection azure_arc role, ansible-collections/azure, roles/azure_arc at commit afa62c3bcf3e283645336039e13c8e3019b8fcdd (release v4.2.0, October 30, 2026), GPL-3.0-or-later, https://github.com/ansible-collections/azure/tree/afa62c3bcf3e283645336039e13c8e3019b8fcdd/roles/azure_arc (accessed Oct 30, 2026); pinned copy in examples/third_party/azure-arc-role. Not a Learn page: Learn's role page links the role's Galaxy listing. · Microsoft Learn, "azcmagent connect," https://learn.microsoft.com/azure/azure-arc/servers/azcmagent-connect (accessed Oct 30, 2026). · Microsoft Learn, "Connect machines to Azure Arc at scale with Ansible," https://learn.microsoft.com/azure/azure-arc/servers/onboard-ansible-playbooks (accessed Oct 30, 2026).
Workbook: Building the Attribute-Driven Migration, Chapter 08 — “What it leaves to you”; “The verdict”.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change is small but essential: a patch owner column in the configuration database export, right beside the configuration owner, with the onboarding wave after the region. The guide had named that field, but the sample export never carried it. Look at the server on Amazon's cloud: Ansible configures it and patches it, but it still goes to Arc, for inventory, assessment and Defender. Its patch owner tag says Ansible, so Update Manager assesses it and schedules nothing. And because this is a GCC estate, the sample now uses commercial regions.
Detail: examples/ansible already had the CMDB inventory, an assessment, a gated azcmagent onboarding playbook and a baseline check. This chapter adds a column, two playbooks and the tests. The Ansible guide named patch_owner, but the sample CMDB export didn't carry it. It does now, beside config_owner, with arc_wave after the region. Header: name,...,management_tier,config_owner,patch_owner,arc_status,arc_resource_group,arc_location,arc_wave,patch_group. Rows: app02.contoso.example, tier1, arc_machine_configuration, update_manager, not_onboarded, rg-arc-claims-prod, eastus, 2, PG-WED-0200. aws01.contoso.example, tier1, ansible, ansible, not_onboarded, rg-arc-portal-dev, eastus, 1, PG-THU-0100. aix01.contoso.example, tier2, ansible, ansible, not_supported, PG-SUN-0300. gm01.contoso.example, tier2, ansible, platform, not_supported, PG-NET-0400. aws01 is the guide's case: a Red Hat server on AWS that Ansible configures and patches. It still goes to Arc, for inventory, assessment and Defender, with PatchOwner=Ansible, so Update Manager assesses it and schedules nothing. The sample also moved to commercial regions (eastus, westus2) and arc_cloud: AzureCloud, because it is a GCC estate. Resource groups follow the Arc track's rg-arc-&lt;team&gt;-&lt;env&gt; pattern.
Sources: Building the Attribute-Driven Migration, Chapter 08, docs/project-plans/developer-workbooks/attribute-driven-migration/08-ansible-beside-arc.md
Workbook: Building the Attribute-Driven Migration, Chapter 08 — “The code: what examples/ansible adds” — “First, the patch_owner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inventory script turns each owner into an Ansible group and an Azure tag, using the Arc track's spellings; the validation kit compares them without caring about case or punctuation. Three rules fail closed. An owner name it doesn't recognize stops the run, because a typo would quietly drop a server out of the group that protects it. A wave that isn't a number stops it. And a server is only a candidate if its record is complete and its tags are values Arc will accept. Otherwise it's blocked, with the reason written down.
Detail: inventory/cmdb_inventory.py turns each owner into a group and a tag. config_owner = arc_machine_configuration, ansible, intune, configuration_manager, platform: group config_owner_&lt;value&gt;; tag ConfigOwner = ArcMachineConfiguration, Ansible, Intune, ConfigurationManager, Platform. patch_owner = update_manager, ansible, configuration_manager, intune, platform: group patch_owner_&lt;value&gt;; tag PatchOwner = UpdateManager, Ansible, ... Either empty, or none, on a tier 1 or 2 record: groups config_owner_missing, patch_owner_missing; no tag: a CM-8 finding, never a target. arc_wave = 0, 1, ...: group arc_wave_&lt;n&gt;; no tag. The tag values are the Arc track's spellings. VK-ARC-07 compares owners without case or punctuation, so ArcMachineConfiguration and arc_machine_configuration match. Three rules fail closed. An owner value the script doesn't know stops it: updatemanager would otherwise create a group nothing reads and drop the server out of patch_owner_update_manager. A wave that isn't a number stops it. And a tier 1 Linux or Windows server not yet onboarded is a candidate only if its record has both owners, a resource group, a region, a wave, and tag values Arc accepts. Otherwise it goes to arc_onboarding_blocked, with arc_blocked_reasons saying why. Arc's tag limits are 50 tags per resource and 256 characters per value, and azcmagent connect --tags is comma-delimited, so a comma in a value would split it into a wrong tag.
Sources: Microsoft Learn, "Use tags to organize your Azure resources and management hierarchy," https://learn.microsoft.com/azure/azure-resource-manager/management/tag-resources (accessed Oct 30, 2026). · Microsoft Learn, "azcmagent connect," https://learn.microsoft.com/azure/azure-arc/servers/azcmagent-connect (accessed Oct 30, 2026).
Workbook: Building the Attribute-Driven Migration, Chapter 08 — “The inventory”.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anything touches a server, the wave plan runs on the control node alone. You give it a wave number, and it writes down exactly what it intends: every ready server, every blocked one, the resource group, region, cloud, both owners and the exact tag string. It refuses to go on if there's no wave, if a region belongs to the other cloud, if a production server has slipped into a pilot wave, or if an owner is missing. Both onboarding playbooks start with this plan, so if the plan stops, no server is contacted at all.
Detail: playbooks/05_arc_wave_plan.yml runs only on the control node. It takes -e onboarding_wave=N, lists the wave's ready servers and the ones the CMDB blocked, and writes arc-wave-N-plan-&lt;time&gt;.json and .csv under reports/: host, configuration item, environment, resource group, region, cloud, both owners, the exact tag string, and a state. It stops when: no wave is given, or the wave has no ready server; arc_cloud isn't AzureCloud or AzureUSGovernment, or a server's region belongs to the other cloud (a usgov or usdod region needs AzureUSGovernment, and no other region does); a production server is planned in wave 0 or 1, which the Arc track keeps for non-production (design guidance); a server has no config_owner or patch_owner. Both onboarding playbooks import it as their first play. If the plan stops, no server is contacted. Learn's planning page: pilot first, on a representative, non-critical set, for at least 30 days, with a rollback plan.
Sources: Microsoft Learn, "Plan and deploy Azure Arc-enabled servers," https://learn.microsoft.com/azure/azure-arc/servers/plan-at-scale-deployment (accessed Oct 30, 2026).
Workbook: Building the Attribute-Driven Migration, Chapter 08 — “The wave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onboarding itself. The role-based playbook works one wave at a time: a single canary server, then five percent, then a quarter, and it stops at the first failure. Each server is checked again before anything happens. Without an explicit confirmation flag, it never calls the role; it just prints what each server would get, which is the dry run the role can't do. With confirmation, it calls Microsoft's role unchanged, with the database's values and no stored secret, and writes a result file. The older step-by-step playbook stays for Azure Government.
Detail: playbooks/06_arc_onboarding_role.yml targets arc_onboarding_candidates:&amp;arc_wave_{{ onboarding_wave }}, one canary server, then 5, then 25 percent at a time, with max_fail_percentage: 0. Each server is checked again before anything happens: both owners, a resource group, a region, this wave, and AzureCloud. Without confirm_change=true the play is in check mode and the role isn't called. Each server prints what it would get, for example "Would connect web01.contoso.example to AzureCloud, resource group rg-arc-portal-dev, region westus2, with tags {...}". No connection is made to the server. With confirm_change=true the role runs with the CMDB's values, the CMDB tags plus ArcSQLServerExtensionDeployment, azure_arc_log_enabled from arc_role_log_enabled (false by default), and auth_source from arc_auth_source (msi by default). The playbook reads no secret. A last play writes arc-wave-N-result-&lt;time&gt;.json with each server's Arc resource ID. 02_arc_onboarding.yml stays the version that spells the steps out, and the one to use for Azure Government. It now imports the wave plan, targets one wave, and checks both owners on each server. Its dry run also makes no network request any more: get_url requested the installer URL even in check mode, which the test found by sending every request to a dead local proxy. serial and max_fail_percentage are Ansible's, and Learn has no page on them. The tests: test_inventory.py, 29: the new column: owner groups and tags, waves, blocked candidates and their reasons, unknown owners and waves fail, the sample is commercial Azure. test_read_only.py, 39: both onboarding playbooks start with the plan, target one wave, check both owners, run in batches and are gated; Microsoft's role only with confirm_change, with the CMDB's values. test_local_runs.py, 14: the plan is written, and stops on an empty wave, a production server in the pilot, a region from the other cloud and a missing patch owner; both dry runs leave nothing behind and make no network request; 06 refuses Azure Government. test_microsoft_role.py, 8: what the pinned role does (token scope, default tag, signal, token on the command line, no owners or waves); the installed role is the pinned copy; the role can't dry-run. run_all.sh runs yamllint --strict, ansible-lint --strict with the production profile, a syntax check of all six playbooks, and the tests.
Sources: Ansible documentation, "Controlling playbook execution: strategies and more," https://docs.ansible.com/ansible/latest/playbook_guide/playbooks_strategies.html (accessed Oct 30, 2026). Not a Learn page: Learn has no page on Ansible's batch keywords. · Microsoft and the Ansible community, azure.azcollection azure_arc role, ansible-collections/azure, roles/azure_arc at commit afa62c3bcf3e283645336039e13c8e3019b8fcdd (release v4.2.0, October 30, 2026), GPL-3.0-or-later, https://github.com/ansible-collections/azure/tree/afa62c3bcf3e283645336039e13c8e3019b8fcdd/roles/azure_arc (accessed Oct 30, 2026); pinned copy in examples/third_party/azure-arc-role. Not a Learn page: Learn's role page links the role's Galaxy listing.
Workbook: Building the Attribute-Driven Migration, Chapter 08 — “Onboarding with Microsoft's role”; “What changed in the azcmagent playbook”; “The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Who's involved? Platform engineers who run Ansible beside Arc, the developers who keep the inventory and playbooks, and the reviewers who read the plan before and the result after. The onboarding identity gets one narrow role: it can read and create Arc servers, but it can't delete them. There's a wrinkle: one Learn page says it can't manage extensions, another lists an add-extensions permission in it, so the chapter takes the stricter reading and removes the assignment when the wave closes. Disconnecting needs a different, stronger role.
Detail: Audience: platform engineers who run Ansible beside Arc, and the developers who keep the inventory and playbooks. You should know Ansible playbooks, inventories and check mode. You don't need an Azure subscription until Lab 2. Least-privileged role to onboard: Azure Connected Machine Onboarding at subscription or resource group scope; it can read and create Arc servers, not delete them. Learn's security page says it can't manage extensions, but the built-in roles page lists Microsoft.HybridCompute/machines/addExtensions/action in it: the stricter reading is that it can add extensions, so treat it as able to add extensions and remove the assignment when the wave closes. To disconnect: an identity with permission to delete the resource, such as Azure Connected Machine Resource Administrator. Authentication: msi recommended for production; cli for development; service principal through Automation Platform. Resource providers: Microsoft.HybridCompute, Microsoft.GuestConfiguration.
Sources: Microsoft Learn, "Identity and authorization" (Azure Arc-enabled servers security), https://learn.microsoft.com/azure/azure-arc/servers/security-identity-authorization (accessed Oct 30, 2026); Microsoft Learn, "Azure built-in roles for Management and governance," https://learn.microsoft.com/azure/role-based-access-control/built-in-roles/management-and-governance (accessed Oct 30, 2026). · Microsoft Learn, "Connect machines to Azure Arc at scale with Ansible," https://learn.microsoft.com/azure/azure-arc/servers/onboard-ansible-playbooks (accessed Oct 30, 2026). · Microsoft Learn, "Uninstall the Azure Connected Machine agent from Arc-enabled servers," https://learn.microsoft.com/azure/azure-arc/servers/uninstall-agent (accessed Oct 30, 2026).
Workbook: Building the Attribute-Driven Migration, Chapter 08 — “Goal and audience”; “Verified facts”.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1 runs on a Linux control node with no subscription, and after setup every outbound request goes to a dead local proxy, so nothing can leave. Use a disposable node, because one step runs Microsoft's role as root against the node itself. First, look at what the database export becomes: four candidates, and the Amazon-hosted server tagged with Ansible for both owners. Then run Microsoft's role, unchanged, in check mode. It fails, and the verbose output shows why: check mode skipped the version check, so the role concluded the agent was already installed.
Detail: You need a Linux control node, or WSL, with Python 3.10 or later, ansible-core, ansible-lint, yamllint and pytest. Step 3 runs Microsoft's role as root against the control node itself, so use a disposable one with no Connected Machine agent. Nothing in this lab signs in to Azure or contacts a server: step 1 points every outbound request at a dead local proxy after the collections are installed. Step 1, set up, from examples/ansible: ansible-galaxy collection install -r requirements.yml (from a reviewed source; includes azure.azcollection 4.2.0); export ANSIBLE_CONFIG="$PWD/ansible.cfg"; export HTTPS_PROXY=http://127.0.0.1:9 HTTP_PROXY=http://127.0.0.1:9 https_proxy=$HTTPS_PROXY http_proxy=$HTTP_PROXY. Step 2, see what the CMDB becomes: ansible-inventory --graph arc_onboarding_candidates; ansible-inventory --graph patch_owner_ansible; ansible-inventory --host aws01.contoso.example. Four candidates: app02, aws01, web01, win01. patch_owner_ansible holds aix01, aws01, lab01, rtr01 and sol01. aws01's arc_tags carry ConfigOwner: Ansible and PatchOwner: Ansible. Step 3, run Microsoft's role, unchanged, in check mode: ansible-playbook -i localhost, -c local --check tests/fixtures/microsoft_role_check.yml. The fixture gives the region, so the role doesn't look up the resource group, and turns its signal off. The run fails at Get azcmagent status with No such file or directory: b'azcmagent' (ok=8, failed=1, skipped=19, exit 2). Add -v and look at Set azcmagent installed fact: azure_arc_azcmagent_installed: true, because check mode skipped the version check with rc 0. That is the dry run the role can't do.
Sources: Microsoft and the Ansible community, azure.azcollection azure_arc role, ansible-collections/azure, roles/azure_arc at commit afa62c3bcf3e283645336039e13c8e3019b8fcdd (release v4.2.0, October 30, 2026), GPL-3.0-or-later, https://github.com/ansible-collections/azure/tree/afa62c3bcf3e283645336039e13c8e3019b8fcdd/roles/azure_arc (accessed Oct 30, 2026); pinned copy in examples/third_party/azure-arc-role. Not a Learn page: Learn's role page links the role's Galaxy listing.
Workbook: Building the Attribute-Driven Migration, Chapter 08 — “Lab 1: offline, no subscription,” steps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kit's own path. Plan wave zero, and it's ready: one server, with its exact tag string written to a file you can review. Dry-run the wave with the role-based playbook, and it prints what that server would get, including the restored database default, while the connect itself is skipped. Then break the export on purpose. Put a production server into the pilot wave, and the plan stops. Misspell a patch owner, and the inventory refuses. Clear one owner, and that server is blocked with its reason. Run the suite, and ninety tests pass.
Detail: Step 4, plan wave 0: ansible-playbook playbooks/05_arc_wave_plan.yml -e onboarding_wave=0. "Wave 0 is ready: 1 to connect, 0 blocked in the CMDB." Open the CSV in reports/: one row, web01.contoso.example, rg-arc-portal-dev, westus2, AzureCloud, state ready, and the tag string CmdbCi=CI0001003,ConfigOwner=ArcMachineConfiguration,Environment=nonproduction,Location=dc-west,Owner=team-portal,PatchGroup=PG-TUE-2200,PatchOwner=UpdateManager. Step 5, dry-run the wave with Microsoft's role: ansible-playbook playbooks/06_arc_onboarding_role.yml -e onboarding_wave=0. Exit 0. web01 reports "Would connect web01.contoso.example to AzureCloud, resource group rg-arc-portal-dev, region westus2", with the tags above plus "ArcSQLServerExtensionDeployment": "Disabled", authenticating with msi. Connect with Microsoft's role is skipped. web01 doesn't exist, and nothing tried to reach it. Step 6, break the CMDB on purpose, in copies of the export: a sed that changes web01 from nonproduction to production into /tmp/prod-in-pilot.csv, then CMDB_CSV=/tmp/prod-in-pilot.csv ansible-playbook playbooks/05_arc_wave_plan.yml -e onboarding_wave=0; and a sed that changes update_manager to updatemanager for app02 into /tmp/typo.csv, then CMDB_CSV=/tmp/typo.csv python3 inventory/cmdb_inventory.py --list. The first stops with "Wave 0 isn't ready: web01.contoso.example.", exit 2; the plan says "production server in non-production wave 0". The second exits 1 with "line 3: unknown patch_owner 'updatemanager'". Now clear app02's patch_owner in a copy and plan wave 2: "Wave 2 is ready: 1 to connect, 1 blocked in the CMDB." The plan lists win01 as ready and app02 as blocked, no patch_owner. Step 7, run the tests: bash tests/run_all.sh. Expected result: yamllint and ansible-lint pass ("Profile 'production' was required, and it passed"), six playbooks pass the syntax check, and 90 tests pass as root. On Windows with Python and PyYAML, python -m pytest examples/ansible/tests gives 74 passed and 16 skipped. Illustrative code: the kit calls Microsoft's role unchanged, and its own checks are tested against the sample CMDB, fixtures and offline runs on a control node. The connect itself, with a managed identity, is shown only in Lab 2. Review the code, and run Lab 2, before it onboards a production wave.
Sources: Building the Attribute-Driven Migration, Chapter 08, docs/project-plans/developer-workbooks/attribute-driven-migration/08-ansible-beside-arc.md
Workbook: Building the Attribute-Driven Migration, Chapter 08 — “Lab 1: offline, no subscription,” steps 4–7; the “Illustrative code” callout.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2 connects one disposable server for real, in a commercial test subscription in the GCC tenant, never production. The control node runs somewhere with a managed identity, so no secret is stored. Prepare a resource group, grant the onboarding role to that identity and nothing else, and describe the one server in a tiny export. Then the same three commands every wave uses: plan, dry run, connect. Check the agent says connected, the tags match the database, and the validation kit agrees. Then back it out in Learn's order, and file the records.
Detail: Use a commercial test subscription in the GCC tenant and a Linux server you can rebuild, never production. Run the control node on an Azure VM or an Arc-enabled server, so it has a managed identity. 1 Prepare the subscription: create rg-arc-test-dev in a commercial region. Register Microsoft.HybridCompute and Microsoft.GuestConfiguration. Check the server can reach the commercial Arc endpoints, or run azcmagent check from it. 2 Grant the control node the onboarding role, and only that: assign Azure Connected Machine Onboarding to its managed identity on rg-arc-test-dev, with Learn's az role assignment create command at resource group scope. The role can read and create Arc servers; it can't delete them. Learn's role reference also lists addExtensions in it, so treat it as able to add extensions and remove the assignment when the wave closes. 3 Install the role's requirements on the control node: the pinned collections, then the collection's Python requirements, as Learn's Ansible setup page shows. 4 Write a one-server CMDB export for the disposable server: tier 1, config_owner ansible, patch_owner ansible, arc_status not_onboarded, rg-arc-test-dev, the region, nonproduction, wave 0. Point CMDB_CSV at it and set the test tenant and subscription IDs in a copy of group_vars/all.yml. 5 Plan, dry-run, then connect: ansible-playbook playbooks/05_arc_wave_plan.yml -e onboarding_wave=0; ansible-playbook playbooks/06_arc_onboarding_role.yml -e onboarding_wave=0; ansible-playbook playbooks/06_arc_onboarding_role.yml -e onboarding_wave=0 -e confirm_change=true. 6 Check the result: on the server, azcmagent show reports Connected. In Azure, the machine carries ConfigOwner=Ansible, PatchOwner=Ansible and ArcSQLServerExtensionDeployment=Disabled, and its resource ID matches the result file. Run VK-ARC-01 with the test export: tag values equal the CMDB's. Run VK-ARC-07: no finding, because nothing enforcing is assigned. 7 Back it out, in Learn's order: remove any extensions, then azcmagent disconnect with an identity that may delete the resource (Azure Connected Machine Resource Administrator; the onboarding role can't), then uninstall the agent (apt purge azcmagent or yum remove azcmagent). Remove the role assignment, delete rg-arc-test-dev, and rebuild the server. File the plan, result and back-out record with the change.
Sources: Microsoft Learn, "Connect machines to Azure Arc at scale with Ansible," https://learn.microsoft.com/azure/azure-arc/servers/onboard-ansible-playbooks (accessed Oct 30, 2026). · Microsoft Learn, "Connected Machine agent network requirements," https://learn.microsoft.com/azure/azure-arc/servers/network-requirements (accessed Oct 30, 2026). · Microsoft Learn, "Identity and authorization" (Azure Arc-enabled servers security), https://learn.microsoft.com/azure/azure-arc/servers/security-identity-authorization (accessed Oct 30, 2026); Microsoft Learn, "Azure built-in roles for Management and governance," https://learn.microsoft.com/azure/role-based-access-control/built-in-roles/management-and-governance (accessed Oct 30, 2026). · Microsoft Learn, "Get Started: Configure Ansible on an Azure VM," https://learn.microsoft.com/azure/developer/ansible/install-on-linux-vm (accessed Oct 30, 2026). · Microsoft Learn, "Uninstall the Azure Connected Machine agent from Arc-enabled servers," https://learn.microsoft.com/azure/azure-arc/servers/uninstall-agent (accessed Oct 30, 2026). · Microsoft Learn, "azcmagent disconnect," https://learn.microsoft.com/azure/azure-arc/servers/azcmagent-disconnect (accessed Oct 30, 2026).
Workbook: Building the Attribute-Driven Migration, Chapter 08 — “Lab 2: test subscription and a disposable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danger has a guard, and the theme is that the connect is irreversible enough to deserve care. Owners must be present and spelled right, or the server isn't a candidate. Patching has one owner, so Update Manager schedules only what it owns. Waves, a canary and a pilot that refuses production keep one mistake from reaching everything. The dry run must really be dry. The cloud must match the tenant. And defaults that send data or onboard databases become decisions on record. Finally, a managed identity means there's no stored secret to steal.
Detail: A server connected without its owner tags: machine configuration or Update Manager treats it as theirs, or as nobody's; guard: candidates need both owners; ConfigOwner and PatchOwner in every connect; VK-ARC-07 after. A typo in an owner value: the server falls out of the group that protects it and into one nothing reads; guard: the inventory refuses an unknown owner tool. Two tools patching one server: Update Manager schedules updates on a server Ansible also patches; guard: PatchOwner tag; scope Update Manager schedules on UpdateManager only (design guidance). The whole estate in one run: a wrong tag, rule or network setting reaches every server; guard: CMDB waves; the plan first; one canary, then 5, then 25 percent; stop at the first failure. Production in the pilot: the wave meant to find problems finds them in production; guard: waves 0 and 1 refuse production servers. A dry run that isn't one: the role fails in check mode, so people skip the dry run, or a dry run reaches the network; guard: 06 doesn't call the role without confirm_change; 02's download is skipped in a dry run; both tested behind a dead proxy. The wrong cloud: a GCC estate's servers in Azure Government, or the role's commercial token used for Azure Government; guard: arc_cloud: AzureCloud in the sample; the plan stops a region from the other cloud; 06 refuses AzureUSGovernment. SQL Server auto-onboarded by accident: passing the CMDB tags drops the role's ArcSQLServerExtensionDeployment default; guard: the playbook adds it back from arc_sql_extension_deployment. Data sent without a decision: the role's signal carries subscription, resource group, tenant and region; guard: off by default (design guidance). A stored onboarding secret: a stolen credential connects outside servers into the subscription; guard: managed identity (msi), as Learn recommends; the onboarding role only, on the wave's resource group, removed when the wave closes. A floating role: a rerun installs a newer role that behaves differently; guard: requirements.yml pins 4.2.0; the installed role must match the pinned copy. A tag value Arc splits or refuses: a comma makes a second, wrong tag; a long value fails the connect; guard: the inventory blocks the server with the reason.
Sources: Microsoft Learn, "Connect machines to Azure Arc at scale with Ansible," https://learn.microsoft.com/azure/azure-arc/servers/onboard-ansible-playbooks (accessed Oct 30, 2026). · Microsoft Learn, "Use tags to organize your Azure resources and management hierarchy," https://learn.microsoft.com/azure/azure-resource-manager/management/tag-resources (accessed Oct 30, 2026). · Microsoft Learn, "azcmagent connect," https://learn.microsoft.com/azure/azure-arc/servers/azcmagent-connect (accessed Oct 30, 2026).
Workbook: Building the Attribute-Driven Migration, Chapter 08 — “Dangers”.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done looks like. Every tier one server in the export has both owners and a wave, or a ticket explaining why not. The cloud matches the tenant. The wave plan was reviewed and filed before the run, and the dry run matched it. The onboarding identity holds one narrow role, and the two risky defaults are decisions on record. The pilot ran on non-production servers for at least thirty days. Afterward, the tags in Azure match the database and the validation kit is clean. Next, Chapter 9: drift pipelines and evidence for the security officer. Thanks for watching.
Detail: Checklist: the CMDB export carries config_owner, patch_owner and arc_wave for every tier 1 server; config_owner_missing and patch_owner_missing are empty, or each entry has a ticket. arc_cloud matches the tenant: AzureCloud for GCC, AzureUSGovernment for GCC High and DoD (and 02_arc_onboarding.yml there). The wave plan for this wave was reviewed and filed before the run, and its blocked list is understood. The dry run was run, and its output matches the plan. The onboarding identity holds only Azure Connected Machine Onboarding, on the wave's resource groups; a managed identity where the control node can have one. arc_role_log_enabled and arc_sql_extension_deployment are decisions on record. Wave 0 ran on non-production servers for at least 30 days before production waves. After the run: the result file's resource IDs match Azure, VK-ARC-01 shows the CMDB's tag values, and VK-ARC-07 is clean. The installed role matches the pinned copy, and every upstream commit to the role since the pin has been reviewed. bash tests/run_all.sh passes on the control node. Next: Chapter 09 — Drift Pipelines and Evidence to the ISSO.
Sources: Microsoft Learn, "Plan and deploy Azure Arc-enabled servers," https://learn.microsoft.com/azure/azure-arc/servers/plan-at-scale-deployment (accessed Oct 30, 2026). · Microsoft Learn, "Planning identity for Azure Government applications," https://learn.microsoft.com/azure/azure-government/documentation-government-plan-identity (accessed Oct 30, 2026).
Workbook: Building the Attribute-Driven Migration, Chapter 08 — “Checklist”; “Continue the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chapter's footnotes in full, from docs/project-plans/developer-workbooks/attribute-driven-migration/08-ansible-beside-arc.md.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chapter's footnotes in full, from docs/project-plans/developer-workbooks/attribute-driven-migration/08-ansible-beside-arc.md.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rtlCol="0"/>
          <a:lstStyle>
            <a:lvl1pPr algn="l" indent="0" marL="0">
              <a:buNone/>
              <a:defRPr lang="en-US" sz="4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rtlCol="0"/>
          <a:lstStyle>
            <a:lvl1pPr algn="ctr" indent="0" marL="0">
              <a:buNone/>
              <a:defRPr lang="en-US" sz="3000" b="1" dirty="0">
                <a:solidFill>
                  <a:schemeClr val="tx1"/>
                </a:solidFill>
                <a:latin typeface="Cambria" pitchFamily="34" charset="0"/>
                <a:ea typeface="Cambria" pitchFamily="34" charset="-122"/>
                <a:cs typeface="Cambria" pitchFamily="34" charset="-120"/>
              </a:defRPr>
            </a:lvl1pPr>
          </a:lstStyle>
          <a:p>
            <a:pPr algn="ctr"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Federal Modernization Workbook  ·  Building the Attribute-Driven Migration  ·  Chapter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Chapter 08: Ansible Beside Arc</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Building the Attribute-Driven Migration — a narrated tour of the chapter</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Tour map"/>
          <p:cNvSpPr txBox="1"/>
          <p:nvPr/>
        </p:nvSpPr>
        <p:spPr>
          <a:xfrm>
            <a:off x="731520" y="4434840"/>
            <a:ext cx="6400800" cy="1280160"/>
          </a:xfrm>
          <a:prstGeom prst="rect">
            <a:avLst/>
          </a:prstGeom>
          <a:noFill/>
          <a:ln/>
        </p:spPr>
        <p:txBody>
          <a:bodyPr wrap="square" lIns="0" tIns="0" rIns="0" bIns="0" rtlCol="0" anchor="t"/>
          <a:lstStyle/>
          <a:p>
            <a:pPr indent="0" marL="0">
              <a:spcAft>
                <a:spcPts val="400"/>
              </a:spcAft>
              <a:buNone/>
            </a:pPr>
            <a:r>
              <a:rPr lang="en-US" sz="1400" b="1" dirty="0">
                <a:solidFill>
                  <a:srgbClr val="1F2A44"/>
                </a:solidFill>
              </a:rPr>
              <a:t>Why owners travel with the connect · which Azure · Microsoft's role and its gaps · inventory, plan, waves · who · two labs</a:t>
            </a:r>
            <a:endParaRPr lang="en-US" sz="1400" dirty="0"/>
          </a:p>
          <a:p>
            <a:pPr indent="0" marL="0">
              <a:spcAft>
                <a:spcPts val="400"/>
              </a:spcAft>
              <a:buNone/>
            </a:pPr>
            <a:r>
              <a:rPr lang="en-US" sz="1400" dirty="0">
                <a:solidFill>
                  <a:srgbClr val="334155"/>
                </a:solidFill>
              </a:rPr>
              <a:t>Chapter review status: approved  ·  Illustrative code, tested against fixtures</a:t>
            </a:r>
            <a:endParaRPr lang="en-US" sz="1400" dirty="0"/>
          </a:p>
          <a:p>
            <a:pPr indent="0" marL="0">
              <a:spcAft>
                <a:spcPts val="400"/>
              </a:spcAft>
              <a:buNone/>
            </a:pPr>
            <a:r>
              <a:rPr lang="en-US" sz="1400" b="1" dirty="0">
                <a:solidFill>
                  <a:srgbClr val="0F766E"/>
                </a:solidFill>
              </a:rPr>
              <a:t>Date Code 2026-10-31 10:16 ET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Why the owners travel with every connect</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Lead"/>
          <p:cNvSpPr txBox="1"/>
          <p:nvPr/>
        </p:nvSpPr>
        <p:spPr>
          <a:xfrm>
            <a:off x="548640" y="1325880"/>
            <a:ext cx="11109960" cy="603504"/>
          </a:xfrm>
          <a:prstGeom prst="rect">
            <a:avLst/>
          </a:prstGeom>
          <a:noFill/>
          <a:ln/>
        </p:spPr>
        <p:txBody>
          <a:bodyPr wrap="square" lIns="0" tIns="0" rIns="0" bIns="0" rtlCol="0" anchor="t"/>
          <a:lstStyle/>
          <a:p>
            <a:pPr indent="0" marL="0">
              <a:buNone/>
            </a:pPr>
            <a:r>
              <a:rPr lang="en-US" sz="1800" b="1" dirty="0">
                <a:solidFill>
                  <a:srgbClr val="1F2A44"/>
                </a:solidFill>
              </a:rPr>
              <a:t>Arc doesn't change who owns what. It makes the server an Azure resource, and the tags tell Azure's tools which servers are theirs.</a:t>
            </a:r>
            <a:endParaRPr lang="en-US" sz="1800" dirty="0"/>
          </a:p>
        </p:txBody>
      </p:sp>
      <p:sp>
        <p:nvSpPr>
          <p:cNvPr id="6" name="Panel One owner per setting, one per patch" descr="">
            <a:extLst>
              <a:ext uri="{C183D7F6-B498-43B3-948B-1728B52AA6E4}">
                <adec:decorative xmlns:adec="http://schemas.microsoft.com/office/drawing/2017/decorative" val="1"/>
              </a:ext>
            </a:extLst>
          </p:cNvPr>
          <p:cNvSpPr/>
          <p:nvPr/>
        </p:nvSpPr>
        <p:spPr>
          <a:xfrm>
            <a:off x="548640" y="2112264"/>
            <a:ext cx="5417820" cy="2467356"/>
          </a:xfrm>
          <a:prstGeom prst="roundRect">
            <a:avLst>
              <a:gd name="adj" fmla="val 2965"/>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Panel One owner per setting, one per patch label"/>
          <p:cNvSpPr txBox="1"/>
          <p:nvPr/>
        </p:nvSpPr>
        <p:spPr>
          <a:xfrm>
            <a:off x="731520" y="2221992"/>
            <a:ext cx="5052060" cy="274320"/>
          </a:xfrm>
          <a:prstGeom prst="rect">
            <a:avLst/>
          </a:prstGeom>
          <a:noFill/>
          <a:ln/>
        </p:spPr>
        <p:txBody>
          <a:bodyPr wrap="square" lIns="0" tIns="0" rIns="0" bIns="0" rtlCol="0" anchor="t"/>
          <a:lstStyle/>
          <a:p>
            <a:pPr indent="0" marL="0">
              <a:buNone/>
            </a:pPr>
            <a:r>
              <a:rPr lang="en-US" sz="1100" b="1" spc="50" kern="0" dirty="0">
                <a:solidFill>
                  <a:srgbClr val="64748B"/>
                </a:solidFill>
              </a:rPr>
              <a:t>ONE OWNER PER SETTING, ONE PER PATCH</a:t>
            </a:r>
            <a:endParaRPr lang="en-US" sz="1100" dirty="0"/>
          </a:p>
        </p:txBody>
      </p:sp>
      <p:sp>
        <p:nvSpPr>
          <p:cNvPr id="8" name="Panel One owner per setting, one per patch list"/>
          <p:cNvSpPr txBox="1"/>
          <p:nvPr/>
        </p:nvSpPr>
        <p:spPr>
          <a:xfrm>
            <a:off x="731520" y="2523744"/>
            <a:ext cx="5097780" cy="2010156"/>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Every setting has one owning tool: config_owner in the CMDB, mirrored to the Arc ConfigOwner tag</a:t>
            </a:r>
            <a:endParaRPr lang="en-US" sz="1550" dirty="0"/>
          </a:p>
          <a:p>
            <a:pPr marL="342900" indent="-342900">
              <a:spcAft>
                <a:spcPts val="400"/>
              </a:spcAft>
              <a:buSzPct val="100000"/>
              <a:buChar char="•"/>
            </a:pPr>
            <a:r>
              <a:rPr lang="en-US" sz="1550" dirty="0">
                <a:solidFill>
                  <a:srgbClr val="334155"/>
                </a:solidFill>
              </a:rPr>
              <a:t>Patching has one owner too: the Ansible guide's rule 5 names patch_owner, mirrored to PatchOwner</a:t>
            </a:r>
            <a:endParaRPr lang="en-US" sz="1550" dirty="0"/>
          </a:p>
          <a:p>
            <a:pPr marL="342900" indent="-342900">
              <a:spcAft>
                <a:spcPts val="400"/>
              </a:spcAft>
              <a:buSzPct val="100000"/>
              <a:buChar char="•"/>
            </a:pPr>
            <a:r>
              <a:rPr lang="en-US" sz="1550" dirty="0">
                <a:solidFill>
                  <a:srgbClr val="334155"/>
                </a:solidFill>
              </a:rPr>
              <a:t>Where Ansible already patches a fleet, Update Manager only assesses those servers and schedules nothing (design guidance)</a:t>
            </a:r>
            <a:endParaRPr lang="en-US" sz="1550" dirty="0"/>
          </a:p>
        </p:txBody>
      </p:sp>
      <p:sp>
        <p:nvSpPr>
          <p:cNvPr id="9" name="Panel Why the connect is the place" descr="">
            <a:extLst>
              <a:ext uri="{C183D7F6-B498-43B3-948B-1728B52AA6E4}">
                <adec:decorative xmlns:adec="http://schemas.microsoft.com/office/drawing/2017/decorative" val="1"/>
              </a:ext>
            </a:extLst>
          </p:cNvPr>
          <p:cNvSpPr/>
          <p:nvPr/>
        </p:nvSpPr>
        <p:spPr>
          <a:xfrm>
            <a:off x="6240780" y="2112264"/>
            <a:ext cx="5417820" cy="2467356"/>
          </a:xfrm>
          <a:prstGeom prst="roundRect">
            <a:avLst>
              <a:gd name="adj" fmla="val 2965"/>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0" name="Panel Why the connect is the place label"/>
          <p:cNvSpPr txBox="1"/>
          <p:nvPr/>
        </p:nvSpPr>
        <p:spPr>
          <a:xfrm>
            <a:off x="6423660" y="2221992"/>
            <a:ext cx="5052060" cy="274320"/>
          </a:xfrm>
          <a:prstGeom prst="rect">
            <a:avLst/>
          </a:prstGeom>
          <a:noFill/>
          <a:ln/>
        </p:spPr>
        <p:txBody>
          <a:bodyPr wrap="square" lIns="0" tIns="0" rIns="0" bIns="0" rtlCol="0" anchor="t"/>
          <a:lstStyle/>
          <a:p>
            <a:pPr indent="0" marL="0">
              <a:buNone/>
            </a:pPr>
            <a:r>
              <a:rPr lang="en-US" sz="1100" b="1" spc="50" kern="0" dirty="0">
                <a:solidFill>
                  <a:srgbClr val="B91C1C"/>
                </a:solidFill>
              </a:rPr>
              <a:t>WHY THE CONNECT IS THE PLACE</a:t>
            </a:r>
            <a:endParaRPr lang="en-US" sz="1100" dirty="0"/>
          </a:p>
        </p:txBody>
      </p:sp>
      <p:sp>
        <p:nvSpPr>
          <p:cNvPr id="11" name="Panel Why the connect is the place list"/>
          <p:cNvSpPr txBox="1"/>
          <p:nvPr/>
        </p:nvSpPr>
        <p:spPr>
          <a:xfrm>
            <a:off x="6423660" y="2523744"/>
            <a:ext cx="5097780" cy="2010156"/>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The tags are written once, at the connect, from the CMDB</a:t>
            </a:r>
            <a:endParaRPr lang="en-US" sz="1550" dirty="0"/>
          </a:p>
          <a:p>
            <a:pPr marL="342900" indent="-342900">
              <a:spcAft>
                <a:spcPts val="400"/>
              </a:spcAft>
              <a:buSzPct val="100000"/>
              <a:buChar char="•"/>
            </a:pPr>
            <a:r>
              <a:rPr lang="en-US" sz="1550" dirty="0">
                <a:solidFill>
                  <a:srgbClr val="334155"/>
                </a:solidFill>
              </a:rPr>
              <a:t>So the onboarding run is where owners are read, checked and carried</a:t>
            </a:r>
            <a:endParaRPr lang="en-US" sz="1550" dirty="0"/>
          </a:p>
          <a:p>
            <a:pPr marL="342900" indent="-342900">
              <a:spcAft>
                <a:spcPts val="400"/>
              </a:spcAft>
              <a:buSzPct val="100000"/>
              <a:buChar char="•"/>
            </a:pPr>
            <a:r>
              <a:rPr lang="en-US" sz="1550" dirty="0">
                <a:solidFill>
                  <a:srgbClr val="334155"/>
                </a:solidFill>
              </a:rPr>
              <a:t>A server connected without them is open to whichever tool reaches it first</a:t>
            </a:r>
            <a:endParaRPr lang="en-US" sz="155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Arc track implementation guide, Step 2 tag taxonomy; Ansible guide, one owning tool per setting (rule 5). Chapter 08, “Where Ansible sits beside Arc.”</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Who reads the tags after the connect</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graphicFrame>
        <p:nvGraphicFramePr>
          <p:cNvPr id="4"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2674620"/>
        </p:xfrm>
        <a:graphic>
          <a:graphicData uri="http://schemas.openxmlformats.org/drawingml/2006/table">
            <a:tbl>
              <a:tblPr firstRow="1" bandRow="1"/>
              <a:tblGrid>
                <a:gridCol w="3108960"/>
                <a:gridCol w="8001000"/>
              </a:tblGrid>
              <a:tr h="345948">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Reader</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How it uses the tags</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82168">
                <a:tc>
                  <a:txBody>
                    <a:bodyPr/>
                    <a:lstStyle/>
                    <a:p>
                      <a:pPr indent="0" marL="0">
                        <a:buNone/>
                      </a:pPr>
                      <a:r>
                        <a:rPr lang="en-US" sz="1550" b="1" dirty="0">
                          <a:solidFill>
                            <a:srgbClr val="1F2A44"/>
                          </a:solidFill>
                          <a:latin typeface="Calibri" pitchFamily="34" charset="0"/>
                          <a:ea typeface="Calibri" pitchFamily="34" charset="-122"/>
                          <a:cs typeface="Calibri" pitchFamily="34" charset="-120"/>
                        </a:rPr>
                        <a:t>Machine configuration</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50" dirty="0">
                          <a:solidFill>
                            <a:srgbClr val="334155"/>
                          </a:solidFill>
                          <a:latin typeface="Calibri" pitchFamily="34" charset="0"/>
                          <a:ea typeface="Calibri" pitchFamily="34" charset="-122"/>
                          <a:cs typeface="Calibri" pitchFamily="34" charset="-120"/>
                        </a:rPr>
                        <a:t>Chapter 07's enforcing definitions filter on ConfigOwner, so it changes only the servers it owns</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82168">
                <a:tc>
                  <a:txBody>
                    <a:bodyPr/>
                    <a:lstStyle/>
                    <a:p>
                      <a:pPr indent="0" marL="0">
                        <a:buNone/>
                      </a:pPr>
                      <a:r>
                        <a:rPr lang="en-US" sz="1550" b="1" dirty="0">
                          <a:solidFill>
                            <a:srgbClr val="1F2A44"/>
                          </a:solidFill>
                          <a:latin typeface="Calibri" pitchFamily="34" charset="0"/>
                          <a:ea typeface="Calibri" pitchFamily="34" charset="-122"/>
                          <a:cs typeface="Calibri" pitchFamily="34" charset="-120"/>
                        </a:rPr>
                        <a:t>Update Manager</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50" dirty="0">
                          <a:solidFill>
                            <a:srgbClr val="334155"/>
                          </a:solidFill>
                          <a:latin typeface="Calibri" pitchFamily="34" charset="0"/>
                          <a:ea typeface="Calibri" pitchFamily="34" charset="-122"/>
                          <a:cs typeface="Calibri" pitchFamily="34" charset="-120"/>
                        </a:rPr>
                        <a:t>Dynamic scopes group machines by tags, among other criteria, and are evaluated at each scheduled run, so a scope on PatchOwner follows the tag</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82168">
                <a:tc>
                  <a:txBody>
                    <a:bodyPr/>
                    <a:lstStyle/>
                    <a:p>
                      <a:pPr indent="0" marL="0">
                        <a:buNone/>
                      </a:pPr>
                      <a:r>
                        <a:rPr lang="en-US" sz="1550" b="1" dirty="0">
                          <a:solidFill>
                            <a:srgbClr val="1F2A44"/>
                          </a:solidFill>
                          <a:latin typeface="Calibri" pitchFamily="34" charset="0"/>
                          <a:ea typeface="Calibri" pitchFamily="34" charset="-122"/>
                          <a:cs typeface="Calibri" pitchFamily="34" charset="-120"/>
                        </a:rPr>
                        <a:t>Azure Policy</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50" dirty="0">
                          <a:solidFill>
                            <a:srgbClr val="334155"/>
                          </a:solidFill>
                          <a:latin typeface="Calibri" pitchFamily="34" charset="0"/>
                          <a:ea typeface="Calibri" pitchFamily="34" charset="-122"/>
                          <a:cs typeface="Calibri" pitchFamily="34" charset="-120"/>
                        </a:rPr>
                        <a:t>The built-in policy for periodic assessment on Arc servers can be scoped by tag too</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82168">
                <a:tc>
                  <a:txBody>
                    <a:bodyPr/>
                    <a:lstStyle/>
                    <a:p>
                      <a:pPr indent="0" marL="0">
                        <a:buNone/>
                      </a:pPr>
                      <a:r>
                        <a:rPr lang="en-US" sz="1550" b="1" dirty="0">
                          <a:solidFill>
                            <a:srgbClr val="1F2A44"/>
                          </a:solidFill>
                          <a:latin typeface="Calibri" pitchFamily="34" charset="0"/>
                          <a:ea typeface="Calibri" pitchFamily="34" charset="-122"/>
                          <a:cs typeface="Calibri" pitchFamily="34" charset="-120"/>
                        </a:rPr>
                        <a:t>The validation kit</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50" dirty="0">
                          <a:solidFill>
                            <a:srgbClr val="334155"/>
                          </a:solidFill>
                          <a:latin typeface="Calibri" pitchFamily="34" charset="0"/>
                          <a:ea typeface="Calibri" pitchFamily="34" charset="-122"/>
                          <a:cs typeface="Calibri" pitchFamily="34" charset="-120"/>
                        </a:rPr>
                        <a:t>VK-ARC-07 reports a server whose owner isn't machine configuration but which carries an enforcing machine configuration assignment</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Callout" descr="">
            <a:extLst>
              <a:ext uri="{C183D7F6-B498-43B3-948B-1728B52AA6E4}">
                <adec:decorative xmlns:adec="http://schemas.microsoft.com/office/drawing/2017/decorative" val="1"/>
              </a:ext>
            </a:extLst>
          </p:cNvPr>
          <p:cNvSpPr/>
          <p:nvPr/>
        </p:nvSpPr>
        <p:spPr>
          <a:xfrm>
            <a:off x="548640" y="4183380"/>
            <a:ext cx="11109960" cy="752856"/>
          </a:xfrm>
          <a:prstGeom prst="roundRect">
            <a:avLst>
              <a:gd name="adj" fmla="val 971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7" name="Icon FaTriangleExclamation" descr="">
            <a:extLst>
              <a:ext uri="{C183D7F6-B498-43B3-948B-1728B52AA6E4}">
                <adec:decorative xmlns:adec="http://schemas.microsoft.com/office/drawing/2017/decorative" val="1"/>
              </a:ext>
            </a:extLst>
          </p:cNvPr>
          <p:cNvSpPr/>
          <p:nvPr/>
        </p:nvSpPr>
        <p:spPr>
          <a:xfrm>
            <a:off x="749808" y="4256532"/>
            <a:ext cx="606552" cy="606552"/>
          </a:xfrm>
          <a:prstGeom prst="ellipse">
            <a:avLst/>
          </a:prstGeom>
          <a:solidFill>
            <a:srgbClr val="B45309"/>
          </a:solidFill>
          <a:ln w="12700">
            <a:solidFill>
              <a:srgbClr val="B45309"/>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5380" y="4402104"/>
            <a:ext cx="315407" cy="315407"/>
          </a:xfrm>
          <a:prstGeom prst="rect">
            <a:avLst/>
          </a:prstGeom>
        </p:spPr>
      </p:pic>
      <p:sp>
        <p:nvSpPr>
          <p:cNvPr id="9" name="Callout text"/>
          <p:cNvSpPr txBox="1"/>
          <p:nvPr/>
        </p:nvSpPr>
        <p:spPr>
          <a:xfrm>
            <a:off x="1600200" y="4238244"/>
            <a:ext cx="9875520" cy="643128"/>
          </a:xfrm>
          <a:prstGeom prst="rect">
            <a:avLst/>
          </a:prstGeom>
          <a:noFill/>
          <a:ln/>
        </p:spPr>
        <p:txBody>
          <a:bodyPr wrap="square" lIns="0" tIns="0" rIns="0" bIns="0" rtlCol="0" anchor="ctr"/>
          <a:lstStyle/>
          <a:p>
            <a:pPr indent="0" marL="0">
              <a:buNone/>
            </a:pPr>
            <a:r>
              <a:rPr lang="en-US" sz="1750" b="1" dirty="0">
                <a:solidFill>
                  <a:srgbClr val="B45309"/>
                </a:solidFill>
              </a:rPr>
              <a:t>The consequence: </a:t>
            </a:r>
            <a:pPr indent="0" marL="0">
              <a:buNone/>
            </a:pPr>
            <a:r>
              <a:rPr lang="en-US" sz="1750" dirty="0">
                <a:solidFill>
                  <a:srgbClr val="334155"/>
                </a:solidFill>
              </a:rPr>
              <a:t>a tag missing at the connect isn't caught by any of these until after a tool has already acted.</a:t>
            </a:r>
            <a:endParaRPr lang="en-US" sz="17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About dynamic scoping (Update Manager); Azure Policy built-in definitions for Arc-enabled servers. Chapter 08, “Where Ansible sits beside Arc.”</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Which Azure: a GCC estate goes to commercial</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graphicFrame>
        <p:nvGraphicFramePr>
          <p:cNvPr id="5"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2157984"/>
        </p:xfrm>
        <a:graphic>
          <a:graphicData uri="http://schemas.openxmlformats.org/drawingml/2006/table">
            <a:tbl>
              <a:tblPr firstRow="1" bandRow="1"/>
              <a:tblGrid>
                <a:gridCol w="2194560"/>
                <a:gridCol w="3657600"/>
                <a:gridCol w="5257800"/>
              </a:tblGrid>
              <a:tr h="338328">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Tenant</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Azure and cloud</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Endpoints the agent needs</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1024128">
                <a:tc>
                  <a:txBody>
                    <a:bodyPr/>
                    <a:lstStyle/>
                    <a:p>
                      <a:pPr indent="0" marL="0">
                        <a:buNone/>
                      </a:pPr>
                      <a:r>
                        <a:rPr lang="en-US" sz="1500" b="1" dirty="0">
                          <a:solidFill>
                            <a:srgbClr val="1F2A44"/>
                          </a:solidFill>
                          <a:latin typeface="Calibri" pitchFamily="34" charset="0"/>
                          <a:ea typeface="Calibri" pitchFamily="34" charset="-122"/>
                          <a:cs typeface="Calibri" pitchFamily="34" charset="-120"/>
                        </a:rPr>
                        <a:t>Microsoft 365 GCC</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Commercial subscription; --cloud AzureCloud, the default</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login.microsoftonline.com, *.login.microsoft.com, pas.windows.net, management.azure.com (connect and disconnect only), *.his.arc.azure.com, *.guestconfiguration.azure.com, among others</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95528">
                <a:tc>
                  <a:txBody>
                    <a:bodyPr/>
                    <a:lstStyle/>
                    <a:p>
                      <a:pPr indent="0" marL="0">
                        <a:buNone/>
                      </a:pPr>
                      <a:r>
                        <a:rPr lang="en-US" sz="1500" b="1" dirty="0">
                          <a:solidFill>
                            <a:srgbClr val="1F2A44"/>
                          </a:solidFill>
                          <a:latin typeface="Calibri" pitchFamily="34" charset="0"/>
                          <a:ea typeface="Calibri" pitchFamily="34" charset="-122"/>
                          <a:cs typeface="Calibri" pitchFamily="34" charset="-120"/>
                        </a:rPr>
                        <a:t>GCC High and DoD</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Microsoft Entra Government and Azure Government: AzureUSGovernment, US Gov regions</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login.microsoftonline.us, management.usgovcloudapi.net, *.his.arc.azure.us, *.guestconfiguration.azure.us</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Callout" descr="">
            <a:extLst>
              <a:ext uri="{C183D7F6-B498-43B3-948B-1728B52AA6E4}">
                <adec:decorative xmlns:adec="http://schemas.microsoft.com/office/drawing/2017/decorative" val="1"/>
              </a:ext>
            </a:extLst>
          </p:cNvPr>
          <p:cNvSpPr/>
          <p:nvPr/>
        </p:nvSpPr>
        <p:spPr>
          <a:xfrm>
            <a:off x="548640" y="3666744"/>
            <a:ext cx="11109960" cy="1019556"/>
          </a:xfrm>
          <a:prstGeom prst="roundRect">
            <a:avLst>
              <a:gd name="adj" fmla="val 7175"/>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Icon FaCloud" descr="">
            <a:extLst>
              <a:ext uri="{C183D7F6-B498-43B3-948B-1728B52AA6E4}">
                <adec:decorative xmlns:adec="http://schemas.microsoft.com/office/drawing/2017/decorative" val="1"/>
              </a:ext>
            </a:extLst>
          </p:cNvPr>
          <p:cNvSpPr/>
          <p:nvPr/>
        </p:nvSpPr>
        <p:spPr>
          <a:xfrm>
            <a:off x="749808" y="3856482"/>
            <a:ext cx="640080" cy="640080"/>
          </a:xfrm>
          <a:prstGeom prst="ellipse">
            <a:avLst/>
          </a:prstGeom>
          <a:solidFill>
            <a:srgbClr val="0F766E"/>
          </a:solidFill>
          <a:ln w="12700">
            <a:solidFill>
              <a:srgbClr val="0F766E"/>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03427" y="4010101"/>
            <a:ext cx="332842" cy="332842"/>
          </a:xfrm>
          <a:prstGeom prst="rect">
            <a:avLst/>
          </a:prstGeom>
        </p:spPr>
      </p:pic>
      <p:sp>
        <p:nvSpPr>
          <p:cNvPr id="9" name="Callout text"/>
          <p:cNvSpPr txBox="1"/>
          <p:nvPr/>
        </p:nvSpPr>
        <p:spPr>
          <a:xfrm>
            <a:off x="1600200" y="3721608"/>
            <a:ext cx="9875520" cy="909828"/>
          </a:xfrm>
          <a:prstGeom prst="rect">
            <a:avLst/>
          </a:prstGeom>
          <a:noFill/>
          <a:ln/>
        </p:spPr>
        <p:txBody>
          <a:bodyPr wrap="square" lIns="0" tIns="0" rIns="0" bIns="0" rtlCol="0" anchor="ctr"/>
          <a:lstStyle/>
          <a:p>
            <a:pPr indent="0" marL="0">
              <a:buNone/>
            </a:pPr>
            <a:r>
              <a:rPr lang="en-US" sz="1750" b="1" dirty="0">
                <a:solidFill>
                  <a:srgbClr val="0F766E"/>
                </a:solidFill>
              </a:rPr>
              <a:t>Why: </a:t>
            </a:r>
            <a:pPr indent="0" marL="0">
              <a:buNone/>
            </a:pPr>
            <a:r>
              <a:rPr lang="en-US" sz="1750" dirty="0">
                <a:solidFill>
                  <a:srgbClr val="334155"/>
                </a:solidFill>
              </a:rPr>
              <a:t>Office 365 GCC uses Microsoft Entra Public, and an Azure Government subscription can't be associated with a directory there. So this estate's Arc servers go to a commercial subscription.</a:t>
            </a:r>
            <a:endParaRPr lang="en-US" sz="17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Planning identity for Azure Government applications; azcmagent connect; Connected Machine agent network requirements. Chapter 08, “Which Azure.”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Learn gives you: the azure_arc role</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Lead"/>
          <p:cNvSpPr txBox="1"/>
          <p:nvPr/>
        </p:nvSpPr>
        <p:spPr>
          <a:xfrm>
            <a:off x="548640" y="1325880"/>
            <a:ext cx="11109960" cy="603504"/>
          </a:xfrm>
          <a:prstGeom prst="rect">
            <a:avLst/>
          </a:prstGeom>
          <a:noFill/>
          <a:ln/>
        </p:spPr>
        <p:txBody>
          <a:bodyPr wrap="square" lIns="0" tIns="0" rIns="0" bIns="0" rtlCol="0" anchor="t"/>
          <a:lstStyle/>
          <a:p>
            <a:pPr indent="0" marL="0">
              <a:buNone/>
            </a:pPr>
            <a:r>
              <a:rPr lang="en-US" sz="1800" b="1" dirty="0">
                <a:solidFill>
                  <a:srgbClr val="1F2A44"/>
                </a:solidFill>
              </a:rPr>
              <a:t>Installs the Connected Machine agent and registers each host. Idempotent: a connected machine is skipped. It doesn't discover machines.</a:t>
            </a:r>
            <a:endParaRPr lang="en-US" sz="1800" dirty="0"/>
          </a:p>
        </p:txBody>
      </p:sp>
      <p:graphicFrame>
        <p:nvGraphicFramePr>
          <p:cNvPr id="6" name="Table"/>
          <p:cNvGraphicFramePr>
            <a:graphicFrameLocks noGrp="1"/>
          </p:cNvGraphicFramePr>
          <p:nvPr>
            <p:extLst>
              <p:ext uri="{D42A27DB-BD31-4B8C-83A1-F6EECF244321}">
                <p14:modId xmlns:p14="http://schemas.microsoft.com/office/powerpoint/2010/main" val="1579011935"/>
              </p:ext>
            </p:extLst>
          </p:nvPr>
        </p:nvGraphicFramePr>
        <p:xfrm>
          <a:off x="548640" y="2112264"/>
          <a:ext cx="11109960" cy="2537460"/>
        </p:xfrm>
        <a:graphic>
          <a:graphicData uri="http://schemas.openxmlformats.org/drawingml/2006/table">
            <a:tbl>
              <a:tblPr firstRow="1" bandRow="1"/>
              <a:tblGrid>
                <a:gridCol w="2194560"/>
                <a:gridCol w="8915400"/>
              </a:tblGrid>
              <a:tr h="330708">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Learn's page covers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What it says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Permissions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Azure Connected Machine Onboarding at subscription or resource group scope; Microsoft.HybridCompute and Microsoft.GuestConfiguration registered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Variables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azure_arc_resource_group, _subscription_id, _tenant_id, _location, azure_arc_cloud (default AzureCloud), azure_arc_tags, proxy</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Authentication</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cli for development; msi, the control node's managed identity, recommended for production because it removes stored secrets; a service principal through env in Automation Platform</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Inventory and scale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Static groups such as arc_linux, or dynamic inventories, including a constructed one from a CMDB; schedule the job nightly so new machines onboard as they appear</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Callout" descr="">
            <a:extLst>
              <a:ext uri="{C183D7F6-B498-43B3-948B-1728B52AA6E4}">
                <adec:decorative xmlns:adec="http://schemas.microsoft.com/office/drawing/2017/decorative" val="1"/>
              </a:ext>
            </a:extLst>
          </p:cNvPr>
          <p:cNvSpPr/>
          <p:nvPr/>
        </p:nvSpPr>
        <p:spPr>
          <a:xfrm>
            <a:off x="548640" y="4832604"/>
            <a:ext cx="11109960" cy="752856"/>
          </a:xfrm>
          <a:prstGeom prst="roundRect">
            <a:avLst>
              <a:gd name="adj" fmla="val 971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8" name="Icon FaRoute" descr="">
            <a:extLst>
              <a:ext uri="{C183D7F6-B498-43B3-948B-1728B52AA6E4}">
                <adec:decorative xmlns:adec="http://schemas.microsoft.com/office/drawing/2017/decorative" val="1"/>
              </a:ext>
            </a:extLst>
          </p:cNvPr>
          <p:cNvSpPr/>
          <p:nvPr/>
        </p:nvSpPr>
        <p:spPr>
          <a:xfrm>
            <a:off x="749808" y="4905756"/>
            <a:ext cx="606552" cy="606552"/>
          </a:xfrm>
          <a:prstGeom prst="ellipse">
            <a:avLst/>
          </a:prstGeom>
          <a:solidFill>
            <a:srgbClr val="B45309"/>
          </a:solidFill>
          <a:ln w="12700">
            <a:solidFill>
              <a:srgbClr val="B45309"/>
            </a:solidFill>
            <a:prstDash val="solid"/>
          </a:ln>
        </p:spPr>
      </p:sp>
      <p:pic>
        <p:nvPicPr>
          <p:cNvPr id="9"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5380" y="5051328"/>
            <a:ext cx="315407" cy="315407"/>
          </a:xfrm>
          <a:prstGeom prst="rect">
            <a:avLst/>
          </a:prstGeom>
        </p:spPr>
      </p:pic>
      <p:sp>
        <p:nvSpPr>
          <p:cNvPr id="10" name="Callout text"/>
          <p:cNvSpPr txBox="1"/>
          <p:nvPr/>
        </p:nvSpPr>
        <p:spPr>
          <a:xfrm>
            <a:off x="1600200" y="4887468"/>
            <a:ext cx="9875520" cy="643128"/>
          </a:xfrm>
          <a:prstGeom prst="rect">
            <a:avLst/>
          </a:prstGeom>
          <a:noFill/>
          <a:ln/>
        </p:spPr>
        <p:txBody>
          <a:bodyPr wrap="square" lIns="0" tIns="0" rIns="0" bIns="0" rtlCol="0" anchor="ctr"/>
          <a:lstStyle/>
          <a:p>
            <a:pPr indent="0" marL="0">
              <a:buNone/>
            </a:pPr>
            <a:r>
              <a:rPr lang="en-US" sz="1750" b="1" dirty="0">
                <a:solidFill>
                  <a:srgbClr val="B45309"/>
                </a:solidFill>
              </a:rPr>
              <a:t>Learn's planning page adds: </a:t>
            </a:r>
            <a:pPr indent="0" marL="0">
              <a:buNone/>
            </a:pPr>
            <a:r>
              <a:rPr lang="en-US" sz="1750" dirty="0">
                <a:solidFill>
                  <a:srgbClr val="334155"/>
                </a:solidFill>
              </a:rPr>
              <a:t>pilot first, on a representative, non-critical set of machines, for at least 30 days, with a written plan that includes rollback.</a:t>
            </a:r>
            <a:endParaRPr lang="en-US" sz="175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Connect machines to Azure Arc at scale with Ansible; Plan and deploy Azure Arc-enabled servers. Chapter 08, “What Learn gives you.”</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pinned role, and what Learn's page doesn't say</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Panel The pinned copy" descr="">
            <a:extLst>
              <a:ext uri="{C183D7F6-B498-43B3-948B-1728B52AA6E4}">
                <adec:decorative xmlns:adec="http://schemas.microsoft.com/office/drawing/2017/decorative" val="1"/>
              </a:ext>
            </a:extLst>
          </p:cNvPr>
          <p:cNvSpPr/>
          <p:nvPr/>
        </p:nvSpPr>
        <p:spPr>
          <a:xfrm>
            <a:off x="548640" y="1325880"/>
            <a:ext cx="5417820" cy="2871216"/>
          </a:xfrm>
          <a:prstGeom prst="roundRect">
            <a:avLst>
              <a:gd name="adj" fmla="val 2548"/>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6" name="Panel The pinned copy label"/>
          <p:cNvSpPr txBox="1"/>
          <p:nvPr/>
        </p:nvSpPr>
        <p:spPr>
          <a:xfrm>
            <a:off x="731520" y="1435608"/>
            <a:ext cx="5052060" cy="274320"/>
          </a:xfrm>
          <a:prstGeom prst="rect">
            <a:avLst/>
          </a:prstGeom>
          <a:noFill/>
          <a:ln/>
        </p:spPr>
        <p:txBody>
          <a:bodyPr wrap="square" lIns="0" tIns="0" rIns="0" bIns="0" rtlCol="0" anchor="t"/>
          <a:lstStyle/>
          <a:p>
            <a:pPr indent="0" marL="0">
              <a:buNone/>
            </a:pPr>
            <a:r>
              <a:rPr lang="en-US" sz="1100" b="1" spc="50" kern="0" dirty="0">
                <a:solidFill>
                  <a:srgbClr val="0F766E"/>
                </a:solidFill>
              </a:rPr>
              <a:t>THE PINNED COPY</a:t>
            </a:r>
            <a:endParaRPr lang="en-US" sz="1100" dirty="0"/>
          </a:p>
        </p:txBody>
      </p:sp>
      <p:sp>
        <p:nvSpPr>
          <p:cNvPr id="7" name="Panel The pinned copy list"/>
          <p:cNvSpPr txBox="1"/>
          <p:nvPr/>
        </p:nvSpPr>
        <p:spPr>
          <a:xfrm>
            <a:off x="731520" y="1737360"/>
            <a:ext cx="5097780" cy="2414016"/>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Unmodified copy in examples/third_party/azure-arc-role, from ansible-collections/azure v4.2.0 (commit afa62c3, Oct 30, 2026), GPL-3.0-or-later</a:t>
            </a:r>
            <a:endParaRPr lang="en-US" sz="1500" dirty="0"/>
          </a:p>
          <a:p>
            <a:pPr marL="342900" indent="-342900">
              <a:spcAft>
                <a:spcPts val="400"/>
              </a:spcAft>
              <a:buSzPct val="100000"/>
              <a:buChar char="•"/>
            </a:pPr>
            <a:r>
              <a:rPr lang="en-US" sz="1500" dirty="0">
                <a:solidFill>
                  <a:srgbClr val="334155"/>
                </a:solidFill>
              </a:rPr>
              <a:t>Each file's git blob hash checked against upstream; the 4.2.0 Galaxy package's role files match byte for byte</a:t>
            </a:r>
            <a:endParaRPr lang="en-US" sz="1500" dirty="0"/>
          </a:p>
          <a:p>
            <a:pPr marL="342900" indent="-342900">
              <a:spcAft>
                <a:spcPts val="400"/>
              </a:spcAft>
              <a:buSzPct val="100000"/>
              <a:buChar char="•"/>
            </a:pPr>
            <a:r>
              <a:rPr lang="en-US" sz="1500" dirty="0">
                <a:solidFill>
                  <a:srgbClr val="334155"/>
                </a:solidFill>
              </a:rPr>
              <a:t>snapshot.json holds each SHA-256; requirements.yml pins azure.azcollection 4.2.0; test_microsoft_role.py fails if the installed role isn't the pinned copy</a:t>
            </a:r>
            <a:endParaRPr lang="en-US" sz="1500" dirty="0"/>
          </a:p>
        </p:txBody>
      </p:sp>
      <p:sp>
        <p:nvSpPr>
          <p:cNvPr id="8" name="Panel What reading it shows" descr="">
            <a:extLst>
              <a:ext uri="{C183D7F6-B498-43B3-948B-1728B52AA6E4}">
                <adec:decorative xmlns:adec="http://schemas.microsoft.com/office/drawing/2017/decorative" val="1"/>
              </a:ext>
            </a:extLst>
          </p:cNvPr>
          <p:cNvSpPr/>
          <p:nvPr/>
        </p:nvSpPr>
        <p:spPr>
          <a:xfrm>
            <a:off x="6240780" y="1325880"/>
            <a:ext cx="5417820" cy="2871216"/>
          </a:xfrm>
          <a:prstGeom prst="roundRect">
            <a:avLst>
              <a:gd name="adj" fmla="val 2548"/>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9" name="Panel What reading it shows label"/>
          <p:cNvSpPr txBox="1"/>
          <p:nvPr/>
        </p:nvSpPr>
        <p:spPr>
          <a:xfrm>
            <a:off x="6423660" y="1435608"/>
            <a:ext cx="5052060" cy="274320"/>
          </a:xfrm>
          <a:prstGeom prst="rect">
            <a:avLst/>
          </a:prstGeom>
          <a:noFill/>
          <a:ln/>
        </p:spPr>
        <p:txBody>
          <a:bodyPr wrap="square" lIns="0" tIns="0" rIns="0" bIns="0" rtlCol="0" anchor="t"/>
          <a:lstStyle/>
          <a:p>
            <a:pPr indent="0" marL="0">
              <a:buNone/>
            </a:pPr>
            <a:r>
              <a:rPr lang="en-US" sz="1100" b="1" spc="50" kern="0" dirty="0">
                <a:solidFill>
                  <a:srgbClr val="B45309"/>
                </a:solidFill>
              </a:rPr>
              <a:t>WHAT READING IT SHOWS</a:t>
            </a:r>
            <a:endParaRPr lang="en-US" sz="1100" dirty="0"/>
          </a:p>
        </p:txBody>
      </p:sp>
      <p:sp>
        <p:nvSpPr>
          <p:cNvPr id="10" name="Panel What reading it shows list"/>
          <p:cNvSpPr txBox="1"/>
          <p:nvPr/>
        </p:nvSpPr>
        <p:spPr>
          <a:xfrm>
            <a:off x="6423660" y="1737360"/>
            <a:ext cx="5097780" cy="2414016"/>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Its default tag is ArcSQLServerExtensionDeployment: Disabled, where Learn's variable table gives { archost: "true" }</a:t>
            </a:r>
            <a:endParaRPr lang="en-US" sz="1500" dirty="0"/>
          </a:p>
          <a:p>
            <a:pPr marL="342900" indent="-342900">
              <a:spcAft>
                <a:spcPts val="400"/>
              </a:spcAft>
              <a:buSzPct val="100000"/>
              <a:buChar char="•"/>
            </a:pPr>
            <a:r>
              <a:rPr lang="en-US" sz="1500" dirty="0">
                <a:solidFill>
                  <a:srgbClr val="334155"/>
                </a:solidFill>
              </a:rPr>
              <a:t>Unless azure_arc_log_enabled is false, it sends a success or failure signal with the subscription, resource group, tenant and region to the Arc hybrid identity service (gbl.his.arc.azure.com)</a:t>
            </a:r>
            <a:endParaRPr lang="en-US" sz="1500" dirty="0"/>
          </a:p>
          <a:p>
            <a:pPr marL="342900" indent="-342900">
              <a:spcAft>
                <a:spcPts val="400"/>
              </a:spcAft>
              <a:buSzPct val="100000"/>
              <a:buChar char="•"/>
            </a:pPr>
            <a:r>
              <a:rPr lang="en-US" sz="1500" dirty="0">
                <a:solidFill>
                  <a:srgbClr val="334155"/>
                </a:solidFill>
              </a:rPr>
              <a:t>The chapter follows the code, because the code is what runs; both are in the verification log</a:t>
            </a:r>
            <a:endParaRPr lang="en-US" sz="150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ansible-collections/azure roles/azure_arc at afa62c3 (v4.2.0); Learn, Connect machines to Azure Arc at scale with Ansible. Chapter 08, “The pinned copy.”</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the role leaves to you: owners and waves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8"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538728"/>
        </p:xfrm>
        <a:graphic>
          <a:graphicData uri="http://schemas.openxmlformats.org/drawingml/2006/table">
            <a:tbl>
              <a:tblPr firstRow="1" bandRow="1"/>
              <a:tblGrid>
                <a:gridCol w="3566160"/>
                <a:gridCol w="3657600"/>
                <a:gridCol w="3886200"/>
              </a:tblGrid>
              <a:tr h="315468">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Microsoft's role, on its own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Why it matters here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What examples/ansible adds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72694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Connects whatever hosts the inventory names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 server enters Azure without the tags that tell machine configuration and Update Manager whether it's theirs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Inventory reads both owners, refuses an unknown tool, blocks a candidate without either, writes ConfigOwner and PatchOwner</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2694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No waves or batches; Automation Platform onboards every new machine on a schedule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 wrong tag, rule or network setting reaches the whole estate; Learn says pilot first</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arc_wave; one canary, then 5, then 25 percent, stop at the first failure; waves 0 and 1 refuse production (design guidance)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2694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Can't run in check mode without the agent: it decides the agent is installed, then its status read fails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No dry run of what a wave would send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06 doesn't call the role without confirm_change=true; prints what each server would get; plan first</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Your own tags replace its ArcSQLServerExtensionDeployment: Disabled default</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 SQL Server host is auto-onboarded to Arc-enabled SQL Server</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The playbook adds the tag back</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Sends a signal with subscription, resource group, tenant, region by default</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What leaves the estate should be a decision on record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arc_role_log_enabled: false (design guidance: on only for a support case)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ansible-collections/azure azure_arc role at afa62c3; Learn, Plan and deploy Azure Arc-enabled servers. Chapter 08, “What it leaves to you” (rows 1–5).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the role leaves to you: cloud and record</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9"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218688"/>
        </p:xfrm>
        <a:graphic>
          <a:graphicData uri="http://schemas.openxmlformats.org/drawingml/2006/table">
            <a:tbl>
              <a:tblPr firstRow="1" bandRow="1"/>
              <a:tblGrid>
                <a:gridCol w="3566160"/>
                <a:gridCol w="3657600"/>
                <a:gridCol w="3886200"/>
              </a:tblGrid>
              <a:tr h="32308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Microsoft's role, on its own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Why it matters here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What examples/ansible adds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Requests its token for management.azure.com/.default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Right for GCC on commercial Azure; not the Azure Government Resource Manager</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06 refuses any cloud but AzureCloud; 02_arc_onboarding.yml handles Azure Government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4980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Passes the access token on the azcmagent connect command line, hidden by no_log</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Visible to other processes while the connect runs; Learn says access tokens are short-lived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Accepted for the role; 02 keeps a service principal secret in a root-only --config file, as Learn recommends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Takes the region and cloud it's given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 US Gov region with AzureCloud fails halfway through a wave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The wave plan stops a region from the other cloud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Leaves no record of what was planned or connected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Gate 3 of the Arc track asks for each wave's evidence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 plan (JSON, CSV) before; a result with each Arc resource ID after</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Learn's requirements.yml installs the latest collection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 rerun a month later runs a different role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Pins 4.2.0; the installed role must match the pinned copy</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Callout" descr="">
            <a:extLst>
              <a:ext uri="{C183D7F6-B498-43B3-948B-1728B52AA6E4}">
                <adec:decorative xmlns:adec="http://schemas.microsoft.com/office/drawing/2017/decorative" val="1"/>
              </a:ext>
            </a:extLst>
          </p:cNvPr>
          <p:cNvSpPr/>
          <p:nvPr/>
        </p:nvSpPr>
        <p:spPr>
          <a:xfrm>
            <a:off x="548640" y="4727448"/>
            <a:ext cx="11109960" cy="1019556"/>
          </a:xfrm>
          <a:prstGeom prst="roundRect">
            <a:avLst>
              <a:gd name="adj" fmla="val 7175"/>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Icon FaScaleBalanced" descr="">
            <a:extLst>
              <a:ext uri="{C183D7F6-B498-43B3-948B-1728B52AA6E4}">
                <adec:decorative xmlns:adec="http://schemas.microsoft.com/office/drawing/2017/decorative" val="1"/>
              </a:ext>
            </a:extLst>
          </p:cNvPr>
          <p:cNvSpPr/>
          <p:nvPr/>
        </p:nvSpPr>
        <p:spPr>
          <a:xfrm>
            <a:off x="749808" y="4917186"/>
            <a:ext cx="640080" cy="640080"/>
          </a:xfrm>
          <a:prstGeom prst="ellipse">
            <a:avLst/>
          </a:prstGeom>
          <a:solidFill>
            <a:srgbClr val="1F2A44"/>
          </a:solidFill>
          <a:ln w="12700">
            <a:solidFill>
              <a:srgbClr val="1F2A44"/>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03427" y="5070805"/>
            <a:ext cx="332842" cy="332842"/>
          </a:xfrm>
          <a:prstGeom prst="rect">
            <a:avLst/>
          </a:prstGeom>
        </p:spPr>
      </p:pic>
      <p:sp>
        <p:nvSpPr>
          <p:cNvPr id="9" name="Callout text"/>
          <p:cNvSpPr txBox="1"/>
          <p:nvPr/>
        </p:nvSpPr>
        <p:spPr>
          <a:xfrm>
            <a:off x="1600200" y="4782312"/>
            <a:ext cx="9875520" cy="909828"/>
          </a:xfrm>
          <a:prstGeom prst="rect">
            <a:avLst/>
          </a:prstGeom>
          <a:noFill/>
          <a:ln/>
        </p:spPr>
        <p:txBody>
          <a:bodyPr wrap="square" lIns="0" tIns="0" rIns="0" bIns="0" rtlCol="0" anchor="ctr"/>
          <a:lstStyle/>
          <a:p>
            <a:pPr indent="0" marL="0">
              <a:buNone/>
            </a:pPr>
            <a:r>
              <a:rPr lang="en-US" sz="1750" b="1" dirty="0">
                <a:solidFill>
                  <a:srgbClr val="1F2A44"/>
                </a:solidFill>
              </a:rPr>
              <a:t>Verdict: </a:t>
            </a:r>
            <a:pPr indent="0" marL="0">
              <a:buNone/>
            </a:pPr>
            <a:r>
              <a:rPr lang="en-US" sz="1750" dirty="0">
                <a:solidFill>
                  <a:srgbClr val="334155"/>
                </a:solidFill>
              </a:rPr>
              <a:t>use Microsoft's role; the kit calls it unchanged. What the kit adds sits around it: what goes in, what a dry run shows, how many servers at a time, and what is written down.</a:t>
            </a:r>
            <a:endParaRPr lang="en-US" sz="17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ansible-collections/azure azure_arc role at afa62c3; Learn, azcmagent connect; Connect machines with Ansible. Chapter 08, “What it leaves to you” (rows 6–10), “The verdict.”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First, the patch_owner column</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Code panel" descr="">
            <a:extLst>
              <a:ext uri="{C183D7F6-B498-43B3-948B-1728B52AA6E4}">
                <adec:decorative xmlns:adec="http://schemas.microsoft.com/office/drawing/2017/decorative" val="1"/>
              </a:ext>
            </a:extLst>
          </p:cNvPr>
          <p:cNvSpPr/>
          <p:nvPr/>
        </p:nvSpPr>
        <p:spPr>
          <a:xfrm>
            <a:off x="548640" y="1325880"/>
            <a:ext cx="11109960" cy="1399032"/>
          </a:xfrm>
          <a:prstGeom prst="roundRect">
            <a:avLst>
              <a:gd name="adj" fmla="val 5229"/>
            </a:avLst>
          </a:prstGeom>
          <a:solidFill>
            <a:srgbClr val="F1F5F9"/>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6" name="Code label"/>
          <p:cNvSpPr txBox="1"/>
          <p:nvPr/>
        </p:nvSpPr>
        <p:spPr>
          <a:xfrm>
            <a:off x="713232" y="1399032"/>
            <a:ext cx="10780776" cy="228600"/>
          </a:xfrm>
          <a:prstGeom prst="rect">
            <a:avLst/>
          </a:prstGeom>
          <a:noFill/>
          <a:ln/>
        </p:spPr>
        <p:txBody>
          <a:bodyPr wrap="square" lIns="0" tIns="0" rIns="0" bIns="0" rtlCol="0" anchor="t"/>
          <a:lstStyle/>
          <a:p>
            <a:pPr indent="0" marL="0">
              <a:buNone/>
            </a:pPr>
            <a:r>
              <a:rPr lang="en-US" sz="1050" b="1" dirty="0">
                <a:solidFill>
                  <a:srgbClr val="64748B"/>
                </a:solidFill>
              </a:rPr>
              <a:t>inventory/sample/cmdb_export.csv (abridged)</a:t>
            </a:r>
            <a:endParaRPr lang="en-US" sz="1050" dirty="0"/>
          </a:p>
        </p:txBody>
      </p:sp>
      <p:sp>
        <p:nvSpPr>
          <p:cNvPr id="7" name="Code"/>
          <p:cNvSpPr txBox="1"/>
          <p:nvPr/>
        </p:nvSpPr>
        <p:spPr>
          <a:xfrm>
            <a:off x="713232" y="1664208"/>
            <a:ext cx="10835640" cy="1014984"/>
          </a:xfrm>
          <a:prstGeom prst="rect">
            <a:avLst/>
          </a:prstGeom>
          <a:noFill/>
          <a:ln/>
        </p:spPr>
        <p:txBody>
          <a:bodyPr wrap="square" lIns="0" tIns="0" rIns="0" bIns="0" rtlCol="0" anchor="t"/>
          <a:lstStyle/>
          <a:p>
            <a:pPr indent="0" marL="0">
              <a:buNone/>
            </a:pPr>
            <a:r>
              <a:rPr lang="en-US" sz="1200" dirty="0">
                <a:solidFill>
                  <a:srgbClr val="334155"/>
                </a:solidFill>
                <a:latin typeface="Consolas" pitchFamily="34" charset="0"/>
                <a:ea typeface="Consolas" pitchFamily="34" charset="-122"/>
                <a:cs typeface="Consolas" pitchFamily="34" charset="-120"/>
              </a:rPr>
              <a:t>name,...,management_tier,config_owner,patch_owner,arc_status,arc_resource_group,arc_location,arc_wave,patch_group</a:t>
            </a:r>
            <a:endParaRPr lang="en-US" sz="1200" dirty="0"/>
          </a:p>
          <a:p>
            <a:pPr indent="0" marL="0">
              <a:buNone/>
            </a:pPr>
            <a:r>
              <a:rPr lang="en-US" sz="1200" dirty="0">
                <a:solidFill>
                  <a:srgbClr val="334155"/>
                </a:solidFill>
                <a:latin typeface="Consolas" pitchFamily="34" charset="0"/>
                <a:ea typeface="Consolas" pitchFamily="34" charset="-122"/>
                <a:cs typeface="Consolas" pitchFamily="34" charset="-120"/>
              </a:rPr>
              <a:t>app02.contoso.example,...,tier1,arc_machine_configuration,update_manager,not_onboarded,rg-arc-claims-prod,eastus,2,…</a:t>
            </a:r>
            <a:endParaRPr lang="en-US" sz="1200" dirty="0"/>
          </a:p>
          <a:p>
            <a:pPr indent="0" marL="0">
              <a:buNone/>
            </a:pPr>
            <a:r>
              <a:rPr lang="en-US" sz="1200" dirty="0">
                <a:solidFill>
                  <a:srgbClr val="334155"/>
                </a:solidFill>
                <a:latin typeface="Consolas" pitchFamily="34" charset="0"/>
                <a:ea typeface="Consolas" pitchFamily="34" charset="-122"/>
                <a:cs typeface="Consolas" pitchFamily="34" charset="-120"/>
              </a:rPr>
              <a:t>aws01.contoso.example,...,tier1,ansible,ansible,not_onboarded,rg-arc-portal-dev,eastus,1,PG-THU-0100</a:t>
            </a:r>
            <a:endParaRPr lang="en-US" sz="1200" dirty="0"/>
          </a:p>
          <a:p>
            <a:pPr indent="0" marL="0">
              <a:buNone/>
            </a:pPr>
            <a:r>
              <a:rPr lang="en-US" sz="1200" dirty="0">
                <a:solidFill>
                  <a:srgbClr val="334155"/>
                </a:solidFill>
                <a:latin typeface="Consolas" pitchFamily="34" charset="0"/>
                <a:ea typeface="Consolas" pitchFamily="34" charset="-122"/>
                <a:cs typeface="Consolas" pitchFamily="34" charset="-120"/>
              </a:rPr>
              <a:t>aix01.contoso.example,...,tier2,ansible,ansible,not_supported,,,,PG-SUN-0300</a:t>
            </a:r>
            <a:endParaRPr lang="en-US" sz="1200" dirty="0"/>
          </a:p>
          <a:p>
            <a:pPr indent="0" marL="0">
              <a:buNone/>
            </a:pPr>
            <a:r>
              <a:rPr lang="en-US" sz="1200" dirty="0">
                <a:solidFill>
                  <a:srgbClr val="334155"/>
                </a:solidFill>
                <a:latin typeface="Consolas" pitchFamily="34" charset="0"/>
                <a:ea typeface="Consolas" pitchFamily="34" charset="-122"/>
                <a:cs typeface="Consolas" pitchFamily="34" charset="-120"/>
              </a:rPr>
              <a:t>gm01.contoso.example,...,tier2,ansible,platform,not_supported,,,,PG-NET-0400</a:t>
            </a:r>
            <a:endParaRPr lang="en-US" sz="1200" dirty="0"/>
          </a:p>
        </p:txBody>
      </p:sp>
      <p:sp>
        <p:nvSpPr>
          <p:cNvPr id="8" name="Panel What changed" descr="">
            <a:extLst>
              <a:ext uri="{C183D7F6-B498-43B3-948B-1728B52AA6E4}">
                <adec:decorative xmlns:adec="http://schemas.microsoft.com/office/drawing/2017/decorative" val="1"/>
              </a:ext>
            </a:extLst>
          </p:cNvPr>
          <p:cNvSpPr/>
          <p:nvPr/>
        </p:nvSpPr>
        <p:spPr>
          <a:xfrm>
            <a:off x="548640" y="2907792"/>
            <a:ext cx="5417820" cy="2350008"/>
          </a:xfrm>
          <a:prstGeom prst="roundRect">
            <a:avLst>
              <a:gd name="adj" fmla="val 3113"/>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9" name="Panel What changed label"/>
          <p:cNvSpPr txBox="1"/>
          <p:nvPr/>
        </p:nvSpPr>
        <p:spPr>
          <a:xfrm>
            <a:off x="731520" y="3017520"/>
            <a:ext cx="5052060" cy="274320"/>
          </a:xfrm>
          <a:prstGeom prst="rect">
            <a:avLst/>
          </a:prstGeom>
          <a:noFill/>
          <a:ln/>
        </p:spPr>
        <p:txBody>
          <a:bodyPr wrap="square" lIns="0" tIns="0" rIns="0" bIns="0" rtlCol="0" anchor="t"/>
          <a:lstStyle/>
          <a:p>
            <a:pPr indent="0" marL="0">
              <a:buNone/>
            </a:pPr>
            <a:r>
              <a:rPr lang="en-US" sz="1100" b="1" spc="50" kern="0" dirty="0">
                <a:solidFill>
                  <a:srgbClr val="64748B"/>
                </a:solidFill>
              </a:rPr>
              <a:t>WHAT CHANGED</a:t>
            </a:r>
            <a:endParaRPr lang="en-US" sz="1100" dirty="0"/>
          </a:p>
        </p:txBody>
      </p:sp>
      <p:sp>
        <p:nvSpPr>
          <p:cNvPr id="10" name="Panel What changed list"/>
          <p:cNvSpPr txBox="1"/>
          <p:nvPr/>
        </p:nvSpPr>
        <p:spPr>
          <a:xfrm>
            <a:off x="731520" y="3319272"/>
            <a:ext cx="5097780" cy="1892808"/>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The Ansible guide named patch_owner; the sample export didn't carry it. It does now, beside config_owner, with arc_wave after the region</a:t>
            </a:r>
            <a:endParaRPr lang="en-US" sz="1500" dirty="0"/>
          </a:p>
          <a:p>
            <a:pPr marL="342900" indent="-342900">
              <a:spcAft>
                <a:spcPts val="400"/>
              </a:spcAft>
              <a:buSzPct val="100000"/>
              <a:buChar char="•"/>
            </a:pPr>
            <a:r>
              <a:rPr lang="en-US" sz="1500" dirty="0">
                <a:solidFill>
                  <a:srgbClr val="334155"/>
                </a:solidFill>
              </a:rPr>
              <a:t>examples/ansible already had the CMDB inventory, an assessment, a gated azcmagent playbook and a baseline check; this chapter adds a column, two playbooks and the tests</a:t>
            </a:r>
            <a:endParaRPr lang="en-US" sz="1500" dirty="0"/>
          </a:p>
        </p:txBody>
      </p:sp>
      <p:sp>
        <p:nvSpPr>
          <p:cNvPr id="11" name="Panel The guide's case, and a GCC sample" descr="">
            <a:extLst>
              <a:ext uri="{C183D7F6-B498-43B3-948B-1728B52AA6E4}">
                <adec:decorative xmlns:adec="http://schemas.microsoft.com/office/drawing/2017/decorative" val="1"/>
              </a:ext>
            </a:extLst>
          </p:cNvPr>
          <p:cNvSpPr/>
          <p:nvPr/>
        </p:nvSpPr>
        <p:spPr>
          <a:xfrm>
            <a:off x="6240780" y="2907792"/>
            <a:ext cx="5417820" cy="2350008"/>
          </a:xfrm>
          <a:prstGeom prst="roundRect">
            <a:avLst>
              <a:gd name="adj" fmla="val 3113"/>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2" name="Panel The guide&amp;apos;s case, and a GCC sample label"/>
          <p:cNvSpPr txBox="1"/>
          <p:nvPr/>
        </p:nvSpPr>
        <p:spPr>
          <a:xfrm>
            <a:off x="6423660" y="3017520"/>
            <a:ext cx="5052060" cy="274320"/>
          </a:xfrm>
          <a:prstGeom prst="rect">
            <a:avLst/>
          </a:prstGeom>
          <a:noFill/>
          <a:ln/>
        </p:spPr>
        <p:txBody>
          <a:bodyPr wrap="square" lIns="0" tIns="0" rIns="0" bIns="0" rtlCol="0" anchor="t"/>
          <a:lstStyle/>
          <a:p>
            <a:pPr indent="0" marL="0">
              <a:buNone/>
            </a:pPr>
            <a:r>
              <a:rPr lang="en-US" sz="1100" b="1" spc="50" kern="0" dirty="0">
                <a:solidFill>
                  <a:srgbClr val="0F766E"/>
                </a:solidFill>
              </a:rPr>
              <a:t>THE GUIDE'S CASE, AND A GCC SAMPLE</a:t>
            </a:r>
            <a:endParaRPr lang="en-US" sz="1100" dirty="0"/>
          </a:p>
        </p:txBody>
      </p:sp>
      <p:sp>
        <p:nvSpPr>
          <p:cNvPr id="13" name="Panel The guide's case, and a GCC sample list"/>
          <p:cNvSpPr txBox="1"/>
          <p:nvPr/>
        </p:nvSpPr>
        <p:spPr>
          <a:xfrm>
            <a:off x="6423660" y="3319272"/>
            <a:ext cx="5097780" cy="1892808"/>
          </a:xfrm>
          <a:prstGeom prst="rect">
            <a:avLst/>
          </a:prstGeom>
          <a:noFill/>
          <a:ln/>
        </p:spPr>
        <p:txBody>
          <a:bodyPr wrap="square" lIns="0" tIns="0" rIns="0" bIns="0" rtlCol="0" anchor="t"/>
          <a:lstStyle/>
          <a:p>
            <a:pPr marL="342900" indent="-342900">
              <a:spcAft>
                <a:spcPts val="400"/>
              </a:spcAft>
              <a:buSzPct val="100000"/>
              <a:buChar char="•"/>
            </a:pPr>
            <a:r>
              <a:rPr lang="en-US" sz="1500" b="1" dirty="0">
                <a:solidFill>
                  <a:srgbClr val="1F2A44"/>
                </a:solidFill>
              </a:rPr>
              <a:t>aws01</a:t>
            </a:r>
            <a:pPr indent="0" marL="0">
              <a:spcAft>
                <a:spcPts val="400"/>
              </a:spcAft>
              <a:buNone/>
            </a:pPr>
            <a:r>
              <a:rPr lang="en-US" sz="1500" dirty="0">
                <a:solidFill>
                  <a:srgbClr val="334155"/>
                </a:solidFill>
              </a:rPr>
              <a:t>: a Red Hat server on AWS that Ansible configures and patches. It still goes to Arc, for inventory, assessment and Defender, with PatchOwner=Ansible: Update Manager assesses it and schedules nothing</a:t>
            </a:r>
            <a:endParaRPr lang="en-US" sz="1500" dirty="0"/>
          </a:p>
          <a:p>
            <a:pPr marL="342900" indent="-342900">
              <a:spcAft>
                <a:spcPts val="400"/>
              </a:spcAft>
              <a:buSzPct val="100000"/>
              <a:buChar char="•"/>
            </a:pPr>
            <a:r>
              <a:rPr lang="en-US" sz="1500" dirty="0">
                <a:solidFill>
                  <a:srgbClr val="334155"/>
                </a:solidFill>
              </a:rPr>
              <a:t>Commercial regions (eastus, westus2), arc_cloud: AzureCloud; resource groups follow rg-arc-&lt;team&gt;-&lt;env&gt;</a:t>
            </a:r>
            <a:endParaRPr lang="en-US" sz="1500" dirty="0"/>
          </a:p>
        </p:txBody>
      </p:sp>
      <p:sp>
        <p:nvSpPr>
          <p:cNvPr id="14"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Ansible configuration automation guide; Arc track implementation guide (resource group pattern). Chapter 08, “First, the patch_owner column.”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inventory: owners to groups and tags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11"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2331720"/>
        </p:xfrm>
        <a:graphic>
          <a:graphicData uri="http://schemas.openxmlformats.org/drawingml/2006/table">
            <a:tbl>
              <a:tblPr firstRow="1" bandRow="1"/>
              <a:tblGrid>
                <a:gridCol w="4754880"/>
                <a:gridCol w="3017520"/>
                <a:gridCol w="3337560"/>
              </a:tblGrid>
              <a:tr h="3078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CMDB value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Group</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Tag value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70408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config_owner = arc_machine_configuration, ansible, intune, configuration_manager, platform</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config_owner_&lt;value&gt;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ConfigOwner = ArcMachineConfiguration, Ansible, Intune, ConfigurationManager, Platform</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patch_owner = update_manager, ansible, configuration_manager, intune, platform</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patch_owner_&lt;value&gt;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PatchOwner = UpdateManager, Ansible, …</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Either empty, or none, on a tier 1 or 2 record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config_owner_missing, patch_owner_missing</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None: a CM-8 finding, never a target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784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arc_wave = 0, 1, …</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arc_wave_&lt;n&gt;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None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Panel Three rules that fail closed" descr="">
            <a:extLst>
              <a:ext uri="{C183D7F6-B498-43B3-948B-1728B52AA6E4}">
                <adec:decorative xmlns:adec="http://schemas.microsoft.com/office/drawing/2017/decorative" val="1"/>
              </a:ext>
            </a:extLst>
          </p:cNvPr>
          <p:cNvSpPr/>
          <p:nvPr/>
        </p:nvSpPr>
        <p:spPr>
          <a:xfrm>
            <a:off x="548640" y="3840480"/>
            <a:ext cx="11109960" cy="2048256"/>
          </a:xfrm>
          <a:prstGeom prst="roundRect">
            <a:avLst>
              <a:gd name="adj" fmla="val 3571"/>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7" name="Panel Three rules that fail closed label"/>
          <p:cNvSpPr txBox="1"/>
          <p:nvPr/>
        </p:nvSpPr>
        <p:spPr>
          <a:xfrm>
            <a:off x="731520" y="3950208"/>
            <a:ext cx="10744200" cy="274320"/>
          </a:xfrm>
          <a:prstGeom prst="rect">
            <a:avLst/>
          </a:prstGeom>
          <a:noFill/>
          <a:ln/>
        </p:spPr>
        <p:txBody>
          <a:bodyPr wrap="square" lIns="0" tIns="0" rIns="0" bIns="0" rtlCol="0" anchor="t"/>
          <a:lstStyle/>
          <a:p>
            <a:pPr indent="0" marL="0">
              <a:buNone/>
            </a:pPr>
            <a:r>
              <a:rPr lang="en-US" sz="1100" b="1" spc="50" kern="0" dirty="0">
                <a:solidFill>
                  <a:srgbClr val="B91C1C"/>
                </a:solidFill>
              </a:rPr>
              <a:t>THREE RULES THAT FAIL CLOSED</a:t>
            </a:r>
            <a:endParaRPr lang="en-US" sz="1100" dirty="0"/>
          </a:p>
        </p:txBody>
      </p:sp>
      <p:sp>
        <p:nvSpPr>
          <p:cNvPr id="8" name="Panel Three rules that fail closed list"/>
          <p:cNvSpPr txBox="1"/>
          <p:nvPr/>
        </p:nvSpPr>
        <p:spPr>
          <a:xfrm>
            <a:off x="731520" y="4251960"/>
            <a:ext cx="10789920" cy="1591056"/>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rgbClr val="334155"/>
                </a:solidFill>
              </a:rPr>
              <a:t>An unknown owner value stops it: updatemanager would make a group nothing reads and drop the server out of patch_owner_update_manager</a:t>
            </a:r>
            <a:endParaRPr lang="en-US" sz="1350" dirty="0"/>
          </a:p>
          <a:p>
            <a:pPr marL="342900" indent="-342900">
              <a:spcAft>
                <a:spcPts val="400"/>
              </a:spcAft>
              <a:buSzPct val="100000"/>
              <a:buChar char="•"/>
            </a:pPr>
            <a:r>
              <a:rPr lang="en-US" sz="1350" dirty="0">
                <a:solidFill>
                  <a:srgbClr val="334155"/>
                </a:solidFill>
              </a:rPr>
              <a:t>A wave that isn't a number stops it</a:t>
            </a:r>
            <a:endParaRPr lang="en-US" sz="1350" dirty="0"/>
          </a:p>
          <a:p>
            <a:pPr marL="342900" indent="-342900">
              <a:spcAft>
                <a:spcPts val="400"/>
              </a:spcAft>
              <a:buSzPct val="100000"/>
              <a:buChar char="•"/>
            </a:pPr>
            <a:r>
              <a:rPr lang="en-US" sz="1350" dirty="0">
                <a:solidFill>
                  <a:srgbClr val="334155"/>
                </a:solidFill>
              </a:rPr>
              <a:t>A tier 1 server not yet onboarded is a candidate only with both owners, a resource group, a region, a wave and tag values Arc accepts; otherwise arc_onboarding_blocked, with arc_blocked_reasons. Arc allows 50 tags, 256-character values; --tags is comma-delimited, so a comma splits a value</a:t>
            </a:r>
            <a:endParaRPr lang="en-US" sz="1350" dirty="0"/>
          </a:p>
        </p:txBody>
      </p:sp>
      <p:sp>
        <p:nvSpPr>
          <p:cNvPr id="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Use tags to organize Azure resources (limits); azcmagent connect (--tags). Chapter 08, “The inventory.”</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wave plan, written before anything runs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Panel What it does" descr="">
            <a:extLst>
              <a:ext uri="{C183D7F6-B498-43B3-948B-1728B52AA6E4}">
                <adec:decorative xmlns:adec="http://schemas.microsoft.com/office/drawing/2017/decorative" val="1"/>
              </a:ext>
            </a:extLst>
          </p:cNvPr>
          <p:cNvSpPr/>
          <p:nvPr/>
        </p:nvSpPr>
        <p:spPr>
          <a:xfrm>
            <a:off x="548640" y="1325880"/>
            <a:ext cx="5417820" cy="3163824"/>
          </a:xfrm>
          <a:prstGeom prst="roundRect">
            <a:avLst>
              <a:gd name="adj" fmla="val 2312"/>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Panel What it does label"/>
          <p:cNvSpPr txBox="1"/>
          <p:nvPr/>
        </p:nvSpPr>
        <p:spPr>
          <a:xfrm>
            <a:off x="731520" y="1435608"/>
            <a:ext cx="5052060" cy="274320"/>
          </a:xfrm>
          <a:prstGeom prst="rect">
            <a:avLst/>
          </a:prstGeom>
          <a:noFill/>
          <a:ln/>
        </p:spPr>
        <p:txBody>
          <a:bodyPr wrap="square" lIns="0" tIns="0" rIns="0" bIns="0" rtlCol="0" anchor="t"/>
          <a:lstStyle/>
          <a:p>
            <a:pPr indent="0" marL="0">
              <a:buNone/>
            </a:pPr>
            <a:r>
              <a:rPr lang="en-US" sz="1100" b="1" spc="50" kern="0" dirty="0">
                <a:solidFill>
                  <a:srgbClr val="64748B"/>
                </a:solidFill>
              </a:rPr>
              <a:t>WHAT IT DOES</a:t>
            </a:r>
            <a:endParaRPr lang="en-US" sz="1100" dirty="0"/>
          </a:p>
        </p:txBody>
      </p:sp>
      <p:sp>
        <p:nvSpPr>
          <p:cNvPr id="7" name="Panel What it does list"/>
          <p:cNvSpPr txBox="1"/>
          <p:nvPr/>
        </p:nvSpPr>
        <p:spPr>
          <a:xfrm>
            <a:off x="731520" y="1737360"/>
            <a:ext cx="5097780" cy="2706624"/>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playbooks/05_arc_wave_plan.yml runs only on the control node, with -e onboarding_wave=N</a:t>
            </a:r>
            <a:endParaRPr lang="en-US" sz="1500" dirty="0"/>
          </a:p>
          <a:p>
            <a:pPr marL="342900" indent="-342900">
              <a:spcAft>
                <a:spcPts val="400"/>
              </a:spcAft>
              <a:buSzPct val="100000"/>
              <a:buChar char="•"/>
            </a:pPr>
            <a:r>
              <a:rPr lang="en-US" sz="1500" dirty="0">
                <a:solidFill>
                  <a:srgbClr val="334155"/>
                </a:solidFill>
              </a:rPr>
              <a:t>Lists the wave's ready servers and the ones the CMDB blocked</a:t>
            </a:r>
            <a:endParaRPr lang="en-US" sz="1500" dirty="0"/>
          </a:p>
          <a:p>
            <a:pPr marL="342900" indent="-342900">
              <a:spcAft>
                <a:spcPts val="400"/>
              </a:spcAft>
              <a:buSzPct val="100000"/>
              <a:buChar char="•"/>
            </a:pPr>
            <a:r>
              <a:rPr lang="en-US" sz="1500" dirty="0">
                <a:solidFill>
                  <a:srgbClr val="334155"/>
                </a:solidFill>
              </a:rPr>
              <a:t>Writes arc-wave-N-plan-&lt;time&gt;.json and .csv under reports/: host, CI, environment, resource group, region, cloud, both owners, the exact tag string, a state</a:t>
            </a:r>
            <a:endParaRPr lang="en-US" sz="1500" dirty="0"/>
          </a:p>
          <a:p>
            <a:pPr marL="342900" indent="-342900">
              <a:spcAft>
                <a:spcPts val="400"/>
              </a:spcAft>
              <a:buSzPct val="100000"/>
              <a:buChar char="•"/>
            </a:pPr>
            <a:r>
              <a:rPr lang="en-US" sz="1500" dirty="0">
                <a:solidFill>
                  <a:srgbClr val="334155"/>
                </a:solidFill>
              </a:rPr>
              <a:t>Both onboarding playbooks import it as their first play: if the plan stops, no server is contacted</a:t>
            </a:r>
            <a:endParaRPr lang="en-US" sz="1500" dirty="0"/>
          </a:p>
        </p:txBody>
      </p:sp>
      <p:sp>
        <p:nvSpPr>
          <p:cNvPr id="8" name="Panel It stops when" descr="">
            <a:extLst>
              <a:ext uri="{C183D7F6-B498-43B3-948B-1728B52AA6E4}">
                <adec:decorative xmlns:adec="http://schemas.microsoft.com/office/drawing/2017/decorative" val="1"/>
              </a:ext>
            </a:extLst>
          </p:cNvPr>
          <p:cNvSpPr/>
          <p:nvPr/>
        </p:nvSpPr>
        <p:spPr>
          <a:xfrm>
            <a:off x="6240780" y="1325880"/>
            <a:ext cx="5417820" cy="3163824"/>
          </a:xfrm>
          <a:prstGeom prst="roundRect">
            <a:avLst>
              <a:gd name="adj" fmla="val 2312"/>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9" name="Panel It stops when label"/>
          <p:cNvSpPr txBox="1"/>
          <p:nvPr/>
        </p:nvSpPr>
        <p:spPr>
          <a:xfrm>
            <a:off x="6423660" y="1435608"/>
            <a:ext cx="5052060" cy="274320"/>
          </a:xfrm>
          <a:prstGeom prst="rect">
            <a:avLst/>
          </a:prstGeom>
          <a:noFill/>
          <a:ln/>
        </p:spPr>
        <p:txBody>
          <a:bodyPr wrap="square" lIns="0" tIns="0" rIns="0" bIns="0" rtlCol="0" anchor="t"/>
          <a:lstStyle/>
          <a:p>
            <a:pPr indent="0" marL="0">
              <a:buNone/>
            </a:pPr>
            <a:r>
              <a:rPr lang="en-US" sz="1100" b="1" spc="50" kern="0" dirty="0">
                <a:solidFill>
                  <a:srgbClr val="B91C1C"/>
                </a:solidFill>
              </a:rPr>
              <a:t>IT STOPS WHEN</a:t>
            </a:r>
            <a:endParaRPr lang="en-US" sz="1100" dirty="0"/>
          </a:p>
        </p:txBody>
      </p:sp>
      <p:sp>
        <p:nvSpPr>
          <p:cNvPr id="10" name="Panel It stops when list"/>
          <p:cNvSpPr txBox="1"/>
          <p:nvPr/>
        </p:nvSpPr>
        <p:spPr>
          <a:xfrm>
            <a:off x="6423660" y="1737360"/>
            <a:ext cx="5097780" cy="2706624"/>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No wave given, or no ready server in it</a:t>
            </a:r>
            <a:endParaRPr lang="en-US" sz="1500" dirty="0"/>
          </a:p>
          <a:p>
            <a:pPr marL="342900" indent="-342900">
              <a:spcAft>
                <a:spcPts val="400"/>
              </a:spcAft>
              <a:buSzPct val="100000"/>
              <a:buChar char="•"/>
            </a:pPr>
            <a:r>
              <a:rPr lang="en-US" sz="1500" dirty="0">
                <a:solidFill>
                  <a:srgbClr val="334155"/>
                </a:solidFill>
              </a:rPr>
              <a:t>arc_cloud isn't AzureCloud or AzureUSGovernment, or a region belongs to the other cloud (usgov and usdod regions need AzureUSGovernment, and no other region does)</a:t>
            </a:r>
            <a:endParaRPr lang="en-US" sz="1500" dirty="0"/>
          </a:p>
          <a:p>
            <a:pPr marL="342900" indent="-342900">
              <a:spcAft>
                <a:spcPts val="400"/>
              </a:spcAft>
              <a:buSzPct val="100000"/>
              <a:buChar char="•"/>
            </a:pPr>
            <a:r>
              <a:rPr lang="en-US" sz="1500" dirty="0">
                <a:solidFill>
                  <a:srgbClr val="334155"/>
                </a:solidFill>
              </a:rPr>
              <a:t>A production server in wave 0 or 1, which the Arc track keeps for non-production (design guidance)</a:t>
            </a:r>
            <a:endParaRPr lang="en-US" sz="1500" dirty="0"/>
          </a:p>
          <a:p>
            <a:pPr marL="342900" indent="-342900">
              <a:spcAft>
                <a:spcPts val="400"/>
              </a:spcAft>
              <a:buSzPct val="100000"/>
              <a:buChar char="•"/>
            </a:pPr>
            <a:r>
              <a:rPr lang="en-US" sz="1500" dirty="0">
                <a:solidFill>
                  <a:srgbClr val="334155"/>
                </a:solidFill>
              </a:rPr>
              <a:t>A server with no config_owner or patch_owner</a:t>
            </a:r>
            <a:endParaRPr lang="en-US" sz="150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Chapter 08, “The wave plan”; Arc track implementation guide (pilot waves); Learn, Plan and deploy Azure Arc-enabled servers.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Onboarding with Microsoft's role, gated</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Panel 06: Microsoft's role" descr="">
            <a:extLst>
              <a:ext uri="{C183D7F6-B498-43B3-948B-1728B52AA6E4}">
                <adec:decorative xmlns:adec="http://schemas.microsoft.com/office/drawing/2017/decorative" val="1"/>
              </a:ext>
            </a:extLst>
          </p:cNvPr>
          <p:cNvSpPr/>
          <p:nvPr/>
        </p:nvSpPr>
        <p:spPr>
          <a:xfrm>
            <a:off x="548640" y="1325880"/>
            <a:ext cx="6067958" cy="3529584"/>
          </a:xfrm>
          <a:prstGeom prst="roundRect">
            <a:avLst>
              <a:gd name="adj" fmla="val 2073"/>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Panel 06: Microsoft&amp;apos;s role label"/>
          <p:cNvSpPr txBox="1"/>
          <p:nvPr/>
        </p:nvSpPr>
        <p:spPr>
          <a:xfrm>
            <a:off x="731520" y="1435608"/>
            <a:ext cx="5702198" cy="274320"/>
          </a:xfrm>
          <a:prstGeom prst="rect">
            <a:avLst/>
          </a:prstGeom>
          <a:noFill/>
          <a:ln/>
        </p:spPr>
        <p:txBody>
          <a:bodyPr wrap="square" lIns="0" tIns="0" rIns="0" bIns="0" rtlCol="0" anchor="t"/>
          <a:lstStyle/>
          <a:p>
            <a:pPr indent="0" marL="0">
              <a:buNone/>
            </a:pPr>
            <a:r>
              <a:rPr lang="en-US" sz="1100" b="1" spc="50" kern="0" dirty="0">
                <a:solidFill>
                  <a:srgbClr val="64748B"/>
                </a:solidFill>
              </a:rPr>
              <a:t>06: MICROSOFT'S ROLE</a:t>
            </a:r>
            <a:endParaRPr lang="en-US" sz="1100" dirty="0"/>
          </a:p>
        </p:txBody>
      </p:sp>
      <p:sp>
        <p:nvSpPr>
          <p:cNvPr id="7" name="Panel 06: Microsoft's role list"/>
          <p:cNvSpPr txBox="1"/>
          <p:nvPr/>
        </p:nvSpPr>
        <p:spPr>
          <a:xfrm>
            <a:off x="731520" y="1737360"/>
            <a:ext cx="5747918" cy="3072384"/>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334155"/>
                </a:solidFill>
              </a:rPr>
              <a:t>06_arc_onboarding_role.yml targets arc_onboarding_candidates:&amp;arc_wave_N: one canary, then 5, then 25 percent, max_fail_percentage 0</a:t>
            </a:r>
            <a:endParaRPr lang="en-US" sz="1450" dirty="0"/>
          </a:p>
          <a:p>
            <a:pPr marL="342900" indent="-342900">
              <a:spcAft>
                <a:spcPts val="400"/>
              </a:spcAft>
              <a:buSzPct val="100000"/>
              <a:buChar char="•"/>
            </a:pPr>
            <a:r>
              <a:rPr lang="en-US" sz="1450" dirty="0">
                <a:solidFill>
                  <a:srgbClr val="334155"/>
                </a:solidFill>
              </a:rPr>
              <a:t>Each server re-checked: both owners, resource group, region, this wave, AzureCloud</a:t>
            </a:r>
            <a:endParaRPr lang="en-US" sz="1450" dirty="0"/>
          </a:p>
          <a:p>
            <a:pPr marL="342900" indent="-342900">
              <a:spcAft>
                <a:spcPts val="400"/>
              </a:spcAft>
              <a:buSzPct val="100000"/>
              <a:buChar char="•"/>
            </a:pPr>
            <a:r>
              <a:rPr lang="en-US" sz="1450" b="1" dirty="0">
                <a:solidFill>
                  <a:srgbClr val="1F2A44"/>
                </a:solidFill>
              </a:rPr>
              <a:t>Without confirm_change=true</a:t>
            </a:r>
            <a:pPr indent="0" marL="0">
              <a:spcAft>
                <a:spcPts val="400"/>
              </a:spcAft>
              <a:buNone/>
            </a:pPr>
            <a:r>
              <a:rPr lang="en-US" sz="1450" dirty="0">
                <a:solidFill>
                  <a:srgbClr val="334155"/>
                </a:solidFill>
              </a:rPr>
              <a:t>: check mode; the role isn't called; each server prints what it would get. No connection is made</a:t>
            </a:r>
            <a:endParaRPr lang="en-US" sz="1450" dirty="0"/>
          </a:p>
          <a:p>
            <a:pPr marL="342900" indent="-342900">
              <a:spcAft>
                <a:spcPts val="400"/>
              </a:spcAft>
              <a:buSzPct val="100000"/>
              <a:buChar char="•"/>
            </a:pPr>
            <a:r>
              <a:rPr lang="en-US" sz="1450" b="1" dirty="0">
                <a:solidFill>
                  <a:srgbClr val="1F2A44"/>
                </a:solidFill>
              </a:rPr>
              <a:t>With it</a:t>
            </a:r>
            <a:pPr indent="0" marL="0">
              <a:spcAft>
                <a:spcPts val="400"/>
              </a:spcAft>
              <a:buNone/>
            </a:pPr>
            <a:r>
              <a:rPr lang="en-US" sz="1450" dirty="0">
                <a:solidFill>
                  <a:srgbClr val="334155"/>
                </a:solidFill>
              </a:rPr>
              <a:t>: the role runs with the CMDB's values, the tags plus ArcSQLServerExtensionDeployment, logging off and msi by default; reads no secret; writes a result file with each Arc resource ID</a:t>
            </a:r>
            <a:endParaRPr lang="en-US" sz="1450" dirty="0"/>
          </a:p>
        </p:txBody>
      </p:sp>
      <p:sp>
        <p:nvSpPr>
          <p:cNvPr id="8" name="Panel 02: the azcmagent playbook" descr="">
            <a:extLst>
              <a:ext uri="{C183D7F6-B498-43B3-948B-1728B52AA6E4}">
                <adec:decorative xmlns:adec="http://schemas.microsoft.com/office/drawing/2017/decorative" val="1"/>
              </a:ext>
            </a:extLst>
          </p:cNvPr>
          <p:cNvSpPr/>
          <p:nvPr/>
        </p:nvSpPr>
        <p:spPr>
          <a:xfrm>
            <a:off x="6890918" y="1325880"/>
            <a:ext cx="4767682" cy="3529584"/>
          </a:xfrm>
          <a:prstGeom prst="roundRect">
            <a:avLst>
              <a:gd name="adj" fmla="val 2073"/>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Panel 02: the azcmagent playbook label"/>
          <p:cNvSpPr txBox="1"/>
          <p:nvPr/>
        </p:nvSpPr>
        <p:spPr>
          <a:xfrm>
            <a:off x="7073798" y="1435608"/>
            <a:ext cx="4401922" cy="274320"/>
          </a:xfrm>
          <a:prstGeom prst="rect">
            <a:avLst/>
          </a:prstGeom>
          <a:noFill/>
          <a:ln/>
        </p:spPr>
        <p:txBody>
          <a:bodyPr wrap="square" lIns="0" tIns="0" rIns="0" bIns="0" rtlCol="0" anchor="t"/>
          <a:lstStyle/>
          <a:p>
            <a:pPr indent="0" marL="0">
              <a:buNone/>
            </a:pPr>
            <a:r>
              <a:rPr lang="en-US" sz="1100" b="1" spc="50" kern="0" dirty="0">
                <a:solidFill>
                  <a:srgbClr val="0F766E"/>
                </a:solidFill>
              </a:rPr>
              <a:t>02: THE AZCMAGENT PLAYBOOK</a:t>
            </a:r>
            <a:endParaRPr lang="en-US" sz="1100" dirty="0"/>
          </a:p>
        </p:txBody>
      </p:sp>
      <p:sp>
        <p:nvSpPr>
          <p:cNvPr id="10" name="Panel 02: the azcmagent playbook list"/>
          <p:cNvSpPr txBox="1"/>
          <p:nvPr/>
        </p:nvSpPr>
        <p:spPr>
          <a:xfrm>
            <a:off x="7073798" y="1737360"/>
            <a:ext cx="4447642" cy="3072384"/>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334155"/>
                </a:solidFill>
              </a:rPr>
              <a:t>02_arc_onboarding.yml spells the steps out, and is the one for Azure Government</a:t>
            </a:r>
            <a:endParaRPr lang="en-US" sz="1450" dirty="0"/>
          </a:p>
          <a:p>
            <a:pPr marL="342900" indent="-342900">
              <a:spcAft>
                <a:spcPts val="400"/>
              </a:spcAft>
              <a:buSzPct val="100000"/>
              <a:buChar char="•"/>
            </a:pPr>
            <a:r>
              <a:rPr lang="en-US" sz="1450" dirty="0">
                <a:solidFill>
                  <a:srgbClr val="334155"/>
                </a:solidFill>
              </a:rPr>
              <a:t>Now imports the wave plan, targets one wave, checks both owners</a:t>
            </a:r>
            <a:endParaRPr lang="en-US" sz="1450" dirty="0"/>
          </a:p>
          <a:p>
            <a:pPr marL="342900" indent="-342900">
              <a:spcAft>
                <a:spcPts val="400"/>
              </a:spcAft>
              <a:buSzPct val="100000"/>
              <a:buChar char="•"/>
            </a:pPr>
            <a:r>
              <a:rPr lang="en-US" sz="1450" dirty="0">
                <a:solidFill>
                  <a:srgbClr val="334155"/>
                </a:solidFill>
              </a:rPr>
              <a:t>Its dry run makes no network request: get_url requested the installer even in check mode, found by sending every request to a dead local proxy</a:t>
            </a:r>
            <a:endParaRPr lang="en-US" sz="1450" dirty="0"/>
          </a:p>
        </p:txBody>
      </p:sp>
      <p:sp>
        <p:nvSpPr>
          <p:cNvPr id="11" name="Lead"/>
          <p:cNvSpPr txBox="1"/>
          <p:nvPr/>
        </p:nvSpPr>
        <p:spPr>
          <a:xfrm>
            <a:off x="548640" y="5038344"/>
            <a:ext cx="11109960" cy="603504"/>
          </a:xfrm>
          <a:prstGeom prst="rect">
            <a:avLst/>
          </a:prstGeom>
          <a:noFill/>
          <a:ln/>
        </p:spPr>
        <p:txBody>
          <a:bodyPr wrap="square" lIns="0" tIns="0" rIns="0" bIns="0" rtlCol="0" anchor="t"/>
          <a:lstStyle/>
          <a:p>
            <a:pPr indent="0" marL="0">
              <a:buNone/>
            </a:pPr>
            <a:r>
              <a:rPr lang="en-US" sz="1800" b="1" dirty="0">
                <a:solidFill>
                  <a:srgbClr val="1F2A44"/>
                </a:solidFill>
              </a:rPr>
              <a:t>Tests: 29 inventory, 39 read-only, 14 local-run, 8 Microsoft-role; run_all.sh adds yamllint and ansible-lint --strict and a syntax check.</a:t>
            </a:r>
            <a:endParaRPr lang="en-US" sz="18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Ansible documentation, playbook strategies (serial, max_fail_percentage; not Learn); azure_arc role at afa62c3. Chapter 08, “Onboarding with Microsoft's role,” “The tests.”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Who runs it, and the least role that onboards</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sp>
        <p:nvSpPr>
          <p:cNvPr id="5" name="Card 1" descr="">
            <a:extLst>
              <a:ext uri="{C183D7F6-B498-43B3-948B-1728B52AA6E4}">
                <adec:decorative xmlns:adec="http://schemas.microsoft.com/office/drawing/2017/decorative" val="1"/>
              </a:ext>
            </a:extLst>
          </p:cNvPr>
          <p:cNvSpPr/>
          <p:nvPr/>
        </p:nvSpPr>
        <p:spPr>
          <a:xfrm>
            <a:off x="548640" y="1325880"/>
            <a:ext cx="3550920" cy="1409700"/>
          </a:xfrm>
          <a:prstGeom prst="roundRect">
            <a:avLst>
              <a:gd name="adj" fmla="val 5189"/>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Card 1 bar" descr="">
            <a:extLst>
              <a:ext uri="{C183D7F6-B498-43B3-948B-1728B52AA6E4}">
                <adec:decorative xmlns:adec="http://schemas.microsoft.com/office/drawing/2017/decorative" val="1"/>
              </a:ext>
            </a:extLst>
          </p:cNvPr>
          <p:cNvSpPr/>
          <p:nvPr/>
        </p:nvSpPr>
        <p:spPr>
          <a:xfrm>
            <a:off x="548640" y="1325880"/>
            <a:ext cx="82296" cy="1409700"/>
          </a:xfrm>
          <a:prstGeom prst="rect">
            <a:avLst/>
          </a:prstGeom>
          <a:solidFill>
            <a:srgbClr val="1F2A44"/>
          </a:solidFill>
          <a:ln w="12700">
            <a:solidFill>
              <a:srgbClr val="1F2A44"/>
            </a:solidFill>
            <a:prstDash val="solid"/>
          </a:ln>
        </p:spPr>
      </p:sp>
      <p:sp>
        <p:nvSpPr>
          <p:cNvPr id="7" name="Card 1 text"/>
          <p:cNvSpPr txBox="1"/>
          <p:nvPr/>
        </p:nvSpPr>
        <p:spPr>
          <a:xfrm>
            <a:off x="777240" y="1463040"/>
            <a:ext cx="3185160" cy="1181100"/>
          </a:xfrm>
          <a:prstGeom prst="rect">
            <a:avLst/>
          </a:prstGeom>
          <a:noFill/>
          <a:ln/>
        </p:spPr>
        <p:txBody>
          <a:bodyPr wrap="square" lIns="0" tIns="0" rIns="0" bIns="0" rtlCol="0" anchor="t"/>
          <a:lstStyle/>
          <a:p>
            <a:pPr indent="0" marL="0">
              <a:spcAft>
                <a:spcPts val="300"/>
              </a:spcAft>
              <a:buNone/>
            </a:pPr>
            <a:r>
              <a:rPr lang="en-US" sz="1600" b="1" dirty="0">
                <a:solidFill>
                  <a:srgbClr val="1F2A44"/>
                </a:solidFill>
                <a:latin typeface="Cambria" pitchFamily="34" charset="0"/>
                <a:ea typeface="Cambria" pitchFamily="34" charset="-122"/>
                <a:cs typeface="Cambria" pitchFamily="34" charset="-120"/>
              </a:rPr>
              <a:t>Platform engineers</a:t>
            </a:r>
            <a:endParaRPr lang="en-US" sz="1400" dirty="0"/>
          </a:p>
          <a:p>
            <a:pPr indent="0" marL="0">
              <a:spcAft>
                <a:spcPts val="300"/>
              </a:spcAft>
              <a:buNone/>
            </a:pPr>
            <a:r>
              <a:rPr lang="en-US" sz="1550" dirty="0">
                <a:solidFill>
                  <a:srgbClr val="334155"/>
                </a:solidFill>
              </a:rPr>
              <a:t>Run Ansible beside Arc; know playbooks, inventories and check mode</a:t>
            </a:r>
            <a:endParaRPr lang="en-US" sz="1400" dirty="0"/>
          </a:p>
        </p:txBody>
      </p:sp>
      <p:sp>
        <p:nvSpPr>
          <p:cNvPr id="8" name="Card 2" descr="">
            <a:extLst>
              <a:ext uri="{C183D7F6-B498-43B3-948B-1728B52AA6E4}">
                <adec:decorative xmlns:adec="http://schemas.microsoft.com/office/drawing/2017/decorative" val="1"/>
              </a:ext>
            </a:extLst>
          </p:cNvPr>
          <p:cNvSpPr/>
          <p:nvPr/>
        </p:nvSpPr>
        <p:spPr>
          <a:xfrm>
            <a:off x="4328160" y="1325880"/>
            <a:ext cx="3550920" cy="1409700"/>
          </a:xfrm>
          <a:prstGeom prst="roundRect">
            <a:avLst>
              <a:gd name="adj" fmla="val 5189"/>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Card 2 bar" descr="">
            <a:extLst>
              <a:ext uri="{C183D7F6-B498-43B3-948B-1728B52AA6E4}">
                <adec:decorative xmlns:adec="http://schemas.microsoft.com/office/drawing/2017/decorative" val="1"/>
              </a:ext>
            </a:extLst>
          </p:cNvPr>
          <p:cNvSpPr/>
          <p:nvPr/>
        </p:nvSpPr>
        <p:spPr>
          <a:xfrm>
            <a:off x="4328160" y="1325880"/>
            <a:ext cx="82296" cy="1409700"/>
          </a:xfrm>
          <a:prstGeom prst="rect">
            <a:avLst/>
          </a:prstGeom>
          <a:solidFill>
            <a:srgbClr val="0F766E"/>
          </a:solidFill>
          <a:ln w="12700">
            <a:solidFill>
              <a:srgbClr val="0F766E"/>
            </a:solidFill>
            <a:prstDash val="solid"/>
          </a:ln>
        </p:spPr>
      </p:sp>
      <p:sp>
        <p:nvSpPr>
          <p:cNvPr id="10" name="Card 2 text"/>
          <p:cNvSpPr txBox="1"/>
          <p:nvPr/>
        </p:nvSpPr>
        <p:spPr>
          <a:xfrm>
            <a:off x="4556760" y="1463040"/>
            <a:ext cx="3185160" cy="1181100"/>
          </a:xfrm>
          <a:prstGeom prst="rect">
            <a:avLst/>
          </a:prstGeom>
          <a:noFill/>
          <a:ln/>
        </p:spPr>
        <p:txBody>
          <a:bodyPr wrap="square" lIns="0" tIns="0" rIns="0" bIns="0" rtlCol="0" anchor="t"/>
          <a:lstStyle/>
          <a:p>
            <a:pPr indent="0" marL="0">
              <a:spcAft>
                <a:spcPts val="300"/>
              </a:spcAft>
              <a:buNone/>
            </a:pPr>
            <a:r>
              <a:rPr lang="en-US" sz="1600" b="1" dirty="0">
                <a:solidFill>
                  <a:srgbClr val="0F766E"/>
                </a:solidFill>
                <a:latin typeface="Cambria" pitchFamily="34" charset="0"/>
                <a:ea typeface="Cambria" pitchFamily="34" charset="-122"/>
                <a:cs typeface="Cambria" pitchFamily="34" charset="-120"/>
              </a:rPr>
              <a:t>Developers</a:t>
            </a:r>
            <a:endParaRPr lang="en-US" sz="1400" dirty="0"/>
          </a:p>
          <a:p>
            <a:pPr indent="0" marL="0">
              <a:spcAft>
                <a:spcPts val="300"/>
              </a:spcAft>
              <a:buNone/>
            </a:pPr>
            <a:r>
              <a:rPr lang="en-US" sz="1550" dirty="0">
                <a:solidFill>
                  <a:srgbClr val="334155"/>
                </a:solidFill>
              </a:rPr>
              <a:t>Keep the inventory and playbooks; no Azure subscription until Lab 2</a:t>
            </a:r>
            <a:endParaRPr lang="en-US" sz="1400" dirty="0"/>
          </a:p>
        </p:txBody>
      </p:sp>
      <p:sp>
        <p:nvSpPr>
          <p:cNvPr id="11" name="Card 3" descr="">
            <a:extLst>
              <a:ext uri="{C183D7F6-B498-43B3-948B-1728B52AA6E4}">
                <adec:decorative xmlns:adec="http://schemas.microsoft.com/office/drawing/2017/decorative" val="1"/>
              </a:ext>
            </a:extLst>
          </p:cNvPr>
          <p:cNvSpPr/>
          <p:nvPr/>
        </p:nvSpPr>
        <p:spPr>
          <a:xfrm>
            <a:off x="8107680" y="1325880"/>
            <a:ext cx="3550920" cy="1409700"/>
          </a:xfrm>
          <a:prstGeom prst="roundRect">
            <a:avLst>
              <a:gd name="adj" fmla="val 5189"/>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Card 3 bar" descr="">
            <a:extLst>
              <a:ext uri="{C183D7F6-B498-43B3-948B-1728B52AA6E4}">
                <adec:decorative xmlns:adec="http://schemas.microsoft.com/office/drawing/2017/decorative" val="1"/>
              </a:ext>
            </a:extLst>
          </p:cNvPr>
          <p:cNvSpPr/>
          <p:nvPr/>
        </p:nvSpPr>
        <p:spPr>
          <a:xfrm>
            <a:off x="8107680" y="1325880"/>
            <a:ext cx="82296" cy="1409700"/>
          </a:xfrm>
          <a:prstGeom prst="rect">
            <a:avLst/>
          </a:prstGeom>
          <a:solidFill>
            <a:srgbClr val="B45309"/>
          </a:solidFill>
          <a:ln w="12700">
            <a:solidFill>
              <a:srgbClr val="B45309"/>
            </a:solidFill>
            <a:prstDash val="solid"/>
          </a:ln>
        </p:spPr>
      </p:sp>
      <p:sp>
        <p:nvSpPr>
          <p:cNvPr id="13" name="Card 3 text"/>
          <p:cNvSpPr txBox="1"/>
          <p:nvPr/>
        </p:nvSpPr>
        <p:spPr>
          <a:xfrm>
            <a:off x="8336280" y="1463040"/>
            <a:ext cx="3185160" cy="1181100"/>
          </a:xfrm>
          <a:prstGeom prst="rect">
            <a:avLst/>
          </a:prstGeom>
          <a:noFill/>
          <a:ln/>
        </p:spPr>
        <p:txBody>
          <a:bodyPr wrap="square" lIns="0" tIns="0" rIns="0" bIns="0" rtlCol="0" anchor="t"/>
          <a:lstStyle/>
          <a:p>
            <a:pPr indent="0" marL="0">
              <a:spcAft>
                <a:spcPts val="300"/>
              </a:spcAft>
              <a:buNone/>
            </a:pPr>
            <a:r>
              <a:rPr lang="en-US" sz="1600" b="1" dirty="0">
                <a:solidFill>
                  <a:srgbClr val="B45309"/>
                </a:solidFill>
                <a:latin typeface="Cambria" pitchFamily="34" charset="0"/>
                <a:ea typeface="Cambria" pitchFamily="34" charset="-122"/>
                <a:cs typeface="Cambria" pitchFamily="34" charset="-120"/>
              </a:rPr>
              <a:t>Reviewers</a:t>
            </a:r>
            <a:endParaRPr lang="en-US" sz="1400" dirty="0"/>
          </a:p>
          <a:p>
            <a:pPr indent="0" marL="0">
              <a:spcAft>
                <a:spcPts val="300"/>
              </a:spcAft>
              <a:buNone/>
            </a:pPr>
            <a:r>
              <a:rPr lang="en-US" sz="1550" dirty="0">
                <a:solidFill>
                  <a:srgbClr val="334155"/>
                </a:solidFill>
              </a:rPr>
              <a:t>Read the wave plan before the run and the result after it</a:t>
            </a:r>
            <a:endParaRPr lang="en-US" sz="1400" dirty="0"/>
          </a:p>
        </p:txBody>
      </p:sp>
      <p:graphicFrame>
        <p:nvGraphicFramePr>
          <p:cNvPr id="14" name="Table"/>
          <p:cNvGraphicFramePr>
            <a:graphicFrameLocks noGrp="1"/>
          </p:cNvGraphicFramePr>
          <p:nvPr>
            <p:extLst>
              <p:ext uri="{D42A27DB-BD31-4B8C-83A1-F6EECF244321}">
                <p14:modId xmlns:p14="http://schemas.microsoft.com/office/powerpoint/2010/main" val="1579011935"/>
              </p:ext>
            </p:extLst>
          </p:nvPr>
        </p:nvGraphicFramePr>
        <p:xfrm>
          <a:off x="548640" y="2918460"/>
          <a:ext cx="11109960" cy="1932432"/>
        </p:xfrm>
        <a:graphic>
          <a:graphicData uri="http://schemas.openxmlformats.org/drawingml/2006/table">
            <a:tbl>
              <a:tblPr firstRow="1" bandRow="1"/>
              <a:tblGrid>
                <a:gridCol w="3108960"/>
                <a:gridCol w="8001000"/>
              </a:tblGrid>
              <a:tr h="32308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Task</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Role or identity</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74980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Onboard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Azure Connected Machine Onboarding, at subscription or resource group scope: reads and creates Arc servers, can't delete them. Learn's security page says it can't manage extensions; the built-in roles page lists addExtensions in it, so take the stricter reading</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Disconnect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An identity that may delete the resource, such as Azure Connected Machine Resource Administrator</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308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Authenticate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msi, the control node's managed identity, for production; cli for development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Arc-enabled servers identity and authorization; built-in roles, Management and governance; Connect with Ansible. Chapter 08, “Goal and audience,” “Verified facts.”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Lab 1: the inventory, and the role's failed dry run</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Code panel" descr="">
            <a:extLst>
              <a:ext uri="{C183D7F6-B498-43B3-948B-1728B52AA6E4}">
                <adec:decorative xmlns:adec="http://schemas.microsoft.com/office/drawing/2017/decorative" val="1"/>
              </a:ext>
            </a:extLst>
          </p:cNvPr>
          <p:cNvSpPr/>
          <p:nvPr/>
        </p:nvSpPr>
        <p:spPr>
          <a:xfrm>
            <a:off x="548640" y="1325880"/>
            <a:ext cx="11109960" cy="2130552"/>
          </a:xfrm>
          <a:prstGeom prst="roundRect">
            <a:avLst>
              <a:gd name="adj" fmla="val 3433"/>
            </a:avLst>
          </a:prstGeom>
          <a:solidFill>
            <a:srgbClr val="F1F5F9"/>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6" name="Code label"/>
          <p:cNvSpPr txBox="1"/>
          <p:nvPr/>
        </p:nvSpPr>
        <p:spPr>
          <a:xfrm>
            <a:off x="713232" y="1399032"/>
            <a:ext cx="10780776" cy="228600"/>
          </a:xfrm>
          <a:prstGeom prst="rect">
            <a:avLst/>
          </a:prstGeom>
          <a:noFill/>
          <a:ln/>
        </p:spPr>
        <p:txBody>
          <a:bodyPr wrap="square" lIns="0" tIns="0" rIns="0" bIns="0" rtlCol="0" anchor="t"/>
          <a:lstStyle/>
          <a:p>
            <a:pPr indent="0" marL="0">
              <a:buNone/>
            </a:pPr>
            <a:r>
              <a:rPr lang="en-US" sz="1050" b="1" dirty="0">
                <a:solidFill>
                  <a:srgbClr val="64748B"/>
                </a:solidFill>
              </a:rPr>
              <a:t>LINUX CONTROL NODE OR WSL; PYTHON 3.10+, ansible-core, ansible-lint, yamllint, pytest</a:t>
            </a:r>
            <a:endParaRPr lang="en-US" sz="1050" dirty="0"/>
          </a:p>
        </p:txBody>
      </p:sp>
      <p:sp>
        <p:nvSpPr>
          <p:cNvPr id="7" name="Code"/>
          <p:cNvSpPr txBox="1"/>
          <p:nvPr/>
        </p:nvSpPr>
        <p:spPr>
          <a:xfrm>
            <a:off x="713232" y="1664208"/>
            <a:ext cx="10835640" cy="1746504"/>
          </a:xfrm>
          <a:prstGeom prst="rect">
            <a:avLst/>
          </a:prstGeom>
          <a:noFill/>
          <a:ln/>
        </p:spPr>
        <p:txBody>
          <a:bodyPr wrap="square" lIns="0" tIns="0" rIns="0" bIns="0" rtlCol="0" anchor="t"/>
          <a:lstStyle/>
          <a:p>
            <a:pPr indent="0" marL="0">
              <a:buNone/>
            </a:pPr>
            <a:r>
              <a:rPr lang="en-US" sz="1350" dirty="0">
                <a:solidFill>
                  <a:srgbClr val="0F766E"/>
                </a:solidFill>
                <a:latin typeface="Consolas" pitchFamily="34" charset="0"/>
                <a:ea typeface="Consolas" pitchFamily="34" charset="-122"/>
                <a:cs typeface="Consolas" pitchFamily="34" charset="-120"/>
              </a:rPr>
              <a:t># 1  Set up, from examples/ansible; every outbound request then goes to a dead local proxy</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ansible-galaxy collection install -r requirements.yml     # includes azure.azcollection 4.2.0</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export ANSIBLE_CONFIG="$PWD/ansible.cfg" HTTPS_PROXY=http://127.0.0.1:9 HTTP_PROXY=http://127.0.0.1:9</a:t>
            </a:r>
            <a:endParaRPr lang="en-US" sz="1350" dirty="0"/>
          </a:p>
          <a:p>
            <a:pPr indent="0" marL="0">
              <a:buNone/>
            </a:pPr>
            <a:r>
              <a:rPr lang="en-US" sz="1350" dirty="0">
                <a:solidFill>
                  <a:srgbClr val="0F766E"/>
                </a:solidFill>
                <a:latin typeface="Consolas" pitchFamily="34" charset="0"/>
                <a:ea typeface="Consolas" pitchFamily="34" charset="-122"/>
                <a:cs typeface="Consolas" pitchFamily="34" charset="-120"/>
              </a:rPr>
              <a:t># 2  What the CMDB becomes</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ansible-inventory --graph arc_onboarding_candidates</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ansible-inventory --host aws01.contoso.example</a:t>
            </a:r>
            <a:endParaRPr lang="en-US" sz="1350" dirty="0"/>
          </a:p>
          <a:p>
            <a:pPr indent="0" marL="0">
              <a:buNone/>
            </a:pPr>
            <a:r>
              <a:rPr lang="en-US" sz="1350" dirty="0">
                <a:solidFill>
                  <a:srgbClr val="0F766E"/>
                </a:solidFill>
                <a:latin typeface="Consolas" pitchFamily="34" charset="0"/>
                <a:ea typeface="Consolas" pitchFamily="34" charset="-122"/>
                <a:cs typeface="Consolas" pitchFamily="34" charset="-120"/>
              </a:rPr>
              <a:t># 3  Microsoft's role, unchanged, in check mode</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ansible-playbook -i localhost, -c local --check tests/fixtures/microsoft_role_check.yml</a:t>
            </a:r>
            <a:endParaRPr lang="en-US" sz="1350" dirty="0"/>
          </a:p>
        </p:txBody>
      </p:sp>
      <p:graphicFrame>
        <p:nvGraphicFramePr>
          <p:cNvPr id="15" name="Table"/>
          <p:cNvGraphicFramePr>
            <a:graphicFrameLocks noGrp="1"/>
          </p:cNvGraphicFramePr>
          <p:nvPr>
            <p:extLst>
              <p:ext uri="{D42A27DB-BD31-4B8C-83A1-F6EECF244321}">
                <p14:modId xmlns:p14="http://schemas.microsoft.com/office/powerpoint/2010/main" val="1579011935"/>
              </p:ext>
            </p:extLst>
          </p:nvPr>
        </p:nvGraphicFramePr>
        <p:xfrm>
          <a:off x="548640" y="3639312"/>
          <a:ext cx="11109960" cy="1395984"/>
        </p:xfrm>
        <a:graphic>
          <a:graphicData uri="http://schemas.openxmlformats.org/drawingml/2006/table">
            <a:tbl>
              <a:tblPr firstRow="1" bandRow="1"/>
              <a:tblGrid>
                <a:gridCol w="1097280"/>
                <a:gridCol w="10012680"/>
              </a:tblGrid>
              <a:tr h="32308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Step</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Expected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Four candidates: app02, aws01, web01, win01. patch_owner_ansible holds aix01, aws01, lab01, rtr01, sol01. aws01 carries ConfigOwner: Ansible and PatchOwner: Ansible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Fails at Get azcmagent status: no such file (ok=8, failed=1, skipped=19, exit 2). With -v: azure_arc_azcmagent_installed: true, because check mode skipped the version check. The dry run the role can't do</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azure_arc role at afa62c3 (run offline); examples/ansible sample CMDB (fictional). Chapter 08, “Lab 1: offline, no subscription,” steps 1–3.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Lab 1: plan, dry-run and break the CMDB</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Code panel" descr="">
            <a:extLst>
              <a:ext uri="{C183D7F6-B498-43B3-948B-1728B52AA6E4}">
                <adec:decorative xmlns:adec="http://schemas.microsoft.com/office/drawing/2017/decorative" val="1"/>
              </a:ext>
            </a:extLst>
          </p:cNvPr>
          <p:cNvSpPr/>
          <p:nvPr/>
        </p:nvSpPr>
        <p:spPr>
          <a:xfrm>
            <a:off x="548640" y="1325880"/>
            <a:ext cx="11109960" cy="1475232"/>
          </a:xfrm>
          <a:prstGeom prst="roundRect">
            <a:avLst>
              <a:gd name="adj" fmla="val 4959"/>
            </a:avLst>
          </a:prstGeom>
          <a:solidFill>
            <a:srgbClr val="F1F5F9"/>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6" name="Code label"/>
          <p:cNvSpPr txBox="1"/>
          <p:nvPr/>
        </p:nvSpPr>
        <p:spPr>
          <a:xfrm>
            <a:off x="713232" y="1399032"/>
            <a:ext cx="10780776" cy="228600"/>
          </a:xfrm>
          <a:prstGeom prst="rect">
            <a:avLst/>
          </a:prstGeom>
          <a:noFill/>
          <a:ln/>
        </p:spPr>
        <p:txBody>
          <a:bodyPr wrap="square" lIns="0" tIns="0" rIns="0" bIns="0" rtlCol="0" anchor="t"/>
          <a:lstStyle/>
          <a:p>
            <a:pPr indent="0" marL="0">
              <a:buNone/>
            </a:pPr>
            <a:r>
              <a:rPr lang="en-US" sz="1050" b="1" dirty="0">
                <a:solidFill>
                  <a:srgbClr val="64748B"/>
                </a:solidFill>
              </a:rPr>
              <a:t>IN examples/ansible</a:t>
            </a:r>
            <a:endParaRPr lang="en-US" sz="1050" dirty="0"/>
          </a:p>
        </p:txBody>
      </p:sp>
      <p:sp>
        <p:nvSpPr>
          <p:cNvPr id="7" name="Code"/>
          <p:cNvSpPr txBox="1"/>
          <p:nvPr/>
        </p:nvSpPr>
        <p:spPr>
          <a:xfrm>
            <a:off x="713232" y="1664208"/>
            <a:ext cx="10835640" cy="1091184"/>
          </a:xfrm>
          <a:prstGeom prst="rect">
            <a:avLst/>
          </a:prstGeom>
          <a:noFill/>
          <a:ln/>
        </p:spPr>
        <p:txBody>
          <a:bodyPr wrap="square" lIns="0" tIns="0" rIns="0" bIns="0" rtlCol="0" anchor="t"/>
          <a:lstStyle/>
          <a:p>
            <a:pPr indent="0" marL="0">
              <a:buNone/>
            </a:pPr>
            <a:r>
              <a:rPr lang="en-US" sz="1300" dirty="0">
                <a:solidFill>
                  <a:srgbClr val="334155"/>
                </a:solidFill>
                <a:latin typeface="Consolas" pitchFamily="34" charset="0"/>
                <a:ea typeface="Consolas" pitchFamily="34" charset="-122"/>
                <a:cs typeface="Consolas" pitchFamily="34" charset="-120"/>
              </a:rPr>
              <a:t>ansible-playbook playbooks/05_arc_wave_plan.yml -e onboarding_wave=0           # 4  plan wave 0</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ansible-playbook playbooks/06_arc_onboarding_role.yml -e onboarding_wave=0     # 5  dry run</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CMDB_CSV=/tmp/prod-in-pilot.csv ansible-playbook playbooks/05_arc_wave_plan.yml -e onboarding_wave=0</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CMDB_CSV=/tmp/typo.csv python3 inventory/cmdb_inventory.py --list               # 6  break it</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bash tests/run_all.sh                                                           # 7</a:t>
            </a:r>
            <a:endParaRPr lang="en-US" sz="1300" dirty="0"/>
          </a:p>
        </p:txBody>
      </p:sp>
      <p:graphicFrame>
        <p:nvGraphicFramePr>
          <p:cNvPr id="16" name="Table"/>
          <p:cNvGraphicFramePr>
            <a:graphicFrameLocks noGrp="1"/>
          </p:cNvGraphicFramePr>
          <p:nvPr>
            <p:extLst>
              <p:ext uri="{D42A27DB-BD31-4B8C-83A1-F6EECF244321}">
                <p14:modId xmlns:p14="http://schemas.microsoft.com/office/powerpoint/2010/main" val="1579011935"/>
              </p:ext>
            </p:extLst>
          </p:nvPr>
        </p:nvGraphicFramePr>
        <p:xfrm>
          <a:off x="548640" y="2983992"/>
          <a:ext cx="11109960" cy="2400300"/>
        </p:xfrm>
        <a:graphic>
          <a:graphicData uri="http://schemas.openxmlformats.org/drawingml/2006/table">
            <a:tbl>
              <a:tblPr firstRow="1" bandRow="1"/>
              <a:tblGrid>
                <a:gridCol w="1097280"/>
                <a:gridCol w="10012680"/>
              </a:tblGrid>
              <a:tr h="315468">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Step</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Expected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4</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Wave 0 is ready: 1 to connect, 0 blocked. The CSV: web01, rg-arc-portal-dev, westus2, AzureCloud, ready, and the tag string with ConfigOwner=ArcMachineConfiguration and PatchOwner=UpdateManager</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5</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Exit 0: Would connect web01 to AzureCloud, rg-arc-portal-dev, westus2, with the tags plus ArcSQLServerExtensionDeployment: Disabled, using msi. The connect is skipped; nothing tried to reach web01</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6</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Production in pilot: exit 2, “Wave 0 isn't ready.” Typo: exit 1, unknown patch_owner 'updatemanager'. app02 with no patch_owner: wave 2 shows 1 ready, 1 blocked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7</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yamllint and ansible-lint pass (production profile); six playbooks pass syntax; 90 tests pass as root (74 passed, 16 skipped on Windows)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examples/ansible (sample CMDB and fixtures, fictional; offline runs). Chapter 08, “Lab 1: offline, no subscription,” steps 4–7.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Lab 2: one disposable server, connected for real</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Step 1 dot" descr="">
            <a:extLst>
              <a:ext uri="{C183D7F6-B498-43B3-948B-1728B52AA6E4}">
                <adec:decorative xmlns:adec="http://schemas.microsoft.com/office/drawing/2017/decorative" val="1"/>
              </a:ext>
            </a:extLst>
          </p:cNvPr>
          <p:cNvSpPr/>
          <p:nvPr/>
        </p:nvSpPr>
        <p:spPr>
          <a:xfrm>
            <a:off x="548640" y="1344168"/>
            <a:ext cx="275844" cy="275844"/>
          </a:xfrm>
          <a:prstGeom prst="ellipse">
            <a:avLst/>
          </a:prstGeom>
          <a:solidFill>
            <a:srgbClr val="B45309"/>
          </a:solidFill>
          <a:ln w="12700">
            <a:solidFill>
              <a:srgbClr val="B45309"/>
            </a:solidFill>
            <a:prstDash val="solid"/>
          </a:ln>
        </p:spPr>
      </p:sp>
      <p:sp>
        <p:nvSpPr>
          <p:cNvPr id="6" name="Step 1 number"/>
          <p:cNvSpPr txBox="1"/>
          <p:nvPr/>
        </p:nvSpPr>
        <p:spPr>
          <a:xfrm>
            <a:off x="548640" y="1344168"/>
            <a:ext cx="275844" cy="27584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7" name="Step 1"/>
          <p:cNvSpPr txBox="1"/>
          <p:nvPr/>
        </p:nvSpPr>
        <p:spPr>
          <a:xfrm>
            <a:off x="1097280" y="1325880"/>
            <a:ext cx="10561320" cy="551688"/>
          </a:xfrm>
          <a:prstGeom prst="rect">
            <a:avLst/>
          </a:prstGeom>
          <a:noFill/>
          <a:ln/>
        </p:spPr>
        <p:txBody>
          <a:bodyPr wrap="square" lIns="0" tIns="0" rIns="0" bIns="0" rtlCol="0" anchor="t"/>
          <a:lstStyle/>
          <a:p>
            <a:pPr indent="0" marL="0">
              <a:buNone/>
            </a:pPr>
            <a:r>
              <a:rPr lang="en-US" sz="1450" b="1" dirty="0">
                <a:solidFill>
                  <a:srgbClr val="1F2A44"/>
                </a:solidFill>
              </a:rPr>
              <a:t>Prepare: </a:t>
            </a:r>
            <a:pPr indent="0" marL="0">
              <a:buNone/>
            </a:pPr>
            <a:r>
              <a:rPr lang="en-US" sz="1450" dirty="0">
                <a:solidFill>
                  <a:srgbClr val="334155"/>
                </a:solidFill>
              </a:rPr>
              <a:t>rg-arc-test-dev in a commercial region; register the two resource providers; check the commercial Arc endpoints, or run azcmagent check</a:t>
            </a:r>
            <a:endParaRPr lang="en-US" sz="1450" dirty="0"/>
          </a:p>
        </p:txBody>
      </p:sp>
      <p:sp>
        <p:nvSpPr>
          <p:cNvPr id="8" name="Step 2 dot" descr="">
            <a:extLst>
              <a:ext uri="{C183D7F6-B498-43B3-948B-1728B52AA6E4}">
                <adec:decorative xmlns:adec="http://schemas.microsoft.com/office/drawing/2017/decorative" val="1"/>
              </a:ext>
            </a:extLst>
          </p:cNvPr>
          <p:cNvSpPr/>
          <p:nvPr/>
        </p:nvSpPr>
        <p:spPr>
          <a:xfrm>
            <a:off x="548640" y="1895856"/>
            <a:ext cx="275844" cy="275844"/>
          </a:xfrm>
          <a:prstGeom prst="ellipse">
            <a:avLst/>
          </a:prstGeom>
          <a:solidFill>
            <a:srgbClr val="B45309"/>
          </a:solidFill>
          <a:ln w="12700">
            <a:solidFill>
              <a:srgbClr val="B45309"/>
            </a:solidFill>
            <a:prstDash val="solid"/>
          </a:ln>
        </p:spPr>
      </p:sp>
      <p:sp>
        <p:nvSpPr>
          <p:cNvPr id="9" name="Step 2 number"/>
          <p:cNvSpPr txBox="1"/>
          <p:nvPr/>
        </p:nvSpPr>
        <p:spPr>
          <a:xfrm>
            <a:off x="548640" y="1895856"/>
            <a:ext cx="275844" cy="27584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0" name="Step 2"/>
          <p:cNvSpPr txBox="1"/>
          <p:nvPr/>
        </p:nvSpPr>
        <p:spPr>
          <a:xfrm>
            <a:off x="1097280" y="1877568"/>
            <a:ext cx="10561320" cy="551688"/>
          </a:xfrm>
          <a:prstGeom prst="rect">
            <a:avLst/>
          </a:prstGeom>
          <a:noFill/>
          <a:ln/>
        </p:spPr>
        <p:txBody>
          <a:bodyPr wrap="square" lIns="0" tIns="0" rIns="0" bIns="0" rtlCol="0" anchor="t"/>
          <a:lstStyle/>
          <a:p>
            <a:pPr indent="0" marL="0">
              <a:buNone/>
            </a:pPr>
            <a:r>
              <a:rPr lang="en-US" sz="1450" b="1" dirty="0">
                <a:solidFill>
                  <a:srgbClr val="1F2A44"/>
                </a:solidFill>
              </a:rPr>
              <a:t>Grant the onboarding role, only that: </a:t>
            </a:r>
            <a:pPr indent="0" marL="0">
              <a:buNone/>
            </a:pPr>
            <a:r>
              <a:rPr lang="en-US" sz="1450" dirty="0">
                <a:solidFill>
                  <a:srgbClr val="334155"/>
                </a:solidFill>
              </a:rPr>
              <a:t>Azure Connected Machine Onboarding to the control node's managed identity on rg-arc-test-dev; treat it as able to add extensions</a:t>
            </a:r>
            <a:endParaRPr lang="en-US" sz="1450" dirty="0"/>
          </a:p>
        </p:txBody>
      </p:sp>
      <p:sp>
        <p:nvSpPr>
          <p:cNvPr id="11" name="Step 3 dot" descr="">
            <a:extLst>
              <a:ext uri="{C183D7F6-B498-43B3-948B-1728B52AA6E4}">
                <adec:decorative xmlns:adec="http://schemas.microsoft.com/office/drawing/2017/decorative" val="1"/>
              </a:ext>
            </a:extLst>
          </p:cNvPr>
          <p:cNvSpPr/>
          <p:nvPr/>
        </p:nvSpPr>
        <p:spPr>
          <a:xfrm>
            <a:off x="548640" y="2447544"/>
            <a:ext cx="275844" cy="275844"/>
          </a:xfrm>
          <a:prstGeom prst="ellipse">
            <a:avLst/>
          </a:prstGeom>
          <a:solidFill>
            <a:srgbClr val="B45309"/>
          </a:solidFill>
          <a:ln w="12700">
            <a:solidFill>
              <a:srgbClr val="B45309"/>
            </a:solidFill>
            <a:prstDash val="solid"/>
          </a:ln>
        </p:spPr>
      </p:sp>
      <p:sp>
        <p:nvSpPr>
          <p:cNvPr id="12" name="Step 3 number"/>
          <p:cNvSpPr txBox="1"/>
          <p:nvPr/>
        </p:nvSpPr>
        <p:spPr>
          <a:xfrm>
            <a:off x="548640" y="2447544"/>
            <a:ext cx="275844" cy="27584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3" name="Step 3"/>
          <p:cNvSpPr txBox="1"/>
          <p:nvPr/>
        </p:nvSpPr>
        <p:spPr>
          <a:xfrm>
            <a:off x="1097280" y="2429256"/>
            <a:ext cx="10561320" cy="551688"/>
          </a:xfrm>
          <a:prstGeom prst="rect">
            <a:avLst/>
          </a:prstGeom>
          <a:noFill/>
          <a:ln/>
        </p:spPr>
        <p:txBody>
          <a:bodyPr wrap="square" lIns="0" tIns="0" rIns="0" bIns="0" rtlCol="0" anchor="t"/>
          <a:lstStyle/>
          <a:p>
            <a:pPr indent="0" marL="0">
              <a:buNone/>
            </a:pPr>
            <a:r>
              <a:rPr lang="en-US" sz="1450" b="1" dirty="0">
                <a:solidFill>
                  <a:srgbClr val="1F2A44"/>
                </a:solidFill>
              </a:rPr>
              <a:t>Install and describe: </a:t>
            </a:r>
            <a:pPr indent="0" marL="0">
              <a:buNone/>
            </a:pPr>
            <a:r>
              <a:rPr lang="en-US" sz="1450" dirty="0">
                <a:solidFill>
                  <a:srgbClr val="334155"/>
                </a:solidFill>
              </a:rPr>
              <a:t>The pinned collections and their Python requirements; a one-server CMDB export: tier 1, both owners ansible, not_onboarded, nonproduction, wave 0</a:t>
            </a:r>
            <a:endParaRPr lang="en-US" sz="1450" dirty="0"/>
          </a:p>
        </p:txBody>
      </p:sp>
      <p:sp>
        <p:nvSpPr>
          <p:cNvPr id="14" name="Step 4 dot" descr="">
            <a:extLst>
              <a:ext uri="{C183D7F6-B498-43B3-948B-1728B52AA6E4}">
                <adec:decorative xmlns:adec="http://schemas.microsoft.com/office/drawing/2017/decorative" val="1"/>
              </a:ext>
            </a:extLst>
          </p:cNvPr>
          <p:cNvSpPr/>
          <p:nvPr/>
        </p:nvSpPr>
        <p:spPr>
          <a:xfrm>
            <a:off x="548640" y="2999232"/>
            <a:ext cx="275844" cy="275844"/>
          </a:xfrm>
          <a:prstGeom prst="ellipse">
            <a:avLst/>
          </a:prstGeom>
          <a:solidFill>
            <a:srgbClr val="B45309"/>
          </a:solidFill>
          <a:ln w="12700">
            <a:solidFill>
              <a:srgbClr val="B45309"/>
            </a:solidFill>
            <a:prstDash val="solid"/>
          </a:ln>
        </p:spPr>
      </p:sp>
      <p:sp>
        <p:nvSpPr>
          <p:cNvPr id="15" name="Step 4 number"/>
          <p:cNvSpPr txBox="1"/>
          <p:nvPr/>
        </p:nvSpPr>
        <p:spPr>
          <a:xfrm>
            <a:off x="548640" y="2999232"/>
            <a:ext cx="275844" cy="275844"/>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6" name="Step 4"/>
          <p:cNvSpPr txBox="1"/>
          <p:nvPr/>
        </p:nvSpPr>
        <p:spPr>
          <a:xfrm>
            <a:off x="1097280" y="2980944"/>
            <a:ext cx="10561320" cy="330708"/>
          </a:xfrm>
          <a:prstGeom prst="rect">
            <a:avLst/>
          </a:prstGeom>
          <a:noFill/>
          <a:ln/>
        </p:spPr>
        <p:txBody>
          <a:bodyPr wrap="square" lIns="0" tIns="0" rIns="0" bIns="0" rtlCol="0" anchor="t"/>
          <a:lstStyle/>
          <a:p>
            <a:pPr indent="0" marL="0">
              <a:buNone/>
            </a:pPr>
            <a:r>
              <a:rPr lang="en-US" sz="1450" b="1" dirty="0">
                <a:solidFill>
                  <a:srgbClr val="1F2A44"/>
                </a:solidFill>
              </a:rPr>
              <a:t>Plan, dry-run, connect: </a:t>
            </a:r>
            <a:pPr indent="0" marL="0">
              <a:buNone/>
            </a:pPr>
            <a:r>
              <a:rPr lang="en-US" sz="1450" dirty="0">
                <a:solidFill>
                  <a:srgbClr val="334155"/>
                </a:solidFill>
              </a:rPr>
              <a:t>05 for wave 0; 06 for wave 0; then 06 with -e confirm_change=true</a:t>
            </a:r>
            <a:endParaRPr lang="en-US" sz="1450" dirty="0"/>
          </a:p>
        </p:txBody>
      </p:sp>
      <p:sp>
        <p:nvSpPr>
          <p:cNvPr id="17" name="Step 5 dot" descr="">
            <a:extLst>
              <a:ext uri="{C183D7F6-B498-43B3-948B-1728B52AA6E4}">
                <adec:decorative xmlns:adec="http://schemas.microsoft.com/office/drawing/2017/decorative" val="1"/>
              </a:ext>
            </a:extLst>
          </p:cNvPr>
          <p:cNvSpPr/>
          <p:nvPr/>
        </p:nvSpPr>
        <p:spPr>
          <a:xfrm>
            <a:off x="548640" y="3329940"/>
            <a:ext cx="275844" cy="275844"/>
          </a:xfrm>
          <a:prstGeom prst="ellipse">
            <a:avLst/>
          </a:prstGeom>
          <a:solidFill>
            <a:srgbClr val="B45309"/>
          </a:solidFill>
          <a:ln w="12700">
            <a:solidFill>
              <a:srgbClr val="B45309"/>
            </a:solidFill>
            <a:prstDash val="solid"/>
          </a:ln>
        </p:spPr>
      </p:sp>
      <p:sp>
        <p:nvSpPr>
          <p:cNvPr id="18" name="Step 5 number"/>
          <p:cNvSpPr txBox="1"/>
          <p:nvPr/>
        </p:nvSpPr>
        <p:spPr>
          <a:xfrm>
            <a:off x="548640" y="3329940"/>
            <a:ext cx="275844" cy="275844"/>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19" name="Step 5"/>
          <p:cNvSpPr txBox="1"/>
          <p:nvPr/>
        </p:nvSpPr>
        <p:spPr>
          <a:xfrm>
            <a:off x="1097280" y="3311652"/>
            <a:ext cx="10561320" cy="551688"/>
          </a:xfrm>
          <a:prstGeom prst="rect">
            <a:avLst/>
          </a:prstGeom>
          <a:noFill/>
          <a:ln/>
        </p:spPr>
        <p:txBody>
          <a:bodyPr wrap="square" lIns="0" tIns="0" rIns="0" bIns="0" rtlCol="0" anchor="t"/>
          <a:lstStyle/>
          <a:p>
            <a:pPr indent="0" marL="0">
              <a:buNone/>
            </a:pPr>
            <a:r>
              <a:rPr lang="en-US" sz="1450" b="1" dirty="0">
                <a:solidFill>
                  <a:srgbClr val="1F2A44"/>
                </a:solidFill>
              </a:rPr>
              <a:t>Check: </a:t>
            </a:r>
            <a:pPr indent="0" marL="0">
              <a:buNone/>
            </a:pPr>
            <a:r>
              <a:rPr lang="en-US" sz="1450" dirty="0">
                <a:solidFill>
                  <a:srgbClr val="334155"/>
                </a:solidFill>
              </a:rPr>
              <a:t>azcmagent show: Connected. Tags ConfigOwner=Ansible, PatchOwner=Ansible, ArcSQLServerExtensionDeployment=Disabled; resource ID matches the result; VK-ARC-01 matches the CMDB; VK-ARC-07 clean</a:t>
            </a:r>
            <a:endParaRPr lang="en-US" sz="1450" dirty="0"/>
          </a:p>
        </p:txBody>
      </p:sp>
      <p:sp>
        <p:nvSpPr>
          <p:cNvPr id="20" name="Step 6 dot" descr="">
            <a:extLst>
              <a:ext uri="{C183D7F6-B498-43B3-948B-1728B52AA6E4}">
                <adec:decorative xmlns:adec="http://schemas.microsoft.com/office/drawing/2017/decorative" val="1"/>
              </a:ext>
            </a:extLst>
          </p:cNvPr>
          <p:cNvSpPr/>
          <p:nvPr/>
        </p:nvSpPr>
        <p:spPr>
          <a:xfrm>
            <a:off x="548640" y="3881628"/>
            <a:ext cx="275844" cy="275844"/>
          </a:xfrm>
          <a:prstGeom prst="ellipse">
            <a:avLst/>
          </a:prstGeom>
          <a:solidFill>
            <a:srgbClr val="B45309"/>
          </a:solidFill>
          <a:ln w="12700">
            <a:solidFill>
              <a:srgbClr val="B45309"/>
            </a:solidFill>
            <a:prstDash val="solid"/>
          </a:ln>
        </p:spPr>
      </p:sp>
      <p:sp>
        <p:nvSpPr>
          <p:cNvPr id="21" name="Step 6 number"/>
          <p:cNvSpPr txBox="1"/>
          <p:nvPr/>
        </p:nvSpPr>
        <p:spPr>
          <a:xfrm>
            <a:off x="548640" y="3881628"/>
            <a:ext cx="275844" cy="275844"/>
          </a:xfrm>
          <a:prstGeom prst="rect">
            <a:avLst/>
          </a:prstGeom>
          <a:noFill/>
          <a:ln/>
        </p:spPr>
        <p:txBody>
          <a:bodyPr wrap="square" lIns="0" tIns="0" rIns="0" bIns="0" rtlCol="0" anchor="ctr"/>
          <a:lstStyle/>
          <a:p>
            <a:pPr algn="ctr" indent="0" marL="0">
              <a:buNone/>
            </a:pPr>
            <a:r>
              <a:rPr lang="en-US" sz="1400" b="1" dirty="0">
                <a:solidFill>
                  <a:srgbClr val="FFFFFF"/>
                </a:solidFill>
              </a:rPr>
              <a:t>6</a:t>
            </a:r>
            <a:endParaRPr lang="en-US" sz="1400" dirty="0"/>
          </a:p>
        </p:txBody>
      </p:sp>
      <p:sp>
        <p:nvSpPr>
          <p:cNvPr id="22" name="Step 6"/>
          <p:cNvSpPr txBox="1"/>
          <p:nvPr/>
        </p:nvSpPr>
        <p:spPr>
          <a:xfrm>
            <a:off x="1097280" y="3863340"/>
            <a:ext cx="10561320" cy="551688"/>
          </a:xfrm>
          <a:prstGeom prst="rect">
            <a:avLst/>
          </a:prstGeom>
          <a:noFill/>
          <a:ln/>
        </p:spPr>
        <p:txBody>
          <a:bodyPr wrap="square" lIns="0" tIns="0" rIns="0" bIns="0" rtlCol="0" anchor="t"/>
          <a:lstStyle/>
          <a:p>
            <a:pPr indent="0" marL="0">
              <a:buNone/>
            </a:pPr>
            <a:r>
              <a:rPr lang="en-US" sz="1450" b="1" dirty="0">
                <a:solidFill>
                  <a:srgbClr val="1F2A44"/>
                </a:solidFill>
              </a:rPr>
              <a:t>Back it out, in Learn's order: </a:t>
            </a:r>
            <a:pPr indent="0" marL="0">
              <a:buNone/>
            </a:pPr>
            <a:r>
              <a:rPr lang="en-US" sz="1450" dirty="0">
                <a:solidFill>
                  <a:srgbClr val="334155"/>
                </a:solidFill>
              </a:rPr>
              <a:t>Remove extensions; azcmagent disconnect as Resource Administrator; uninstall the agent; remove the role assignment and the group; rebuild; file the records</a:t>
            </a:r>
            <a:endParaRPr lang="en-US" sz="1450" dirty="0"/>
          </a:p>
        </p:txBody>
      </p:sp>
      <p:sp>
        <p:nvSpPr>
          <p:cNvPr id="23" name="Callout" descr="">
            <a:extLst>
              <a:ext uri="{C183D7F6-B498-43B3-948B-1728B52AA6E4}">
                <adec:decorative xmlns:adec="http://schemas.microsoft.com/office/drawing/2017/decorative" val="1"/>
              </a:ext>
            </a:extLst>
          </p:cNvPr>
          <p:cNvSpPr/>
          <p:nvPr/>
        </p:nvSpPr>
        <p:spPr>
          <a:xfrm>
            <a:off x="548640" y="4597908"/>
            <a:ext cx="11109960" cy="1019556"/>
          </a:xfrm>
          <a:prstGeom prst="roundRect">
            <a:avLst>
              <a:gd name="adj" fmla="val 7175"/>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24" name="Icon FaTriangleExclamation" descr="">
            <a:extLst>
              <a:ext uri="{C183D7F6-B498-43B3-948B-1728B52AA6E4}">
                <adec:decorative xmlns:adec="http://schemas.microsoft.com/office/drawing/2017/decorative" val="1"/>
              </a:ext>
            </a:extLst>
          </p:cNvPr>
          <p:cNvSpPr/>
          <p:nvPr/>
        </p:nvSpPr>
        <p:spPr>
          <a:xfrm>
            <a:off x="749808" y="4787646"/>
            <a:ext cx="640080" cy="640080"/>
          </a:xfrm>
          <a:prstGeom prst="ellipse">
            <a:avLst/>
          </a:prstGeom>
          <a:solidFill>
            <a:srgbClr val="B91C1C"/>
          </a:solidFill>
          <a:ln w="12700">
            <a:solidFill>
              <a:srgbClr val="B91C1C"/>
            </a:solidFill>
            <a:prstDash val="solid"/>
          </a:ln>
        </p:spPr>
      </p:sp>
      <p:pic>
        <p:nvPicPr>
          <p:cNvPr id="25"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03427" y="4941265"/>
            <a:ext cx="332842" cy="332842"/>
          </a:xfrm>
          <a:prstGeom prst="rect">
            <a:avLst/>
          </a:prstGeom>
        </p:spPr>
      </p:pic>
      <p:sp>
        <p:nvSpPr>
          <p:cNvPr id="26" name="Callout text"/>
          <p:cNvSpPr txBox="1"/>
          <p:nvPr/>
        </p:nvSpPr>
        <p:spPr>
          <a:xfrm>
            <a:off x="1600200" y="4652772"/>
            <a:ext cx="9875520" cy="909828"/>
          </a:xfrm>
          <a:prstGeom prst="rect">
            <a:avLst/>
          </a:prstGeom>
          <a:noFill/>
          <a:ln/>
        </p:spPr>
        <p:txBody>
          <a:bodyPr wrap="square" lIns="0" tIns="0" rIns="0" bIns="0" rtlCol="0" anchor="ctr"/>
          <a:lstStyle/>
          <a:p>
            <a:pPr indent="0" marL="0">
              <a:buNone/>
            </a:pPr>
            <a:r>
              <a:rPr lang="en-US" sz="1750" b="1" dirty="0">
                <a:solidFill>
                  <a:srgbClr val="B91C1C"/>
                </a:solidFill>
              </a:rPr>
              <a:t>Where: </a:t>
            </a:r>
            <a:pPr indent="0" marL="0">
              <a:buNone/>
            </a:pPr>
            <a:r>
              <a:rPr lang="en-US" sz="1750" dirty="0">
                <a:solidFill>
                  <a:srgbClr val="334155"/>
                </a:solidFill>
              </a:rPr>
              <a:t>a commercial test subscription in the GCC tenant, a Linux server you can rebuild, never production; the control node on an Azure VM or Arc-enabled server so it has a managed identity.</a:t>
            </a:r>
            <a:endParaRPr lang="en-US" sz="175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Connect machines with Ansible; network requirements; Arc security; Configure Ansible on an Azure VM; Uninstall the agent; azcmagent disconnect. Chapter 08, “Lab 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Dangers, and the guard for each</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18"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4355592"/>
        </p:xfrm>
        <a:graphic>
          <a:graphicData uri="http://schemas.openxmlformats.org/drawingml/2006/table">
            <a:tbl>
              <a:tblPr firstRow="1" bandRow="1"/>
              <a:tblGrid>
                <a:gridCol w="3017520"/>
                <a:gridCol w="4114800"/>
                <a:gridCol w="3977640"/>
              </a:tblGrid>
              <a:tr h="3078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Danger</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What happens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The guard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Connected without owner tags; a typo in an owner</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 tool treats it as theirs, or nobody's; it falls out of the group that protects it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Candidates need both owners; tags in every connect; unknown owners refused; VK-ARC-07</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Two tools patching one server</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Update Manager schedules updates Ansible also applies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PatchOwner; scope schedules on UpdateManager only (design guidance)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The whole estate in one run; production in the pilot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One wrong setting reaches every server; the pilot finds problems in production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Waves, plan first, canary then 5 then 25 percent; waves 0 and 1 refuse production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A dry run that isn't one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People skip it, or it reaches the network</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06 skips the role without confirm_change; 02's download skipped; tested behind a dead proxy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The wrong cloud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GCC servers in Azure Government, or a commercial token used there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AzureCloud in the sample; the plan stops other-cloud regions; 06 refuses AzureUSGovernment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SQL Server auto-onboarded; data sent without a decision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The default tag dropped; the signal carries tenant details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The tag added back; the signal off by default (design guidance)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A stored secret; a floating role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Outside servers connected into the subscription; a rerun behaves differently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msi and the onboarding role only, removed after; 4.2.0 pinned and matched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A tag value Arc splits or refuses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 comma makes a wrong tag; a long value fails the connect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The inventory blocks the server with the reason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Chapter 08, “Dangers”; Learn, Connect machines with Ansible (msi); tags limits; azcmagent connect.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Done when: the chapter's checklist</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Panel Before the run" descr="">
            <a:extLst>
              <a:ext uri="{C183D7F6-B498-43B3-948B-1728B52AA6E4}">
                <adec:decorative xmlns:adec="http://schemas.microsoft.com/office/drawing/2017/decorative" val="1"/>
              </a:ext>
            </a:extLst>
          </p:cNvPr>
          <p:cNvSpPr/>
          <p:nvPr/>
        </p:nvSpPr>
        <p:spPr>
          <a:xfrm>
            <a:off x="548640" y="1325880"/>
            <a:ext cx="5417820" cy="3372612"/>
          </a:xfrm>
          <a:prstGeom prst="roundRect">
            <a:avLst>
              <a:gd name="adj" fmla="val 2169"/>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Panel Before the run label"/>
          <p:cNvSpPr txBox="1"/>
          <p:nvPr/>
        </p:nvSpPr>
        <p:spPr>
          <a:xfrm>
            <a:off x="731520" y="1435608"/>
            <a:ext cx="5052060" cy="274320"/>
          </a:xfrm>
          <a:prstGeom prst="rect">
            <a:avLst/>
          </a:prstGeom>
          <a:noFill/>
          <a:ln/>
        </p:spPr>
        <p:txBody>
          <a:bodyPr wrap="square" lIns="0" tIns="0" rIns="0" bIns="0" rtlCol="0" anchor="t"/>
          <a:lstStyle/>
          <a:p>
            <a:pPr indent="0" marL="0">
              <a:buNone/>
            </a:pPr>
            <a:r>
              <a:rPr lang="en-US" sz="1100" b="1" spc="50" kern="0" dirty="0">
                <a:solidFill>
                  <a:srgbClr val="64748B"/>
                </a:solidFill>
              </a:rPr>
              <a:t>BEFORE THE RUN</a:t>
            </a:r>
            <a:endParaRPr lang="en-US" sz="1100" dirty="0"/>
          </a:p>
        </p:txBody>
      </p:sp>
      <p:sp>
        <p:nvSpPr>
          <p:cNvPr id="7" name="Panel Before the run list"/>
          <p:cNvSpPr txBox="1"/>
          <p:nvPr/>
        </p:nvSpPr>
        <p:spPr>
          <a:xfrm>
            <a:off x="731520" y="1737360"/>
            <a:ext cx="5097780" cy="2915412"/>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334155"/>
                </a:solidFill>
              </a:rPr>
              <a:t>The CMDB export carries config_owner, patch_owner and arc_wave for every tier 1 server; the missing groups are empty, or each entry has a ticket</a:t>
            </a:r>
            <a:endParaRPr lang="en-US" sz="1450" dirty="0"/>
          </a:p>
          <a:p>
            <a:pPr marL="342900" indent="-342900">
              <a:spcAft>
                <a:spcPts val="400"/>
              </a:spcAft>
              <a:buSzPct val="100000"/>
              <a:buChar char="•"/>
            </a:pPr>
            <a:r>
              <a:rPr lang="en-US" sz="1450" dirty="0">
                <a:solidFill>
                  <a:srgbClr val="334155"/>
                </a:solidFill>
              </a:rPr>
              <a:t>arc_cloud matches the tenant: AzureCloud for GCC; AzureUSGovernment (and 02) for GCC High and DoD</a:t>
            </a:r>
            <a:endParaRPr lang="en-US" sz="1450" dirty="0"/>
          </a:p>
          <a:p>
            <a:pPr marL="342900" indent="-342900">
              <a:spcAft>
                <a:spcPts val="400"/>
              </a:spcAft>
              <a:buSzPct val="100000"/>
              <a:buChar char="•"/>
            </a:pPr>
            <a:r>
              <a:rPr lang="en-US" sz="1450" dirty="0">
                <a:solidFill>
                  <a:srgbClr val="334155"/>
                </a:solidFill>
              </a:rPr>
              <a:t>The wave plan was reviewed and filed before the run; its blocked list is understood</a:t>
            </a:r>
            <a:endParaRPr lang="en-US" sz="1450" dirty="0"/>
          </a:p>
          <a:p>
            <a:pPr marL="342900" indent="-342900">
              <a:spcAft>
                <a:spcPts val="400"/>
              </a:spcAft>
              <a:buSzPct val="100000"/>
              <a:buChar char="•"/>
            </a:pPr>
            <a:r>
              <a:rPr lang="en-US" sz="1450" dirty="0">
                <a:solidFill>
                  <a:srgbClr val="334155"/>
                </a:solidFill>
              </a:rPr>
              <a:t>The dry run was run, and its output matches the plan</a:t>
            </a:r>
            <a:endParaRPr lang="en-US" sz="1450" dirty="0"/>
          </a:p>
          <a:p>
            <a:pPr marL="342900" indent="-342900">
              <a:spcAft>
                <a:spcPts val="400"/>
              </a:spcAft>
              <a:buSzPct val="100000"/>
              <a:buChar char="•"/>
            </a:pPr>
            <a:r>
              <a:rPr lang="en-US" sz="1450" dirty="0">
                <a:solidFill>
                  <a:srgbClr val="334155"/>
                </a:solidFill>
              </a:rPr>
              <a:t>The onboarding identity holds only the onboarding role, on the wave's resource groups; managed identity where possible</a:t>
            </a:r>
            <a:endParaRPr lang="en-US" sz="1450" dirty="0"/>
          </a:p>
        </p:txBody>
      </p:sp>
      <p:sp>
        <p:nvSpPr>
          <p:cNvPr id="8" name="Panel The run and after" descr="">
            <a:extLst>
              <a:ext uri="{C183D7F6-B498-43B3-948B-1728B52AA6E4}">
                <adec:decorative xmlns:adec="http://schemas.microsoft.com/office/drawing/2017/decorative" val="1"/>
              </a:ext>
            </a:extLst>
          </p:cNvPr>
          <p:cNvSpPr/>
          <p:nvPr/>
        </p:nvSpPr>
        <p:spPr>
          <a:xfrm>
            <a:off x="6240780" y="1325880"/>
            <a:ext cx="5417820" cy="3372612"/>
          </a:xfrm>
          <a:prstGeom prst="roundRect">
            <a:avLst>
              <a:gd name="adj" fmla="val 2169"/>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Panel The run and after label"/>
          <p:cNvSpPr txBox="1"/>
          <p:nvPr/>
        </p:nvSpPr>
        <p:spPr>
          <a:xfrm>
            <a:off x="6423660" y="1435608"/>
            <a:ext cx="5052060" cy="274320"/>
          </a:xfrm>
          <a:prstGeom prst="rect">
            <a:avLst/>
          </a:prstGeom>
          <a:noFill/>
          <a:ln/>
        </p:spPr>
        <p:txBody>
          <a:bodyPr wrap="square" lIns="0" tIns="0" rIns="0" bIns="0" rtlCol="0" anchor="t"/>
          <a:lstStyle/>
          <a:p>
            <a:pPr indent="0" marL="0">
              <a:buNone/>
            </a:pPr>
            <a:r>
              <a:rPr lang="en-US" sz="1100" b="1" spc="50" kern="0" dirty="0">
                <a:solidFill>
                  <a:srgbClr val="0F766E"/>
                </a:solidFill>
              </a:rPr>
              <a:t>THE RUN AND AFTER</a:t>
            </a:r>
            <a:endParaRPr lang="en-US" sz="1100" dirty="0"/>
          </a:p>
        </p:txBody>
      </p:sp>
      <p:sp>
        <p:nvSpPr>
          <p:cNvPr id="10" name="Panel The run and after list"/>
          <p:cNvSpPr txBox="1"/>
          <p:nvPr/>
        </p:nvSpPr>
        <p:spPr>
          <a:xfrm>
            <a:off x="6423660" y="1737360"/>
            <a:ext cx="5097780" cy="2915412"/>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334155"/>
                </a:solidFill>
              </a:rPr>
              <a:t>arc_role_log_enabled and arc_sql_extension_deployment are decisions on record</a:t>
            </a:r>
            <a:endParaRPr lang="en-US" sz="1450" dirty="0"/>
          </a:p>
          <a:p>
            <a:pPr marL="342900" indent="-342900">
              <a:spcAft>
                <a:spcPts val="400"/>
              </a:spcAft>
              <a:buSzPct val="100000"/>
              <a:buChar char="•"/>
            </a:pPr>
            <a:r>
              <a:rPr lang="en-US" sz="1450" dirty="0">
                <a:solidFill>
                  <a:srgbClr val="334155"/>
                </a:solidFill>
              </a:rPr>
              <a:t>Wave 0 ran on non-production servers for at least 30 days before production waves</a:t>
            </a:r>
            <a:endParaRPr lang="en-US" sz="1450" dirty="0"/>
          </a:p>
          <a:p>
            <a:pPr marL="342900" indent="-342900">
              <a:spcAft>
                <a:spcPts val="400"/>
              </a:spcAft>
              <a:buSzPct val="100000"/>
              <a:buChar char="•"/>
            </a:pPr>
            <a:r>
              <a:rPr lang="en-US" sz="1450" dirty="0">
                <a:solidFill>
                  <a:srgbClr val="334155"/>
                </a:solidFill>
              </a:rPr>
              <a:t>After: result resource IDs match Azure; VK-ARC-01 shows the CMDB's tags; VK-ARC-07 clean</a:t>
            </a:r>
            <a:endParaRPr lang="en-US" sz="1450" dirty="0"/>
          </a:p>
          <a:p>
            <a:pPr marL="342900" indent="-342900">
              <a:spcAft>
                <a:spcPts val="400"/>
              </a:spcAft>
              <a:buSzPct val="100000"/>
              <a:buChar char="•"/>
            </a:pPr>
            <a:r>
              <a:rPr lang="en-US" sz="1450" dirty="0">
                <a:solidFill>
                  <a:srgbClr val="334155"/>
                </a:solidFill>
              </a:rPr>
              <a:t>The installed role matches the pinned copy; upstream commits since the pin reviewed</a:t>
            </a:r>
            <a:endParaRPr lang="en-US" sz="1450" dirty="0"/>
          </a:p>
          <a:p>
            <a:pPr marL="342900" indent="-342900">
              <a:spcAft>
                <a:spcPts val="400"/>
              </a:spcAft>
              <a:buSzPct val="100000"/>
              <a:buChar char="•"/>
            </a:pPr>
            <a:r>
              <a:rPr lang="en-US" sz="1450" dirty="0">
                <a:solidFill>
                  <a:srgbClr val="334155"/>
                </a:solidFill>
              </a:rPr>
              <a:t>bash tests/run_all.sh passes on the control node</a:t>
            </a:r>
            <a:endParaRPr lang="en-US" sz="1450" dirty="0"/>
          </a:p>
        </p:txBody>
      </p:sp>
      <p:sp>
        <p:nvSpPr>
          <p:cNvPr id="11" name="Callout" descr="">
            <a:extLst>
              <a:ext uri="{C183D7F6-B498-43B3-948B-1728B52AA6E4}">
                <adec:decorative xmlns:adec="http://schemas.microsoft.com/office/drawing/2017/decorative" val="1"/>
              </a:ext>
            </a:extLst>
          </p:cNvPr>
          <p:cNvSpPr/>
          <p:nvPr/>
        </p:nvSpPr>
        <p:spPr>
          <a:xfrm>
            <a:off x="548640" y="4881372"/>
            <a:ext cx="11109960" cy="731520"/>
          </a:xfrm>
          <a:prstGeom prst="roundRect">
            <a:avLst>
              <a:gd name="adj" fmla="val 10000"/>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Route" descr="">
            <a:extLst>
              <a:ext uri="{C183D7F6-B498-43B3-948B-1728B52AA6E4}">
                <adec:decorative xmlns:adec="http://schemas.microsoft.com/office/drawing/2017/decorative" val="1"/>
              </a:ext>
            </a:extLst>
          </p:cNvPr>
          <p:cNvSpPr/>
          <p:nvPr/>
        </p:nvSpPr>
        <p:spPr>
          <a:xfrm>
            <a:off x="749808" y="4954524"/>
            <a:ext cx="585216" cy="585216"/>
          </a:xfrm>
          <a:prstGeom prst="ellipse">
            <a:avLst/>
          </a:prstGeom>
          <a:solidFill>
            <a:srgbClr val="B45309"/>
          </a:solidFill>
          <a:ln w="12700">
            <a:solidFill>
              <a:srgbClr val="B45309"/>
            </a:solidFill>
            <a:prstDash val="solid"/>
          </a:ln>
        </p:spPr>
      </p:sp>
      <p:pic>
        <p:nvPicPr>
          <p:cNvPr id="13"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0260" y="5094976"/>
            <a:ext cx="304312" cy="304312"/>
          </a:xfrm>
          <a:prstGeom prst="rect">
            <a:avLst/>
          </a:prstGeom>
        </p:spPr>
      </p:pic>
      <p:sp>
        <p:nvSpPr>
          <p:cNvPr id="14" name="Callout text"/>
          <p:cNvSpPr txBox="1"/>
          <p:nvPr/>
        </p:nvSpPr>
        <p:spPr>
          <a:xfrm>
            <a:off x="1600200" y="4936236"/>
            <a:ext cx="9875520" cy="621792"/>
          </a:xfrm>
          <a:prstGeom prst="rect">
            <a:avLst/>
          </a:prstGeom>
          <a:noFill/>
          <a:ln/>
        </p:spPr>
        <p:txBody>
          <a:bodyPr wrap="square" lIns="0" tIns="0" rIns="0" bIns="0" rtlCol="0" anchor="ctr"/>
          <a:lstStyle/>
          <a:p>
            <a:pPr indent="0" marL="0">
              <a:buNone/>
            </a:pPr>
            <a:r>
              <a:rPr lang="en-US" sz="1750" b="1" dirty="0">
                <a:solidFill>
                  <a:srgbClr val="B45309"/>
                </a:solidFill>
              </a:rPr>
              <a:t>Next: </a:t>
            </a:r>
            <a:pPr indent="0" marL="0">
              <a:buNone/>
            </a:pPr>
            <a:r>
              <a:rPr lang="en-US" sz="1750" dirty="0">
                <a:solidFill>
                  <a:srgbClr val="334155"/>
                </a:solidFill>
              </a:rPr>
              <a:t>Chapter 09, Drift Pipelines and Evidence to the ISSO.</a:t>
            </a:r>
            <a:endParaRPr lang="en-US" sz="17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Chapter 08, “Checklist”; Learn, Plan and deploy Azure Arc-enabled servers (30-day pilot); Planning identity for Azure Government.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Backup</a:t>
            </a:r>
            <a:endParaRPr lang="en-US" sz="3000" dirty="0"/>
          </a:p>
        </p:txBody>
      </p:sp>
      <p:sp>
        <p:nvSpPr>
          <p:cNvPr id="3" name="Backup note"/>
          <p:cNvSpPr txBox="1"/>
          <p:nvPr/>
        </p:nvSpPr>
        <p:spPr>
          <a:xfrm>
            <a:off x="548640" y="2926080"/>
            <a:ext cx="11064240" cy="548640"/>
          </a:xfrm>
          <a:prstGeom prst="rect">
            <a:avLst/>
          </a:prstGeom>
          <a:noFill/>
          <a:ln/>
        </p:spPr>
        <p:txBody>
          <a:bodyPr wrap="square" lIns="0" tIns="0" rIns="0" bIns="0" rtlCol="0" anchor="t"/>
          <a:lstStyle/>
          <a:p>
            <a:pPr algn="ctr" indent="0" marL="0">
              <a:buNone/>
            </a:pPr>
            <a:r>
              <a:rPr lang="en-US" sz="1800" dirty="0">
                <a:solidFill>
                  <a:srgbClr val="64748B"/>
                </a:solidFill>
              </a:rPr>
              <a:t>The slides after this one are reference material and are not narrated.</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in full (1)</a:t>
            </a:r>
            <a:endParaRPr lang="en-US" sz="3000" dirty="0"/>
          </a:p>
        </p:txBody>
      </p:sp>
      <p:sp>
        <p:nvSpPr>
          <p:cNvPr id="3" name="Source list"/>
          <p:cNvSpPr txBox="1"/>
          <p:nvPr/>
        </p:nvSpPr>
        <p:spPr>
          <a:xfrm>
            <a:off x="548640" y="1325880"/>
            <a:ext cx="11064240" cy="4663440"/>
          </a:xfrm>
          <a:prstGeom prst="rect">
            <a:avLst/>
          </a:prstGeom>
          <a:noFill/>
          <a:ln/>
        </p:spPr>
        <p:txBody>
          <a:bodyPr wrap="square" lIns="0" tIns="0" rIns="0" bIns="0" rtlCol="0" anchor="t"/>
          <a:lstStyle/>
          <a:p>
            <a:pPr indent="0" marL="0">
              <a:spcAft>
                <a:spcPts val="300"/>
              </a:spcAft>
              <a:buNone/>
            </a:pPr>
            <a:r>
              <a:rPr lang="en-US" sz="1050" b="1" dirty="0">
                <a:solidFill>
                  <a:srgbClr val="1F2A44"/>
                </a:solidFill>
              </a:rPr>
              <a:t>c08-ansible  </a:t>
            </a:r>
            <a:pPr indent="0" marL="0">
              <a:spcAft>
                <a:spcPts val="300"/>
              </a:spcAft>
              <a:buNone/>
            </a:pPr>
            <a:r>
              <a:rPr lang="en-US" sz="1050" dirty="0">
                <a:solidFill>
                  <a:srgbClr val="334155"/>
                </a:solidFill>
              </a:rPr>
              <a:t>Microsoft Learn, "Connect machines to Azure Arc at scale with Ansible," https://learn.microsoft.com/azure/azure-arc/servers/onboard-ansible-playbooks (accessed Oct 30, 2026).</a:t>
            </a:r>
            <a:endParaRPr lang="en-US" sz="1050" dirty="0"/>
          </a:p>
          <a:p>
            <a:pPr indent="0" marL="0">
              <a:spcAft>
                <a:spcPts val="300"/>
              </a:spcAft>
              <a:buNone/>
            </a:pPr>
            <a:r>
              <a:rPr lang="en-US" sz="1050" b="1" dirty="0">
                <a:solidFill>
                  <a:srgbClr val="1F2A44"/>
                </a:solidFill>
              </a:rPr>
              <a:t>c08-connect  </a:t>
            </a:r>
            <a:pPr indent="0" marL="0">
              <a:spcAft>
                <a:spcPts val="300"/>
              </a:spcAft>
              <a:buNone/>
            </a:pPr>
            <a:r>
              <a:rPr lang="en-US" sz="1050" dirty="0">
                <a:solidFill>
                  <a:srgbClr val="334155"/>
                </a:solidFill>
              </a:rPr>
              <a:t>Microsoft Learn, "azcmagent connect," https://learn.microsoft.com/azure/azure-arc/servers/azcmagent-connect (accessed Oct 30, 2026).</a:t>
            </a:r>
            <a:endParaRPr lang="en-US" sz="1050" dirty="0"/>
          </a:p>
          <a:p>
            <a:pPr indent="0" marL="0">
              <a:spcAft>
                <a:spcPts val="300"/>
              </a:spcAft>
              <a:buNone/>
            </a:pPr>
            <a:r>
              <a:rPr lang="en-US" sz="1050" b="1" dirty="0">
                <a:solidFill>
                  <a:srgbClr val="1F2A44"/>
                </a:solidFill>
              </a:rPr>
              <a:t>c08-network  </a:t>
            </a:r>
            <a:pPr indent="0" marL="0">
              <a:spcAft>
                <a:spcPts val="300"/>
              </a:spcAft>
              <a:buNone/>
            </a:pPr>
            <a:r>
              <a:rPr lang="en-US" sz="1050" dirty="0">
                <a:solidFill>
                  <a:srgbClr val="334155"/>
                </a:solidFill>
              </a:rPr>
              <a:t>Microsoft Learn, "Connected Machine agent network requirements," https://learn.microsoft.com/azure/azure-arc/servers/network-requirements (accessed Oct 30, 2026).</a:t>
            </a:r>
            <a:endParaRPr lang="en-US" sz="1050" dirty="0"/>
          </a:p>
          <a:p>
            <a:pPr indent="0" marL="0">
              <a:spcAft>
                <a:spcPts val="300"/>
              </a:spcAft>
              <a:buNone/>
            </a:pPr>
            <a:r>
              <a:rPr lang="en-US" sz="1050" b="1" dirty="0">
                <a:solidFill>
                  <a:srgbClr val="1F2A44"/>
                </a:solidFill>
              </a:rPr>
              <a:t>c08-govident  </a:t>
            </a:r>
            <a:pPr indent="0" marL="0">
              <a:spcAft>
                <a:spcPts val="300"/>
              </a:spcAft>
              <a:buNone/>
            </a:pPr>
            <a:r>
              <a:rPr lang="en-US" sz="1050" dirty="0">
                <a:solidFill>
                  <a:srgbClr val="334155"/>
                </a:solidFill>
              </a:rPr>
              <a:t>Microsoft Learn, "Planning identity for Azure Government applications," https://learn.microsoft.com/azure/azure-government/documentation-government-plan-identity (accessed Oct 30, 2026).</a:t>
            </a:r>
            <a:endParaRPr lang="en-US" sz="1050" dirty="0"/>
          </a:p>
          <a:p>
            <a:pPr indent="0" marL="0">
              <a:spcAft>
                <a:spcPts val="300"/>
              </a:spcAft>
              <a:buNone/>
            </a:pPr>
            <a:r>
              <a:rPr lang="en-US" sz="1050" b="1" dirty="0">
                <a:solidFill>
                  <a:srgbClr val="1F2A44"/>
                </a:solidFill>
              </a:rPr>
              <a:t>c08-security  </a:t>
            </a:r>
            <a:pPr indent="0" marL="0">
              <a:spcAft>
                <a:spcPts val="300"/>
              </a:spcAft>
              <a:buNone/>
            </a:pPr>
            <a:r>
              <a:rPr lang="en-US" sz="1050" dirty="0">
                <a:solidFill>
                  <a:srgbClr val="334155"/>
                </a:solidFill>
              </a:rPr>
              <a:t>Microsoft Learn, "Identity and authorization" (Azure Arc-enabled servers security), https://learn.microsoft.com/azure/azure-arc/servers/security-identity-authorization (accessed Oct 30, 2026); Microsoft Learn, "Azure built-in roles for Management and governance," https://learn.microsoft.com/azure/role-based-access-control/built-in-roles/management-and-governance (accessed Oct 30, 2026).</a:t>
            </a:r>
            <a:endParaRPr lang="en-US" sz="1050" dirty="0"/>
          </a:p>
          <a:p>
            <a:pPr indent="0" marL="0">
              <a:spcAft>
                <a:spcPts val="300"/>
              </a:spcAft>
              <a:buNone/>
            </a:pPr>
            <a:r>
              <a:rPr lang="en-US" sz="1050" b="1" dirty="0">
                <a:solidFill>
                  <a:srgbClr val="1F2A44"/>
                </a:solidFill>
              </a:rPr>
              <a:t>c08-plan  </a:t>
            </a:r>
            <a:pPr indent="0" marL="0">
              <a:spcAft>
                <a:spcPts val="300"/>
              </a:spcAft>
              <a:buNone/>
            </a:pPr>
            <a:r>
              <a:rPr lang="en-US" sz="1050" dirty="0">
                <a:solidFill>
                  <a:srgbClr val="334155"/>
                </a:solidFill>
              </a:rPr>
              <a:t>Microsoft Learn, "Plan and deploy Azure Arc-enabled servers," https://learn.microsoft.com/azure/azure-arc/servers/plan-at-scale-deployment (accessed Oct 30, 2026).</a:t>
            </a:r>
            <a:endParaRPr lang="en-US" sz="1050" dirty="0"/>
          </a:p>
          <a:p>
            <a:pPr indent="0" marL="0">
              <a:spcAft>
                <a:spcPts val="300"/>
              </a:spcAft>
              <a:buNone/>
            </a:pPr>
            <a:r>
              <a:rPr lang="en-US" sz="1050" b="1" dirty="0">
                <a:solidFill>
                  <a:srgbClr val="1F2A44"/>
                </a:solidFill>
              </a:rPr>
              <a:t>c08-tags  </a:t>
            </a:r>
            <a:pPr indent="0" marL="0">
              <a:spcAft>
                <a:spcPts val="300"/>
              </a:spcAft>
              <a:buNone/>
            </a:pPr>
            <a:r>
              <a:rPr lang="en-US" sz="1050" dirty="0">
                <a:solidFill>
                  <a:srgbClr val="334155"/>
                </a:solidFill>
              </a:rPr>
              <a:t>Microsoft Learn, "Use tags to organize your Azure resources and management hierarchy," https://learn.microsoft.com/azure/azure-resource-manager/management/tag-resources (accessed Oct 30, 2026).</a:t>
            </a:r>
            <a:endParaRPr lang="en-US" sz="1050" dirty="0"/>
          </a:p>
          <a:p>
            <a:pPr indent="0" marL="0">
              <a:spcAft>
                <a:spcPts val="300"/>
              </a:spcAft>
              <a:buNone/>
            </a:pPr>
            <a:r>
              <a:rPr lang="en-US" sz="1050" b="1" dirty="0">
                <a:solidFill>
                  <a:srgbClr val="1F2A44"/>
                </a:solidFill>
              </a:rPr>
              <a:t>c08-dynscope  </a:t>
            </a:r>
            <a:pPr indent="0" marL="0">
              <a:spcAft>
                <a:spcPts val="300"/>
              </a:spcAft>
              <a:buNone/>
            </a:pPr>
            <a:r>
              <a:rPr lang="en-US" sz="1050" dirty="0">
                <a:solidFill>
                  <a:srgbClr val="334155"/>
                </a:solidFill>
              </a:rPr>
              <a:t>Microsoft Learn, "About dynamic scoping" (Azure Update Manager), https://learn.microsoft.com/azure/update-manager/dynamic-scope-overview (accessed Oct 30, 2026).</a:t>
            </a:r>
            <a:endParaRPr lang="en-US" sz="1050" dirty="0"/>
          </a:p>
          <a:p>
            <a:pPr indent="0" marL="0">
              <a:spcAft>
                <a:spcPts val="300"/>
              </a:spcAft>
              <a:buNone/>
            </a:pPr>
            <a:r>
              <a:rPr lang="en-US" sz="1050" b="1" dirty="0">
                <a:solidFill>
                  <a:srgbClr val="1F2A44"/>
                </a:solidFill>
              </a:rPr>
              <a:t>c08-policyref  </a:t>
            </a:r>
            <a:pPr indent="0" marL="0">
              <a:spcAft>
                <a:spcPts val="300"/>
              </a:spcAft>
              <a:buNone/>
            </a:pPr>
            <a:r>
              <a:rPr lang="en-US" sz="1050" dirty="0">
                <a:solidFill>
                  <a:srgbClr val="334155"/>
                </a:solidFill>
              </a:rPr>
              <a:t>Microsoft Learn, "Azure Policy built-in definitions for Azure Arc-enabled servers," https://learn.microsoft.com/azure/azure-arc/servers/policy-reference (accessed Oct 30, 2026).</a:t>
            </a:r>
            <a:endParaRPr lang="en-US" sz="1050" dirty="0"/>
          </a:p>
          <a:p>
            <a:pPr indent="0" marL="0">
              <a:spcAft>
                <a:spcPts val="300"/>
              </a:spcAft>
              <a:buNone/>
            </a:pPr>
            <a:r>
              <a:rPr lang="en-US" sz="1050" b="1" dirty="0">
                <a:solidFill>
                  <a:srgbClr val="1F2A44"/>
                </a:solidFill>
              </a:rPr>
              <a:t>c08-uninstall  </a:t>
            </a:r>
            <a:pPr indent="0" marL="0">
              <a:spcAft>
                <a:spcPts val="300"/>
              </a:spcAft>
              <a:buNone/>
            </a:pPr>
            <a:r>
              <a:rPr lang="en-US" sz="1050" dirty="0">
                <a:solidFill>
                  <a:srgbClr val="334155"/>
                </a:solidFill>
              </a:rPr>
              <a:t>Microsoft Learn, "Uninstall the Azure Connected Machine agent from Arc-enabled servers," https://learn.microsoft.com/azure/azure-arc/servers/uninstall-agent (accessed Oct 30, 2026).</a:t>
            </a:r>
            <a:endParaRPr lang="en-US" sz="1050" dirty="0"/>
          </a:p>
          <a:p>
            <a:pPr indent="0" marL="0">
              <a:spcAft>
                <a:spcPts val="300"/>
              </a:spcAft>
              <a:buNone/>
            </a:pPr>
            <a:r>
              <a:rPr lang="en-US" sz="1050" b="1" dirty="0">
                <a:solidFill>
                  <a:srgbClr val="1F2A44"/>
                </a:solidFill>
              </a:rPr>
              <a:t>c08-disconnect  </a:t>
            </a:r>
            <a:pPr indent="0" marL="0">
              <a:spcAft>
                <a:spcPts val="300"/>
              </a:spcAft>
              <a:buNone/>
            </a:pPr>
            <a:r>
              <a:rPr lang="en-US" sz="1050" dirty="0">
                <a:solidFill>
                  <a:srgbClr val="334155"/>
                </a:solidFill>
              </a:rPr>
              <a:t>Microsoft Learn, "azcmagent disconnect," https://learn.microsoft.com/azure/azure-arc/servers/azcmagent-disconnect (accessed Oct 30, 2026).</a:t>
            </a:r>
            <a:endParaRPr lang="en-US" sz="1050" dirty="0"/>
          </a:p>
          <a:p>
            <a:pPr indent="0" marL="0">
              <a:spcAft>
                <a:spcPts val="300"/>
              </a:spcAft>
              <a:buNone/>
            </a:pPr>
            <a:r>
              <a:rPr lang="en-US" sz="1050" b="1" dirty="0">
                <a:solidFill>
                  <a:srgbClr val="1F2A44"/>
                </a:solidFill>
              </a:rPr>
              <a:t>c08-ansiblevm  </a:t>
            </a:r>
            <a:pPr indent="0" marL="0">
              <a:spcAft>
                <a:spcPts val="300"/>
              </a:spcAft>
              <a:buNone/>
            </a:pPr>
            <a:r>
              <a:rPr lang="en-US" sz="1050" dirty="0">
                <a:solidFill>
                  <a:srgbClr val="334155"/>
                </a:solidFill>
              </a:rPr>
              <a:t>Microsoft Learn, "Get Started: Configure Ansible on an Azure VM," https://learn.microsoft.com/azure/developer/ansible/install-on-linux-vm (accessed Oct 30, 2026).</a:t>
            </a:r>
            <a:endParaRPr lang="en-US" sz="10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in full (2)</a:t>
            </a:r>
            <a:endParaRPr lang="en-US" sz="3000" dirty="0"/>
          </a:p>
        </p:txBody>
      </p:sp>
      <p:sp>
        <p:nvSpPr>
          <p:cNvPr id="3" name="Source list"/>
          <p:cNvSpPr txBox="1"/>
          <p:nvPr/>
        </p:nvSpPr>
        <p:spPr>
          <a:xfrm>
            <a:off x="548640" y="1325880"/>
            <a:ext cx="11064240" cy="4663440"/>
          </a:xfrm>
          <a:prstGeom prst="rect">
            <a:avLst/>
          </a:prstGeom>
          <a:noFill/>
          <a:ln/>
        </p:spPr>
        <p:txBody>
          <a:bodyPr wrap="square" lIns="0" tIns="0" rIns="0" bIns="0" rtlCol="0" anchor="t"/>
          <a:lstStyle/>
          <a:p>
            <a:pPr indent="0" marL="0">
              <a:spcAft>
                <a:spcPts val="300"/>
              </a:spcAft>
              <a:buNone/>
            </a:pPr>
            <a:r>
              <a:rPr lang="en-US" sz="1050" b="1" dirty="0">
                <a:solidFill>
                  <a:srgbClr val="1F2A44"/>
                </a:solidFill>
              </a:rPr>
              <a:t>c08-rolecode  </a:t>
            </a:r>
            <a:pPr indent="0" marL="0">
              <a:spcAft>
                <a:spcPts val="300"/>
              </a:spcAft>
              <a:buNone/>
            </a:pPr>
            <a:r>
              <a:rPr lang="en-US" sz="1050" dirty="0">
                <a:solidFill>
                  <a:srgbClr val="334155"/>
                </a:solidFill>
              </a:rPr>
              <a:t>Microsoft and the Ansible community, azure.azcollection azure_arc role, ansible-collections/azure, roles/azure_arc at commit afa62c3bcf3e283645336039e13c8e3019b8fcdd (release v4.2.0, October 30, 2026), GPL-3.0-or-later, https://github.com/ansible-collections/azure/tree/afa62c3bcf3e283645336039e13c8e3019b8fcdd/roles/azure_arc (accessed Oct 30, 2026); pinned copy in examples/third_party/azure-arc-role. Not a Learn page: Learn's role page links the role's Galaxy listing.</a:t>
            </a:r>
            <a:endParaRPr lang="en-US" sz="1050" dirty="0"/>
          </a:p>
          <a:p>
            <a:pPr indent="0" marL="0">
              <a:spcAft>
                <a:spcPts val="300"/>
              </a:spcAft>
              <a:buNone/>
            </a:pPr>
            <a:r>
              <a:rPr lang="en-US" sz="1050" b="1" dirty="0">
                <a:solidFill>
                  <a:srgbClr val="1F2A44"/>
                </a:solidFill>
              </a:rPr>
              <a:t>c08-ans-strategy  </a:t>
            </a:r>
            <a:pPr indent="0" marL="0">
              <a:spcAft>
                <a:spcPts val="300"/>
              </a:spcAft>
              <a:buNone/>
            </a:pPr>
            <a:r>
              <a:rPr lang="en-US" sz="1050" dirty="0">
                <a:solidFill>
                  <a:srgbClr val="334155"/>
                </a:solidFill>
              </a:rPr>
              <a:t>Ansible documentation, "Controlling playbook execution: strategies and more," https://docs.ansible.com/ansible/latest/playbook_guide/playbooks_strategies.html (accessed Oct 30, 2026). Not a Learn page: Learn has no page on Ansible's batch keywords.</a:t>
            </a:r>
            <a:endParaRPr lang="en-US" sz="10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the Attribute-Driven Migration, Chapter 08 — Ansible Beside Arc</dc:title>
  <dc:subject>PptxGenJS Presentation</dc:subject>
  <dc:creator>Michael F. Stratton</dc:creator>
  <cp:lastModifiedBy>Michael F. Stratton</cp:lastModifiedBy>
  <cp:revision>1</cp:revision>
  <dcterms:created xsi:type="dcterms:W3CDTF">2026-10-31T14:33:37Z</dcterms:created>
  <dcterms:modified xsi:type="dcterms:W3CDTF">2026-10-31T14:33:37Z</dcterms:modified>
</cp:coreProperties>
</file>