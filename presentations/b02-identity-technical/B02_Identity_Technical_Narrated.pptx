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103B0-B789-47C2-F171-E1846118B4F6}">
          <p14:sldIdLst>
            <p14:sldId id="256"/>
            <p14:sldId id="257"/>
            <p14:sldId id="258"/>
          </p14:sldIdLst>
        </p14:section>
        <p14:section name="Part 1 — Assessing the forest" id="{B8190053-3618-D82A-BDE6-1BC2FFAF5ACA}">
          <p14:sldIdLst>
            <p14:sldId id="259"/>
            <p14:sldId id="260"/>
            <p14:sldId id="261"/>
            <p14:sldId id="262"/>
            <p14:sldId id="263"/>
            <p14:sldId id="264"/>
            <p14:sldId id="265"/>
            <p14:sldId id="266"/>
            <p14:sldId id="267"/>
            <p14:sldId id="268"/>
            <p14:sldId id="269"/>
          </p14:sldIdLst>
        </p14:section>
        <p14:section name="Part 2 — Building the target and migrating" id="{0B395F26-92BD-3D5F-FC16-1B558580AA68}">
          <p14:sldIdLst>
            <p14:sldId id="270"/>
            <p14:sldId id="271"/>
            <p14:sldId id="272"/>
            <p14:sldId id="273"/>
            <p14:sldId id="274"/>
            <p14:sldId id="275"/>
            <p14:sldId id="276"/>
            <p14:sldId id="277"/>
            <p14:sldId id="278"/>
            <p14:sldId id="279"/>
            <p14:sldId id="280"/>
            <p14:sldId id="281"/>
            <p14:sldId id="282"/>
            <p14:sldId id="283"/>
          </p14:sldIdLst>
        </p14:section>
        <p14:section name="Backup" id="{3B8C607B-6DBC-13EA-DEBE-B1CF7D27FE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100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The slides show tables, flows and decision matrices. The code lives in the chapters and appendices; I'll point you to it rather than put it on screen.
Workbook: Book 02, index; Chapters 07–11; Appendices B–C.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[1:03–2:47]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[2:47–4:41]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rest of this session is how you find all of that, rebuild it, and prove it.
Workbook: Book 02, Chapter 02 — The Structural Problem;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[5:23–7:16]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[7:16–9:20]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[9:20–11:34]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[11:34–12:20]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[12:20–14:29]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[14:29–16:32]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[16:32–18:35]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[18:35–20:42]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[20:42–22:48]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[22:48–24:55]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[24:55–25:37]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[25:37–27:32]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[27:32–29:39]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[29:39–31:37]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[31:37–33:44]  Groups and service accounts each get one recorded decision per object.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Every application gets two human owners, and no client secrets in production.
Workbook: Book 02, Chapter 09 — Building the Entra ID Target, "Migrating groups" and "Modernizing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[33:44–35:49]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[35:49–37:58]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[37:58–38:37]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[38:37–40:49]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[40:49–42:49]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[42:49–44:59]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[44:59–47:05]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[47:05–49:11]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[49:11–51:19]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3.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8.xml"/><Relationship Id="rId7"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Assessing the forest</a:t>
            </a:r>
            <a:endParaRPr lang="en-US" sz="1500" dirty="0"/>
          </a:p>
          <a:p>
            <a:pPr marL="0" indent="0">
              <a:spcAft>
                <a:spcPts val="200"/>
              </a:spcAft>
              <a:buNone/>
            </a:pPr>
            <a:r>
              <a:rPr lang="en-US" sz="1500" dirty="0">
                <a:solidFill>
                  <a:srgbClr val="334155"/>
                </a:solidFill>
              </a:rPr>
              <a:t>Module 1  Read-only discovery   ·   Module 2  Assessing the forest</a:t>
            </a:r>
            <a:endParaRPr lang="en-US" sz="1500" dirty="0"/>
          </a:p>
          <a:p>
            <a:pPr marL="0" indent="0">
              <a:spcAft>
                <a:spcPts val="200"/>
              </a:spcAft>
              <a:buNone/>
            </a:pPr>
            <a:r>
              <a:rPr lang="en-US" sz="1500" b="1" dirty="0">
                <a:solidFill>
                  <a:srgbClr val="0F766E"/>
                </a:solidFill>
              </a:rPr>
              <a:t>Part 2 — Building the Entra ID target and migrating</a:t>
            </a:r>
            <a:endParaRPr lang="en-US" sz="1500" dirty="0"/>
          </a:p>
          <a:p>
            <a:pPr marL="0" indent="0">
              <a:spcAft>
                <a:spcPts val="200"/>
              </a:spcAft>
              <a:buNone/>
            </a:pPr>
            <a:r>
              <a:rPr lang="en-US" sz="1500" dirty="0">
                <a:solidFill>
                  <a:srgbClr val="334155"/>
                </a:solidFill>
              </a:rPr>
              <a:t>Module 3  Building the target   ·   Module 4  Migrating, governing, proving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CAAAEE09-13F7-872D-C010-6CF8A52312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98ED29-C209-4C51-AE6D-02100856DA3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00"/>
    </mc:Choice>
    <mc:Fallback>
      <p:transition spd="slow" advTm="4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6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FEDERAL POLICY MOVED THE ACCESS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OMB M-22-09</a:t>
            </a:r>
            <a:endParaRPr lang="en-US" sz="1400" dirty="0"/>
          </a:p>
          <a:p>
            <a:pPr marL="0" indent="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NIST SP 800-207</a:t>
            </a:r>
            <a:endParaRPr lang="en-US" sz="1400" dirty="0"/>
          </a:p>
          <a:p>
            <a:pPr marL="0" indent="0">
              <a:buNone/>
            </a:pPr>
            <a:r>
              <a:rPr lang="en-US" sz="1300" dirty="0">
                <a:solidFill>
                  <a:schemeClr val="tx2"/>
                </a:solidFill>
              </a:rPr>
              <a:t>No implicit trust from network location; access decided per session by dynamic policy</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CISA ZTMM</a:t>
            </a:r>
            <a:endParaRPr lang="en-US" sz="1400" dirty="0"/>
          </a:p>
          <a:p>
            <a:pPr marL="0" indent="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MICROSOFT'S DIRECTION — AD ISN'T RETIRING, BUT EVERY HYBRID PIECE IS MOVING</a:t>
            </a:r>
            <a:endParaRPr lang="en-US" sz="1200" dirty="0"/>
          </a:p>
        </p:txBody>
      </p:sp>
      <p:graphicFrame>
        <p:nvGraphicFramePr>
          <p:cNvPr id="16"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rap">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lift-and-shift trap: </a:t>
            </a: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9204890A-B37D-CD3B-6DE6-409B0CFD1B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B1F1D6-B5A3-4E56-9E62-BF499FABCED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20"/>
    </mc:Choice>
    <mc:Fallback>
      <p:transition spd="slow" advTm="55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2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ment">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CHAPTERS 02–03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THE ELEVEN DEPENDENCY TYPES (CHAPTER 04)</a:t>
            </a:r>
            <a:endParaRPr lang="en-US" sz="1200" dirty="0"/>
          </a:p>
        </p:txBody>
      </p:sp>
      <p:sp>
        <p:nvSpPr>
          <p:cNvPr id="9" name="Type 1">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marL="0" indent="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marL="0" indent="0">
              <a:buNone/>
            </a:pPr>
            <a:r>
              <a:rPr lang="en-US" sz="1400" b="1" dirty="0">
                <a:solidFill>
                  <a:srgbClr val="1F2A44"/>
                </a:solidFill>
              </a:rPr>
              <a:t>Users, computers, service accounts, groups, GPOs</a:t>
            </a:r>
            <a:endParaRPr lang="en-US" sz="1400" dirty="0"/>
          </a:p>
          <a:p>
            <a:pPr marL="0" indent="0">
              <a:buNone/>
            </a:pPr>
            <a:r>
              <a:rPr lang="en-US" sz="1300" dirty="0">
                <a:solidFill>
                  <a:schemeClr val="tx2"/>
                </a:solidFill>
              </a:rPr>
              <a:t>What most plans count</a:t>
            </a:r>
            <a:endParaRPr lang="en-US" sz="1400" dirty="0"/>
          </a:p>
        </p:txBody>
      </p:sp>
      <p:sp>
        <p:nvSpPr>
          <p:cNvPr id="12" name="Type 2">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marL="0" indent="0">
              <a:buNone/>
            </a:pPr>
            <a:r>
              <a:rPr lang="en-US" sz="1400" b="1" dirty="0">
                <a:solidFill>
                  <a:srgbClr val="B91C1C"/>
                </a:solidFill>
              </a:rPr>
              <a:t>DNS and DHCP, PKI, RADIUS and NPS, LDAP apps</a:t>
            </a:r>
            <a:endParaRPr lang="en-US" sz="1400" dirty="0"/>
          </a:p>
          <a:p>
            <a:pPr marL="0" indent="0">
              <a:buNone/>
            </a:pPr>
            <a:r>
              <a:rPr lang="en-US" sz="1300" dirty="0">
                <a:solidFill>
                  <a:schemeClr val="tx2"/>
                </a:solidFill>
              </a:rPr>
              <a:t>Fail silently when AD goes</a:t>
            </a:r>
            <a:endParaRPr lang="en-US" sz="1400" dirty="0"/>
          </a:p>
        </p:txBody>
      </p:sp>
      <p:sp>
        <p:nvSpPr>
          <p:cNvPr id="15" name="Type 3">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marL="0" indent="0">
              <a:buNone/>
            </a:pPr>
            <a:r>
              <a:rPr lang="en-US" sz="1400" b="1" dirty="0">
                <a:solidFill>
                  <a:srgbClr val="B45309"/>
                </a:solidFill>
              </a:rPr>
              <a:t>SPNs and service identities, trusts</a:t>
            </a:r>
            <a:endParaRPr lang="en-US" sz="1400" dirty="0"/>
          </a:p>
          <a:p>
            <a:pPr marL="0" indent="0">
              <a:buNone/>
            </a:pPr>
            <a:r>
              <a:rPr lang="en-US" sz="1300" dirty="0">
                <a:solidFill>
                  <a:schemeClr val="tx2"/>
                </a:solidFill>
              </a:rPr>
              <a:t>No direct Entra ID counterpart</a:t>
            </a:r>
            <a:endParaRPr lang="en-US" sz="1400" dirty="0"/>
          </a:p>
        </p:txBody>
      </p:sp>
      <p:sp>
        <p:nvSpPr>
          <p:cNvPr id="18" name="Adapters">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One adapter per dependency: </a:t>
            </a: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and limits, onPremisesExtensionAttributes, cross-tenant synchronization. Book 02, Chapters 02–04.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CA3F5B4-DBCE-DF6F-9415-2D55B8BDAE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7EE3E9-F207-4DC8-8023-B0E931E6C7A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BD112FB1-3A59-6CB1-3631-363A1E955F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25995F-27D4-4316-8EB3-7C8CCE4669B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690"/>
    </mc:Choice>
    <mc:Fallback>
      <p:transition spd="slow" advTm="2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68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Grants">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marL="0" indent="0">
              <a:buNone/>
            </a:pPr>
            <a:r>
              <a:rPr lang="en-US" sz="1350" b="1" dirty="0">
                <a:solidFill>
                  <a:srgbClr val="0F766E"/>
                </a:solidFill>
              </a:rPr>
              <a:t>Why it's broad: </a:t>
            </a: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r>
              <a:rPr lang="en-US" sz="1350" b="1" dirty="0">
                <a:solidFill>
                  <a:srgbClr val="0F766E"/>
                </a:solidFill>
              </a:rPr>
              <a:t>So run a pre-flight: </a:t>
            </a: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C4C2EA48-A91D-4F51-3CA6-772F64717E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070544-FEA3-4971-9942-0D5F0C55E78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40"/>
    </mc:Choice>
    <mc:Fallback>
      <p:transition spd="slow" advTm="4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4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DoorClosed">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Report measured coverage only: </a:t>
            </a: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7F891EEF-463E-F30F-99FF-43CCAD2BCC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59BD87-8E24-4F43-8E7F-848BEF987130}"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420"/>
    </mc:Choice>
    <mc:Fallback>
      <p:transition spd="slow" advTm="4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2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REQUEST'S FIXED RULES</a:t>
            </a:r>
            <a:endParaRPr lang="en-US" sz="1400" dirty="0"/>
          </a:p>
        </p:txBody>
      </p:sp>
      <p:sp>
        <p:nvSpPr>
          <p:cNvPr id="5"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558D30E9-2C7D-D1DA-826F-CAEF4E9E1F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B23764-9E0A-4932-981B-35104550703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B08A3EA-E10E-5598-A335-8136380B49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7C2D52-D421-43E0-8696-A7874BE61B2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860"/>
    </mc:Choice>
    <mc:Fallback>
      <p:transition spd="slow" advTm="2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efuse">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Host head"/>
          <p:cNvSpPr txBox="1"/>
          <p:nvPr/>
        </p:nvSpPr>
        <p:spPr>
          <a:xfrm>
            <a:off x="7909560" y="39959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FB12CC0-8ABE-12FB-2101-319E64AE18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2D7474-7C66-4F89-97B3-E5B6194408A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00"/>
    </mc:Choice>
    <mc:Fallback>
      <p:transition spd="slow" advTm="5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opolog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TOPOLOGY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OU HIERARCHY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GROUP POLICY</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024A8908-DB30-8353-5EA5-B6921BB364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21D082-0147-4EBA-BCD3-F9D78C8F63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marL="0" indent="0">
              <a:buNone/>
            </a:pPr>
            <a:r>
              <a:rPr lang="en-US" sz="1100" b="1" dirty="0">
                <a:solidFill>
                  <a:srgbClr val="64748B"/>
                </a:solidFill>
              </a:rPr>
              <a:t>THE CORRECTION THAT MATTERS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marL="0" indent="0">
              <a:buNone/>
            </a:pPr>
            <a:r>
              <a:rPr lang="en-US" sz="1300" b="1" dirty="0">
                <a:solidFill>
                  <a:srgbClr val="1F2A44"/>
                </a:solidFill>
              </a:rPr>
              <a:t>Naming: </a:t>
            </a: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5AD436B-8A44-C9B3-02CF-CFAB674A16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3B0773-3B3A-4966-A926-7353F608F0D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20"/>
    </mc:Choice>
    <mc:Fallback>
      <p:transition spd="slow" advTm="5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marL="0" indent="0">
              <a:buNone/>
            </a:pPr>
            <a:r>
              <a:rPr lang="en-US" sz="1300" b="1" dirty="0">
                <a:solidFill>
                  <a:srgbClr val="1F2A44"/>
                </a:solidFill>
              </a:rPr>
              <a:t>Staleness: </a:t>
            </a: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Limits">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8C236F51-D844-C1ED-C670-B79750F4D4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755E4E-F0ED-47EE-95F4-5992CEAE9D6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30"/>
    </mc:Choice>
    <mc:Fallback>
      <p:transition spd="slow" advTm="49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3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marL="0" indent="0">
              <a:buNone/>
            </a:pPr>
            <a:r>
              <a:rPr lang="en-US" sz="1300" b="1" dirty="0">
                <a:solidFill>
                  <a:srgbClr val="1F2A44"/>
                </a:solidFill>
              </a:rPr>
              <a:t>Keep the raw value too: </a:t>
            </a: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DIRECTION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595E85C-F0FE-7AAC-842A-E0EA477F48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52E0F8-5AF5-4957-B297-4A1470F04A5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marL="0" indent="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marL="0" indent="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marL="0" indent="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marL="0" indent="0">
              <a:spcAft>
                <a:spcPts val="300"/>
              </a:spcAft>
              <a:buNone/>
            </a:pPr>
            <a:r>
              <a:rPr lang="en-US" sz="1250" dirty="0">
                <a:solidFill>
                  <a:schemeClr val="tx2"/>
                </a:solidFill>
              </a:rPr>
              <a:t>Only critical PKI patterns and unconstrained delegation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marL="0" indent="0">
              <a:spcAft>
                <a:spcPts val="300"/>
              </a:spcAft>
              <a:buNone/>
            </a:pPr>
            <a:r>
              <a:rPr lang="en-US" sz="1250" dirty="0">
                <a:solidFill>
                  <a:schemeClr val="tx2"/>
                </a:solidFill>
              </a:rPr>
              <a:t>Artifacts feed the GPO, device, PKI, DNS and identity plans</a:t>
            </a:r>
            <a:endParaRPr lang="en-US" sz="1400" dirty="0"/>
          </a:p>
        </p:txBody>
      </p:sp>
      <p:sp>
        <p:nvSpPr>
          <p:cNvPr id="19" name="Drift">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DRIFT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HANDLING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9980C83-8A33-3510-C19A-95764BBD8D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F91985-4580-4367-B6C1-B9F39300BAE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40"/>
    </mc:Choice>
    <mc:Fallback>
      <p:transition spd="slow" advTm="5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A4F7BD2-7417-4882-0B44-6999BDC953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22B371-1FDF-4A2D-A70D-80999FF5C06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70"/>
    </mc:Choice>
    <mc:Fallback>
      <p:transition spd="slow" advTm="2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5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memberOf">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Replace any memberOf rule now: </a:t>
            </a: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C647E8C-08BA-D45B-8F8B-FA42A4BD43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0BDCCA-ECD0-4E55-B399-6A6F695E769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20"/>
    </mc:Choice>
    <mc:Fallback>
      <p:transition spd="slow" advTm="5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marL="0" indent="0">
              <a:buNone/>
            </a:pPr>
            <a:r>
              <a:rPr lang="en-US" sz="1300" b="1" dirty="0">
                <a:solidFill>
                  <a:srgbClr val="1F2A44"/>
                </a:solidFill>
              </a:rPr>
              <a:t>Two corrections to older guidance: </a:t>
            </a: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marL="0" indent="0">
              <a:buNone/>
            </a:pPr>
            <a:r>
              <a:rPr lang="en-US" sz="1100" b="1" dirty="0">
                <a:solidFill>
                  <a:srgbClr val="64748B"/>
                </a:solidFill>
              </a:rPr>
              <a:t>THE PROGRAM'S RULE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149AD66-D6E5-143A-5E01-3A91068EAE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D5DCB1-7368-4C4B-96BD-B8DB8EAE283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80"/>
    </mc:Choice>
    <mc:Fallback>
      <p:transition spd="slow" advTm="4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tch">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Since July 1, 2026: </a:t>
            </a: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8EC7A13-8334-7189-3BD8-4D3056BA9D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18A6A1-1107-47E3-A075-987097D0CC4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THE PER-GROUP DECISION</a:t>
            </a:r>
            <a:endParaRPr lang="en-US" sz="1200" dirty="0"/>
          </a:p>
        </p:txBody>
      </p:sp>
      <p:graphicFrame>
        <p:nvGraphicFramePr>
          <p:cNvPr id="20"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marL="0" indent="0">
              <a:buNone/>
            </a:pPr>
            <a:r>
              <a:rPr lang="en-US" sz="1200" b="1" dirty="0">
                <a:solidFill>
                  <a:srgbClr val="64748B"/>
                </a:solidFill>
              </a:rPr>
              <a:t>SERVICE ACCOUNTS: ELIMINATE STORED SECRETS</a:t>
            </a:r>
            <a:endParaRPr lang="en-US" sz="1200" dirty="0"/>
          </a:p>
        </p:txBody>
      </p:sp>
      <p:graphicFrame>
        <p:nvGraphicFramePr>
          <p:cNvPr id="39"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Federated credential: issuer, exact subject (no wildcards), audience; at most 20</a:t>
            </a:r>
            <a:endParaRPr lang="en-US" sz="1400" dirty="0"/>
          </a:p>
          <a:p>
            <a:pPr marL="342900" indent="-342900">
              <a:spcAft>
                <a:spcPts val="300"/>
              </a:spcAft>
              <a:buSzPct val="100000"/>
              <a:buChar char="•"/>
            </a:pPr>
            <a:r>
              <a:rPr lang="en-US" sz="1250" dirty="0">
                <a:solidFill>
                  <a:schemeClr val="tx2"/>
                </a:solidFill>
              </a:rPr>
              <a:t>Two human owners; no client secrets in production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0BC567F-FCEB-2351-979E-9B0A5D2BDD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4BB728-8613-453D-93B5-6A9FCC03575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60"/>
    </mc:Choice>
    <mc:Fallback>
      <p:transition spd="slow" advTm="5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1"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Emergency access: </a:t>
            </a: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EEB6CCF-203D-D781-D8A3-A4FFC501D4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C1DBAF-BE4B-4893-B41C-9B14F553A46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80"/>
    </mc:Choice>
    <mc:Fallback>
      <p:transition spd="slow" advTm="52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3"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Rollout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marL="0" indent="0">
              <a:spcAft>
                <a:spcPts val="300"/>
              </a:spcAft>
              <a:buNone/>
            </a:pPr>
            <a:r>
              <a:rPr lang="en-US" sz="1250" dirty="0">
                <a:solidFill>
                  <a:schemeClr val="tx2"/>
                </a:solidFill>
              </a:rPr>
              <a:t>2–4 weeks; fix false positives</a:t>
            </a:r>
            <a:endParaRPr lang="en-US" sz="1400" dirty="0"/>
          </a:p>
        </p:txBody>
      </p:sp>
      <p:sp>
        <p:nvSpPr>
          <p:cNvPr id="9" name="Rollout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marL="0" indent="0">
              <a:spcAft>
                <a:spcPts val="300"/>
              </a:spcAft>
              <a:buNone/>
            </a:pPr>
            <a:r>
              <a:rPr lang="en-US" sz="1250" dirty="0">
                <a:solidFill>
                  <a:schemeClr val="tx2"/>
                </a:solidFill>
              </a:rPr>
              <a:t>2 weeks; IT first</a:t>
            </a:r>
            <a:endParaRPr lang="en-US" sz="1400" dirty="0"/>
          </a:p>
        </p:txBody>
      </p:sp>
      <p:sp>
        <p:nvSpPr>
          <p:cNvPr id="12" name="Rollout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marL="0" indent="0">
              <a:spcAft>
                <a:spcPts val="300"/>
              </a:spcAft>
              <a:buNone/>
            </a:pPr>
            <a:r>
              <a:rPr lang="en-US" sz="1250" dirty="0">
                <a:solidFill>
                  <a:schemeClr val="tx2"/>
                </a:solidFill>
              </a:rPr>
              <a:t>4–8 weeks, each behind a gate</a:t>
            </a:r>
            <a:endParaRPr lang="en-US" sz="1400" dirty="0"/>
          </a:p>
        </p:txBody>
      </p:sp>
      <p:sp>
        <p:nvSpPr>
          <p:cNvPr id="15" name="Rollout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marL="0" indent="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9B4D112-80A6-4336-70CB-236E977FA9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4803E6-2CA0-40AE-8707-5B663386D6D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150"/>
    </mc:Choice>
    <mc:Fallback>
      <p:transition spd="slow" advTm="59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1EFB615-DAC9-1DC9-4110-DE64A18F79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8A0280-5D87-4EDB-8FFA-548C8FDDF57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420"/>
    </mc:Choice>
    <mc:Fallback>
      <p:transition spd="slow" advTm="2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4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JML 1">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marL="0" indent="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marL="0" indent="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marL="0" indent="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marL="0" indent="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marL="0" indent="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marL="0" indent="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marL="0" indent="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marL="0" indent="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4"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72F5734A-17DB-FC60-29C4-0209E720949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B849DB-A801-4E64-BC82-0310FB7B221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thods">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300"/>
              </a:spcAft>
              <a:buNone/>
            </a:pPr>
            <a:r>
              <a:rPr lang="en-US" sz="1250" dirty="0">
                <a:solidFill>
                  <a:schemeClr val="tx2"/>
                </a:solidFill>
              </a:rPr>
              <a:t>Sign-in logs and the legacy auth workbook</a:t>
            </a:r>
            <a:endParaRPr lang="en-US" sz="1400" dirty="0"/>
          </a:p>
        </p:txBody>
      </p:sp>
      <p:sp>
        <p:nvSpPr>
          <p:cNvPr id="11" name="Legacy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50" dirty="0">
                <a:solidFill>
                  <a:schemeClr val="tx2"/>
                </a:solidFill>
              </a:rPr>
              <a:t>OAuth 2.0, Graph mail APIs, or a relay</a:t>
            </a:r>
            <a:endParaRPr lang="en-US" sz="1400" dirty="0"/>
          </a:p>
        </p:txBody>
      </p:sp>
      <p:sp>
        <p:nvSpPr>
          <p:cNvPr id="14" name="Legacy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marL="0" indent="0">
              <a:spcAft>
                <a:spcPts val="300"/>
              </a:spcAft>
              <a:buNone/>
            </a:pPr>
            <a:r>
              <a:rPr lang="en-US" sz="1250" dirty="0">
                <a:solidFill>
                  <a:schemeClr val="tx2"/>
                </a:solidFill>
              </a:rPr>
              <a:t>Enforce CA001</a:t>
            </a:r>
            <a:endParaRPr lang="en-US" sz="1400" dirty="0"/>
          </a:p>
        </p:txBody>
      </p:sp>
      <p:sp>
        <p:nvSpPr>
          <p:cNvPr id="17" name="Legacy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marL="0" indent="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9524D263-879C-8EFE-0E75-25A9A5C008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751569-5DE0-4914-9765-5A1FF919934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20"/>
    </mc:Choice>
    <mc:Fallback>
      <p:transition spd="slow" advTm="55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720"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1"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Program estimates, not measurements: </a:t>
            </a: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319C895-C424-85C0-2870-447B2CD6C3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6B88B6-5F42-4078-A0A3-1E27F2F6682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marL="0" indent="0">
              <a:buNone/>
            </a:pPr>
            <a:r>
              <a:rPr lang="en-US" sz="1300" b="1" dirty="0">
                <a:solidFill>
                  <a:srgbClr val="1F2A44"/>
                </a:solidFill>
              </a:rPr>
              <a:t>Scheduled detections: </a:t>
            </a: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1F2A44"/>
                </a:solidFill>
              </a:rPr>
              <a:t>Drift in Git: </a:t>
            </a: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81BF3F6-1633-B946-E099-1C64FC009F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843DDF-6F01-4147-B987-7111A1E2F4C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60"/>
    </mc:Choice>
    <mc:Fallback>
      <p:transition spd="slow" advTm="54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rchetype">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marL="0" indent="0">
              <a:buNone/>
            </a:pPr>
            <a:r>
              <a:rPr lang="en-US" sz="1350" b="1" dirty="0">
                <a:solidFill>
                  <a:srgbClr val="1F2A44"/>
                </a:solidFill>
              </a:rPr>
              <a:t>The archetype (illustrative):  </a:t>
            </a: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8"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6235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98EC67D8-E88B-7F22-891E-DC37ACFB3D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C9371C-87DB-431A-97E6-FB696A6BDD5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30"/>
    </mc:Choice>
    <mc:Fallback>
      <p:transition spd="slow" advTm="57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8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ndle">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marL="0" indent="0">
              <a:buNone/>
            </a:pPr>
            <a:r>
              <a:rPr lang="en-US" sz="1100" b="1" dirty="0">
                <a:solidFill>
                  <a:srgbClr val="64748B"/>
                </a:solidFill>
              </a:rPr>
              <a:t>THE EVIDENCE BUNDLE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eShield">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agency keeps it: </a:t>
            </a: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06D588A-9F06-68EE-3BD3-592AC184D9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C69172-8775-4B65-8C2B-52A1F901E3C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20"/>
    </mc:Choice>
    <mc:Fallback>
      <p:transition spd="slow" advTm="5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14355</Words>
  <Application>Microsoft Office PowerPoint</Application>
  <PresentationFormat>Widescreen</PresentationFormat>
  <Paragraphs>857</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Identity &amp; Directory: the technical deep dive</vt:lpstr>
      <vt:lpstr>Why this matters: identity now decides access</vt:lpstr>
      <vt:lpstr>What the migration actually has to move</vt:lpstr>
      <vt:lpstr>Module 1: Read-only discovery</vt:lpstr>
      <vt:lpstr>What a standard account can read in a default forest</vt:lpstr>
      <vt:lpstr>Where the default read boundary sits</vt:lpstr>
      <vt:lpstr>From gap list to a narrow, time-bound delegation request</vt:lpstr>
      <vt:lpstr>Module 2: Assessing the forest</vt:lpstr>
      <vt:lpstr>Eight collection areas, each on the narrowest right</vt:lpstr>
      <vt:lpstr>Topology, OUs and Group Policy: what the inventory must get right</vt:lpstr>
      <vt:lpstr>AD CS: the escalation patterns the assessment checks</vt:lpstr>
      <vt:lpstr>Delegation, privileged groups and service accounts</vt:lpstr>
      <vt:lpstr>Trusts: decode the bits, state the direction plainly</vt:lpstr>
      <vt:lpstr>Every run is evidence: manifest, Git and drift</vt:lpstr>
      <vt:lpstr>Module 3: Building the Entra ID target</vt:lpstr>
      <vt:lpstr>Decompose first: where each AD construct lands, and its license</vt:lpstr>
      <vt:lpstr>Choosing the sync engine: Cloud Sync unless a Connect-only need applies</vt:lpstr>
      <vt:lpstr>Sign-in method and object matching</vt:lpstr>
      <vt:lpstr>Groups and service accounts: one recorded decision per object</vt:lpstr>
      <vt:lpstr>Privileged access: no standing admin, two break-glass accounts</vt:lpstr>
      <vt:lpstr>Conditional Access: personas, a baseline, and a staged rollout</vt:lpstr>
      <vt:lpstr>Module 4: Migrating, governing and proving it</vt:lpstr>
      <vt:lpstr>Governance runs as a loop: joiner, mover, leaver, review</vt:lpstr>
      <vt:lpstr>Phishing-resistant authentication, then the legacy cutoff</vt:lpstr>
      <vt:lpstr>The eleven-phase playbook: each phase gated on validation</vt:lpstr>
      <vt:lpstr>Proving it: logs, FedRAMP 20x indicators and drift</vt:lpstr>
      <vt:lpstr>Reference deployment: one estate, five gated phases</vt:lpstr>
      <vt:lpstr>What the assessor receives, and what the agency keeps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2</cp:revision>
  <dcterms:created xsi:type="dcterms:W3CDTF">2026-10-21T17:33:11Z</dcterms:created>
  <dcterms:modified xsi:type="dcterms:W3CDTF">2026-10-29T11:08:30Z</dcterms:modified>
</cp:coreProperties>
</file>