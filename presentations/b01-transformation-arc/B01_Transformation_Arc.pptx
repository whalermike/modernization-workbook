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t's hard" id="{be2b81a3-3d92-ab48-59e2-69f7c4c99016}">
          <p14:sldIdLst>
            <p14:sldId id="256"/>
            <p14:sldId id="257"/>
            <p14:sldId id="258"/>
            <p14:sldId id="259"/>
            <p14:sldId id="260"/>
          </p14:sldIdLst>
        </p14:section>
        <p14:section name="What changes" id="{bae83650-55a5-e096-5067-0c3685353ea3}">
          <p14:sldIdLst>
            <p14:sldId id="261"/>
            <p14:sldId id="262"/>
            <p14:sldId id="263"/>
            <p14:sldId id="264"/>
            <p14:sldId id="265"/>
            <p14:sldId id="266"/>
          </p14:sldIdLst>
        </p14:section>
        <p14:section name="Who leads" id="{33f96128-c92f-7eab-306a-6d0770169426}">
          <p14:sldIdLst>
            <p14:sldId id="267"/>
          </p14:sldIdLst>
        </p14:section>
        <p14:section name="How to do it" id="{991dde12-1b09-3c4d-60c8-15977979c116}">
          <p14:sldIdLst>
            <p14:sldId id="268"/>
            <p14:sldId id="269"/>
            <p14:sldId id="270"/>
            <p14:sldId id="271"/>
          </p14:sldIdLst>
        </p14:section>
        <p14:section name="Backup" id="{9217d95d-0437-3547-0196-7a3de1d9a18c}">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[0:00–0:35]  This briefing comes from Book 01 of the Federal Modernization Workbook, The Transformation Arc: the move from a domain-joined client-server estate to cloud identity, cloud device management and governed hybrid operations. Book 01 is the workbook's overview, and each part of it points to the book that carries the detail.
I'll take four questions: why modernization is so hard, what has to change, who leads it, and how to get there.
The short version: modernization is a governance rebuild, not a platform swap.
Workbook: Book 01, index; Chapter 01 — Why Modernization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[0:35–1:35]  Why is modernization so hard? The estate got here in four eras. Each solved a real problem, and none replaced what the first era had: one authoritative answer.
On the mainframe, one machine held the data and enforced access to it. By the late 1980s, regional databases and directories had spread that truth across a dozen systems. From 2010 the direction reversed. OMB reported that federal data centers had grown from 432 in 1998 to more than 1,100 in 2009, and the December 2010 reform plan targeted closing at least 800 by 2015, wiring offices back to distant facilities. Then email and collaboration moved to the cloud, while identity stayed in regional domains.
And each fix assumes the last one is done. Zero Trust assumes governed identity, governed identity assumes a clean directory, and a clean directory assumes someone owns it.
Workbook: Book 01, Chapter 01 — Why Modernization Is Hard (How the estate got here; The cascade; The bottom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[1:35–2:34]  Second, trust itself changed. In Active Directory a user signs in once and gets a Kerberos ticket-granting ticket that lasts 10 hours by default and renews for 7 days. An open connection isn't interrupted when its ticket expires, and an account disabled during the day can keep using tickets issued before.
Zero Trust decides each request against current policy. An Entra access token lasts one hour by default, or up to 28 hours with continuous access evaluation, because the service subscribes to events such as a disabled account and stops honoring the token in near real time. It's a badge checked at every door.
Distance doesn't break tickets. It hurts the trips to a domain controller: sign-in, password changes and policy. On the book's worked arithmetic, Portland to Washington has a floor of about 45 milliseconds round trip, whatever the bandwidth.
Workbook: Book 01, Chapter 01 — Why Modernization Is Hard (The session problem; What distance does and doesn't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[2:34–3:34]  Chapter 02 names the problem. Active Directory was the implicit governance model for every Windows-era service, and nobody wrote it down.
Microsoft's design guidance says organizational units exist to apply Group Policy and delegate authority, and that both inherit down the tree. So placing one user in an OU did five things at once. It handed the account to that branch's administrators, applied every policy linked along the path, fed the tools that built groups from position, bound it to the branch's delegation authority, and drew an audit boundary.
Entra ID has no OU tree. Dynamic groups follow attributes, and administrative units scope delegated roles but can't be nested. Neither rebuilds the tree on its own; the rebuild has to be written down.
And Microsoft still supports and enhances Active Directory, so retiring it is an agency decision, not a vendor deadline.
Workbook: Book 01, Chapter 02 — The Problem: Governance Hidden in the Directory (What breaks when AD goes away; The OU tree was the governance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[3:34–4:33]  Most "AD to Entra ID" projects are scoped around users, groups and mailboxes, the visible part. The program counts eleven categories of object that Active Directory governs: users, computers, service accounts, security groups, Group Policy, DNS and DHCP, certificate services, RADIUS, LDAP, service principal names and trusts. Migrate the users into a flat directory, declare victory, and the rest are left behind.
These failures rarely throw clear errors. A certificate doesn't renew because enrollment was never re-pointed. A device fails network access because a group lookup comes back empty. An LDAP application stops because its bind account was deleted with the domain.
Organizations rarely fail because they can't list objects. They fail because nobody treats five steps as a discipline: enumerate, map each dependency to a target, keep delegation continuous, deliver through a governed pipeline, and detect drift.
Workbook: Book 01, Chapter 02 — The Problem: Governance Hidden in the Directory (the eleven categories; Silent failure is the real enemy; Why naive migrations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[4:33–5:33]  Now, what changes. Before anything moves, the program needs one place where every decision is written down, signed and replayable. Chapter 03 describes a reference platform host: one Windows Server 2025 server, supported to November 2034, with a standby.
The host has five roles: a version-controlled source of truth with signed commits; a reverse proxy for TLS and client certificates; an authentication bridge to the legacy forest; the transformation engine; and an adapter per dependency category. What matters is a single authoritative writer.
Governance and execution never mix. One layer validates and signs plans but never touches a target. The other runs authorized plans but decides nothing, under separate accounts, credentials and logs. The host reads Active Directory read-only and is protected as Tier 0.
Book 05 covers servers under Azure Arc in depth, and Book 04 covers change as code with evidence.
Workbook: Book 01, Chapter 03 — The Platform Foundation. Depth: Book 05, Chapter 09; Book 04,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[5:33–6:29]  Identity comes first, because every later control reads the attributes. For the workforce, the authoritative source is the HR system of record, and OMB M-22-09 requires centralized identity management for agency users.
Four mechanisms rebuild what the OU tree did: attributes replace OU placement, dynamic groups replace OU-derived groups, administrative units replace OU delegation, and Conditional Access targeting replaces Group Policy inheritance. The program's contribution is the contract that binds them: one HR-sourced stamp drives membership, delegated scope, policy targeting, licensing and drift detection.
Two cautions. Dynamic membership usually updates within a few hours but can take more than 24, so design movers around that window. And HR provisioning must be the only writer of those attributes.
Tokens only work if this is right. Books 02 and 03 carry identity in depth.
Workbook: Book 01, Chapter 04 — Identity Transformation. Depth: Book 02 (Identity &amp; Directory), Book 03 (HR-Driven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[6:29–7:31]  Group Policy was Active Directory's most ambitious delivery system, and its most network-bound. A client applies it only when it can reach a domain controller, and every refresh is a trip to one. A cloud-native endpoint, Entra joined and in Intune, has no such dependency.
Don't port a fifty-setting GPO as fifty settings; that carries dead weight, old conflicts and manual targeting. Microsoft's recommended option is to start new rather than migrate. So the program regenerates one canonical policy per category, keyed to attributes, into Intune, Conditional Access and, for servers, Azure machine configuration, because Intune doesn't manage Windows Server.
Every change passes four stages: validation, a simulated tenant, a report-only pilot, then production. And prefer require to block, except where the federal SCuBA baseline demands a block, as for legacy authentication.
Book 05 covers the device detail in depth, and Book 04 the Conditional Access library.
Workbook: Book 01, Chapter 05 — Policy Transformation. Depth: Book 05 (Devices &amp; Endpoints), Book 04, Chapter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[7:31–8:32]  DNS, DHCP and address management are what agencies most often defer, because they still work. That's how they keep the old directory alive.
AD-integrated zones replicate with Active Directory, and domain-joined clients find domain controllers through records Netlogon registers in DNS, so DNS and AD retirement must be sequenced together. The target is a governed authority outside AD, Azure DNS Private Resolver as a forwarding bridge rather than an authority, and Azure private zones for cloud workloads.
A Windows DHCP server checks its authorization in AD every hour. That stops an unauthorized Windows server, not a rogue device. And one IPAM authority owns the address space; DNS and DHCP derive from it.
Leave the three for "Phase 2" and it rarely comes. A forest that still hosts DNS hasn't been retired. Book 08 covers the design in depth, and Book 09 the network underneath.
Workbook: Book 01, Chapter 06 — Network Services: DNS, DHCP and IPAM. Depth: Book 08 (DNS, DHCP &amp; IPAM), Book 09 (Network &amp;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[8:32–9:33]  Once identity, policy and services have moved, domain-joined PCs and servers are the largest remaining dependency. User PCs end Entra joined and in Intune. Servers come under Azure Arc and machine configuration.
Hybrid join is a waypoint. Microsoft says it shouldn't be anyone's end state, and there's no supported way to convert a hybrid-joined device to Entra join without resetting Windows, so time the move to a hardware refresh.
Every service principal name is an application that expects Kerberos, and each needs a decision: migrate it to modern authentication, retire it, or, as a last resort, island it with an end-of-life date. No server leaves the domain until every SPN on it is resolved, and NTLM goes in the same pass.
And compute stays with its data until profiling shows the round trips are reduced. Books 05 and 06 carry the detail in depth.
Workbook: Book 01, Chapter 07 — Compute Transformation. Depth: Book 05 (Devices &amp; Endpoints), Book 06 (Data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[9:33–10:34]  When Active Directory retires, being inside the network stops meaning anything. OMB M-22-09 says users should log into applications rather than networks.
The replacement has four surfaces: Zero Trust as the model, Conditional Access as the per-request decision, SASE as the edge, and phishing-resistant MFA as the proof. M-22-09 requires that MFA for staff, contractors and partners, and BOD 25-01 makes blocking legacy authentication mandatory.
Smart cards stay. Entra certificate-based authentication moves validation from the domain controller to Entra ID, but a card counts as phishing-resistant only if the binding policy makes it multifactor. And issuance needs a successor first, because an enterprise CA depends on AD DS.
Administrators hold no standing privilege: roles are eligible in Privileged Identity Management, and a vault covers what can't be made just in time. Book 04 covers the policy and privilege model in depth, and Book 07 the certificates.
Workbook: Book 01, Chapter 08 — The Access Plane. Depth: Book 04 (Access &amp; Privilege), Book 07 (PKI &amp; Certificates).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[10:34–11:35]  Who leads it? Chapter 09 puts it in one line: Microsoft provides the instruments; the program provides the orchestra. The tools are each excellent, but none of them decides what the organizational structure should become, or what to do with the findings, and no vendor deadline forces the decision.
So name one decider per row. The sponsor and CIO own scope, funding, sequence and when AD components retire. The authorizing official is the only official who can accept risk, so every deferred cutoff and Kerberos island reaches them. The CISO sets control requirements. The program office and its steward hold the repository and clear most gates. HR decides what worker attributes mean, application owners sign off their cutovers, and the records officer is consulted before any domain controller is decommissioned.
Each month, ask about the drift trend, signed changes and open risk acceptances.
Workbook: Book 01, Chapter 09 — Who Leads the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[11:35–12:37]  How do you get there? Start with an inventory. You can't modernize what you haven't enumerated, and nothing is retired until it's written down, read-only, with proof of how it was read.
The assessment account holds no write rights, the code imports no write commands, and every call is logged. A default authenticated account already reads more than most teams expect: the topology, the OU tree, most Group Policy, users, groups and certificate templates. A narrow second tier adds only server-side exports, never secrets. Every run records who, when, against what, and a hash of every file.
Eleven streams feed the risk scoring. One example: Windows Server 2012 extended updates through Arc ended on October 13, 2026, and Windows Server 2016 reaches end of support on January 12, 2027, so every such server needs a disposition.
And no application leaves its data until its transactions are profiled.
Workbook: Book 01, Chapter 10 — Analyzing the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[12:37–13:36]  Chapter 11 turns the inventory into change in three stages. Analyze builds current-state and target-state graphs and a diff. Plan expands the diff into typed actions, each scoped to one object, ordered by dependency and paired with its rollback. A plan must pass validation, then authorization by an approver of record who isn't the author. Only then does a separate execution identity deliver it, verifying every action and closing with an evidence packet.
The actuation ladder caps how far automation may go: record, observe, advise, gated actuation, and autonomy only for enumerated low-risk classes. Gated actuation is the default ceiling, because it's a posture an authorizing official can sign. CISA calls its maturity model a general guide, not a strict set of requirements, so this is design, not mandate.
When nothing has drifted, the next run produces a zero-action plan.
Workbook: Book 01, Chapter 11 — Analysis, Plan, Delivery; Chapter 03 (the control plane over the data planes).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[13:36–14:37]  Chapter 12 sequences everything as an illustrative fifty-two-week program: seven phases, from pre-flight to steady state, with five workstreams running in parallel. Large federal estates typically run multi-year; the weeks are a sequencing model, not a commitment.
A phase opens only when the last gate clears, and gates read from data: "zero drift for fourteen days" is a query, not a signature. The steward clears most gates; the sponsor and CIO sign the one that says Active Directory is retired.
Under it all is one structural move: separate truth from enforcement. A governance layer holds and reconciles authoritative state, while identity, network and device platforms enforce at runtime. Five principles follow: one authoritative source, application-aware networking, token-based identity, governing actively, and fewer synchronous round trips.
And read one clock correctly: FedRAMP's 2027 date governs cloud providers' certification. The agency still authorizes its own systems.
Workbook: Book 01, Chapter 12 — The Migration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[14:37–15:29]  So, four decisions.
Name the owners: one decider per row, starting with the sponsor, the authorizing official and the steward, and confirm who holds the zero trust implementation lead role M-22-09 required.
Run the read-only assessment, across all eleven categories, committed with provenance.
Stand up the platform host, so every change has one writer and a plan.
And set the dates: gate dates on the sponsor's calendar, and every exception's end date on the authorizing official's.
None of this requires a vendor decision on day one. Start with an inventory, an owner, and a date.
Modernization is a governance rebuild, not a platform swap. Book 01 is the map, and Books 02 to 09 carry each part in depth, every claim footnoted. Thank you.
Workbook: Book 01, Chapter 09 (What to do next); Chapter 12 (Where to start);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01 The Transformation Arc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Is Modernization So Hard?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01 — The Transformation Arc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eras built the estate; none kept one truth</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Era 1" descr="">
            <a:extLst>
              <a:ext uri="{C183D7F6-B498-43B3-948B-1728B52AA6E4}">
                <adec:decorative xmlns:adec="http://schemas.microsoft.com/office/drawing/2017/decorative" val="1"/>
              </a:ext>
            </a:extLst>
          </p:cNvPr>
          <p:cNvSpPr/>
          <p:nvPr/>
        </p:nvSpPr>
        <p:spPr>
          <a:xfrm>
            <a:off x="548640" y="1371600"/>
            <a:ext cx="2697480" cy="1783080"/>
          </a:xfrm>
          <a:prstGeom prst="roundRect">
            <a:avLst>
              <a:gd name="adj" fmla="val 41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Era 1 text"/>
          <p:cNvSpPr txBox="1"/>
          <p:nvPr/>
        </p:nvSpPr>
        <p:spPr>
          <a:xfrm>
            <a:off x="685800" y="1463040"/>
            <a:ext cx="2468880" cy="1600200"/>
          </a:xfrm>
          <a:prstGeom prst="rect">
            <a:avLst/>
          </a:prstGeom>
          <a:noFill/>
          <a:ln/>
        </p:spPr>
        <p:txBody>
          <a:bodyPr wrap="square" lIns="0" tIns="0" rIns="0" bIns="0" rtlCol="0" anchor="ctr"/>
          <a:lstStyle/>
          <a:p>
            <a:pPr indent="0" marL="0">
              <a:spcAft>
                <a:spcPts val="400"/>
              </a:spcAft>
              <a:buNone/>
            </a:pPr>
            <a:r>
              <a:rPr lang="en-US" sz="1500" b="1" dirty="0">
                <a:solidFill>
                  <a:srgbClr val="1F2A44"/>
                </a:solidFill>
              </a:rPr>
              <a:t>Mainframe</a:t>
            </a:r>
            <a:endParaRPr lang="en-US" sz="1400" dirty="0"/>
          </a:p>
          <a:p>
            <a:pPr indent="0" marL="0">
              <a:spcAft>
                <a:spcPts val="400"/>
              </a:spcAft>
              <a:buNone/>
            </a:pPr>
            <a:r>
              <a:rPr lang="en-US" sz="1350" dirty="0">
                <a:solidFill>
                  <a:schemeClr val="tx2"/>
                </a:solidFill>
              </a:rPr>
              <a:t>One machine held the data and enforced access to it</a:t>
            </a:r>
            <a:endParaRPr lang="en-US" sz="1400" dirty="0"/>
          </a:p>
        </p:txBody>
      </p:sp>
      <p:sp>
        <p:nvSpPr>
          <p:cNvPr id="7" name="Era 2" descr="">
            <a:extLst>
              <a:ext uri="{C183D7F6-B498-43B3-948B-1728B52AA6E4}">
                <adec:decorative xmlns:adec="http://schemas.microsoft.com/office/drawing/2017/decorative" val="1"/>
              </a:ext>
            </a:extLst>
          </p:cNvPr>
          <p:cNvSpPr/>
          <p:nvPr/>
        </p:nvSpPr>
        <p:spPr>
          <a:xfrm>
            <a:off x="3360420" y="1371600"/>
            <a:ext cx="2697480" cy="1783080"/>
          </a:xfrm>
          <a:prstGeom prst="roundRect">
            <a:avLst>
              <a:gd name="adj" fmla="val 410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Era 2 text"/>
          <p:cNvSpPr txBox="1"/>
          <p:nvPr/>
        </p:nvSpPr>
        <p:spPr>
          <a:xfrm>
            <a:off x="3497580" y="1463040"/>
            <a:ext cx="2468880" cy="1600200"/>
          </a:xfrm>
          <a:prstGeom prst="rect">
            <a:avLst/>
          </a:prstGeom>
          <a:noFill/>
          <a:ln/>
        </p:spPr>
        <p:txBody>
          <a:bodyPr wrap="square" lIns="0" tIns="0" rIns="0" bIns="0" rtlCol="0" anchor="ctr"/>
          <a:lstStyle/>
          <a:p>
            <a:pPr indent="0" marL="0">
              <a:spcAft>
                <a:spcPts val="400"/>
              </a:spcAft>
              <a:buNone/>
            </a:pPr>
            <a:r>
              <a:rPr lang="en-US" sz="1500" b="1" dirty="0">
                <a:solidFill>
                  <a:srgbClr val="B45309"/>
                </a:solidFill>
              </a:rPr>
              <a:t>Distributed, late 1980s</a:t>
            </a:r>
            <a:endParaRPr lang="en-US" sz="1400" dirty="0"/>
          </a:p>
          <a:p>
            <a:pPr indent="0" marL="0">
              <a:spcAft>
                <a:spcPts val="400"/>
              </a:spcAft>
              <a:buNone/>
            </a:pPr>
            <a:r>
              <a:rPr lang="en-US" sz="1350" dirty="0">
                <a:solidFill>
                  <a:schemeClr val="tx2"/>
                </a:solidFill>
              </a:rPr>
              <a:t>Regional databases and directories, each with its own rules</a:t>
            </a:r>
            <a:endParaRPr lang="en-US" sz="1400" dirty="0"/>
          </a:p>
        </p:txBody>
      </p:sp>
      <p:sp>
        <p:nvSpPr>
          <p:cNvPr id="9" name="Era 3" descr="">
            <a:extLst>
              <a:ext uri="{C183D7F6-B498-43B3-948B-1728B52AA6E4}">
                <adec:decorative xmlns:adec="http://schemas.microsoft.com/office/drawing/2017/decorative" val="1"/>
              </a:ext>
            </a:extLst>
          </p:cNvPr>
          <p:cNvSpPr/>
          <p:nvPr/>
        </p:nvSpPr>
        <p:spPr>
          <a:xfrm>
            <a:off x="6172200" y="1371600"/>
            <a:ext cx="2697480" cy="1783080"/>
          </a:xfrm>
          <a:prstGeom prst="roundRect">
            <a:avLst>
              <a:gd name="adj" fmla="val 410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Era 3 text"/>
          <p:cNvSpPr txBox="1"/>
          <p:nvPr/>
        </p:nvSpPr>
        <p:spPr>
          <a:xfrm>
            <a:off x="6309360" y="1463040"/>
            <a:ext cx="2468880" cy="1600200"/>
          </a:xfrm>
          <a:prstGeom prst="rect">
            <a:avLst/>
          </a:prstGeom>
          <a:noFill/>
          <a:ln/>
        </p:spPr>
        <p:txBody>
          <a:bodyPr wrap="square" lIns="0" tIns="0" rIns="0" bIns="0" rtlCol="0" anchor="ctr"/>
          <a:lstStyle/>
          <a:p>
            <a:pPr indent="0" marL="0">
              <a:spcAft>
                <a:spcPts val="400"/>
              </a:spcAft>
              <a:buNone/>
            </a:pPr>
            <a:r>
              <a:rPr lang="en-US" sz="1500" b="1" dirty="0">
                <a:solidFill>
                  <a:srgbClr val="B45309"/>
                </a:solidFill>
              </a:rPr>
              <a:t>Consolidation, from 2010</a:t>
            </a:r>
            <a:endParaRPr lang="en-US" sz="1400" dirty="0"/>
          </a:p>
          <a:p>
            <a:pPr indent="0" marL="0">
              <a:spcAft>
                <a:spcPts val="400"/>
              </a:spcAft>
              <a:buNone/>
            </a:pPr>
            <a:r>
              <a:rPr lang="en-US" sz="1350" dirty="0">
                <a:solidFill>
                  <a:schemeClr val="tx2"/>
                </a:solidFill>
              </a:rPr>
              <a:t>Offices wired back to distant data centers through inspection</a:t>
            </a:r>
            <a:endParaRPr lang="en-US" sz="1400" dirty="0"/>
          </a:p>
        </p:txBody>
      </p:sp>
      <p:sp>
        <p:nvSpPr>
          <p:cNvPr id="11" name="Era 4" descr="">
            <a:extLst>
              <a:ext uri="{C183D7F6-B498-43B3-948B-1728B52AA6E4}">
                <adec:decorative xmlns:adec="http://schemas.microsoft.com/office/drawing/2017/decorative" val="1"/>
              </a:ext>
            </a:extLst>
          </p:cNvPr>
          <p:cNvSpPr/>
          <p:nvPr/>
        </p:nvSpPr>
        <p:spPr>
          <a:xfrm>
            <a:off x="8983980" y="1371600"/>
            <a:ext cx="2697480" cy="1783080"/>
          </a:xfrm>
          <a:prstGeom prst="roundRect">
            <a:avLst>
              <a:gd name="adj" fmla="val 41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Era 4 text"/>
          <p:cNvSpPr txBox="1"/>
          <p:nvPr/>
        </p:nvSpPr>
        <p:spPr>
          <a:xfrm>
            <a:off x="9121140" y="1463040"/>
            <a:ext cx="2468880" cy="1600200"/>
          </a:xfrm>
          <a:prstGeom prst="rect">
            <a:avLst/>
          </a:prstGeom>
          <a:noFill/>
          <a:ln/>
        </p:spPr>
        <p:txBody>
          <a:bodyPr wrap="square" lIns="0" tIns="0" rIns="0" bIns="0" rtlCol="0" anchor="ctr"/>
          <a:lstStyle/>
          <a:p>
            <a:pPr indent="0" marL="0">
              <a:spcAft>
                <a:spcPts val="400"/>
              </a:spcAft>
              <a:buNone/>
            </a:pPr>
            <a:r>
              <a:rPr lang="en-US" sz="1500" b="1" dirty="0">
                <a:solidFill>
                  <a:srgbClr val="B91C1C"/>
                </a:solidFill>
              </a:rPr>
              <a:t>The breaking point</a:t>
            </a:r>
            <a:endParaRPr lang="en-US" sz="1400" dirty="0"/>
          </a:p>
          <a:p>
            <a:pPr indent="0" marL="0">
              <a:spcAft>
                <a:spcPts val="400"/>
              </a:spcAft>
              <a:buNone/>
            </a:pPr>
            <a:r>
              <a:rPr lang="en-US" sz="1350" dirty="0">
                <a:solidFill>
                  <a:schemeClr val="tx2"/>
                </a:solidFill>
              </a:rPr>
              <a:t>Microsoft 365 and several clouds; identity still in regional domains</a:t>
            </a:r>
            <a:endParaRPr lang="en-US" sz="1400" dirty="0"/>
          </a:p>
        </p:txBody>
      </p:sp>
      <p:sp>
        <p:nvSpPr>
          <p:cNvPr id="13" name="Stat 1" descr="">
            <a:extLst>
              <a:ext uri="{C183D7F6-B498-43B3-948B-1728B52AA6E4}">
                <adec:decorative xmlns:adec="http://schemas.microsoft.com/office/drawing/2017/decorative" val="1"/>
              </a:ext>
            </a:extLst>
          </p:cNvPr>
          <p:cNvSpPr/>
          <p:nvPr/>
        </p:nvSpPr>
        <p:spPr>
          <a:xfrm>
            <a:off x="548640" y="3337560"/>
            <a:ext cx="3611880" cy="1280160"/>
          </a:xfrm>
          <a:prstGeom prst="roundRect">
            <a:avLst>
              <a:gd name="adj" fmla="val 571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4" name="Stat 1 text"/>
          <p:cNvSpPr txBox="1"/>
          <p:nvPr/>
        </p:nvSpPr>
        <p:spPr>
          <a:xfrm>
            <a:off x="777240" y="3401568"/>
            <a:ext cx="3200400" cy="1152144"/>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432</a:t>
            </a:r>
            <a:endParaRPr lang="en-US" sz="1400" dirty="0"/>
          </a:p>
          <a:p>
            <a:pPr indent="0" marL="0">
              <a:buNone/>
            </a:pPr>
            <a:r>
              <a:rPr lang="en-US" sz="1350" dirty="0">
                <a:solidFill>
                  <a:schemeClr val="tx2"/>
                </a:solidFill>
              </a:rPr>
              <a:t>federal data centers reported in 1998</a:t>
            </a:r>
            <a:endParaRPr lang="en-US" sz="1400" dirty="0"/>
          </a:p>
        </p:txBody>
      </p:sp>
      <p:sp>
        <p:nvSpPr>
          <p:cNvPr id="15" name="Stat 2" descr="">
            <a:extLst>
              <a:ext uri="{C183D7F6-B498-43B3-948B-1728B52AA6E4}">
                <adec:decorative xmlns:adec="http://schemas.microsoft.com/office/drawing/2017/decorative" val="1"/>
              </a:ext>
            </a:extLst>
          </p:cNvPr>
          <p:cNvSpPr/>
          <p:nvPr/>
        </p:nvSpPr>
        <p:spPr>
          <a:xfrm>
            <a:off x="4297680" y="3337560"/>
            <a:ext cx="3611880" cy="1280160"/>
          </a:xfrm>
          <a:prstGeom prst="roundRect">
            <a:avLst>
              <a:gd name="adj" fmla="val 571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6" name="Stat 2 text"/>
          <p:cNvSpPr txBox="1"/>
          <p:nvPr/>
        </p:nvSpPr>
        <p:spPr>
          <a:xfrm>
            <a:off x="4526280" y="3401568"/>
            <a:ext cx="3200400" cy="1152144"/>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1,100+</a:t>
            </a:r>
            <a:endParaRPr lang="en-US" sz="1400" dirty="0"/>
          </a:p>
          <a:p>
            <a:pPr indent="0" marL="0">
              <a:buNone/>
            </a:pPr>
            <a:r>
              <a:rPr lang="en-US" sz="1350" dirty="0">
                <a:solidFill>
                  <a:schemeClr val="tx2"/>
                </a:solidFill>
              </a:rPr>
              <a:t>reported in 2009</a:t>
            </a:r>
            <a:endParaRPr lang="en-US" sz="1400" dirty="0"/>
          </a:p>
        </p:txBody>
      </p:sp>
      <p:sp>
        <p:nvSpPr>
          <p:cNvPr id="17" name="Stat 3" descr="">
            <a:extLst>
              <a:ext uri="{C183D7F6-B498-43B3-948B-1728B52AA6E4}">
                <adec:decorative xmlns:adec="http://schemas.microsoft.com/office/drawing/2017/decorative" val="1"/>
              </a:ext>
            </a:extLst>
          </p:cNvPr>
          <p:cNvSpPr/>
          <p:nvPr/>
        </p:nvSpPr>
        <p:spPr>
          <a:xfrm>
            <a:off x="8046720" y="3337560"/>
            <a:ext cx="3611880" cy="1280160"/>
          </a:xfrm>
          <a:prstGeom prst="roundRect">
            <a:avLst>
              <a:gd name="adj" fmla="val 571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8" name="Stat 3 text"/>
          <p:cNvSpPr txBox="1"/>
          <p:nvPr/>
        </p:nvSpPr>
        <p:spPr>
          <a:xfrm>
            <a:off x="8275320" y="3401568"/>
            <a:ext cx="3200400" cy="1152144"/>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800</a:t>
            </a:r>
            <a:endParaRPr lang="en-US" sz="1400" dirty="0"/>
          </a:p>
          <a:p>
            <a:pPr indent="0" marL="0">
              <a:buNone/>
            </a:pPr>
            <a:r>
              <a:rPr lang="en-US" sz="1350" dirty="0">
                <a:solidFill>
                  <a:schemeClr val="tx2"/>
                </a:solidFill>
              </a:rPr>
              <a:t>the December 2010 target for closures by 2015</a:t>
            </a:r>
            <a:endParaRPr lang="en-US" sz="1400" dirty="0"/>
          </a:p>
        </p:txBody>
      </p:sp>
      <p:sp>
        <p:nvSpPr>
          <p:cNvPr id="19" name="Cascad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ArrowDownWideShort"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22" name="Cascad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Each fix assumes the last one is done: </a:t>
            </a:r>
            <a:pPr indent="0" marL="0">
              <a:buNone/>
            </a:pPr>
            <a:r>
              <a:rPr lang="en-US" sz="1650" dirty="0">
                <a:solidFill>
                  <a:schemeClr val="tx2"/>
                </a:solidFill>
              </a:rPr>
              <a:t>Zero Trust assumes governed identity, governed identity assumes a clean directory, and a clean directory assumes someone owns it. Start with the foundation, not the mandate.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Federal Data Center Consolidation Initiative (February 26, 2010); 25 Point Implementation Plan to Reform Federal IT (December 9, 2010). Book 01,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Sessions carried trust; tokens are checked each time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anel 1" descr="">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Clock" descr="">
            <a:extLst>
              <a:ext uri="{C183D7F6-B498-43B3-948B-1728B52AA6E4}">
                <adec:decorative xmlns:adec="http://schemas.microsoft.com/office/drawing/2017/decorative" val="1"/>
              </a:ext>
            </a:extLst>
          </p:cNvPr>
          <p:cNvSpPr/>
          <p:nvPr/>
        </p:nvSpPr>
        <p:spPr>
          <a:xfrm>
            <a:off x="749808" y="1536192"/>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72255"/>
            <a:ext cx="294803" cy="294803"/>
          </a:xfrm>
          <a:prstGeom prst="rect">
            <a:avLst/>
          </a:prstGeom>
        </p:spPr>
      </p:pic>
      <p:sp>
        <p:nvSpPr>
          <p:cNvPr id="8" name="Panel head 1"/>
          <p:cNvSpPr txBox="1"/>
          <p:nvPr/>
        </p:nvSpPr>
        <p:spPr>
          <a:xfrm>
            <a:off x="1463040" y="1536192"/>
            <a:ext cx="4434840" cy="56692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Sessions: Kerberos in AD</a:t>
            </a:r>
            <a:endParaRPr lang="en-US" sz="1800" dirty="0"/>
          </a:p>
        </p:txBody>
      </p:sp>
      <p:sp>
        <p:nvSpPr>
          <p:cNvPr id="9" name="Panel text 1"/>
          <p:cNvSpPr txBox="1"/>
          <p:nvPr/>
        </p:nvSpPr>
        <p:spPr>
          <a:xfrm>
            <a:off x="822960" y="2286000"/>
            <a:ext cx="502920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Sign in once: the ticket lasts 10 hours, renewable for 7 days</a:t>
            </a:r>
            <a:endParaRPr lang="en-US" sz="1400" dirty="0"/>
          </a:p>
          <a:p>
            <a:pPr marL="342900" indent="-342900">
              <a:spcAft>
                <a:spcPts val="800"/>
              </a:spcAft>
              <a:buSzPct val="100000"/>
              <a:buChar char="•"/>
            </a:pPr>
            <a:r>
              <a:rPr lang="en-US" sz="1500" dirty="0">
                <a:solidFill>
                  <a:schemeClr val="tx2"/>
                </a:solidFill>
              </a:rPr>
              <a:t>Service tickets last 600 minutes</a:t>
            </a:r>
            <a:endParaRPr lang="en-US" sz="1400" dirty="0"/>
          </a:p>
          <a:p>
            <a:pPr marL="342900" indent="-342900">
              <a:spcAft>
                <a:spcPts val="800"/>
              </a:spcAft>
              <a:buSzPct val="100000"/>
              <a:buChar char="•"/>
            </a:pPr>
            <a:r>
              <a:rPr lang="en-US" sz="1500" dirty="0">
                <a:solidFill>
                  <a:schemeClr val="tx2"/>
                </a:solidFill>
              </a:rPr>
              <a:t>Open connections survive a ticket's expiry</a:t>
            </a:r>
            <a:endParaRPr lang="en-US" sz="1400" dirty="0"/>
          </a:p>
          <a:p>
            <a:pPr marL="342900" indent="-342900">
              <a:spcAft>
                <a:spcPts val="800"/>
              </a:spcAft>
              <a:buSzPct val="100000"/>
              <a:buChar char="•"/>
            </a:pPr>
            <a:r>
              <a:rPr lang="en-US" sz="1500" dirty="0">
                <a:solidFill>
                  <a:schemeClr val="tx2"/>
                </a:solidFill>
              </a:rPr>
              <a:t>A disabled account keeps its earlier tickets</a:t>
            </a:r>
            <a:endParaRPr lang="en-US" sz="1400" dirty="0"/>
          </a:p>
        </p:txBody>
      </p:sp>
      <p:sp>
        <p:nvSpPr>
          <p:cNvPr id="10" name="Panel 2" descr="">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IdCard" descr="">
            <a:extLst>
              <a:ext uri="{C183D7F6-B498-43B3-948B-1728B52AA6E4}">
                <adec:decorative xmlns:adec="http://schemas.microsoft.com/office/drawing/2017/decorative" val="1"/>
              </a:ext>
            </a:extLst>
          </p:cNvPr>
          <p:cNvSpPr/>
          <p:nvPr/>
        </p:nvSpPr>
        <p:spPr>
          <a:xfrm>
            <a:off x="6373368" y="1536192"/>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9431" y="1672255"/>
            <a:ext cx="294803" cy="294803"/>
          </a:xfrm>
          <a:prstGeom prst="rect">
            <a:avLst/>
          </a:prstGeom>
        </p:spPr>
      </p:pic>
      <p:sp>
        <p:nvSpPr>
          <p:cNvPr id="13" name="Panel head 2"/>
          <p:cNvSpPr txBox="1"/>
          <p:nvPr/>
        </p:nvSpPr>
        <p:spPr>
          <a:xfrm>
            <a:off x="7086600" y="1536192"/>
            <a:ext cx="4434840" cy="566928"/>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Tokens: Entra ID</a:t>
            </a:r>
            <a:endParaRPr lang="en-US" sz="1800" dirty="0"/>
          </a:p>
        </p:txBody>
      </p:sp>
      <p:sp>
        <p:nvSpPr>
          <p:cNvPr id="14" name="Panel text 2"/>
          <p:cNvSpPr txBox="1"/>
          <p:nvPr/>
        </p:nvSpPr>
        <p:spPr>
          <a:xfrm>
            <a:off x="6446520" y="2286000"/>
            <a:ext cx="502920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Each token request is checked against policy</a:t>
            </a:r>
            <a:endParaRPr lang="en-US" sz="1400" dirty="0"/>
          </a:p>
          <a:p>
            <a:pPr marL="342900" indent="-342900">
              <a:spcAft>
                <a:spcPts val="800"/>
              </a:spcAft>
              <a:buSzPct val="100000"/>
              <a:buChar char="•"/>
            </a:pPr>
            <a:r>
              <a:rPr lang="en-US" sz="1500" dirty="0">
                <a:solidFill>
                  <a:schemeClr val="tx2"/>
                </a:solidFill>
              </a:rPr>
              <a:t>An access token lasts one hour by default</a:t>
            </a:r>
            <a:endParaRPr lang="en-US" sz="1400" dirty="0"/>
          </a:p>
          <a:p>
            <a:pPr marL="342900" indent="-342900">
              <a:spcAft>
                <a:spcPts val="800"/>
              </a:spcAft>
              <a:buSzPct val="100000"/>
              <a:buChar char="•"/>
            </a:pPr>
            <a:r>
              <a:rPr lang="en-US" sz="1500" dirty="0">
                <a:solidFill>
                  <a:schemeClr val="tx2"/>
                </a:solidFill>
              </a:rPr>
              <a:t>With CAE, up to 28 hours, revoked on critical events</a:t>
            </a:r>
            <a:endParaRPr lang="en-US" sz="1400" dirty="0"/>
          </a:p>
          <a:p>
            <a:pPr marL="342900" indent="-342900">
              <a:spcAft>
                <a:spcPts val="800"/>
              </a:spcAft>
              <a:buSzPct val="100000"/>
              <a:buChar char="•"/>
            </a:pPr>
            <a:r>
              <a:rPr lang="en-US" sz="1500" dirty="0">
                <a:solidFill>
                  <a:schemeClr val="tx2"/>
                </a:solidFill>
              </a:rPr>
              <a:t>Event propagation can take up to 15 minutes</a:t>
            </a:r>
            <a:endParaRPr lang="en-US" sz="1400" dirty="0"/>
          </a:p>
        </p:txBody>
      </p:sp>
      <p:sp>
        <p:nvSpPr>
          <p:cNvPr id="15" name="Distanc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18" name="Distanc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Distance costs domain-controller trips, not tickets: </a:t>
            </a:r>
            <a:pPr indent="0" marL="0">
              <a:buNone/>
            </a:pPr>
            <a:r>
              <a:rPr lang="en-US" sz="1650" dirty="0">
                <a:solidFill>
                  <a:schemeClr val="tx2"/>
                </a:solidFill>
              </a:rPr>
              <a:t>NAT doesn't break Kerberos, and the famous five minutes is clock skew. Sign-in, password change and policy need a DC; Portland to Washington is about a 45 ms round-trip floor.</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Max-Ticket-Age, Max-Renew-Age, service ticket lifetime, continuous access evaluation, KDC keys, hybrid join; RFC 4120; ITU-T G.114. Book 01,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OU tree was the governance tree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Did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ONE OU PLACEMENT DID FIVE THINGS AT ONCE</a:t>
            </a:r>
            <a:endParaRPr lang="en-US" sz="1200" dirty="0"/>
          </a:p>
        </p:txBody>
      </p:sp>
      <p:sp>
        <p:nvSpPr>
          <p:cNvPr id="6" name="Did 0" descr="">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Did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Delegated admins   </a:t>
            </a:r>
            <a:pPr indent="0" marL="0">
              <a:buNone/>
            </a:pPr>
            <a:r>
              <a:rPr lang="en-US" sz="1400" dirty="0">
                <a:solidFill>
                  <a:schemeClr val="tx2"/>
                </a:solidFill>
              </a:rPr>
              <a:t>The branch's admins got the account</a:t>
            </a:r>
            <a:endParaRPr lang="en-US" sz="1400" dirty="0"/>
          </a:p>
        </p:txBody>
      </p:sp>
      <p:sp>
        <p:nvSpPr>
          <p:cNvPr id="8" name="Did 1" descr="">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Did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Inherited Group Policy   </a:t>
            </a:r>
            <a:pPr indent="0" marL="0">
              <a:buNone/>
            </a:pPr>
            <a:r>
              <a:rPr lang="en-US" sz="1400" dirty="0">
                <a:solidFill>
                  <a:schemeClr val="tx2"/>
                </a:solidFill>
              </a:rPr>
              <a:t>Every GPO along the path applied</a:t>
            </a:r>
            <a:endParaRPr lang="en-US" sz="1400" dirty="0"/>
          </a:p>
        </p:txBody>
      </p:sp>
      <p:sp>
        <p:nvSpPr>
          <p:cNvPr id="10" name="Did 2" descr="">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Did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Group membership   </a:t>
            </a:r>
            <a:pPr indent="0" marL="0">
              <a:buNone/>
            </a:pPr>
            <a:r>
              <a:rPr lang="en-US" sz="1400" dirty="0">
                <a:solidFill>
                  <a:schemeClr val="tx2"/>
                </a:solidFill>
              </a:rPr>
              <a:t>Tools built groups from OU position</a:t>
            </a:r>
            <a:endParaRPr lang="en-US" sz="1400" dirty="0"/>
          </a:p>
        </p:txBody>
      </p:sp>
      <p:sp>
        <p:nvSpPr>
          <p:cNvPr id="12" name="Did 3" descr="">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Did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Delegation authority   </a:t>
            </a:r>
            <a:pPr indent="0" marL="0">
              <a:buNone/>
            </a:pPr>
            <a:r>
              <a:rPr lang="en-US" sz="1400" dirty="0">
                <a:solidFill>
                  <a:schemeClr val="tx2"/>
                </a:solidFill>
              </a:rPr>
              <a:t>Bound to that branch's authority</a:t>
            </a:r>
            <a:endParaRPr lang="en-US" sz="1400" dirty="0"/>
          </a:p>
        </p:txBody>
      </p:sp>
      <p:sp>
        <p:nvSpPr>
          <p:cNvPr id="14" name="Did 4" descr="">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Did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Audit boundary   </a:t>
            </a:r>
            <a:pPr indent="0" marL="0">
              <a:buNone/>
            </a:pPr>
            <a:r>
              <a:rPr lang="en-US" sz="1400" dirty="0">
                <a:solidFill>
                  <a:schemeClr val="tx2"/>
                </a:solidFill>
              </a:rPr>
              <a:t>Operational responsibility drawn</a:t>
            </a:r>
            <a:endParaRPr lang="en-US" sz="1400" dirty="0"/>
          </a:p>
        </p:txBody>
      </p:sp>
      <p:sp>
        <p:nvSpPr>
          <p:cNvPr id="16" name="Entra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Sitemap"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Entra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WHAT ENTRA ID HAS INSTEAD</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No tree: rebuild it explicitly</a:t>
            </a:r>
            <a:endParaRPr lang="en-US" sz="1400" dirty="0"/>
          </a:p>
        </p:txBody>
      </p:sp>
      <p:sp>
        <p:nvSpPr>
          <p:cNvPr id="20" name="Entra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Attributes carry organizational position</a:t>
            </a:r>
            <a:endParaRPr lang="en-US" sz="1400" dirty="0"/>
          </a:p>
          <a:p>
            <a:pPr marL="342900" indent="-342900">
              <a:spcAft>
                <a:spcPts val="600"/>
              </a:spcAft>
              <a:buSzPct val="100000"/>
              <a:buChar char="•"/>
            </a:pPr>
            <a:r>
              <a:rPr lang="en-US" sz="1450" dirty="0">
                <a:solidFill>
                  <a:schemeClr val="tx2"/>
                </a:solidFill>
              </a:rPr>
              <a:t>Dynamic groups: membership follows attributes</a:t>
            </a:r>
            <a:endParaRPr lang="en-US" sz="1400" dirty="0"/>
          </a:p>
          <a:p>
            <a:pPr marL="342900" indent="-342900">
              <a:spcAft>
                <a:spcPts val="600"/>
              </a:spcAft>
              <a:buSzPct val="100000"/>
              <a:buChar char="•"/>
            </a:pPr>
            <a:r>
              <a:rPr lang="en-US" sz="1450" dirty="0">
                <a:solidFill>
                  <a:schemeClr val="tx2"/>
                </a:solidFill>
              </a:rPr>
              <a:t>Administrative units scope roles; they can't nest</a:t>
            </a:r>
            <a:endParaRPr lang="en-US" sz="1400" dirty="0"/>
          </a:p>
          <a:p>
            <a:pPr marL="342900" indent="-342900">
              <a:spcAft>
                <a:spcPts val="600"/>
              </a:spcAft>
              <a:buSzPct val="100000"/>
              <a:buChar char="•"/>
            </a:pPr>
            <a:r>
              <a:rPr lang="en-US" sz="1450" dirty="0">
                <a:solidFill>
                  <a:schemeClr val="tx2"/>
                </a:solidFill>
              </a:rPr>
              <a:t>Conditional Access enforces access policy</a:t>
            </a:r>
            <a:endParaRPr lang="en-US" sz="1400" dirty="0"/>
          </a:p>
        </p:txBody>
      </p:sp>
      <p:sp>
        <p:nvSpPr>
          <p:cNvPr id="21" name="Decision"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Landmark"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4" name="Decision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Retiring AD is an agency decision: </a:t>
            </a:r>
            <a:pPr indent="0" marL="0">
              <a:buNone/>
            </a:pPr>
            <a:r>
              <a:rPr lang="en-US" sz="1650" dirty="0">
                <a:solidFill>
                  <a:schemeClr val="tx2"/>
                </a:solidFill>
              </a:rPr>
              <a:t>Microsoft still supports and enhances Active Directory. What changed is where it invests: a cloud-first, AD-minimized model, reached in phases.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delegating administration by OU, Group Policy overview, dynamic membership groups, administrative units, cloud-first identity guidance. Book 01,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Eleven categories, and the failures are silent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Hidden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sGear"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Hidden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plans count</a:t>
            </a:r>
            <a:endParaRPr lang="en-US" sz="1700" dirty="0"/>
          </a:p>
        </p:txBody>
      </p:sp>
      <p:sp>
        <p:nvSpPr>
          <p:cNvPr id="9" name="Hidden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Users</a:t>
            </a:r>
            <a:endParaRPr lang="en-US" sz="1400" dirty="0"/>
          </a:p>
          <a:p>
            <a:pPr marL="342900" indent="-342900">
              <a:spcAft>
                <a:spcPts val="600"/>
              </a:spcAft>
              <a:buSzPct val="100000"/>
              <a:buChar char="•"/>
            </a:pPr>
            <a:r>
              <a:rPr lang="en-US" sz="1350" dirty="0">
                <a:solidFill>
                  <a:schemeClr val="tx2"/>
                </a:solidFill>
              </a:rPr>
              <a:t>Computers</a:t>
            </a:r>
            <a:endParaRPr lang="en-US" sz="1400" dirty="0"/>
          </a:p>
          <a:p>
            <a:pPr marL="342900" indent="-342900">
              <a:spcAft>
                <a:spcPts val="600"/>
              </a:spcAft>
              <a:buSzPct val="100000"/>
              <a:buChar char="•"/>
            </a:pPr>
            <a:r>
              <a:rPr lang="en-US" sz="1350" dirty="0">
                <a:solidFill>
                  <a:schemeClr val="tx2"/>
                </a:solidFill>
              </a:rPr>
              <a:t>Security groups</a:t>
            </a:r>
            <a:endParaRPr lang="en-US" sz="1400" dirty="0"/>
          </a:p>
          <a:p>
            <a:pPr marL="342900" indent="-342900">
              <a:spcAft>
                <a:spcPts val="600"/>
              </a:spcAft>
              <a:buSzPct val="100000"/>
              <a:buChar char="•"/>
            </a:pPr>
            <a:r>
              <a:rPr lang="en-US" sz="1350" dirty="0">
                <a:solidFill>
                  <a:schemeClr val="tx2"/>
                </a:solidFill>
              </a:rPr>
              <a:t>Group Policy Objects</a:t>
            </a:r>
            <a:endParaRPr lang="en-US" sz="1400" dirty="0"/>
          </a:p>
        </p:txBody>
      </p:sp>
      <p:sp>
        <p:nvSpPr>
          <p:cNvPr id="10" name="Hidden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PlugCircleXmark"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91C1C"/>
          </a:solidFill>
          <a:ln w="12700">
            <a:solidFill>
              <a:srgbClr val="B91C1C"/>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Hidden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they miss</a:t>
            </a:r>
            <a:endParaRPr lang="en-US" sz="1700" dirty="0"/>
          </a:p>
        </p:txBody>
      </p:sp>
      <p:sp>
        <p:nvSpPr>
          <p:cNvPr id="14" name="Hidden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Service accounts and SPNs</a:t>
            </a:r>
            <a:endParaRPr lang="en-US" sz="1400" dirty="0"/>
          </a:p>
          <a:p>
            <a:pPr marL="342900" indent="-342900">
              <a:spcAft>
                <a:spcPts val="600"/>
              </a:spcAft>
              <a:buSzPct val="100000"/>
              <a:buChar char="•"/>
            </a:pPr>
            <a:r>
              <a:rPr lang="en-US" sz="1350" dirty="0">
                <a:solidFill>
                  <a:schemeClr val="tx2"/>
                </a:solidFill>
              </a:rPr>
              <a:t>DNS and DHCP</a:t>
            </a:r>
            <a:endParaRPr lang="en-US" sz="1400" dirty="0"/>
          </a:p>
          <a:p>
            <a:pPr marL="342900" indent="-342900">
              <a:spcAft>
                <a:spcPts val="600"/>
              </a:spcAft>
              <a:buSzPct val="100000"/>
              <a:buChar char="•"/>
            </a:pPr>
            <a:r>
              <a:rPr lang="en-US" sz="1350" dirty="0">
                <a:solidFill>
                  <a:schemeClr val="tx2"/>
                </a:solidFill>
              </a:rPr>
              <a:t>PKI and certificate services</a:t>
            </a:r>
            <a:endParaRPr lang="en-US" sz="1400" dirty="0"/>
          </a:p>
          <a:p>
            <a:pPr marL="342900" indent="-342900">
              <a:spcAft>
                <a:spcPts val="600"/>
              </a:spcAft>
              <a:buSzPct val="100000"/>
              <a:buChar char="•"/>
            </a:pPr>
            <a:r>
              <a:rPr lang="en-US" sz="1350" dirty="0">
                <a:solidFill>
                  <a:schemeClr val="tx2"/>
                </a:solidFill>
              </a:rPr>
              <a:t>RADIUS and NPS</a:t>
            </a:r>
            <a:endParaRPr lang="en-US" sz="1400" dirty="0"/>
          </a:p>
          <a:p>
            <a:pPr marL="342900" indent="-342900">
              <a:spcAft>
                <a:spcPts val="600"/>
              </a:spcAft>
              <a:buSzPct val="100000"/>
              <a:buChar char="•"/>
            </a:pPr>
            <a:r>
              <a:rPr lang="en-US" sz="1350" dirty="0">
                <a:solidFill>
                  <a:schemeClr val="tx2"/>
                </a:solidFill>
              </a:rPr>
              <a:t>LDAP binds and trusts</a:t>
            </a:r>
            <a:endParaRPr lang="en-US" sz="1400" dirty="0"/>
          </a:p>
        </p:txBody>
      </p:sp>
      <p:sp>
        <p:nvSpPr>
          <p:cNvPr id="15" name="Hidden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TriangleExclamation"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Hidden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How it fails</a:t>
            </a:r>
            <a:endParaRPr lang="en-US" sz="1700" dirty="0"/>
          </a:p>
        </p:txBody>
      </p:sp>
      <p:sp>
        <p:nvSpPr>
          <p:cNvPr id="19" name="Hidden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certificate doesn't renew: enrollment never re-pointed</a:t>
            </a:r>
            <a:endParaRPr lang="en-US" sz="1400" dirty="0"/>
          </a:p>
          <a:p>
            <a:pPr marL="342900" indent="-342900">
              <a:spcAft>
                <a:spcPts val="600"/>
              </a:spcAft>
              <a:buSzPct val="100000"/>
              <a:buChar char="•"/>
            </a:pPr>
            <a:r>
              <a:rPr lang="en-US" sz="1350" dirty="0">
                <a:solidFill>
                  <a:schemeClr val="tx2"/>
                </a:solidFill>
              </a:rPr>
              <a:t>A device loses network access: a group lookup returns empty</a:t>
            </a:r>
            <a:endParaRPr lang="en-US" sz="1400" dirty="0"/>
          </a:p>
          <a:p>
            <a:pPr marL="342900" indent="-342900">
              <a:spcAft>
                <a:spcPts val="600"/>
              </a:spcAft>
              <a:buSzPct val="100000"/>
              <a:buChar char="•"/>
            </a:pPr>
            <a:r>
              <a:rPr lang="en-US" sz="1350" dirty="0">
                <a:solidFill>
                  <a:schemeClr val="tx2"/>
                </a:solidFill>
              </a:rPr>
              <a:t>An LDAP app stops: its bind account went with the domain</a:t>
            </a:r>
            <a:endParaRPr lang="en-US" sz="1400" dirty="0"/>
          </a:p>
        </p:txBody>
      </p:sp>
      <p:sp>
        <p:nvSpPr>
          <p:cNvPr id="20" name="Disciplin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List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Disciplin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Five steps, run as a discipline: </a:t>
            </a:r>
            <a:pPr indent="0" marL="0">
              <a:buNone/>
            </a:pPr>
            <a:r>
              <a:rPr lang="en-US" sz="1650" dirty="0">
                <a:solidFill>
                  <a:schemeClr val="tx2"/>
                </a:solidFill>
              </a:rPr>
              <a:t>enumerate the hidden dependencies, map each to a modern target, keep delegation continuous, deliver through a governed pipeline, and detect drift continuously.</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Windows Server 2025 AD DS, cloud transformation posture, Intune supported platforms, Azure Arc, Entra CBA, DNS Private Resolver. Book 01,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governed host, five roles, one writer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algn="r" indent="0" marL="0">
              <a:buNone/>
            </a:pPr>
            <a:r>
              <a:rPr lang="en-US" sz="1100" b="1" spc="100" kern="0" dirty="0">
                <a:solidFill>
                  <a:srgbClr val="0F766E"/>
                </a:solidFill>
              </a:rPr>
              <a:t>IN DEPTH: BOOKS 04 AND 05</a:t>
            </a:r>
            <a:endParaRPr lang="en-US" sz="1100" dirty="0"/>
          </a:p>
        </p:txBody>
      </p:sp>
      <p:sp>
        <p:nvSpPr>
          <p:cNvPr id="6" name="Role 1" descr="">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Role 1 text"/>
          <p:cNvSpPr txBox="1"/>
          <p:nvPr/>
        </p:nvSpPr>
        <p:spPr>
          <a:xfrm>
            <a:off x="658368" y="1417320"/>
            <a:ext cx="192024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Source of truth</a:t>
            </a:r>
            <a:endParaRPr lang="en-US" sz="1400" dirty="0"/>
          </a:p>
          <a:p>
            <a:pPr indent="0" marL="0">
              <a:buNone/>
            </a:pPr>
            <a:r>
              <a:rPr lang="en-US" sz="1250" dirty="0">
                <a:solidFill>
                  <a:schemeClr val="tx2"/>
                </a:solidFill>
              </a:rPr>
              <a:t>Signed, versioned commits</a:t>
            </a:r>
            <a:endParaRPr lang="en-US" sz="1400" dirty="0"/>
          </a:p>
        </p:txBody>
      </p:sp>
      <p:sp>
        <p:nvSpPr>
          <p:cNvPr id="8" name="Role 2" descr="">
            <a:extLst>
              <a:ext uri="{C183D7F6-B498-43B3-948B-1728B52AA6E4}">
                <adec:decorative xmlns:adec="http://schemas.microsoft.com/office/drawing/2017/decorative" val="1"/>
              </a:ext>
            </a:extLst>
          </p:cNvPr>
          <p:cNvSpPr/>
          <p:nvPr/>
        </p:nvSpPr>
        <p:spPr>
          <a:xfrm>
            <a:off x="280035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9" name="Role 2 text"/>
          <p:cNvSpPr txBox="1"/>
          <p:nvPr/>
        </p:nvSpPr>
        <p:spPr>
          <a:xfrm>
            <a:off x="2910078" y="1417320"/>
            <a:ext cx="192024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Reverse proxy</a:t>
            </a:r>
            <a:endParaRPr lang="en-US" sz="1400" dirty="0"/>
          </a:p>
          <a:p>
            <a:pPr indent="0" marL="0">
              <a:buNone/>
            </a:pPr>
            <a:r>
              <a:rPr lang="en-US" sz="1250" dirty="0">
                <a:solidFill>
                  <a:schemeClr val="tx2"/>
                </a:solidFill>
              </a:rPr>
              <a:t>TLS and client certificates</a:t>
            </a:r>
            <a:endParaRPr lang="en-US" sz="1400" dirty="0"/>
          </a:p>
        </p:txBody>
      </p:sp>
      <p:sp>
        <p:nvSpPr>
          <p:cNvPr id="10" name="Role 3" descr="">
            <a:extLst>
              <a:ext uri="{C183D7F6-B498-43B3-948B-1728B52AA6E4}">
                <adec:decorative xmlns:adec="http://schemas.microsoft.com/office/drawing/2017/decorative" val="1"/>
              </a:ext>
            </a:extLst>
          </p:cNvPr>
          <p:cNvSpPr/>
          <p:nvPr/>
        </p:nvSpPr>
        <p:spPr>
          <a:xfrm>
            <a:off x="505206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ole 3 text"/>
          <p:cNvSpPr txBox="1"/>
          <p:nvPr/>
        </p:nvSpPr>
        <p:spPr>
          <a:xfrm>
            <a:off x="5161788" y="1417320"/>
            <a:ext cx="192024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Auth bridge</a:t>
            </a:r>
            <a:endParaRPr lang="en-US" sz="1400" dirty="0"/>
          </a:p>
          <a:p>
            <a:pPr indent="0" marL="0">
              <a:buNone/>
            </a:pPr>
            <a:r>
              <a:rPr lang="en-US" sz="1250" dirty="0">
                <a:solidFill>
                  <a:schemeClr val="tx2"/>
                </a:solidFill>
              </a:rPr>
              <a:t>Domain-joined and Arc-connected</a:t>
            </a:r>
            <a:endParaRPr lang="en-US" sz="1400" dirty="0"/>
          </a:p>
        </p:txBody>
      </p:sp>
      <p:sp>
        <p:nvSpPr>
          <p:cNvPr id="12" name="Role 4" descr="">
            <a:extLst>
              <a:ext uri="{C183D7F6-B498-43B3-948B-1728B52AA6E4}">
                <adec:decorative xmlns:adec="http://schemas.microsoft.com/office/drawing/2017/decorative" val="1"/>
              </a:ext>
            </a:extLst>
          </p:cNvPr>
          <p:cNvSpPr/>
          <p:nvPr/>
        </p:nvSpPr>
        <p:spPr>
          <a:xfrm>
            <a:off x="730377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Role 4 text"/>
          <p:cNvSpPr txBox="1"/>
          <p:nvPr/>
        </p:nvSpPr>
        <p:spPr>
          <a:xfrm>
            <a:off x="7413498" y="1417320"/>
            <a:ext cx="192024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Engine</a:t>
            </a:r>
            <a:endParaRPr lang="en-US" sz="1400" dirty="0"/>
          </a:p>
          <a:p>
            <a:pPr indent="0" marL="0">
              <a:buNone/>
            </a:pPr>
            <a:r>
              <a:rPr lang="en-US" sz="1250" dirty="0">
                <a:solidFill>
                  <a:schemeClr val="tx2"/>
                </a:solidFill>
              </a:rPr>
              <a:t>PowerShell, Python, API integrators</a:t>
            </a:r>
            <a:endParaRPr lang="en-US" sz="1400" dirty="0"/>
          </a:p>
        </p:txBody>
      </p:sp>
      <p:sp>
        <p:nvSpPr>
          <p:cNvPr id="14" name="Role 5" descr="">
            <a:extLst>
              <a:ext uri="{C183D7F6-B498-43B3-948B-1728B52AA6E4}">
                <adec:decorative xmlns:adec="http://schemas.microsoft.com/office/drawing/2017/decorative" val="1"/>
              </a:ext>
            </a:extLst>
          </p:cNvPr>
          <p:cNvSpPr/>
          <p:nvPr/>
        </p:nvSpPr>
        <p:spPr>
          <a:xfrm>
            <a:off x="955548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Role 5 text"/>
          <p:cNvSpPr txBox="1"/>
          <p:nvPr/>
        </p:nvSpPr>
        <p:spPr>
          <a:xfrm>
            <a:off x="9665208" y="1417320"/>
            <a:ext cx="192024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Adapters</a:t>
            </a:r>
            <a:endParaRPr lang="en-US" sz="1400" dirty="0"/>
          </a:p>
          <a:p>
            <a:pPr indent="0" marL="0">
              <a:buNone/>
            </a:pPr>
            <a:r>
              <a:rPr lang="en-US" sz="1250" dirty="0">
                <a:solidFill>
                  <a:schemeClr val="tx2"/>
                </a:solidFill>
              </a:rPr>
              <a:t>One contract per category</a:t>
            </a:r>
            <a:endParaRPr lang="en-US" sz="1400" dirty="0"/>
          </a:p>
        </p:txBody>
      </p:sp>
      <p:sp>
        <p:nvSpPr>
          <p:cNvPr id="16"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9"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Decide and act, kept apart</a:t>
            </a:r>
            <a:endParaRPr lang="en-US" sz="1700" dirty="0"/>
          </a:p>
        </p:txBody>
      </p:sp>
      <p:sp>
        <p:nvSpPr>
          <p:cNvPr id="20"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Governance validates and signs; never touches a target</a:t>
            </a:r>
            <a:endParaRPr lang="en-US" sz="1400" dirty="0"/>
          </a:p>
          <a:p>
            <a:pPr marL="342900" indent="-342900">
              <a:spcAft>
                <a:spcPts val="200"/>
              </a:spcAft>
              <a:buSzPct val="100000"/>
              <a:buChar char="•"/>
            </a:pPr>
            <a:r>
              <a:rPr lang="en-US" sz="1300" dirty="0">
                <a:solidFill>
                  <a:schemeClr val="tx2"/>
                </a:solidFill>
              </a:rPr>
              <a:t>Execution runs authorized plans; decides nothing</a:t>
            </a:r>
            <a:endParaRPr lang="en-US" sz="1400" dirty="0"/>
          </a:p>
          <a:p>
            <a:pPr marL="342900" indent="-342900">
              <a:spcAft>
                <a:spcPts val="200"/>
              </a:spcAft>
              <a:buSzPct val="100000"/>
              <a:buChar char="•"/>
            </a:pPr>
            <a:r>
              <a:rPr lang="en-US" sz="1300" dirty="0">
                <a:solidFill>
                  <a:schemeClr val="tx2"/>
                </a:solidFill>
              </a:rPr>
              <a:t>Separate accounts, credential stores and logs</a:t>
            </a:r>
            <a:endParaRPr lang="en-US" sz="1400" dirty="0"/>
          </a:p>
          <a:p>
            <a:pPr marL="342900" indent="-342900">
              <a:spcAft>
                <a:spcPts val="200"/>
              </a:spcAft>
              <a:buSzPct val="100000"/>
              <a:buChar char="•"/>
            </a:pPr>
            <a:r>
              <a:rPr lang="en-US" sz="1300" dirty="0">
                <a:solidFill>
                  <a:schemeClr val="tx2"/>
                </a:solidFill>
              </a:rPr>
              <a:t>A person approves before anything writes</a:t>
            </a:r>
            <a:endParaRPr lang="en-US" sz="1400" dirty="0"/>
          </a:p>
        </p:txBody>
      </p:sp>
      <p:sp>
        <p:nvSpPr>
          <p:cNvPr id="21"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2" name="Icon FaShieldHalved"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4"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Protected as a Tier 0 asset</a:t>
            </a:r>
            <a:endParaRPr lang="en-US" sz="1700" dirty="0"/>
          </a:p>
        </p:txBody>
      </p:sp>
      <p:sp>
        <p:nvSpPr>
          <p:cNvPr id="25"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Windows Server 2025, supported to November 2034</a:t>
            </a:r>
            <a:endParaRPr lang="en-US" sz="1400" dirty="0"/>
          </a:p>
          <a:p>
            <a:pPr marL="342900" indent="-342900">
              <a:spcAft>
                <a:spcPts val="200"/>
              </a:spcAft>
              <a:buSzPct val="100000"/>
              <a:buChar char="•"/>
            </a:pPr>
            <a:r>
              <a:rPr lang="en-US" sz="1300" dirty="0">
                <a:solidFill>
                  <a:schemeClr val="tx2"/>
                </a:solidFill>
              </a:rPr>
              <a:t>Reads AD read-only; writes only through plans</a:t>
            </a:r>
            <a:endParaRPr lang="en-US" sz="1400" dirty="0"/>
          </a:p>
          <a:p>
            <a:pPr marL="342900" indent="-342900">
              <a:spcAft>
                <a:spcPts val="200"/>
              </a:spcAft>
              <a:buSzPct val="100000"/>
              <a:buChar char="•"/>
            </a:pPr>
            <a:r>
              <a:rPr lang="en-US" sz="1300" dirty="0">
                <a:solidFill>
                  <a:schemeClr val="tx2"/>
                </a:solidFill>
              </a:rPr>
              <a:t>App Control; administered from a privileged workstation</a:t>
            </a:r>
            <a:endParaRPr lang="en-US" sz="1400" dirty="0"/>
          </a:p>
          <a:p>
            <a:pPr marL="342900" indent="-342900">
              <a:spcAft>
                <a:spcPts val="200"/>
              </a:spcAft>
              <a:buSzPct val="100000"/>
              <a:buChar char="•"/>
            </a:pPr>
            <a:r>
              <a:rPr lang="en-US" sz="1300" dirty="0">
                <a:solidFill>
                  <a:schemeClr val="tx2"/>
                </a:solidFill>
              </a:rPr>
              <a:t>Logs go to central logging (OMB M-26-14)</a:t>
            </a:r>
            <a:endParaRPr lang="en-US" sz="1400" dirty="0"/>
          </a:p>
        </p:txBody>
      </p:sp>
      <p:sp>
        <p:nvSpPr>
          <p:cNvPr id="26" name="Not a product"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7" name="Icon FaCubes"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9" name="Not a product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A reference architecture, not a product: </a:t>
            </a:r>
            <a:pPr indent="0" marL="0">
              <a:buNone/>
            </a:pPr>
            <a:r>
              <a:rPr lang="en-US" sz="1650" dirty="0">
                <a:solidFill>
                  <a:schemeClr val="tx2"/>
                </a:solidFill>
              </a:rPr>
              <a:t>standard components configured one way, with no proprietary binary. Scale comes from the target surface, such as Entra ID and Intune, not from fanning out the host.</a:t>
            </a:r>
            <a:endParaRPr lang="en-US" sz="165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Windows Server release information, IIS reverse proxy, Arc managed identity, AD DS tier model, App Control; Gitea signing; OMB M-26-14. Book 01,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Identity: one HR stamp drives five outcomes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algn="r" indent="0" marL="0">
              <a:buNone/>
            </a:pPr>
            <a:r>
              <a:rPr lang="en-US" sz="1100" b="1" spc="100" kern="0" dirty="0">
                <a:solidFill>
                  <a:srgbClr val="0F766E"/>
                </a:solidFill>
              </a:rPr>
              <a:t>IN DEPTH: BOOKS 02 AND 03</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gridCol w="329184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Mechanism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replaces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Organizational attributes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OU placement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Dynamic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OU-derived security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Administrative units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OU-level delegation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Conditional Access targeting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Group Policy inheritance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able note"/>
          <p:cNvSpPr txBox="1"/>
          <p:nvPr/>
        </p:nvSpPr>
        <p:spPr>
          <a:xfrm>
            <a:off x="548640" y="3886200"/>
            <a:ext cx="6309360" cy="731520"/>
          </a:xfrm>
          <a:prstGeom prst="rect">
            <a:avLst/>
          </a:prstGeom>
          <a:noFill/>
          <a:ln/>
        </p:spPr>
        <p:txBody>
          <a:bodyPr wrap="square" lIns="0" tIns="0" rIns="0" bIns="0" rtlCol="0" anchor="t"/>
          <a:lstStyle/>
          <a:p>
            <a:pPr indent="0" marL="0">
              <a:buNone/>
            </a:pPr>
            <a:r>
              <a:rPr lang="en-US" sz="1250" i="1" dirty="0">
                <a:solidFill>
                  <a:srgbClr val="64748B"/>
                </a:solidFill>
              </a:rPr>
              <a:t>Dynamic membership usually updates within a few hours but can take more than 24. Design the mover workflow around that window.</a:t>
            </a:r>
            <a:endParaRPr lang="en-US" sz="1250" dirty="0"/>
          </a:p>
        </p:txBody>
      </p:sp>
      <p:sp>
        <p:nvSpPr>
          <p:cNvPr id="8" name="Stamp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AddressBoo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11" name="Stamp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One HR stamp, five outcomes</a:t>
            </a:r>
            <a:endParaRPr lang="en-US" sz="1700" dirty="0"/>
          </a:p>
        </p:txBody>
      </p:sp>
      <p:sp>
        <p:nvSpPr>
          <p:cNvPr id="12" name="Stamp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Dynamic group membership</a:t>
            </a:r>
            <a:endParaRPr lang="en-US" sz="1400" dirty="0"/>
          </a:p>
          <a:p>
            <a:pPr marL="342900" indent="-342900">
              <a:spcAft>
                <a:spcPts val="600"/>
              </a:spcAft>
              <a:buSzPct val="100000"/>
              <a:buChar char="•"/>
            </a:pPr>
            <a:r>
              <a:rPr lang="en-US" sz="1450" dirty="0">
                <a:solidFill>
                  <a:schemeClr val="tx2"/>
                </a:solidFill>
              </a:rPr>
              <a:t>Administrative-unit scope</a:t>
            </a:r>
            <a:endParaRPr lang="en-US" sz="1400" dirty="0"/>
          </a:p>
          <a:p>
            <a:pPr marL="342900" indent="-342900">
              <a:spcAft>
                <a:spcPts val="600"/>
              </a:spcAft>
              <a:buSzPct val="100000"/>
              <a:buChar char="•"/>
            </a:pPr>
            <a:r>
              <a:rPr lang="en-US" sz="1450" dirty="0">
                <a:solidFill>
                  <a:schemeClr val="tx2"/>
                </a:solidFill>
              </a:rPr>
              <a:t>Conditional Access targeting</a:t>
            </a:r>
            <a:endParaRPr lang="en-US" sz="1400" dirty="0"/>
          </a:p>
          <a:p>
            <a:pPr marL="342900" indent="-342900">
              <a:spcAft>
                <a:spcPts val="600"/>
              </a:spcAft>
              <a:buSzPct val="100000"/>
              <a:buChar char="•"/>
            </a:pPr>
            <a:r>
              <a:rPr lang="en-US" sz="1450" dirty="0">
                <a:solidFill>
                  <a:schemeClr val="tx2"/>
                </a:solidFill>
              </a:rPr>
              <a:t>Group-based licensing</a:t>
            </a:r>
            <a:endParaRPr lang="en-US" sz="1400" dirty="0"/>
          </a:p>
          <a:p>
            <a:pPr marL="342900" indent="-342900">
              <a:spcAft>
                <a:spcPts val="600"/>
              </a:spcAft>
              <a:buSzPct val="100000"/>
              <a:buChar char="•"/>
            </a:pPr>
            <a:r>
              <a:rPr lang="en-US" sz="1450" dirty="0">
                <a:solidFill>
                  <a:schemeClr val="tx2"/>
                </a:solidFill>
              </a:rPr>
              <a:t>Drift detection against HR</a:t>
            </a:r>
            <a:endParaRPr lang="en-US" sz="1400" dirty="0"/>
          </a:p>
        </p:txBody>
      </p:sp>
      <p:sp>
        <p:nvSpPr>
          <p:cNvPr id="13" name="Tru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4" name="Icon FaFingerprint"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81905"/>
            <a:ext cx="380390" cy="380390"/>
          </a:xfrm>
          <a:prstGeom prst="rect">
            <a:avLst/>
          </a:prstGeom>
        </p:spPr>
      </p:pic>
      <p:sp>
        <p:nvSpPr>
          <p:cNvPr id="16" name="Tru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A token is only as true as its attributes: </a:t>
            </a:r>
            <a:pPr indent="0" marL="0">
              <a:buNone/>
            </a:pPr>
            <a:r>
              <a:rPr lang="en-US" sz="1650" dirty="0">
                <a:solidFill>
                  <a:schemeClr val="tx2"/>
                </a:solidFill>
              </a:rPr>
              <a:t>if access still lives in regional OU trees with no HR-derived source, tokens sign broken authorizations efficiently. HR provisioning is the only writer.</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Microsoft Learn — dynamic membership rules and processing, administrative units, group-based licensing, HR provisioning. Book 01,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Policy: regenerate Group Policy, don't copy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algn="r" indent="0" marL="0">
              <a:buNone/>
            </a:pPr>
            <a:r>
              <a:rPr lang="en-US" sz="1100" b="1" spc="100" kern="0" dirty="0">
                <a:solidFill>
                  <a:srgbClr val="0F766E"/>
                </a:solidFill>
              </a:rPr>
              <a:t>IN DEPTH: BOOKS 05 AND 04</a:t>
            </a:r>
            <a:endParaRPr lang="en-US" sz="1100" dirty="0"/>
          </a:p>
        </p:txBody>
      </p:sp>
      <p:sp>
        <p:nvSpPr>
          <p:cNvPr id="6" name="Target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WHERE EACH GROUP POLICY CATEGORY GOES</a:t>
            </a:r>
            <a:endParaRPr lang="en-US" sz="1200" dirty="0"/>
          </a:p>
        </p:txBody>
      </p:sp>
      <p:sp>
        <p:nvSpPr>
          <p:cNvPr id="7" name="Target 0" descr="">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Target 0 text"/>
          <p:cNvSpPr txBox="1"/>
          <p:nvPr/>
        </p:nvSpPr>
        <p:spPr>
          <a:xfrm>
            <a:off x="731520" y="175564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Device configuration   </a:t>
            </a:r>
            <a:pPr indent="0" marL="0">
              <a:buNone/>
            </a:pPr>
            <a:r>
              <a:rPr lang="en-US" sz="1400" dirty="0">
                <a:solidFill>
                  <a:schemeClr val="tx2"/>
                </a:solidFill>
              </a:rPr>
              <a:t>Intune profiles, settings catalog</a:t>
            </a:r>
            <a:endParaRPr lang="en-US" sz="1400" dirty="0"/>
          </a:p>
        </p:txBody>
      </p:sp>
      <p:sp>
        <p:nvSpPr>
          <p:cNvPr id="9" name="Target 1" descr="">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Target 1 text"/>
          <p:cNvSpPr txBox="1"/>
          <p:nvPr/>
        </p:nvSpPr>
        <p:spPr>
          <a:xfrm>
            <a:off x="731520" y="2267712"/>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Security baselines   </a:t>
            </a:r>
            <a:pPr indent="0" marL="0">
              <a:buNone/>
            </a:pPr>
            <a:r>
              <a:rPr lang="en-US" sz="1400" dirty="0">
                <a:solidFill>
                  <a:schemeClr val="tx2"/>
                </a:solidFill>
              </a:rPr>
              <a:t>Intune baselines; Entra smart lockout</a:t>
            </a:r>
            <a:endParaRPr lang="en-US" sz="1400" dirty="0"/>
          </a:p>
        </p:txBody>
      </p:sp>
      <p:sp>
        <p:nvSpPr>
          <p:cNvPr id="11" name="Target 2" descr="">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Target 2 text"/>
          <p:cNvSpPr txBox="1"/>
          <p:nvPr/>
        </p:nvSpPr>
        <p:spPr>
          <a:xfrm>
            <a:off x="731520" y="2779776"/>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Software   </a:t>
            </a:r>
            <a:pPr indent="0" marL="0">
              <a:buNone/>
            </a:pPr>
            <a:r>
              <a:rPr lang="en-US" sz="1400" dirty="0">
                <a:solidFill>
                  <a:schemeClr val="tx2"/>
                </a:solidFill>
              </a:rPr>
              <a:t>Intune apps, with Autopilot</a:t>
            </a:r>
            <a:endParaRPr lang="en-US" sz="1400" dirty="0"/>
          </a:p>
        </p:txBody>
      </p:sp>
      <p:sp>
        <p:nvSpPr>
          <p:cNvPr id="13" name="Target 3" descr="">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Target 3 text"/>
          <p:cNvSpPr txBox="1"/>
          <p:nvPr/>
        </p:nvSpPr>
        <p:spPr>
          <a:xfrm>
            <a:off x="731520" y="3291840"/>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Scripts and drives   </a:t>
            </a:r>
            <a:pPr indent="0" marL="0">
              <a:buNone/>
            </a:pPr>
            <a:r>
              <a:rPr lang="en-US" sz="1400" dirty="0">
                <a:solidFill>
                  <a:schemeClr val="tx2"/>
                </a:solidFill>
              </a:rPr>
              <a:t>Remediations; OneDrive, SharePoint</a:t>
            </a:r>
            <a:endParaRPr lang="en-US" sz="1400" dirty="0"/>
          </a:p>
        </p:txBody>
      </p:sp>
      <p:sp>
        <p:nvSpPr>
          <p:cNvPr id="15" name="Target 4" descr="">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6" name="Target 4 text"/>
          <p:cNvSpPr txBox="1"/>
          <p:nvPr/>
        </p:nvSpPr>
        <p:spPr>
          <a:xfrm>
            <a:off x="731520" y="3803904"/>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Access control   </a:t>
            </a:r>
            <a:pPr indent="0" marL="0">
              <a:buNone/>
            </a:pPr>
            <a:r>
              <a:rPr lang="en-US" sz="1400" dirty="0">
                <a:solidFill>
                  <a:schemeClr val="tx2"/>
                </a:solidFill>
              </a:rPr>
              <a:t>Conditional Access</a:t>
            </a:r>
            <a:endParaRPr lang="en-US" sz="1400" dirty="0"/>
          </a:p>
        </p:txBody>
      </p:sp>
      <p:sp>
        <p:nvSpPr>
          <p:cNvPr id="17" name="Target 5" descr="">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Target 5 text"/>
          <p:cNvSpPr txBox="1"/>
          <p:nvPr/>
        </p:nvSpPr>
        <p:spPr>
          <a:xfrm>
            <a:off x="731520" y="431596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Servers   </a:t>
            </a:r>
            <a:pPr indent="0" marL="0">
              <a:buNone/>
            </a:pPr>
            <a:r>
              <a:rPr lang="en-US" sz="1400" dirty="0">
                <a:solidFill>
                  <a:schemeClr val="tx2"/>
                </a:solidFill>
              </a:rPr>
              <a:t>Azure machine configuration through Arc</a:t>
            </a:r>
            <a:endParaRPr lang="en-US" sz="1400" dirty="0"/>
          </a:p>
        </p:txBody>
      </p:sp>
      <p:sp>
        <p:nvSpPr>
          <p:cNvPr id="19" name="Stage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ClipboardChec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2" name="Stage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WHAT EVERY POLICY CHANGE PASSES</a:t>
            </a:r>
            <a:endParaRPr lang="en-US" sz="1400" dirty="0"/>
          </a:p>
          <a:p>
            <a:pPr indent="0" marL="0">
              <a:buNone/>
            </a:pPr>
            <a:r>
              <a:rPr lang="en-US" sz="1800" b="1" dirty="0">
                <a:solidFill>
                  <a:srgbClr val="B45309"/>
                </a:solidFill>
                <a:latin typeface="Cambria" pitchFamily="34" charset="0"/>
                <a:ea typeface="Cambria" pitchFamily="34" charset="-122"/>
                <a:cs typeface="Cambria" pitchFamily="34" charset="-120"/>
              </a:rPr>
              <a:t>Four stages, none skipped</a:t>
            </a:r>
            <a:endParaRPr lang="en-US" sz="1400" dirty="0"/>
          </a:p>
        </p:txBody>
      </p:sp>
      <p:sp>
        <p:nvSpPr>
          <p:cNvPr id="23" name="Stage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Plan validation: one owning layer</a:t>
            </a:r>
            <a:endParaRPr lang="en-US" sz="1400" dirty="0"/>
          </a:p>
          <a:p>
            <a:pPr marL="342900" indent="-342900">
              <a:spcAft>
                <a:spcPts val="600"/>
              </a:spcAft>
              <a:buSzPct val="100000"/>
              <a:buChar char="•"/>
            </a:pPr>
            <a:r>
              <a:rPr lang="en-US" sz="1450" dirty="0">
                <a:solidFill>
                  <a:schemeClr val="tx2"/>
                </a:solidFill>
              </a:rPr>
              <a:t>A simulated tenant asserts the effect</a:t>
            </a:r>
            <a:endParaRPr lang="en-US" sz="1400" dirty="0"/>
          </a:p>
          <a:p>
            <a:pPr marL="342900" indent="-342900">
              <a:spcAft>
                <a:spcPts val="600"/>
              </a:spcAft>
              <a:buSzPct val="100000"/>
              <a:buChar char="•"/>
            </a:pPr>
            <a:r>
              <a:rPr lang="en-US" sz="1450" dirty="0">
                <a:solidFill>
                  <a:schemeClr val="tx2"/>
                </a:solidFill>
              </a:rPr>
              <a:t>Pilot, with Conditional Access report-only</a:t>
            </a:r>
            <a:endParaRPr lang="en-US" sz="1400" dirty="0"/>
          </a:p>
          <a:p>
            <a:pPr marL="342900" indent="-342900">
              <a:spcAft>
                <a:spcPts val="600"/>
              </a:spcAft>
              <a:buSzPct val="100000"/>
              <a:buChar char="•"/>
            </a:pPr>
            <a:r>
              <a:rPr lang="en-US" sz="1450" dirty="0">
                <a:solidFill>
                  <a:schemeClr val="tx2"/>
                </a:solidFill>
              </a:rPr>
              <a:t>Production, after a clean pilot</a:t>
            </a:r>
            <a:endParaRPr lang="en-US" sz="1400" dirty="0"/>
          </a:p>
        </p:txBody>
      </p:sp>
      <p:sp>
        <p:nvSpPr>
          <p:cNvPr id="24" name="Require"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5" name="Icon FaDoorClosed"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2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7" name="Require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0F766E"/>
                </a:solidFill>
              </a:rPr>
              <a:t>Prefer require to block: </a:t>
            </a:r>
            <a:pPr indent="0" marL="0">
              <a:buNone/>
            </a:pPr>
            <a:r>
              <a:rPr lang="en-US" sz="1650" dirty="0">
                <a:solidFill>
                  <a:schemeClr val="tx2"/>
                </a:solidFill>
              </a:rPr>
              <a:t>a bad block locks users out; a bad require adds a step. Block where the SCuBA baseline demands it, such as legacy authentication and high-risk sign-ins.</a:t>
            </a:r>
            <a:endParaRPr lang="en-US" sz="16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Group Policy overview, cloud-native endpoint planning, Intune conflicts, Conditional Access planning; CISA BOD 25-01 and SCuBA. Book 01,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DHCP and IPAM move together, and with AD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algn="r" indent="0" marL="0">
              <a:buNone/>
            </a:pPr>
            <a:r>
              <a:rPr lang="en-US" sz="1100" b="1" spc="100" kern="0" dirty="0">
                <a:solidFill>
                  <a:srgbClr val="0F766E"/>
                </a:solidFill>
              </a:rPr>
              <a:t>IN DEPTH: BOOKS 08 AND 09</a:t>
            </a:r>
            <a:endParaRPr lang="en-US" sz="1100" dirty="0"/>
          </a:p>
        </p:txBody>
      </p:sp>
      <p:sp>
        <p:nvSpPr>
          <p:cNvPr id="6" name="Svc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Globe"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9" name="Svc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DNS</a:t>
            </a:r>
            <a:endParaRPr lang="en-US" sz="1700" dirty="0"/>
          </a:p>
        </p:txBody>
      </p:sp>
      <p:sp>
        <p:nvSpPr>
          <p:cNvPr id="10" name="Svc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AD-integrated zones replicate with AD</a:t>
            </a:r>
            <a:endParaRPr lang="en-US" sz="1400" dirty="0"/>
          </a:p>
          <a:p>
            <a:pPr marL="342900" indent="-342900">
              <a:spcAft>
                <a:spcPts val="600"/>
              </a:spcAft>
              <a:buSzPct val="100000"/>
              <a:buChar char="•"/>
            </a:pPr>
            <a:r>
              <a:rPr lang="en-US" sz="1300" dirty="0">
                <a:solidFill>
                  <a:schemeClr val="tx2"/>
                </a:solidFill>
              </a:rPr>
              <a:t>Clients find DCs through DNS records</a:t>
            </a:r>
            <a:endParaRPr lang="en-US" sz="1400" dirty="0"/>
          </a:p>
          <a:p>
            <a:pPr marL="342900" indent="-342900">
              <a:spcAft>
                <a:spcPts val="600"/>
              </a:spcAft>
              <a:buSzPct val="100000"/>
              <a:buChar char="•"/>
            </a:pPr>
            <a:r>
              <a:rPr lang="en-US" sz="1300" dirty="0">
                <a:solidFill>
                  <a:schemeClr val="tx2"/>
                </a:solidFill>
              </a:rPr>
              <a:t>Target: a governed authority, Private Resolver as a bridge, private zones</a:t>
            </a:r>
            <a:endParaRPr lang="en-US" sz="1400" dirty="0"/>
          </a:p>
          <a:p>
            <a:pPr marL="342900" indent="-342900">
              <a:spcAft>
                <a:spcPts val="600"/>
              </a:spcAft>
              <a:buSzPct val="100000"/>
              <a:buChar char="•"/>
            </a:pPr>
            <a:r>
              <a:rPr lang="en-US" sz="1300" dirty="0">
                <a:solidFill>
                  <a:schemeClr val="tx2"/>
                </a:solidFill>
              </a:rPr>
              <a:t>The domain's own zones go last</a:t>
            </a:r>
            <a:endParaRPr lang="en-US" sz="1400" dirty="0"/>
          </a:p>
        </p:txBody>
      </p:sp>
      <p:sp>
        <p:nvSpPr>
          <p:cNvPr id="11" name="Svc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Hashtag"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4" name="Svc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DHCP</a:t>
            </a:r>
            <a:endParaRPr lang="en-US" sz="1700" dirty="0"/>
          </a:p>
        </p:txBody>
      </p:sp>
      <p:sp>
        <p:nvSpPr>
          <p:cNvPr id="15" name="Svc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Authorized in AD; checks every hour</a:t>
            </a:r>
            <a:endParaRPr lang="en-US" sz="1400" dirty="0"/>
          </a:p>
          <a:p>
            <a:pPr marL="342900" indent="-342900">
              <a:spcAft>
                <a:spcPts val="600"/>
              </a:spcAft>
              <a:buSzPct val="100000"/>
              <a:buChar char="•"/>
            </a:pPr>
            <a:r>
              <a:rPr lang="en-US" sz="1300" dirty="0">
                <a:solidFill>
                  <a:schemeClr val="tx2"/>
                </a:solidFill>
              </a:rPr>
              <a:t>Stops unauthorized Windows servers, not rogue devices</a:t>
            </a:r>
            <a:endParaRPr lang="en-US" sz="1400" dirty="0"/>
          </a:p>
          <a:p>
            <a:pPr marL="342900" indent="-342900">
              <a:spcAft>
                <a:spcPts val="600"/>
              </a:spcAft>
              <a:buSzPct val="100000"/>
              <a:buChar char="•"/>
            </a:pPr>
            <a:r>
              <a:rPr lang="en-US" sz="1300" dirty="0">
                <a:solidFill>
                  <a:schemeClr val="tx2"/>
                </a:solidFill>
              </a:rPr>
              <a:t>Azure DHCP reaches on-premises only through a relay</a:t>
            </a:r>
            <a:endParaRPr lang="en-US" sz="1400" dirty="0"/>
          </a:p>
        </p:txBody>
      </p:sp>
      <p:sp>
        <p:nvSpPr>
          <p:cNvPr id="16" name="Svc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TableList"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9" name="Svc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IPAM</a:t>
            </a:r>
            <a:endParaRPr lang="en-US" sz="1700" dirty="0"/>
          </a:p>
        </p:txBody>
      </p:sp>
      <p:sp>
        <p:nvSpPr>
          <p:cNvPr id="20" name="Svc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Often one person's spreadsheet</a:t>
            </a:r>
            <a:endParaRPr lang="en-US" sz="1400" dirty="0"/>
          </a:p>
          <a:p>
            <a:pPr marL="342900" indent="-342900">
              <a:spcAft>
                <a:spcPts val="600"/>
              </a:spcAft>
              <a:buSzPct val="100000"/>
              <a:buChar char="•"/>
            </a:pPr>
            <a:r>
              <a:rPr lang="en-US" sz="1300" dirty="0">
                <a:solidFill>
                  <a:schemeClr val="tx2"/>
                </a:solidFill>
              </a:rPr>
              <a:t>One authority, on-premises and cloud</a:t>
            </a:r>
            <a:endParaRPr lang="en-US" sz="1400" dirty="0"/>
          </a:p>
          <a:p>
            <a:pPr marL="342900" indent="-342900">
              <a:spcAft>
                <a:spcPts val="600"/>
              </a:spcAft>
              <a:buSzPct val="100000"/>
              <a:buChar char="•"/>
            </a:pPr>
            <a:r>
              <a:rPr lang="en-US" sz="1300" dirty="0">
                <a:solidFill>
                  <a:schemeClr val="tx2"/>
                </a:solidFill>
              </a:rPr>
              <a:t>DNS and DHCP derive from it</a:t>
            </a:r>
            <a:endParaRPr lang="en-US" sz="1400" dirty="0"/>
          </a:p>
          <a:p>
            <a:pPr marL="342900" indent="-342900">
              <a:spcAft>
                <a:spcPts val="600"/>
              </a:spcAft>
              <a:buSzPct val="100000"/>
              <a:buChar char="•"/>
            </a:pPr>
            <a:r>
              <a:rPr lang="en-US" sz="1300" dirty="0">
                <a:solidFill>
                  <a:schemeClr val="tx2"/>
                </a:solidFill>
              </a:rPr>
              <a:t>Disagreement is hierarchy drift</a:t>
            </a:r>
            <a:endParaRPr lang="en-US" sz="1400" dirty="0"/>
          </a:p>
        </p:txBody>
      </p:sp>
      <p:sp>
        <p:nvSpPr>
          <p:cNvPr id="21" name="Phase 2"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3"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4" name="Phase 2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Why "Phase 2" never comes: </a:t>
            </a:r>
            <a:pPr indent="0" marL="0">
              <a:buNone/>
            </a:pPr>
            <a:r>
              <a:rPr lang="en-US" sz="1650" dirty="0">
                <a:solidFill>
                  <a:schemeClr val="tx2"/>
                </a:solidFill>
              </a:rPr>
              <a:t>identity moves, DNS stays AD-integrated, and AD can never retire. A forest that still hosts AD-integrated DNS has not been retired.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AD-integrated DNS zones, DC locator, DNS Private Resolver, DHCP authorization, Virtual Network Manager IPAM; NIST SP 800-53. Book 01,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Compute: the domain join is the last thing to go</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algn="r" indent="0" marL="0">
              <a:buNone/>
            </a:pPr>
            <a:r>
              <a:rPr lang="en-US" sz="1100" b="1" spc="100" kern="0" dirty="0">
                <a:solidFill>
                  <a:srgbClr val="0F766E"/>
                </a:solidFill>
              </a:rPr>
              <a:t>IN DEPTH: BOOKS 05 AND 06</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gridCol w="2377440"/>
                <a:gridCol w="2194560"/>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Device state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Managed by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Use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Domain-joined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Group Policy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Migration origin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B45309"/>
                          </a:solidFill>
                          <a:latin typeface="Calibri" pitchFamily="34" charset="0"/>
                          <a:ea typeface="Calibri" pitchFamily="34" charset="-122"/>
                          <a:cs typeface="Calibri" pitchFamily="34" charset="-120"/>
                        </a:rPr>
                        <a:t>Hybrid joined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Group Policy and Intune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Waypoint, not a target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Entra joined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Intune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0F766E"/>
                          </a:solidFill>
                          <a:latin typeface="Calibri" pitchFamily="34" charset="0"/>
                          <a:ea typeface="Calibri" pitchFamily="34" charset="-122"/>
                          <a:cs typeface="Calibri" pitchFamily="34" charset="-120"/>
                        </a:rPr>
                        <a:t>Target for user PCs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Arc-connected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Arc, Azure Policy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0F766E"/>
                          </a:solidFill>
                          <a:latin typeface="Calibri" pitchFamily="34" charset="0"/>
                          <a:ea typeface="Calibri" pitchFamily="34" charset="-122"/>
                          <a:cs typeface="Calibri" pitchFamily="34" charset="-120"/>
                        </a:rPr>
                        <a:t>Target for servers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able note"/>
          <p:cNvSpPr txBox="1"/>
          <p:nvPr/>
        </p:nvSpPr>
        <p:spPr>
          <a:xfrm>
            <a:off x="548640" y="3886200"/>
            <a:ext cx="6309360" cy="731520"/>
          </a:xfrm>
          <a:prstGeom prst="rect">
            <a:avLst/>
          </a:prstGeom>
          <a:noFill/>
          <a:ln/>
        </p:spPr>
        <p:txBody>
          <a:bodyPr wrap="square" lIns="0" tIns="0" rIns="0" bIns="0" rtlCol="0" anchor="t"/>
          <a:lstStyle/>
          <a:p>
            <a:pPr indent="0" marL="0">
              <a:buNone/>
            </a:pPr>
            <a:r>
              <a:rPr lang="en-US" sz="1250" i="1" dirty="0">
                <a:solidFill>
                  <a:srgbClr val="64748B"/>
                </a:solidFill>
              </a:rPr>
              <a:t>No supported path converts a hybrid-joined device to Entra join without resetting Windows, so time the move to a refresh.</a:t>
            </a:r>
            <a:endParaRPr lang="en-US" sz="1250" dirty="0"/>
          </a:p>
        </p:txBody>
      </p:sp>
      <p:sp>
        <p:nvSpPr>
          <p:cNvPr id="8" name="SPN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Icon FaServer"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11" name="SPN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Every SPN needs a decision</a:t>
            </a:r>
            <a:endParaRPr lang="en-US" sz="1700" dirty="0"/>
          </a:p>
        </p:txBody>
      </p:sp>
      <p:sp>
        <p:nvSpPr>
          <p:cNvPr id="12" name="SPN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Migrate: OAuth 2.0 and OpenID Connect</a:t>
            </a:r>
            <a:endParaRPr lang="en-US" sz="1400" dirty="0"/>
          </a:p>
          <a:p>
            <a:pPr marL="342900" indent="-342900">
              <a:spcAft>
                <a:spcPts val="600"/>
              </a:spcAft>
              <a:buSzPct val="100000"/>
              <a:buChar char="•"/>
            </a:pPr>
            <a:r>
              <a:rPr lang="en-US" sz="1400" dirty="0">
                <a:solidFill>
                  <a:schemeClr val="tx2"/>
                </a:solidFill>
              </a:rPr>
              <a:t>Retire: often the cheapest option</a:t>
            </a:r>
            <a:endParaRPr lang="en-US" sz="1400" dirty="0"/>
          </a:p>
          <a:p>
            <a:pPr marL="342900" indent="-342900">
              <a:spcAft>
                <a:spcPts val="600"/>
              </a:spcAft>
              <a:buSzPct val="100000"/>
              <a:buChar char="•"/>
            </a:pPr>
            <a:r>
              <a:rPr lang="en-US" sz="1400" dirty="0">
                <a:solidFill>
                  <a:schemeClr val="tx2"/>
                </a:solidFill>
              </a:rPr>
              <a:t>Island: last resort, with an end-of-life date</a:t>
            </a:r>
            <a:endParaRPr lang="en-US" sz="1400" dirty="0"/>
          </a:p>
          <a:p>
            <a:pPr marL="342900" indent="-342900">
              <a:spcAft>
                <a:spcPts val="600"/>
              </a:spcAft>
              <a:buSzPct val="100000"/>
              <a:buChar char="•"/>
            </a:pPr>
            <a:r>
              <a:rPr lang="en-US" sz="1400" dirty="0">
                <a:solidFill>
                  <a:schemeClr val="tx2"/>
                </a:solidFill>
              </a:rPr>
              <a:t>No server leaves the domain until each is resolved</a:t>
            </a:r>
            <a:endParaRPr lang="en-US" sz="1400" dirty="0"/>
          </a:p>
        </p:txBody>
      </p:sp>
      <p:sp>
        <p:nvSpPr>
          <p:cNvPr id="13" name="Data"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Databas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81905"/>
            <a:ext cx="380390" cy="380390"/>
          </a:xfrm>
          <a:prstGeom prst="rect">
            <a:avLst/>
          </a:prstGeom>
        </p:spPr>
      </p:pic>
      <p:sp>
        <p:nvSpPr>
          <p:cNvPr id="16" name="Data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Compute stays with its data: </a:t>
            </a:r>
            <a:pPr indent="0" marL="0">
              <a:buNone/>
            </a:pPr>
            <a:r>
              <a:rPr lang="en-US" sz="1650" dirty="0">
                <a:solidFill>
                  <a:schemeClr val="tx2"/>
                </a:solidFill>
              </a:rPr>
              <a:t>every synchronous call pays the network's delay, and separation multiplies it by the round trips. Profile and reduce them first; bandwidth doesn't remove the delay.</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device identity, Entra join types, hybrid join planning, Autopilot, Azure Arc, Kerberos constrained delegation, NTLM deprecation. Book 01,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access plane: every request decided again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n depth"/>
          <p:cNvSpPr txBox="1"/>
          <p:nvPr/>
        </p:nvSpPr>
        <p:spPr>
          <a:xfrm>
            <a:off x="8001000" y="109728"/>
            <a:ext cx="3657600" cy="292608"/>
          </a:xfrm>
          <a:prstGeom prst="rect">
            <a:avLst/>
          </a:prstGeom>
          <a:noFill/>
          <a:ln/>
        </p:spPr>
        <p:txBody>
          <a:bodyPr wrap="square" lIns="0" tIns="0" rIns="0" bIns="0" rtlCol="0" anchor="ctr"/>
          <a:lstStyle/>
          <a:p>
            <a:pPr algn="r" indent="0" marL="0">
              <a:buNone/>
            </a:pPr>
            <a:r>
              <a:rPr lang="en-US" sz="1100" b="1" spc="100" kern="0" dirty="0">
                <a:solidFill>
                  <a:srgbClr val="0F766E"/>
                </a:solidFill>
              </a:rPr>
              <a:t>IN DEPTH: BOOKS 04 AND 07</a:t>
            </a:r>
            <a:endParaRPr lang="en-US" sz="1100" dirty="0"/>
          </a:p>
        </p:txBody>
      </p:sp>
      <p:sp>
        <p:nvSpPr>
          <p:cNvPr id="6" name="Surface 1" descr="">
            <a:extLst>
              <a:ext uri="{C183D7F6-B498-43B3-948B-1728B52AA6E4}">
                <adec:decorative xmlns:adec="http://schemas.microsoft.com/office/drawing/2017/decorative" val="1"/>
              </a:ext>
            </a:extLst>
          </p:cNvPr>
          <p:cNvSpPr/>
          <p:nvPr/>
        </p:nvSpPr>
        <p:spPr>
          <a:xfrm>
            <a:off x="548640" y="1371600"/>
            <a:ext cx="2697480" cy="1005840"/>
          </a:xfrm>
          <a:prstGeom prst="roundRect">
            <a:avLst>
              <a:gd name="adj" fmla="val 727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Surface 1 text"/>
          <p:cNvSpPr txBox="1"/>
          <p:nvPr/>
        </p:nvSpPr>
        <p:spPr>
          <a:xfrm>
            <a:off x="685800" y="1417320"/>
            <a:ext cx="2468880" cy="914400"/>
          </a:xfrm>
          <a:prstGeom prst="rect">
            <a:avLst/>
          </a:prstGeom>
          <a:noFill/>
          <a:ln/>
        </p:spPr>
        <p:txBody>
          <a:bodyPr wrap="square" lIns="0" tIns="0" rIns="0" bIns="0" rtlCol="0" anchor="ctr"/>
          <a:lstStyle/>
          <a:p>
            <a:pPr indent="0" marL="0">
              <a:buNone/>
            </a:pPr>
            <a:r>
              <a:rPr lang="en-US" sz="1500" b="1" dirty="0">
                <a:solidFill>
                  <a:srgbClr val="1F2A44"/>
                </a:solidFill>
              </a:rPr>
              <a:t>Zero Trust</a:t>
            </a:r>
            <a:endParaRPr lang="en-US" sz="1400" dirty="0"/>
          </a:p>
          <a:p>
            <a:pPr indent="0" marL="0">
              <a:buNone/>
            </a:pPr>
            <a:r>
              <a:rPr lang="en-US" sz="1300" dirty="0">
                <a:solidFill>
                  <a:schemeClr val="tx2"/>
                </a:solidFill>
              </a:rPr>
              <a:t>The model: no trust from network location</a:t>
            </a:r>
            <a:endParaRPr lang="en-US" sz="1400" dirty="0"/>
          </a:p>
        </p:txBody>
      </p:sp>
      <p:sp>
        <p:nvSpPr>
          <p:cNvPr id="8" name="Surface 2" descr="">
            <a:extLst>
              <a:ext uri="{C183D7F6-B498-43B3-948B-1728B52AA6E4}">
                <adec:decorative xmlns:adec="http://schemas.microsoft.com/office/drawing/2017/decorative" val="1"/>
              </a:ext>
            </a:extLst>
          </p:cNvPr>
          <p:cNvSpPr/>
          <p:nvPr/>
        </p:nvSpPr>
        <p:spPr>
          <a:xfrm>
            <a:off x="3360420" y="1371600"/>
            <a:ext cx="2697480" cy="1005840"/>
          </a:xfrm>
          <a:prstGeom prst="roundRect">
            <a:avLst>
              <a:gd name="adj" fmla="val 727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urface 2 text"/>
          <p:cNvSpPr txBox="1"/>
          <p:nvPr/>
        </p:nvSpPr>
        <p:spPr>
          <a:xfrm>
            <a:off x="3497580" y="1417320"/>
            <a:ext cx="2468880" cy="914400"/>
          </a:xfrm>
          <a:prstGeom prst="rect">
            <a:avLst/>
          </a:prstGeom>
          <a:noFill/>
          <a:ln/>
        </p:spPr>
        <p:txBody>
          <a:bodyPr wrap="square" lIns="0" tIns="0" rIns="0" bIns="0" rtlCol="0" anchor="ctr"/>
          <a:lstStyle/>
          <a:p>
            <a:pPr indent="0" marL="0">
              <a:buNone/>
            </a:pPr>
            <a:r>
              <a:rPr lang="en-US" sz="1500" b="1" dirty="0">
                <a:solidFill>
                  <a:srgbClr val="0F766E"/>
                </a:solidFill>
              </a:rPr>
              <a:t>Conditional Access</a:t>
            </a:r>
            <a:endParaRPr lang="en-US" sz="1400" dirty="0"/>
          </a:p>
          <a:p>
            <a:pPr indent="0" marL="0">
              <a:buNone/>
            </a:pPr>
            <a:r>
              <a:rPr lang="en-US" sz="1300" dirty="0">
                <a:solidFill>
                  <a:schemeClr val="tx2"/>
                </a:solidFill>
              </a:rPr>
              <a:t>The decision, made per request</a:t>
            </a:r>
            <a:endParaRPr lang="en-US" sz="1400" dirty="0"/>
          </a:p>
        </p:txBody>
      </p:sp>
      <p:sp>
        <p:nvSpPr>
          <p:cNvPr id="10" name="Surface 3" descr="">
            <a:extLst>
              <a:ext uri="{C183D7F6-B498-43B3-948B-1728B52AA6E4}">
                <adec:decorative xmlns:adec="http://schemas.microsoft.com/office/drawing/2017/decorative" val="1"/>
              </a:ext>
            </a:extLst>
          </p:cNvPr>
          <p:cNvSpPr/>
          <p:nvPr/>
        </p:nvSpPr>
        <p:spPr>
          <a:xfrm>
            <a:off x="6172200" y="1371600"/>
            <a:ext cx="2697480" cy="1005840"/>
          </a:xfrm>
          <a:prstGeom prst="roundRect">
            <a:avLst>
              <a:gd name="adj" fmla="val 727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Surface 3 text"/>
          <p:cNvSpPr txBox="1"/>
          <p:nvPr/>
        </p:nvSpPr>
        <p:spPr>
          <a:xfrm>
            <a:off x="6309360" y="1417320"/>
            <a:ext cx="2468880" cy="914400"/>
          </a:xfrm>
          <a:prstGeom prst="rect">
            <a:avLst/>
          </a:prstGeom>
          <a:noFill/>
          <a:ln/>
        </p:spPr>
        <p:txBody>
          <a:bodyPr wrap="square" lIns="0" tIns="0" rIns="0" bIns="0" rtlCol="0" anchor="ctr"/>
          <a:lstStyle/>
          <a:p>
            <a:pPr indent="0" marL="0">
              <a:buNone/>
            </a:pPr>
            <a:r>
              <a:rPr lang="en-US" sz="1500" b="1" dirty="0">
                <a:solidFill>
                  <a:srgbClr val="B45309"/>
                </a:solidFill>
              </a:rPr>
              <a:t>SASE</a:t>
            </a:r>
            <a:endParaRPr lang="en-US" sz="1400" dirty="0"/>
          </a:p>
          <a:p>
            <a:pPr indent="0" marL="0">
              <a:buNone/>
            </a:pPr>
            <a:r>
              <a:rPr lang="en-US" sz="1300" dirty="0">
                <a:solidFill>
                  <a:schemeClr val="tx2"/>
                </a:solidFill>
              </a:rPr>
              <a:t>The edge: ZTNA in place of VPN</a:t>
            </a:r>
            <a:endParaRPr lang="en-US" sz="1400" dirty="0"/>
          </a:p>
        </p:txBody>
      </p:sp>
      <p:sp>
        <p:nvSpPr>
          <p:cNvPr id="12" name="Surface 4" descr="">
            <a:extLst>
              <a:ext uri="{C183D7F6-B498-43B3-948B-1728B52AA6E4}">
                <adec:decorative xmlns:adec="http://schemas.microsoft.com/office/drawing/2017/decorative" val="1"/>
              </a:ext>
            </a:extLst>
          </p:cNvPr>
          <p:cNvSpPr/>
          <p:nvPr/>
        </p:nvSpPr>
        <p:spPr>
          <a:xfrm>
            <a:off x="8983980" y="1371600"/>
            <a:ext cx="2697480" cy="1005840"/>
          </a:xfrm>
          <a:prstGeom prst="roundRect">
            <a:avLst>
              <a:gd name="adj" fmla="val 727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3" name="Surface 4 text"/>
          <p:cNvSpPr txBox="1"/>
          <p:nvPr/>
        </p:nvSpPr>
        <p:spPr>
          <a:xfrm>
            <a:off x="9121140" y="1417320"/>
            <a:ext cx="2468880" cy="914400"/>
          </a:xfrm>
          <a:prstGeom prst="rect">
            <a:avLst/>
          </a:prstGeom>
          <a:noFill/>
          <a:ln/>
        </p:spPr>
        <p:txBody>
          <a:bodyPr wrap="square" lIns="0" tIns="0" rIns="0" bIns="0" rtlCol="0" anchor="ctr"/>
          <a:lstStyle/>
          <a:p>
            <a:pPr indent="0" marL="0">
              <a:buNone/>
            </a:pPr>
            <a:r>
              <a:rPr lang="en-US" sz="1500" b="1" dirty="0">
                <a:solidFill>
                  <a:srgbClr val="B91C1C"/>
                </a:solidFill>
              </a:rPr>
              <a:t>Phishing-resistant MFA</a:t>
            </a:r>
            <a:endParaRPr lang="en-US" sz="1400" dirty="0"/>
          </a:p>
          <a:p>
            <a:pPr indent="0" marL="0">
              <a:buNone/>
            </a:pPr>
            <a:r>
              <a:rPr lang="en-US" sz="1300" dirty="0">
                <a:solidFill>
                  <a:schemeClr val="tx2"/>
                </a:solidFill>
              </a:rPr>
              <a:t>The proof: FIDO2, Windows Hello, PIV</a:t>
            </a:r>
            <a:endParaRPr lang="en-US" sz="1400" dirty="0"/>
          </a:p>
        </p:txBody>
      </p:sp>
      <p:sp>
        <p:nvSpPr>
          <p:cNvPr id="14" name="Panel 1" descr="">
            <a:extLst>
              <a:ext uri="{C183D7F6-B498-43B3-948B-1728B52AA6E4}">
                <adec:decorative xmlns:adec="http://schemas.microsoft.com/office/drawing/2017/decorative" val="1"/>
              </a:ext>
            </a:extLst>
          </p:cNvPr>
          <p:cNvSpPr/>
          <p:nvPr/>
        </p:nvSpPr>
        <p:spPr>
          <a:xfrm>
            <a:off x="548640" y="2560320"/>
            <a:ext cx="5486400"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IdCard" descr="">
            <a:extLst>
              <a:ext uri="{C183D7F6-B498-43B3-948B-1728B52AA6E4}">
                <adec:decorative xmlns:adec="http://schemas.microsoft.com/office/drawing/2017/decorative" val="1"/>
              </a:ext>
            </a:extLst>
          </p:cNvPr>
          <p:cNvSpPr/>
          <p:nvPr/>
        </p:nvSpPr>
        <p:spPr>
          <a:xfrm>
            <a:off x="731520" y="2651760"/>
            <a:ext cx="512064" cy="512064"/>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774655"/>
            <a:ext cx="266273" cy="266273"/>
          </a:xfrm>
          <a:prstGeom prst="rect">
            <a:avLst/>
          </a:prstGeom>
        </p:spPr>
      </p:pic>
      <p:sp>
        <p:nvSpPr>
          <p:cNvPr id="17" name="Panel head 1"/>
          <p:cNvSpPr txBox="1"/>
          <p:nvPr/>
        </p:nvSpPr>
        <p:spPr>
          <a:xfrm>
            <a:off x="1417320" y="2651760"/>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Smart cards, re-anchored</a:t>
            </a:r>
            <a:endParaRPr lang="en-US" sz="1700" dirty="0"/>
          </a:p>
        </p:txBody>
      </p:sp>
      <p:sp>
        <p:nvSpPr>
          <p:cNvPr id="18" name="Panel text 1"/>
          <p:cNvSpPr txBox="1"/>
          <p:nvPr/>
        </p:nvSpPr>
        <p:spPr>
          <a:xfrm>
            <a:off x="777240" y="3246120"/>
            <a:ext cx="5120640" cy="129844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Card and PIN stay; Entra ID validates the chain</a:t>
            </a:r>
            <a:endParaRPr lang="en-US" sz="1400" dirty="0"/>
          </a:p>
          <a:p>
            <a:pPr marL="342900" indent="-342900">
              <a:spcAft>
                <a:spcPts val="400"/>
              </a:spcAft>
              <a:buSzPct val="100000"/>
              <a:buChar char="•"/>
            </a:pPr>
            <a:r>
              <a:rPr lang="en-US" sz="1350" dirty="0">
                <a:solidFill>
                  <a:schemeClr val="tx2"/>
                </a:solidFill>
              </a:rPr>
              <a:t>Multifactor only if the binding policy says so</a:t>
            </a:r>
            <a:endParaRPr lang="en-US" sz="1400" dirty="0"/>
          </a:p>
          <a:p>
            <a:pPr marL="342900" indent="-342900">
              <a:spcAft>
                <a:spcPts val="400"/>
              </a:spcAft>
              <a:buSzPct val="100000"/>
              <a:buChar char="•"/>
            </a:pPr>
            <a:r>
              <a:rPr lang="en-US" sz="1350" dirty="0">
                <a:solidFill>
                  <a:schemeClr val="tx2"/>
                </a:solidFill>
              </a:rPr>
              <a:t>Issuance moves first: an enterprise CA needs AD DS</a:t>
            </a:r>
            <a:endParaRPr lang="en-US" sz="1400" dirty="0"/>
          </a:p>
        </p:txBody>
      </p:sp>
      <p:sp>
        <p:nvSpPr>
          <p:cNvPr id="19" name="Panel 2" descr="">
            <a:extLst>
              <a:ext uri="{C183D7F6-B498-43B3-948B-1728B52AA6E4}">
                <adec:decorative xmlns:adec="http://schemas.microsoft.com/office/drawing/2017/decorative" val="1"/>
              </a:ext>
            </a:extLst>
          </p:cNvPr>
          <p:cNvSpPr/>
          <p:nvPr/>
        </p:nvSpPr>
        <p:spPr>
          <a:xfrm>
            <a:off x="6172200" y="2560320"/>
            <a:ext cx="5486400"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UserShield" descr="">
            <a:extLst>
              <a:ext uri="{C183D7F6-B498-43B3-948B-1728B52AA6E4}">
                <adec:decorative xmlns:adec="http://schemas.microsoft.com/office/drawing/2017/decorative" val="1"/>
              </a:ext>
            </a:extLst>
          </p:cNvPr>
          <p:cNvSpPr/>
          <p:nvPr/>
        </p:nvSpPr>
        <p:spPr>
          <a:xfrm>
            <a:off x="6355080" y="2651760"/>
            <a:ext cx="512064" cy="512064"/>
          </a:xfrm>
          <a:prstGeom prst="ellipse">
            <a:avLst/>
          </a:prstGeom>
          <a:solidFill>
            <a:srgbClr val="0F766E"/>
          </a:solidFill>
          <a:ln w="12700">
            <a:solidFill>
              <a:srgbClr val="0F766E"/>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774655"/>
            <a:ext cx="266273" cy="266273"/>
          </a:xfrm>
          <a:prstGeom prst="rect">
            <a:avLst/>
          </a:prstGeom>
        </p:spPr>
      </p:pic>
      <p:sp>
        <p:nvSpPr>
          <p:cNvPr id="22" name="Panel head 2"/>
          <p:cNvSpPr txBox="1"/>
          <p:nvPr/>
        </p:nvSpPr>
        <p:spPr>
          <a:xfrm>
            <a:off x="7040880" y="2651760"/>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No standing privilege</a:t>
            </a:r>
            <a:endParaRPr lang="en-US" sz="1700" dirty="0"/>
          </a:p>
        </p:txBody>
      </p:sp>
      <p:sp>
        <p:nvSpPr>
          <p:cNvPr id="23" name="Panel text 2"/>
          <p:cNvSpPr txBox="1"/>
          <p:nvPr/>
        </p:nvSpPr>
        <p:spPr>
          <a:xfrm>
            <a:off x="6400800" y="3246120"/>
            <a:ext cx="5120640" cy="129844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Administrator roles eligible in PIM, just in time</a:t>
            </a:r>
            <a:endParaRPr lang="en-US" sz="1400" dirty="0"/>
          </a:p>
          <a:p>
            <a:pPr marL="342900" indent="-342900">
              <a:spcAft>
                <a:spcPts val="400"/>
              </a:spcAft>
              <a:buSzPct val="100000"/>
              <a:buChar char="•"/>
            </a:pPr>
            <a:r>
              <a:rPr lang="en-US" sz="1350" dirty="0">
                <a:solidFill>
                  <a:schemeClr val="tx2"/>
                </a:solidFill>
              </a:rPr>
              <a:t>A vault for what PIM can't govern</a:t>
            </a:r>
            <a:endParaRPr lang="en-US" sz="1400" dirty="0"/>
          </a:p>
          <a:p>
            <a:pPr marL="342900" indent="-342900">
              <a:spcAft>
                <a:spcPts val="400"/>
              </a:spcAft>
              <a:buSzPct val="100000"/>
              <a:buChar char="•"/>
            </a:pPr>
            <a:r>
              <a:rPr lang="en-US" sz="1350" dirty="0">
                <a:solidFill>
                  <a:schemeClr val="tx2"/>
                </a:solidFill>
              </a:rPr>
              <a:t>CAE revokes sessions on critical events</a:t>
            </a:r>
            <a:endParaRPr lang="en-US" sz="1400" dirty="0"/>
          </a:p>
        </p:txBody>
      </p:sp>
      <p:sp>
        <p:nvSpPr>
          <p:cNvPr id="24" name="Apps"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5" name="Icon FaLo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7" name="Apps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Log into applications, not networks: </a:t>
            </a:r>
            <a:pPr indent="0" marL="0">
              <a:buNone/>
            </a:pPr>
            <a:r>
              <a:rPr lang="en-US" sz="1650" dirty="0">
                <a:solidFill>
                  <a:schemeClr val="tx2"/>
                </a:solidFill>
              </a:rPr>
              <a:t>OMB M-22-09 requires phishing-resistant MFA for staff, contractors and partners, and BOD 25-01 makes blocking legacy authentication mandatory.</a:t>
            </a:r>
            <a:endParaRPr lang="en-US" sz="16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CISA BOD 25-01, SCuBA, ZTMM v2.0, SASE guidance; Microsoft Learn — Entra CBA, AD CS enterprise CAs, PIM, continuous access evaluation. Book 01,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Instruments versus orchestra: who leads it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Sponsor and CIO</a:t>
            </a:r>
            <a:endParaRPr lang="en-US" sz="1300" dirty="0"/>
          </a:p>
          <a:p>
            <a:pPr indent="0" marL="0">
              <a:spcAft>
                <a:spcPts val="400"/>
              </a:spcAft>
              <a:buNone/>
            </a:pPr>
            <a:r>
              <a:rPr lang="en-US" sz="1300" dirty="0">
                <a:solidFill>
                  <a:schemeClr val="tx2"/>
                </a:solidFill>
              </a:rPr>
              <a:t>Scope, funding, sequence, AD retirement</a:t>
            </a:r>
            <a:endParaRPr lang="en-US" sz="1300" dirty="0"/>
          </a:p>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The only official who accepts risk</a:t>
            </a:r>
            <a:endParaRPr lang="en-US" sz="1300" dirty="0"/>
          </a:p>
          <a:p>
            <a:pPr indent="0" marL="0">
              <a:spcAft>
                <a:spcPts val="400"/>
              </a:spcAft>
              <a:buNone/>
            </a:pPr>
            <a:r>
              <a:rPr lang="en-US" sz="1300" b="1" dirty="0">
                <a:solidFill>
                  <a:srgbClr val="1F2A44"/>
                </a:solidFill>
              </a:rPr>
              <a:t>CISO</a:t>
            </a:r>
            <a:endParaRPr lang="en-US" sz="1300" dirty="0"/>
          </a:p>
          <a:p>
            <a:pPr indent="0" marL="0">
              <a:spcAft>
                <a:spcPts val="400"/>
              </a:spcAft>
              <a:buNone/>
            </a:pPr>
            <a:r>
              <a:rPr lang="en-US" sz="1300" dirty="0">
                <a:solidFill>
                  <a:schemeClr val="tx2"/>
                </a:solidFill>
              </a:rPr>
              <a:t>Control requirements and logging</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Run the program</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Program office and steward</a:t>
            </a:r>
            <a:endParaRPr lang="en-US" sz="1300" dirty="0"/>
          </a:p>
          <a:p>
            <a:pPr indent="0" marL="0">
              <a:spcAft>
                <a:spcPts val="400"/>
              </a:spcAft>
              <a:buNone/>
            </a:pPr>
            <a:r>
              <a:rPr lang="en-US" sz="1300" dirty="0">
                <a:solidFill>
                  <a:schemeClr val="tx2"/>
                </a:solidFill>
              </a:rPr>
              <a:t>Repository, plans; gates G0, G1, G4</a:t>
            </a:r>
            <a:endParaRPr lang="en-US" sz="1300" dirty="0"/>
          </a:p>
          <a:p>
            <a:pPr indent="0" marL="0">
              <a:spcAft>
                <a:spcPts val="400"/>
              </a:spcAft>
              <a:buNone/>
            </a:pPr>
            <a:r>
              <a:rPr lang="en-US" sz="1300" b="1" dirty="0">
                <a:solidFill>
                  <a:srgbClr val="0F766E"/>
                </a:solidFill>
              </a:rPr>
              <a:t>HR and contractor sources</a:t>
            </a:r>
            <a:endParaRPr lang="en-US" sz="1300" dirty="0"/>
          </a:p>
          <a:p>
            <a:pPr indent="0" marL="0">
              <a:spcAft>
                <a:spcPts val="400"/>
              </a:spcAft>
              <a:buNone/>
            </a:pPr>
            <a:r>
              <a:rPr lang="en-US" sz="1300" dirty="0">
                <a:solidFill>
                  <a:schemeClr val="tx2"/>
                </a:solidFill>
              </a:rPr>
              <a:t>What worker attributes mean</a:t>
            </a:r>
            <a:endParaRPr lang="en-US" sz="1300" dirty="0"/>
          </a:p>
          <a:p>
            <a:pPr indent="0" marL="0">
              <a:spcAft>
                <a:spcPts val="400"/>
              </a:spcAft>
              <a:buNone/>
            </a:pPr>
            <a:r>
              <a:rPr lang="en-US" sz="1300" b="1" dirty="0">
                <a:solidFill>
                  <a:srgbClr val="0F766E"/>
                </a:solidFill>
              </a:rPr>
              <a:t>Records and privacy</a:t>
            </a:r>
            <a:endParaRPr lang="en-US" sz="1300" dirty="0"/>
          </a:p>
          <a:p>
            <a:pPr indent="0" marL="0">
              <a:spcAft>
                <a:spcPts val="400"/>
              </a:spcAft>
              <a:buNone/>
            </a:pPr>
            <a:r>
              <a:rPr lang="en-US" sz="1300" dirty="0">
                <a:solidFill>
                  <a:schemeClr val="tx2"/>
                </a:solidFill>
              </a:rPr>
              <a:t>Retention before decommission</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Platform teams</a:t>
            </a:r>
            <a:endParaRPr lang="en-US" sz="1300" dirty="0"/>
          </a:p>
          <a:p>
            <a:pPr indent="0" marL="0">
              <a:spcAft>
                <a:spcPts val="400"/>
              </a:spcAft>
              <a:buNone/>
            </a:pPr>
            <a:r>
              <a:rPr lang="en-US" sz="1300" dirty="0">
                <a:solidFill>
                  <a:schemeClr val="tx2"/>
                </a:solidFill>
              </a:rPr>
              <a:t>Five workstreams, a lead for each</a:t>
            </a:r>
            <a:endParaRPr lang="en-US" sz="1300" dirty="0"/>
          </a:p>
          <a:p>
            <a:pPr indent="0" marL="0">
              <a:spcAft>
                <a:spcPts val="400"/>
              </a:spcAft>
              <a:buNone/>
            </a:pPr>
            <a:r>
              <a:rPr lang="en-US" sz="1300" b="1" dirty="0">
                <a:solidFill>
                  <a:srgbClr val="B45309"/>
                </a:solidFill>
              </a:rPr>
              <a:t>Application owners</a:t>
            </a:r>
            <a:endParaRPr lang="en-US" sz="1300" dirty="0"/>
          </a:p>
          <a:p>
            <a:pPr indent="0" marL="0">
              <a:spcAft>
                <a:spcPts val="400"/>
              </a:spcAft>
              <a:buNone/>
            </a:pPr>
            <a:r>
              <a:rPr lang="en-US" sz="1300" dirty="0">
                <a:solidFill>
                  <a:schemeClr val="tx2"/>
                </a:solidFill>
              </a:rPr>
              <a:t>Dependencies, tests, cutover sign-off</a:t>
            </a:r>
            <a:endParaRPr lang="en-US" sz="1300" dirty="0"/>
          </a:p>
          <a:p>
            <a:pPr indent="0" marL="0">
              <a:spcAft>
                <a:spcPts val="400"/>
              </a:spcAft>
              <a:buNone/>
            </a:pPr>
            <a:r>
              <a:rPr lang="en-US" sz="1300" b="1" dirty="0">
                <a:solidFill>
                  <a:srgbClr val="B45309"/>
                </a:solidFill>
              </a:rPr>
              <a:t>Help desk</a:t>
            </a:r>
            <a:endParaRPr lang="en-US" sz="1300" dirty="0"/>
          </a:p>
          <a:p>
            <a:pPr indent="0" marL="0">
              <a:spcAft>
                <a:spcPts val="400"/>
              </a:spcAft>
              <a:buNone/>
            </a:pPr>
            <a:r>
              <a:rPr lang="en-US" sz="1300" dirty="0">
                <a:solidFill>
                  <a:schemeClr val="tx2"/>
                </a:solidFill>
              </a:rPr>
              <a:t>Scoped roles; verified resets</a:t>
            </a:r>
            <a:endParaRPr lang="en-US" sz="1300" dirty="0"/>
          </a:p>
        </p:txBody>
      </p:sp>
      <p:sp>
        <p:nvSpPr>
          <p:cNvPr id="20" name="Orchestra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MICROSOFT PROVIDES THE INSTRUMENTS; THE PROGRAM PROVIDES THE ORCHESTRA</a:t>
            </a:r>
            <a:endParaRPr lang="en-US" sz="1200" dirty="0"/>
          </a:p>
        </p:txBody>
      </p:sp>
      <p:sp>
        <p:nvSpPr>
          <p:cNvPr id="21" name="Orchestra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Orchestra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The instruments — </a:t>
            </a:r>
            <a:pPr indent="0" marL="0">
              <a:buNone/>
            </a:pPr>
            <a:r>
              <a:rPr lang="en-US" sz="1400" dirty="0">
                <a:solidFill>
                  <a:schemeClr val="tx2"/>
                </a:solidFill>
              </a:rPr>
              <a:t>Entra ID, Intune, Arc, Conditional Access, PIM: each excellent, and none decides the target</a:t>
            </a:r>
            <a:endParaRPr lang="en-US" sz="1400" dirty="0"/>
          </a:p>
        </p:txBody>
      </p:sp>
      <p:sp>
        <p:nvSpPr>
          <p:cNvPr id="23" name="Orchestra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Orchestra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The orchestra — </a:t>
            </a:r>
            <a:pPr indent="0" marL="0">
              <a:buNone/>
            </a:pPr>
            <a:r>
              <a:rPr lang="en-US" sz="1400" dirty="0">
                <a:solidFill>
                  <a:schemeClr val="tx2"/>
                </a:solidFill>
              </a:rPr>
              <a:t>decide the target, get there, prove it was done right, and keep it right</a:t>
            </a:r>
            <a:endParaRPr lang="en-US" sz="1400" dirty="0"/>
          </a:p>
        </p:txBody>
      </p:sp>
      <p:sp>
        <p:nvSpPr>
          <p:cNvPr id="25" name="Orchestra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Orchestra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Ask each month — </a:t>
            </a:r>
            <a:pPr indent="0" marL="0">
              <a:buNone/>
            </a:pPr>
            <a:r>
              <a:rPr lang="en-US" sz="1400" dirty="0">
                <a:solidFill>
                  <a:schemeClr val="tx2"/>
                </a:solidFill>
              </a:rPr>
              <a:t>the drift trend, the share of changes with a signed plan, and open risk acceptances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OMB M-22-09, M-19-17; CISA BOD 25-01; NARA GRS 3.2; Microsoft Learn — cloud-first identity guidance, Windows Server 2025. Book 01,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Inventory first: read-only, with provenance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sess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ock"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Assess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Read-only by policy</a:t>
            </a:r>
            <a:endParaRPr lang="en-US" sz="1700" dirty="0"/>
          </a:p>
        </p:txBody>
      </p:sp>
      <p:sp>
        <p:nvSpPr>
          <p:cNvPr id="9" name="Asses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write rights on the account</a:t>
            </a:r>
            <a:endParaRPr lang="en-US" sz="1400" dirty="0"/>
          </a:p>
          <a:p>
            <a:pPr marL="342900" indent="-342900">
              <a:spcAft>
                <a:spcPts val="600"/>
              </a:spcAft>
              <a:buSzPct val="100000"/>
              <a:buChar char="•"/>
            </a:pPr>
            <a:r>
              <a:rPr lang="en-US" sz="1350" dirty="0">
                <a:solidFill>
                  <a:schemeClr val="tx2"/>
                </a:solidFill>
              </a:rPr>
              <a:t>No write commands imported</a:t>
            </a:r>
            <a:endParaRPr lang="en-US" sz="1400" dirty="0"/>
          </a:p>
          <a:p>
            <a:pPr marL="342900" indent="-342900">
              <a:spcAft>
                <a:spcPts val="600"/>
              </a:spcAft>
              <a:buSzPct val="100000"/>
              <a:buChar char="•"/>
            </a:pPr>
            <a:r>
              <a:rPr lang="en-US" sz="1350" dirty="0">
                <a:solidFill>
                  <a:schemeClr val="tx2"/>
                </a:solidFill>
              </a:rPr>
              <a:t>Every call logged by class</a:t>
            </a:r>
            <a:endParaRPr lang="en-US" sz="1400" dirty="0"/>
          </a:p>
          <a:p>
            <a:pPr marL="342900" indent="-342900">
              <a:spcAft>
                <a:spcPts val="600"/>
              </a:spcAft>
              <a:buSzPct val="100000"/>
              <a:buChar char="•"/>
            </a:pPr>
            <a:r>
              <a:rPr lang="en-US" sz="1350" dirty="0">
                <a:solidFill>
                  <a:schemeClr val="tx2"/>
                </a:solidFill>
              </a:rPr>
              <a:t>Security operations told the window</a:t>
            </a:r>
            <a:endParaRPr lang="en-US" sz="1400" dirty="0"/>
          </a:p>
        </p:txBody>
      </p:sp>
      <p:sp>
        <p:nvSpPr>
          <p:cNvPr id="10" name="Assess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Key"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Assess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Two tiers of access</a:t>
            </a:r>
            <a:endParaRPr lang="en-US" sz="1700" dirty="0"/>
          </a:p>
        </p:txBody>
      </p:sp>
      <p:sp>
        <p:nvSpPr>
          <p:cNvPr id="14" name="Asses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Tier A: default read, broader than most teams expect</a:t>
            </a:r>
            <a:endParaRPr lang="en-US" sz="1400" dirty="0"/>
          </a:p>
          <a:p>
            <a:pPr marL="342900" indent="-342900">
              <a:spcAft>
                <a:spcPts val="600"/>
              </a:spcAft>
              <a:buSzPct val="100000"/>
              <a:buChar char="•"/>
            </a:pPr>
            <a:r>
              <a:rPr lang="en-US" sz="1350" dirty="0">
                <a:solidFill>
                  <a:schemeClr val="tx2"/>
                </a:solidFill>
              </a:rPr>
              <a:t>Tier B: DHCP, DNS settings and CA database exports</a:t>
            </a:r>
            <a:endParaRPr lang="en-US" sz="1400" dirty="0"/>
          </a:p>
          <a:p>
            <a:pPr marL="342900" indent="-342900">
              <a:spcAft>
                <a:spcPts val="600"/>
              </a:spcAft>
              <a:buSzPct val="100000"/>
              <a:buChar char="•"/>
            </a:pPr>
            <a:r>
              <a:rPr lang="en-US" sz="1350" dirty="0">
                <a:solidFill>
                  <a:schemeClr val="tx2"/>
                </a:solidFill>
              </a:rPr>
              <a:t>Never secrets</a:t>
            </a:r>
            <a:endParaRPr lang="en-US" sz="1400" dirty="0"/>
          </a:p>
        </p:txBody>
      </p:sp>
      <p:sp>
        <p:nvSpPr>
          <p:cNvPr id="15" name="Assess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FileShield"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Assess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Provenance, every run</a:t>
            </a:r>
            <a:endParaRPr lang="en-US" sz="1700" dirty="0"/>
          </a:p>
        </p:txBody>
      </p:sp>
      <p:sp>
        <p:nvSpPr>
          <p:cNvPr id="19" name="Asses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Who, when and against what</a:t>
            </a:r>
            <a:endParaRPr lang="en-US" sz="1400" dirty="0"/>
          </a:p>
          <a:p>
            <a:pPr marL="342900" indent="-342900">
              <a:spcAft>
                <a:spcPts val="600"/>
              </a:spcAft>
              <a:buSzPct val="100000"/>
              <a:buChar char="•"/>
            </a:pPr>
            <a:r>
              <a:rPr lang="en-US" sz="1350" dirty="0">
                <a:solidFill>
                  <a:schemeClr val="tx2"/>
                </a:solidFill>
              </a:rPr>
              <a:t>Which tier of rights</a:t>
            </a:r>
            <a:endParaRPr lang="en-US" sz="1400" dirty="0"/>
          </a:p>
          <a:p>
            <a:pPr marL="342900" indent="-342900">
              <a:spcAft>
                <a:spcPts val="600"/>
              </a:spcAft>
              <a:buSzPct val="100000"/>
              <a:buChar char="•"/>
            </a:pPr>
            <a:r>
              <a:rPr lang="en-US" sz="1350" dirty="0">
                <a:solidFill>
                  <a:schemeClr val="tx2"/>
                </a:solidFill>
              </a:rPr>
              <a:t>A SHA-256 hash of every file</a:t>
            </a:r>
            <a:endParaRPr lang="en-US" sz="1400" dirty="0"/>
          </a:p>
          <a:p>
            <a:pPr marL="342900" indent="-342900">
              <a:spcAft>
                <a:spcPts val="600"/>
              </a:spcAft>
              <a:buSzPct val="100000"/>
              <a:buChar char="•"/>
            </a:pPr>
            <a:r>
              <a:rPr lang="en-US" sz="1350" dirty="0">
                <a:solidFill>
                  <a:schemeClr val="tx2"/>
                </a:solidFill>
              </a:rPr>
              <a:t>A signed commit; no run ID reused</a:t>
            </a:r>
            <a:endParaRPr lang="en-US" sz="1400" dirty="0"/>
          </a:p>
        </p:txBody>
      </p:sp>
      <p:sp>
        <p:nvSpPr>
          <p:cNvPr id="20" name="Profil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ChartLin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Profil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Profile before separating: </a:t>
            </a:r>
            <a:pPr indent="0" marL="0">
              <a:buNone/>
            </a:pPr>
            <a:r>
              <a:rPr lang="en-US" sz="1650" dirty="0">
                <a:solidFill>
                  <a:schemeClr val="tx2"/>
                </a:solidFill>
              </a:rPr>
              <a:t>count each business transaction's synchronous round trips to its data, reduce them, and measure again. Without that profile, the plan won't approve the move.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AC-6; Microsoft Learn — default AD permissions, DHCP Users group, Windows Server 2025 AD DS, Arc Extended Security Updates, Defender for Identity. Book 01,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Analyze, plan, deliver, under an actuation ceiling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age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THREE STAGES, TWO GATES, ONE EVIDENCE PACKET</a:t>
            </a:r>
            <a:endParaRPr lang="en-US" sz="1200" dirty="0"/>
          </a:p>
        </p:txBody>
      </p:sp>
      <p:sp>
        <p:nvSpPr>
          <p:cNvPr id="6" name="Stage 0" descr="">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tage 0 text"/>
          <p:cNvSpPr txBox="1"/>
          <p:nvPr/>
        </p:nvSpPr>
        <p:spPr>
          <a:xfrm>
            <a:off x="731520" y="175564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Analyze   </a:t>
            </a:r>
            <a:pPr indent="0" marL="0">
              <a:buNone/>
            </a:pPr>
            <a:r>
              <a:rPr lang="en-US" sz="1400" dirty="0">
                <a:solidFill>
                  <a:schemeClr val="tx2"/>
                </a:solidFill>
              </a:rPr>
              <a:t>Current and target graphs, diff, risk</a:t>
            </a:r>
            <a:endParaRPr lang="en-US" sz="1400" dirty="0"/>
          </a:p>
        </p:txBody>
      </p:sp>
      <p:sp>
        <p:nvSpPr>
          <p:cNvPr id="8" name="Stage 1" descr="">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Stage 1 text"/>
          <p:cNvSpPr txBox="1"/>
          <p:nvPr/>
        </p:nvSpPr>
        <p:spPr>
          <a:xfrm>
            <a:off x="731520" y="2267712"/>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Plan   </a:t>
            </a:r>
            <a:pPr indent="0" marL="0">
              <a:buNone/>
            </a:pPr>
            <a:r>
              <a:rPr lang="en-US" sz="1400" dirty="0">
                <a:solidFill>
                  <a:schemeClr val="tx2"/>
                </a:solidFill>
              </a:rPr>
              <a:t>Typed, scoped, ordered, rollback-paired</a:t>
            </a:r>
            <a:endParaRPr lang="en-US" sz="1400" dirty="0"/>
          </a:p>
        </p:txBody>
      </p:sp>
      <p:sp>
        <p:nvSpPr>
          <p:cNvPr id="10" name="Stage 2" descr="">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Stage 2 text"/>
          <p:cNvSpPr txBox="1"/>
          <p:nvPr/>
        </p:nvSpPr>
        <p:spPr>
          <a:xfrm>
            <a:off x="731520" y="2779776"/>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Validate   </a:t>
            </a:r>
            <a:pPr indent="0" marL="0">
              <a:buNone/>
            </a:pPr>
            <a:r>
              <a:rPr lang="en-US" sz="1400" dirty="0">
                <a:solidFill>
                  <a:schemeClr val="tx2"/>
                </a:solidFill>
              </a:rPr>
              <a:t>Schema, rules, boundary, safety</a:t>
            </a:r>
            <a:endParaRPr lang="en-US" sz="1400" dirty="0"/>
          </a:p>
        </p:txBody>
      </p:sp>
      <p:sp>
        <p:nvSpPr>
          <p:cNvPr id="12" name="Stage 3" descr="">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Stage 3 text"/>
          <p:cNvSpPr txBox="1"/>
          <p:nvPr/>
        </p:nvSpPr>
        <p:spPr>
          <a:xfrm>
            <a:off x="731520" y="3291840"/>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Authorize   </a:t>
            </a:r>
            <a:pPr indent="0" marL="0">
              <a:buNone/>
            </a:pPr>
            <a:r>
              <a:rPr lang="en-US" sz="1400" dirty="0">
                <a:solidFill>
                  <a:schemeClr val="tx2"/>
                </a:solidFill>
              </a:rPr>
              <a:t>An approver of record, not the author</a:t>
            </a:r>
            <a:endParaRPr lang="en-US" sz="1400" dirty="0"/>
          </a:p>
        </p:txBody>
      </p:sp>
      <p:sp>
        <p:nvSpPr>
          <p:cNvPr id="14" name="Stage 4" descr="">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Stage 4 text"/>
          <p:cNvSpPr txBox="1"/>
          <p:nvPr/>
        </p:nvSpPr>
        <p:spPr>
          <a:xfrm>
            <a:off x="731520" y="3803904"/>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Deliver   </a:t>
            </a:r>
            <a:pPr indent="0" marL="0">
              <a:buNone/>
            </a:pPr>
            <a:r>
              <a:rPr lang="en-US" sz="1400" dirty="0">
                <a:solidFill>
                  <a:schemeClr val="tx2"/>
                </a:solidFill>
              </a:rPr>
              <a:t>Separate identity; verify each action</a:t>
            </a:r>
            <a:endParaRPr lang="en-US" sz="1400" dirty="0"/>
          </a:p>
        </p:txBody>
      </p:sp>
      <p:sp>
        <p:nvSpPr>
          <p:cNvPr id="16" name="Stage 5" descr="">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Stage 5 text"/>
          <p:cNvSpPr txBox="1"/>
          <p:nvPr/>
        </p:nvSpPr>
        <p:spPr>
          <a:xfrm>
            <a:off x="731520" y="431596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Evidence   </a:t>
            </a:r>
            <a:pPr indent="0" marL="0">
              <a:buNone/>
            </a:pPr>
            <a:r>
              <a:rPr lang="en-US" sz="1400" dirty="0">
                <a:solidFill>
                  <a:schemeClr val="tx2"/>
                </a:solidFill>
              </a:rPr>
              <a:t>Signed packet to the repository and SIEM</a:t>
            </a:r>
            <a:endParaRPr lang="en-US" sz="1400" dirty="0"/>
          </a:p>
        </p:txBody>
      </p:sp>
      <p:sp>
        <p:nvSpPr>
          <p:cNvPr id="18" name="Ladder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ArrowDownWideShort"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1" name="Ladder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ACTUATION LADDER</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Gated actuation is the ceiling</a:t>
            </a:r>
            <a:endParaRPr lang="en-US" sz="1400" dirty="0"/>
          </a:p>
        </p:txBody>
      </p:sp>
      <p:sp>
        <p:nvSpPr>
          <p:cNvPr id="22" name="Ladder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L0 Record and L1 Observe: read-only</a:t>
            </a:r>
            <a:endParaRPr lang="en-US" sz="1400" dirty="0"/>
          </a:p>
          <a:p>
            <a:pPr marL="342900" indent="-342900">
              <a:spcAft>
                <a:spcPts val="600"/>
              </a:spcAft>
              <a:buSzPct val="100000"/>
              <a:buChar char="•"/>
            </a:pPr>
            <a:r>
              <a:rPr lang="en-US" sz="1400" dirty="0">
                <a:solidFill>
                  <a:schemeClr val="tx2"/>
                </a:solidFill>
              </a:rPr>
              <a:t>L2 Advise: plans surfaced, no writes</a:t>
            </a:r>
            <a:endParaRPr lang="en-US" sz="1400" dirty="0"/>
          </a:p>
          <a:p>
            <a:pPr marL="342900" indent="-342900">
              <a:spcAft>
                <a:spcPts val="600"/>
              </a:spcAft>
              <a:buSzPct val="100000"/>
              <a:buChar char="•"/>
            </a:pPr>
            <a:r>
              <a:rPr lang="en-US" sz="1400" dirty="0">
                <a:solidFill>
                  <a:schemeClr val="tx2"/>
                </a:solidFill>
              </a:rPr>
              <a:t>L3 Gated: a person approves, dry run first</a:t>
            </a:r>
            <a:endParaRPr lang="en-US" sz="1400" dirty="0"/>
          </a:p>
          <a:p>
            <a:pPr marL="342900" indent="-342900">
              <a:spcAft>
                <a:spcPts val="600"/>
              </a:spcAft>
              <a:buSzPct val="100000"/>
              <a:buChar char="•"/>
            </a:pPr>
            <a:r>
              <a:rPr lang="en-US" sz="1400" dirty="0">
                <a:solidFill>
                  <a:schemeClr val="tx2"/>
                </a:solidFill>
              </a:rPr>
              <a:t>L4 Autonomous: enumerated low-risk classes</a:t>
            </a:r>
            <a:endParaRPr lang="en-US" sz="1400" dirty="0"/>
          </a:p>
        </p:txBody>
      </p:sp>
      <p:sp>
        <p:nvSpPr>
          <p:cNvPr id="23" name="Zero"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ArrowsRotate"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6" name="Zero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The zero-action plan: </a:t>
            </a:r>
            <a:pPr indent="0" marL="0">
              <a:buNone/>
            </a:pPr>
            <a:r>
              <a:rPr lang="en-US" sz="1650" dirty="0">
                <a:solidFill>
                  <a:schemeClr val="tx2"/>
                </a:solidFill>
              </a:rPr>
              <a:t>when nothing has drifted, the next run produces no actions. Tenant-wide roles and Conditional Access enforcement stay gated permanently.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Zero Trust Maturity Model v2.0; OMB M-22-09, M-26-14; Microsoft Learn — role-assignable groups, Microsoft Graph best practices and throttling. Book 01, Chapters 03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roadmap: seven phases, gated by data</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 0" descr="">
            <a:extLst>
              <a:ext uri="{C183D7F6-B498-43B3-948B-1728B52AA6E4}">
                <adec:decorative xmlns:adec="http://schemas.microsoft.com/office/drawing/2017/decorative" val="1"/>
              </a:ext>
            </a:extLst>
          </p:cNvPr>
          <p:cNvSpPr/>
          <p:nvPr/>
        </p:nvSpPr>
        <p:spPr>
          <a:xfrm>
            <a:off x="548640" y="1371600"/>
            <a:ext cx="150876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ase 0 text"/>
          <p:cNvSpPr txBox="1"/>
          <p:nvPr/>
        </p:nvSpPr>
        <p:spPr>
          <a:xfrm>
            <a:off x="640080" y="1417320"/>
            <a:ext cx="1344168"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indent="0" marL="0">
              <a:buNone/>
            </a:pPr>
            <a:r>
              <a:rPr lang="en-US" sz="1300" b="1" dirty="0">
                <a:solidFill>
                  <a:srgbClr val="1F2A44"/>
                </a:solidFill>
              </a:rPr>
              <a:t>Pre-flight</a:t>
            </a:r>
            <a:endParaRPr lang="en-US" sz="1400" dirty="0"/>
          </a:p>
          <a:p>
            <a:pPr indent="0" marL="0">
              <a:buNone/>
            </a:pPr>
            <a:r>
              <a:rPr lang="en-US" sz="1150" dirty="0">
                <a:solidFill>
                  <a:schemeClr val="tx2"/>
                </a:solidFill>
              </a:rPr>
              <a:t>Weeks 1–4</a:t>
            </a:r>
            <a:endParaRPr lang="en-US" sz="1400" dirty="0"/>
          </a:p>
        </p:txBody>
      </p:sp>
      <p:sp>
        <p:nvSpPr>
          <p:cNvPr id="7" name="Phase 1" descr="">
            <a:extLst>
              <a:ext uri="{C183D7F6-B498-43B3-948B-1728B52AA6E4}">
                <adec:decorative xmlns:adec="http://schemas.microsoft.com/office/drawing/2017/decorative" val="1"/>
              </a:ext>
            </a:extLst>
          </p:cNvPr>
          <p:cNvSpPr/>
          <p:nvPr/>
        </p:nvSpPr>
        <p:spPr>
          <a:xfrm>
            <a:off x="2148840" y="1371600"/>
            <a:ext cx="150876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Phase 1 text"/>
          <p:cNvSpPr txBox="1"/>
          <p:nvPr/>
        </p:nvSpPr>
        <p:spPr>
          <a:xfrm>
            <a:off x="2240280" y="1417320"/>
            <a:ext cx="1344168"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300" b="1" dirty="0">
                <a:solidFill>
                  <a:srgbClr val="1F2A44"/>
                </a:solidFill>
              </a:rPr>
              <a:t>Foundation</a:t>
            </a:r>
            <a:endParaRPr lang="en-US" sz="1400" dirty="0"/>
          </a:p>
          <a:p>
            <a:pPr indent="0" marL="0">
              <a:buNone/>
            </a:pPr>
            <a:r>
              <a:rPr lang="en-US" sz="1150" dirty="0">
                <a:solidFill>
                  <a:schemeClr val="tx2"/>
                </a:solidFill>
              </a:rPr>
              <a:t>Weeks 5–8</a:t>
            </a:r>
            <a:endParaRPr lang="en-US" sz="1400" dirty="0"/>
          </a:p>
        </p:txBody>
      </p:sp>
      <p:sp>
        <p:nvSpPr>
          <p:cNvPr id="9" name="Phase 2" descr="">
            <a:extLst>
              <a:ext uri="{C183D7F6-B498-43B3-948B-1728B52AA6E4}">
                <adec:decorative xmlns:adec="http://schemas.microsoft.com/office/drawing/2017/decorative" val="1"/>
              </a:ext>
            </a:extLst>
          </p:cNvPr>
          <p:cNvSpPr/>
          <p:nvPr/>
        </p:nvSpPr>
        <p:spPr>
          <a:xfrm>
            <a:off x="3749040" y="1371600"/>
            <a:ext cx="150876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Phase 2 text"/>
          <p:cNvSpPr txBox="1"/>
          <p:nvPr/>
        </p:nvSpPr>
        <p:spPr>
          <a:xfrm>
            <a:off x="3840480" y="1417320"/>
            <a:ext cx="1344168"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300" b="1" dirty="0">
                <a:solidFill>
                  <a:srgbClr val="1F2A44"/>
                </a:solidFill>
              </a:rPr>
              <a:t>Pilot division</a:t>
            </a:r>
            <a:endParaRPr lang="en-US" sz="1400" dirty="0"/>
          </a:p>
          <a:p>
            <a:pPr indent="0" marL="0">
              <a:buNone/>
            </a:pPr>
            <a:r>
              <a:rPr lang="en-US" sz="1150" dirty="0">
                <a:solidFill>
                  <a:schemeClr val="tx2"/>
                </a:solidFill>
              </a:rPr>
              <a:t>Weeks 9–16</a:t>
            </a:r>
            <a:endParaRPr lang="en-US" sz="1400" dirty="0"/>
          </a:p>
        </p:txBody>
      </p:sp>
      <p:sp>
        <p:nvSpPr>
          <p:cNvPr id="11" name="Phase 3" descr="">
            <a:extLst>
              <a:ext uri="{C183D7F6-B498-43B3-948B-1728B52AA6E4}">
                <adec:decorative xmlns:adec="http://schemas.microsoft.com/office/drawing/2017/decorative" val="1"/>
              </a:ext>
            </a:extLst>
          </p:cNvPr>
          <p:cNvSpPr/>
          <p:nvPr/>
        </p:nvSpPr>
        <p:spPr>
          <a:xfrm>
            <a:off x="5349240" y="1371600"/>
            <a:ext cx="150876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Phase 3 text"/>
          <p:cNvSpPr txBox="1"/>
          <p:nvPr/>
        </p:nvSpPr>
        <p:spPr>
          <a:xfrm>
            <a:off x="5440680" y="1417320"/>
            <a:ext cx="1344168"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300" b="1" dirty="0">
                <a:solidFill>
                  <a:srgbClr val="1F2A44"/>
                </a:solidFill>
              </a:rPr>
              <a:t>General rollout</a:t>
            </a:r>
            <a:endParaRPr lang="en-US" sz="1400" dirty="0"/>
          </a:p>
          <a:p>
            <a:pPr indent="0" marL="0">
              <a:buNone/>
            </a:pPr>
            <a:r>
              <a:rPr lang="en-US" sz="1150" dirty="0">
                <a:solidFill>
                  <a:schemeClr val="tx2"/>
                </a:solidFill>
              </a:rPr>
              <a:t>Weeks 17–36</a:t>
            </a:r>
            <a:endParaRPr lang="en-US" sz="1400" dirty="0"/>
          </a:p>
        </p:txBody>
      </p:sp>
      <p:sp>
        <p:nvSpPr>
          <p:cNvPr id="13" name="Phase 4" descr="">
            <a:extLst>
              <a:ext uri="{C183D7F6-B498-43B3-948B-1728B52AA6E4}">
                <adec:decorative xmlns:adec="http://schemas.microsoft.com/office/drawing/2017/decorative" val="1"/>
              </a:ext>
            </a:extLst>
          </p:cNvPr>
          <p:cNvSpPr/>
          <p:nvPr/>
        </p:nvSpPr>
        <p:spPr>
          <a:xfrm>
            <a:off x="6949440" y="1371600"/>
            <a:ext cx="150876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4" name="Phase 4 text"/>
          <p:cNvSpPr txBox="1"/>
          <p:nvPr/>
        </p:nvSpPr>
        <p:spPr>
          <a:xfrm>
            <a:off x="7040880" y="1417320"/>
            <a:ext cx="1344168"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300" b="1" dirty="0">
                <a:solidFill>
                  <a:srgbClr val="1F2A44"/>
                </a:solidFill>
              </a:rPr>
              <a:t>Legacy retirement</a:t>
            </a:r>
            <a:endParaRPr lang="en-US" sz="1400" dirty="0"/>
          </a:p>
          <a:p>
            <a:pPr indent="0" marL="0">
              <a:buNone/>
            </a:pPr>
            <a:r>
              <a:rPr lang="en-US" sz="1150" dirty="0">
                <a:solidFill>
                  <a:schemeClr val="tx2"/>
                </a:solidFill>
              </a:rPr>
              <a:t>Weeks 37–44</a:t>
            </a:r>
            <a:endParaRPr lang="en-US" sz="1400" dirty="0"/>
          </a:p>
        </p:txBody>
      </p:sp>
      <p:sp>
        <p:nvSpPr>
          <p:cNvPr id="15" name="Phase 5" descr="">
            <a:extLst>
              <a:ext uri="{C183D7F6-B498-43B3-948B-1728B52AA6E4}">
                <adec:decorative xmlns:adec="http://schemas.microsoft.com/office/drawing/2017/decorative" val="1"/>
              </a:ext>
            </a:extLst>
          </p:cNvPr>
          <p:cNvSpPr/>
          <p:nvPr/>
        </p:nvSpPr>
        <p:spPr>
          <a:xfrm>
            <a:off x="8549640" y="1371600"/>
            <a:ext cx="1508760"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Phase 5 text"/>
          <p:cNvSpPr txBox="1"/>
          <p:nvPr/>
        </p:nvSpPr>
        <p:spPr>
          <a:xfrm>
            <a:off x="8641080" y="1417320"/>
            <a:ext cx="1344168"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300" b="1" dirty="0">
                <a:solidFill>
                  <a:srgbClr val="1F2A44"/>
                </a:solidFill>
              </a:rPr>
              <a:t>AD DS retirement</a:t>
            </a:r>
            <a:endParaRPr lang="en-US" sz="1400" dirty="0"/>
          </a:p>
          <a:p>
            <a:pPr indent="0" marL="0">
              <a:buNone/>
            </a:pPr>
            <a:r>
              <a:rPr lang="en-US" sz="1150" dirty="0">
                <a:solidFill>
                  <a:schemeClr val="tx2"/>
                </a:solidFill>
              </a:rPr>
              <a:t>Weeks 45–48</a:t>
            </a:r>
            <a:endParaRPr lang="en-US" sz="1400" dirty="0"/>
          </a:p>
        </p:txBody>
      </p:sp>
      <p:sp>
        <p:nvSpPr>
          <p:cNvPr id="17" name="Phase 6" descr="">
            <a:extLst>
              <a:ext uri="{C183D7F6-B498-43B3-948B-1728B52AA6E4}">
                <adec:decorative xmlns:adec="http://schemas.microsoft.com/office/drawing/2017/decorative" val="1"/>
              </a:ext>
            </a:extLst>
          </p:cNvPr>
          <p:cNvSpPr/>
          <p:nvPr/>
        </p:nvSpPr>
        <p:spPr>
          <a:xfrm>
            <a:off x="10149840" y="1371600"/>
            <a:ext cx="150876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Phase 6 text"/>
          <p:cNvSpPr txBox="1"/>
          <p:nvPr/>
        </p:nvSpPr>
        <p:spPr>
          <a:xfrm>
            <a:off x="10241280" y="1417320"/>
            <a:ext cx="1344168"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300" b="1" dirty="0">
                <a:solidFill>
                  <a:srgbClr val="1F2A44"/>
                </a:solidFill>
              </a:rPr>
              <a:t>Steady state</a:t>
            </a:r>
            <a:endParaRPr lang="en-US" sz="1400" dirty="0"/>
          </a:p>
          <a:p>
            <a:pPr indent="0" marL="0">
              <a:buNone/>
            </a:pPr>
            <a:r>
              <a:rPr lang="en-US" sz="1150" dirty="0">
                <a:solidFill>
                  <a:schemeClr val="tx2"/>
                </a:solidFill>
              </a:rPr>
              <a:t>Week 49 on</a:t>
            </a:r>
            <a:endParaRPr lang="en-US" sz="1400" dirty="0"/>
          </a:p>
        </p:txBody>
      </p:sp>
      <p:sp>
        <p:nvSpPr>
          <p:cNvPr id="19" name="Principle 1" descr="">
            <a:extLst>
              <a:ext uri="{C183D7F6-B498-43B3-948B-1728B52AA6E4}">
                <adec:decorative xmlns:adec="http://schemas.microsoft.com/office/drawing/2017/decorative" val="1"/>
              </a:ext>
            </a:extLst>
          </p:cNvPr>
          <p:cNvSpPr/>
          <p:nvPr/>
        </p:nvSpPr>
        <p:spPr>
          <a:xfrm>
            <a:off x="548640" y="2788920"/>
            <a:ext cx="2103120" cy="1828800"/>
          </a:xfrm>
          <a:prstGeom prst="roundRect">
            <a:avLst>
              <a:gd name="adj" fmla="val 4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0" name="Principle 1 text"/>
          <p:cNvSpPr txBox="1"/>
          <p:nvPr/>
        </p:nvSpPr>
        <p:spPr>
          <a:xfrm>
            <a:off x="685800" y="2852928"/>
            <a:ext cx="1828800" cy="1700784"/>
          </a:xfrm>
          <a:prstGeom prst="rect">
            <a:avLst/>
          </a:prstGeom>
          <a:noFill/>
          <a:ln/>
        </p:spPr>
        <p:txBody>
          <a:bodyPr wrap="square" lIns="0" tIns="0" rIns="0" bIns="0" rtlCol="0" anchor="t"/>
          <a:lstStyle/>
          <a:p>
            <a:pPr indent="0" marL="0">
              <a:spcAft>
                <a:spcPts val="300"/>
              </a:spcAft>
              <a:buNone/>
            </a:pPr>
            <a:r>
              <a:rPr lang="en-US" sz="2200" b="1" dirty="0">
                <a:solidFill>
                  <a:srgbClr val="B45309"/>
                </a:solidFill>
                <a:latin typeface="Cambria" pitchFamily="34" charset="0"/>
                <a:ea typeface="Cambria" pitchFamily="34" charset="-122"/>
                <a:cs typeface="Cambria" pitchFamily="34" charset="-120"/>
              </a:rPr>
              <a:t>1</a:t>
            </a:r>
            <a:endParaRPr lang="en-US" sz="1400" dirty="0"/>
          </a:p>
          <a:p>
            <a:pPr indent="0" marL="0">
              <a:spcAft>
                <a:spcPts val="300"/>
              </a:spcAft>
              <a:buNone/>
            </a:pPr>
            <a:r>
              <a:rPr lang="en-US" sz="1450" b="1" dirty="0">
                <a:solidFill>
                  <a:srgbClr val="1F2A44"/>
                </a:solidFill>
              </a:rPr>
              <a:t>One authoritative source</a:t>
            </a:r>
            <a:endParaRPr lang="en-US" sz="1400" dirty="0"/>
          </a:p>
          <a:p>
            <a:pPr indent="0" marL="0">
              <a:spcAft>
                <a:spcPts val="300"/>
              </a:spcAft>
              <a:buNone/>
            </a:pPr>
            <a:r>
              <a:rPr lang="en-US" sz="1300" dirty="0">
                <a:solidFill>
                  <a:schemeClr val="tx2"/>
                </a:solidFill>
              </a:rPr>
              <a:t>Every access attribute has one source</a:t>
            </a:r>
            <a:endParaRPr lang="en-US" sz="1400" dirty="0"/>
          </a:p>
        </p:txBody>
      </p:sp>
      <p:sp>
        <p:nvSpPr>
          <p:cNvPr id="21" name="Principle 2" descr="">
            <a:extLst>
              <a:ext uri="{C183D7F6-B498-43B3-948B-1728B52AA6E4}">
                <adec:decorative xmlns:adec="http://schemas.microsoft.com/office/drawing/2017/decorative" val="1"/>
              </a:ext>
            </a:extLst>
          </p:cNvPr>
          <p:cNvSpPr/>
          <p:nvPr/>
        </p:nvSpPr>
        <p:spPr>
          <a:xfrm>
            <a:off x="2800350" y="2788920"/>
            <a:ext cx="210312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2" name="Principle 2 text"/>
          <p:cNvSpPr txBox="1"/>
          <p:nvPr/>
        </p:nvSpPr>
        <p:spPr>
          <a:xfrm>
            <a:off x="2937510" y="2852928"/>
            <a:ext cx="1828800" cy="1700784"/>
          </a:xfrm>
          <a:prstGeom prst="rect">
            <a:avLst/>
          </a:prstGeom>
          <a:noFill/>
          <a:ln/>
        </p:spPr>
        <p:txBody>
          <a:bodyPr wrap="square" lIns="0" tIns="0" rIns="0" bIns="0" rtlCol="0" anchor="t"/>
          <a:lstStyle/>
          <a:p>
            <a:pPr indent="0" marL="0">
              <a:spcAft>
                <a:spcPts val="300"/>
              </a:spcAft>
              <a:buNone/>
            </a:pPr>
            <a:r>
              <a:rPr lang="en-US" sz="2200" b="1" dirty="0">
                <a:solidFill>
                  <a:srgbClr val="B45309"/>
                </a:solidFill>
                <a:latin typeface="Cambria" pitchFamily="34" charset="0"/>
                <a:ea typeface="Cambria" pitchFamily="34" charset="-122"/>
                <a:cs typeface="Cambria" pitchFamily="34" charset="-120"/>
              </a:rPr>
              <a:t>2</a:t>
            </a:r>
            <a:endParaRPr lang="en-US" sz="1400" dirty="0"/>
          </a:p>
          <a:p>
            <a:pPr indent="0" marL="0">
              <a:spcAft>
                <a:spcPts val="300"/>
              </a:spcAft>
              <a:buNone/>
            </a:pPr>
            <a:r>
              <a:rPr lang="en-US" sz="1450" b="1" dirty="0">
                <a:solidFill>
                  <a:srgbClr val="1F2A44"/>
                </a:solidFill>
              </a:rPr>
              <a:t>Application-aware networking</a:t>
            </a:r>
            <a:endParaRPr lang="en-US" sz="1400" dirty="0"/>
          </a:p>
          <a:p>
            <a:pPr indent="0" marL="0">
              <a:spcAft>
                <a:spcPts val="300"/>
              </a:spcAft>
              <a:buNone/>
            </a:pPr>
            <a:r>
              <a:rPr lang="en-US" sz="1300" dirty="0">
                <a:solidFill>
                  <a:schemeClr val="tx2"/>
                </a:solidFill>
              </a:rPr>
              <a:t>Identity and context, not location</a:t>
            </a:r>
            <a:endParaRPr lang="en-US" sz="1400" dirty="0"/>
          </a:p>
        </p:txBody>
      </p:sp>
      <p:sp>
        <p:nvSpPr>
          <p:cNvPr id="23" name="Principle 3" descr="">
            <a:extLst>
              <a:ext uri="{C183D7F6-B498-43B3-948B-1728B52AA6E4}">
                <adec:decorative xmlns:adec="http://schemas.microsoft.com/office/drawing/2017/decorative" val="1"/>
              </a:ext>
            </a:extLst>
          </p:cNvPr>
          <p:cNvSpPr/>
          <p:nvPr/>
        </p:nvSpPr>
        <p:spPr>
          <a:xfrm>
            <a:off x="5052060" y="2788920"/>
            <a:ext cx="2103120" cy="1828800"/>
          </a:xfrm>
          <a:prstGeom prst="roundRect">
            <a:avLst>
              <a:gd name="adj" fmla="val 4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4" name="Principle 3 text"/>
          <p:cNvSpPr txBox="1"/>
          <p:nvPr/>
        </p:nvSpPr>
        <p:spPr>
          <a:xfrm>
            <a:off x="5189220" y="2852928"/>
            <a:ext cx="1828800" cy="1700784"/>
          </a:xfrm>
          <a:prstGeom prst="rect">
            <a:avLst/>
          </a:prstGeom>
          <a:noFill/>
          <a:ln/>
        </p:spPr>
        <p:txBody>
          <a:bodyPr wrap="square" lIns="0" tIns="0" rIns="0" bIns="0" rtlCol="0" anchor="t"/>
          <a:lstStyle/>
          <a:p>
            <a:pPr indent="0" marL="0">
              <a:spcAft>
                <a:spcPts val="300"/>
              </a:spcAft>
              <a:buNone/>
            </a:pPr>
            <a:r>
              <a:rPr lang="en-US" sz="2200" b="1" dirty="0">
                <a:solidFill>
                  <a:srgbClr val="B45309"/>
                </a:solidFill>
                <a:latin typeface="Cambria" pitchFamily="34" charset="0"/>
                <a:ea typeface="Cambria" pitchFamily="34" charset="-122"/>
                <a:cs typeface="Cambria" pitchFamily="34" charset="-120"/>
              </a:rPr>
              <a:t>3</a:t>
            </a:r>
            <a:endParaRPr lang="en-US" sz="1400" dirty="0"/>
          </a:p>
          <a:p>
            <a:pPr indent="0" marL="0">
              <a:spcAft>
                <a:spcPts val="300"/>
              </a:spcAft>
              <a:buNone/>
            </a:pPr>
            <a:r>
              <a:rPr lang="en-US" sz="1450" b="1" dirty="0">
                <a:solidFill>
                  <a:srgbClr val="1F2A44"/>
                </a:solidFill>
              </a:rPr>
              <a:t>Token-based identity</a:t>
            </a:r>
            <a:endParaRPr lang="en-US" sz="1400" dirty="0"/>
          </a:p>
          <a:p>
            <a:pPr indent="0" marL="0">
              <a:spcAft>
                <a:spcPts val="300"/>
              </a:spcAft>
              <a:buNone/>
            </a:pPr>
            <a:r>
              <a:rPr lang="en-US" sz="1300" dirty="0">
                <a:solidFill>
                  <a:schemeClr val="tx2"/>
                </a:solidFill>
              </a:rPr>
              <a:t>Signed tokens replace sessions</a:t>
            </a:r>
            <a:endParaRPr lang="en-US" sz="1400" dirty="0"/>
          </a:p>
        </p:txBody>
      </p:sp>
      <p:sp>
        <p:nvSpPr>
          <p:cNvPr id="25" name="Principle 4" descr="">
            <a:extLst>
              <a:ext uri="{C183D7F6-B498-43B3-948B-1728B52AA6E4}">
                <adec:decorative xmlns:adec="http://schemas.microsoft.com/office/drawing/2017/decorative" val="1"/>
              </a:ext>
            </a:extLst>
          </p:cNvPr>
          <p:cNvSpPr/>
          <p:nvPr/>
        </p:nvSpPr>
        <p:spPr>
          <a:xfrm>
            <a:off x="7303770" y="2788920"/>
            <a:ext cx="210312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6" name="Principle 4 text"/>
          <p:cNvSpPr txBox="1"/>
          <p:nvPr/>
        </p:nvSpPr>
        <p:spPr>
          <a:xfrm>
            <a:off x="7440930" y="2852928"/>
            <a:ext cx="1828800" cy="1700784"/>
          </a:xfrm>
          <a:prstGeom prst="rect">
            <a:avLst/>
          </a:prstGeom>
          <a:noFill/>
          <a:ln/>
        </p:spPr>
        <p:txBody>
          <a:bodyPr wrap="square" lIns="0" tIns="0" rIns="0" bIns="0" rtlCol="0" anchor="t"/>
          <a:lstStyle/>
          <a:p>
            <a:pPr indent="0" marL="0">
              <a:spcAft>
                <a:spcPts val="300"/>
              </a:spcAft>
              <a:buNone/>
            </a:pPr>
            <a:r>
              <a:rPr lang="en-US" sz="2200" b="1" dirty="0">
                <a:solidFill>
                  <a:srgbClr val="B45309"/>
                </a:solidFill>
                <a:latin typeface="Cambria" pitchFamily="34" charset="0"/>
                <a:ea typeface="Cambria" pitchFamily="34" charset="-122"/>
                <a:cs typeface="Cambria" pitchFamily="34" charset="-120"/>
              </a:rPr>
              <a:t>4</a:t>
            </a:r>
            <a:endParaRPr lang="en-US" sz="1400" dirty="0"/>
          </a:p>
          <a:p>
            <a:pPr indent="0" marL="0">
              <a:spcAft>
                <a:spcPts val="300"/>
              </a:spcAft>
              <a:buNone/>
            </a:pPr>
            <a:r>
              <a:rPr lang="en-US" sz="1450" b="1" dirty="0">
                <a:solidFill>
                  <a:srgbClr val="1F2A44"/>
                </a:solidFill>
              </a:rPr>
              <a:t>Govern actively</a:t>
            </a:r>
            <a:endParaRPr lang="en-US" sz="1400" dirty="0"/>
          </a:p>
          <a:p>
            <a:pPr indent="0" marL="0">
              <a:spcAft>
                <a:spcPts val="300"/>
              </a:spcAft>
              <a:buNone/>
            </a:pPr>
            <a:r>
              <a:rPr lang="en-US" sz="1300" dirty="0">
                <a:solidFill>
                  <a:schemeClr val="tx2"/>
                </a:solidFill>
              </a:rPr>
              <a:t>Reconcile toward intent, under a ceiling</a:t>
            </a:r>
            <a:endParaRPr lang="en-US" sz="1400" dirty="0"/>
          </a:p>
        </p:txBody>
      </p:sp>
      <p:sp>
        <p:nvSpPr>
          <p:cNvPr id="27" name="Principle 5" descr="">
            <a:extLst>
              <a:ext uri="{C183D7F6-B498-43B3-948B-1728B52AA6E4}">
                <adec:decorative xmlns:adec="http://schemas.microsoft.com/office/drawing/2017/decorative" val="1"/>
              </a:ext>
            </a:extLst>
          </p:cNvPr>
          <p:cNvSpPr/>
          <p:nvPr/>
        </p:nvSpPr>
        <p:spPr>
          <a:xfrm>
            <a:off x="9555480" y="2788920"/>
            <a:ext cx="2103120" cy="1828800"/>
          </a:xfrm>
          <a:prstGeom prst="roundRect">
            <a:avLst>
              <a:gd name="adj" fmla="val 4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8" name="Principle 5 text"/>
          <p:cNvSpPr txBox="1"/>
          <p:nvPr/>
        </p:nvSpPr>
        <p:spPr>
          <a:xfrm>
            <a:off x="9692640" y="2852928"/>
            <a:ext cx="1828800" cy="1700784"/>
          </a:xfrm>
          <a:prstGeom prst="rect">
            <a:avLst/>
          </a:prstGeom>
          <a:noFill/>
          <a:ln/>
        </p:spPr>
        <p:txBody>
          <a:bodyPr wrap="square" lIns="0" tIns="0" rIns="0" bIns="0" rtlCol="0" anchor="t"/>
          <a:lstStyle/>
          <a:p>
            <a:pPr indent="0" marL="0">
              <a:spcAft>
                <a:spcPts val="300"/>
              </a:spcAft>
              <a:buNone/>
            </a:pPr>
            <a:r>
              <a:rPr lang="en-US" sz="2200" b="1" dirty="0">
                <a:solidFill>
                  <a:srgbClr val="B45309"/>
                </a:solidFill>
                <a:latin typeface="Cambria" pitchFamily="34" charset="0"/>
                <a:ea typeface="Cambria" pitchFamily="34" charset="-122"/>
                <a:cs typeface="Cambria" pitchFamily="34" charset="-120"/>
              </a:rPr>
              <a:t>5</a:t>
            </a:r>
            <a:endParaRPr lang="en-US" sz="1400" dirty="0"/>
          </a:p>
          <a:p>
            <a:pPr indent="0" marL="0">
              <a:spcAft>
                <a:spcPts val="300"/>
              </a:spcAft>
              <a:buNone/>
            </a:pPr>
            <a:r>
              <a:rPr lang="en-US" sz="1450" b="1" dirty="0">
                <a:solidFill>
                  <a:srgbClr val="1F2A44"/>
                </a:solidFill>
              </a:rPr>
              <a:t>Fewer round trips</a:t>
            </a:r>
            <a:endParaRPr lang="en-US" sz="1400" dirty="0"/>
          </a:p>
          <a:p>
            <a:pPr indent="0" marL="0">
              <a:spcAft>
                <a:spcPts val="300"/>
              </a:spcAft>
              <a:buNone/>
            </a:pPr>
            <a:r>
              <a:rPr lang="en-US" sz="1300" dirty="0">
                <a:solidFill>
                  <a:schemeClr val="tx2"/>
                </a:solidFill>
              </a:rPr>
              <a:t>Profile before separating</a:t>
            </a:r>
            <a:endParaRPr lang="en-US" sz="1400" dirty="0"/>
          </a:p>
        </p:txBody>
      </p:sp>
      <p:sp>
        <p:nvSpPr>
          <p:cNvPr id="29" name="Gates"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0" name="Icon FaClipboard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3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32" name="Gates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Gates read from data: </a:t>
            </a:r>
            <a:pPr indent="0" marL="0">
              <a:buNone/>
            </a:pPr>
            <a:r>
              <a:rPr lang="en-US" sz="1650" dirty="0">
                <a:solidFill>
                  <a:schemeClr val="tx2"/>
                </a:solidFill>
              </a:rPr>
              <a:t>"zero drift for fourteen days" is a query, not a signature. The weeks are illustrative; large federal estates typically run multi-year.</a:t>
            </a:r>
            <a:endParaRPr lang="en-US" sz="16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FedRAMP Consolidated Rules for 2026 and "Using a FedRAMP Certified Cloud Service"; Microsoft Learn — emergency access, DC demotion. Book 01,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Check"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Name the owners</a:t>
            </a:r>
            <a:endParaRPr lang="en-US" sz="1400" dirty="0"/>
          </a:p>
          <a:p>
            <a:pPr indent="0" marL="0">
              <a:buNone/>
            </a:pPr>
            <a:r>
              <a:rPr lang="en-US" sz="1450" dirty="0">
                <a:solidFill>
                  <a:schemeClr val="tx2"/>
                </a:solidFill>
              </a:rPr>
              <a:t>One decider per row, starting with the sponsor, the authorizing official and the steward</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Run the read-only assessment</a:t>
            </a:r>
            <a:endParaRPr lang="en-US" sz="1400" dirty="0"/>
          </a:p>
          <a:p>
            <a:pPr indent="0" marL="0">
              <a:buNone/>
            </a:pPr>
            <a:r>
              <a:rPr lang="en-US" sz="1450" dirty="0">
                <a:solidFill>
                  <a:schemeClr val="tx2"/>
                </a:solidFill>
              </a:rPr>
              <a:t>All eleven categories, committed with provenance</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Server"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Stand up the platform host</a:t>
            </a:r>
            <a:endParaRPr lang="en-US" sz="1400" dirty="0"/>
          </a:p>
          <a:p>
            <a:pPr indent="0" marL="0">
              <a:buNone/>
            </a:pPr>
            <a:r>
              <a:rPr lang="en-US" sz="1450" dirty="0">
                <a:solidFill>
                  <a:schemeClr val="tx2"/>
                </a:solidFill>
              </a:rPr>
              <a:t>One writer; governance kept apart from execution</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CodeBranch"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Set the dates</a:t>
            </a:r>
            <a:endParaRPr lang="en-US" sz="1400" dirty="0"/>
          </a:p>
          <a:p>
            <a:pPr indent="0" marL="0">
              <a:buNone/>
            </a:pPr>
            <a:r>
              <a:rPr lang="en-US" sz="1450" dirty="0">
                <a:solidFill>
                  <a:schemeClr val="tx2"/>
                </a:solidFill>
              </a:rPr>
              <a:t>Gate dates on the sponsor's calendar; exception end dates on the authorizing official's</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Rou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Start with an inventory, an owner, and a date: </a:t>
            </a:r>
            <a:pPr indent="0" marL="0">
              <a:buNone/>
            </a:pPr>
            <a:r>
              <a:rPr lang="en-US" sz="1650" dirty="0">
                <a:solidFill>
                  <a:schemeClr val="tx2"/>
                </a:solidFill>
              </a:rPr>
              <a:t>none of this requires a vendor decision on day one. Phase 0 produces all three, and every later decision reads from them.</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(zero trust implementation lead); NIST SP 800-37 Rev. 2. Book 01, Chapters 09,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OMB: Federal Data Center Consolidation Initiative (2010); 25 Point IT Reform Plan (2010); M-19-17; M-22-09; M-26-14 (rescinds M-21-31).  ·  EO 14028.  ·  NARA GRS 3.2; 36 CFR 1220.34.</a:t>
            </a:r>
            <a:endParaRPr lang="en-US" sz="1400" dirty="0"/>
          </a:p>
          <a:p>
            <a:pPr marL="342900" indent="-342900">
              <a:spcAft>
                <a:spcPts val="600"/>
              </a:spcAft>
              <a:buSzPct val="100000"/>
              <a:buChar char="•"/>
            </a:pPr>
            <a:r>
              <a:rPr lang="en-US" sz="1300" dirty="0">
                <a:solidFill>
                  <a:schemeClr val="tx2"/>
                </a:solidFill>
              </a:rPr>
              <a:t>CISA: BOD 25-01 and its required SCuBA configurations; Zero Trust Maturity Model v2.0 (April 2023); SASE in a Modern TIC 3.0 Solution (June 2026); Scattered Spider advisory AA23-320A.</a:t>
            </a:r>
            <a:endParaRPr lang="en-US" sz="1400" dirty="0"/>
          </a:p>
          <a:p>
            <a:pPr marL="342900" indent="-342900">
              <a:spcAft>
                <a:spcPts val="600"/>
              </a:spcAft>
              <a:buSzPct val="100000"/>
              <a:buChar char="•"/>
            </a:pPr>
            <a:r>
              <a:rPr lang="en-US" sz="1300" dirty="0">
                <a:solidFill>
                  <a:schemeClr val="tx2"/>
                </a:solidFill>
              </a:rPr>
              <a:t>NIST: SP 800-207; SP 800-37 Rev. 2; SP 800-53 Rev. 5 (release 5.2.0).  ·  ITU-T G.114.  ·  RFC 4120.  ·  FedRAMP Consolidated Rules for 2026, timeline and "Using a FedRAMP Certified Cloud Service".</a:t>
            </a:r>
            <a:endParaRPr lang="en-US" sz="1400" dirty="0"/>
          </a:p>
          <a:p>
            <a:pPr marL="342900" indent="-342900">
              <a:spcAft>
                <a:spcPts val="600"/>
              </a:spcAft>
              <a:buSzPct val="100000"/>
              <a:buChar char="•"/>
            </a:pPr>
            <a:r>
              <a:rPr lang="en-US" sz="1300" dirty="0">
                <a:solidFill>
                  <a:schemeClr val="tx2"/>
                </a:solidFill>
              </a:rPr>
              <a:t>Microsoft Learn, identity: Kerberos ticket lifetimes and KDC keys; continuous access evaluation; hybrid join; cloud-first identity guidance; OU delegation; dynamic groups; administrative units; Conditional Access; Entra CBA; PIM.</a:t>
            </a:r>
            <a:endParaRPr lang="en-US" sz="1400" dirty="0"/>
          </a:p>
          <a:p>
            <a:pPr marL="342900" indent="-342900">
              <a:spcAft>
                <a:spcPts val="600"/>
              </a:spcAft>
              <a:buSzPct val="100000"/>
              <a:buChar char="•"/>
            </a:pPr>
            <a:r>
              <a:rPr lang="en-US" sz="1300" dirty="0">
                <a:solidFill>
                  <a:schemeClr val="tx2"/>
                </a:solidFill>
              </a:rPr>
              <a:t>Microsoft Learn, platform: Windows Server 2025 and release information; IIS reverse proxy; Azure Arc; machine configuration; Intune and Group Policy analytics; AD DS tier model; Microsoft Graph best practices.</a:t>
            </a:r>
            <a:endParaRPr lang="en-US" sz="1400" dirty="0"/>
          </a:p>
          <a:p>
            <a:pPr marL="342900" indent="-342900">
              <a:spcAft>
                <a:spcPts val="600"/>
              </a:spcAft>
              <a:buSzPct val="100000"/>
              <a:buChar char="•"/>
            </a:pPr>
            <a:r>
              <a:rPr lang="en-US" sz="1300" dirty="0">
                <a:solidFill>
                  <a:schemeClr val="tx2"/>
                </a:solidFill>
              </a:rPr>
              <a:t>Microsoft Learn, services and compute: AD-integrated DNS; DC locator; DNS Private Resolver; DHCP authorization; Virtual Network Manager IPAM; Autopilot; NTLM deprecation; Arc Extended Security Updates.</a:t>
            </a:r>
            <a:endParaRPr lang="en-US" sz="1400" dirty="0"/>
          </a:p>
          <a:p>
            <a:pPr marL="342900" indent="-342900">
              <a:spcAft>
                <a:spcPts val="600"/>
              </a:spcAft>
              <a:buSzPct val="100000"/>
              <a:buChar char="•"/>
            </a:pPr>
            <a:r>
              <a:rPr lang="en-US" sz="1300" dirty="0">
                <a:solidFill>
                  <a:schemeClr val="tx2"/>
                </a:solidFill>
              </a:rPr>
              <a:t>Full footnotes with links and access dates: Book 01, every chapter (whalermike.github.io/modernization-workbook/docs/books/b01-transformation-arc/).</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01 — The Transformation Arc</dc:title>
  <dc:subject>PptxGenJS Presentation</dc:subject>
  <dc:creator>Michael F. Stratton</dc:creator>
  <cp:lastModifiedBy>Michael F. Stratton</cp:lastModifiedBy>
  <cp:revision>1</cp:revision>
  <dcterms:created xsi:type="dcterms:W3CDTF">2026-10-21T14:42:47Z</dcterms:created>
  <dcterms:modified xsi:type="dcterms:W3CDTF">2026-10-21T14:42:47Z</dcterms:modified>
</cp:coreProperties>
</file>