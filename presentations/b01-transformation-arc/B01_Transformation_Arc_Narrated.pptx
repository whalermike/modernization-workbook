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CBAE588D-3467-5F64-317A-1CAA58C31369}">
          <p14:sldIdLst>
            <p14:sldId id="256"/>
            <p14:sldId id="257"/>
            <p14:sldId id="258"/>
            <p14:sldId id="259"/>
            <p14:sldId id="260"/>
          </p14:sldIdLst>
        </p14:section>
        <p14:section name="What changes" id="{18AFA507-28CF-02D5-5DDE-76AD985ECF48}">
          <p14:sldIdLst>
            <p14:sldId id="261"/>
            <p14:sldId id="262"/>
            <p14:sldId id="263"/>
            <p14:sldId id="264"/>
            <p14:sldId id="265"/>
            <p14:sldId id="266"/>
            <p14:sldId id="267"/>
          </p14:sldIdLst>
        </p14:section>
        <p14:section name="Who leads" id="{8370F0C3-0738-C533-E657-4D9D550983C4}">
          <p14:sldIdLst>
            <p14:sldId id="268"/>
          </p14:sldIdLst>
        </p14:section>
        <p14:section name="How to do it" id="{F29D3E97-873C-F28A-47DD-121C8994D6BC}">
          <p14:sldIdLst>
            <p14:sldId id="269"/>
            <p14:sldId id="270"/>
            <p14:sldId id="271"/>
            <p14:sldId id="272"/>
          </p14:sldIdLst>
        </p14:section>
        <p14:section name="Backup" id="{4549C6CA-A81F-1F2D-F237-CA840F9BC3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971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[6:29–7:44]  Why does this matter? Because an Active Directory forest holds four populations of identity, not one, and each moves to the cloud by its own track, with its own source of truth.
People are the HR track: employees from the HR record, contractors from the contractor source of authority. End-user devices are the Intune track. Their attributes come from device provisioning, the Autopilot registration and its group tag, never from HR, and a device rule can't read its owner. Servers are the Arc track: tagged at onboarding, then governed by Azure Policy. And non-person identities, such as service accounts, service principals, managed identities and AI agents, answer to their owner's record, not to HR.
The goal is the same for all four: true attributes, one owning source each, read by policy. Joins, moves and exits change access with no ticket, every workload has a named owner, and AD can retire without losing what the OU tree did. The right-hand column is program design guidance for knowing you're there.
Group Policy splits the same way, so policy is next.
Workbook: Book 01, Chapter 01 (What has to be true: one authoritative record per user, device and service account); Chapter 04 (the HR system of record); Chapter 07 (Arc servers tagged with organizational attributes); Chapter 08 (service accounts to managed identities, gMSAs and workload identity federation). Depth: Book 03 (HR track); Book 05, Chapters 03, 04, 08 (Intune track) and 09 (Arc track); non-person identities in Book 02, Chapter 09 (Modernizing service accounts), Book 06 and Book 17.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[7:44–8:46]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[8:46–9:47]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[9:47–10:48]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[10:48–11:49]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[11:49–12:50]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[12:50–13:52]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[13:52–14:51]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[14:51–15:52]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[15:52–16:44]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6.png"/><Relationship Id="rId5" Type="http://schemas.openxmlformats.org/officeDocument/2006/relationships/image" Target="../media/image6.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9.png"/><Relationship Id="rId5" Type="http://schemas.openxmlformats.org/officeDocument/2006/relationships/image" Target="../media/image28.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9.png"/><Relationship Id="rId5" Type="http://schemas.openxmlformats.org/officeDocument/2006/relationships/image" Target="../media/image27.png"/><Relationship Id="rId4" Type="http://schemas.openxmlformats.org/officeDocument/2006/relationships/notesSlide" Target="../notesSlides/notesSlide14.xml"/><Relationship Id="rId9" Type="http://schemas.openxmlformats.org/officeDocument/2006/relationships/image" Target="../media/image3.png"/><Relationship Id="rId10"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13.png"/><Relationship Id="rId5" Type="http://schemas.openxmlformats.org/officeDocument/2006/relationships/image" Target="../media/image33.png"/><Relationship Id="rId10" Type="http://schemas.openxmlformats.org/officeDocument/2006/relationships/image" Target="../media/image3.png"/><Relationship Id="rId4" Type="http://schemas.openxmlformats.org/officeDocument/2006/relationships/notesSlide" Target="../notesSlides/notesSlide17.xml"/><Relationship Id="rId9" Type="http://schemas.openxmlformats.org/officeDocument/2006/relationships/image" Target="../media/image7.png"/><Relationship Id="rId11" Type="http://schemas.microsoft.com/office/2017/04/relationships/track" Target="../media/captions_slide17.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D34642A-D909-D719-4A80-CA74C8C00D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9522FA-E4DC-4D69-A92D-FA1289CF853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 1">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1F2A44"/>
                </a:solidFill>
              </a:rPr>
              <a:t>Mainframe</a:t>
            </a:r>
            <a:endParaRPr lang="en-US" sz="1400" dirty="0"/>
          </a:p>
          <a:p>
            <a:pPr marL="0" indent="0">
              <a:spcAft>
                <a:spcPts val="400"/>
              </a:spcAft>
              <a:buNone/>
            </a:pPr>
            <a:r>
              <a:rPr lang="en-US" sz="1350" dirty="0">
                <a:solidFill>
                  <a:schemeClr val="tx2"/>
                </a:solidFill>
              </a:rPr>
              <a:t>One machine held the data and enforced access to it</a:t>
            </a:r>
            <a:endParaRPr lang="en-US" sz="1400" dirty="0"/>
          </a:p>
        </p:txBody>
      </p:sp>
      <p:sp>
        <p:nvSpPr>
          <p:cNvPr id="7" name="Era 2">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Distributed, late 1980s</a:t>
            </a:r>
            <a:endParaRPr lang="en-US" sz="1400" dirty="0"/>
          </a:p>
          <a:p>
            <a:pPr marL="0" indent="0">
              <a:spcAft>
                <a:spcPts val="400"/>
              </a:spcAft>
              <a:buNone/>
            </a:pPr>
            <a:r>
              <a:rPr lang="en-US" sz="1350" dirty="0">
                <a:solidFill>
                  <a:schemeClr val="tx2"/>
                </a:solidFill>
              </a:rPr>
              <a:t>Regional databases and directories, each with its own rules</a:t>
            </a:r>
            <a:endParaRPr lang="en-US" sz="1400" dirty="0"/>
          </a:p>
        </p:txBody>
      </p:sp>
      <p:sp>
        <p:nvSpPr>
          <p:cNvPr id="9" name="Era 3">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Consolidation, from 2010</a:t>
            </a:r>
            <a:endParaRPr lang="en-US" sz="1400" dirty="0"/>
          </a:p>
          <a:p>
            <a:pPr marL="0" indent="0">
              <a:spcAft>
                <a:spcPts val="400"/>
              </a:spcAft>
              <a:buNone/>
            </a:pPr>
            <a:r>
              <a:rPr lang="en-US" sz="1350" dirty="0">
                <a:solidFill>
                  <a:schemeClr val="tx2"/>
                </a:solidFill>
              </a:rPr>
              <a:t>Offices wired back to distant data centers through inspection</a:t>
            </a:r>
            <a:endParaRPr lang="en-US" sz="1400" dirty="0"/>
          </a:p>
        </p:txBody>
      </p:sp>
      <p:sp>
        <p:nvSpPr>
          <p:cNvPr id="11" name="Era 4">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91C1C"/>
                </a:solidFill>
              </a:rPr>
              <a:t>The breaking point</a:t>
            </a:r>
            <a:endParaRPr lang="en-US" sz="1400" dirty="0"/>
          </a:p>
          <a:p>
            <a:pPr marL="0" indent="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marL="0" indent="0">
              <a:buNone/>
            </a:pPr>
            <a:r>
              <a:rPr lang="en-US" sz="1350" dirty="0">
                <a:solidFill>
                  <a:schemeClr val="tx2"/>
                </a:solidFill>
              </a:rPr>
              <a:t>federal data centers reported in 1998</a:t>
            </a:r>
            <a:endParaRPr lang="en-US" sz="1400" dirty="0"/>
          </a:p>
        </p:txBody>
      </p:sp>
      <p:sp>
        <p:nvSpPr>
          <p:cNvPr id="15" name="Stat 2">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marL="0" indent="0">
              <a:buNone/>
            </a:pPr>
            <a:r>
              <a:rPr lang="en-US" sz="1350" dirty="0">
                <a:solidFill>
                  <a:schemeClr val="tx2"/>
                </a:solidFill>
              </a:rPr>
              <a:t>reported in 2009</a:t>
            </a:r>
            <a:endParaRPr lang="en-US" sz="1400" dirty="0"/>
          </a:p>
        </p:txBody>
      </p:sp>
      <p:sp>
        <p:nvSpPr>
          <p:cNvPr id="17" name="Stat 3">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marL="0" indent="0">
              <a:buNone/>
            </a:pPr>
            <a:r>
              <a:rPr lang="en-US" sz="1350" dirty="0">
                <a:solidFill>
                  <a:schemeClr val="tx2"/>
                </a:solidFill>
              </a:rPr>
              <a:t>the December 2010 target for closures by 2015</a:t>
            </a:r>
            <a:endParaRPr lang="en-US" sz="1400" dirty="0"/>
          </a:p>
        </p:txBody>
      </p:sp>
      <p:sp>
        <p:nvSpPr>
          <p:cNvPr id="19" name="Cascad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ArrowDownWideShor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Each fix assumes the last one is done: </a:t>
            </a: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3967D837-894F-94A1-0EE8-7B1CEEFCAE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605D03-2E27-48D6-9ADA-0C08BAD7226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Distance costs domain-controller trips, not tickets: </a:t>
            </a: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917DCA6-BA59-387C-6C6A-4AF2D93BE6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1C146D-B960-4465-99D4-EA647923B60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00"/>
    </mc:Choice>
    <mc:Fallback>
      <p:transition spd="slow" advTm="47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Did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Delegated admins   </a:t>
            </a:r>
            <a:r>
              <a:rPr lang="en-US" sz="1400" dirty="0">
                <a:solidFill>
                  <a:schemeClr val="tx2"/>
                </a:solidFill>
              </a:rPr>
              <a:t>The branch's admins got the account</a:t>
            </a:r>
            <a:endParaRPr lang="en-US" sz="1400" dirty="0"/>
          </a:p>
        </p:txBody>
      </p:sp>
      <p:sp>
        <p:nvSpPr>
          <p:cNvPr id="8" name="Did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Inherited Group Policy   </a:t>
            </a:r>
            <a:r>
              <a:rPr lang="en-US" sz="1400" dirty="0">
                <a:solidFill>
                  <a:schemeClr val="tx2"/>
                </a:solidFill>
              </a:rPr>
              <a:t>Every GPO along the path applied</a:t>
            </a:r>
            <a:endParaRPr lang="en-US" sz="1400" dirty="0"/>
          </a:p>
        </p:txBody>
      </p:sp>
      <p:sp>
        <p:nvSpPr>
          <p:cNvPr id="10" name="Did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 membership   </a:t>
            </a:r>
            <a:r>
              <a:rPr lang="en-US" sz="1400" dirty="0">
                <a:solidFill>
                  <a:schemeClr val="tx2"/>
                </a:solidFill>
              </a:rPr>
              <a:t>Tools built groups from OU position</a:t>
            </a:r>
            <a:endParaRPr lang="en-US" sz="1400" dirty="0"/>
          </a:p>
        </p:txBody>
      </p:sp>
      <p:sp>
        <p:nvSpPr>
          <p:cNvPr id="12" name="Did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authority   </a:t>
            </a:r>
            <a:r>
              <a:rPr lang="en-US" sz="1400" dirty="0">
                <a:solidFill>
                  <a:schemeClr val="tx2"/>
                </a:solidFill>
              </a:rPr>
              <a:t>Bound to that branch's authority</a:t>
            </a:r>
            <a:endParaRPr lang="en-US" sz="1400" dirty="0"/>
          </a:p>
        </p:txBody>
      </p:sp>
      <p:sp>
        <p:nvSpPr>
          <p:cNvPr id="14" name="Did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boundary   </a:t>
            </a:r>
            <a:r>
              <a:rPr lang="en-US" sz="1400" dirty="0">
                <a:solidFill>
                  <a:schemeClr val="tx2"/>
                </a:solidFill>
              </a:rPr>
              <a:t>Operational responsibility drawn</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ENTRA ID HAS INSTEAD</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Retiring AD is an agency decision: </a:t>
            </a: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79A1326-3A78-A582-BA10-34FF354060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012C43-8185-4909-9596-6B5C18EF75D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Five steps, run as a discipline: </a:t>
            </a: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A34B8A2-4B43-4450-F142-A5B0C9BA40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0E7830-9FAD-4C96-B280-36E810A80FC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05</a:t>
            </a:r>
            <a:endParaRPr lang="en-US" sz="1100" dirty="0"/>
          </a:p>
        </p:txBody>
      </p:sp>
      <p:sp>
        <p:nvSpPr>
          <p:cNvPr id="6" name="Ro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Source of truth</a:t>
            </a:r>
            <a:endParaRPr lang="en-US" sz="1400" dirty="0"/>
          </a:p>
          <a:p>
            <a:pPr marL="0" indent="0">
              <a:buNone/>
            </a:pPr>
            <a:r>
              <a:rPr lang="en-US" sz="1250" dirty="0">
                <a:solidFill>
                  <a:schemeClr val="tx2"/>
                </a:solidFill>
              </a:rPr>
              <a:t>Signed, versioned commits</a:t>
            </a:r>
            <a:endParaRPr lang="en-US" sz="1400" dirty="0"/>
          </a:p>
        </p:txBody>
      </p:sp>
      <p:sp>
        <p:nvSpPr>
          <p:cNvPr id="8" name="Role 2">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Reverse proxy</a:t>
            </a:r>
            <a:endParaRPr lang="en-US" sz="1400" dirty="0"/>
          </a:p>
          <a:p>
            <a:pPr marL="0" indent="0">
              <a:buNone/>
            </a:pPr>
            <a:r>
              <a:rPr lang="en-US" sz="1250" dirty="0">
                <a:solidFill>
                  <a:schemeClr val="tx2"/>
                </a:solidFill>
              </a:rPr>
              <a:t>TLS and client certificates</a:t>
            </a:r>
            <a:endParaRPr lang="en-US" sz="1400" dirty="0"/>
          </a:p>
        </p:txBody>
      </p:sp>
      <p:sp>
        <p:nvSpPr>
          <p:cNvPr id="10" name="Role 3">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Auth bridge</a:t>
            </a:r>
            <a:endParaRPr lang="en-US" sz="1400" dirty="0"/>
          </a:p>
          <a:p>
            <a:pPr marL="0" indent="0">
              <a:buNone/>
            </a:pPr>
            <a:r>
              <a:rPr lang="en-US" sz="1250" dirty="0">
                <a:solidFill>
                  <a:schemeClr val="tx2"/>
                </a:solidFill>
              </a:rPr>
              <a:t>Domain-joined and Arc-connected</a:t>
            </a:r>
            <a:endParaRPr lang="en-US" sz="1400" dirty="0"/>
          </a:p>
        </p:txBody>
      </p:sp>
      <p:sp>
        <p:nvSpPr>
          <p:cNvPr id="12" name="Role 4">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Engine</a:t>
            </a:r>
            <a:endParaRPr lang="en-US" sz="1400" dirty="0"/>
          </a:p>
          <a:p>
            <a:pPr marL="0" indent="0">
              <a:buNone/>
            </a:pPr>
            <a:r>
              <a:rPr lang="en-US" sz="1250" dirty="0">
                <a:solidFill>
                  <a:schemeClr val="tx2"/>
                </a:solidFill>
              </a:rPr>
              <a:t>PowerShell, Python, API integrators</a:t>
            </a:r>
            <a:endParaRPr lang="en-US" sz="1400" dirty="0"/>
          </a:p>
        </p:txBody>
      </p:sp>
      <p:sp>
        <p:nvSpPr>
          <p:cNvPr id="14" name="Role 5">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Adapters</a:t>
            </a:r>
            <a:endParaRPr lang="en-US" sz="1400" dirty="0"/>
          </a:p>
          <a:p>
            <a:pPr marL="0" indent="0">
              <a:buNone/>
            </a:pPr>
            <a:r>
              <a:rPr lang="en-US" sz="1250" dirty="0">
                <a:solidFill>
                  <a:schemeClr val="tx2"/>
                </a:solidFill>
              </a:rPr>
              <a:t>One contract per category</a:t>
            </a:r>
            <a:endParaRPr lang="en-US" sz="1400" dirty="0"/>
          </a:p>
        </p:txBody>
      </p:sp>
      <p:sp>
        <p:nvSpPr>
          <p:cNvPr id="16"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Icon FaShieldHalv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7"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reference architecture, not a product: </a:t>
            </a: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249F6BBC-5C4D-5C06-2D21-DB4D6E8D98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276DC3-48D0-48A0-BE04-F2BCE3BDB8F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6" name="Stam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Address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token is only as true as its attributes: </a:t>
            </a: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7124298-280E-2DD1-FCEE-EE620F7443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9AF789-EE14-4EEE-BC1F-0DE48399AAD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40"/>
    </mc:Choice>
    <mc:Fallback>
      <p:transition spd="slow" advTm="5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tracks, each with its own source of truth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03, 05, 06 AND 17</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Track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Source of truth for its attributes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You're there when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HR track: people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HR (Core HCM) for employees; the contractor source of authority for contractors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enabled account matches an HR or contractor record, or an owned exception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Intune track: devices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Device provisioning: Autopilot registration and group tag, enrollment. Not HR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managed device carries provisioning-written attributes that target its policy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Arc track: servers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Arc onboarding tags and resource group, then Azure Policy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in-scope server is Arc-enabled, tagged, and evaluated against its baseline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Non-person identities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owner and sponsor record: system inventory, app registration, AI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Each has an owner and a target, and no password that never expires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End state">
            <a:extLst>
              <a:ext uri="{C183D7F6-B498-43B3-948B-1728B52AA6E4}">
                <adec:decorative xmlns:adec="http://schemas.microsoft.com/office/drawing/2017/decorative" val="1"/>
              </a:ext>
            </a:extLst>
          </p:cNvPr>
          <p:cNvSpPr/>
          <p:nvPr/>
        </p:nvSpPr>
        <p:spPr>
          <a:xfrm>
            <a:off x="548640" y="4343400"/>
            <a:ext cx="11109960" cy="1234440"/>
          </a:xfrm>
          <a:prstGeom prst="roundRect">
            <a:avLst>
              <a:gd name="adj" fmla="val 5926"/>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8" name="Icon FaFingerprint">
            <a:extLst>
              <a:ext uri="{C183D7F6-B498-43B3-948B-1728B52AA6E4}">
                <adec:decorative xmlns:adec="http://schemas.microsoft.com/office/drawing/2017/decorative" val="1"/>
              </a:ext>
            </a:extLst>
          </p:cNvPr>
          <p:cNvSpPr/>
          <p:nvPr/>
        </p:nvSpPr>
        <p:spPr>
          <a:xfrm>
            <a:off x="777240" y="4594860"/>
            <a:ext cx="731520" cy="731520"/>
          </a:xfrm>
          <a:prstGeom prst="ellipse">
            <a:avLst/>
          </a:prstGeom>
          <a:solidFill>
            <a:srgbClr val="0F766E"/>
          </a:solidFill>
          <a:ln w="12700">
            <a:solidFill>
              <a:srgbClr val="0F766E"/>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70425"/>
            <a:ext cx="380390" cy="380390"/>
          </a:xfrm>
          <a:prstGeom prst="rect">
            <a:avLst/>
          </a:prstGeom>
        </p:spPr>
      </p:pic>
      <p:sp>
        <p:nvSpPr>
          <p:cNvPr id="10" name="End state text"/>
          <p:cNvSpPr txBox="1"/>
          <p:nvPr/>
        </p:nvSpPr>
        <p:spPr>
          <a:xfrm>
            <a:off x="1737360" y="4389120"/>
            <a:ext cx="9738360" cy="1143000"/>
          </a:xfrm>
          <a:prstGeom prst="rect">
            <a:avLst/>
          </a:prstGeom>
          <a:noFill/>
          <a:ln/>
        </p:spPr>
        <p:txBody>
          <a:bodyPr wrap="square" lIns="0" tIns="0" rIns="0" bIns="0" rtlCol="0" anchor="ctr"/>
          <a:lstStyle/>
          <a:p>
            <a:pPr marL="0" indent="0">
              <a:buNone/>
            </a:pPr>
            <a:r>
              <a:rPr lang="en-US" sz="1650" b="1" dirty="0">
                <a:solidFill>
                  <a:srgbClr val="0F766E"/>
                </a:solidFill>
              </a:rPr>
              <a:t>The end state: </a:t>
            </a:r>
            <a:r>
              <a:rPr lang="en-US" sz="1650" dirty="0">
                <a:solidFill>
                  <a:schemeClr val="tx2"/>
                </a:solidFill>
              </a:rPr>
              <a:t>every person, device, server and workload governed by true attributes, each owned by one source and read by policy. Joining, moving and leaving change access with no ticket, and AD retires without losing a job the OU tree did.</a:t>
            </a:r>
            <a:endParaRPr lang="en-US" sz="1650" dirty="0"/>
          </a:p>
        </p:txBody>
      </p:sp>
      <p:sp>
        <p:nvSpPr>
          <p:cNvPr id="11" name="Requirements"/>
          <p:cNvSpPr txBox="1"/>
          <p:nvPr/>
        </p:nvSpPr>
        <p:spPr>
          <a:xfrm>
            <a:off x="548640" y="5669280"/>
            <a:ext cx="11109960" cy="310896"/>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OMB M-22-09 §III.A, §III.B, §III.D; NIST SP 800-53 AC-2, AC-6, CM-2, CM-6, CM-8 (Book 01, Appendix A: compliance-enabling, not a compliance claim)</a:t>
            </a:r>
            <a:endParaRPr lang="en-US" sz="11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Chapters 01, 04, 07, 08 and Appendix A; Book 05, Chapters 03 and 09; Book 02, Chapter 09. Success criteria: program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65168796-D285-2B34-10BA-F1B246F9A9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227462-6B28-4F01-ABDB-58C8AD8A181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GROUP POLICY CATEGORY GOES</a:t>
            </a:r>
            <a:endParaRPr lang="en-US" sz="1200" dirty="0"/>
          </a:p>
        </p:txBody>
      </p:sp>
      <p:sp>
        <p:nvSpPr>
          <p:cNvPr id="7" name="Target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Device configuration   </a:t>
            </a:r>
            <a:r>
              <a:rPr lang="en-US" sz="1400" dirty="0">
                <a:solidFill>
                  <a:schemeClr val="tx2"/>
                </a:solidFill>
              </a:rPr>
              <a:t>Intune profiles, settings catalog</a:t>
            </a:r>
            <a:endParaRPr lang="en-US" sz="1400" dirty="0"/>
          </a:p>
        </p:txBody>
      </p:sp>
      <p:sp>
        <p:nvSpPr>
          <p:cNvPr id="9" name="Target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baselines   </a:t>
            </a:r>
            <a:r>
              <a:rPr lang="en-US" sz="1400" dirty="0">
                <a:solidFill>
                  <a:schemeClr val="tx2"/>
                </a:solidFill>
              </a:rPr>
              <a:t>Intune baselines; Entra smart lockout</a:t>
            </a:r>
            <a:endParaRPr lang="en-US" sz="1400" dirty="0"/>
          </a:p>
        </p:txBody>
      </p:sp>
      <p:sp>
        <p:nvSpPr>
          <p:cNvPr id="11" name="Target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Software   </a:t>
            </a:r>
            <a:r>
              <a:rPr lang="en-US" sz="1400" dirty="0">
                <a:solidFill>
                  <a:schemeClr val="tx2"/>
                </a:solidFill>
              </a:rPr>
              <a:t>Intune apps, with Autopilot</a:t>
            </a:r>
            <a:endParaRPr lang="en-US" sz="1400" dirty="0"/>
          </a:p>
        </p:txBody>
      </p:sp>
      <p:sp>
        <p:nvSpPr>
          <p:cNvPr id="13" name="Target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Scripts and drives   </a:t>
            </a:r>
            <a:r>
              <a:rPr lang="en-US" sz="1400" dirty="0">
                <a:solidFill>
                  <a:schemeClr val="tx2"/>
                </a:solidFill>
              </a:rPr>
              <a:t>Remediations; OneDrive, SharePoint</a:t>
            </a:r>
            <a:endParaRPr lang="en-US" sz="1400" dirty="0"/>
          </a:p>
        </p:txBody>
      </p:sp>
      <p:sp>
        <p:nvSpPr>
          <p:cNvPr id="15" name="Target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Access control   </a:t>
            </a:r>
            <a:r>
              <a:rPr lang="en-US" sz="1400" dirty="0">
                <a:solidFill>
                  <a:schemeClr val="tx2"/>
                </a:solidFill>
              </a:rPr>
              <a:t>Conditional Access</a:t>
            </a:r>
            <a:endParaRPr lang="en-US" sz="1400" dirty="0"/>
          </a:p>
        </p:txBody>
      </p:sp>
      <p:sp>
        <p:nvSpPr>
          <p:cNvPr id="17" name="Target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Azure machine configuration through Arc</a:t>
            </a:r>
            <a:endParaRPr lang="en-US" sz="1400" dirty="0"/>
          </a:p>
        </p:txBody>
      </p:sp>
      <p:sp>
        <p:nvSpPr>
          <p:cNvPr id="19" name="Stage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EVERY POLICY CHANGE PASSES</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Prefer require to block: </a:t>
            </a: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666FA1A1-89CF-D251-ED87-7C9D4741F8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29C72A-B5B8-4AF0-86FE-AFA20148982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00"/>
    </mc:Choice>
    <mc:Fallback>
      <p:transition spd="slow" advTm="5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9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08 AND 09</a:t>
            </a:r>
            <a:endParaRPr lang="en-US" sz="1100" dirty="0"/>
          </a:p>
        </p:txBody>
      </p:sp>
      <p:sp>
        <p:nvSpPr>
          <p:cNvPr id="6" name="Svc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TableLis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Why "Phase 2" never comes: </a:t>
            </a: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E160F89-6EFB-7318-98D6-BFFE872FD5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76EC7E-B36E-4949-9B25-BF766DEFA7A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06</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P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6"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Compute stays with its data: </a:t>
            </a: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6B9878A-005D-6F92-1BEF-B2D67404CC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D8C5BE-210D-4E8E-850D-9573FFEA3F9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07</a:t>
            </a:r>
            <a:endParaRPr lang="en-US" sz="1100" dirty="0"/>
          </a:p>
        </p:txBody>
      </p:sp>
      <p:sp>
        <p:nvSpPr>
          <p:cNvPr id="6" name="Surface 1">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marL="0" indent="0">
              <a:buNone/>
            </a:pPr>
            <a:r>
              <a:rPr lang="en-US" sz="1500" b="1" dirty="0">
                <a:solidFill>
                  <a:srgbClr val="1F2A44"/>
                </a:solidFill>
              </a:rPr>
              <a:t>Zero Trust</a:t>
            </a:r>
            <a:endParaRPr lang="en-US" sz="1400" dirty="0"/>
          </a:p>
          <a:p>
            <a:pPr marL="0" indent="0">
              <a:buNone/>
            </a:pPr>
            <a:r>
              <a:rPr lang="en-US" sz="1300" dirty="0">
                <a:solidFill>
                  <a:schemeClr val="tx2"/>
                </a:solidFill>
              </a:rPr>
              <a:t>The model: no trust from network location</a:t>
            </a:r>
            <a:endParaRPr lang="en-US" sz="1400" dirty="0"/>
          </a:p>
        </p:txBody>
      </p:sp>
      <p:sp>
        <p:nvSpPr>
          <p:cNvPr id="8" name="Surface 2">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marL="0" indent="0">
              <a:buNone/>
            </a:pPr>
            <a:r>
              <a:rPr lang="en-US" sz="1500" b="1" dirty="0">
                <a:solidFill>
                  <a:srgbClr val="0F766E"/>
                </a:solidFill>
              </a:rPr>
              <a:t>Conditional Access</a:t>
            </a:r>
            <a:endParaRPr lang="en-US" sz="1400" dirty="0"/>
          </a:p>
          <a:p>
            <a:pPr marL="0" indent="0">
              <a:buNone/>
            </a:pPr>
            <a:r>
              <a:rPr lang="en-US" sz="1300" dirty="0">
                <a:solidFill>
                  <a:schemeClr val="tx2"/>
                </a:solidFill>
              </a:rPr>
              <a:t>The decision, made per request</a:t>
            </a:r>
            <a:endParaRPr lang="en-US" sz="1400" dirty="0"/>
          </a:p>
        </p:txBody>
      </p:sp>
      <p:sp>
        <p:nvSpPr>
          <p:cNvPr id="10" name="Surface 3">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marL="0" indent="0">
              <a:buNone/>
            </a:pPr>
            <a:r>
              <a:rPr lang="en-US" sz="1500" b="1" dirty="0">
                <a:solidFill>
                  <a:srgbClr val="B45309"/>
                </a:solidFill>
              </a:rPr>
              <a:t>SASE</a:t>
            </a:r>
            <a:endParaRPr lang="en-US" sz="1400" dirty="0"/>
          </a:p>
          <a:p>
            <a:pPr marL="0" indent="0">
              <a:buNone/>
            </a:pPr>
            <a:r>
              <a:rPr lang="en-US" sz="1300" dirty="0">
                <a:solidFill>
                  <a:schemeClr val="tx2"/>
                </a:solidFill>
              </a:rPr>
              <a:t>The edge: ZTNA in place of VPN</a:t>
            </a:r>
            <a:endParaRPr lang="en-US" sz="1400" dirty="0"/>
          </a:p>
        </p:txBody>
      </p:sp>
      <p:sp>
        <p:nvSpPr>
          <p:cNvPr id="12" name="Surface 4">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marL="0" indent="0">
              <a:buNone/>
            </a:pPr>
            <a:r>
              <a:rPr lang="en-US" sz="1500" b="1" dirty="0">
                <a:solidFill>
                  <a:srgbClr val="B91C1C"/>
                </a:solidFill>
              </a:rPr>
              <a:t>Phishing-resistant MFA</a:t>
            </a:r>
            <a:endParaRPr lang="en-US" sz="1400" dirty="0"/>
          </a:p>
          <a:p>
            <a:pPr marL="0" indent="0">
              <a:buNone/>
            </a:pPr>
            <a:r>
              <a:rPr lang="en-US" sz="1300" dirty="0">
                <a:solidFill>
                  <a:schemeClr val="tx2"/>
                </a:solidFill>
              </a:rPr>
              <a:t>The proof: FIDO2, Windows Hello, PIV</a:t>
            </a:r>
            <a:endParaRPr lang="en-US" sz="1400" dirty="0"/>
          </a:p>
        </p:txBody>
      </p:sp>
      <p:sp>
        <p:nvSpPr>
          <p:cNvPr id="14" name="Panel 1">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Log into applications, not networks: </a:t>
            </a: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7169ADED-4B3E-C3B3-CB9F-F99279B46A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0280B2-E8FF-4852-9E2B-512AC09E393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00"/>
    </mc:Choice>
    <mc:Fallback>
      <p:transition spd="slow" advTm="6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Scope, funding, sequence, AD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official who accepts risk</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and logging</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Program office and steward</a:t>
            </a:r>
            <a:endParaRPr lang="en-US" sz="1300" dirty="0"/>
          </a:p>
          <a:p>
            <a:pPr marL="0" indent="0">
              <a:spcAft>
                <a:spcPts val="400"/>
              </a:spcAft>
              <a:buNone/>
            </a:pPr>
            <a:r>
              <a:rPr lang="en-US" sz="1300" dirty="0">
                <a:solidFill>
                  <a:schemeClr val="tx2"/>
                </a:solidFill>
              </a:rPr>
              <a:t>Repository, plans; gates G0, G1, G4</a:t>
            </a:r>
            <a:endParaRPr lang="en-US" sz="1300" dirty="0"/>
          </a:p>
          <a:p>
            <a:pPr marL="0" indent="0">
              <a:spcAft>
                <a:spcPts val="400"/>
              </a:spcAft>
              <a:buNone/>
            </a:pPr>
            <a:r>
              <a:rPr lang="en-US" sz="1300" b="1" dirty="0">
                <a:solidFill>
                  <a:srgbClr val="0F766E"/>
                </a:solidFill>
              </a:rPr>
              <a:t>HR and contractor sources</a:t>
            </a:r>
            <a:endParaRPr lang="en-US" sz="1300" dirty="0"/>
          </a:p>
          <a:p>
            <a:pPr marL="0" indent="0">
              <a:spcAft>
                <a:spcPts val="400"/>
              </a:spcAft>
              <a:buNone/>
            </a:pPr>
            <a:r>
              <a:rPr lang="en-US" sz="1300" dirty="0">
                <a:solidFill>
                  <a:schemeClr val="tx2"/>
                </a:solidFill>
              </a:rPr>
              <a:t>What worker attributes mean</a:t>
            </a:r>
            <a:endParaRPr lang="en-US" sz="1300" dirty="0"/>
          </a:p>
          <a:p>
            <a:pPr marL="0" indent="0">
              <a:spcAft>
                <a:spcPts val="400"/>
              </a:spcAft>
              <a:buNone/>
            </a:pPr>
            <a:r>
              <a:rPr lang="en-US" sz="1300" b="1" dirty="0">
                <a:solidFill>
                  <a:srgbClr val="0F766E"/>
                </a:solidFill>
              </a:rPr>
              <a:t>Records and privacy</a:t>
            </a:r>
            <a:endParaRPr lang="en-US" sz="1300" dirty="0"/>
          </a:p>
          <a:p>
            <a:pPr marL="0" indent="0">
              <a:spcAft>
                <a:spcPts val="400"/>
              </a:spcAft>
              <a:buNone/>
            </a:pPr>
            <a:r>
              <a:rPr lang="en-US" sz="1300" dirty="0">
                <a:solidFill>
                  <a:schemeClr val="tx2"/>
                </a:solidFill>
              </a:rPr>
              <a:t>Retention before decommission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Five workstreams, a lead for each</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Dependencies, tests, cutover sign-off</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MICROSOFT PROVIDES THE INSTRUMENTS; THE PROGRAM PROVIDES THE ORCHESTRA</a:t>
            </a:r>
            <a:endParaRPr lang="en-US" sz="1200" dirty="0"/>
          </a:p>
        </p:txBody>
      </p:sp>
      <p:sp>
        <p:nvSpPr>
          <p:cNvPr id="21" name="Orchestra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The instruments — </a:t>
            </a:r>
            <a:r>
              <a:rPr lang="en-US" sz="1400" dirty="0">
                <a:solidFill>
                  <a:schemeClr val="tx2"/>
                </a:solidFill>
              </a:rPr>
              <a:t>Entra ID, Intune, Arc, Conditional Access, PIM: each excellent, and none decides the target</a:t>
            </a:r>
            <a:endParaRPr lang="en-US" sz="1400" dirty="0"/>
          </a:p>
        </p:txBody>
      </p:sp>
      <p:sp>
        <p:nvSpPr>
          <p:cNvPr id="23" name="Orchestra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The orchestra — </a:t>
            </a:r>
            <a:r>
              <a:rPr lang="en-US" sz="1400" dirty="0">
                <a:solidFill>
                  <a:schemeClr val="tx2"/>
                </a:solidFill>
              </a:rPr>
              <a:t>decide the target, get there, prove it was done right, and keep it right</a:t>
            </a:r>
            <a:endParaRPr lang="en-US" sz="1400" dirty="0"/>
          </a:p>
        </p:txBody>
      </p:sp>
      <p:sp>
        <p:nvSpPr>
          <p:cNvPr id="25" name="Orchestra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Ask each month — </a:t>
            </a: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64B0650-E3F8-C6EA-8624-2F3A1737E5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389DBB-FEB7-4179-9A8E-37E2BA29691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20"/>
    </mc:Choice>
    <mc:Fallback>
      <p:transition spd="slow" advTm="5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ses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Profile before separating: </a:t>
            </a: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025D86-F185-94EA-58EB-00423863A3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8868B7-1C3C-4E21-BEF1-59A9AC9480DF}"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THREE STAGES, TWO GATES, ONE EVIDENCE PACKET</a:t>
            </a:r>
            <a:endParaRPr lang="en-US" sz="1200" dirty="0"/>
          </a:p>
        </p:txBody>
      </p:sp>
      <p:sp>
        <p:nvSpPr>
          <p:cNvPr id="6" name="Stag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Analyze   </a:t>
            </a:r>
            <a:r>
              <a:rPr lang="en-US" sz="1400" dirty="0">
                <a:solidFill>
                  <a:schemeClr val="tx2"/>
                </a:solidFill>
              </a:rPr>
              <a:t>Current and target graphs, diff, risk</a:t>
            </a:r>
            <a:endParaRPr lang="en-US" sz="1400" dirty="0"/>
          </a:p>
        </p:txBody>
      </p:sp>
      <p:sp>
        <p:nvSpPr>
          <p:cNvPr id="8" name="Stag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Plan   </a:t>
            </a:r>
            <a:r>
              <a:rPr lang="en-US" sz="1400" dirty="0">
                <a:solidFill>
                  <a:schemeClr val="tx2"/>
                </a:solidFill>
              </a:rPr>
              <a:t>Typed, scoped, ordered, rollback-paired</a:t>
            </a:r>
            <a:endParaRPr lang="en-US" sz="1400" dirty="0"/>
          </a:p>
        </p:txBody>
      </p:sp>
      <p:sp>
        <p:nvSpPr>
          <p:cNvPr id="10" name="Stag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Validate   </a:t>
            </a:r>
            <a:r>
              <a:rPr lang="en-US" sz="1400" dirty="0">
                <a:solidFill>
                  <a:schemeClr val="tx2"/>
                </a:solidFill>
              </a:rPr>
              <a:t>Schema, rules, boundary, safety</a:t>
            </a:r>
            <a:endParaRPr lang="en-US" sz="1400" dirty="0"/>
          </a:p>
        </p:txBody>
      </p:sp>
      <p:sp>
        <p:nvSpPr>
          <p:cNvPr id="12" name="Stag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Authorize   </a:t>
            </a:r>
            <a:r>
              <a:rPr lang="en-US" sz="1400" dirty="0">
                <a:solidFill>
                  <a:schemeClr val="tx2"/>
                </a:solidFill>
              </a:rPr>
              <a:t>An approver of record, not the author</a:t>
            </a:r>
            <a:endParaRPr lang="en-US" sz="1400" dirty="0"/>
          </a:p>
        </p:txBody>
      </p:sp>
      <p:sp>
        <p:nvSpPr>
          <p:cNvPr id="14" name="Stag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Deliver   </a:t>
            </a:r>
            <a:r>
              <a:rPr lang="en-US" sz="1400" dirty="0">
                <a:solidFill>
                  <a:schemeClr val="tx2"/>
                </a:solidFill>
              </a:rPr>
              <a:t>Separate identity; verify each action</a:t>
            </a:r>
            <a:endParaRPr lang="en-US" sz="1400" dirty="0"/>
          </a:p>
        </p:txBody>
      </p:sp>
      <p:sp>
        <p:nvSpPr>
          <p:cNvPr id="16" name="Stag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Signed packet to the repository and SIEM</a:t>
            </a:r>
            <a:endParaRPr lang="en-US" sz="140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ArrowDownWideShor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ACTUATION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zero-action plan: </a:t>
            </a: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C6837C7-4FCB-073D-B3E2-529E4C56A2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81A624-BE94-4E1A-AB3B-E8FD6E8803B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00"/>
    </mc:Choice>
    <mc:Fallback>
      <p:transition spd="slow" advTm="54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Pre-flight</a:t>
            </a:r>
            <a:endParaRPr lang="en-US" sz="1400" dirty="0"/>
          </a:p>
          <a:p>
            <a:pPr marL="0" indent="0">
              <a:buNone/>
            </a:pPr>
            <a:r>
              <a:rPr lang="en-US" sz="1150" dirty="0">
                <a:solidFill>
                  <a:schemeClr val="tx2"/>
                </a:solidFill>
              </a:rPr>
              <a:t>Weeks 1–4</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Foundation</a:t>
            </a:r>
            <a:endParaRPr lang="en-US" sz="1400" dirty="0"/>
          </a:p>
          <a:p>
            <a:pPr marL="0" indent="0">
              <a:buNone/>
            </a:pPr>
            <a:r>
              <a:rPr lang="en-US" sz="1150" dirty="0">
                <a:solidFill>
                  <a:schemeClr val="tx2"/>
                </a:solidFill>
              </a:rPr>
              <a:t>Weeks 5–8</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Pilot division</a:t>
            </a:r>
            <a:endParaRPr lang="en-US" sz="1400" dirty="0"/>
          </a:p>
          <a:p>
            <a:pPr marL="0" indent="0">
              <a:buNone/>
            </a:pPr>
            <a:r>
              <a:rPr lang="en-US" sz="1150" dirty="0">
                <a:solidFill>
                  <a:schemeClr val="tx2"/>
                </a:solidFill>
              </a:rPr>
              <a:t>Weeks 9–16</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General rollout</a:t>
            </a:r>
            <a:endParaRPr lang="en-US" sz="1400" dirty="0"/>
          </a:p>
          <a:p>
            <a:pPr marL="0" indent="0">
              <a:buNone/>
            </a:pPr>
            <a:r>
              <a:rPr lang="en-US" sz="1150" dirty="0">
                <a:solidFill>
                  <a:schemeClr val="tx2"/>
                </a:solidFill>
              </a:rPr>
              <a:t>Weeks 17–36</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Legacy retirement</a:t>
            </a:r>
            <a:endParaRPr lang="en-US" sz="1400" dirty="0"/>
          </a:p>
          <a:p>
            <a:pPr marL="0" indent="0">
              <a:buNone/>
            </a:pPr>
            <a:r>
              <a:rPr lang="en-US" sz="1150" dirty="0">
                <a:solidFill>
                  <a:schemeClr val="tx2"/>
                </a:solidFill>
              </a:rPr>
              <a:t>Weeks 37–44</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AD DS retirement</a:t>
            </a:r>
            <a:endParaRPr lang="en-US" sz="1400" dirty="0"/>
          </a:p>
          <a:p>
            <a:pPr marL="0" indent="0">
              <a:buNone/>
            </a:pPr>
            <a:r>
              <a:rPr lang="en-US" sz="1150" dirty="0">
                <a:solidFill>
                  <a:schemeClr val="tx2"/>
                </a:solidFill>
              </a:rPr>
              <a:t>Weeks 45–48</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00" b="1" dirty="0">
                <a:solidFill>
                  <a:srgbClr val="1F2A44"/>
                </a:solidFill>
              </a:rPr>
              <a:t>Steady state</a:t>
            </a:r>
            <a:endParaRPr lang="en-US" sz="1400" dirty="0"/>
          </a:p>
          <a:p>
            <a:pPr marL="0" indent="0">
              <a:buNone/>
            </a:pPr>
            <a:r>
              <a:rPr lang="en-US" sz="1150" dirty="0">
                <a:solidFill>
                  <a:schemeClr val="tx2"/>
                </a:solidFill>
              </a:rPr>
              <a:t>Week 49 on</a:t>
            </a:r>
            <a:endParaRPr lang="en-US" sz="1400" dirty="0"/>
          </a:p>
        </p:txBody>
      </p:sp>
      <p:sp>
        <p:nvSpPr>
          <p:cNvPr id="19" name="Principle 1">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300"/>
              </a:spcAft>
              <a:buNone/>
            </a:pPr>
            <a:r>
              <a:rPr lang="en-US" sz="1450" b="1" dirty="0">
                <a:solidFill>
                  <a:srgbClr val="1F2A44"/>
                </a:solidFill>
              </a:rPr>
              <a:t>One authoritative source</a:t>
            </a:r>
            <a:endParaRPr lang="en-US" sz="1400" dirty="0"/>
          </a:p>
          <a:p>
            <a:pPr marL="0" indent="0">
              <a:spcAft>
                <a:spcPts val="300"/>
              </a:spcAft>
              <a:buNone/>
            </a:pPr>
            <a:r>
              <a:rPr lang="en-US" sz="1300" dirty="0">
                <a:solidFill>
                  <a:schemeClr val="tx2"/>
                </a:solidFill>
              </a:rPr>
              <a:t>Every access attribute has one source</a:t>
            </a:r>
            <a:endParaRPr lang="en-US" sz="1400" dirty="0"/>
          </a:p>
        </p:txBody>
      </p:sp>
      <p:sp>
        <p:nvSpPr>
          <p:cNvPr id="21" name="Principle 2">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300"/>
              </a:spcAft>
              <a:buNone/>
            </a:pPr>
            <a:r>
              <a:rPr lang="en-US" sz="1450" b="1" dirty="0">
                <a:solidFill>
                  <a:srgbClr val="1F2A44"/>
                </a:solidFill>
              </a:rPr>
              <a:t>Application-aware networking</a:t>
            </a:r>
            <a:endParaRPr lang="en-US" sz="1400" dirty="0"/>
          </a:p>
          <a:p>
            <a:pPr marL="0" indent="0">
              <a:spcAft>
                <a:spcPts val="300"/>
              </a:spcAft>
              <a:buNone/>
            </a:pPr>
            <a:r>
              <a:rPr lang="en-US" sz="1300" dirty="0">
                <a:solidFill>
                  <a:schemeClr val="tx2"/>
                </a:solidFill>
              </a:rPr>
              <a:t>Identity and context, not location</a:t>
            </a:r>
            <a:endParaRPr lang="en-US" sz="1400" dirty="0"/>
          </a:p>
        </p:txBody>
      </p:sp>
      <p:sp>
        <p:nvSpPr>
          <p:cNvPr id="23" name="Principle 3">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300"/>
              </a:spcAft>
              <a:buNone/>
            </a:pPr>
            <a:r>
              <a:rPr lang="en-US" sz="1450" b="1" dirty="0">
                <a:solidFill>
                  <a:srgbClr val="1F2A44"/>
                </a:solidFill>
              </a:rPr>
              <a:t>Token-based identity</a:t>
            </a:r>
            <a:endParaRPr lang="en-US" sz="1400" dirty="0"/>
          </a:p>
          <a:p>
            <a:pPr marL="0" indent="0">
              <a:spcAft>
                <a:spcPts val="300"/>
              </a:spcAft>
              <a:buNone/>
            </a:pPr>
            <a:r>
              <a:rPr lang="en-US" sz="1300" dirty="0">
                <a:solidFill>
                  <a:schemeClr val="tx2"/>
                </a:solidFill>
              </a:rPr>
              <a:t>Signed tokens replace sessions</a:t>
            </a:r>
            <a:endParaRPr lang="en-US" sz="1400" dirty="0"/>
          </a:p>
        </p:txBody>
      </p:sp>
      <p:sp>
        <p:nvSpPr>
          <p:cNvPr id="25" name="Principle 4">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300"/>
              </a:spcAft>
              <a:buNone/>
            </a:pPr>
            <a:r>
              <a:rPr lang="en-US" sz="1450" b="1" dirty="0">
                <a:solidFill>
                  <a:srgbClr val="1F2A44"/>
                </a:solidFill>
              </a:rPr>
              <a:t>Govern actively</a:t>
            </a:r>
            <a:endParaRPr lang="en-US" sz="1400" dirty="0"/>
          </a:p>
          <a:p>
            <a:pPr marL="0" indent="0">
              <a:spcAft>
                <a:spcPts val="300"/>
              </a:spcAft>
              <a:buNone/>
            </a:pPr>
            <a:r>
              <a:rPr lang="en-US" sz="1300" dirty="0">
                <a:solidFill>
                  <a:schemeClr val="tx2"/>
                </a:solidFill>
              </a:rPr>
              <a:t>Reconcile toward intent, under a ceiling</a:t>
            </a:r>
            <a:endParaRPr lang="en-US" sz="1400" dirty="0"/>
          </a:p>
        </p:txBody>
      </p:sp>
      <p:sp>
        <p:nvSpPr>
          <p:cNvPr id="27" name="Principle 5">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300"/>
              </a:spcAft>
              <a:buNone/>
            </a:pPr>
            <a:r>
              <a:rPr lang="en-US" sz="1450" b="1" dirty="0">
                <a:solidFill>
                  <a:srgbClr val="1F2A44"/>
                </a:solidFill>
              </a:rPr>
              <a:t>Fewer round trips</a:t>
            </a:r>
            <a:endParaRPr lang="en-US" sz="1400" dirty="0"/>
          </a:p>
          <a:p>
            <a:pPr marL="0" indent="0">
              <a:spcAft>
                <a:spcPts val="300"/>
              </a:spcAft>
              <a:buNone/>
            </a:pPr>
            <a:r>
              <a:rPr lang="en-US" sz="1300" dirty="0">
                <a:solidFill>
                  <a:schemeClr val="tx2"/>
                </a:solidFill>
              </a:rPr>
              <a:t>Profile before separating</a:t>
            </a:r>
            <a:endParaRPr lang="en-US" sz="1400" dirty="0"/>
          </a:p>
        </p:txBody>
      </p:sp>
      <p:sp>
        <p:nvSpPr>
          <p:cNvPr id="29" name="G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Gates read from data: </a:t>
            </a: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9CA7E0CE-9947-5010-E6E9-2313E8C096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B72CC1-7141-4508-B59E-5F6E3A25058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20"/>
    </mc:Choice>
    <mc:Fallback>
      <p:transition spd="slow" advTm="52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2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starting with the sponsor, the authorizing official and the steward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marL="0" indent="0">
              <a:buNone/>
            </a:pPr>
            <a:r>
              <a:rPr lang="en-US" sz="1450" dirty="0">
                <a:solidFill>
                  <a:schemeClr val="tx2"/>
                </a:solidFill>
              </a:rPr>
              <a:t>All eleven categories, committed with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marL="0" indent="0">
              <a:buNone/>
            </a:pPr>
            <a:r>
              <a:rPr lang="en-US" sz="1450" dirty="0">
                <a:solidFill>
                  <a:schemeClr val="tx2"/>
                </a:solidFill>
              </a:rPr>
              <a:t>One writer; governance kept apart from execution</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marL="0" indent="0">
              <a:buNone/>
            </a:pPr>
            <a:r>
              <a:rPr lang="en-US" sz="1450" dirty="0">
                <a:solidFill>
                  <a:schemeClr val="tx2"/>
                </a:solidFill>
              </a:rPr>
              <a:t>Gate dates on the sponsor's calendar; exception end dates on the authorizing official's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Start with an inventory, an owner, and a date: </a:t>
            </a: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(zero trust implementation lead); NIST SP 800-37 Rev. 2. Book 01, Chapters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CA6ACB4-8EC3-4514-9E9A-CCAB558746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B98107-1614-44B0-BFDE-7CA5C01EA4FA}"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80"/>
    </mc:Choice>
    <mc:Fallback>
      <p:transition spd="slow" advTm="54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6319</Words>
  <Application>Microsoft Office PowerPoint</Application>
  <PresentationFormat>Widescreen</PresentationFormat>
  <Paragraphs>396</Paragraphs>
  <Slides>17</Slides>
  <Notes>17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Federal Modernization Workbook</vt:lpstr>
      <vt:lpstr>Why Is Modernization So Hard?</vt:lpstr>
      <vt:lpstr>Four eras built the estate; none kept one truth</vt:lpstr>
      <vt:lpstr>Sessions carried trust; tokens are checked each time</vt:lpstr>
      <vt:lpstr>The OU tree was the governance tree</vt:lpstr>
      <vt:lpstr>Eleven categories, and the failures are silent</vt:lpstr>
      <vt:lpstr>One governed host, five roles, one writer</vt:lpstr>
      <vt:lpstr>Identity: one HR stamp drives five outcomes</vt:lpstr>
      <vt:lpstr>Four tracks, each with its own source of truth</vt:lpstr>
      <vt:lpstr>Policy: regenerate Group Policy, don't copy it</vt:lpstr>
      <vt:lpstr>DNS, DHCP and IPAM move together, and with AD</vt:lpstr>
      <vt:lpstr>Compute: the domain join is the last thing to go</vt:lpstr>
      <vt:lpstr>The access plane: every request decided again</vt:lpstr>
      <vt:lpstr>Instruments versus orchestra: who leads it</vt:lpstr>
      <vt:lpstr>Inventory first: read-only, with provenance</vt:lpstr>
      <vt:lpstr>Analyze, plan, deliver, under an actuation ceiling</vt:lpstr>
      <vt:lpstr>The roadmap: seven phases, gated by data</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2</cp:revision>
  <dcterms:created xsi:type="dcterms:W3CDTF">2026-10-29T12:59:57Z</dcterms:created>
  <dcterms:modified xsi:type="dcterms:W3CDTF">2026-10-29T17:10:00Z</dcterms:modified>
</cp:coreProperties>
</file>