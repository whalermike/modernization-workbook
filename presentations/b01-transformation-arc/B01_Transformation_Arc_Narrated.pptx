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it's hard" id="{BE2B81A3-3D92-AB48-59E2-69F7C4C99016}">
          <p14:sldIdLst>
            <p14:sldId id="256"/>
            <p14:sldId id="257"/>
            <p14:sldId id="258"/>
            <p14:sldId id="259"/>
            <p14:sldId id="260"/>
          </p14:sldIdLst>
        </p14:section>
        <p14:section name="What changes" id="{BAE83650-55A5-E096-5067-0C3685353EA3}">
          <p14:sldIdLst>
            <p14:sldId id="261"/>
            <p14:sldId id="262"/>
            <p14:sldId id="263"/>
            <p14:sldId id="264"/>
            <p14:sldId id="265"/>
            <p14:sldId id="266"/>
          </p14:sldIdLst>
        </p14:section>
        <p14:section name="Who leads" id="{33F96128-C92F-7EAB-306A-6D0770169426}">
          <p14:sldIdLst>
            <p14:sldId id="267"/>
          </p14:sldIdLst>
        </p14:section>
        <p14:section name="How to do it" id="{991DDE12-1B09-3C4D-60C8-15977979C116}">
          <p14:sldIdLst>
            <p14:sldId id="268"/>
            <p14:sldId id="269"/>
            <p14:sldId id="270"/>
            <p14:sldId id="271"/>
          </p14:sldIdLst>
        </p14:section>
        <p14:section name="Backup" id="{9217D95D-0437-3547-0196-7A3DE1D9A18C}">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41864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[0:00–0:35]  This briefing comes from Book 01 of the Federal Modernization Workbook, The Transformation Arc: the move from a domain-joined client-server estate to cloud identity, cloud device management and governed hybrid operations. Book 01 is the workbook's overview, and each part of it points to the book that carries the detail.
I'll take four questions: why modernization is so hard, what has to change, who leads it, and how to get there.
The short version: modernization is a governance rebuild, not a platform swap.
Workbook: Book 01, index; Chapter 01 — Why Modernization Is Hard.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[0:35–1:35]  Why is modernization so hard? The estate got here in four eras. Each solved a real problem, and none replaced what the first era had: one authoritative answer.
On the mainframe, one machine held the data and enforced access to it. By the late 1980s, regional databases and directories had spread that truth across a dozen systems. From 2010 the direction reversed. OMB reported that federal data centers had grown from 432 in 1998 to more than 1,100 in 2009, and the December 2010 reform plan targeted closing at least 800 by 2015, wiring offices back to distant facilities. Then email and collaboration moved to the cloud, while identity stayed in regional domains.
And each fix assumes the last one is done. Zero Trust assumes governed identity, governed identity assumes a clean directory, and a clean directory assumes someone owns it.
Workbook: Book 01, Chapter 01 — Why Modernization Is Hard (How the estate got here; The cascade; The bottom line).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[1:35–2:34]  Second, trust itself changed. In Active Directory a user signs in once and gets a Kerberos ticket-granting ticket that lasts 10 hours by default and renews for 7 days. An open connection isn't interrupted when its ticket expires, and an account disabled during the day can keep using tickets issued before.
Zero Trust decides each request against current policy. An Entra access token lasts one hour by default, or up to 28 hours with continuous access evaluation, because the service subscribes to events such as a disabled account and stops honoring the token in near real time. It's a badge checked at every door.
Distance doesn't break tickets. It hurts the trips to a domain controller: sign-in, password changes and policy. On the book's worked arithmetic, Portland to Washington has a floor of about 45 milliseconds round trip, whatever the bandwidth.
Workbook: Book 01, Chapter 01 — Why Modernization Is Hard (The session problem; What distance does and doesn't cost).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[2:34–3:34]  Chapter 02 names the problem. Active Directory was the implicit governance model for every Windows-era service, and nobody wrote it down.
Microsoft's design guidance says organizational units exist to apply Group Policy and delegate authority, and that both inherit down the tree. So placing one user in an OU did five things at once. It handed the account to that branch's administrators, applied every policy linked along the path, fed the tools that built groups from position, bound it to the branch's delegation authority, and drew an audit boundary.
Entra ID has no OU tree. Dynamic groups follow attributes, and administrative units scope delegated roles but can't be nested. Neither rebuilds the tree on its own; the rebuild has to be written down.
And Microsoft still supports and enhances Active Directory, so retiring it is an agency decision, not a vendor deadline.
Workbook: Book 01, Chapter 02 — The Problem: Governance Hidden in the Directory (What breaks when AD goes away; The OU tree was the governance tree).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[3:34–4:33]  Most "AD to Entra ID" projects are scoped around users, groups and mailboxes, the visible part. The program counts eleven categories of object that Active Directory governs: users, computers, service accounts, security groups, Group Policy, DNS and DHCP, certificate services, RADIUS, LDAP, service principal names and trusts. Migrate the users into a flat directory, declare victory, and the rest are left behind.
These failures rarely throw clear errors. A certificate doesn't renew because enrollment was never re-pointed. A device fails network access because a group lookup comes back empty. An LDAP application stops because its bind account was deleted with the domain.
Organizations rarely fail because they can't list objects. They fail because nobody treats five steps as a discipline: enumerate, map each dependency to a target, keep delegation continuous, deliver through a governed pipeline, and detect drift.
Workbook: Book 01, Chapter 02 — The Problem: Governance Hidden in the Directory (the eleven categories; Silent failure is the real enemy; Why naive migrations fail).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[4:33–5:33]  Now, what changes. Before anything moves, the program needs one place where every decision is written down, signed and replayable. Chapter 03 describes a reference platform host: one Windows Server 2025 server, supported to November 2034, with a standby.
The host has five roles: a version-controlled source of truth with signed commits; a reverse proxy for TLS and client certificates; an authentication bridge to the legacy forest; the transformation engine; and an adapter per dependency category. What matters is a single authoritative writer.
Governance and execution never mix. One layer validates and signs plans but never touches a target. The other runs authorized plans but decides nothing, under separate accounts, credentials and logs. The host reads Active Directory read-only and is protected as Tier 0.
Book 05 covers servers under Azure Arc in depth, and Book 04 covers change as code with evidence.
Workbook: Book 01, Chapter 03 — The Platform Foundation. Depth: Book 05, Chapter 09; Book 04, Chapter 10.</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[5:33–6:29]  Identity comes first, because every later control reads the attributes. For the workforce, the authoritative source is the HR system of record, and OMB M-22-09 requires centralized identity management for agency users.
Four mechanisms rebuild what the OU tree did: attributes replace OU placement, dynamic groups replace OU-derived groups, administrative units replace OU delegation, and Conditional Access targeting replaces Group Policy inheritance. The program's contribution is the contract that binds them: one HR-sourced stamp drives membership, delegated scope, policy targeting, licensing and drift detection.
Two cautions. Dynamic membership usually updates within a few hours but can take more than 24, so design movers around that window. And HR provisioning must be the only writer of those attributes.
Tokens only work if this is right. Books 02 and 03 carry identity in depth.
Workbook: Book 01, Chapter 04 — Identity Transformation. Depth: Book 02 (Identity &amp; Directory), Book 03 (HR-Driven Identity).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[6:29–7:31]  Group Policy was Active Directory's most ambitious delivery system, and its most network-bound. A client applies it only when it can reach a domain controller, and every refresh is a trip to one. A cloud-native endpoint, Entra joined and in Intune, has no such dependency.
Don't port a fifty-setting GPO as fifty settings; that carries dead weight, old conflicts and manual targeting. Microsoft's recommended option is to start new rather than migrate. So the program regenerates one canonical policy per category, keyed to attributes, into Intune, Conditional Access and, for servers, Azure machine configuration, because Intune doesn't manage Windows Server.
Every change passes four stages: validation, a simulated tenant, a report-only pilot, then production. And prefer require to block, except where the federal SCuBA baseline demands a block, as for legacy authentication.
Book 05 covers the device detail in depth, and Book 04 the Conditional Access library.
Workbook: Book 01, Chapter 05 — Policy Transformation. Depth: Book 05 (Devices &amp; Endpoints), Book 04, Chapter 07.</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[7:31–8:32]  DNS, DHCP and address management are what agencies most often defer, because they still work. That's how they keep the old directory alive.
AD-integrated zones replicate with Active Directory, and domain-joined clients find domain controllers through records Netlogon registers in DNS, so DNS and AD retirement must be sequenced together. The target is a governed authority outside AD, Azure DNS Private Resolver as a forwarding bridge rather than an authority, and Azure private zones for cloud workloads.
A Windows DHCP server checks its authorization in AD every hour. That stops an unauthorized Windows server, not a rogue device. And one IPAM authority owns the address space; DNS and DHCP derive from it.
Leave the three for "Phase 2" and it rarely comes. A forest that still hosts DNS hasn't been retired. Book 08 covers the design in depth, and Book 09 the network underneath.
Workbook: Book 01, Chapter 06 — Network Services: DNS, DHCP and IPAM. Depth: Book 08 (DNS, DHCP &amp; IPAM), Book 09 (Network &amp; Transport).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[8:32–9:33]  Once identity, policy and services have moved, domain-joined PCs and servers are the largest remaining dependency. User PCs end Entra joined and in Intune. Servers come under Azure Arc and machine configuration.
Hybrid join is a waypoint. Microsoft says it shouldn't be anyone's end state, and there's no supported way to convert a hybrid-joined device to Entra join without resetting Windows, so time the move to a hardware refresh.
Every service principal name is an application that expects Kerberos, and each needs a decision: migrate it to modern authentication, retire it, or, as a last resort, island it with an end-of-life date. No server leaves the domain until every SPN on it is resolved, and NTLM goes in the same pass.
And compute stays with its data until profiling shows the round trips are reduced. Books 05 and 06 carry the detail in depth.
Workbook: Book 01, Chapter 07 — Compute Transformation. Depth: Book 05 (Devices &amp; Endpoints), Book 06 (Data Platform).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[9:33–10:34]  When Active Directory retires, being inside the network stops meaning anything. OMB M-22-09 says users should log into applications rather than networks.
The replacement has four surfaces: Zero Trust as the model, Conditional Access as the per-request decision, SASE as the edge, and phishing-resistant MFA as the proof. M-22-09 requires that MFA for staff, contractors and partners, and BOD 25-01 makes blocking legacy authentication mandatory.
Smart cards stay. Entra certificate-based authentication moves validation from the domain controller to Entra ID, but a card counts as phishing-resistant only if the binding policy makes it multifactor. And issuance needs a successor first, because an enterprise CA depends on AD DS.
Administrators hold no standing privilege: roles are eligible in Privileged Identity Management, and a vault covers what can't be made just in time. Book 04 covers the policy and privilege model in depth, and Book 07 the certificates.
Workbook: Book 01, Chapter 08 — The Access Plane. Depth: Book 04 (Access &amp; Privilege), Book 07 (PKI &amp; Certificates).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[10:34–11:35]  Who leads it? Chapter 09 puts it in one line: Microsoft provides the instruments; the program provides the orchestra. The tools are each excellent, but none of them decides what the organizational structure should become, or what to do with the findings, and no vendor deadline forces the decision.
So name one decider per row. The sponsor and CIO own scope, funding, sequence and when AD components retire. The authorizing official is the only official who can accept risk, so every deferred cutoff and Kerberos island reaches them. The CISO sets control requirements. The program office and its steward hold the repository and clear most gates. HR decides what worker attributes mean, application owners sign off their cutovers, and the records officer is consulted before any domain controller is decommissioned.
Each month, ask about the drift trend, signed changes and open risk acceptances.
Workbook: Book 01, Chapter 09 — Who Leads the Transformation.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[11:35–12:37]  How do you get there? Start with an inventory. You can't modernize what you haven't enumerated, and nothing is retired until it's written down, read-only, with proof of how it was read.
The assessment account holds no write rights, the code imports no write commands, and every call is logged. A default authenticated account already reads more than most teams expect: the topology, the OU tree, most Group Policy, users, groups and certificate templates. A narrow second tier adds only server-side exports, never secrets. Every run records who, when, against what, and a hash of every file.
Eleven streams feed the risk scoring. One example: Windows Server 2012 extended updates through Arc ended on October 13, 2026, and Windows Server 2016 reaches end of support on January 12, 2027, so every such server needs a disposition.
And no application leaves its data until its transactions are profiled.
Workbook: Book 01, Chapter 10 — Analyzing the Estate.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[12:37–13:36]  Chapter 11 turns the inventory into change in three stages. Analyze builds current-state and target-state graphs and a diff. Plan expands the diff into typed actions, each scoped to one object, ordered by dependency and paired with its rollback. A plan must pass validation, then authorization by an approver of record who isn't the author. Only then does a separate execution identity deliver it, verifying every action and closing with an evidence packet.
The actuation ladder caps how far automation may go: record, observe, advise, gated actuation, and autonomy only for enumerated low-risk classes. Gated actuation is the default ceiling, because it's a posture an authorizing official can sign. CISA calls its maturity model a general guide, not a strict set of requirements, so this is design, not mandate.
When nothing has drifted, the next run produces a zero-action plan.
Workbook: Book 01, Chapter 11 — Analysis, Plan, Delivery; Chapter 03 (the control plane over the data planes).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[13:36–14:37]  Chapter 12 sequences everything as an illustrative fifty-two-week program: seven phases, from pre-flight to steady state, with five workstreams running in parallel. Large federal estates typically run multi-year; the weeks are a sequencing model, not a commitment.
A phase opens only when the last gate clears, and gates read from data: "zero drift for fourteen days" is a query, not a signature. The steward clears most gates; the sponsor and CIO sign the one that says Active Directory is retired.
Under it all is one structural move: separate truth from enforcement. A governance layer holds and reconciles authoritative state, while identity, network and device platforms enforce at runtime. Five principles follow: one authoritative source, application-aware networking, token-based identity, governing actively, and fewer synchronous round trips.
And read one clock correctly: FedRAMP's 2027 date governs cloud providers' certification. The agency still authorizes its own systems.
Workbook: Book 01, Chapter 12 — The Migration Roadmap.</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[14:37–15:29]  So, four decisions.
Name the owners: one decider per row, starting with the sponsor, the authorizing official and the steward, and confirm who holds the zero trust implementation lead role M-22-09 required.
Run the read-only assessment, across all eleven categories, committed with provenance.
Stand up the platform host, so every change has one writer and a plan.
And set the dates: gate dates on the sponsor's calendar, and every exception's end date on the authorizing official's.
None of this requires a vendor decision on day one. Start with an inventory, an owner, and a date.
Modernization is a governance rebuild, not a platform swap. Book 01 is the map, and Books 02 to 09 carry each part in depth, every claim footnoted. Thank you.
Workbook: Book 01, Chapter 09 (What to do next); Chapter 12 (Where to start); index.</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01 The Transformation Arc</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2.xml"/><Relationship Id="rId7" Type="http://schemas.microsoft.com/office/2017/04/relationships/track" Target="../media/captions_slide02.vtt"/></Relationships>
</file>

<file path=ppt/slides/_rels/slide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7.png"/><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notesSlide" Target="../notesSlides/notesSlide3.xml"/><Relationship Id="rId9"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notesSlide" Target="../notesSlides/notesSlide4.xml"/><Relationship Id="rId8" Type="http://schemas.microsoft.com/office/2017/04/relationships/track" Target="../media/captions_slide04.vtt"/></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slideLayout" Target="../slideLayouts/slideLayout3.xml"/><Relationship Id="rId7" Type="http://schemas.openxmlformats.org/officeDocument/2006/relationships/image" Target="../media/image12.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notesSlide" Target="../notesSlides/notesSlide5.xml"/><Relationship Id="rId9" Type="http://schemas.openxmlformats.org/officeDocument/2006/relationships/image" Target="../media/image3.png"/><Relationship Id="rId10" Type="http://schemas.microsoft.com/office/2017/04/relationships/track" Target="../media/captions_slide05.vtt"/></Relationships>
</file>

<file path=ppt/slides/_rels/slide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16.pn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notesSlide" Target="../notesSlides/notesSlide6.xml"/><Relationship Id="rId9"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notesSlide" Target="../notesSlides/notesSlide7.xml"/><Relationship Id="rId8"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notesSlide" Target="../notesSlides/notesSlide8.xml"/><Relationship Id="rId8" Type="http://schemas.microsoft.com/office/2017/04/relationships/track" Target="../media/captions_slide08.vtt"/></Relationships>
</file>

<file path=ppt/slides/_rels/slide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slideLayout" Target="../slideLayouts/slideLayout3.xml"/><Relationship Id="rId7" Type="http://schemas.openxmlformats.org/officeDocument/2006/relationships/image" Target="../media/image23.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notesSlide" Target="../notesSlides/notesSlide9.xml"/><Relationship Id="rId9" Type="http://schemas.openxmlformats.org/officeDocument/2006/relationships/image" Target="../media/image3.png"/><Relationship Id="rId10"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notesSlide" Target="../notesSlides/notesSlide10.xml"/><Relationship Id="rId8" Type="http://schemas.microsoft.com/office/2017/04/relationships/track" Target="../media/captions_slide10.vtt"/></Relationships>
</file>

<file path=ppt/slides/_rels/slide1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7.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26.png"/><Relationship Id="rId5" Type="http://schemas.openxmlformats.org/officeDocument/2006/relationships/image" Target="../media/image6.png"/><Relationship Id="rId4" Type="http://schemas.openxmlformats.org/officeDocument/2006/relationships/notesSlide" Target="../notesSlides/notesSlide11.xml"/><Relationship Id="rId9" Type="http://schemas.microsoft.com/office/2017/04/relationships/track" Target="../media/captions_slide11.vtt"/></Relationships>
</file>

<file path=ppt/slides/_rels/slide1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10.png"/><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19.png"/><Relationship Id="rId5" Type="http://schemas.openxmlformats.org/officeDocument/2006/relationships/image" Target="../media/image28.png"/><Relationship Id="rId4" Type="http://schemas.openxmlformats.org/officeDocument/2006/relationships/notesSlide" Target="../notesSlides/notesSlide12.xml"/><Relationship Id="rId9" Type="http://schemas.microsoft.com/office/2017/04/relationships/track" Target="../media/captions_slide12.vtt"/></Relationships>
</file>

<file path=ppt/slides/_rels/slide13.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slideLayout" Target="../slideLayouts/slideLayout3.xml"/><Relationship Id="rId7" Type="http://schemas.openxmlformats.org/officeDocument/2006/relationships/image" Target="../media/image30.png"/><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29.png"/><Relationship Id="rId5" Type="http://schemas.openxmlformats.org/officeDocument/2006/relationships/image" Target="../media/image27.png"/><Relationship Id="rId4" Type="http://schemas.openxmlformats.org/officeDocument/2006/relationships/notesSlide" Target="../notesSlides/notesSlide13.xml"/><Relationship Id="rId9" Type="http://schemas.openxmlformats.org/officeDocument/2006/relationships/image" Target="../media/image3.png"/><Relationship Id="rId10"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32.png"/><Relationship Id="rId5" Type="http://schemas.openxmlformats.org/officeDocument/2006/relationships/image" Target="../media/image4.png"/><Relationship Id="rId4" Type="http://schemas.openxmlformats.org/officeDocument/2006/relationships/notesSlide" Target="../notesSlides/notesSlide14.xml"/><Relationship Id="rId8"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3.png"/><Relationship Id="rId5" Type="http://schemas.openxmlformats.org/officeDocument/2006/relationships/image" Target="../media/image19.png"/><Relationship Id="rId4" Type="http://schemas.openxmlformats.org/officeDocument/2006/relationships/notesSlide" Target="../notesSlides/notesSlide15.xml"/><Relationship Id="rId7" Type="http://schemas.microsoft.com/office/2017/04/relationships/track" Target="../media/captions_slide15.vtt"/></Relationships>
</file>

<file path=ppt/slides/_rels/slide16.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slideLayout" Target="../slideLayouts/slideLayout3.xml"/><Relationship Id="rId7" Type="http://schemas.openxmlformats.org/officeDocument/2006/relationships/image" Target="../media/image24.png"/><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13.png"/><Relationship Id="rId5" Type="http://schemas.openxmlformats.org/officeDocument/2006/relationships/image" Target="../media/image33.png"/><Relationship Id="rId10" Type="http://schemas.openxmlformats.org/officeDocument/2006/relationships/image" Target="../media/image3.png"/><Relationship Id="rId4" Type="http://schemas.openxmlformats.org/officeDocument/2006/relationships/notesSlide" Target="../notesSlides/notesSlide16.xml"/><Relationship Id="rId9" Type="http://schemas.openxmlformats.org/officeDocument/2006/relationships/image" Target="../media/image7.png"/><Relationship Id="rId11" Type="http://schemas.microsoft.com/office/2017/04/relationships/track" Target="../media/captions_slide16.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Why Is Modernization So Hard?</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01 — The Transformation Arc</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297680"/>
            <a:ext cx="6035040" cy="457200"/>
          </a:xfrm>
          <a:prstGeom prst="rect">
            <a:avLst/>
          </a:prstGeom>
          <a:noFill/>
          <a:ln/>
        </p:spPr>
        <p:txBody>
          <a:bodyPr wrap="square" lIns="0" tIns="0" rIns="0" bIns="0" rtlCol="0" anchor="t"/>
          <a:lstStyle/>
          <a:p>
            <a:pPr marL="0" indent="0">
              <a:buNone/>
            </a:pPr>
            <a:r>
              <a:rPr lang="en-US" sz="2000" b="1" dirty="0">
                <a:solidFill>
                  <a:srgbClr val="B91C1C"/>
                </a:solidFill>
              </a:rPr>
              <a:t>Why</a:t>
            </a:r>
            <a:r>
              <a:rPr lang="en-US" sz="2000" dirty="0">
                <a:solidFill>
                  <a:srgbClr val="64748B"/>
                </a:solidFill>
              </a:rPr>
              <a:t>   ·   </a:t>
            </a:r>
            <a:r>
              <a:rPr lang="en-US" sz="2000" b="1" dirty="0">
                <a:solidFill>
                  <a:srgbClr val="1F2A44"/>
                </a:solidFill>
              </a:rPr>
              <a:t>What</a:t>
            </a:r>
            <a:r>
              <a:rPr lang="en-US" sz="2000" dirty="0">
                <a:solidFill>
                  <a:srgbClr val="64748B"/>
                </a:solidFill>
              </a:rPr>
              <a:t>   ·   </a:t>
            </a:r>
            <a:r>
              <a:rPr lang="en-US" sz="2000" b="1" dirty="0">
                <a:solidFill>
                  <a:srgbClr val="0F766E"/>
                </a:solidFill>
              </a:rPr>
              <a:t>Who</a:t>
            </a:r>
            <a:r>
              <a:rPr lang="en-US" sz="2000" dirty="0">
                <a:solidFill>
                  <a:srgbClr val="64748B"/>
                </a:solidFill>
              </a:rPr>
              <a:t>   ·   </a:t>
            </a:r>
            <a:r>
              <a:rPr lang="en-US" sz="2000" b="1" dirty="0">
                <a:solidFill>
                  <a:srgbClr val="B45309"/>
                </a:solidFill>
              </a:rPr>
              <a:t>How</a:t>
            </a:r>
            <a:endParaRPr lang="en-US" sz="2000" dirty="0"/>
          </a:p>
        </p:txBody>
      </p:sp>
      <p:sp>
        <p:nvSpPr>
          <p:cNvPr id="7" name="Series line"/>
          <p:cNvSpPr txBox="1"/>
          <p:nvPr/>
        </p:nvSpPr>
        <p:spPr>
          <a:xfrm>
            <a:off x="731520" y="5120640"/>
            <a:ext cx="7315200" cy="731520"/>
          </a:xfrm>
          <a:prstGeom prst="rect">
            <a:avLst/>
          </a:prstGeom>
          <a:noFill/>
          <a:ln/>
        </p:spPr>
        <p:txBody>
          <a:bodyPr wrap="square" lIns="0" tIns="0" rIns="0" bIns="0" rtlCol="0" anchor="t"/>
          <a:lstStyle/>
          <a:p>
            <a:pPr marL="0" indent="0">
              <a:buNone/>
            </a:pPr>
            <a:r>
              <a:rPr lang="en-US" sz="1600" b="1" dirty="0">
                <a:solidFill>
                  <a:srgbClr val="1F2A44"/>
                </a:solidFill>
              </a:rPr>
              <a:t>Federal Modernization Workbook</a:t>
            </a:r>
            <a:endParaRPr lang="en-US" sz="1600" dirty="0"/>
          </a:p>
          <a:p>
            <a:pPr marL="0" indent="0">
              <a:buNone/>
            </a:pPr>
            <a:r>
              <a:rPr lang="en-US" sz="1600" dirty="0">
                <a:solidFill>
                  <a:srgbClr val="64748B"/>
                </a:solidFill>
              </a:rPr>
              <a:t>A 15-minute briefing on the book's argument and plan</a:t>
            </a:r>
            <a:endParaRPr lang="en-US" sz="1600" dirty="0"/>
          </a:p>
        </p:txBody>
      </p:sp>
      <p:pic>
        <p:nvPicPr>
          <p:cNvPr id="8" name="Narration" descr="Narration for this slide; captions available">
            <a:hlinkClick r:id="" action="ppaction://media"/>
            <a:extLst>
              <a:ext uri="{FF2B5EF4-FFF2-40B4-BE49-F238E27FC236}">
                <a16:creationId xmlns:a16="http://schemas.microsoft.com/office/drawing/2014/main" id="{A3742B72-F794-73D1-EB8B-F94DBC5F0C5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B498350-8A29-4502-BDEB-F86E9F7E2BDD}"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2490"/>
    </mc:Choice>
    <mc:Fallback>
      <p:transition spd="slow" advTm="324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488"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Four eras built the estate; none kept one truth</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Era 1">
            <a:extLst>
              <a:ext uri="{C183D7F6-B498-43B3-948B-1728B52AA6E4}">
                <adec:decorative xmlns:adec="http://schemas.microsoft.com/office/drawing/2017/decorative" val="1"/>
              </a:ext>
            </a:extLst>
          </p:cNvPr>
          <p:cNvSpPr/>
          <p:nvPr/>
        </p:nvSpPr>
        <p:spPr>
          <a:xfrm>
            <a:off x="548640" y="1371600"/>
            <a:ext cx="2697480" cy="1783080"/>
          </a:xfrm>
          <a:prstGeom prst="roundRect">
            <a:avLst>
              <a:gd name="adj" fmla="val 410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Era 1 text"/>
          <p:cNvSpPr txBox="1"/>
          <p:nvPr/>
        </p:nvSpPr>
        <p:spPr>
          <a:xfrm>
            <a:off x="685800" y="1463040"/>
            <a:ext cx="2468880" cy="1600200"/>
          </a:xfrm>
          <a:prstGeom prst="rect">
            <a:avLst/>
          </a:prstGeom>
          <a:noFill/>
          <a:ln/>
        </p:spPr>
        <p:txBody>
          <a:bodyPr wrap="square" lIns="0" tIns="0" rIns="0" bIns="0" rtlCol="0" anchor="ctr"/>
          <a:lstStyle/>
          <a:p>
            <a:pPr marL="0" indent="0">
              <a:spcAft>
                <a:spcPts val="400"/>
              </a:spcAft>
              <a:buNone/>
            </a:pPr>
            <a:r>
              <a:rPr lang="en-US" sz="1500" b="1" dirty="0">
                <a:solidFill>
                  <a:srgbClr val="1F2A44"/>
                </a:solidFill>
              </a:rPr>
              <a:t>Mainframe</a:t>
            </a:r>
            <a:endParaRPr lang="en-US" sz="1400" dirty="0"/>
          </a:p>
          <a:p>
            <a:pPr marL="0" indent="0">
              <a:spcAft>
                <a:spcPts val="400"/>
              </a:spcAft>
              <a:buNone/>
            </a:pPr>
            <a:r>
              <a:rPr lang="en-US" sz="1350" dirty="0">
                <a:solidFill>
                  <a:schemeClr val="tx2"/>
                </a:solidFill>
              </a:rPr>
              <a:t>One machine held the data and enforced access to it</a:t>
            </a:r>
            <a:endParaRPr lang="en-US" sz="1400" dirty="0"/>
          </a:p>
        </p:txBody>
      </p:sp>
      <p:sp>
        <p:nvSpPr>
          <p:cNvPr id="7" name="Era 2">
            <a:extLst>
              <a:ext uri="{C183D7F6-B498-43B3-948B-1728B52AA6E4}">
                <adec:decorative xmlns:adec="http://schemas.microsoft.com/office/drawing/2017/decorative" val="1"/>
              </a:ext>
            </a:extLst>
          </p:cNvPr>
          <p:cNvSpPr/>
          <p:nvPr/>
        </p:nvSpPr>
        <p:spPr>
          <a:xfrm>
            <a:off x="3360420" y="1371600"/>
            <a:ext cx="2697480" cy="1783080"/>
          </a:xfrm>
          <a:prstGeom prst="roundRect">
            <a:avLst>
              <a:gd name="adj" fmla="val 4103"/>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8" name="Era 2 text"/>
          <p:cNvSpPr txBox="1"/>
          <p:nvPr/>
        </p:nvSpPr>
        <p:spPr>
          <a:xfrm>
            <a:off x="3497580" y="1463040"/>
            <a:ext cx="2468880" cy="1600200"/>
          </a:xfrm>
          <a:prstGeom prst="rect">
            <a:avLst/>
          </a:prstGeom>
          <a:noFill/>
          <a:ln/>
        </p:spPr>
        <p:txBody>
          <a:bodyPr wrap="square" lIns="0" tIns="0" rIns="0" bIns="0" rtlCol="0" anchor="ctr"/>
          <a:lstStyle/>
          <a:p>
            <a:pPr marL="0" indent="0">
              <a:spcAft>
                <a:spcPts val="400"/>
              </a:spcAft>
              <a:buNone/>
            </a:pPr>
            <a:r>
              <a:rPr lang="en-US" sz="1500" b="1" dirty="0">
                <a:solidFill>
                  <a:srgbClr val="B45309"/>
                </a:solidFill>
              </a:rPr>
              <a:t>Distributed, late 1980s</a:t>
            </a:r>
            <a:endParaRPr lang="en-US" sz="1400" dirty="0"/>
          </a:p>
          <a:p>
            <a:pPr marL="0" indent="0">
              <a:spcAft>
                <a:spcPts val="400"/>
              </a:spcAft>
              <a:buNone/>
            </a:pPr>
            <a:r>
              <a:rPr lang="en-US" sz="1350" dirty="0">
                <a:solidFill>
                  <a:schemeClr val="tx2"/>
                </a:solidFill>
              </a:rPr>
              <a:t>Regional databases and directories, each with its own rules</a:t>
            </a:r>
            <a:endParaRPr lang="en-US" sz="1400" dirty="0"/>
          </a:p>
        </p:txBody>
      </p:sp>
      <p:sp>
        <p:nvSpPr>
          <p:cNvPr id="9" name="Era 3">
            <a:extLst>
              <a:ext uri="{C183D7F6-B498-43B3-948B-1728B52AA6E4}">
                <adec:decorative xmlns:adec="http://schemas.microsoft.com/office/drawing/2017/decorative" val="1"/>
              </a:ext>
            </a:extLst>
          </p:cNvPr>
          <p:cNvSpPr/>
          <p:nvPr/>
        </p:nvSpPr>
        <p:spPr>
          <a:xfrm>
            <a:off x="6172200" y="1371600"/>
            <a:ext cx="2697480" cy="1783080"/>
          </a:xfrm>
          <a:prstGeom prst="roundRect">
            <a:avLst>
              <a:gd name="adj" fmla="val 4103"/>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0" name="Era 3 text"/>
          <p:cNvSpPr txBox="1"/>
          <p:nvPr/>
        </p:nvSpPr>
        <p:spPr>
          <a:xfrm>
            <a:off x="6309360" y="1463040"/>
            <a:ext cx="2468880" cy="1600200"/>
          </a:xfrm>
          <a:prstGeom prst="rect">
            <a:avLst/>
          </a:prstGeom>
          <a:noFill/>
          <a:ln/>
        </p:spPr>
        <p:txBody>
          <a:bodyPr wrap="square" lIns="0" tIns="0" rIns="0" bIns="0" rtlCol="0" anchor="ctr"/>
          <a:lstStyle/>
          <a:p>
            <a:pPr marL="0" indent="0">
              <a:spcAft>
                <a:spcPts val="400"/>
              </a:spcAft>
              <a:buNone/>
            </a:pPr>
            <a:r>
              <a:rPr lang="en-US" sz="1500" b="1" dirty="0">
                <a:solidFill>
                  <a:srgbClr val="B45309"/>
                </a:solidFill>
              </a:rPr>
              <a:t>Consolidation, from 2010</a:t>
            </a:r>
            <a:endParaRPr lang="en-US" sz="1400" dirty="0"/>
          </a:p>
          <a:p>
            <a:pPr marL="0" indent="0">
              <a:spcAft>
                <a:spcPts val="400"/>
              </a:spcAft>
              <a:buNone/>
            </a:pPr>
            <a:r>
              <a:rPr lang="en-US" sz="1350" dirty="0">
                <a:solidFill>
                  <a:schemeClr val="tx2"/>
                </a:solidFill>
              </a:rPr>
              <a:t>Offices wired back to distant data centers through inspection</a:t>
            </a:r>
            <a:endParaRPr lang="en-US" sz="1400" dirty="0"/>
          </a:p>
        </p:txBody>
      </p:sp>
      <p:sp>
        <p:nvSpPr>
          <p:cNvPr id="11" name="Era 4">
            <a:extLst>
              <a:ext uri="{C183D7F6-B498-43B3-948B-1728B52AA6E4}">
                <adec:decorative xmlns:adec="http://schemas.microsoft.com/office/drawing/2017/decorative" val="1"/>
              </a:ext>
            </a:extLst>
          </p:cNvPr>
          <p:cNvSpPr/>
          <p:nvPr/>
        </p:nvSpPr>
        <p:spPr>
          <a:xfrm>
            <a:off x="8983980" y="1371600"/>
            <a:ext cx="2697480" cy="1783080"/>
          </a:xfrm>
          <a:prstGeom prst="roundRect">
            <a:avLst>
              <a:gd name="adj" fmla="val 4103"/>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2" name="Era 4 text"/>
          <p:cNvSpPr txBox="1"/>
          <p:nvPr/>
        </p:nvSpPr>
        <p:spPr>
          <a:xfrm>
            <a:off x="9121140" y="1463040"/>
            <a:ext cx="2468880" cy="1600200"/>
          </a:xfrm>
          <a:prstGeom prst="rect">
            <a:avLst/>
          </a:prstGeom>
          <a:noFill/>
          <a:ln/>
        </p:spPr>
        <p:txBody>
          <a:bodyPr wrap="square" lIns="0" tIns="0" rIns="0" bIns="0" rtlCol="0" anchor="ctr"/>
          <a:lstStyle/>
          <a:p>
            <a:pPr marL="0" indent="0">
              <a:spcAft>
                <a:spcPts val="400"/>
              </a:spcAft>
              <a:buNone/>
            </a:pPr>
            <a:r>
              <a:rPr lang="en-US" sz="1500" b="1" dirty="0">
                <a:solidFill>
                  <a:srgbClr val="B91C1C"/>
                </a:solidFill>
              </a:rPr>
              <a:t>The breaking point</a:t>
            </a:r>
            <a:endParaRPr lang="en-US" sz="1400" dirty="0"/>
          </a:p>
          <a:p>
            <a:pPr marL="0" indent="0">
              <a:spcAft>
                <a:spcPts val="400"/>
              </a:spcAft>
              <a:buNone/>
            </a:pPr>
            <a:r>
              <a:rPr lang="en-US" sz="1350" dirty="0">
                <a:solidFill>
                  <a:schemeClr val="tx2"/>
                </a:solidFill>
              </a:rPr>
              <a:t>Microsoft 365 and several clouds; identity still in regional domains</a:t>
            </a:r>
            <a:endParaRPr lang="en-US" sz="1400" dirty="0"/>
          </a:p>
        </p:txBody>
      </p:sp>
      <p:sp>
        <p:nvSpPr>
          <p:cNvPr id="13" name="Stat 1">
            <a:extLst>
              <a:ext uri="{C183D7F6-B498-43B3-948B-1728B52AA6E4}">
                <adec:decorative xmlns:adec="http://schemas.microsoft.com/office/drawing/2017/decorative" val="1"/>
              </a:ext>
            </a:extLst>
          </p:cNvPr>
          <p:cNvSpPr/>
          <p:nvPr/>
        </p:nvSpPr>
        <p:spPr>
          <a:xfrm>
            <a:off x="548640" y="3337560"/>
            <a:ext cx="3611880" cy="1280160"/>
          </a:xfrm>
          <a:prstGeom prst="roundRect">
            <a:avLst>
              <a:gd name="adj" fmla="val 5714"/>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4" name="Stat 1 text"/>
          <p:cNvSpPr txBox="1"/>
          <p:nvPr/>
        </p:nvSpPr>
        <p:spPr>
          <a:xfrm>
            <a:off x="777240" y="3401568"/>
            <a:ext cx="3200400" cy="1152144"/>
          </a:xfrm>
          <a:prstGeom prst="rect">
            <a:avLst/>
          </a:prstGeom>
          <a:noFill/>
          <a:ln/>
        </p:spPr>
        <p:txBody>
          <a:bodyPr wrap="square" lIns="0" tIns="0" rIns="0" bIns="0" rtlCol="0" anchor="ctr"/>
          <a:lstStyle/>
          <a:p>
            <a:pPr marL="0" indent="0">
              <a:buNone/>
            </a:pPr>
            <a:r>
              <a:rPr lang="en-US" sz="2600" b="1" dirty="0">
                <a:solidFill>
                  <a:srgbClr val="1F2A44"/>
                </a:solidFill>
                <a:latin typeface="Cambria" pitchFamily="34" charset="0"/>
                <a:ea typeface="Cambria" pitchFamily="34" charset="-122"/>
                <a:cs typeface="Cambria" pitchFamily="34" charset="-120"/>
              </a:rPr>
              <a:t>432</a:t>
            </a:r>
            <a:endParaRPr lang="en-US" sz="1400" dirty="0"/>
          </a:p>
          <a:p>
            <a:pPr marL="0" indent="0">
              <a:buNone/>
            </a:pPr>
            <a:r>
              <a:rPr lang="en-US" sz="1350" dirty="0">
                <a:solidFill>
                  <a:schemeClr val="tx2"/>
                </a:solidFill>
              </a:rPr>
              <a:t>federal data centers reported in 1998</a:t>
            </a:r>
            <a:endParaRPr lang="en-US" sz="1400" dirty="0"/>
          </a:p>
        </p:txBody>
      </p:sp>
      <p:sp>
        <p:nvSpPr>
          <p:cNvPr id="15" name="Stat 2">
            <a:extLst>
              <a:ext uri="{C183D7F6-B498-43B3-948B-1728B52AA6E4}">
                <adec:decorative xmlns:adec="http://schemas.microsoft.com/office/drawing/2017/decorative" val="1"/>
              </a:ext>
            </a:extLst>
          </p:cNvPr>
          <p:cNvSpPr/>
          <p:nvPr/>
        </p:nvSpPr>
        <p:spPr>
          <a:xfrm>
            <a:off x="4297680" y="3337560"/>
            <a:ext cx="3611880" cy="1280160"/>
          </a:xfrm>
          <a:prstGeom prst="roundRect">
            <a:avLst>
              <a:gd name="adj" fmla="val 5714"/>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6" name="Stat 2 text"/>
          <p:cNvSpPr txBox="1"/>
          <p:nvPr/>
        </p:nvSpPr>
        <p:spPr>
          <a:xfrm>
            <a:off x="4526280" y="3401568"/>
            <a:ext cx="3200400" cy="1152144"/>
          </a:xfrm>
          <a:prstGeom prst="rect">
            <a:avLst/>
          </a:prstGeom>
          <a:noFill/>
          <a:ln/>
        </p:spPr>
        <p:txBody>
          <a:bodyPr wrap="square" lIns="0" tIns="0" rIns="0" bIns="0" rtlCol="0" anchor="ctr"/>
          <a:lstStyle/>
          <a:p>
            <a:pPr marL="0" indent="0">
              <a:buNone/>
            </a:pPr>
            <a:r>
              <a:rPr lang="en-US" sz="2600" b="1" dirty="0">
                <a:solidFill>
                  <a:srgbClr val="1F2A44"/>
                </a:solidFill>
                <a:latin typeface="Cambria" pitchFamily="34" charset="0"/>
                <a:ea typeface="Cambria" pitchFamily="34" charset="-122"/>
                <a:cs typeface="Cambria" pitchFamily="34" charset="-120"/>
              </a:rPr>
              <a:t>1,100+</a:t>
            </a:r>
            <a:endParaRPr lang="en-US" sz="1400" dirty="0"/>
          </a:p>
          <a:p>
            <a:pPr marL="0" indent="0">
              <a:buNone/>
            </a:pPr>
            <a:r>
              <a:rPr lang="en-US" sz="1350" dirty="0">
                <a:solidFill>
                  <a:schemeClr val="tx2"/>
                </a:solidFill>
              </a:rPr>
              <a:t>reported in 2009</a:t>
            </a:r>
            <a:endParaRPr lang="en-US" sz="1400" dirty="0"/>
          </a:p>
        </p:txBody>
      </p:sp>
      <p:sp>
        <p:nvSpPr>
          <p:cNvPr id="17" name="Stat 3">
            <a:extLst>
              <a:ext uri="{C183D7F6-B498-43B3-948B-1728B52AA6E4}">
                <adec:decorative xmlns:adec="http://schemas.microsoft.com/office/drawing/2017/decorative" val="1"/>
              </a:ext>
            </a:extLst>
          </p:cNvPr>
          <p:cNvSpPr/>
          <p:nvPr/>
        </p:nvSpPr>
        <p:spPr>
          <a:xfrm>
            <a:off x="8046720" y="3337560"/>
            <a:ext cx="3611880" cy="1280160"/>
          </a:xfrm>
          <a:prstGeom prst="roundRect">
            <a:avLst>
              <a:gd name="adj" fmla="val 5714"/>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8" name="Stat 3 text"/>
          <p:cNvSpPr txBox="1"/>
          <p:nvPr/>
        </p:nvSpPr>
        <p:spPr>
          <a:xfrm>
            <a:off x="8275320" y="3401568"/>
            <a:ext cx="3200400" cy="1152144"/>
          </a:xfrm>
          <a:prstGeom prst="rect">
            <a:avLst/>
          </a:prstGeom>
          <a:noFill/>
          <a:ln/>
        </p:spPr>
        <p:txBody>
          <a:bodyPr wrap="square" lIns="0" tIns="0" rIns="0" bIns="0" rtlCol="0" anchor="ctr"/>
          <a:lstStyle/>
          <a:p>
            <a:pPr marL="0" indent="0">
              <a:buNone/>
            </a:pPr>
            <a:r>
              <a:rPr lang="en-US" sz="2600" b="1" dirty="0">
                <a:solidFill>
                  <a:srgbClr val="1F2A44"/>
                </a:solidFill>
                <a:latin typeface="Cambria" pitchFamily="34" charset="0"/>
                <a:ea typeface="Cambria" pitchFamily="34" charset="-122"/>
                <a:cs typeface="Cambria" pitchFamily="34" charset="-120"/>
              </a:rPr>
              <a:t>800</a:t>
            </a:r>
            <a:endParaRPr lang="en-US" sz="1400" dirty="0"/>
          </a:p>
          <a:p>
            <a:pPr marL="0" indent="0">
              <a:buNone/>
            </a:pPr>
            <a:r>
              <a:rPr lang="en-US" sz="1350" dirty="0">
                <a:solidFill>
                  <a:schemeClr val="tx2"/>
                </a:solidFill>
              </a:rPr>
              <a:t>the December 2010 target for closures by 2015</a:t>
            </a:r>
            <a:endParaRPr lang="en-US" sz="1400" dirty="0"/>
          </a:p>
        </p:txBody>
      </p:sp>
      <p:sp>
        <p:nvSpPr>
          <p:cNvPr id="19" name="Cascade">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0" name="Icon FaArrowDownWideShort">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91C1C"/>
          </a:solidFill>
          <a:ln w="12700">
            <a:solidFill>
              <a:srgbClr val="B91C1C"/>
            </a:solidFill>
            <a:prstDash val="solid"/>
          </a:ln>
        </p:spPr>
      </p:sp>
      <p:pic>
        <p:nvPicPr>
          <p:cNvPr id="2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81905"/>
            <a:ext cx="380390" cy="380390"/>
          </a:xfrm>
          <a:prstGeom prst="rect">
            <a:avLst/>
          </a:prstGeom>
        </p:spPr>
      </p:pic>
      <p:sp>
        <p:nvSpPr>
          <p:cNvPr id="22" name="Cascade text"/>
          <p:cNvSpPr txBox="1"/>
          <p:nvPr/>
        </p:nvSpPr>
        <p:spPr>
          <a:xfrm>
            <a:off x="1737360" y="4846320"/>
            <a:ext cx="9738360" cy="1051560"/>
          </a:xfrm>
          <a:prstGeom prst="rect">
            <a:avLst/>
          </a:prstGeom>
          <a:noFill/>
          <a:ln/>
        </p:spPr>
        <p:txBody>
          <a:bodyPr wrap="square" lIns="0" tIns="0" rIns="0" bIns="0" rtlCol="0" anchor="ctr"/>
          <a:lstStyle/>
          <a:p>
            <a:pPr marL="0" indent="0">
              <a:buNone/>
            </a:pPr>
            <a:r>
              <a:rPr lang="en-US" sz="1650" b="1" dirty="0">
                <a:solidFill>
                  <a:srgbClr val="B91C1C"/>
                </a:solidFill>
              </a:rPr>
              <a:t>Each fix assumes the last one is done: </a:t>
            </a:r>
            <a:r>
              <a:rPr lang="en-US" sz="1650" dirty="0">
                <a:solidFill>
                  <a:schemeClr val="tx2"/>
                </a:solidFill>
              </a:rPr>
              <a:t>Zero Trust assumes governed identity, governed identity assumes a clean directory, and a clean directory assumes someone owns it. Start with the foundation, not the mandate.</a:t>
            </a:r>
            <a:endParaRPr lang="en-US" sz="1650" dirty="0"/>
          </a:p>
        </p:txBody>
      </p:sp>
      <p:sp>
        <p:nvSpPr>
          <p:cNvPr id="2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Federal Data Center Consolidation Initiative (February 26, 2010); 25 Point Implementation Plan to Reform Federal IT (December 9, 2010). Book 01,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24" name="Narration" descr="Narration for this slide; captions available">
            <a:hlinkClick r:id="" action="ppaction://media"/>
            <a:extLst>
              <a:ext uri="{FF2B5EF4-FFF2-40B4-BE49-F238E27FC236}">
                <a16:creationId xmlns:a16="http://schemas.microsoft.com/office/drawing/2014/main" id="{74A40FF0-EF17-D29D-188C-89E9FCB3CD1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698498B-E10D-4F8F-BD2B-8938AE76FD10}"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0040"/>
    </mc:Choice>
    <mc:Fallback>
      <p:transition spd="slow" advTm="600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9040"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Sessions carried trust; tokens are checked each time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Panel 1">
            <a:extLst>
              <a:ext uri="{C183D7F6-B498-43B3-948B-1728B52AA6E4}">
                <adec:decorative xmlns:adec="http://schemas.microsoft.com/office/drawing/2017/decorative" val="1"/>
              </a:ext>
            </a:extLst>
          </p:cNvPr>
          <p:cNvSpPr/>
          <p:nvPr/>
        </p:nvSpPr>
        <p:spPr>
          <a:xfrm>
            <a:off x="548640" y="1371600"/>
            <a:ext cx="5486400" cy="3246120"/>
          </a:xfrm>
          <a:prstGeom prst="roundRect">
            <a:avLst>
              <a:gd name="adj" fmla="val 22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UserClock">
            <a:extLst>
              <a:ext uri="{C183D7F6-B498-43B3-948B-1728B52AA6E4}">
                <adec:decorative xmlns:adec="http://schemas.microsoft.com/office/drawing/2017/decorative" val="1"/>
              </a:ext>
            </a:extLst>
          </p:cNvPr>
          <p:cNvSpPr/>
          <p:nvPr/>
        </p:nvSpPr>
        <p:spPr>
          <a:xfrm>
            <a:off x="749808" y="1536192"/>
            <a:ext cx="566928" cy="566928"/>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672255"/>
            <a:ext cx="294803" cy="294803"/>
          </a:xfrm>
          <a:prstGeom prst="rect">
            <a:avLst/>
          </a:prstGeom>
        </p:spPr>
      </p:pic>
      <p:sp>
        <p:nvSpPr>
          <p:cNvPr id="8" name="Panel head 1"/>
          <p:cNvSpPr txBox="1"/>
          <p:nvPr/>
        </p:nvSpPr>
        <p:spPr>
          <a:xfrm>
            <a:off x="1463040" y="1536192"/>
            <a:ext cx="4434840" cy="566928"/>
          </a:xfrm>
          <a:prstGeom prst="rect">
            <a:avLst/>
          </a:prstGeom>
          <a:noFill/>
          <a:ln/>
        </p:spPr>
        <p:txBody>
          <a:bodyPr wrap="square" lIns="0" tIns="0" rIns="0" bIns="0" rtlCol="0" anchor="ctr"/>
          <a:lstStyle/>
          <a:p>
            <a:pPr marL="0" indent="0">
              <a:buNone/>
            </a:pPr>
            <a:r>
              <a:rPr lang="en-US" sz="1800" b="1" dirty="0">
                <a:solidFill>
                  <a:srgbClr val="1F2A44"/>
                </a:solidFill>
                <a:latin typeface="Cambria" pitchFamily="34" charset="0"/>
                <a:ea typeface="Cambria" pitchFamily="34" charset="-122"/>
                <a:cs typeface="Cambria" pitchFamily="34" charset="-120"/>
              </a:rPr>
              <a:t>Sessions: Kerberos in AD</a:t>
            </a:r>
            <a:endParaRPr lang="en-US" sz="1800" dirty="0"/>
          </a:p>
        </p:txBody>
      </p:sp>
      <p:sp>
        <p:nvSpPr>
          <p:cNvPr id="9" name="Panel text 1"/>
          <p:cNvSpPr txBox="1"/>
          <p:nvPr/>
        </p:nvSpPr>
        <p:spPr>
          <a:xfrm>
            <a:off x="822960" y="2286000"/>
            <a:ext cx="5029200" cy="22402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2"/>
                </a:solidFill>
              </a:rPr>
              <a:t>Sign in once: the ticket lasts 10 hours, renewable for 7 days</a:t>
            </a:r>
            <a:endParaRPr lang="en-US" sz="1400" dirty="0"/>
          </a:p>
          <a:p>
            <a:pPr marL="342900" indent="-342900">
              <a:spcAft>
                <a:spcPts val="800"/>
              </a:spcAft>
              <a:buSzPct val="100000"/>
              <a:buChar char="•"/>
            </a:pPr>
            <a:r>
              <a:rPr lang="en-US" sz="1500" dirty="0">
                <a:solidFill>
                  <a:schemeClr val="tx2"/>
                </a:solidFill>
              </a:rPr>
              <a:t>Service tickets last 600 minutes</a:t>
            </a:r>
            <a:endParaRPr lang="en-US" sz="1400" dirty="0"/>
          </a:p>
          <a:p>
            <a:pPr marL="342900" indent="-342900">
              <a:spcAft>
                <a:spcPts val="800"/>
              </a:spcAft>
              <a:buSzPct val="100000"/>
              <a:buChar char="•"/>
            </a:pPr>
            <a:r>
              <a:rPr lang="en-US" sz="1500" dirty="0">
                <a:solidFill>
                  <a:schemeClr val="tx2"/>
                </a:solidFill>
              </a:rPr>
              <a:t>Open connections survive a ticket's expiry</a:t>
            </a:r>
            <a:endParaRPr lang="en-US" sz="1400" dirty="0"/>
          </a:p>
          <a:p>
            <a:pPr marL="342900" indent="-342900">
              <a:spcAft>
                <a:spcPts val="800"/>
              </a:spcAft>
              <a:buSzPct val="100000"/>
              <a:buChar char="•"/>
            </a:pPr>
            <a:r>
              <a:rPr lang="en-US" sz="1500" dirty="0">
                <a:solidFill>
                  <a:schemeClr val="tx2"/>
                </a:solidFill>
              </a:rPr>
              <a:t>A disabled account keeps its earlier tickets</a:t>
            </a:r>
            <a:endParaRPr lang="en-US" sz="1400" dirty="0"/>
          </a:p>
        </p:txBody>
      </p:sp>
      <p:sp>
        <p:nvSpPr>
          <p:cNvPr id="10" name="Panel 2">
            <a:extLst>
              <a:ext uri="{C183D7F6-B498-43B3-948B-1728B52AA6E4}">
                <adec:decorative xmlns:adec="http://schemas.microsoft.com/office/drawing/2017/decorative" val="1"/>
              </a:ext>
            </a:extLst>
          </p:cNvPr>
          <p:cNvSpPr/>
          <p:nvPr/>
        </p:nvSpPr>
        <p:spPr>
          <a:xfrm>
            <a:off x="6172200" y="1371600"/>
            <a:ext cx="5486400" cy="3246120"/>
          </a:xfrm>
          <a:prstGeom prst="roundRect">
            <a:avLst>
              <a:gd name="adj" fmla="val 225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IdCard">
            <a:extLst>
              <a:ext uri="{C183D7F6-B498-43B3-948B-1728B52AA6E4}">
                <adec:decorative xmlns:adec="http://schemas.microsoft.com/office/drawing/2017/decorative" val="1"/>
              </a:ext>
            </a:extLst>
          </p:cNvPr>
          <p:cNvSpPr/>
          <p:nvPr/>
        </p:nvSpPr>
        <p:spPr>
          <a:xfrm>
            <a:off x="6373368" y="1536192"/>
            <a:ext cx="566928" cy="566928"/>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09431" y="1672255"/>
            <a:ext cx="294803" cy="294803"/>
          </a:xfrm>
          <a:prstGeom prst="rect">
            <a:avLst/>
          </a:prstGeom>
        </p:spPr>
      </p:pic>
      <p:sp>
        <p:nvSpPr>
          <p:cNvPr id="13" name="Panel head 2"/>
          <p:cNvSpPr txBox="1"/>
          <p:nvPr/>
        </p:nvSpPr>
        <p:spPr>
          <a:xfrm>
            <a:off x="7086600" y="1536192"/>
            <a:ext cx="4434840" cy="566928"/>
          </a:xfrm>
          <a:prstGeom prst="rect">
            <a:avLst/>
          </a:prstGeom>
          <a:noFill/>
          <a:ln/>
        </p:spPr>
        <p:txBody>
          <a:bodyPr wrap="square" lIns="0" tIns="0" rIns="0" bIns="0" rtlCol="0" anchor="ctr"/>
          <a:lstStyle/>
          <a:p>
            <a:pPr marL="0" indent="0">
              <a:buNone/>
            </a:pPr>
            <a:r>
              <a:rPr lang="en-US" sz="1800" b="1" dirty="0">
                <a:solidFill>
                  <a:srgbClr val="0F766E"/>
                </a:solidFill>
                <a:latin typeface="Cambria" pitchFamily="34" charset="0"/>
                <a:ea typeface="Cambria" pitchFamily="34" charset="-122"/>
                <a:cs typeface="Cambria" pitchFamily="34" charset="-120"/>
              </a:rPr>
              <a:t>Tokens: Entra ID</a:t>
            </a:r>
            <a:endParaRPr lang="en-US" sz="1800" dirty="0"/>
          </a:p>
        </p:txBody>
      </p:sp>
      <p:sp>
        <p:nvSpPr>
          <p:cNvPr id="14" name="Panel text 2"/>
          <p:cNvSpPr txBox="1"/>
          <p:nvPr/>
        </p:nvSpPr>
        <p:spPr>
          <a:xfrm>
            <a:off x="6446520" y="2286000"/>
            <a:ext cx="5029200" cy="22402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2"/>
                </a:solidFill>
              </a:rPr>
              <a:t>Each token request is checked against policy</a:t>
            </a:r>
            <a:endParaRPr lang="en-US" sz="1400" dirty="0"/>
          </a:p>
          <a:p>
            <a:pPr marL="342900" indent="-342900">
              <a:spcAft>
                <a:spcPts val="800"/>
              </a:spcAft>
              <a:buSzPct val="100000"/>
              <a:buChar char="•"/>
            </a:pPr>
            <a:r>
              <a:rPr lang="en-US" sz="1500" dirty="0">
                <a:solidFill>
                  <a:schemeClr val="tx2"/>
                </a:solidFill>
              </a:rPr>
              <a:t>An access token lasts one hour by default</a:t>
            </a:r>
            <a:endParaRPr lang="en-US" sz="1400" dirty="0"/>
          </a:p>
          <a:p>
            <a:pPr marL="342900" indent="-342900">
              <a:spcAft>
                <a:spcPts val="800"/>
              </a:spcAft>
              <a:buSzPct val="100000"/>
              <a:buChar char="•"/>
            </a:pPr>
            <a:r>
              <a:rPr lang="en-US" sz="1500" dirty="0">
                <a:solidFill>
                  <a:schemeClr val="tx2"/>
                </a:solidFill>
              </a:rPr>
              <a:t>With CAE, up to 28 hours, revoked on critical events</a:t>
            </a:r>
            <a:endParaRPr lang="en-US" sz="1400" dirty="0"/>
          </a:p>
          <a:p>
            <a:pPr marL="342900" indent="-342900">
              <a:spcAft>
                <a:spcPts val="800"/>
              </a:spcAft>
              <a:buSzPct val="100000"/>
              <a:buChar char="•"/>
            </a:pPr>
            <a:r>
              <a:rPr lang="en-US" sz="1500" dirty="0">
                <a:solidFill>
                  <a:schemeClr val="tx2"/>
                </a:solidFill>
              </a:rPr>
              <a:t>Event propagation can take up to 15 minutes</a:t>
            </a:r>
            <a:endParaRPr lang="en-US" sz="1400" dirty="0"/>
          </a:p>
        </p:txBody>
      </p:sp>
      <p:sp>
        <p:nvSpPr>
          <p:cNvPr id="15" name="Distance">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6" name="Icon FaRoute">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181905"/>
            <a:ext cx="380390" cy="380390"/>
          </a:xfrm>
          <a:prstGeom prst="rect">
            <a:avLst/>
          </a:prstGeom>
        </p:spPr>
      </p:pic>
      <p:sp>
        <p:nvSpPr>
          <p:cNvPr id="18" name="Distance text"/>
          <p:cNvSpPr txBox="1"/>
          <p:nvPr/>
        </p:nvSpPr>
        <p:spPr>
          <a:xfrm>
            <a:off x="1737360" y="4846320"/>
            <a:ext cx="9738360" cy="1051560"/>
          </a:xfrm>
          <a:prstGeom prst="rect">
            <a:avLst/>
          </a:prstGeom>
          <a:noFill/>
          <a:ln/>
        </p:spPr>
        <p:txBody>
          <a:bodyPr wrap="square" lIns="0" tIns="0" rIns="0" bIns="0" rtlCol="0" anchor="ctr"/>
          <a:lstStyle/>
          <a:p>
            <a:pPr marL="0" indent="0">
              <a:buNone/>
            </a:pPr>
            <a:r>
              <a:rPr lang="en-US" sz="1650" b="1" dirty="0">
                <a:solidFill>
                  <a:srgbClr val="B45309"/>
                </a:solidFill>
              </a:rPr>
              <a:t>Distance costs domain-controller trips, not tickets: </a:t>
            </a:r>
            <a:r>
              <a:rPr lang="en-US" sz="1650" dirty="0">
                <a:solidFill>
                  <a:schemeClr val="tx2"/>
                </a:solidFill>
              </a:rPr>
              <a:t>NAT doesn't break Kerberos, and the famous five minutes is clock skew. Sign-in, password change and policy need a DC; Portland to Washington is about a 45 ms round-trip floor.</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Max-Ticket-Age, Max-Renew-Age, service ticket lifetime, continuous access evaluation, KDC keys, hybrid join; RFC 4120; ITU-T G.114. Book 01,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4F18D43C-B63C-7416-77C6-00E55AAE375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8584AA0-FE8C-49D5-A84B-4E97DF72656B}"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4570"/>
    </mc:Choice>
    <mc:Fallback>
      <p:transition spd="slow" advTm="545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3568"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OU tree was the governance tree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Did head"/>
          <p:cNvSpPr txBox="1"/>
          <p:nvPr/>
        </p:nvSpPr>
        <p:spPr>
          <a:xfrm>
            <a:off x="548640" y="141732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ONE OU PLACEMENT DID FIVE THINGS AT ONCE</a:t>
            </a:r>
            <a:endParaRPr lang="en-US" sz="1200" dirty="0"/>
          </a:p>
        </p:txBody>
      </p:sp>
      <p:sp>
        <p:nvSpPr>
          <p:cNvPr id="6" name="Did 0">
            <a:extLst>
              <a:ext uri="{C183D7F6-B498-43B3-948B-1728B52AA6E4}">
                <adec:decorative xmlns:adec="http://schemas.microsoft.com/office/drawing/2017/decorative" val="1"/>
              </a:ext>
            </a:extLst>
          </p:cNvPr>
          <p:cNvSpPr/>
          <p:nvPr/>
        </p:nvSpPr>
        <p:spPr>
          <a:xfrm>
            <a:off x="548640" y="1755648"/>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Did 0 text"/>
          <p:cNvSpPr txBox="1"/>
          <p:nvPr/>
        </p:nvSpPr>
        <p:spPr>
          <a:xfrm>
            <a:off x="731520" y="1755648"/>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Delegated admins   </a:t>
            </a:r>
            <a:r>
              <a:rPr lang="en-US" sz="1400" dirty="0">
                <a:solidFill>
                  <a:schemeClr val="tx2"/>
                </a:solidFill>
              </a:rPr>
              <a:t>The branch's admins got the account</a:t>
            </a:r>
            <a:endParaRPr lang="en-US" sz="1400" dirty="0"/>
          </a:p>
        </p:txBody>
      </p:sp>
      <p:sp>
        <p:nvSpPr>
          <p:cNvPr id="8" name="Did 1">
            <a:extLst>
              <a:ext uri="{C183D7F6-B498-43B3-948B-1728B52AA6E4}">
                <adec:decorative xmlns:adec="http://schemas.microsoft.com/office/drawing/2017/decorative" val="1"/>
              </a:ext>
            </a:extLst>
          </p:cNvPr>
          <p:cNvSpPr/>
          <p:nvPr/>
        </p:nvSpPr>
        <p:spPr>
          <a:xfrm>
            <a:off x="548640" y="2359152"/>
            <a:ext cx="5669280" cy="512064"/>
          </a:xfrm>
          <a:prstGeom prst="roundRect">
            <a:avLst>
              <a:gd name="adj" fmla="val 14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Did 1 text"/>
          <p:cNvSpPr txBox="1"/>
          <p:nvPr/>
        </p:nvSpPr>
        <p:spPr>
          <a:xfrm>
            <a:off x="731520" y="2359152"/>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Inherited Group Policy   </a:t>
            </a:r>
            <a:r>
              <a:rPr lang="en-US" sz="1400" dirty="0">
                <a:solidFill>
                  <a:schemeClr val="tx2"/>
                </a:solidFill>
              </a:rPr>
              <a:t>Every GPO along the path applied</a:t>
            </a:r>
            <a:endParaRPr lang="en-US" sz="1400" dirty="0"/>
          </a:p>
        </p:txBody>
      </p:sp>
      <p:sp>
        <p:nvSpPr>
          <p:cNvPr id="10" name="Did 2">
            <a:extLst>
              <a:ext uri="{C183D7F6-B498-43B3-948B-1728B52AA6E4}">
                <adec:decorative xmlns:adec="http://schemas.microsoft.com/office/drawing/2017/decorative" val="1"/>
              </a:ext>
            </a:extLst>
          </p:cNvPr>
          <p:cNvSpPr/>
          <p:nvPr/>
        </p:nvSpPr>
        <p:spPr>
          <a:xfrm>
            <a:off x="548640" y="2962656"/>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Did 2 text"/>
          <p:cNvSpPr txBox="1"/>
          <p:nvPr/>
        </p:nvSpPr>
        <p:spPr>
          <a:xfrm>
            <a:off x="731520" y="2962656"/>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Group membership   </a:t>
            </a:r>
            <a:r>
              <a:rPr lang="en-US" sz="1400" dirty="0">
                <a:solidFill>
                  <a:schemeClr val="tx2"/>
                </a:solidFill>
              </a:rPr>
              <a:t>Tools built groups from OU position</a:t>
            </a:r>
            <a:endParaRPr lang="en-US" sz="1400" dirty="0"/>
          </a:p>
        </p:txBody>
      </p:sp>
      <p:sp>
        <p:nvSpPr>
          <p:cNvPr id="12" name="Did 3">
            <a:extLst>
              <a:ext uri="{C183D7F6-B498-43B3-948B-1728B52AA6E4}">
                <adec:decorative xmlns:adec="http://schemas.microsoft.com/office/drawing/2017/decorative" val="1"/>
              </a:ext>
            </a:extLst>
          </p:cNvPr>
          <p:cNvSpPr/>
          <p:nvPr/>
        </p:nvSpPr>
        <p:spPr>
          <a:xfrm>
            <a:off x="548640" y="3566160"/>
            <a:ext cx="5669280" cy="512064"/>
          </a:xfrm>
          <a:prstGeom prst="roundRect">
            <a:avLst>
              <a:gd name="adj" fmla="val 14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Did 3 text"/>
          <p:cNvSpPr txBox="1"/>
          <p:nvPr/>
        </p:nvSpPr>
        <p:spPr>
          <a:xfrm>
            <a:off x="731520" y="3566160"/>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Delegation authority   </a:t>
            </a:r>
            <a:r>
              <a:rPr lang="en-US" sz="1400" dirty="0">
                <a:solidFill>
                  <a:schemeClr val="tx2"/>
                </a:solidFill>
              </a:rPr>
              <a:t>Bound to that branch's authority</a:t>
            </a:r>
            <a:endParaRPr lang="en-US" sz="1400" dirty="0"/>
          </a:p>
        </p:txBody>
      </p:sp>
      <p:sp>
        <p:nvSpPr>
          <p:cNvPr id="14" name="Did 4">
            <a:extLst>
              <a:ext uri="{C183D7F6-B498-43B3-948B-1728B52AA6E4}">
                <adec:decorative xmlns:adec="http://schemas.microsoft.com/office/drawing/2017/decorative" val="1"/>
              </a:ext>
            </a:extLst>
          </p:cNvPr>
          <p:cNvSpPr/>
          <p:nvPr/>
        </p:nvSpPr>
        <p:spPr>
          <a:xfrm>
            <a:off x="548640" y="4169664"/>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5" name="Did 4 text"/>
          <p:cNvSpPr txBox="1"/>
          <p:nvPr/>
        </p:nvSpPr>
        <p:spPr>
          <a:xfrm>
            <a:off x="731520" y="4169664"/>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Audit boundary   </a:t>
            </a:r>
            <a:r>
              <a:rPr lang="en-US" sz="1400" dirty="0">
                <a:solidFill>
                  <a:schemeClr val="tx2"/>
                </a:solidFill>
              </a:rPr>
              <a:t>Operational responsibility drawn</a:t>
            </a:r>
            <a:endParaRPr lang="en-US" sz="1400" dirty="0"/>
          </a:p>
        </p:txBody>
      </p:sp>
      <p:sp>
        <p:nvSpPr>
          <p:cNvPr id="16" name="Entra box">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7" name="Icon FaSitemap">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0F766E"/>
          </a:solidFill>
          <a:ln w="12700">
            <a:solidFill>
              <a:srgbClr val="0F766E"/>
            </a:solidFill>
            <a:prstDash val="solid"/>
          </a:ln>
        </p:spPr>
      </p:sp>
      <p:pic>
        <p:nvPicPr>
          <p:cNvPr id="1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78848" y="1758208"/>
            <a:ext cx="342351" cy="342351"/>
          </a:xfrm>
          <a:prstGeom prst="rect">
            <a:avLst/>
          </a:prstGeom>
        </p:spPr>
      </p:pic>
      <p:sp>
        <p:nvSpPr>
          <p:cNvPr id="19" name="Entra head"/>
          <p:cNvSpPr txBox="1"/>
          <p:nvPr/>
        </p:nvSpPr>
        <p:spPr>
          <a:xfrm>
            <a:off x="7543800" y="1572768"/>
            <a:ext cx="4023360" cy="822960"/>
          </a:xfrm>
          <a:prstGeom prst="rect">
            <a:avLst/>
          </a:prstGeom>
          <a:noFill/>
          <a:ln/>
        </p:spPr>
        <p:txBody>
          <a:bodyPr wrap="square" lIns="0" tIns="0" rIns="0" bIns="0" rtlCol="0" anchor="ctr"/>
          <a:lstStyle/>
          <a:p>
            <a:pPr marL="0" indent="0">
              <a:buNone/>
            </a:pPr>
            <a:r>
              <a:rPr lang="en-US" sz="1200" b="1" dirty="0">
                <a:solidFill>
                  <a:srgbClr val="64748B"/>
                </a:solidFill>
              </a:rPr>
              <a:t>WHAT ENTRA ID HAS INSTEAD</a:t>
            </a:r>
            <a:endParaRPr lang="en-US" sz="1400" dirty="0"/>
          </a:p>
          <a:p>
            <a:pPr marL="0" indent="0">
              <a:buNone/>
            </a:pPr>
            <a:r>
              <a:rPr lang="en-US" sz="1800" b="1" dirty="0">
                <a:solidFill>
                  <a:srgbClr val="0F766E"/>
                </a:solidFill>
                <a:latin typeface="Cambria" pitchFamily="34" charset="0"/>
                <a:ea typeface="Cambria" pitchFamily="34" charset="-122"/>
                <a:cs typeface="Cambria" pitchFamily="34" charset="-120"/>
              </a:rPr>
              <a:t>No tree: rebuild it explicitly</a:t>
            </a:r>
            <a:endParaRPr lang="en-US" sz="1400" dirty="0"/>
          </a:p>
        </p:txBody>
      </p:sp>
      <p:sp>
        <p:nvSpPr>
          <p:cNvPr id="20" name="Entra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chemeClr val="tx2"/>
                </a:solidFill>
              </a:rPr>
              <a:t>Attributes carry organizational position</a:t>
            </a:r>
            <a:endParaRPr lang="en-US" sz="1400" dirty="0"/>
          </a:p>
          <a:p>
            <a:pPr marL="342900" indent="-342900">
              <a:spcAft>
                <a:spcPts val="600"/>
              </a:spcAft>
              <a:buSzPct val="100000"/>
              <a:buChar char="•"/>
            </a:pPr>
            <a:r>
              <a:rPr lang="en-US" sz="1450" dirty="0">
                <a:solidFill>
                  <a:schemeClr val="tx2"/>
                </a:solidFill>
              </a:rPr>
              <a:t>Dynamic groups: membership follows attributes</a:t>
            </a:r>
            <a:endParaRPr lang="en-US" sz="1400" dirty="0"/>
          </a:p>
          <a:p>
            <a:pPr marL="342900" indent="-342900">
              <a:spcAft>
                <a:spcPts val="600"/>
              </a:spcAft>
              <a:buSzPct val="100000"/>
              <a:buChar char="•"/>
            </a:pPr>
            <a:r>
              <a:rPr lang="en-US" sz="1450" dirty="0">
                <a:solidFill>
                  <a:schemeClr val="tx2"/>
                </a:solidFill>
              </a:rPr>
              <a:t>Administrative units scope roles; they can't nest</a:t>
            </a:r>
            <a:endParaRPr lang="en-US" sz="1400" dirty="0"/>
          </a:p>
          <a:p>
            <a:pPr marL="342900" indent="-342900">
              <a:spcAft>
                <a:spcPts val="600"/>
              </a:spcAft>
              <a:buSzPct val="100000"/>
              <a:buChar char="•"/>
            </a:pPr>
            <a:r>
              <a:rPr lang="en-US" sz="1450" dirty="0">
                <a:solidFill>
                  <a:schemeClr val="tx2"/>
                </a:solidFill>
              </a:rPr>
              <a:t>Conditional Access enforces access policy</a:t>
            </a:r>
            <a:endParaRPr lang="en-US" sz="1400" dirty="0"/>
          </a:p>
        </p:txBody>
      </p:sp>
      <p:sp>
        <p:nvSpPr>
          <p:cNvPr id="21" name="Decision">
            <a:extLst>
              <a:ext uri="{C183D7F6-B498-43B3-948B-1728B52AA6E4}">
                <adec:decorative xmlns:adec="http://schemas.microsoft.com/office/drawing/2017/decorative" val="1"/>
              </a:ext>
            </a:extLst>
          </p:cNvPr>
          <p:cNvSpPr/>
          <p:nvPr/>
        </p:nvSpPr>
        <p:spPr>
          <a:xfrm>
            <a:off x="548640" y="4983480"/>
            <a:ext cx="11109960" cy="960120"/>
          </a:xfrm>
          <a:prstGeom prst="roundRect">
            <a:avLst>
              <a:gd name="adj" fmla="val 7619"/>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2" name="Icon FaLandmark">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1F2A44"/>
          </a:solidFill>
          <a:ln w="12700">
            <a:solidFill>
              <a:srgbClr val="1F2A44"/>
            </a:solidFill>
            <a:prstDash val="solid"/>
          </a:ln>
        </p:spPr>
      </p:sp>
      <p:pic>
        <p:nvPicPr>
          <p:cNvPr id="2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73345"/>
            <a:ext cx="380390" cy="380390"/>
          </a:xfrm>
          <a:prstGeom prst="rect">
            <a:avLst/>
          </a:prstGeom>
        </p:spPr>
      </p:pic>
      <p:sp>
        <p:nvSpPr>
          <p:cNvPr id="24" name="Decision text"/>
          <p:cNvSpPr txBox="1"/>
          <p:nvPr/>
        </p:nvSpPr>
        <p:spPr>
          <a:xfrm>
            <a:off x="1737360" y="5029200"/>
            <a:ext cx="9738360" cy="868680"/>
          </a:xfrm>
          <a:prstGeom prst="rect">
            <a:avLst/>
          </a:prstGeom>
          <a:noFill/>
          <a:ln/>
        </p:spPr>
        <p:txBody>
          <a:bodyPr wrap="square" lIns="0" tIns="0" rIns="0" bIns="0" rtlCol="0" anchor="ctr"/>
          <a:lstStyle/>
          <a:p>
            <a:pPr marL="0" indent="0">
              <a:buNone/>
            </a:pPr>
            <a:r>
              <a:rPr lang="en-US" sz="1650" b="1" dirty="0">
                <a:solidFill>
                  <a:srgbClr val="1F2A44"/>
                </a:solidFill>
              </a:rPr>
              <a:t>Retiring AD is an agency decision: </a:t>
            </a:r>
            <a:r>
              <a:rPr lang="en-US" sz="1650" dirty="0">
                <a:solidFill>
                  <a:schemeClr val="tx2"/>
                </a:solidFill>
              </a:rPr>
              <a:t>Microsoft still supports and enhances Active Directory. What changed is where it invests: a cloud-first, AD-minimized model, reached in phases.</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delegating administration by OU, Group Policy overview, dynamic membership groups, administrative units, cloud-first identity guidance. Book 01, Chapter 02.</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7C05C302-BC50-53A1-B3E4-AAF82C822D4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79AF3C0-3C51-40E7-AEEC-F34CD4A7DA66}"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8500"/>
    </mc:Choice>
    <mc:Fallback>
      <p:transition spd="slow" advTm="58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7504"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Eleven categories, and the failures are silent</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Hidden card 1">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UsersGear">
            <a:extLst>
              <a:ext uri="{C183D7F6-B498-43B3-948B-1728B52AA6E4}">
                <adec:decorative xmlns:adec="http://schemas.microsoft.com/office/drawing/2017/decorative" val="1"/>
              </a:ext>
            </a:extLst>
          </p:cNvPr>
          <p:cNvSpPr/>
          <p:nvPr/>
        </p:nvSpPr>
        <p:spPr>
          <a:xfrm>
            <a:off x="749808" y="1572768"/>
            <a:ext cx="566928" cy="566928"/>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708831"/>
            <a:ext cx="294803" cy="294803"/>
          </a:xfrm>
          <a:prstGeom prst="rect">
            <a:avLst/>
          </a:prstGeom>
        </p:spPr>
      </p:pic>
      <p:sp>
        <p:nvSpPr>
          <p:cNvPr id="8" name="Hidden head 1"/>
          <p:cNvSpPr txBox="1"/>
          <p:nvPr/>
        </p:nvSpPr>
        <p:spPr>
          <a:xfrm>
            <a:off x="1463040" y="1572768"/>
            <a:ext cx="2560320" cy="566928"/>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What plans count</a:t>
            </a:r>
            <a:endParaRPr lang="en-US" sz="1700" dirty="0"/>
          </a:p>
        </p:txBody>
      </p:sp>
      <p:sp>
        <p:nvSpPr>
          <p:cNvPr id="9" name="Hidden text 1"/>
          <p:cNvSpPr txBox="1"/>
          <p:nvPr/>
        </p:nvSpPr>
        <p:spPr>
          <a:xfrm>
            <a:off x="77724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Users</a:t>
            </a:r>
            <a:endParaRPr lang="en-US" sz="1400" dirty="0"/>
          </a:p>
          <a:p>
            <a:pPr marL="342900" indent="-342900">
              <a:spcAft>
                <a:spcPts val="600"/>
              </a:spcAft>
              <a:buSzPct val="100000"/>
              <a:buChar char="•"/>
            </a:pPr>
            <a:r>
              <a:rPr lang="en-US" sz="1350" dirty="0">
                <a:solidFill>
                  <a:schemeClr val="tx2"/>
                </a:solidFill>
              </a:rPr>
              <a:t>Computers</a:t>
            </a:r>
            <a:endParaRPr lang="en-US" sz="1400" dirty="0"/>
          </a:p>
          <a:p>
            <a:pPr marL="342900" indent="-342900">
              <a:spcAft>
                <a:spcPts val="600"/>
              </a:spcAft>
              <a:buSzPct val="100000"/>
              <a:buChar char="•"/>
            </a:pPr>
            <a:r>
              <a:rPr lang="en-US" sz="1350" dirty="0">
                <a:solidFill>
                  <a:schemeClr val="tx2"/>
                </a:solidFill>
              </a:rPr>
              <a:t>Security groups</a:t>
            </a:r>
            <a:endParaRPr lang="en-US" sz="1400" dirty="0"/>
          </a:p>
          <a:p>
            <a:pPr marL="342900" indent="-342900">
              <a:spcAft>
                <a:spcPts val="600"/>
              </a:spcAft>
              <a:buSzPct val="100000"/>
              <a:buChar char="•"/>
            </a:pPr>
            <a:r>
              <a:rPr lang="en-US" sz="1350" dirty="0">
                <a:solidFill>
                  <a:schemeClr val="tx2"/>
                </a:solidFill>
              </a:rPr>
              <a:t>Group Policy Objects</a:t>
            </a:r>
            <a:endParaRPr lang="en-US" sz="1400" dirty="0"/>
          </a:p>
        </p:txBody>
      </p:sp>
      <p:sp>
        <p:nvSpPr>
          <p:cNvPr id="10" name="Hidden card 2">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1" name="Icon FaPlugCircleXmark">
            <a:extLst>
              <a:ext uri="{C183D7F6-B498-43B3-948B-1728B52AA6E4}">
                <adec:decorative xmlns:adec="http://schemas.microsoft.com/office/drawing/2017/decorative" val="1"/>
              </a:ext>
            </a:extLst>
          </p:cNvPr>
          <p:cNvSpPr/>
          <p:nvPr/>
        </p:nvSpPr>
        <p:spPr>
          <a:xfrm>
            <a:off x="4498848" y="1572768"/>
            <a:ext cx="566928" cy="566928"/>
          </a:xfrm>
          <a:prstGeom prst="ellipse">
            <a:avLst/>
          </a:prstGeom>
          <a:solidFill>
            <a:srgbClr val="B91C1C"/>
          </a:solidFill>
          <a:ln w="12700">
            <a:solidFill>
              <a:srgbClr val="B91C1C"/>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34911" y="1708831"/>
            <a:ext cx="294803" cy="294803"/>
          </a:xfrm>
          <a:prstGeom prst="rect">
            <a:avLst/>
          </a:prstGeom>
        </p:spPr>
      </p:pic>
      <p:sp>
        <p:nvSpPr>
          <p:cNvPr id="13" name="Hidden head 2"/>
          <p:cNvSpPr txBox="1"/>
          <p:nvPr/>
        </p:nvSpPr>
        <p:spPr>
          <a:xfrm>
            <a:off x="5212080" y="1572768"/>
            <a:ext cx="2560320" cy="566928"/>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What they miss</a:t>
            </a:r>
            <a:endParaRPr lang="en-US" sz="1700" dirty="0"/>
          </a:p>
        </p:txBody>
      </p:sp>
      <p:sp>
        <p:nvSpPr>
          <p:cNvPr id="14" name="Hidden text 2"/>
          <p:cNvSpPr txBox="1"/>
          <p:nvPr/>
        </p:nvSpPr>
        <p:spPr>
          <a:xfrm>
            <a:off x="452628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Service accounts and SPNs</a:t>
            </a:r>
            <a:endParaRPr lang="en-US" sz="1400" dirty="0"/>
          </a:p>
          <a:p>
            <a:pPr marL="342900" indent="-342900">
              <a:spcAft>
                <a:spcPts val="600"/>
              </a:spcAft>
              <a:buSzPct val="100000"/>
              <a:buChar char="•"/>
            </a:pPr>
            <a:r>
              <a:rPr lang="en-US" sz="1350" dirty="0">
                <a:solidFill>
                  <a:schemeClr val="tx2"/>
                </a:solidFill>
              </a:rPr>
              <a:t>DNS and DHCP</a:t>
            </a:r>
            <a:endParaRPr lang="en-US" sz="1400" dirty="0"/>
          </a:p>
          <a:p>
            <a:pPr marL="342900" indent="-342900">
              <a:spcAft>
                <a:spcPts val="600"/>
              </a:spcAft>
              <a:buSzPct val="100000"/>
              <a:buChar char="•"/>
            </a:pPr>
            <a:r>
              <a:rPr lang="en-US" sz="1350" dirty="0">
                <a:solidFill>
                  <a:schemeClr val="tx2"/>
                </a:solidFill>
              </a:rPr>
              <a:t>PKI and certificate services</a:t>
            </a:r>
            <a:endParaRPr lang="en-US" sz="1400" dirty="0"/>
          </a:p>
          <a:p>
            <a:pPr marL="342900" indent="-342900">
              <a:spcAft>
                <a:spcPts val="600"/>
              </a:spcAft>
              <a:buSzPct val="100000"/>
              <a:buChar char="•"/>
            </a:pPr>
            <a:r>
              <a:rPr lang="en-US" sz="1350" dirty="0">
                <a:solidFill>
                  <a:schemeClr val="tx2"/>
                </a:solidFill>
              </a:rPr>
              <a:t>RADIUS and NPS</a:t>
            </a:r>
            <a:endParaRPr lang="en-US" sz="1400" dirty="0"/>
          </a:p>
          <a:p>
            <a:pPr marL="342900" indent="-342900">
              <a:spcAft>
                <a:spcPts val="600"/>
              </a:spcAft>
              <a:buSzPct val="100000"/>
              <a:buChar char="•"/>
            </a:pPr>
            <a:r>
              <a:rPr lang="en-US" sz="1350" dirty="0">
                <a:solidFill>
                  <a:schemeClr val="tx2"/>
                </a:solidFill>
              </a:rPr>
              <a:t>LDAP binds and trusts</a:t>
            </a:r>
            <a:endParaRPr lang="en-US" sz="1400" dirty="0"/>
          </a:p>
        </p:txBody>
      </p:sp>
      <p:sp>
        <p:nvSpPr>
          <p:cNvPr id="15" name="Hidden card 3">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TriangleExclamation">
            <a:extLst>
              <a:ext uri="{C183D7F6-B498-43B3-948B-1728B52AA6E4}">
                <adec:decorative xmlns:adec="http://schemas.microsoft.com/office/drawing/2017/decorative" val="1"/>
              </a:ext>
            </a:extLst>
          </p:cNvPr>
          <p:cNvSpPr/>
          <p:nvPr/>
        </p:nvSpPr>
        <p:spPr>
          <a:xfrm>
            <a:off x="8247888" y="1572768"/>
            <a:ext cx="566928" cy="566928"/>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83951" y="1708831"/>
            <a:ext cx="294803" cy="294803"/>
          </a:xfrm>
          <a:prstGeom prst="rect">
            <a:avLst/>
          </a:prstGeom>
        </p:spPr>
      </p:pic>
      <p:sp>
        <p:nvSpPr>
          <p:cNvPr id="18" name="Hidden head 3"/>
          <p:cNvSpPr txBox="1"/>
          <p:nvPr/>
        </p:nvSpPr>
        <p:spPr>
          <a:xfrm>
            <a:off x="8961120" y="1572768"/>
            <a:ext cx="2560320" cy="566928"/>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How it fails</a:t>
            </a:r>
            <a:endParaRPr lang="en-US" sz="1700" dirty="0"/>
          </a:p>
        </p:txBody>
      </p:sp>
      <p:sp>
        <p:nvSpPr>
          <p:cNvPr id="19" name="Hidden text 3"/>
          <p:cNvSpPr txBox="1"/>
          <p:nvPr/>
        </p:nvSpPr>
        <p:spPr>
          <a:xfrm>
            <a:off x="827532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 certificate doesn't renew: enrollment never re-pointed</a:t>
            </a:r>
            <a:endParaRPr lang="en-US" sz="1400" dirty="0"/>
          </a:p>
          <a:p>
            <a:pPr marL="342900" indent="-342900">
              <a:spcAft>
                <a:spcPts val="600"/>
              </a:spcAft>
              <a:buSzPct val="100000"/>
              <a:buChar char="•"/>
            </a:pPr>
            <a:r>
              <a:rPr lang="en-US" sz="1350" dirty="0">
                <a:solidFill>
                  <a:schemeClr val="tx2"/>
                </a:solidFill>
              </a:rPr>
              <a:t>A device loses network access: a group lookup returns empty</a:t>
            </a:r>
            <a:endParaRPr lang="en-US" sz="1400" dirty="0"/>
          </a:p>
          <a:p>
            <a:pPr marL="342900" indent="-342900">
              <a:spcAft>
                <a:spcPts val="600"/>
              </a:spcAft>
              <a:buSzPct val="100000"/>
              <a:buChar char="•"/>
            </a:pPr>
            <a:r>
              <a:rPr lang="en-US" sz="1350" dirty="0">
                <a:solidFill>
                  <a:schemeClr val="tx2"/>
                </a:solidFill>
              </a:rPr>
              <a:t>An LDAP app stops: its bind account went with the domain</a:t>
            </a:r>
            <a:endParaRPr lang="en-US" sz="1400" dirty="0"/>
          </a:p>
        </p:txBody>
      </p:sp>
      <p:sp>
        <p:nvSpPr>
          <p:cNvPr id="20" name="Discipline">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1" name="Icon FaListCheck">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52805" y="5204765"/>
            <a:ext cx="380390" cy="380390"/>
          </a:xfrm>
          <a:prstGeom prst="rect">
            <a:avLst/>
          </a:prstGeom>
        </p:spPr>
      </p:pic>
      <p:sp>
        <p:nvSpPr>
          <p:cNvPr id="23" name="Discipline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Five steps, run as a discipline: </a:t>
            </a:r>
            <a:r>
              <a:rPr lang="en-US" sz="1650" dirty="0">
                <a:solidFill>
                  <a:schemeClr val="tx2"/>
                </a:solidFill>
              </a:rPr>
              <a:t>enumerate the hidden dependencies, map each to a modern target, keep delegation continuous, deliver through a governed pipeline, and detect drift continuously.</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Windows Server 2025 AD DS, cloud transformation posture, Intune supported platforms, Azure Arc, Entra CBA, DNS Private Resolver. Book 01, Chapter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092F720F-E2E2-FC20-C26B-E8FCA368D1E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3C6F565-F927-41D6-AEC1-FE7F952772A3}"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3020"/>
    </mc:Choice>
    <mc:Fallback>
      <p:transition spd="slow" advTm="630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2016"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One governed host, five roles, one writer</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In depth"/>
          <p:cNvSpPr txBox="1"/>
          <p:nvPr/>
        </p:nvSpPr>
        <p:spPr>
          <a:xfrm>
            <a:off x="8001000" y="109728"/>
            <a:ext cx="3657600" cy="292608"/>
          </a:xfrm>
          <a:prstGeom prst="rect">
            <a:avLst/>
          </a:prstGeom>
          <a:noFill/>
          <a:ln/>
        </p:spPr>
        <p:txBody>
          <a:bodyPr wrap="square" lIns="0" tIns="0" rIns="0" bIns="0" rtlCol="0" anchor="ctr"/>
          <a:lstStyle/>
          <a:p>
            <a:pPr marL="0" indent="0" algn="r">
              <a:buNone/>
            </a:pPr>
            <a:r>
              <a:rPr lang="en-US" sz="1100" b="1" kern="0" spc="100" dirty="0">
                <a:solidFill>
                  <a:srgbClr val="0F766E"/>
                </a:solidFill>
              </a:rPr>
              <a:t>IN DEPTH: BOOKS 04 AND 05</a:t>
            </a:r>
            <a:endParaRPr lang="en-US" sz="1100" dirty="0"/>
          </a:p>
        </p:txBody>
      </p:sp>
      <p:sp>
        <p:nvSpPr>
          <p:cNvPr id="6" name="Role 1">
            <a:extLst>
              <a:ext uri="{C183D7F6-B498-43B3-948B-1728B52AA6E4}">
                <adec:decorative xmlns:adec="http://schemas.microsoft.com/office/drawing/2017/decorative" val="1"/>
              </a:ext>
            </a:extLst>
          </p:cNvPr>
          <p:cNvSpPr/>
          <p:nvPr/>
        </p:nvSpPr>
        <p:spPr>
          <a:xfrm>
            <a:off x="548640" y="1371600"/>
            <a:ext cx="2130552" cy="1234440"/>
          </a:xfrm>
          <a:prstGeom prst="roundRect">
            <a:avLst>
              <a:gd name="adj" fmla="val 592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Role 1 text"/>
          <p:cNvSpPr txBox="1"/>
          <p:nvPr/>
        </p:nvSpPr>
        <p:spPr>
          <a:xfrm>
            <a:off x="658368" y="1417320"/>
            <a:ext cx="1920240"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1</a:t>
            </a:r>
            <a:endParaRPr lang="en-US" sz="1400" dirty="0"/>
          </a:p>
          <a:p>
            <a:pPr marL="0" indent="0">
              <a:buNone/>
            </a:pPr>
            <a:r>
              <a:rPr lang="en-US" sz="1400" b="1" dirty="0">
                <a:solidFill>
                  <a:srgbClr val="1F2A44"/>
                </a:solidFill>
              </a:rPr>
              <a:t>Source of truth</a:t>
            </a:r>
            <a:endParaRPr lang="en-US" sz="1400" dirty="0"/>
          </a:p>
          <a:p>
            <a:pPr marL="0" indent="0">
              <a:buNone/>
            </a:pPr>
            <a:r>
              <a:rPr lang="en-US" sz="1250" dirty="0">
                <a:solidFill>
                  <a:schemeClr val="tx2"/>
                </a:solidFill>
              </a:rPr>
              <a:t>Signed, versioned commits</a:t>
            </a:r>
            <a:endParaRPr lang="en-US" sz="1400" dirty="0"/>
          </a:p>
        </p:txBody>
      </p:sp>
      <p:sp>
        <p:nvSpPr>
          <p:cNvPr id="8" name="Role 2">
            <a:extLst>
              <a:ext uri="{C183D7F6-B498-43B3-948B-1728B52AA6E4}">
                <adec:decorative xmlns:adec="http://schemas.microsoft.com/office/drawing/2017/decorative" val="1"/>
              </a:ext>
            </a:extLst>
          </p:cNvPr>
          <p:cNvSpPr/>
          <p:nvPr/>
        </p:nvSpPr>
        <p:spPr>
          <a:xfrm>
            <a:off x="2800350" y="1371600"/>
            <a:ext cx="2130552" cy="1234440"/>
          </a:xfrm>
          <a:prstGeom prst="roundRect">
            <a:avLst>
              <a:gd name="adj" fmla="val 592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9" name="Role 2 text"/>
          <p:cNvSpPr txBox="1"/>
          <p:nvPr/>
        </p:nvSpPr>
        <p:spPr>
          <a:xfrm>
            <a:off x="2910078" y="1417320"/>
            <a:ext cx="1920240"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2</a:t>
            </a:r>
            <a:endParaRPr lang="en-US" sz="1400" dirty="0"/>
          </a:p>
          <a:p>
            <a:pPr marL="0" indent="0">
              <a:buNone/>
            </a:pPr>
            <a:r>
              <a:rPr lang="en-US" sz="1400" b="1" dirty="0">
                <a:solidFill>
                  <a:srgbClr val="1F2A44"/>
                </a:solidFill>
              </a:rPr>
              <a:t>Reverse proxy</a:t>
            </a:r>
            <a:endParaRPr lang="en-US" sz="1400" dirty="0"/>
          </a:p>
          <a:p>
            <a:pPr marL="0" indent="0">
              <a:buNone/>
            </a:pPr>
            <a:r>
              <a:rPr lang="en-US" sz="1250" dirty="0">
                <a:solidFill>
                  <a:schemeClr val="tx2"/>
                </a:solidFill>
              </a:rPr>
              <a:t>TLS and client certificates</a:t>
            </a:r>
            <a:endParaRPr lang="en-US" sz="1400" dirty="0"/>
          </a:p>
        </p:txBody>
      </p:sp>
      <p:sp>
        <p:nvSpPr>
          <p:cNvPr id="10" name="Role 3">
            <a:extLst>
              <a:ext uri="{C183D7F6-B498-43B3-948B-1728B52AA6E4}">
                <adec:decorative xmlns:adec="http://schemas.microsoft.com/office/drawing/2017/decorative" val="1"/>
              </a:ext>
            </a:extLst>
          </p:cNvPr>
          <p:cNvSpPr/>
          <p:nvPr/>
        </p:nvSpPr>
        <p:spPr>
          <a:xfrm>
            <a:off x="5052060" y="1371600"/>
            <a:ext cx="2130552" cy="1234440"/>
          </a:xfrm>
          <a:prstGeom prst="roundRect">
            <a:avLst>
              <a:gd name="adj" fmla="val 592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Role 3 text"/>
          <p:cNvSpPr txBox="1"/>
          <p:nvPr/>
        </p:nvSpPr>
        <p:spPr>
          <a:xfrm>
            <a:off x="5161788" y="1417320"/>
            <a:ext cx="1920240"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3</a:t>
            </a:r>
            <a:endParaRPr lang="en-US" sz="1400" dirty="0"/>
          </a:p>
          <a:p>
            <a:pPr marL="0" indent="0">
              <a:buNone/>
            </a:pPr>
            <a:r>
              <a:rPr lang="en-US" sz="1400" b="1" dirty="0">
                <a:solidFill>
                  <a:srgbClr val="1F2A44"/>
                </a:solidFill>
              </a:rPr>
              <a:t>Auth bridge</a:t>
            </a:r>
            <a:endParaRPr lang="en-US" sz="1400" dirty="0"/>
          </a:p>
          <a:p>
            <a:pPr marL="0" indent="0">
              <a:buNone/>
            </a:pPr>
            <a:r>
              <a:rPr lang="en-US" sz="1250" dirty="0">
                <a:solidFill>
                  <a:schemeClr val="tx2"/>
                </a:solidFill>
              </a:rPr>
              <a:t>Domain-joined and Arc-connected</a:t>
            </a:r>
            <a:endParaRPr lang="en-US" sz="1400" dirty="0"/>
          </a:p>
        </p:txBody>
      </p:sp>
      <p:sp>
        <p:nvSpPr>
          <p:cNvPr id="12" name="Role 4">
            <a:extLst>
              <a:ext uri="{C183D7F6-B498-43B3-948B-1728B52AA6E4}">
                <adec:decorative xmlns:adec="http://schemas.microsoft.com/office/drawing/2017/decorative" val="1"/>
              </a:ext>
            </a:extLst>
          </p:cNvPr>
          <p:cNvSpPr/>
          <p:nvPr/>
        </p:nvSpPr>
        <p:spPr>
          <a:xfrm>
            <a:off x="7303770" y="1371600"/>
            <a:ext cx="2130552" cy="1234440"/>
          </a:xfrm>
          <a:prstGeom prst="roundRect">
            <a:avLst>
              <a:gd name="adj" fmla="val 592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3" name="Role 4 text"/>
          <p:cNvSpPr txBox="1"/>
          <p:nvPr/>
        </p:nvSpPr>
        <p:spPr>
          <a:xfrm>
            <a:off x="7413498" y="1417320"/>
            <a:ext cx="1920240"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4</a:t>
            </a:r>
            <a:endParaRPr lang="en-US" sz="1400" dirty="0"/>
          </a:p>
          <a:p>
            <a:pPr marL="0" indent="0">
              <a:buNone/>
            </a:pPr>
            <a:r>
              <a:rPr lang="en-US" sz="1400" b="1" dirty="0">
                <a:solidFill>
                  <a:srgbClr val="1F2A44"/>
                </a:solidFill>
              </a:rPr>
              <a:t>Engine</a:t>
            </a:r>
            <a:endParaRPr lang="en-US" sz="1400" dirty="0"/>
          </a:p>
          <a:p>
            <a:pPr marL="0" indent="0">
              <a:buNone/>
            </a:pPr>
            <a:r>
              <a:rPr lang="en-US" sz="1250" dirty="0">
                <a:solidFill>
                  <a:schemeClr val="tx2"/>
                </a:solidFill>
              </a:rPr>
              <a:t>PowerShell, Python, API integrators</a:t>
            </a:r>
            <a:endParaRPr lang="en-US" sz="1400" dirty="0"/>
          </a:p>
        </p:txBody>
      </p:sp>
      <p:sp>
        <p:nvSpPr>
          <p:cNvPr id="14" name="Role 5">
            <a:extLst>
              <a:ext uri="{C183D7F6-B498-43B3-948B-1728B52AA6E4}">
                <adec:decorative xmlns:adec="http://schemas.microsoft.com/office/drawing/2017/decorative" val="1"/>
              </a:ext>
            </a:extLst>
          </p:cNvPr>
          <p:cNvSpPr/>
          <p:nvPr/>
        </p:nvSpPr>
        <p:spPr>
          <a:xfrm>
            <a:off x="9555480" y="1371600"/>
            <a:ext cx="2130552" cy="1234440"/>
          </a:xfrm>
          <a:prstGeom prst="roundRect">
            <a:avLst>
              <a:gd name="adj" fmla="val 592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5" name="Role 5 text"/>
          <p:cNvSpPr txBox="1"/>
          <p:nvPr/>
        </p:nvSpPr>
        <p:spPr>
          <a:xfrm>
            <a:off x="9665208" y="1417320"/>
            <a:ext cx="1920240"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5</a:t>
            </a:r>
            <a:endParaRPr lang="en-US" sz="1400" dirty="0"/>
          </a:p>
          <a:p>
            <a:pPr marL="0" indent="0">
              <a:buNone/>
            </a:pPr>
            <a:r>
              <a:rPr lang="en-US" sz="1400" b="1" dirty="0">
                <a:solidFill>
                  <a:srgbClr val="1F2A44"/>
                </a:solidFill>
              </a:rPr>
              <a:t>Adapters</a:t>
            </a:r>
            <a:endParaRPr lang="en-US" sz="1400" dirty="0"/>
          </a:p>
          <a:p>
            <a:pPr marL="0" indent="0">
              <a:buNone/>
            </a:pPr>
            <a:r>
              <a:rPr lang="en-US" sz="1250" dirty="0">
                <a:solidFill>
                  <a:schemeClr val="tx2"/>
                </a:solidFill>
              </a:rPr>
              <a:t>One contract per category</a:t>
            </a:r>
            <a:endParaRPr lang="en-US" sz="1400" dirty="0"/>
          </a:p>
        </p:txBody>
      </p:sp>
      <p:sp>
        <p:nvSpPr>
          <p:cNvPr id="16" name="Panel 1">
            <a:extLst>
              <a:ext uri="{C183D7F6-B498-43B3-948B-1728B52AA6E4}">
                <adec:decorative xmlns:adec="http://schemas.microsoft.com/office/drawing/2017/decorative" val="1"/>
              </a:ext>
            </a:extLst>
          </p:cNvPr>
          <p:cNvSpPr/>
          <p:nvPr/>
        </p:nvSpPr>
        <p:spPr>
          <a:xfrm>
            <a:off x="548640" y="2788920"/>
            <a:ext cx="5486400" cy="1828800"/>
          </a:xfrm>
          <a:prstGeom prst="roundRect">
            <a:avLst>
              <a:gd name="adj" fmla="val 4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7" name="Icon FaScaleBalanced">
            <a:extLst>
              <a:ext uri="{C183D7F6-B498-43B3-948B-1728B52AA6E4}">
                <adec:decorative xmlns:adec="http://schemas.microsoft.com/office/drawing/2017/decorative" val="1"/>
              </a:ext>
            </a:extLst>
          </p:cNvPr>
          <p:cNvSpPr/>
          <p:nvPr/>
        </p:nvSpPr>
        <p:spPr>
          <a:xfrm>
            <a:off x="731520" y="2862072"/>
            <a:ext cx="512064" cy="512064"/>
          </a:xfrm>
          <a:prstGeom prst="ellipse">
            <a:avLst/>
          </a:prstGeom>
          <a:solidFill>
            <a:srgbClr val="1F2A44"/>
          </a:solidFill>
          <a:ln w="12700">
            <a:solidFill>
              <a:srgbClr val="1F2A44"/>
            </a:solidFill>
            <a:prstDash val="solid"/>
          </a:ln>
        </p:spPr>
      </p:sp>
      <p:pic>
        <p:nvPicPr>
          <p:cNvPr id="1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54415" y="2984967"/>
            <a:ext cx="266273" cy="266273"/>
          </a:xfrm>
          <a:prstGeom prst="rect">
            <a:avLst/>
          </a:prstGeom>
        </p:spPr>
      </p:pic>
      <p:sp>
        <p:nvSpPr>
          <p:cNvPr id="19" name="Panel head 1"/>
          <p:cNvSpPr txBox="1"/>
          <p:nvPr/>
        </p:nvSpPr>
        <p:spPr>
          <a:xfrm>
            <a:off x="1417320" y="2862072"/>
            <a:ext cx="4480560" cy="512064"/>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Decide and act, kept apart</a:t>
            </a:r>
            <a:endParaRPr lang="en-US" sz="1700" dirty="0"/>
          </a:p>
        </p:txBody>
      </p:sp>
      <p:sp>
        <p:nvSpPr>
          <p:cNvPr id="20" name="Panel text 1"/>
          <p:cNvSpPr txBox="1"/>
          <p:nvPr/>
        </p:nvSpPr>
        <p:spPr>
          <a:xfrm>
            <a:off x="77724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Governance validates and signs; never touches a target</a:t>
            </a:r>
            <a:endParaRPr lang="en-US" sz="1400" dirty="0"/>
          </a:p>
          <a:p>
            <a:pPr marL="342900" indent="-342900">
              <a:spcAft>
                <a:spcPts val="200"/>
              </a:spcAft>
              <a:buSzPct val="100000"/>
              <a:buChar char="•"/>
            </a:pPr>
            <a:r>
              <a:rPr lang="en-US" sz="1300" dirty="0">
                <a:solidFill>
                  <a:schemeClr val="tx2"/>
                </a:solidFill>
              </a:rPr>
              <a:t>Execution runs authorized plans; decides nothing</a:t>
            </a:r>
            <a:endParaRPr lang="en-US" sz="1400" dirty="0"/>
          </a:p>
          <a:p>
            <a:pPr marL="342900" indent="-342900">
              <a:spcAft>
                <a:spcPts val="200"/>
              </a:spcAft>
              <a:buSzPct val="100000"/>
              <a:buChar char="•"/>
            </a:pPr>
            <a:r>
              <a:rPr lang="en-US" sz="1300" dirty="0">
                <a:solidFill>
                  <a:schemeClr val="tx2"/>
                </a:solidFill>
              </a:rPr>
              <a:t>Separate accounts, credential stores and logs</a:t>
            </a:r>
            <a:endParaRPr lang="en-US" sz="1400" dirty="0"/>
          </a:p>
          <a:p>
            <a:pPr marL="342900" indent="-342900">
              <a:spcAft>
                <a:spcPts val="200"/>
              </a:spcAft>
              <a:buSzPct val="100000"/>
              <a:buChar char="•"/>
            </a:pPr>
            <a:r>
              <a:rPr lang="en-US" sz="1300" dirty="0">
                <a:solidFill>
                  <a:schemeClr val="tx2"/>
                </a:solidFill>
              </a:rPr>
              <a:t>A person approves before anything writes</a:t>
            </a:r>
            <a:endParaRPr lang="en-US" sz="1400" dirty="0"/>
          </a:p>
        </p:txBody>
      </p:sp>
      <p:sp>
        <p:nvSpPr>
          <p:cNvPr id="21" name="Panel 2">
            <a:extLst>
              <a:ext uri="{C183D7F6-B498-43B3-948B-1728B52AA6E4}">
                <adec:decorative xmlns:adec="http://schemas.microsoft.com/office/drawing/2017/decorative" val="1"/>
              </a:ext>
            </a:extLst>
          </p:cNvPr>
          <p:cNvSpPr/>
          <p:nvPr/>
        </p:nvSpPr>
        <p:spPr>
          <a:xfrm>
            <a:off x="6172200" y="2788920"/>
            <a:ext cx="5486400" cy="1828800"/>
          </a:xfrm>
          <a:prstGeom prst="roundRect">
            <a:avLst>
              <a:gd name="adj" fmla="val 4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2" name="Icon FaShieldHalved">
            <a:extLst>
              <a:ext uri="{C183D7F6-B498-43B3-948B-1728B52AA6E4}">
                <adec:decorative xmlns:adec="http://schemas.microsoft.com/office/drawing/2017/decorative" val="1"/>
              </a:ext>
            </a:extLst>
          </p:cNvPr>
          <p:cNvSpPr/>
          <p:nvPr/>
        </p:nvSpPr>
        <p:spPr>
          <a:xfrm>
            <a:off x="6355080" y="2862072"/>
            <a:ext cx="512064" cy="512064"/>
          </a:xfrm>
          <a:prstGeom prst="ellipse">
            <a:avLst/>
          </a:prstGeom>
          <a:solidFill>
            <a:srgbClr val="0F766E"/>
          </a:solidFill>
          <a:ln w="12700">
            <a:solidFill>
              <a:srgbClr val="0F766E"/>
            </a:solidFill>
            <a:prstDash val="solid"/>
          </a:ln>
        </p:spPr>
      </p:sp>
      <p:pic>
        <p:nvPicPr>
          <p:cNvPr id="2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477975" y="2984967"/>
            <a:ext cx="266273" cy="266273"/>
          </a:xfrm>
          <a:prstGeom prst="rect">
            <a:avLst/>
          </a:prstGeom>
        </p:spPr>
      </p:pic>
      <p:sp>
        <p:nvSpPr>
          <p:cNvPr id="24" name="Panel head 2"/>
          <p:cNvSpPr txBox="1"/>
          <p:nvPr/>
        </p:nvSpPr>
        <p:spPr>
          <a:xfrm>
            <a:off x="7040880" y="2862072"/>
            <a:ext cx="4480560" cy="512064"/>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Protected as a Tier 0 asset</a:t>
            </a:r>
            <a:endParaRPr lang="en-US" sz="1700" dirty="0"/>
          </a:p>
        </p:txBody>
      </p:sp>
      <p:sp>
        <p:nvSpPr>
          <p:cNvPr id="25" name="Panel text 2"/>
          <p:cNvSpPr txBox="1"/>
          <p:nvPr/>
        </p:nvSpPr>
        <p:spPr>
          <a:xfrm>
            <a:off x="640080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Windows Server 2025, supported to November 2034</a:t>
            </a:r>
            <a:endParaRPr lang="en-US" sz="1400" dirty="0"/>
          </a:p>
          <a:p>
            <a:pPr marL="342900" indent="-342900">
              <a:spcAft>
                <a:spcPts val="200"/>
              </a:spcAft>
              <a:buSzPct val="100000"/>
              <a:buChar char="•"/>
            </a:pPr>
            <a:r>
              <a:rPr lang="en-US" sz="1300" dirty="0">
                <a:solidFill>
                  <a:schemeClr val="tx2"/>
                </a:solidFill>
              </a:rPr>
              <a:t>Reads AD read-only; writes only through plans</a:t>
            </a:r>
            <a:endParaRPr lang="en-US" sz="1400" dirty="0"/>
          </a:p>
          <a:p>
            <a:pPr marL="342900" indent="-342900">
              <a:spcAft>
                <a:spcPts val="200"/>
              </a:spcAft>
              <a:buSzPct val="100000"/>
              <a:buChar char="•"/>
            </a:pPr>
            <a:r>
              <a:rPr lang="en-US" sz="1300" dirty="0">
                <a:solidFill>
                  <a:schemeClr val="tx2"/>
                </a:solidFill>
              </a:rPr>
              <a:t>App Control; administered from a privileged workstation</a:t>
            </a:r>
            <a:endParaRPr lang="en-US" sz="1400" dirty="0"/>
          </a:p>
          <a:p>
            <a:pPr marL="342900" indent="-342900">
              <a:spcAft>
                <a:spcPts val="200"/>
              </a:spcAft>
              <a:buSzPct val="100000"/>
              <a:buChar char="•"/>
            </a:pPr>
            <a:r>
              <a:rPr lang="en-US" sz="1300" dirty="0">
                <a:solidFill>
                  <a:schemeClr val="tx2"/>
                </a:solidFill>
              </a:rPr>
              <a:t>Logs go to central logging (OMB M-26-14)</a:t>
            </a:r>
            <a:endParaRPr lang="en-US" sz="1400" dirty="0"/>
          </a:p>
        </p:txBody>
      </p:sp>
      <p:sp>
        <p:nvSpPr>
          <p:cNvPr id="26" name="Not a product">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7" name="Icon FaCubes">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45309"/>
          </a:solidFill>
          <a:ln w="12700">
            <a:solidFill>
              <a:srgbClr val="B45309"/>
            </a:solidFill>
            <a:prstDash val="solid"/>
          </a:ln>
        </p:spPr>
      </p:sp>
      <p:pic>
        <p:nvPicPr>
          <p:cNvPr id="28"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181905"/>
            <a:ext cx="380390" cy="380390"/>
          </a:xfrm>
          <a:prstGeom prst="rect">
            <a:avLst/>
          </a:prstGeom>
        </p:spPr>
      </p:pic>
      <p:sp>
        <p:nvSpPr>
          <p:cNvPr id="29" name="Not a product text"/>
          <p:cNvSpPr txBox="1"/>
          <p:nvPr/>
        </p:nvSpPr>
        <p:spPr>
          <a:xfrm>
            <a:off x="1737360" y="4846320"/>
            <a:ext cx="9738360" cy="1051560"/>
          </a:xfrm>
          <a:prstGeom prst="rect">
            <a:avLst/>
          </a:prstGeom>
          <a:noFill/>
          <a:ln/>
        </p:spPr>
        <p:txBody>
          <a:bodyPr wrap="square" lIns="0" tIns="0" rIns="0" bIns="0" rtlCol="0" anchor="ctr"/>
          <a:lstStyle/>
          <a:p>
            <a:pPr marL="0" indent="0">
              <a:buNone/>
            </a:pPr>
            <a:r>
              <a:rPr lang="en-US" sz="1650" b="1" dirty="0">
                <a:solidFill>
                  <a:srgbClr val="B45309"/>
                </a:solidFill>
              </a:rPr>
              <a:t>A reference architecture, not a product: </a:t>
            </a:r>
            <a:r>
              <a:rPr lang="en-US" sz="1650" dirty="0">
                <a:solidFill>
                  <a:schemeClr val="tx2"/>
                </a:solidFill>
              </a:rPr>
              <a:t>standard components configured one way, with no proprietary binary. Scale comes from the target surface, such as Entra ID and Intune, not from fanning out the host.</a:t>
            </a:r>
            <a:endParaRPr lang="en-US" sz="1650" dirty="0"/>
          </a:p>
        </p:txBody>
      </p:sp>
      <p:sp>
        <p:nvSpPr>
          <p:cNvPr id="3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Windows Server release information, IIS reverse proxy, Arc managed identity, AD DS tier model, App Control; Gitea signing; OMB M-26-14. Book 01, Chapter 03.</a:t>
            </a:r>
            <a:endParaRPr lang="en-US" sz="1000" dirty="0"/>
          </a:p>
        </p:txBody>
      </p:sp>
      <p:sp>
        <p:nvSpPr>
          <p:cNvPr id="31"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32" name="Narration" descr="Narration for this slide; captions available">
            <a:hlinkClick r:id="" action="ppaction://media"/>
            <a:extLst>
              <a:ext uri="{FF2B5EF4-FFF2-40B4-BE49-F238E27FC236}">
                <a16:creationId xmlns:a16="http://schemas.microsoft.com/office/drawing/2014/main" id="{09554099-6DD2-F2DF-EA04-89E902FAA8D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9CDDA63-AA64-4408-AD9F-893CAA57B4D3}"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5490"/>
    </mc:Choice>
    <mc:Fallback>
      <p:transition spd="slow" advTm="654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4488" fill="hold"/>
                                        <p:tgtEl>
                                          <p:spTgt spid="3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Identity: one HR stamp drives five outcomes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In depth"/>
          <p:cNvSpPr txBox="1"/>
          <p:nvPr/>
        </p:nvSpPr>
        <p:spPr>
          <a:xfrm>
            <a:off x="8001000" y="109728"/>
            <a:ext cx="3657600" cy="292608"/>
          </a:xfrm>
          <a:prstGeom prst="rect">
            <a:avLst/>
          </a:prstGeom>
          <a:noFill/>
          <a:ln/>
        </p:spPr>
        <p:txBody>
          <a:bodyPr wrap="square" lIns="0" tIns="0" rIns="0" bIns="0" rtlCol="0" anchor="ctr"/>
          <a:lstStyle/>
          <a:p>
            <a:pPr marL="0" indent="0" algn="r">
              <a:buNone/>
            </a:pPr>
            <a:r>
              <a:rPr lang="en-US" sz="1100" b="1" kern="0" spc="100" dirty="0">
                <a:solidFill>
                  <a:srgbClr val="0F766E"/>
                </a:solidFill>
              </a:rPr>
              <a:t>IN DEPTH: BOOKS 02 AND 03</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01752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tblGrid>
              <a:tr h="38404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Mechanism</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it replaces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2920">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Organizational attributes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OU placement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Dynamic groups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OU-derived security groups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Administrative units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OU-level delegation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Conditional Access targeting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Group Policy inheritance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Table note"/>
          <p:cNvSpPr txBox="1"/>
          <p:nvPr/>
        </p:nvSpPr>
        <p:spPr>
          <a:xfrm>
            <a:off x="548640" y="3886200"/>
            <a:ext cx="6309360" cy="731520"/>
          </a:xfrm>
          <a:prstGeom prst="rect">
            <a:avLst/>
          </a:prstGeom>
          <a:noFill/>
          <a:ln/>
        </p:spPr>
        <p:txBody>
          <a:bodyPr wrap="square" lIns="0" tIns="0" rIns="0" bIns="0" rtlCol="0" anchor="t"/>
          <a:lstStyle/>
          <a:p>
            <a:pPr marL="0" indent="0">
              <a:buNone/>
            </a:pPr>
            <a:r>
              <a:rPr lang="en-US" sz="1250" i="1" dirty="0">
                <a:solidFill>
                  <a:srgbClr val="64748B"/>
                </a:solidFill>
              </a:rPr>
              <a:t>Dynamic membership usually updates within a few hours but can take more than 24. Design the mover workflow around that window.</a:t>
            </a:r>
            <a:endParaRPr lang="en-US" sz="1250" dirty="0"/>
          </a:p>
        </p:txBody>
      </p:sp>
      <p:sp>
        <p:nvSpPr>
          <p:cNvPr id="6" name="Stamp box">
            <a:extLst>
              <a:ext uri="{C183D7F6-B498-43B3-948B-1728B52AA6E4}">
                <adec:decorative xmlns:adec="http://schemas.microsoft.com/office/drawing/2017/decorative" val="1"/>
              </a:ext>
            </a:extLst>
          </p:cNvPr>
          <p:cNvSpPr/>
          <p:nvPr/>
        </p:nvSpPr>
        <p:spPr>
          <a:xfrm>
            <a:off x="7086600" y="1371600"/>
            <a:ext cx="4572000" cy="3246120"/>
          </a:xfrm>
          <a:prstGeom prst="roundRect">
            <a:avLst>
              <a:gd name="adj" fmla="val 225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Icon FaAddressBook">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0F766E"/>
          </a:solidFill>
          <a:ln w="12700">
            <a:solidFill>
              <a:srgbClr val="0F766E"/>
            </a:solidFill>
            <a:prstDash val="solid"/>
          </a:ln>
        </p:spPr>
      </p:sp>
      <p:pic>
        <p:nvPicPr>
          <p:cNvPr id="1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67866"/>
            <a:ext cx="285293" cy="285293"/>
          </a:xfrm>
          <a:prstGeom prst="rect">
            <a:avLst/>
          </a:prstGeom>
        </p:spPr>
      </p:pic>
      <p:sp>
        <p:nvSpPr>
          <p:cNvPr id="11" name="Stamp head"/>
          <p:cNvSpPr txBox="1"/>
          <p:nvPr/>
        </p:nvSpPr>
        <p:spPr>
          <a:xfrm>
            <a:off x="8001000" y="1536192"/>
            <a:ext cx="3566160" cy="54864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One HR stamp, five outcomes</a:t>
            </a:r>
            <a:endParaRPr lang="en-US" sz="1700" dirty="0"/>
          </a:p>
        </p:txBody>
      </p:sp>
      <p:sp>
        <p:nvSpPr>
          <p:cNvPr id="12" name="Stamp list"/>
          <p:cNvSpPr txBox="1"/>
          <p:nvPr/>
        </p:nvSpPr>
        <p:spPr>
          <a:xfrm>
            <a:off x="7315200" y="2212848"/>
            <a:ext cx="4206240" cy="233172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chemeClr val="tx2"/>
                </a:solidFill>
              </a:rPr>
              <a:t>Dynamic group membership</a:t>
            </a:r>
            <a:endParaRPr lang="en-US" sz="1400" dirty="0"/>
          </a:p>
          <a:p>
            <a:pPr marL="342900" indent="-342900">
              <a:spcAft>
                <a:spcPts val="600"/>
              </a:spcAft>
              <a:buSzPct val="100000"/>
              <a:buChar char="•"/>
            </a:pPr>
            <a:r>
              <a:rPr lang="en-US" sz="1450" dirty="0">
                <a:solidFill>
                  <a:schemeClr val="tx2"/>
                </a:solidFill>
              </a:rPr>
              <a:t>Administrative-unit scope</a:t>
            </a:r>
            <a:endParaRPr lang="en-US" sz="1400" dirty="0"/>
          </a:p>
          <a:p>
            <a:pPr marL="342900" indent="-342900">
              <a:spcAft>
                <a:spcPts val="600"/>
              </a:spcAft>
              <a:buSzPct val="100000"/>
              <a:buChar char="•"/>
            </a:pPr>
            <a:r>
              <a:rPr lang="en-US" sz="1450" dirty="0">
                <a:solidFill>
                  <a:schemeClr val="tx2"/>
                </a:solidFill>
              </a:rPr>
              <a:t>Conditional Access targeting</a:t>
            </a:r>
            <a:endParaRPr lang="en-US" sz="1400" dirty="0"/>
          </a:p>
          <a:p>
            <a:pPr marL="342900" indent="-342900">
              <a:spcAft>
                <a:spcPts val="600"/>
              </a:spcAft>
              <a:buSzPct val="100000"/>
              <a:buChar char="•"/>
            </a:pPr>
            <a:r>
              <a:rPr lang="en-US" sz="1450" dirty="0">
                <a:solidFill>
                  <a:schemeClr val="tx2"/>
                </a:solidFill>
              </a:rPr>
              <a:t>Group-based licensing</a:t>
            </a:r>
            <a:endParaRPr lang="en-US" sz="1400" dirty="0"/>
          </a:p>
          <a:p>
            <a:pPr marL="342900" indent="-342900">
              <a:spcAft>
                <a:spcPts val="600"/>
              </a:spcAft>
              <a:buSzPct val="100000"/>
              <a:buChar char="•"/>
            </a:pPr>
            <a:r>
              <a:rPr lang="en-US" sz="1450" dirty="0">
                <a:solidFill>
                  <a:schemeClr val="tx2"/>
                </a:solidFill>
              </a:rPr>
              <a:t>Drift detection against HR</a:t>
            </a:r>
            <a:endParaRPr lang="en-US" sz="1400" dirty="0"/>
          </a:p>
        </p:txBody>
      </p:sp>
      <p:sp>
        <p:nvSpPr>
          <p:cNvPr id="13" name="True">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4" name="Icon FaFingerprint">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91C1C"/>
          </a:solidFill>
          <a:ln w="12700">
            <a:solidFill>
              <a:srgbClr val="B91C1C"/>
            </a:solidFill>
            <a:prstDash val="solid"/>
          </a:ln>
        </p:spPr>
      </p:sp>
      <p:pic>
        <p:nvPicPr>
          <p:cNvPr id="15"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181905"/>
            <a:ext cx="380390" cy="380390"/>
          </a:xfrm>
          <a:prstGeom prst="rect">
            <a:avLst/>
          </a:prstGeom>
        </p:spPr>
      </p:pic>
      <p:sp>
        <p:nvSpPr>
          <p:cNvPr id="16" name="True text"/>
          <p:cNvSpPr txBox="1"/>
          <p:nvPr/>
        </p:nvSpPr>
        <p:spPr>
          <a:xfrm>
            <a:off x="1737360" y="4846320"/>
            <a:ext cx="9738360" cy="1051560"/>
          </a:xfrm>
          <a:prstGeom prst="rect">
            <a:avLst/>
          </a:prstGeom>
          <a:noFill/>
          <a:ln/>
        </p:spPr>
        <p:txBody>
          <a:bodyPr wrap="square" lIns="0" tIns="0" rIns="0" bIns="0" rtlCol="0" anchor="ctr"/>
          <a:lstStyle/>
          <a:p>
            <a:pPr marL="0" indent="0">
              <a:buNone/>
            </a:pPr>
            <a:r>
              <a:rPr lang="en-US" sz="1650" b="1" dirty="0">
                <a:solidFill>
                  <a:srgbClr val="B91C1C"/>
                </a:solidFill>
              </a:rPr>
              <a:t>A token is only as true as its attributes: </a:t>
            </a:r>
            <a:r>
              <a:rPr lang="en-US" sz="1650" dirty="0">
                <a:solidFill>
                  <a:schemeClr val="tx2"/>
                </a:solidFill>
              </a:rPr>
              <a:t>if access still lives in regional OU trees with no HR-derived source, tokens sign broken authorizations efficiently. HR provisioning is the only writer.</a:t>
            </a:r>
            <a:endParaRPr lang="en-US" sz="165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M-22-09; NIST SP 800-207; Microsoft Learn — dynamic membership rules and processing, administrative units, group-based licensing, HR provisioning. Book 01, Chapter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4D364DBC-9714-2731-B64E-E453C26C534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DE6EC09-052D-4FA7-A86E-C8654F7E5670}"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3620"/>
    </mc:Choice>
    <mc:Fallback>
      <p:transition spd="slow" advTm="636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2616"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Policy: regenerate Group Policy, don't copy it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In depth"/>
          <p:cNvSpPr txBox="1"/>
          <p:nvPr/>
        </p:nvSpPr>
        <p:spPr>
          <a:xfrm>
            <a:off x="8001000" y="109728"/>
            <a:ext cx="3657600" cy="292608"/>
          </a:xfrm>
          <a:prstGeom prst="rect">
            <a:avLst/>
          </a:prstGeom>
          <a:noFill/>
          <a:ln/>
        </p:spPr>
        <p:txBody>
          <a:bodyPr wrap="square" lIns="0" tIns="0" rIns="0" bIns="0" rtlCol="0" anchor="ctr"/>
          <a:lstStyle/>
          <a:p>
            <a:pPr marL="0" indent="0" algn="r">
              <a:buNone/>
            </a:pPr>
            <a:r>
              <a:rPr lang="en-US" sz="1100" b="1" kern="0" spc="100" dirty="0">
                <a:solidFill>
                  <a:srgbClr val="0F766E"/>
                </a:solidFill>
              </a:rPr>
              <a:t>IN DEPTH: BOOKS 05 AND 04</a:t>
            </a:r>
            <a:endParaRPr lang="en-US" sz="1100" dirty="0"/>
          </a:p>
        </p:txBody>
      </p:sp>
      <p:sp>
        <p:nvSpPr>
          <p:cNvPr id="6" name="Target head"/>
          <p:cNvSpPr txBox="1"/>
          <p:nvPr/>
        </p:nvSpPr>
        <p:spPr>
          <a:xfrm>
            <a:off x="548640" y="141732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WHERE EACH GROUP POLICY CATEGORY GOES</a:t>
            </a:r>
            <a:endParaRPr lang="en-US" sz="1200" dirty="0"/>
          </a:p>
        </p:txBody>
      </p:sp>
      <p:sp>
        <p:nvSpPr>
          <p:cNvPr id="7" name="Target 0">
            <a:extLst>
              <a:ext uri="{C183D7F6-B498-43B3-948B-1728B52AA6E4}">
                <adec:decorative xmlns:adec="http://schemas.microsoft.com/office/drawing/2017/decorative" val="1"/>
              </a:ext>
            </a:extLst>
          </p:cNvPr>
          <p:cNvSpPr/>
          <p:nvPr/>
        </p:nvSpPr>
        <p:spPr>
          <a:xfrm>
            <a:off x="548640" y="1755648"/>
            <a:ext cx="5669280" cy="438912"/>
          </a:xfrm>
          <a:prstGeom prst="roundRect">
            <a:avLst>
              <a:gd name="adj" fmla="val 16667"/>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8" name="Target 0 text"/>
          <p:cNvSpPr txBox="1"/>
          <p:nvPr/>
        </p:nvSpPr>
        <p:spPr>
          <a:xfrm>
            <a:off x="731520" y="1755648"/>
            <a:ext cx="5394960" cy="438912"/>
          </a:xfrm>
          <a:prstGeom prst="rect">
            <a:avLst/>
          </a:prstGeom>
          <a:noFill/>
          <a:ln/>
        </p:spPr>
        <p:txBody>
          <a:bodyPr wrap="square" lIns="0" tIns="0" rIns="0" bIns="0" rtlCol="0" anchor="ctr"/>
          <a:lstStyle/>
          <a:p>
            <a:pPr marL="0" indent="0">
              <a:buNone/>
            </a:pPr>
            <a:r>
              <a:rPr lang="en-US" sz="1400" b="1" dirty="0">
                <a:solidFill>
                  <a:srgbClr val="1F2A44"/>
                </a:solidFill>
              </a:rPr>
              <a:t>Device configuration   </a:t>
            </a:r>
            <a:r>
              <a:rPr lang="en-US" sz="1400" dirty="0">
                <a:solidFill>
                  <a:schemeClr val="tx2"/>
                </a:solidFill>
              </a:rPr>
              <a:t>Intune profiles, settings catalog</a:t>
            </a:r>
            <a:endParaRPr lang="en-US" sz="1400" dirty="0"/>
          </a:p>
        </p:txBody>
      </p:sp>
      <p:sp>
        <p:nvSpPr>
          <p:cNvPr id="9" name="Target 1">
            <a:extLst>
              <a:ext uri="{C183D7F6-B498-43B3-948B-1728B52AA6E4}">
                <adec:decorative xmlns:adec="http://schemas.microsoft.com/office/drawing/2017/decorative" val="1"/>
              </a:ext>
            </a:extLst>
          </p:cNvPr>
          <p:cNvSpPr/>
          <p:nvPr/>
        </p:nvSpPr>
        <p:spPr>
          <a:xfrm>
            <a:off x="548640" y="2267712"/>
            <a:ext cx="5669280" cy="438912"/>
          </a:xfrm>
          <a:prstGeom prst="roundRect">
            <a:avLst>
              <a:gd name="adj" fmla="val 16667"/>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Target 1 text"/>
          <p:cNvSpPr txBox="1"/>
          <p:nvPr/>
        </p:nvSpPr>
        <p:spPr>
          <a:xfrm>
            <a:off x="731520" y="2267712"/>
            <a:ext cx="5394960" cy="438912"/>
          </a:xfrm>
          <a:prstGeom prst="rect">
            <a:avLst/>
          </a:prstGeom>
          <a:noFill/>
          <a:ln/>
        </p:spPr>
        <p:txBody>
          <a:bodyPr wrap="square" lIns="0" tIns="0" rIns="0" bIns="0" rtlCol="0" anchor="ctr"/>
          <a:lstStyle/>
          <a:p>
            <a:pPr marL="0" indent="0">
              <a:buNone/>
            </a:pPr>
            <a:r>
              <a:rPr lang="en-US" sz="1400" b="1" dirty="0">
                <a:solidFill>
                  <a:srgbClr val="1F2A44"/>
                </a:solidFill>
              </a:rPr>
              <a:t>Security baselines   </a:t>
            </a:r>
            <a:r>
              <a:rPr lang="en-US" sz="1400" dirty="0">
                <a:solidFill>
                  <a:schemeClr val="tx2"/>
                </a:solidFill>
              </a:rPr>
              <a:t>Intune baselines; Entra smart lockout</a:t>
            </a:r>
            <a:endParaRPr lang="en-US" sz="1400" dirty="0"/>
          </a:p>
        </p:txBody>
      </p:sp>
      <p:sp>
        <p:nvSpPr>
          <p:cNvPr id="11" name="Target 2">
            <a:extLst>
              <a:ext uri="{C183D7F6-B498-43B3-948B-1728B52AA6E4}">
                <adec:decorative xmlns:adec="http://schemas.microsoft.com/office/drawing/2017/decorative" val="1"/>
              </a:ext>
            </a:extLst>
          </p:cNvPr>
          <p:cNvSpPr/>
          <p:nvPr/>
        </p:nvSpPr>
        <p:spPr>
          <a:xfrm>
            <a:off x="548640" y="2779776"/>
            <a:ext cx="5669280" cy="438912"/>
          </a:xfrm>
          <a:prstGeom prst="roundRect">
            <a:avLst>
              <a:gd name="adj" fmla="val 16667"/>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2" name="Target 2 text"/>
          <p:cNvSpPr txBox="1"/>
          <p:nvPr/>
        </p:nvSpPr>
        <p:spPr>
          <a:xfrm>
            <a:off x="731520" y="2779776"/>
            <a:ext cx="5394960" cy="438912"/>
          </a:xfrm>
          <a:prstGeom prst="rect">
            <a:avLst/>
          </a:prstGeom>
          <a:noFill/>
          <a:ln/>
        </p:spPr>
        <p:txBody>
          <a:bodyPr wrap="square" lIns="0" tIns="0" rIns="0" bIns="0" rtlCol="0" anchor="ctr"/>
          <a:lstStyle/>
          <a:p>
            <a:pPr marL="0" indent="0">
              <a:buNone/>
            </a:pPr>
            <a:r>
              <a:rPr lang="en-US" sz="1400" b="1" dirty="0">
                <a:solidFill>
                  <a:srgbClr val="1F2A44"/>
                </a:solidFill>
              </a:rPr>
              <a:t>Software   </a:t>
            </a:r>
            <a:r>
              <a:rPr lang="en-US" sz="1400" dirty="0">
                <a:solidFill>
                  <a:schemeClr val="tx2"/>
                </a:solidFill>
              </a:rPr>
              <a:t>Intune apps, with Autopilot</a:t>
            </a:r>
            <a:endParaRPr lang="en-US" sz="1400" dirty="0"/>
          </a:p>
        </p:txBody>
      </p:sp>
      <p:sp>
        <p:nvSpPr>
          <p:cNvPr id="13" name="Target 3">
            <a:extLst>
              <a:ext uri="{C183D7F6-B498-43B3-948B-1728B52AA6E4}">
                <adec:decorative xmlns:adec="http://schemas.microsoft.com/office/drawing/2017/decorative" val="1"/>
              </a:ext>
            </a:extLst>
          </p:cNvPr>
          <p:cNvSpPr/>
          <p:nvPr/>
        </p:nvSpPr>
        <p:spPr>
          <a:xfrm>
            <a:off x="548640" y="3291840"/>
            <a:ext cx="5669280" cy="438912"/>
          </a:xfrm>
          <a:prstGeom prst="roundRect">
            <a:avLst>
              <a:gd name="adj" fmla="val 16667"/>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4" name="Target 3 text"/>
          <p:cNvSpPr txBox="1"/>
          <p:nvPr/>
        </p:nvSpPr>
        <p:spPr>
          <a:xfrm>
            <a:off x="731520" y="3291840"/>
            <a:ext cx="5394960" cy="438912"/>
          </a:xfrm>
          <a:prstGeom prst="rect">
            <a:avLst/>
          </a:prstGeom>
          <a:noFill/>
          <a:ln/>
        </p:spPr>
        <p:txBody>
          <a:bodyPr wrap="square" lIns="0" tIns="0" rIns="0" bIns="0" rtlCol="0" anchor="ctr"/>
          <a:lstStyle/>
          <a:p>
            <a:pPr marL="0" indent="0">
              <a:buNone/>
            </a:pPr>
            <a:r>
              <a:rPr lang="en-US" sz="1400" b="1" dirty="0">
                <a:solidFill>
                  <a:srgbClr val="1F2A44"/>
                </a:solidFill>
              </a:rPr>
              <a:t>Scripts and drives   </a:t>
            </a:r>
            <a:r>
              <a:rPr lang="en-US" sz="1400" dirty="0">
                <a:solidFill>
                  <a:schemeClr val="tx2"/>
                </a:solidFill>
              </a:rPr>
              <a:t>Remediations; OneDrive, SharePoint</a:t>
            </a:r>
            <a:endParaRPr lang="en-US" sz="1400" dirty="0"/>
          </a:p>
        </p:txBody>
      </p:sp>
      <p:sp>
        <p:nvSpPr>
          <p:cNvPr id="15" name="Target 4">
            <a:extLst>
              <a:ext uri="{C183D7F6-B498-43B3-948B-1728B52AA6E4}">
                <adec:decorative xmlns:adec="http://schemas.microsoft.com/office/drawing/2017/decorative" val="1"/>
              </a:ext>
            </a:extLst>
          </p:cNvPr>
          <p:cNvSpPr/>
          <p:nvPr/>
        </p:nvSpPr>
        <p:spPr>
          <a:xfrm>
            <a:off x="548640" y="3803904"/>
            <a:ext cx="5669280" cy="438912"/>
          </a:xfrm>
          <a:prstGeom prst="roundRect">
            <a:avLst>
              <a:gd name="adj" fmla="val 16667"/>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6" name="Target 4 text"/>
          <p:cNvSpPr txBox="1"/>
          <p:nvPr/>
        </p:nvSpPr>
        <p:spPr>
          <a:xfrm>
            <a:off x="731520" y="3803904"/>
            <a:ext cx="5394960" cy="438912"/>
          </a:xfrm>
          <a:prstGeom prst="rect">
            <a:avLst/>
          </a:prstGeom>
          <a:noFill/>
          <a:ln/>
        </p:spPr>
        <p:txBody>
          <a:bodyPr wrap="square" lIns="0" tIns="0" rIns="0" bIns="0" rtlCol="0" anchor="ctr"/>
          <a:lstStyle/>
          <a:p>
            <a:pPr marL="0" indent="0">
              <a:buNone/>
            </a:pPr>
            <a:r>
              <a:rPr lang="en-US" sz="1400" b="1" dirty="0">
                <a:solidFill>
                  <a:srgbClr val="1F2A44"/>
                </a:solidFill>
              </a:rPr>
              <a:t>Access control   </a:t>
            </a:r>
            <a:r>
              <a:rPr lang="en-US" sz="1400" dirty="0">
                <a:solidFill>
                  <a:schemeClr val="tx2"/>
                </a:solidFill>
              </a:rPr>
              <a:t>Conditional Access</a:t>
            </a:r>
            <a:endParaRPr lang="en-US" sz="1400" dirty="0"/>
          </a:p>
        </p:txBody>
      </p:sp>
      <p:sp>
        <p:nvSpPr>
          <p:cNvPr id="17" name="Target 5">
            <a:extLst>
              <a:ext uri="{C183D7F6-B498-43B3-948B-1728B52AA6E4}">
                <adec:decorative xmlns:adec="http://schemas.microsoft.com/office/drawing/2017/decorative" val="1"/>
              </a:ext>
            </a:extLst>
          </p:cNvPr>
          <p:cNvSpPr/>
          <p:nvPr/>
        </p:nvSpPr>
        <p:spPr>
          <a:xfrm>
            <a:off x="548640" y="4315968"/>
            <a:ext cx="5669280" cy="438912"/>
          </a:xfrm>
          <a:prstGeom prst="roundRect">
            <a:avLst>
              <a:gd name="adj" fmla="val 16667"/>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8" name="Target 5 text"/>
          <p:cNvSpPr txBox="1"/>
          <p:nvPr/>
        </p:nvSpPr>
        <p:spPr>
          <a:xfrm>
            <a:off x="731520" y="4315968"/>
            <a:ext cx="5394960" cy="438912"/>
          </a:xfrm>
          <a:prstGeom prst="rect">
            <a:avLst/>
          </a:prstGeom>
          <a:noFill/>
          <a:ln/>
        </p:spPr>
        <p:txBody>
          <a:bodyPr wrap="square" lIns="0" tIns="0" rIns="0" bIns="0" rtlCol="0" anchor="ctr"/>
          <a:lstStyle/>
          <a:p>
            <a:pPr marL="0" indent="0">
              <a:buNone/>
            </a:pPr>
            <a:r>
              <a:rPr lang="en-US" sz="1400" b="1" dirty="0">
                <a:solidFill>
                  <a:srgbClr val="1F2A44"/>
                </a:solidFill>
              </a:rPr>
              <a:t>Servers   </a:t>
            </a:r>
            <a:r>
              <a:rPr lang="en-US" sz="1400" dirty="0">
                <a:solidFill>
                  <a:schemeClr val="tx2"/>
                </a:solidFill>
              </a:rPr>
              <a:t>Azure machine configuration through Arc</a:t>
            </a:r>
            <a:endParaRPr lang="en-US" sz="1400" dirty="0"/>
          </a:p>
        </p:txBody>
      </p:sp>
      <p:sp>
        <p:nvSpPr>
          <p:cNvPr id="19" name="Stages box">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20" name="Icon FaClipboardCheck">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B45309"/>
          </a:solidFill>
          <a:ln w="12700">
            <a:solidFill>
              <a:srgbClr val="B45309"/>
            </a:solidFill>
            <a:prstDash val="solid"/>
          </a:ln>
        </p:spPr>
      </p:sp>
      <p:pic>
        <p:nvPicPr>
          <p:cNvPr id="2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78848" y="1758208"/>
            <a:ext cx="342351" cy="342351"/>
          </a:xfrm>
          <a:prstGeom prst="rect">
            <a:avLst/>
          </a:prstGeom>
        </p:spPr>
      </p:pic>
      <p:sp>
        <p:nvSpPr>
          <p:cNvPr id="22" name="Stages head"/>
          <p:cNvSpPr txBox="1"/>
          <p:nvPr/>
        </p:nvSpPr>
        <p:spPr>
          <a:xfrm>
            <a:off x="7543800" y="1572768"/>
            <a:ext cx="4023360" cy="822960"/>
          </a:xfrm>
          <a:prstGeom prst="rect">
            <a:avLst/>
          </a:prstGeom>
          <a:noFill/>
          <a:ln/>
        </p:spPr>
        <p:txBody>
          <a:bodyPr wrap="square" lIns="0" tIns="0" rIns="0" bIns="0" rtlCol="0" anchor="ctr"/>
          <a:lstStyle/>
          <a:p>
            <a:pPr marL="0" indent="0">
              <a:buNone/>
            </a:pPr>
            <a:r>
              <a:rPr lang="en-US" sz="1200" b="1" dirty="0">
                <a:solidFill>
                  <a:srgbClr val="64748B"/>
                </a:solidFill>
              </a:rPr>
              <a:t>WHAT EVERY POLICY CHANGE PASSES</a:t>
            </a:r>
            <a:endParaRPr lang="en-US" sz="1400" dirty="0"/>
          </a:p>
          <a:p>
            <a:pPr marL="0" indent="0">
              <a:buNone/>
            </a:pPr>
            <a:r>
              <a:rPr lang="en-US" sz="1800" b="1" dirty="0">
                <a:solidFill>
                  <a:srgbClr val="B45309"/>
                </a:solidFill>
                <a:latin typeface="Cambria" pitchFamily="34" charset="0"/>
                <a:ea typeface="Cambria" pitchFamily="34" charset="-122"/>
                <a:cs typeface="Cambria" pitchFamily="34" charset="-120"/>
              </a:rPr>
              <a:t>Four stages, none skipped</a:t>
            </a:r>
            <a:endParaRPr lang="en-US" sz="1400" dirty="0"/>
          </a:p>
        </p:txBody>
      </p:sp>
      <p:sp>
        <p:nvSpPr>
          <p:cNvPr id="23" name="Stages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chemeClr val="tx2"/>
                </a:solidFill>
              </a:rPr>
              <a:t>Plan validation: one owning layer</a:t>
            </a:r>
            <a:endParaRPr lang="en-US" sz="1400" dirty="0"/>
          </a:p>
          <a:p>
            <a:pPr marL="342900" indent="-342900">
              <a:spcAft>
                <a:spcPts val="600"/>
              </a:spcAft>
              <a:buSzPct val="100000"/>
              <a:buChar char="•"/>
            </a:pPr>
            <a:r>
              <a:rPr lang="en-US" sz="1450" dirty="0">
                <a:solidFill>
                  <a:schemeClr val="tx2"/>
                </a:solidFill>
              </a:rPr>
              <a:t>A simulated tenant asserts the effect</a:t>
            </a:r>
            <a:endParaRPr lang="en-US" sz="1400" dirty="0"/>
          </a:p>
          <a:p>
            <a:pPr marL="342900" indent="-342900">
              <a:spcAft>
                <a:spcPts val="600"/>
              </a:spcAft>
              <a:buSzPct val="100000"/>
              <a:buChar char="•"/>
            </a:pPr>
            <a:r>
              <a:rPr lang="en-US" sz="1450" dirty="0">
                <a:solidFill>
                  <a:schemeClr val="tx2"/>
                </a:solidFill>
              </a:rPr>
              <a:t>Pilot, with Conditional Access report-only</a:t>
            </a:r>
            <a:endParaRPr lang="en-US" sz="1400" dirty="0"/>
          </a:p>
          <a:p>
            <a:pPr marL="342900" indent="-342900">
              <a:spcAft>
                <a:spcPts val="600"/>
              </a:spcAft>
              <a:buSzPct val="100000"/>
              <a:buChar char="•"/>
            </a:pPr>
            <a:r>
              <a:rPr lang="en-US" sz="1450" dirty="0">
                <a:solidFill>
                  <a:schemeClr val="tx2"/>
                </a:solidFill>
              </a:rPr>
              <a:t>Production, after a clean pilot</a:t>
            </a:r>
            <a:endParaRPr lang="en-US" sz="1400" dirty="0"/>
          </a:p>
        </p:txBody>
      </p:sp>
      <p:sp>
        <p:nvSpPr>
          <p:cNvPr id="24" name="Require">
            <a:extLst>
              <a:ext uri="{C183D7F6-B498-43B3-948B-1728B52AA6E4}">
                <adec:decorative xmlns:adec="http://schemas.microsoft.com/office/drawing/2017/decorative" val="1"/>
              </a:ext>
            </a:extLst>
          </p:cNvPr>
          <p:cNvSpPr/>
          <p:nvPr/>
        </p:nvSpPr>
        <p:spPr>
          <a:xfrm>
            <a:off x="548640" y="4983480"/>
            <a:ext cx="11109960" cy="960120"/>
          </a:xfrm>
          <a:prstGeom prst="roundRect">
            <a:avLst>
              <a:gd name="adj" fmla="val 7619"/>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25" name="Icon FaDoorClosed">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0F766E"/>
          </a:solidFill>
          <a:ln w="12700">
            <a:solidFill>
              <a:srgbClr val="0F766E"/>
            </a:solidFill>
            <a:prstDash val="solid"/>
          </a:ln>
        </p:spPr>
      </p:sp>
      <p:pic>
        <p:nvPicPr>
          <p:cNvPr id="26"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73345"/>
            <a:ext cx="380390" cy="380390"/>
          </a:xfrm>
          <a:prstGeom prst="rect">
            <a:avLst/>
          </a:prstGeom>
        </p:spPr>
      </p:pic>
      <p:sp>
        <p:nvSpPr>
          <p:cNvPr id="27" name="Require text"/>
          <p:cNvSpPr txBox="1"/>
          <p:nvPr/>
        </p:nvSpPr>
        <p:spPr>
          <a:xfrm>
            <a:off x="1737360" y="5029200"/>
            <a:ext cx="9738360" cy="868680"/>
          </a:xfrm>
          <a:prstGeom prst="rect">
            <a:avLst/>
          </a:prstGeom>
          <a:noFill/>
          <a:ln/>
        </p:spPr>
        <p:txBody>
          <a:bodyPr wrap="square" lIns="0" tIns="0" rIns="0" bIns="0" rtlCol="0" anchor="ctr"/>
          <a:lstStyle/>
          <a:p>
            <a:pPr marL="0" indent="0">
              <a:buNone/>
            </a:pPr>
            <a:r>
              <a:rPr lang="en-US" sz="1650" b="1" dirty="0">
                <a:solidFill>
                  <a:srgbClr val="0F766E"/>
                </a:solidFill>
              </a:rPr>
              <a:t>Prefer require to block: </a:t>
            </a:r>
            <a:r>
              <a:rPr lang="en-US" sz="1650" dirty="0">
                <a:solidFill>
                  <a:schemeClr val="tx2"/>
                </a:solidFill>
              </a:rPr>
              <a:t>a bad block locks users out; a bad require adds a step. Block where the SCuBA baseline demands it, such as legacy authentication and high-risk sign-ins.</a:t>
            </a:r>
            <a:endParaRPr lang="en-US" sz="1650" dirty="0"/>
          </a:p>
        </p:txBody>
      </p:sp>
      <p:sp>
        <p:nvSpPr>
          <p:cNvPr id="2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Group Policy overview, cloud-native endpoint planning, Intune conflicts, Conditional Access planning; CISA BOD 25-01 and SCuBA. Book 01, Chapter 05.</a:t>
            </a:r>
            <a:endParaRPr lang="en-US" sz="1000" dirty="0"/>
          </a:p>
        </p:txBody>
      </p:sp>
      <p:sp>
        <p:nvSpPr>
          <p:cNvPr id="29"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30" name="Narration" descr="Narration for this slide; captions available">
            <a:hlinkClick r:id="" action="ppaction://media"/>
            <a:extLst>
              <a:ext uri="{FF2B5EF4-FFF2-40B4-BE49-F238E27FC236}">
                <a16:creationId xmlns:a16="http://schemas.microsoft.com/office/drawing/2014/main" id="{629CBD26-CC01-D645-C958-7677C8A4949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803D47F-AD5E-457F-85C2-4ED677ED6E44}"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6980"/>
    </mc:Choice>
    <mc:Fallback>
      <p:transition spd="slow" advTm="669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5976" fill="hold"/>
                                        <p:tgtEl>
                                          <p:spTgt spid="3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DNS, DHCP and IPAM move together, and with AD</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In depth"/>
          <p:cNvSpPr txBox="1"/>
          <p:nvPr/>
        </p:nvSpPr>
        <p:spPr>
          <a:xfrm>
            <a:off x="8001000" y="109728"/>
            <a:ext cx="3657600" cy="292608"/>
          </a:xfrm>
          <a:prstGeom prst="rect">
            <a:avLst/>
          </a:prstGeom>
          <a:noFill/>
          <a:ln/>
        </p:spPr>
        <p:txBody>
          <a:bodyPr wrap="square" lIns="0" tIns="0" rIns="0" bIns="0" rtlCol="0" anchor="ctr"/>
          <a:lstStyle/>
          <a:p>
            <a:pPr marL="0" indent="0" algn="r">
              <a:buNone/>
            </a:pPr>
            <a:r>
              <a:rPr lang="en-US" sz="1100" b="1" kern="0" spc="100" dirty="0">
                <a:solidFill>
                  <a:srgbClr val="0F766E"/>
                </a:solidFill>
              </a:rPr>
              <a:t>IN DEPTH: BOOKS 08 AND 09</a:t>
            </a:r>
            <a:endParaRPr lang="en-US" sz="1100" dirty="0"/>
          </a:p>
        </p:txBody>
      </p:sp>
      <p:sp>
        <p:nvSpPr>
          <p:cNvPr id="6" name="Svc card 1">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Globe">
            <a:extLst>
              <a:ext uri="{C183D7F6-B498-43B3-948B-1728B52AA6E4}">
                <adec:decorative xmlns:adec="http://schemas.microsoft.com/office/drawing/2017/decorative" val="1"/>
              </a:ext>
            </a:extLst>
          </p:cNvPr>
          <p:cNvSpPr/>
          <p:nvPr/>
        </p:nvSpPr>
        <p:spPr>
          <a:xfrm>
            <a:off x="749808" y="1572768"/>
            <a:ext cx="566928" cy="566928"/>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708831"/>
            <a:ext cx="294803" cy="294803"/>
          </a:xfrm>
          <a:prstGeom prst="rect">
            <a:avLst/>
          </a:prstGeom>
        </p:spPr>
      </p:pic>
      <p:sp>
        <p:nvSpPr>
          <p:cNvPr id="9" name="Svc head 1"/>
          <p:cNvSpPr txBox="1"/>
          <p:nvPr/>
        </p:nvSpPr>
        <p:spPr>
          <a:xfrm>
            <a:off x="1463040" y="1572768"/>
            <a:ext cx="2560320" cy="566928"/>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DNS</a:t>
            </a:r>
            <a:endParaRPr lang="en-US" sz="1700" dirty="0"/>
          </a:p>
        </p:txBody>
      </p:sp>
      <p:sp>
        <p:nvSpPr>
          <p:cNvPr id="10" name="Svc text 1"/>
          <p:cNvSpPr txBox="1"/>
          <p:nvPr/>
        </p:nvSpPr>
        <p:spPr>
          <a:xfrm>
            <a:off x="77724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AD-integrated zones replicate with AD</a:t>
            </a:r>
            <a:endParaRPr lang="en-US" sz="1400" dirty="0"/>
          </a:p>
          <a:p>
            <a:pPr marL="342900" indent="-342900">
              <a:spcAft>
                <a:spcPts val="600"/>
              </a:spcAft>
              <a:buSzPct val="100000"/>
              <a:buChar char="•"/>
            </a:pPr>
            <a:r>
              <a:rPr lang="en-US" sz="1300" dirty="0">
                <a:solidFill>
                  <a:schemeClr val="tx2"/>
                </a:solidFill>
              </a:rPr>
              <a:t>Clients find DCs through DNS records</a:t>
            </a:r>
            <a:endParaRPr lang="en-US" sz="1400" dirty="0"/>
          </a:p>
          <a:p>
            <a:pPr marL="342900" indent="-342900">
              <a:spcAft>
                <a:spcPts val="600"/>
              </a:spcAft>
              <a:buSzPct val="100000"/>
              <a:buChar char="•"/>
            </a:pPr>
            <a:r>
              <a:rPr lang="en-US" sz="1300" dirty="0">
                <a:solidFill>
                  <a:schemeClr val="tx2"/>
                </a:solidFill>
              </a:rPr>
              <a:t>Target: a governed authority, Private Resolver as a bridge, private zones</a:t>
            </a:r>
            <a:endParaRPr lang="en-US" sz="1400" dirty="0"/>
          </a:p>
          <a:p>
            <a:pPr marL="342900" indent="-342900">
              <a:spcAft>
                <a:spcPts val="600"/>
              </a:spcAft>
              <a:buSzPct val="100000"/>
              <a:buChar char="•"/>
            </a:pPr>
            <a:r>
              <a:rPr lang="en-US" sz="1300" dirty="0">
                <a:solidFill>
                  <a:schemeClr val="tx2"/>
                </a:solidFill>
              </a:rPr>
              <a:t>The domain's own zones go last</a:t>
            </a:r>
            <a:endParaRPr lang="en-US" sz="1400" dirty="0"/>
          </a:p>
        </p:txBody>
      </p:sp>
      <p:sp>
        <p:nvSpPr>
          <p:cNvPr id="11" name="Svc card 2">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2" name="Icon FaHashtag">
            <a:extLst>
              <a:ext uri="{C183D7F6-B498-43B3-948B-1728B52AA6E4}">
                <adec:decorative xmlns:adec="http://schemas.microsoft.com/office/drawing/2017/decorative" val="1"/>
              </a:ext>
            </a:extLst>
          </p:cNvPr>
          <p:cNvSpPr/>
          <p:nvPr/>
        </p:nvSpPr>
        <p:spPr>
          <a:xfrm>
            <a:off x="4498848" y="1572768"/>
            <a:ext cx="566928" cy="566928"/>
          </a:xfrm>
          <a:prstGeom prst="ellipse">
            <a:avLst/>
          </a:prstGeom>
          <a:solidFill>
            <a:srgbClr val="0F766E"/>
          </a:solidFill>
          <a:ln w="12700">
            <a:solidFill>
              <a:srgbClr val="0F766E"/>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34911" y="1708831"/>
            <a:ext cx="294803" cy="294803"/>
          </a:xfrm>
          <a:prstGeom prst="rect">
            <a:avLst/>
          </a:prstGeom>
        </p:spPr>
      </p:pic>
      <p:sp>
        <p:nvSpPr>
          <p:cNvPr id="14" name="Svc head 2"/>
          <p:cNvSpPr txBox="1"/>
          <p:nvPr/>
        </p:nvSpPr>
        <p:spPr>
          <a:xfrm>
            <a:off x="5212080" y="1572768"/>
            <a:ext cx="2560320" cy="566928"/>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DHCP</a:t>
            </a:r>
            <a:endParaRPr lang="en-US" sz="1700" dirty="0"/>
          </a:p>
        </p:txBody>
      </p:sp>
      <p:sp>
        <p:nvSpPr>
          <p:cNvPr id="15" name="Svc text 2"/>
          <p:cNvSpPr txBox="1"/>
          <p:nvPr/>
        </p:nvSpPr>
        <p:spPr>
          <a:xfrm>
            <a:off x="452628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Authorized in AD; checks every hour</a:t>
            </a:r>
            <a:endParaRPr lang="en-US" sz="1400" dirty="0"/>
          </a:p>
          <a:p>
            <a:pPr marL="342900" indent="-342900">
              <a:spcAft>
                <a:spcPts val="600"/>
              </a:spcAft>
              <a:buSzPct val="100000"/>
              <a:buChar char="•"/>
            </a:pPr>
            <a:r>
              <a:rPr lang="en-US" sz="1300" dirty="0">
                <a:solidFill>
                  <a:schemeClr val="tx2"/>
                </a:solidFill>
              </a:rPr>
              <a:t>Stops unauthorized Windows servers, not rogue devices</a:t>
            </a:r>
            <a:endParaRPr lang="en-US" sz="1400" dirty="0"/>
          </a:p>
          <a:p>
            <a:pPr marL="342900" indent="-342900">
              <a:spcAft>
                <a:spcPts val="600"/>
              </a:spcAft>
              <a:buSzPct val="100000"/>
              <a:buChar char="•"/>
            </a:pPr>
            <a:r>
              <a:rPr lang="en-US" sz="1300" dirty="0">
                <a:solidFill>
                  <a:schemeClr val="tx2"/>
                </a:solidFill>
              </a:rPr>
              <a:t>Azure DHCP reaches on-premises only through a relay</a:t>
            </a:r>
            <a:endParaRPr lang="en-US" sz="1400" dirty="0"/>
          </a:p>
        </p:txBody>
      </p:sp>
      <p:sp>
        <p:nvSpPr>
          <p:cNvPr id="16" name="Svc card 3">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7" name="Icon FaTableList">
            <a:extLst>
              <a:ext uri="{C183D7F6-B498-43B3-948B-1728B52AA6E4}">
                <adec:decorative xmlns:adec="http://schemas.microsoft.com/office/drawing/2017/decorative" val="1"/>
              </a:ext>
            </a:extLst>
          </p:cNvPr>
          <p:cNvSpPr/>
          <p:nvPr/>
        </p:nvSpPr>
        <p:spPr>
          <a:xfrm>
            <a:off x="8247888" y="1572768"/>
            <a:ext cx="566928" cy="566928"/>
          </a:xfrm>
          <a:prstGeom prst="ellipse">
            <a:avLst/>
          </a:prstGeom>
          <a:solidFill>
            <a:srgbClr val="B45309"/>
          </a:solidFill>
          <a:ln w="12700">
            <a:solidFill>
              <a:srgbClr val="B45309"/>
            </a:solidFill>
            <a:prstDash val="solid"/>
          </a:ln>
        </p:spPr>
      </p:sp>
      <p:pic>
        <p:nvPicPr>
          <p:cNvPr id="18"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83951" y="1708831"/>
            <a:ext cx="294803" cy="294803"/>
          </a:xfrm>
          <a:prstGeom prst="rect">
            <a:avLst/>
          </a:prstGeom>
        </p:spPr>
      </p:pic>
      <p:sp>
        <p:nvSpPr>
          <p:cNvPr id="19" name="Svc head 3"/>
          <p:cNvSpPr txBox="1"/>
          <p:nvPr/>
        </p:nvSpPr>
        <p:spPr>
          <a:xfrm>
            <a:off x="8961120" y="1572768"/>
            <a:ext cx="2560320" cy="566928"/>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IPAM</a:t>
            </a:r>
            <a:endParaRPr lang="en-US" sz="1700" dirty="0"/>
          </a:p>
        </p:txBody>
      </p:sp>
      <p:sp>
        <p:nvSpPr>
          <p:cNvPr id="20" name="Svc text 3"/>
          <p:cNvSpPr txBox="1"/>
          <p:nvPr/>
        </p:nvSpPr>
        <p:spPr>
          <a:xfrm>
            <a:off x="827532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Often one person's spreadsheet</a:t>
            </a:r>
            <a:endParaRPr lang="en-US" sz="1400" dirty="0"/>
          </a:p>
          <a:p>
            <a:pPr marL="342900" indent="-342900">
              <a:spcAft>
                <a:spcPts val="600"/>
              </a:spcAft>
              <a:buSzPct val="100000"/>
              <a:buChar char="•"/>
            </a:pPr>
            <a:r>
              <a:rPr lang="en-US" sz="1300" dirty="0">
                <a:solidFill>
                  <a:schemeClr val="tx2"/>
                </a:solidFill>
              </a:rPr>
              <a:t>One authority, on-premises and cloud</a:t>
            </a:r>
            <a:endParaRPr lang="en-US" sz="1400" dirty="0"/>
          </a:p>
          <a:p>
            <a:pPr marL="342900" indent="-342900">
              <a:spcAft>
                <a:spcPts val="600"/>
              </a:spcAft>
              <a:buSzPct val="100000"/>
              <a:buChar char="•"/>
            </a:pPr>
            <a:r>
              <a:rPr lang="en-US" sz="1300" dirty="0">
                <a:solidFill>
                  <a:schemeClr val="tx2"/>
                </a:solidFill>
              </a:rPr>
              <a:t>DNS and DHCP derive from it</a:t>
            </a:r>
            <a:endParaRPr lang="en-US" sz="1400" dirty="0"/>
          </a:p>
          <a:p>
            <a:pPr marL="342900" indent="-342900">
              <a:spcAft>
                <a:spcPts val="600"/>
              </a:spcAft>
              <a:buSzPct val="100000"/>
              <a:buChar char="•"/>
            </a:pPr>
            <a:r>
              <a:rPr lang="en-US" sz="1300" dirty="0">
                <a:solidFill>
                  <a:schemeClr val="tx2"/>
                </a:solidFill>
              </a:rPr>
              <a:t>Disagreement is hierarchy drift</a:t>
            </a:r>
            <a:endParaRPr lang="en-US" sz="1400" dirty="0"/>
          </a:p>
        </p:txBody>
      </p:sp>
      <p:sp>
        <p:nvSpPr>
          <p:cNvPr id="21" name="Phase 2">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2" name="Icon FaTriangleExclamation">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23"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52805" y="5204765"/>
            <a:ext cx="380390" cy="380390"/>
          </a:xfrm>
          <a:prstGeom prst="rect">
            <a:avLst/>
          </a:prstGeom>
        </p:spPr>
      </p:pic>
      <p:sp>
        <p:nvSpPr>
          <p:cNvPr id="24" name="Phase 2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Why "Phase 2" never comes: </a:t>
            </a:r>
            <a:r>
              <a:rPr lang="en-US" sz="1650" dirty="0">
                <a:solidFill>
                  <a:schemeClr val="tx2"/>
                </a:solidFill>
              </a:rPr>
              <a:t>identity moves, DNS stays AD-integrated, and AD can never retire. A forest that still hosts AD-integrated DNS has not been retired.</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AD-integrated DNS zones, DC locator, DNS Private Resolver, DHCP authorization, Virtual Network Manager IPAM; NIST SP 800-53. Book 01, Chapter 06.</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0D9E3B84-EB44-F761-ADD9-488DBECB79C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9226733-643A-40CC-814F-7CA798204444}"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4380"/>
    </mc:Choice>
    <mc:Fallback>
      <p:transition spd="slow" advTm="643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3384"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Compute: the domain join is the last thing to go</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In depth"/>
          <p:cNvSpPr txBox="1"/>
          <p:nvPr/>
        </p:nvSpPr>
        <p:spPr>
          <a:xfrm>
            <a:off x="8001000" y="109728"/>
            <a:ext cx="3657600" cy="292608"/>
          </a:xfrm>
          <a:prstGeom prst="rect">
            <a:avLst/>
          </a:prstGeom>
          <a:noFill/>
          <a:ln/>
        </p:spPr>
        <p:txBody>
          <a:bodyPr wrap="square" lIns="0" tIns="0" rIns="0" bIns="0" rtlCol="0" anchor="ctr"/>
          <a:lstStyle/>
          <a:p>
            <a:pPr marL="0" indent="0" algn="r">
              <a:buNone/>
            </a:pPr>
            <a:r>
              <a:rPr lang="en-US" sz="1100" b="1" kern="0" spc="100" dirty="0">
                <a:solidFill>
                  <a:srgbClr val="0F766E"/>
                </a:solidFill>
              </a:rPr>
              <a:t>IN DEPTH: BOOKS 05 AND 06</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73736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38404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Device state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Managed by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Use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2920">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Domain-joined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Group Policy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Migration origin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350" b="1" dirty="0">
                          <a:solidFill>
                            <a:srgbClr val="B45309"/>
                          </a:solidFill>
                          <a:latin typeface="Calibri" pitchFamily="34" charset="0"/>
                          <a:ea typeface="Calibri" pitchFamily="34" charset="-122"/>
                          <a:cs typeface="Calibri" pitchFamily="34" charset="-120"/>
                        </a:rPr>
                        <a:t>Hybrid joined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Group Policy and Intune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Waypoint, not a target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Entra joined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Intune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b="1" dirty="0">
                          <a:solidFill>
                            <a:srgbClr val="0F766E"/>
                          </a:solidFill>
                          <a:latin typeface="Calibri" pitchFamily="34" charset="0"/>
                          <a:ea typeface="Calibri" pitchFamily="34" charset="-122"/>
                          <a:cs typeface="Calibri" pitchFamily="34" charset="-120"/>
                        </a:rPr>
                        <a:t>Target for user PCs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Arc-connected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Arc, Azure Policy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b="1" dirty="0">
                          <a:solidFill>
                            <a:srgbClr val="0F766E"/>
                          </a:solidFill>
                          <a:latin typeface="Calibri" pitchFamily="34" charset="0"/>
                          <a:ea typeface="Calibri" pitchFamily="34" charset="-122"/>
                          <a:cs typeface="Calibri" pitchFamily="34" charset="-120"/>
                        </a:rPr>
                        <a:t>Target for servers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Table note"/>
          <p:cNvSpPr txBox="1"/>
          <p:nvPr/>
        </p:nvSpPr>
        <p:spPr>
          <a:xfrm>
            <a:off x="548640" y="3886200"/>
            <a:ext cx="6309360" cy="731520"/>
          </a:xfrm>
          <a:prstGeom prst="rect">
            <a:avLst/>
          </a:prstGeom>
          <a:noFill/>
          <a:ln/>
        </p:spPr>
        <p:txBody>
          <a:bodyPr wrap="square" lIns="0" tIns="0" rIns="0" bIns="0" rtlCol="0" anchor="t"/>
          <a:lstStyle/>
          <a:p>
            <a:pPr marL="0" indent="0">
              <a:buNone/>
            </a:pPr>
            <a:r>
              <a:rPr lang="en-US" sz="1250" i="1" dirty="0">
                <a:solidFill>
                  <a:srgbClr val="64748B"/>
                </a:solidFill>
              </a:rPr>
              <a:t>No supported path converts a hybrid-joined device to Entra join without resetting Windows, so time the move to a refresh.</a:t>
            </a:r>
            <a:endParaRPr lang="en-US" sz="1250" dirty="0"/>
          </a:p>
        </p:txBody>
      </p:sp>
      <p:sp>
        <p:nvSpPr>
          <p:cNvPr id="8" name="SPN box">
            <a:extLst>
              <a:ext uri="{C183D7F6-B498-43B3-948B-1728B52AA6E4}">
                <adec:decorative xmlns:adec="http://schemas.microsoft.com/office/drawing/2017/decorative" val="1"/>
              </a:ext>
            </a:extLst>
          </p:cNvPr>
          <p:cNvSpPr/>
          <p:nvPr/>
        </p:nvSpPr>
        <p:spPr>
          <a:xfrm>
            <a:off x="7086600" y="1371600"/>
            <a:ext cx="4572000" cy="3246120"/>
          </a:xfrm>
          <a:prstGeom prst="roundRect">
            <a:avLst>
              <a:gd name="adj" fmla="val 22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Icon FaServer">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1F2A44"/>
          </a:solidFill>
          <a:ln w="12700">
            <a:solidFill>
              <a:srgbClr val="1F2A44"/>
            </a:solidFill>
            <a:prstDash val="solid"/>
          </a:ln>
        </p:spPr>
      </p:sp>
      <p:pic>
        <p:nvPicPr>
          <p:cNvPr id="1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67866"/>
            <a:ext cx="285293" cy="285293"/>
          </a:xfrm>
          <a:prstGeom prst="rect">
            <a:avLst/>
          </a:prstGeom>
        </p:spPr>
      </p:pic>
      <p:sp>
        <p:nvSpPr>
          <p:cNvPr id="6" name="SPN head"/>
          <p:cNvSpPr txBox="1"/>
          <p:nvPr/>
        </p:nvSpPr>
        <p:spPr>
          <a:xfrm>
            <a:off x="8001000" y="1536192"/>
            <a:ext cx="356616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Every SPN needs a decision</a:t>
            </a:r>
            <a:endParaRPr lang="en-US" sz="1700" dirty="0"/>
          </a:p>
        </p:txBody>
      </p:sp>
      <p:sp>
        <p:nvSpPr>
          <p:cNvPr id="12" name="SPN list"/>
          <p:cNvSpPr txBox="1"/>
          <p:nvPr/>
        </p:nvSpPr>
        <p:spPr>
          <a:xfrm>
            <a:off x="7315200" y="2212848"/>
            <a:ext cx="4206240" cy="2331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Migrate: OAuth 2.0 and OpenID Connect</a:t>
            </a:r>
            <a:endParaRPr lang="en-US" sz="1400" dirty="0"/>
          </a:p>
          <a:p>
            <a:pPr marL="342900" indent="-342900">
              <a:spcAft>
                <a:spcPts val="600"/>
              </a:spcAft>
              <a:buSzPct val="100000"/>
              <a:buChar char="•"/>
            </a:pPr>
            <a:r>
              <a:rPr lang="en-US" sz="1400" dirty="0">
                <a:solidFill>
                  <a:schemeClr val="tx2"/>
                </a:solidFill>
              </a:rPr>
              <a:t>Retire: often the cheapest option</a:t>
            </a:r>
            <a:endParaRPr lang="en-US" sz="1400" dirty="0"/>
          </a:p>
          <a:p>
            <a:pPr marL="342900" indent="-342900">
              <a:spcAft>
                <a:spcPts val="600"/>
              </a:spcAft>
              <a:buSzPct val="100000"/>
              <a:buChar char="•"/>
            </a:pPr>
            <a:r>
              <a:rPr lang="en-US" sz="1400" dirty="0">
                <a:solidFill>
                  <a:schemeClr val="tx2"/>
                </a:solidFill>
              </a:rPr>
              <a:t>Island: last resort, with an end-of-life date</a:t>
            </a:r>
            <a:endParaRPr lang="en-US" sz="1400" dirty="0"/>
          </a:p>
          <a:p>
            <a:pPr marL="342900" indent="-342900">
              <a:spcAft>
                <a:spcPts val="600"/>
              </a:spcAft>
              <a:buSzPct val="100000"/>
              <a:buChar char="•"/>
            </a:pPr>
            <a:r>
              <a:rPr lang="en-US" sz="1400" dirty="0">
                <a:solidFill>
                  <a:schemeClr val="tx2"/>
                </a:solidFill>
              </a:rPr>
              <a:t>No server leaves the domain until each is resolved</a:t>
            </a:r>
            <a:endParaRPr lang="en-US" sz="1400" dirty="0"/>
          </a:p>
        </p:txBody>
      </p:sp>
      <p:sp>
        <p:nvSpPr>
          <p:cNvPr id="13" name="Data">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4" name="Icon FaDatabase">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45309"/>
          </a:solidFill>
          <a:ln w="12700">
            <a:solidFill>
              <a:srgbClr val="B45309"/>
            </a:solidFill>
            <a:prstDash val="solid"/>
          </a:ln>
        </p:spPr>
      </p:sp>
      <p:pic>
        <p:nvPicPr>
          <p:cNvPr id="15"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181905"/>
            <a:ext cx="380390" cy="380390"/>
          </a:xfrm>
          <a:prstGeom prst="rect">
            <a:avLst/>
          </a:prstGeom>
        </p:spPr>
      </p:pic>
      <p:sp>
        <p:nvSpPr>
          <p:cNvPr id="16" name="Data text"/>
          <p:cNvSpPr txBox="1"/>
          <p:nvPr/>
        </p:nvSpPr>
        <p:spPr>
          <a:xfrm>
            <a:off x="1737360" y="4846320"/>
            <a:ext cx="9738360" cy="1051560"/>
          </a:xfrm>
          <a:prstGeom prst="rect">
            <a:avLst/>
          </a:prstGeom>
          <a:noFill/>
          <a:ln/>
        </p:spPr>
        <p:txBody>
          <a:bodyPr wrap="square" lIns="0" tIns="0" rIns="0" bIns="0" rtlCol="0" anchor="ctr"/>
          <a:lstStyle/>
          <a:p>
            <a:pPr marL="0" indent="0">
              <a:buNone/>
            </a:pPr>
            <a:r>
              <a:rPr lang="en-US" sz="1650" b="1" dirty="0">
                <a:solidFill>
                  <a:srgbClr val="B45309"/>
                </a:solidFill>
              </a:rPr>
              <a:t>Compute stays with its data: </a:t>
            </a:r>
            <a:r>
              <a:rPr lang="en-US" sz="1650" dirty="0">
                <a:solidFill>
                  <a:schemeClr val="tx2"/>
                </a:solidFill>
              </a:rPr>
              <a:t>every synchronous call pays the network's delay, and separation multiplies it by the round trips. Profile and reduce them first; bandwidth doesn't remove the delay.</a:t>
            </a:r>
            <a:endParaRPr lang="en-US" sz="165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device identity, Entra join types, hybrid join planning, Autopilot, Azure Arc, Kerberos constrained delegation, NTLM deprecation. Book 01, Chapter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28B50D67-0073-6A9D-DC2A-D2CA7FBD07D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5F5E1A2-5504-4B36-B60D-BA07C705D6E1}"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0420"/>
    </mc:Choice>
    <mc:Fallback>
      <p:transition spd="slow" advTm="604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9424"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access plane: every request decided again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In depth"/>
          <p:cNvSpPr txBox="1"/>
          <p:nvPr/>
        </p:nvSpPr>
        <p:spPr>
          <a:xfrm>
            <a:off x="8001000" y="109728"/>
            <a:ext cx="3657600" cy="292608"/>
          </a:xfrm>
          <a:prstGeom prst="rect">
            <a:avLst/>
          </a:prstGeom>
          <a:noFill/>
          <a:ln/>
        </p:spPr>
        <p:txBody>
          <a:bodyPr wrap="square" lIns="0" tIns="0" rIns="0" bIns="0" rtlCol="0" anchor="ctr"/>
          <a:lstStyle/>
          <a:p>
            <a:pPr marL="0" indent="0" algn="r">
              <a:buNone/>
            </a:pPr>
            <a:r>
              <a:rPr lang="en-US" sz="1100" b="1" kern="0" spc="100" dirty="0">
                <a:solidFill>
                  <a:srgbClr val="0F766E"/>
                </a:solidFill>
              </a:rPr>
              <a:t>IN DEPTH: BOOKS 04 AND 07</a:t>
            </a:r>
            <a:endParaRPr lang="en-US" sz="1100" dirty="0"/>
          </a:p>
        </p:txBody>
      </p:sp>
      <p:sp>
        <p:nvSpPr>
          <p:cNvPr id="6" name="Surface 1">
            <a:extLst>
              <a:ext uri="{C183D7F6-B498-43B3-948B-1728B52AA6E4}">
                <adec:decorative xmlns:adec="http://schemas.microsoft.com/office/drawing/2017/decorative" val="1"/>
              </a:ext>
            </a:extLst>
          </p:cNvPr>
          <p:cNvSpPr/>
          <p:nvPr/>
        </p:nvSpPr>
        <p:spPr>
          <a:xfrm>
            <a:off x="548640" y="1371600"/>
            <a:ext cx="2697480" cy="1005840"/>
          </a:xfrm>
          <a:prstGeom prst="roundRect">
            <a:avLst>
              <a:gd name="adj" fmla="val 727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Surface 1 text"/>
          <p:cNvSpPr txBox="1"/>
          <p:nvPr/>
        </p:nvSpPr>
        <p:spPr>
          <a:xfrm>
            <a:off x="685800" y="1417320"/>
            <a:ext cx="2468880" cy="914400"/>
          </a:xfrm>
          <a:prstGeom prst="rect">
            <a:avLst/>
          </a:prstGeom>
          <a:noFill/>
          <a:ln/>
        </p:spPr>
        <p:txBody>
          <a:bodyPr wrap="square" lIns="0" tIns="0" rIns="0" bIns="0" rtlCol="0" anchor="ctr"/>
          <a:lstStyle/>
          <a:p>
            <a:pPr marL="0" indent="0">
              <a:buNone/>
            </a:pPr>
            <a:r>
              <a:rPr lang="en-US" sz="1500" b="1" dirty="0">
                <a:solidFill>
                  <a:srgbClr val="1F2A44"/>
                </a:solidFill>
              </a:rPr>
              <a:t>Zero Trust</a:t>
            </a:r>
            <a:endParaRPr lang="en-US" sz="1400" dirty="0"/>
          </a:p>
          <a:p>
            <a:pPr marL="0" indent="0">
              <a:buNone/>
            </a:pPr>
            <a:r>
              <a:rPr lang="en-US" sz="1300" dirty="0">
                <a:solidFill>
                  <a:schemeClr val="tx2"/>
                </a:solidFill>
              </a:rPr>
              <a:t>The model: no trust from network location</a:t>
            </a:r>
            <a:endParaRPr lang="en-US" sz="1400" dirty="0"/>
          </a:p>
        </p:txBody>
      </p:sp>
      <p:sp>
        <p:nvSpPr>
          <p:cNvPr id="8" name="Surface 2">
            <a:extLst>
              <a:ext uri="{C183D7F6-B498-43B3-948B-1728B52AA6E4}">
                <adec:decorative xmlns:adec="http://schemas.microsoft.com/office/drawing/2017/decorative" val="1"/>
              </a:ext>
            </a:extLst>
          </p:cNvPr>
          <p:cNvSpPr/>
          <p:nvPr/>
        </p:nvSpPr>
        <p:spPr>
          <a:xfrm>
            <a:off x="3360420" y="1371600"/>
            <a:ext cx="2697480" cy="1005840"/>
          </a:xfrm>
          <a:prstGeom prst="roundRect">
            <a:avLst>
              <a:gd name="adj" fmla="val 7273"/>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Surface 2 text"/>
          <p:cNvSpPr txBox="1"/>
          <p:nvPr/>
        </p:nvSpPr>
        <p:spPr>
          <a:xfrm>
            <a:off x="3497580" y="1417320"/>
            <a:ext cx="2468880" cy="914400"/>
          </a:xfrm>
          <a:prstGeom prst="rect">
            <a:avLst/>
          </a:prstGeom>
          <a:noFill/>
          <a:ln/>
        </p:spPr>
        <p:txBody>
          <a:bodyPr wrap="square" lIns="0" tIns="0" rIns="0" bIns="0" rtlCol="0" anchor="ctr"/>
          <a:lstStyle/>
          <a:p>
            <a:pPr marL="0" indent="0">
              <a:buNone/>
            </a:pPr>
            <a:r>
              <a:rPr lang="en-US" sz="1500" b="1" dirty="0">
                <a:solidFill>
                  <a:srgbClr val="0F766E"/>
                </a:solidFill>
              </a:rPr>
              <a:t>Conditional Access</a:t>
            </a:r>
            <a:endParaRPr lang="en-US" sz="1400" dirty="0"/>
          </a:p>
          <a:p>
            <a:pPr marL="0" indent="0">
              <a:buNone/>
            </a:pPr>
            <a:r>
              <a:rPr lang="en-US" sz="1300" dirty="0">
                <a:solidFill>
                  <a:schemeClr val="tx2"/>
                </a:solidFill>
              </a:rPr>
              <a:t>The decision, made per request</a:t>
            </a:r>
            <a:endParaRPr lang="en-US" sz="1400" dirty="0"/>
          </a:p>
        </p:txBody>
      </p:sp>
      <p:sp>
        <p:nvSpPr>
          <p:cNvPr id="10" name="Surface 3">
            <a:extLst>
              <a:ext uri="{C183D7F6-B498-43B3-948B-1728B52AA6E4}">
                <adec:decorative xmlns:adec="http://schemas.microsoft.com/office/drawing/2017/decorative" val="1"/>
              </a:ext>
            </a:extLst>
          </p:cNvPr>
          <p:cNvSpPr/>
          <p:nvPr/>
        </p:nvSpPr>
        <p:spPr>
          <a:xfrm>
            <a:off x="6172200" y="1371600"/>
            <a:ext cx="2697480" cy="1005840"/>
          </a:xfrm>
          <a:prstGeom prst="roundRect">
            <a:avLst>
              <a:gd name="adj" fmla="val 7273"/>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1" name="Surface 3 text"/>
          <p:cNvSpPr txBox="1"/>
          <p:nvPr/>
        </p:nvSpPr>
        <p:spPr>
          <a:xfrm>
            <a:off x="6309360" y="1417320"/>
            <a:ext cx="2468880" cy="914400"/>
          </a:xfrm>
          <a:prstGeom prst="rect">
            <a:avLst/>
          </a:prstGeom>
          <a:noFill/>
          <a:ln/>
        </p:spPr>
        <p:txBody>
          <a:bodyPr wrap="square" lIns="0" tIns="0" rIns="0" bIns="0" rtlCol="0" anchor="ctr"/>
          <a:lstStyle/>
          <a:p>
            <a:pPr marL="0" indent="0">
              <a:buNone/>
            </a:pPr>
            <a:r>
              <a:rPr lang="en-US" sz="1500" b="1" dirty="0">
                <a:solidFill>
                  <a:srgbClr val="B45309"/>
                </a:solidFill>
              </a:rPr>
              <a:t>SASE</a:t>
            </a:r>
            <a:endParaRPr lang="en-US" sz="1400" dirty="0"/>
          </a:p>
          <a:p>
            <a:pPr marL="0" indent="0">
              <a:buNone/>
            </a:pPr>
            <a:r>
              <a:rPr lang="en-US" sz="1300" dirty="0">
                <a:solidFill>
                  <a:schemeClr val="tx2"/>
                </a:solidFill>
              </a:rPr>
              <a:t>The edge: ZTNA in place of VPN</a:t>
            </a:r>
            <a:endParaRPr lang="en-US" sz="1400" dirty="0"/>
          </a:p>
        </p:txBody>
      </p:sp>
      <p:sp>
        <p:nvSpPr>
          <p:cNvPr id="12" name="Surface 4">
            <a:extLst>
              <a:ext uri="{C183D7F6-B498-43B3-948B-1728B52AA6E4}">
                <adec:decorative xmlns:adec="http://schemas.microsoft.com/office/drawing/2017/decorative" val="1"/>
              </a:ext>
            </a:extLst>
          </p:cNvPr>
          <p:cNvSpPr/>
          <p:nvPr/>
        </p:nvSpPr>
        <p:spPr>
          <a:xfrm>
            <a:off x="8983980" y="1371600"/>
            <a:ext cx="2697480" cy="1005840"/>
          </a:xfrm>
          <a:prstGeom prst="roundRect">
            <a:avLst>
              <a:gd name="adj" fmla="val 7273"/>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3" name="Surface 4 text"/>
          <p:cNvSpPr txBox="1"/>
          <p:nvPr/>
        </p:nvSpPr>
        <p:spPr>
          <a:xfrm>
            <a:off x="9121140" y="1417320"/>
            <a:ext cx="2468880" cy="914400"/>
          </a:xfrm>
          <a:prstGeom prst="rect">
            <a:avLst/>
          </a:prstGeom>
          <a:noFill/>
          <a:ln/>
        </p:spPr>
        <p:txBody>
          <a:bodyPr wrap="square" lIns="0" tIns="0" rIns="0" bIns="0" rtlCol="0" anchor="ctr"/>
          <a:lstStyle/>
          <a:p>
            <a:pPr marL="0" indent="0">
              <a:buNone/>
            </a:pPr>
            <a:r>
              <a:rPr lang="en-US" sz="1500" b="1" dirty="0">
                <a:solidFill>
                  <a:srgbClr val="B91C1C"/>
                </a:solidFill>
              </a:rPr>
              <a:t>Phishing-resistant MFA</a:t>
            </a:r>
            <a:endParaRPr lang="en-US" sz="1400" dirty="0"/>
          </a:p>
          <a:p>
            <a:pPr marL="0" indent="0">
              <a:buNone/>
            </a:pPr>
            <a:r>
              <a:rPr lang="en-US" sz="1300" dirty="0">
                <a:solidFill>
                  <a:schemeClr val="tx2"/>
                </a:solidFill>
              </a:rPr>
              <a:t>The proof: FIDO2, Windows Hello, PIV</a:t>
            </a:r>
            <a:endParaRPr lang="en-US" sz="1400" dirty="0"/>
          </a:p>
        </p:txBody>
      </p:sp>
      <p:sp>
        <p:nvSpPr>
          <p:cNvPr id="14" name="Panel 1">
            <a:extLst>
              <a:ext uri="{C183D7F6-B498-43B3-948B-1728B52AA6E4}">
                <adec:decorative xmlns:adec="http://schemas.microsoft.com/office/drawing/2017/decorative" val="1"/>
              </a:ext>
            </a:extLst>
          </p:cNvPr>
          <p:cNvSpPr/>
          <p:nvPr/>
        </p:nvSpPr>
        <p:spPr>
          <a:xfrm>
            <a:off x="548640" y="2560320"/>
            <a:ext cx="5486400" cy="2057400"/>
          </a:xfrm>
          <a:prstGeom prst="roundRect">
            <a:avLst>
              <a:gd name="adj" fmla="val 355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5" name="Icon FaIdCard">
            <a:extLst>
              <a:ext uri="{C183D7F6-B498-43B3-948B-1728B52AA6E4}">
                <adec:decorative xmlns:adec="http://schemas.microsoft.com/office/drawing/2017/decorative" val="1"/>
              </a:ext>
            </a:extLst>
          </p:cNvPr>
          <p:cNvSpPr/>
          <p:nvPr/>
        </p:nvSpPr>
        <p:spPr>
          <a:xfrm>
            <a:off x="731520" y="2651760"/>
            <a:ext cx="512064" cy="512064"/>
          </a:xfrm>
          <a:prstGeom prst="ellipse">
            <a:avLst/>
          </a:prstGeom>
          <a:solidFill>
            <a:srgbClr val="1F2A44"/>
          </a:solidFill>
          <a:ln w="12700">
            <a:solidFill>
              <a:srgbClr val="1F2A44"/>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54415" y="2774655"/>
            <a:ext cx="266273" cy="266273"/>
          </a:xfrm>
          <a:prstGeom prst="rect">
            <a:avLst/>
          </a:prstGeom>
        </p:spPr>
      </p:pic>
      <p:sp>
        <p:nvSpPr>
          <p:cNvPr id="17" name="Panel head 1"/>
          <p:cNvSpPr txBox="1"/>
          <p:nvPr/>
        </p:nvSpPr>
        <p:spPr>
          <a:xfrm>
            <a:off x="1417320" y="2651760"/>
            <a:ext cx="4480560" cy="512064"/>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Smart cards, re-anchored</a:t>
            </a:r>
            <a:endParaRPr lang="en-US" sz="1700" dirty="0"/>
          </a:p>
        </p:txBody>
      </p:sp>
      <p:sp>
        <p:nvSpPr>
          <p:cNvPr id="18" name="Panel text 1"/>
          <p:cNvSpPr txBox="1"/>
          <p:nvPr/>
        </p:nvSpPr>
        <p:spPr>
          <a:xfrm>
            <a:off x="777240" y="3246120"/>
            <a:ext cx="5120640" cy="1298448"/>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Card and PIN stay; Entra ID validates the chain</a:t>
            </a:r>
            <a:endParaRPr lang="en-US" sz="1400" dirty="0"/>
          </a:p>
          <a:p>
            <a:pPr marL="342900" indent="-342900">
              <a:spcAft>
                <a:spcPts val="400"/>
              </a:spcAft>
              <a:buSzPct val="100000"/>
              <a:buChar char="•"/>
            </a:pPr>
            <a:r>
              <a:rPr lang="en-US" sz="1350" dirty="0">
                <a:solidFill>
                  <a:schemeClr val="tx2"/>
                </a:solidFill>
              </a:rPr>
              <a:t>Multifactor only if the binding policy says so</a:t>
            </a:r>
            <a:endParaRPr lang="en-US" sz="1400" dirty="0"/>
          </a:p>
          <a:p>
            <a:pPr marL="342900" indent="-342900">
              <a:spcAft>
                <a:spcPts val="400"/>
              </a:spcAft>
              <a:buSzPct val="100000"/>
              <a:buChar char="•"/>
            </a:pPr>
            <a:r>
              <a:rPr lang="en-US" sz="1350" dirty="0">
                <a:solidFill>
                  <a:schemeClr val="tx2"/>
                </a:solidFill>
              </a:rPr>
              <a:t>Issuance moves first: an enterprise CA needs AD DS</a:t>
            </a:r>
            <a:endParaRPr lang="en-US" sz="1400" dirty="0"/>
          </a:p>
        </p:txBody>
      </p:sp>
      <p:sp>
        <p:nvSpPr>
          <p:cNvPr id="19" name="Panel 2">
            <a:extLst>
              <a:ext uri="{C183D7F6-B498-43B3-948B-1728B52AA6E4}">
                <adec:decorative xmlns:adec="http://schemas.microsoft.com/office/drawing/2017/decorative" val="1"/>
              </a:ext>
            </a:extLst>
          </p:cNvPr>
          <p:cNvSpPr/>
          <p:nvPr/>
        </p:nvSpPr>
        <p:spPr>
          <a:xfrm>
            <a:off x="6172200" y="2560320"/>
            <a:ext cx="5486400" cy="2057400"/>
          </a:xfrm>
          <a:prstGeom prst="roundRect">
            <a:avLst>
              <a:gd name="adj" fmla="val 355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0" name="Icon FaUserShield">
            <a:extLst>
              <a:ext uri="{C183D7F6-B498-43B3-948B-1728B52AA6E4}">
                <adec:decorative xmlns:adec="http://schemas.microsoft.com/office/drawing/2017/decorative" val="1"/>
              </a:ext>
            </a:extLst>
          </p:cNvPr>
          <p:cNvSpPr/>
          <p:nvPr/>
        </p:nvSpPr>
        <p:spPr>
          <a:xfrm>
            <a:off x="6355080" y="2651760"/>
            <a:ext cx="512064" cy="512064"/>
          </a:xfrm>
          <a:prstGeom prst="ellipse">
            <a:avLst/>
          </a:prstGeom>
          <a:solidFill>
            <a:srgbClr val="0F766E"/>
          </a:solidFill>
          <a:ln w="12700">
            <a:solidFill>
              <a:srgbClr val="0F766E"/>
            </a:solidFill>
            <a:prstDash val="solid"/>
          </a:ln>
        </p:spPr>
      </p:sp>
      <p:pic>
        <p:nvPicPr>
          <p:cNvPr id="2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477975" y="2774655"/>
            <a:ext cx="266273" cy="266273"/>
          </a:xfrm>
          <a:prstGeom prst="rect">
            <a:avLst/>
          </a:prstGeom>
        </p:spPr>
      </p:pic>
      <p:sp>
        <p:nvSpPr>
          <p:cNvPr id="22" name="Panel head 2"/>
          <p:cNvSpPr txBox="1"/>
          <p:nvPr/>
        </p:nvSpPr>
        <p:spPr>
          <a:xfrm>
            <a:off x="7040880" y="2651760"/>
            <a:ext cx="4480560" cy="512064"/>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No standing privilege</a:t>
            </a:r>
            <a:endParaRPr lang="en-US" sz="1700" dirty="0"/>
          </a:p>
        </p:txBody>
      </p:sp>
      <p:sp>
        <p:nvSpPr>
          <p:cNvPr id="23" name="Panel text 2"/>
          <p:cNvSpPr txBox="1"/>
          <p:nvPr/>
        </p:nvSpPr>
        <p:spPr>
          <a:xfrm>
            <a:off x="6400800" y="3246120"/>
            <a:ext cx="5120640" cy="1298448"/>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Administrator roles eligible in PIM, just in time</a:t>
            </a:r>
            <a:endParaRPr lang="en-US" sz="1400" dirty="0"/>
          </a:p>
          <a:p>
            <a:pPr marL="342900" indent="-342900">
              <a:spcAft>
                <a:spcPts val="400"/>
              </a:spcAft>
              <a:buSzPct val="100000"/>
              <a:buChar char="•"/>
            </a:pPr>
            <a:r>
              <a:rPr lang="en-US" sz="1350" dirty="0">
                <a:solidFill>
                  <a:schemeClr val="tx2"/>
                </a:solidFill>
              </a:rPr>
              <a:t>A vault for what PIM can't govern</a:t>
            </a:r>
            <a:endParaRPr lang="en-US" sz="1400" dirty="0"/>
          </a:p>
          <a:p>
            <a:pPr marL="342900" indent="-342900">
              <a:spcAft>
                <a:spcPts val="400"/>
              </a:spcAft>
              <a:buSzPct val="100000"/>
              <a:buChar char="•"/>
            </a:pPr>
            <a:r>
              <a:rPr lang="en-US" sz="1350" dirty="0">
                <a:solidFill>
                  <a:schemeClr val="tx2"/>
                </a:solidFill>
              </a:rPr>
              <a:t>CAE revokes sessions on critical events</a:t>
            </a:r>
            <a:endParaRPr lang="en-US" sz="1400" dirty="0"/>
          </a:p>
        </p:txBody>
      </p:sp>
      <p:sp>
        <p:nvSpPr>
          <p:cNvPr id="24" name="Apps">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5" name="Icon FaLock">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1F2A44"/>
          </a:solidFill>
          <a:ln w="12700">
            <a:solidFill>
              <a:srgbClr val="1F2A44"/>
            </a:solidFill>
            <a:prstDash val="solid"/>
          </a:ln>
        </p:spPr>
      </p:sp>
      <p:pic>
        <p:nvPicPr>
          <p:cNvPr id="26"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181905"/>
            <a:ext cx="380390" cy="380390"/>
          </a:xfrm>
          <a:prstGeom prst="rect">
            <a:avLst/>
          </a:prstGeom>
        </p:spPr>
      </p:pic>
      <p:sp>
        <p:nvSpPr>
          <p:cNvPr id="27" name="Apps text"/>
          <p:cNvSpPr txBox="1"/>
          <p:nvPr/>
        </p:nvSpPr>
        <p:spPr>
          <a:xfrm>
            <a:off x="1737360" y="4846320"/>
            <a:ext cx="9738360" cy="1051560"/>
          </a:xfrm>
          <a:prstGeom prst="rect">
            <a:avLst/>
          </a:prstGeom>
          <a:noFill/>
          <a:ln/>
        </p:spPr>
        <p:txBody>
          <a:bodyPr wrap="square" lIns="0" tIns="0" rIns="0" bIns="0" rtlCol="0" anchor="ctr"/>
          <a:lstStyle/>
          <a:p>
            <a:pPr marL="0" indent="0">
              <a:buNone/>
            </a:pPr>
            <a:r>
              <a:rPr lang="en-US" sz="1650" b="1" dirty="0">
                <a:solidFill>
                  <a:srgbClr val="1F2A44"/>
                </a:solidFill>
              </a:rPr>
              <a:t>Log into applications, not networks: </a:t>
            </a:r>
            <a:r>
              <a:rPr lang="en-US" sz="1650" dirty="0">
                <a:solidFill>
                  <a:schemeClr val="tx2"/>
                </a:solidFill>
              </a:rPr>
              <a:t>OMB M-22-09 requires phishing-resistant MFA for staff, contractors and partners, and BOD 25-01 makes blocking legacy authentication mandatory.</a:t>
            </a:r>
            <a:endParaRPr lang="en-US" sz="1650" dirty="0"/>
          </a:p>
        </p:txBody>
      </p:sp>
      <p:sp>
        <p:nvSpPr>
          <p:cNvPr id="2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M-22-09; NIST SP 800-207; CISA BOD 25-01, SCuBA, ZTMM v2.0, SASE guidance; Microsoft Learn — Entra CBA, AD CS enterprise CAs, PIM, continuous access evaluation. Book 01, Chapter 08.</a:t>
            </a:r>
            <a:endParaRPr lang="en-US" sz="1000" dirty="0"/>
          </a:p>
        </p:txBody>
      </p:sp>
      <p:sp>
        <p:nvSpPr>
          <p:cNvPr id="29"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30" name="Narration" descr="Narration for this slide; captions available">
            <a:hlinkClick r:id="" action="ppaction://media"/>
            <a:extLst>
              <a:ext uri="{FF2B5EF4-FFF2-40B4-BE49-F238E27FC236}">
                <a16:creationId xmlns:a16="http://schemas.microsoft.com/office/drawing/2014/main" id="{B1B706D5-096D-534B-D0F6-13B1BB7C06F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90EDBED-E6D2-4785-A6A7-C99B6A8C30F7}"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9950"/>
    </mc:Choice>
    <mc:Fallback>
      <p:transition spd="slow" advTm="699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8952" fill="hold"/>
                                        <p:tgtEl>
                                          <p:spTgt spid="3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Instruments versus orchestra: who leads it</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Who col 1">
            <a:extLst>
              <a:ext uri="{C183D7F6-B498-43B3-948B-1728B52AA6E4}">
                <adec:decorative xmlns:adec="http://schemas.microsoft.com/office/drawing/2017/decorative" val="1"/>
              </a:ext>
            </a:extLst>
          </p:cNvPr>
          <p:cNvSpPr/>
          <p:nvPr/>
        </p:nvSpPr>
        <p:spPr>
          <a:xfrm>
            <a:off x="548640" y="1371600"/>
            <a:ext cx="3611880" cy="2514600"/>
          </a:xfrm>
          <a:prstGeom prst="roundRect">
            <a:avLst>
              <a:gd name="adj" fmla="val 2909"/>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BuildingColumns">
            <a:extLst>
              <a:ext uri="{C183D7F6-B498-43B3-948B-1728B52AA6E4}">
                <adec:decorative xmlns:adec="http://schemas.microsoft.com/office/drawing/2017/decorative" val="1"/>
              </a:ext>
            </a:extLst>
          </p:cNvPr>
          <p:cNvSpPr/>
          <p:nvPr/>
        </p:nvSpPr>
        <p:spPr>
          <a:xfrm>
            <a:off x="749808" y="1490472"/>
            <a:ext cx="512064" cy="512064"/>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72703" y="1613367"/>
            <a:ext cx="266273" cy="266273"/>
          </a:xfrm>
          <a:prstGeom prst="rect">
            <a:avLst/>
          </a:prstGeom>
        </p:spPr>
      </p:pic>
      <p:sp>
        <p:nvSpPr>
          <p:cNvPr id="8" name="Who head 1"/>
          <p:cNvSpPr txBox="1"/>
          <p:nvPr/>
        </p:nvSpPr>
        <p:spPr>
          <a:xfrm>
            <a:off x="1417320" y="1490472"/>
            <a:ext cx="2651760" cy="512064"/>
          </a:xfrm>
          <a:prstGeom prst="rect">
            <a:avLst/>
          </a:prstGeom>
          <a:noFill/>
          <a:ln/>
        </p:spPr>
        <p:txBody>
          <a:bodyPr wrap="square" lIns="0" tIns="0" rIns="0" bIns="0" rtlCol="0" anchor="ctr"/>
          <a:lstStyle/>
          <a:p>
            <a:pPr marL="0" indent="0">
              <a:buNone/>
            </a:pPr>
            <a:r>
              <a:rPr lang="en-US" sz="1800" b="1" dirty="0">
                <a:solidFill>
                  <a:srgbClr val="1F2A44"/>
                </a:solidFill>
                <a:latin typeface="Cambria" pitchFamily="34" charset="0"/>
                <a:ea typeface="Cambria" pitchFamily="34" charset="-122"/>
                <a:cs typeface="Cambria" pitchFamily="34" charset="-120"/>
              </a:rPr>
              <a:t>Decide</a:t>
            </a:r>
            <a:endParaRPr lang="en-US" sz="1800" dirty="0"/>
          </a:p>
        </p:txBody>
      </p:sp>
      <p:sp>
        <p:nvSpPr>
          <p:cNvPr id="9" name="Who text 1"/>
          <p:cNvSpPr txBox="1"/>
          <p:nvPr/>
        </p:nvSpPr>
        <p:spPr>
          <a:xfrm>
            <a:off x="777240" y="2103120"/>
            <a:ext cx="3246120" cy="1737360"/>
          </a:xfrm>
          <a:prstGeom prst="rect">
            <a:avLst/>
          </a:prstGeom>
          <a:noFill/>
          <a:ln/>
        </p:spPr>
        <p:txBody>
          <a:bodyPr wrap="square" lIns="0" tIns="0" rIns="0" bIns="0" rtlCol="0" anchor="t"/>
          <a:lstStyle/>
          <a:p>
            <a:pPr marL="0" indent="0">
              <a:spcAft>
                <a:spcPts val="400"/>
              </a:spcAft>
              <a:buNone/>
            </a:pPr>
            <a:r>
              <a:rPr lang="en-US" sz="1300" b="1" dirty="0">
                <a:solidFill>
                  <a:srgbClr val="1F2A44"/>
                </a:solidFill>
              </a:rPr>
              <a:t>Sponsor and CIO</a:t>
            </a:r>
            <a:endParaRPr lang="en-US" sz="1300" dirty="0"/>
          </a:p>
          <a:p>
            <a:pPr marL="0" indent="0">
              <a:spcAft>
                <a:spcPts val="400"/>
              </a:spcAft>
              <a:buNone/>
            </a:pPr>
            <a:r>
              <a:rPr lang="en-US" sz="1300" dirty="0">
                <a:solidFill>
                  <a:schemeClr val="tx2"/>
                </a:solidFill>
              </a:rPr>
              <a:t>Scope, funding, sequence, AD retirement</a:t>
            </a:r>
            <a:endParaRPr lang="en-US" sz="1300" dirty="0"/>
          </a:p>
          <a:p>
            <a:pPr marL="0" indent="0">
              <a:spcAft>
                <a:spcPts val="400"/>
              </a:spcAft>
              <a:buNone/>
            </a:pPr>
            <a:r>
              <a:rPr lang="en-US" sz="1300" b="1" dirty="0">
                <a:solidFill>
                  <a:srgbClr val="1F2A44"/>
                </a:solidFill>
              </a:rPr>
              <a:t>Authorizing official</a:t>
            </a:r>
            <a:endParaRPr lang="en-US" sz="1300" dirty="0"/>
          </a:p>
          <a:p>
            <a:pPr marL="0" indent="0">
              <a:spcAft>
                <a:spcPts val="400"/>
              </a:spcAft>
              <a:buNone/>
            </a:pPr>
            <a:r>
              <a:rPr lang="en-US" sz="1300" dirty="0">
                <a:solidFill>
                  <a:schemeClr val="tx2"/>
                </a:solidFill>
              </a:rPr>
              <a:t>The only official who accepts risk</a:t>
            </a:r>
            <a:endParaRPr lang="en-US" sz="1300" dirty="0"/>
          </a:p>
          <a:p>
            <a:pPr marL="0" indent="0">
              <a:spcAft>
                <a:spcPts val="400"/>
              </a:spcAft>
              <a:buNone/>
            </a:pPr>
            <a:r>
              <a:rPr lang="en-US" sz="1300" b="1" dirty="0">
                <a:solidFill>
                  <a:srgbClr val="1F2A44"/>
                </a:solidFill>
              </a:rPr>
              <a:t>CISO</a:t>
            </a:r>
            <a:endParaRPr lang="en-US" sz="1300" dirty="0"/>
          </a:p>
          <a:p>
            <a:pPr marL="0" indent="0">
              <a:spcAft>
                <a:spcPts val="400"/>
              </a:spcAft>
              <a:buNone/>
            </a:pPr>
            <a:r>
              <a:rPr lang="en-US" sz="1300" dirty="0">
                <a:solidFill>
                  <a:schemeClr val="tx2"/>
                </a:solidFill>
              </a:rPr>
              <a:t>Control requirements and logging</a:t>
            </a:r>
            <a:endParaRPr lang="en-US" sz="1300" dirty="0"/>
          </a:p>
        </p:txBody>
      </p:sp>
      <p:sp>
        <p:nvSpPr>
          <p:cNvPr id="10" name="Who col 2">
            <a:extLst>
              <a:ext uri="{C183D7F6-B498-43B3-948B-1728B52AA6E4}">
                <adec:decorative xmlns:adec="http://schemas.microsoft.com/office/drawing/2017/decorative" val="1"/>
              </a:ext>
            </a:extLst>
          </p:cNvPr>
          <p:cNvSpPr/>
          <p:nvPr/>
        </p:nvSpPr>
        <p:spPr>
          <a:xfrm>
            <a:off x="4297680" y="1371600"/>
            <a:ext cx="3611880" cy="2514600"/>
          </a:xfrm>
          <a:prstGeom prst="roundRect">
            <a:avLst>
              <a:gd name="adj" fmla="val 2909"/>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ClipboardCheck">
            <a:extLst>
              <a:ext uri="{C183D7F6-B498-43B3-948B-1728B52AA6E4}">
                <adec:decorative xmlns:adec="http://schemas.microsoft.com/office/drawing/2017/decorative" val="1"/>
              </a:ext>
            </a:extLst>
          </p:cNvPr>
          <p:cNvSpPr/>
          <p:nvPr/>
        </p:nvSpPr>
        <p:spPr>
          <a:xfrm>
            <a:off x="4498848" y="1490472"/>
            <a:ext cx="512064" cy="512064"/>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21743" y="1613367"/>
            <a:ext cx="266273" cy="266273"/>
          </a:xfrm>
          <a:prstGeom prst="rect">
            <a:avLst/>
          </a:prstGeom>
        </p:spPr>
      </p:pic>
      <p:sp>
        <p:nvSpPr>
          <p:cNvPr id="13" name="Who head 2"/>
          <p:cNvSpPr txBox="1"/>
          <p:nvPr/>
        </p:nvSpPr>
        <p:spPr>
          <a:xfrm>
            <a:off x="5166360" y="1490472"/>
            <a:ext cx="2651760" cy="512064"/>
          </a:xfrm>
          <a:prstGeom prst="rect">
            <a:avLst/>
          </a:prstGeom>
          <a:noFill/>
          <a:ln/>
        </p:spPr>
        <p:txBody>
          <a:bodyPr wrap="square" lIns="0" tIns="0" rIns="0" bIns="0" rtlCol="0" anchor="ctr"/>
          <a:lstStyle/>
          <a:p>
            <a:pPr marL="0" indent="0">
              <a:buNone/>
            </a:pPr>
            <a:r>
              <a:rPr lang="en-US" sz="1800" b="1" dirty="0">
                <a:solidFill>
                  <a:srgbClr val="0F766E"/>
                </a:solidFill>
                <a:latin typeface="Cambria" pitchFamily="34" charset="0"/>
                <a:ea typeface="Cambria" pitchFamily="34" charset="-122"/>
                <a:cs typeface="Cambria" pitchFamily="34" charset="-120"/>
              </a:rPr>
              <a:t>Run the program</a:t>
            </a:r>
            <a:endParaRPr lang="en-US" sz="1800" dirty="0"/>
          </a:p>
        </p:txBody>
      </p:sp>
      <p:sp>
        <p:nvSpPr>
          <p:cNvPr id="14" name="Who text 2"/>
          <p:cNvSpPr txBox="1"/>
          <p:nvPr/>
        </p:nvSpPr>
        <p:spPr>
          <a:xfrm>
            <a:off x="4526280" y="2103120"/>
            <a:ext cx="3246120" cy="1737360"/>
          </a:xfrm>
          <a:prstGeom prst="rect">
            <a:avLst/>
          </a:prstGeom>
          <a:noFill/>
          <a:ln/>
        </p:spPr>
        <p:txBody>
          <a:bodyPr wrap="square" lIns="0" tIns="0" rIns="0" bIns="0" rtlCol="0" anchor="t"/>
          <a:lstStyle/>
          <a:p>
            <a:pPr marL="0" indent="0">
              <a:spcAft>
                <a:spcPts val="400"/>
              </a:spcAft>
              <a:buNone/>
            </a:pPr>
            <a:r>
              <a:rPr lang="en-US" sz="1300" b="1" dirty="0">
                <a:solidFill>
                  <a:srgbClr val="0F766E"/>
                </a:solidFill>
              </a:rPr>
              <a:t>Program office and steward</a:t>
            </a:r>
            <a:endParaRPr lang="en-US" sz="1300" dirty="0"/>
          </a:p>
          <a:p>
            <a:pPr marL="0" indent="0">
              <a:spcAft>
                <a:spcPts val="400"/>
              </a:spcAft>
              <a:buNone/>
            </a:pPr>
            <a:r>
              <a:rPr lang="en-US" sz="1300" dirty="0">
                <a:solidFill>
                  <a:schemeClr val="tx2"/>
                </a:solidFill>
              </a:rPr>
              <a:t>Repository, plans; gates G0, G1, G4</a:t>
            </a:r>
            <a:endParaRPr lang="en-US" sz="1300" dirty="0"/>
          </a:p>
          <a:p>
            <a:pPr marL="0" indent="0">
              <a:spcAft>
                <a:spcPts val="400"/>
              </a:spcAft>
              <a:buNone/>
            </a:pPr>
            <a:r>
              <a:rPr lang="en-US" sz="1300" b="1" dirty="0">
                <a:solidFill>
                  <a:srgbClr val="0F766E"/>
                </a:solidFill>
              </a:rPr>
              <a:t>HR and contractor sources</a:t>
            </a:r>
            <a:endParaRPr lang="en-US" sz="1300" dirty="0"/>
          </a:p>
          <a:p>
            <a:pPr marL="0" indent="0">
              <a:spcAft>
                <a:spcPts val="400"/>
              </a:spcAft>
              <a:buNone/>
            </a:pPr>
            <a:r>
              <a:rPr lang="en-US" sz="1300" dirty="0">
                <a:solidFill>
                  <a:schemeClr val="tx2"/>
                </a:solidFill>
              </a:rPr>
              <a:t>What worker attributes mean</a:t>
            </a:r>
            <a:endParaRPr lang="en-US" sz="1300" dirty="0"/>
          </a:p>
          <a:p>
            <a:pPr marL="0" indent="0">
              <a:spcAft>
                <a:spcPts val="400"/>
              </a:spcAft>
              <a:buNone/>
            </a:pPr>
            <a:r>
              <a:rPr lang="en-US" sz="1300" b="1" dirty="0">
                <a:solidFill>
                  <a:srgbClr val="0F766E"/>
                </a:solidFill>
              </a:rPr>
              <a:t>Records and privacy</a:t>
            </a:r>
            <a:endParaRPr lang="en-US" sz="1300" dirty="0"/>
          </a:p>
          <a:p>
            <a:pPr marL="0" indent="0">
              <a:spcAft>
                <a:spcPts val="400"/>
              </a:spcAft>
              <a:buNone/>
            </a:pPr>
            <a:r>
              <a:rPr lang="en-US" sz="1300" dirty="0">
                <a:solidFill>
                  <a:schemeClr val="tx2"/>
                </a:solidFill>
              </a:rPr>
              <a:t>Retention before decommission</a:t>
            </a:r>
            <a:endParaRPr lang="en-US" sz="1300" dirty="0"/>
          </a:p>
        </p:txBody>
      </p:sp>
      <p:sp>
        <p:nvSpPr>
          <p:cNvPr id="15" name="Who col 3">
            <a:extLst>
              <a:ext uri="{C183D7F6-B498-43B3-948B-1728B52AA6E4}">
                <adec:decorative xmlns:adec="http://schemas.microsoft.com/office/drawing/2017/decorative" val="1"/>
              </a:ext>
            </a:extLst>
          </p:cNvPr>
          <p:cNvSpPr/>
          <p:nvPr/>
        </p:nvSpPr>
        <p:spPr>
          <a:xfrm>
            <a:off x="8046720" y="1371600"/>
            <a:ext cx="3611880" cy="2514600"/>
          </a:xfrm>
          <a:prstGeom prst="roundRect">
            <a:avLst>
              <a:gd name="adj" fmla="val 2909"/>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UsersGear">
            <a:extLst>
              <a:ext uri="{C183D7F6-B498-43B3-948B-1728B52AA6E4}">
                <adec:decorative xmlns:adec="http://schemas.microsoft.com/office/drawing/2017/decorative" val="1"/>
              </a:ext>
            </a:extLst>
          </p:cNvPr>
          <p:cNvSpPr/>
          <p:nvPr/>
        </p:nvSpPr>
        <p:spPr>
          <a:xfrm>
            <a:off x="8247888" y="1490472"/>
            <a:ext cx="512064" cy="512064"/>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70783" y="1613367"/>
            <a:ext cx="266273" cy="266273"/>
          </a:xfrm>
          <a:prstGeom prst="rect">
            <a:avLst/>
          </a:prstGeom>
        </p:spPr>
      </p:pic>
      <p:sp>
        <p:nvSpPr>
          <p:cNvPr id="18" name="Who head 3"/>
          <p:cNvSpPr txBox="1"/>
          <p:nvPr/>
        </p:nvSpPr>
        <p:spPr>
          <a:xfrm>
            <a:off x="8915400" y="1490472"/>
            <a:ext cx="2651760" cy="512064"/>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Do the work</a:t>
            </a:r>
            <a:endParaRPr lang="en-US" sz="1800" dirty="0"/>
          </a:p>
        </p:txBody>
      </p:sp>
      <p:sp>
        <p:nvSpPr>
          <p:cNvPr id="19" name="Who text 3"/>
          <p:cNvSpPr txBox="1"/>
          <p:nvPr/>
        </p:nvSpPr>
        <p:spPr>
          <a:xfrm>
            <a:off x="8275320" y="2103120"/>
            <a:ext cx="3246120" cy="1737360"/>
          </a:xfrm>
          <a:prstGeom prst="rect">
            <a:avLst/>
          </a:prstGeom>
          <a:noFill/>
          <a:ln/>
        </p:spPr>
        <p:txBody>
          <a:bodyPr wrap="square" lIns="0" tIns="0" rIns="0" bIns="0" rtlCol="0" anchor="t"/>
          <a:lstStyle/>
          <a:p>
            <a:pPr marL="0" indent="0">
              <a:spcAft>
                <a:spcPts val="400"/>
              </a:spcAft>
              <a:buNone/>
            </a:pPr>
            <a:r>
              <a:rPr lang="en-US" sz="1300" b="1" dirty="0">
                <a:solidFill>
                  <a:srgbClr val="B45309"/>
                </a:solidFill>
              </a:rPr>
              <a:t>Platform teams</a:t>
            </a:r>
            <a:endParaRPr lang="en-US" sz="1300" dirty="0"/>
          </a:p>
          <a:p>
            <a:pPr marL="0" indent="0">
              <a:spcAft>
                <a:spcPts val="400"/>
              </a:spcAft>
              <a:buNone/>
            </a:pPr>
            <a:r>
              <a:rPr lang="en-US" sz="1300" dirty="0">
                <a:solidFill>
                  <a:schemeClr val="tx2"/>
                </a:solidFill>
              </a:rPr>
              <a:t>Five workstreams, a lead for each</a:t>
            </a:r>
            <a:endParaRPr lang="en-US" sz="1300" dirty="0"/>
          </a:p>
          <a:p>
            <a:pPr marL="0" indent="0">
              <a:spcAft>
                <a:spcPts val="400"/>
              </a:spcAft>
              <a:buNone/>
            </a:pPr>
            <a:r>
              <a:rPr lang="en-US" sz="1300" b="1" dirty="0">
                <a:solidFill>
                  <a:srgbClr val="B45309"/>
                </a:solidFill>
              </a:rPr>
              <a:t>Application owners</a:t>
            </a:r>
            <a:endParaRPr lang="en-US" sz="1300" dirty="0"/>
          </a:p>
          <a:p>
            <a:pPr marL="0" indent="0">
              <a:spcAft>
                <a:spcPts val="400"/>
              </a:spcAft>
              <a:buNone/>
            </a:pPr>
            <a:r>
              <a:rPr lang="en-US" sz="1300" dirty="0">
                <a:solidFill>
                  <a:schemeClr val="tx2"/>
                </a:solidFill>
              </a:rPr>
              <a:t>Dependencies, tests, cutover sign-off</a:t>
            </a:r>
            <a:endParaRPr lang="en-US" sz="1300" dirty="0"/>
          </a:p>
          <a:p>
            <a:pPr marL="0" indent="0">
              <a:spcAft>
                <a:spcPts val="400"/>
              </a:spcAft>
              <a:buNone/>
            </a:pPr>
            <a:r>
              <a:rPr lang="en-US" sz="1300" b="1" dirty="0">
                <a:solidFill>
                  <a:srgbClr val="B45309"/>
                </a:solidFill>
              </a:rPr>
              <a:t>Help desk</a:t>
            </a:r>
            <a:endParaRPr lang="en-US" sz="1300" dirty="0"/>
          </a:p>
          <a:p>
            <a:pPr marL="0" indent="0">
              <a:spcAft>
                <a:spcPts val="400"/>
              </a:spcAft>
              <a:buNone/>
            </a:pPr>
            <a:r>
              <a:rPr lang="en-US" sz="1300" dirty="0">
                <a:solidFill>
                  <a:schemeClr val="tx2"/>
                </a:solidFill>
              </a:rPr>
              <a:t>Scoped roles; verified resets</a:t>
            </a:r>
            <a:endParaRPr lang="en-US" sz="1300" dirty="0"/>
          </a:p>
        </p:txBody>
      </p:sp>
      <p:sp>
        <p:nvSpPr>
          <p:cNvPr id="20" name="Orchestra head"/>
          <p:cNvSpPr txBox="1"/>
          <p:nvPr/>
        </p:nvSpPr>
        <p:spPr>
          <a:xfrm>
            <a:off x="548640" y="4041648"/>
            <a:ext cx="10972800" cy="274320"/>
          </a:xfrm>
          <a:prstGeom prst="rect">
            <a:avLst/>
          </a:prstGeom>
          <a:noFill/>
          <a:ln/>
        </p:spPr>
        <p:txBody>
          <a:bodyPr wrap="square" lIns="0" tIns="0" rIns="0" bIns="0" rtlCol="0" anchor="t"/>
          <a:lstStyle/>
          <a:p>
            <a:pPr marL="0" indent="0">
              <a:buNone/>
            </a:pPr>
            <a:r>
              <a:rPr lang="en-US" sz="1200" b="1" dirty="0">
                <a:solidFill>
                  <a:srgbClr val="64748B"/>
                </a:solidFill>
              </a:rPr>
              <a:t>MICROSOFT PROVIDES THE INSTRUMENTS; THE PROGRAM PROVIDES THE ORCHESTRA</a:t>
            </a:r>
            <a:endParaRPr lang="en-US" sz="1200" dirty="0"/>
          </a:p>
        </p:txBody>
      </p:sp>
      <p:sp>
        <p:nvSpPr>
          <p:cNvPr id="21" name="Orchestra 1">
            <a:extLst>
              <a:ext uri="{C183D7F6-B498-43B3-948B-1728B52AA6E4}">
                <adec:decorative xmlns:adec="http://schemas.microsoft.com/office/drawing/2017/decorative" val="1"/>
              </a:ext>
            </a:extLst>
          </p:cNvPr>
          <p:cNvSpPr/>
          <p:nvPr/>
        </p:nvSpPr>
        <p:spPr>
          <a:xfrm>
            <a:off x="548640" y="4389120"/>
            <a:ext cx="3611880" cy="1463040"/>
          </a:xfrm>
          <a:prstGeom prst="roundRect">
            <a:avLst>
              <a:gd name="adj" fmla="val 5000"/>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22" name="Orchestra 1 text"/>
          <p:cNvSpPr txBox="1"/>
          <p:nvPr/>
        </p:nvSpPr>
        <p:spPr>
          <a:xfrm>
            <a:off x="749808" y="4462272"/>
            <a:ext cx="3246120" cy="1316736"/>
          </a:xfrm>
          <a:prstGeom prst="rect">
            <a:avLst/>
          </a:prstGeom>
          <a:noFill/>
          <a:ln/>
        </p:spPr>
        <p:txBody>
          <a:bodyPr wrap="square" lIns="0" tIns="0" rIns="0" bIns="0" rtlCol="0" anchor="ctr"/>
          <a:lstStyle/>
          <a:p>
            <a:pPr marL="0" indent="0">
              <a:buNone/>
            </a:pPr>
            <a:r>
              <a:rPr lang="en-US" sz="1400" b="1" dirty="0">
                <a:solidFill>
                  <a:srgbClr val="0F766E"/>
                </a:solidFill>
              </a:rPr>
              <a:t>The instruments — </a:t>
            </a:r>
            <a:r>
              <a:rPr lang="en-US" sz="1400" dirty="0">
                <a:solidFill>
                  <a:schemeClr val="tx2"/>
                </a:solidFill>
              </a:rPr>
              <a:t>Entra ID, Intune, Arc, Conditional Access, PIM: each excellent, and none decides the target</a:t>
            </a:r>
            <a:endParaRPr lang="en-US" sz="1400" dirty="0"/>
          </a:p>
        </p:txBody>
      </p:sp>
      <p:sp>
        <p:nvSpPr>
          <p:cNvPr id="23" name="Orchestra 2">
            <a:extLst>
              <a:ext uri="{C183D7F6-B498-43B3-948B-1728B52AA6E4}">
                <adec:decorative xmlns:adec="http://schemas.microsoft.com/office/drawing/2017/decorative" val="1"/>
              </a:ext>
            </a:extLst>
          </p:cNvPr>
          <p:cNvSpPr/>
          <p:nvPr/>
        </p:nvSpPr>
        <p:spPr>
          <a:xfrm>
            <a:off x="4297680" y="4389120"/>
            <a:ext cx="3611880" cy="1463040"/>
          </a:xfrm>
          <a:prstGeom prst="roundRect">
            <a:avLst>
              <a:gd name="adj" fmla="val 5000"/>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4" name="Orchestra 2 text"/>
          <p:cNvSpPr txBox="1"/>
          <p:nvPr/>
        </p:nvSpPr>
        <p:spPr>
          <a:xfrm>
            <a:off x="4498848" y="4462272"/>
            <a:ext cx="3246120" cy="1316736"/>
          </a:xfrm>
          <a:prstGeom prst="rect">
            <a:avLst/>
          </a:prstGeom>
          <a:noFill/>
          <a:ln/>
        </p:spPr>
        <p:txBody>
          <a:bodyPr wrap="square" lIns="0" tIns="0" rIns="0" bIns="0" rtlCol="0" anchor="ctr"/>
          <a:lstStyle/>
          <a:p>
            <a:pPr marL="0" indent="0">
              <a:buNone/>
            </a:pPr>
            <a:r>
              <a:rPr lang="en-US" sz="1400" b="1" dirty="0">
                <a:solidFill>
                  <a:srgbClr val="1F2A44"/>
                </a:solidFill>
              </a:rPr>
              <a:t>The orchestra — </a:t>
            </a:r>
            <a:r>
              <a:rPr lang="en-US" sz="1400" dirty="0">
                <a:solidFill>
                  <a:schemeClr val="tx2"/>
                </a:solidFill>
              </a:rPr>
              <a:t>decide the target, get there, prove it was done right, and keep it right</a:t>
            </a:r>
            <a:endParaRPr lang="en-US" sz="1400" dirty="0"/>
          </a:p>
        </p:txBody>
      </p:sp>
      <p:sp>
        <p:nvSpPr>
          <p:cNvPr id="25" name="Orchestra 3">
            <a:extLst>
              <a:ext uri="{C183D7F6-B498-43B3-948B-1728B52AA6E4}">
                <adec:decorative xmlns:adec="http://schemas.microsoft.com/office/drawing/2017/decorative" val="1"/>
              </a:ext>
            </a:extLst>
          </p:cNvPr>
          <p:cNvSpPr/>
          <p:nvPr/>
        </p:nvSpPr>
        <p:spPr>
          <a:xfrm>
            <a:off x="8046720" y="4389120"/>
            <a:ext cx="3611880" cy="1463040"/>
          </a:xfrm>
          <a:prstGeom prst="roundRect">
            <a:avLst>
              <a:gd name="adj" fmla="val 5000"/>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6" name="Orchestra 3 text"/>
          <p:cNvSpPr txBox="1"/>
          <p:nvPr/>
        </p:nvSpPr>
        <p:spPr>
          <a:xfrm>
            <a:off x="8247888" y="4462272"/>
            <a:ext cx="3246120" cy="1316736"/>
          </a:xfrm>
          <a:prstGeom prst="rect">
            <a:avLst/>
          </a:prstGeom>
          <a:noFill/>
          <a:ln/>
        </p:spPr>
        <p:txBody>
          <a:bodyPr wrap="square" lIns="0" tIns="0" rIns="0" bIns="0" rtlCol="0" anchor="ctr"/>
          <a:lstStyle/>
          <a:p>
            <a:pPr marL="0" indent="0">
              <a:buNone/>
            </a:pPr>
            <a:r>
              <a:rPr lang="en-US" sz="1400" b="1" dirty="0">
                <a:solidFill>
                  <a:srgbClr val="B91C1C"/>
                </a:solidFill>
              </a:rPr>
              <a:t>Ask each month — </a:t>
            </a:r>
            <a:r>
              <a:rPr lang="en-US" sz="1400" dirty="0">
                <a:solidFill>
                  <a:schemeClr val="tx2"/>
                </a:solidFill>
              </a:rPr>
              <a:t>the drift trend, the share of changes with a signed plan, and open risk acceptances</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OMB M-22-09, M-19-17; CISA BOD 25-01; NARA GRS 3.2; Microsoft Learn — cloud-first identity guidance, Windows Server 2025. Book 01, Chapter 09.</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F8DA029A-6785-36EC-9633-67DEB0B6B93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742294D-48B6-473F-8C7E-F90286B6808F}"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7860"/>
    </mc:Choice>
    <mc:Fallback>
      <p:transition spd="slow" advTm="578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6856"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Inventory first: read-only, with provenance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Assess card 1">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Lock">
            <a:extLst>
              <a:ext uri="{C183D7F6-B498-43B3-948B-1728B52AA6E4}">
                <adec:decorative xmlns:adec="http://schemas.microsoft.com/office/drawing/2017/decorative" val="1"/>
              </a:ext>
            </a:extLst>
          </p:cNvPr>
          <p:cNvSpPr/>
          <p:nvPr/>
        </p:nvSpPr>
        <p:spPr>
          <a:xfrm>
            <a:off x="749808" y="1572768"/>
            <a:ext cx="566928" cy="566928"/>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708831"/>
            <a:ext cx="294803" cy="294803"/>
          </a:xfrm>
          <a:prstGeom prst="rect">
            <a:avLst/>
          </a:prstGeom>
        </p:spPr>
      </p:pic>
      <p:sp>
        <p:nvSpPr>
          <p:cNvPr id="8" name="Assess head 1"/>
          <p:cNvSpPr txBox="1"/>
          <p:nvPr/>
        </p:nvSpPr>
        <p:spPr>
          <a:xfrm>
            <a:off x="1463040" y="1572768"/>
            <a:ext cx="2560320" cy="566928"/>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Read-only by policy</a:t>
            </a:r>
            <a:endParaRPr lang="en-US" sz="1700" dirty="0"/>
          </a:p>
        </p:txBody>
      </p:sp>
      <p:sp>
        <p:nvSpPr>
          <p:cNvPr id="9" name="Assess text 1"/>
          <p:cNvSpPr txBox="1"/>
          <p:nvPr/>
        </p:nvSpPr>
        <p:spPr>
          <a:xfrm>
            <a:off x="77724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No write rights on the account</a:t>
            </a:r>
            <a:endParaRPr lang="en-US" sz="1400" dirty="0"/>
          </a:p>
          <a:p>
            <a:pPr marL="342900" indent="-342900">
              <a:spcAft>
                <a:spcPts val="600"/>
              </a:spcAft>
              <a:buSzPct val="100000"/>
              <a:buChar char="•"/>
            </a:pPr>
            <a:r>
              <a:rPr lang="en-US" sz="1350" dirty="0">
                <a:solidFill>
                  <a:schemeClr val="tx2"/>
                </a:solidFill>
              </a:rPr>
              <a:t>No write commands imported</a:t>
            </a:r>
            <a:endParaRPr lang="en-US" sz="1400" dirty="0"/>
          </a:p>
          <a:p>
            <a:pPr marL="342900" indent="-342900">
              <a:spcAft>
                <a:spcPts val="600"/>
              </a:spcAft>
              <a:buSzPct val="100000"/>
              <a:buChar char="•"/>
            </a:pPr>
            <a:r>
              <a:rPr lang="en-US" sz="1350" dirty="0">
                <a:solidFill>
                  <a:schemeClr val="tx2"/>
                </a:solidFill>
              </a:rPr>
              <a:t>Every call logged by class</a:t>
            </a:r>
            <a:endParaRPr lang="en-US" sz="1400" dirty="0"/>
          </a:p>
          <a:p>
            <a:pPr marL="342900" indent="-342900">
              <a:spcAft>
                <a:spcPts val="600"/>
              </a:spcAft>
              <a:buSzPct val="100000"/>
              <a:buChar char="•"/>
            </a:pPr>
            <a:r>
              <a:rPr lang="en-US" sz="1350" dirty="0">
                <a:solidFill>
                  <a:schemeClr val="tx2"/>
                </a:solidFill>
              </a:rPr>
              <a:t>Security operations told the window</a:t>
            </a:r>
            <a:endParaRPr lang="en-US" sz="1400" dirty="0"/>
          </a:p>
        </p:txBody>
      </p:sp>
      <p:sp>
        <p:nvSpPr>
          <p:cNvPr id="10" name="Assess card 2">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Key">
            <a:extLst>
              <a:ext uri="{C183D7F6-B498-43B3-948B-1728B52AA6E4}">
                <adec:decorative xmlns:adec="http://schemas.microsoft.com/office/drawing/2017/decorative" val="1"/>
              </a:ext>
            </a:extLst>
          </p:cNvPr>
          <p:cNvSpPr/>
          <p:nvPr/>
        </p:nvSpPr>
        <p:spPr>
          <a:xfrm>
            <a:off x="4498848" y="1572768"/>
            <a:ext cx="566928" cy="566928"/>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34911" y="1708831"/>
            <a:ext cx="294803" cy="294803"/>
          </a:xfrm>
          <a:prstGeom prst="rect">
            <a:avLst/>
          </a:prstGeom>
        </p:spPr>
      </p:pic>
      <p:sp>
        <p:nvSpPr>
          <p:cNvPr id="13" name="Assess head 2"/>
          <p:cNvSpPr txBox="1"/>
          <p:nvPr/>
        </p:nvSpPr>
        <p:spPr>
          <a:xfrm>
            <a:off x="5212080" y="1572768"/>
            <a:ext cx="2560320" cy="566928"/>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Two tiers of access</a:t>
            </a:r>
            <a:endParaRPr lang="en-US" sz="1700" dirty="0"/>
          </a:p>
        </p:txBody>
      </p:sp>
      <p:sp>
        <p:nvSpPr>
          <p:cNvPr id="14" name="Assess text 2"/>
          <p:cNvSpPr txBox="1"/>
          <p:nvPr/>
        </p:nvSpPr>
        <p:spPr>
          <a:xfrm>
            <a:off x="452628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Tier A: default read, broader than most teams expect</a:t>
            </a:r>
            <a:endParaRPr lang="en-US" sz="1400" dirty="0"/>
          </a:p>
          <a:p>
            <a:pPr marL="342900" indent="-342900">
              <a:spcAft>
                <a:spcPts val="600"/>
              </a:spcAft>
              <a:buSzPct val="100000"/>
              <a:buChar char="•"/>
            </a:pPr>
            <a:r>
              <a:rPr lang="en-US" sz="1350" dirty="0">
                <a:solidFill>
                  <a:schemeClr val="tx2"/>
                </a:solidFill>
              </a:rPr>
              <a:t>Tier B: DHCP, DNS settings and CA database exports</a:t>
            </a:r>
            <a:endParaRPr lang="en-US" sz="1400" dirty="0"/>
          </a:p>
          <a:p>
            <a:pPr marL="342900" indent="-342900">
              <a:spcAft>
                <a:spcPts val="600"/>
              </a:spcAft>
              <a:buSzPct val="100000"/>
              <a:buChar char="•"/>
            </a:pPr>
            <a:r>
              <a:rPr lang="en-US" sz="1350" dirty="0">
                <a:solidFill>
                  <a:schemeClr val="tx2"/>
                </a:solidFill>
              </a:rPr>
              <a:t>Never secrets</a:t>
            </a:r>
            <a:endParaRPr lang="en-US" sz="1400" dirty="0"/>
          </a:p>
        </p:txBody>
      </p:sp>
      <p:sp>
        <p:nvSpPr>
          <p:cNvPr id="15" name="Assess card 3">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FileShield">
            <a:extLst>
              <a:ext uri="{C183D7F6-B498-43B3-948B-1728B52AA6E4}">
                <adec:decorative xmlns:adec="http://schemas.microsoft.com/office/drawing/2017/decorative" val="1"/>
              </a:ext>
            </a:extLst>
          </p:cNvPr>
          <p:cNvSpPr/>
          <p:nvPr/>
        </p:nvSpPr>
        <p:spPr>
          <a:xfrm>
            <a:off x="8247888" y="1572768"/>
            <a:ext cx="566928" cy="566928"/>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83951" y="1708831"/>
            <a:ext cx="294803" cy="294803"/>
          </a:xfrm>
          <a:prstGeom prst="rect">
            <a:avLst/>
          </a:prstGeom>
        </p:spPr>
      </p:pic>
      <p:sp>
        <p:nvSpPr>
          <p:cNvPr id="18" name="Assess head 3"/>
          <p:cNvSpPr txBox="1"/>
          <p:nvPr/>
        </p:nvSpPr>
        <p:spPr>
          <a:xfrm>
            <a:off x="8961120" y="1572768"/>
            <a:ext cx="2560320" cy="566928"/>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Provenance, every run</a:t>
            </a:r>
            <a:endParaRPr lang="en-US" sz="1700" dirty="0"/>
          </a:p>
        </p:txBody>
      </p:sp>
      <p:sp>
        <p:nvSpPr>
          <p:cNvPr id="19" name="Assess text 3"/>
          <p:cNvSpPr txBox="1"/>
          <p:nvPr/>
        </p:nvSpPr>
        <p:spPr>
          <a:xfrm>
            <a:off x="827532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Who, when and against what</a:t>
            </a:r>
            <a:endParaRPr lang="en-US" sz="1400" dirty="0"/>
          </a:p>
          <a:p>
            <a:pPr marL="342900" indent="-342900">
              <a:spcAft>
                <a:spcPts val="600"/>
              </a:spcAft>
              <a:buSzPct val="100000"/>
              <a:buChar char="•"/>
            </a:pPr>
            <a:r>
              <a:rPr lang="en-US" sz="1350" dirty="0">
                <a:solidFill>
                  <a:schemeClr val="tx2"/>
                </a:solidFill>
              </a:rPr>
              <a:t>Which tier of rights</a:t>
            </a:r>
            <a:endParaRPr lang="en-US" sz="1400" dirty="0"/>
          </a:p>
          <a:p>
            <a:pPr marL="342900" indent="-342900">
              <a:spcAft>
                <a:spcPts val="600"/>
              </a:spcAft>
              <a:buSzPct val="100000"/>
              <a:buChar char="•"/>
            </a:pPr>
            <a:r>
              <a:rPr lang="en-US" sz="1350" dirty="0">
                <a:solidFill>
                  <a:schemeClr val="tx2"/>
                </a:solidFill>
              </a:rPr>
              <a:t>A SHA-256 hash of every file</a:t>
            </a:r>
            <a:endParaRPr lang="en-US" sz="1400" dirty="0"/>
          </a:p>
          <a:p>
            <a:pPr marL="342900" indent="-342900">
              <a:spcAft>
                <a:spcPts val="600"/>
              </a:spcAft>
              <a:buSzPct val="100000"/>
              <a:buChar char="•"/>
            </a:pPr>
            <a:r>
              <a:rPr lang="en-US" sz="1350" dirty="0">
                <a:solidFill>
                  <a:schemeClr val="tx2"/>
                </a:solidFill>
              </a:rPr>
              <a:t>A signed commit; no run ID reused</a:t>
            </a:r>
            <a:endParaRPr lang="en-US" sz="1400" dirty="0"/>
          </a:p>
        </p:txBody>
      </p:sp>
      <p:sp>
        <p:nvSpPr>
          <p:cNvPr id="20" name="Profile">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1" name="Icon FaChartLine">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52805" y="5204765"/>
            <a:ext cx="380390" cy="380390"/>
          </a:xfrm>
          <a:prstGeom prst="rect">
            <a:avLst/>
          </a:prstGeom>
        </p:spPr>
      </p:pic>
      <p:sp>
        <p:nvSpPr>
          <p:cNvPr id="23" name="Profile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Profile before separating: </a:t>
            </a:r>
            <a:r>
              <a:rPr lang="en-US" sz="1650" dirty="0">
                <a:solidFill>
                  <a:schemeClr val="tx2"/>
                </a:solidFill>
              </a:rPr>
              <a:t>count each business transaction's synchronous round trips to its data, reduce them, and measure again. Without that profile, the plan won't approve the move.</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AC-6; Microsoft Learn — default AD permissions, DHCP Users group, Windows Server 2025 AD DS, Arc Extended Security Updates, Defender for Identity. Book 01, Chapter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0AA159F7-78FE-DFA9-58BB-A5D28DE5F11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92EEB43-C6FD-442A-A64C-6AA4F033FEE6}"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2060"/>
    </mc:Choice>
    <mc:Fallback>
      <p:transition spd="slow" advTm="620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1056"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Analyze, plan, deliver, under an actuation ceiling</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tage head"/>
          <p:cNvSpPr txBox="1"/>
          <p:nvPr/>
        </p:nvSpPr>
        <p:spPr>
          <a:xfrm>
            <a:off x="548640" y="141732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THREE STAGES, TWO GATES, ONE EVIDENCE PACKET</a:t>
            </a:r>
            <a:endParaRPr lang="en-US" sz="1200" dirty="0"/>
          </a:p>
        </p:txBody>
      </p:sp>
      <p:sp>
        <p:nvSpPr>
          <p:cNvPr id="6" name="Stage 0">
            <a:extLst>
              <a:ext uri="{C183D7F6-B498-43B3-948B-1728B52AA6E4}">
                <adec:decorative xmlns:adec="http://schemas.microsoft.com/office/drawing/2017/decorative" val="1"/>
              </a:ext>
            </a:extLst>
          </p:cNvPr>
          <p:cNvSpPr/>
          <p:nvPr/>
        </p:nvSpPr>
        <p:spPr>
          <a:xfrm>
            <a:off x="548640" y="1755648"/>
            <a:ext cx="5669280" cy="438912"/>
          </a:xfrm>
          <a:prstGeom prst="roundRect">
            <a:avLst>
              <a:gd name="adj" fmla="val 16667"/>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Stage 0 text"/>
          <p:cNvSpPr txBox="1"/>
          <p:nvPr/>
        </p:nvSpPr>
        <p:spPr>
          <a:xfrm>
            <a:off x="731520" y="1755648"/>
            <a:ext cx="5394960" cy="438912"/>
          </a:xfrm>
          <a:prstGeom prst="rect">
            <a:avLst/>
          </a:prstGeom>
          <a:noFill/>
          <a:ln/>
        </p:spPr>
        <p:txBody>
          <a:bodyPr wrap="square" lIns="0" tIns="0" rIns="0" bIns="0" rtlCol="0" anchor="ctr"/>
          <a:lstStyle/>
          <a:p>
            <a:pPr marL="0" indent="0">
              <a:buNone/>
            </a:pPr>
            <a:r>
              <a:rPr lang="en-US" sz="1400" b="1" dirty="0">
                <a:solidFill>
                  <a:srgbClr val="1F2A44"/>
                </a:solidFill>
              </a:rPr>
              <a:t>Analyze   </a:t>
            </a:r>
            <a:r>
              <a:rPr lang="en-US" sz="1400" dirty="0">
                <a:solidFill>
                  <a:schemeClr val="tx2"/>
                </a:solidFill>
              </a:rPr>
              <a:t>Current and target graphs, diff, risk</a:t>
            </a:r>
            <a:endParaRPr lang="en-US" sz="1400" dirty="0"/>
          </a:p>
        </p:txBody>
      </p:sp>
      <p:sp>
        <p:nvSpPr>
          <p:cNvPr id="8" name="Stage 1">
            <a:extLst>
              <a:ext uri="{C183D7F6-B498-43B3-948B-1728B52AA6E4}">
                <adec:decorative xmlns:adec="http://schemas.microsoft.com/office/drawing/2017/decorative" val="1"/>
              </a:ext>
            </a:extLst>
          </p:cNvPr>
          <p:cNvSpPr/>
          <p:nvPr/>
        </p:nvSpPr>
        <p:spPr>
          <a:xfrm>
            <a:off x="548640" y="2267712"/>
            <a:ext cx="5669280" cy="438912"/>
          </a:xfrm>
          <a:prstGeom prst="roundRect">
            <a:avLst>
              <a:gd name="adj" fmla="val 16667"/>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Stage 1 text"/>
          <p:cNvSpPr txBox="1"/>
          <p:nvPr/>
        </p:nvSpPr>
        <p:spPr>
          <a:xfrm>
            <a:off x="731520" y="2267712"/>
            <a:ext cx="5394960" cy="438912"/>
          </a:xfrm>
          <a:prstGeom prst="rect">
            <a:avLst/>
          </a:prstGeom>
          <a:noFill/>
          <a:ln/>
        </p:spPr>
        <p:txBody>
          <a:bodyPr wrap="square" lIns="0" tIns="0" rIns="0" bIns="0" rtlCol="0" anchor="ctr"/>
          <a:lstStyle/>
          <a:p>
            <a:pPr marL="0" indent="0">
              <a:buNone/>
            </a:pPr>
            <a:r>
              <a:rPr lang="en-US" sz="1400" b="1" dirty="0">
                <a:solidFill>
                  <a:srgbClr val="1F2A44"/>
                </a:solidFill>
              </a:rPr>
              <a:t>Plan   </a:t>
            </a:r>
            <a:r>
              <a:rPr lang="en-US" sz="1400" dirty="0">
                <a:solidFill>
                  <a:schemeClr val="tx2"/>
                </a:solidFill>
              </a:rPr>
              <a:t>Typed, scoped, ordered, rollback-paired</a:t>
            </a:r>
            <a:endParaRPr lang="en-US" sz="1400" dirty="0"/>
          </a:p>
        </p:txBody>
      </p:sp>
      <p:sp>
        <p:nvSpPr>
          <p:cNvPr id="10" name="Stage 2">
            <a:extLst>
              <a:ext uri="{C183D7F6-B498-43B3-948B-1728B52AA6E4}">
                <adec:decorative xmlns:adec="http://schemas.microsoft.com/office/drawing/2017/decorative" val="1"/>
              </a:ext>
            </a:extLst>
          </p:cNvPr>
          <p:cNvSpPr/>
          <p:nvPr/>
        </p:nvSpPr>
        <p:spPr>
          <a:xfrm>
            <a:off x="548640" y="2779776"/>
            <a:ext cx="5669280" cy="438912"/>
          </a:xfrm>
          <a:prstGeom prst="roundRect">
            <a:avLst>
              <a:gd name="adj" fmla="val 16667"/>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Stage 2 text"/>
          <p:cNvSpPr txBox="1"/>
          <p:nvPr/>
        </p:nvSpPr>
        <p:spPr>
          <a:xfrm>
            <a:off x="731520" y="2779776"/>
            <a:ext cx="5394960" cy="438912"/>
          </a:xfrm>
          <a:prstGeom prst="rect">
            <a:avLst/>
          </a:prstGeom>
          <a:noFill/>
          <a:ln/>
        </p:spPr>
        <p:txBody>
          <a:bodyPr wrap="square" lIns="0" tIns="0" rIns="0" bIns="0" rtlCol="0" anchor="ctr"/>
          <a:lstStyle/>
          <a:p>
            <a:pPr marL="0" indent="0">
              <a:buNone/>
            </a:pPr>
            <a:r>
              <a:rPr lang="en-US" sz="1400" b="1" dirty="0">
                <a:solidFill>
                  <a:srgbClr val="1F2A44"/>
                </a:solidFill>
              </a:rPr>
              <a:t>Validate   </a:t>
            </a:r>
            <a:r>
              <a:rPr lang="en-US" sz="1400" dirty="0">
                <a:solidFill>
                  <a:schemeClr val="tx2"/>
                </a:solidFill>
              </a:rPr>
              <a:t>Schema, rules, boundary, safety</a:t>
            </a:r>
            <a:endParaRPr lang="en-US" sz="1400" dirty="0"/>
          </a:p>
        </p:txBody>
      </p:sp>
      <p:sp>
        <p:nvSpPr>
          <p:cNvPr id="12" name="Stage 3">
            <a:extLst>
              <a:ext uri="{C183D7F6-B498-43B3-948B-1728B52AA6E4}">
                <adec:decorative xmlns:adec="http://schemas.microsoft.com/office/drawing/2017/decorative" val="1"/>
              </a:ext>
            </a:extLst>
          </p:cNvPr>
          <p:cNvSpPr/>
          <p:nvPr/>
        </p:nvSpPr>
        <p:spPr>
          <a:xfrm>
            <a:off x="548640" y="3291840"/>
            <a:ext cx="5669280" cy="438912"/>
          </a:xfrm>
          <a:prstGeom prst="roundRect">
            <a:avLst>
              <a:gd name="adj" fmla="val 16667"/>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Stage 3 text"/>
          <p:cNvSpPr txBox="1"/>
          <p:nvPr/>
        </p:nvSpPr>
        <p:spPr>
          <a:xfrm>
            <a:off x="731520" y="3291840"/>
            <a:ext cx="5394960" cy="438912"/>
          </a:xfrm>
          <a:prstGeom prst="rect">
            <a:avLst/>
          </a:prstGeom>
          <a:noFill/>
          <a:ln/>
        </p:spPr>
        <p:txBody>
          <a:bodyPr wrap="square" lIns="0" tIns="0" rIns="0" bIns="0" rtlCol="0" anchor="ctr"/>
          <a:lstStyle/>
          <a:p>
            <a:pPr marL="0" indent="0">
              <a:buNone/>
            </a:pPr>
            <a:r>
              <a:rPr lang="en-US" sz="1400" b="1" dirty="0">
                <a:solidFill>
                  <a:srgbClr val="1F2A44"/>
                </a:solidFill>
              </a:rPr>
              <a:t>Authorize   </a:t>
            </a:r>
            <a:r>
              <a:rPr lang="en-US" sz="1400" dirty="0">
                <a:solidFill>
                  <a:schemeClr val="tx2"/>
                </a:solidFill>
              </a:rPr>
              <a:t>An approver of record, not the author</a:t>
            </a:r>
            <a:endParaRPr lang="en-US" sz="1400" dirty="0"/>
          </a:p>
        </p:txBody>
      </p:sp>
      <p:sp>
        <p:nvSpPr>
          <p:cNvPr id="14" name="Stage 4">
            <a:extLst>
              <a:ext uri="{C183D7F6-B498-43B3-948B-1728B52AA6E4}">
                <adec:decorative xmlns:adec="http://schemas.microsoft.com/office/drawing/2017/decorative" val="1"/>
              </a:ext>
            </a:extLst>
          </p:cNvPr>
          <p:cNvSpPr/>
          <p:nvPr/>
        </p:nvSpPr>
        <p:spPr>
          <a:xfrm>
            <a:off x="548640" y="3803904"/>
            <a:ext cx="5669280" cy="438912"/>
          </a:xfrm>
          <a:prstGeom prst="roundRect">
            <a:avLst>
              <a:gd name="adj" fmla="val 16667"/>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5" name="Stage 4 text"/>
          <p:cNvSpPr txBox="1"/>
          <p:nvPr/>
        </p:nvSpPr>
        <p:spPr>
          <a:xfrm>
            <a:off x="731520" y="3803904"/>
            <a:ext cx="5394960" cy="438912"/>
          </a:xfrm>
          <a:prstGeom prst="rect">
            <a:avLst/>
          </a:prstGeom>
          <a:noFill/>
          <a:ln/>
        </p:spPr>
        <p:txBody>
          <a:bodyPr wrap="square" lIns="0" tIns="0" rIns="0" bIns="0" rtlCol="0" anchor="ctr"/>
          <a:lstStyle/>
          <a:p>
            <a:pPr marL="0" indent="0">
              <a:buNone/>
            </a:pPr>
            <a:r>
              <a:rPr lang="en-US" sz="1400" b="1" dirty="0">
                <a:solidFill>
                  <a:srgbClr val="1F2A44"/>
                </a:solidFill>
              </a:rPr>
              <a:t>Deliver   </a:t>
            </a:r>
            <a:r>
              <a:rPr lang="en-US" sz="1400" dirty="0">
                <a:solidFill>
                  <a:schemeClr val="tx2"/>
                </a:solidFill>
              </a:rPr>
              <a:t>Separate identity; verify each action</a:t>
            </a:r>
            <a:endParaRPr lang="en-US" sz="1400" dirty="0"/>
          </a:p>
        </p:txBody>
      </p:sp>
      <p:sp>
        <p:nvSpPr>
          <p:cNvPr id="16" name="Stage 5">
            <a:extLst>
              <a:ext uri="{C183D7F6-B498-43B3-948B-1728B52AA6E4}">
                <adec:decorative xmlns:adec="http://schemas.microsoft.com/office/drawing/2017/decorative" val="1"/>
              </a:ext>
            </a:extLst>
          </p:cNvPr>
          <p:cNvSpPr/>
          <p:nvPr/>
        </p:nvSpPr>
        <p:spPr>
          <a:xfrm>
            <a:off x="548640" y="4315968"/>
            <a:ext cx="5669280" cy="438912"/>
          </a:xfrm>
          <a:prstGeom prst="roundRect">
            <a:avLst>
              <a:gd name="adj" fmla="val 16667"/>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7" name="Stage 5 text"/>
          <p:cNvSpPr txBox="1"/>
          <p:nvPr/>
        </p:nvSpPr>
        <p:spPr>
          <a:xfrm>
            <a:off x="731520" y="4315968"/>
            <a:ext cx="5394960" cy="438912"/>
          </a:xfrm>
          <a:prstGeom prst="rect">
            <a:avLst/>
          </a:prstGeom>
          <a:noFill/>
          <a:ln/>
        </p:spPr>
        <p:txBody>
          <a:bodyPr wrap="square" lIns="0" tIns="0" rIns="0" bIns="0" rtlCol="0" anchor="ctr"/>
          <a:lstStyle/>
          <a:p>
            <a:pPr marL="0" indent="0">
              <a:buNone/>
            </a:pPr>
            <a:r>
              <a:rPr lang="en-US" sz="1400" b="1" dirty="0">
                <a:solidFill>
                  <a:srgbClr val="1F2A44"/>
                </a:solidFill>
              </a:rPr>
              <a:t>Evidence   </a:t>
            </a:r>
            <a:r>
              <a:rPr lang="en-US" sz="1400" dirty="0">
                <a:solidFill>
                  <a:schemeClr val="tx2"/>
                </a:solidFill>
              </a:rPr>
              <a:t>Signed packet to the repository and SIEM</a:t>
            </a:r>
            <a:endParaRPr lang="en-US" sz="1400" dirty="0"/>
          </a:p>
        </p:txBody>
      </p:sp>
      <p:sp>
        <p:nvSpPr>
          <p:cNvPr id="18" name="Ladder box">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9" name="Icon FaArrowDownWideShort">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0F766E"/>
          </a:solidFill>
          <a:ln w="12700">
            <a:solidFill>
              <a:srgbClr val="0F766E"/>
            </a:solidFill>
            <a:prstDash val="solid"/>
          </a:ln>
        </p:spPr>
      </p:sp>
      <p:pic>
        <p:nvPicPr>
          <p:cNvPr id="2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78848" y="1758208"/>
            <a:ext cx="342351" cy="342351"/>
          </a:xfrm>
          <a:prstGeom prst="rect">
            <a:avLst/>
          </a:prstGeom>
        </p:spPr>
      </p:pic>
      <p:sp>
        <p:nvSpPr>
          <p:cNvPr id="21" name="Ladder head"/>
          <p:cNvSpPr txBox="1"/>
          <p:nvPr/>
        </p:nvSpPr>
        <p:spPr>
          <a:xfrm>
            <a:off x="7543800" y="1572768"/>
            <a:ext cx="4023360" cy="822960"/>
          </a:xfrm>
          <a:prstGeom prst="rect">
            <a:avLst/>
          </a:prstGeom>
          <a:noFill/>
          <a:ln/>
        </p:spPr>
        <p:txBody>
          <a:bodyPr wrap="square" lIns="0" tIns="0" rIns="0" bIns="0" rtlCol="0" anchor="ctr"/>
          <a:lstStyle/>
          <a:p>
            <a:pPr marL="0" indent="0">
              <a:buNone/>
            </a:pPr>
            <a:r>
              <a:rPr lang="en-US" sz="1200" b="1" dirty="0">
                <a:solidFill>
                  <a:srgbClr val="64748B"/>
                </a:solidFill>
              </a:rPr>
              <a:t>THE ACTUATION LADDER</a:t>
            </a:r>
            <a:endParaRPr lang="en-US" sz="1400" dirty="0"/>
          </a:p>
          <a:p>
            <a:pPr marL="0" indent="0">
              <a:buNone/>
            </a:pPr>
            <a:r>
              <a:rPr lang="en-US" sz="1800" b="1" dirty="0">
                <a:solidFill>
                  <a:srgbClr val="0F766E"/>
                </a:solidFill>
                <a:latin typeface="Cambria" pitchFamily="34" charset="0"/>
                <a:ea typeface="Cambria" pitchFamily="34" charset="-122"/>
                <a:cs typeface="Cambria" pitchFamily="34" charset="-120"/>
              </a:rPr>
              <a:t>Gated actuation is the ceiling</a:t>
            </a:r>
            <a:endParaRPr lang="en-US" sz="1400" dirty="0"/>
          </a:p>
        </p:txBody>
      </p:sp>
      <p:sp>
        <p:nvSpPr>
          <p:cNvPr id="22" name="Ladder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L0 Record and L1 Observe: read-only</a:t>
            </a:r>
            <a:endParaRPr lang="en-US" sz="1400" dirty="0"/>
          </a:p>
          <a:p>
            <a:pPr marL="342900" indent="-342900">
              <a:spcAft>
                <a:spcPts val="600"/>
              </a:spcAft>
              <a:buSzPct val="100000"/>
              <a:buChar char="•"/>
            </a:pPr>
            <a:r>
              <a:rPr lang="en-US" sz="1400" dirty="0">
                <a:solidFill>
                  <a:schemeClr val="tx2"/>
                </a:solidFill>
              </a:rPr>
              <a:t>L2 Advise: plans surfaced, no writes</a:t>
            </a:r>
            <a:endParaRPr lang="en-US" sz="1400" dirty="0"/>
          </a:p>
          <a:p>
            <a:pPr marL="342900" indent="-342900">
              <a:spcAft>
                <a:spcPts val="600"/>
              </a:spcAft>
              <a:buSzPct val="100000"/>
              <a:buChar char="•"/>
            </a:pPr>
            <a:r>
              <a:rPr lang="en-US" sz="1400" dirty="0">
                <a:solidFill>
                  <a:schemeClr val="tx2"/>
                </a:solidFill>
              </a:rPr>
              <a:t>L3 Gated: a person approves, dry run first</a:t>
            </a:r>
            <a:endParaRPr lang="en-US" sz="1400" dirty="0"/>
          </a:p>
          <a:p>
            <a:pPr marL="342900" indent="-342900">
              <a:spcAft>
                <a:spcPts val="600"/>
              </a:spcAft>
              <a:buSzPct val="100000"/>
              <a:buChar char="•"/>
            </a:pPr>
            <a:r>
              <a:rPr lang="en-US" sz="1400" dirty="0">
                <a:solidFill>
                  <a:schemeClr val="tx2"/>
                </a:solidFill>
              </a:rPr>
              <a:t>L4 Autonomous: enumerated low-risk classes</a:t>
            </a:r>
            <a:endParaRPr lang="en-US" sz="1400" dirty="0"/>
          </a:p>
        </p:txBody>
      </p:sp>
      <p:sp>
        <p:nvSpPr>
          <p:cNvPr id="23" name="Zero">
            <a:extLst>
              <a:ext uri="{C183D7F6-B498-43B3-948B-1728B52AA6E4}">
                <adec:decorative xmlns:adec="http://schemas.microsoft.com/office/drawing/2017/decorative" val="1"/>
              </a:ext>
            </a:extLst>
          </p:cNvPr>
          <p:cNvSpPr/>
          <p:nvPr/>
        </p:nvSpPr>
        <p:spPr>
          <a:xfrm>
            <a:off x="548640" y="4983480"/>
            <a:ext cx="11109960" cy="960120"/>
          </a:xfrm>
          <a:prstGeom prst="roundRect">
            <a:avLst>
              <a:gd name="adj" fmla="val 7619"/>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4" name="Icon FaArrowsRotate">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B45309"/>
          </a:solidFill>
          <a:ln w="12700">
            <a:solidFill>
              <a:srgbClr val="B45309"/>
            </a:solidFill>
            <a:prstDash val="solid"/>
          </a:ln>
        </p:spPr>
      </p:sp>
      <p:pic>
        <p:nvPicPr>
          <p:cNvPr id="25"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73345"/>
            <a:ext cx="380390" cy="380390"/>
          </a:xfrm>
          <a:prstGeom prst="rect">
            <a:avLst/>
          </a:prstGeom>
        </p:spPr>
      </p:pic>
      <p:sp>
        <p:nvSpPr>
          <p:cNvPr id="26" name="Zero text"/>
          <p:cNvSpPr txBox="1"/>
          <p:nvPr/>
        </p:nvSpPr>
        <p:spPr>
          <a:xfrm>
            <a:off x="1737360" y="5029200"/>
            <a:ext cx="9738360" cy="868680"/>
          </a:xfrm>
          <a:prstGeom prst="rect">
            <a:avLst/>
          </a:prstGeom>
          <a:noFill/>
          <a:ln/>
        </p:spPr>
        <p:txBody>
          <a:bodyPr wrap="square" lIns="0" tIns="0" rIns="0" bIns="0" rtlCol="0" anchor="ctr"/>
          <a:lstStyle/>
          <a:p>
            <a:pPr marL="0" indent="0">
              <a:buNone/>
            </a:pPr>
            <a:r>
              <a:rPr lang="en-US" sz="1650" b="1" dirty="0">
                <a:solidFill>
                  <a:srgbClr val="B45309"/>
                </a:solidFill>
              </a:rPr>
              <a:t>The zero-action plan: </a:t>
            </a:r>
            <a:r>
              <a:rPr lang="en-US" sz="1650" dirty="0">
                <a:solidFill>
                  <a:schemeClr val="tx2"/>
                </a:solidFill>
              </a:rPr>
              <a:t>when nothing has drifted, the next run produces no actions. Tenant-wide roles and Conditional Access enforcement stay gated permanently.</a:t>
            </a:r>
            <a:endParaRPr lang="en-US" sz="16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Zero Trust Maturity Model v2.0; OMB M-22-09, M-26-14; Microsoft Learn — role-assignable groups, Microsoft Graph best practices and throttling. Book 01, Chapters 03 and 11.</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7160DF12-B25C-8D57-CA34-88BDC38D7BE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221F963-091A-4129-B2DC-BC9A256D4044}"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9460"/>
    </mc:Choice>
    <mc:Fallback>
      <p:transition spd="slow" advTm="594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8464"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roadmap: seven phases, gated by data</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hase 0">
            <a:extLst>
              <a:ext uri="{C183D7F6-B498-43B3-948B-1728B52AA6E4}">
                <adec:decorative xmlns:adec="http://schemas.microsoft.com/office/drawing/2017/decorative" val="1"/>
              </a:ext>
            </a:extLst>
          </p:cNvPr>
          <p:cNvSpPr/>
          <p:nvPr/>
        </p:nvSpPr>
        <p:spPr>
          <a:xfrm>
            <a:off x="548640" y="1371600"/>
            <a:ext cx="1508760" cy="1234440"/>
          </a:xfrm>
          <a:prstGeom prst="roundRect">
            <a:avLst>
              <a:gd name="adj" fmla="val 592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6" name="Phase 0 text"/>
          <p:cNvSpPr txBox="1"/>
          <p:nvPr/>
        </p:nvSpPr>
        <p:spPr>
          <a:xfrm>
            <a:off x="640080" y="1417320"/>
            <a:ext cx="1344168"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0</a:t>
            </a:r>
            <a:endParaRPr lang="en-US" sz="1400" dirty="0"/>
          </a:p>
          <a:p>
            <a:pPr marL="0" indent="0">
              <a:buNone/>
            </a:pPr>
            <a:r>
              <a:rPr lang="en-US" sz="1300" b="1" dirty="0">
                <a:solidFill>
                  <a:srgbClr val="1F2A44"/>
                </a:solidFill>
              </a:rPr>
              <a:t>Pre-flight</a:t>
            </a:r>
            <a:endParaRPr lang="en-US" sz="1400" dirty="0"/>
          </a:p>
          <a:p>
            <a:pPr marL="0" indent="0">
              <a:buNone/>
            </a:pPr>
            <a:r>
              <a:rPr lang="en-US" sz="1150" dirty="0">
                <a:solidFill>
                  <a:schemeClr val="tx2"/>
                </a:solidFill>
              </a:rPr>
              <a:t>Weeks 1–4</a:t>
            </a:r>
            <a:endParaRPr lang="en-US" sz="1400" dirty="0"/>
          </a:p>
        </p:txBody>
      </p:sp>
      <p:sp>
        <p:nvSpPr>
          <p:cNvPr id="7" name="Phase 1">
            <a:extLst>
              <a:ext uri="{C183D7F6-B498-43B3-948B-1728B52AA6E4}">
                <adec:decorative xmlns:adec="http://schemas.microsoft.com/office/drawing/2017/decorative" val="1"/>
              </a:ext>
            </a:extLst>
          </p:cNvPr>
          <p:cNvSpPr/>
          <p:nvPr/>
        </p:nvSpPr>
        <p:spPr>
          <a:xfrm>
            <a:off x="2148840" y="1371600"/>
            <a:ext cx="1508760" cy="1234440"/>
          </a:xfrm>
          <a:prstGeom prst="roundRect">
            <a:avLst>
              <a:gd name="adj" fmla="val 592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8" name="Phase 1 text"/>
          <p:cNvSpPr txBox="1"/>
          <p:nvPr/>
        </p:nvSpPr>
        <p:spPr>
          <a:xfrm>
            <a:off x="2240280" y="1417320"/>
            <a:ext cx="1344168"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1</a:t>
            </a:r>
            <a:endParaRPr lang="en-US" sz="1400" dirty="0"/>
          </a:p>
          <a:p>
            <a:pPr marL="0" indent="0">
              <a:buNone/>
            </a:pPr>
            <a:r>
              <a:rPr lang="en-US" sz="1300" b="1" dirty="0">
                <a:solidFill>
                  <a:srgbClr val="1F2A44"/>
                </a:solidFill>
              </a:rPr>
              <a:t>Foundation</a:t>
            </a:r>
            <a:endParaRPr lang="en-US" sz="1400" dirty="0"/>
          </a:p>
          <a:p>
            <a:pPr marL="0" indent="0">
              <a:buNone/>
            </a:pPr>
            <a:r>
              <a:rPr lang="en-US" sz="1150" dirty="0">
                <a:solidFill>
                  <a:schemeClr val="tx2"/>
                </a:solidFill>
              </a:rPr>
              <a:t>Weeks 5–8</a:t>
            </a:r>
            <a:endParaRPr lang="en-US" sz="1400" dirty="0"/>
          </a:p>
        </p:txBody>
      </p:sp>
      <p:sp>
        <p:nvSpPr>
          <p:cNvPr id="9" name="Phase 2">
            <a:extLst>
              <a:ext uri="{C183D7F6-B498-43B3-948B-1728B52AA6E4}">
                <adec:decorative xmlns:adec="http://schemas.microsoft.com/office/drawing/2017/decorative" val="1"/>
              </a:ext>
            </a:extLst>
          </p:cNvPr>
          <p:cNvSpPr/>
          <p:nvPr/>
        </p:nvSpPr>
        <p:spPr>
          <a:xfrm>
            <a:off x="3749040" y="1371600"/>
            <a:ext cx="1508760" cy="1234440"/>
          </a:xfrm>
          <a:prstGeom prst="roundRect">
            <a:avLst>
              <a:gd name="adj" fmla="val 592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0" name="Phase 2 text"/>
          <p:cNvSpPr txBox="1"/>
          <p:nvPr/>
        </p:nvSpPr>
        <p:spPr>
          <a:xfrm>
            <a:off x="3840480" y="1417320"/>
            <a:ext cx="1344168"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2</a:t>
            </a:r>
            <a:endParaRPr lang="en-US" sz="1400" dirty="0"/>
          </a:p>
          <a:p>
            <a:pPr marL="0" indent="0">
              <a:buNone/>
            </a:pPr>
            <a:r>
              <a:rPr lang="en-US" sz="1300" b="1" dirty="0">
                <a:solidFill>
                  <a:srgbClr val="1F2A44"/>
                </a:solidFill>
              </a:rPr>
              <a:t>Pilot division</a:t>
            </a:r>
            <a:endParaRPr lang="en-US" sz="1400" dirty="0"/>
          </a:p>
          <a:p>
            <a:pPr marL="0" indent="0">
              <a:buNone/>
            </a:pPr>
            <a:r>
              <a:rPr lang="en-US" sz="1150" dirty="0">
                <a:solidFill>
                  <a:schemeClr val="tx2"/>
                </a:solidFill>
              </a:rPr>
              <a:t>Weeks 9–16</a:t>
            </a:r>
            <a:endParaRPr lang="en-US" sz="1400" dirty="0"/>
          </a:p>
        </p:txBody>
      </p:sp>
      <p:sp>
        <p:nvSpPr>
          <p:cNvPr id="11" name="Phase 3">
            <a:extLst>
              <a:ext uri="{C183D7F6-B498-43B3-948B-1728B52AA6E4}">
                <adec:decorative xmlns:adec="http://schemas.microsoft.com/office/drawing/2017/decorative" val="1"/>
              </a:ext>
            </a:extLst>
          </p:cNvPr>
          <p:cNvSpPr/>
          <p:nvPr/>
        </p:nvSpPr>
        <p:spPr>
          <a:xfrm>
            <a:off x="5349240" y="1371600"/>
            <a:ext cx="1508760" cy="1234440"/>
          </a:xfrm>
          <a:prstGeom prst="roundRect">
            <a:avLst>
              <a:gd name="adj" fmla="val 592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2" name="Phase 3 text"/>
          <p:cNvSpPr txBox="1"/>
          <p:nvPr/>
        </p:nvSpPr>
        <p:spPr>
          <a:xfrm>
            <a:off x="5440680" y="1417320"/>
            <a:ext cx="1344168"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3</a:t>
            </a:r>
            <a:endParaRPr lang="en-US" sz="1400" dirty="0"/>
          </a:p>
          <a:p>
            <a:pPr marL="0" indent="0">
              <a:buNone/>
            </a:pPr>
            <a:r>
              <a:rPr lang="en-US" sz="1300" b="1" dirty="0">
                <a:solidFill>
                  <a:srgbClr val="1F2A44"/>
                </a:solidFill>
              </a:rPr>
              <a:t>General rollout</a:t>
            </a:r>
            <a:endParaRPr lang="en-US" sz="1400" dirty="0"/>
          </a:p>
          <a:p>
            <a:pPr marL="0" indent="0">
              <a:buNone/>
            </a:pPr>
            <a:r>
              <a:rPr lang="en-US" sz="1150" dirty="0">
                <a:solidFill>
                  <a:schemeClr val="tx2"/>
                </a:solidFill>
              </a:rPr>
              <a:t>Weeks 17–36</a:t>
            </a:r>
            <a:endParaRPr lang="en-US" sz="1400" dirty="0"/>
          </a:p>
        </p:txBody>
      </p:sp>
      <p:sp>
        <p:nvSpPr>
          <p:cNvPr id="13" name="Phase 4">
            <a:extLst>
              <a:ext uri="{C183D7F6-B498-43B3-948B-1728B52AA6E4}">
                <adec:decorative xmlns:adec="http://schemas.microsoft.com/office/drawing/2017/decorative" val="1"/>
              </a:ext>
            </a:extLst>
          </p:cNvPr>
          <p:cNvSpPr/>
          <p:nvPr/>
        </p:nvSpPr>
        <p:spPr>
          <a:xfrm>
            <a:off x="6949440" y="1371600"/>
            <a:ext cx="1508760" cy="1234440"/>
          </a:xfrm>
          <a:prstGeom prst="roundRect">
            <a:avLst>
              <a:gd name="adj" fmla="val 592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4" name="Phase 4 text"/>
          <p:cNvSpPr txBox="1"/>
          <p:nvPr/>
        </p:nvSpPr>
        <p:spPr>
          <a:xfrm>
            <a:off x="7040880" y="1417320"/>
            <a:ext cx="1344168"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4</a:t>
            </a:r>
            <a:endParaRPr lang="en-US" sz="1400" dirty="0"/>
          </a:p>
          <a:p>
            <a:pPr marL="0" indent="0">
              <a:buNone/>
            </a:pPr>
            <a:r>
              <a:rPr lang="en-US" sz="1300" b="1" dirty="0">
                <a:solidFill>
                  <a:srgbClr val="1F2A44"/>
                </a:solidFill>
              </a:rPr>
              <a:t>Legacy retirement</a:t>
            </a:r>
            <a:endParaRPr lang="en-US" sz="1400" dirty="0"/>
          </a:p>
          <a:p>
            <a:pPr marL="0" indent="0">
              <a:buNone/>
            </a:pPr>
            <a:r>
              <a:rPr lang="en-US" sz="1150" dirty="0">
                <a:solidFill>
                  <a:schemeClr val="tx2"/>
                </a:solidFill>
              </a:rPr>
              <a:t>Weeks 37–44</a:t>
            </a:r>
            <a:endParaRPr lang="en-US" sz="1400" dirty="0"/>
          </a:p>
        </p:txBody>
      </p:sp>
      <p:sp>
        <p:nvSpPr>
          <p:cNvPr id="15" name="Phase 5">
            <a:extLst>
              <a:ext uri="{C183D7F6-B498-43B3-948B-1728B52AA6E4}">
                <adec:decorative xmlns:adec="http://schemas.microsoft.com/office/drawing/2017/decorative" val="1"/>
              </a:ext>
            </a:extLst>
          </p:cNvPr>
          <p:cNvSpPr/>
          <p:nvPr/>
        </p:nvSpPr>
        <p:spPr>
          <a:xfrm>
            <a:off x="8549640" y="1371600"/>
            <a:ext cx="1508760" cy="1234440"/>
          </a:xfrm>
          <a:prstGeom prst="roundRect">
            <a:avLst>
              <a:gd name="adj" fmla="val 5926"/>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6" name="Phase 5 text"/>
          <p:cNvSpPr txBox="1"/>
          <p:nvPr/>
        </p:nvSpPr>
        <p:spPr>
          <a:xfrm>
            <a:off x="8641080" y="1417320"/>
            <a:ext cx="1344168"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5</a:t>
            </a:r>
            <a:endParaRPr lang="en-US" sz="1400" dirty="0"/>
          </a:p>
          <a:p>
            <a:pPr marL="0" indent="0">
              <a:buNone/>
            </a:pPr>
            <a:r>
              <a:rPr lang="en-US" sz="1300" b="1" dirty="0">
                <a:solidFill>
                  <a:srgbClr val="1F2A44"/>
                </a:solidFill>
              </a:rPr>
              <a:t>AD DS retirement</a:t>
            </a:r>
            <a:endParaRPr lang="en-US" sz="1400" dirty="0"/>
          </a:p>
          <a:p>
            <a:pPr marL="0" indent="0">
              <a:buNone/>
            </a:pPr>
            <a:r>
              <a:rPr lang="en-US" sz="1150" dirty="0">
                <a:solidFill>
                  <a:schemeClr val="tx2"/>
                </a:solidFill>
              </a:rPr>
              <a:t>Weeks 45–48</a:t>
            </a:r>
            <a:endParaRPr lang="en-US" sz="1400" dirty="0"/>
          </a:p>
        </p:txBody>
      </p:sp>
      <p:sp>
        <p:nvSpPr>
          <p:cNvPr id="17" name="Phase 6">
            <a:extLst>
              <a:ext uri="{C183D7F6-B498-43B3-948B-1728B52AA6E4}">
                <adec:decorative xmlns:adec="http://schemas.microsoft.com/office/drawing/2017/decorative" val="1"/>
              </a:ext>
            </a:extLst>
          </p:cNvPr>
          <p:cNvSpPr/>
          <p:nvPr/>
        </p:nvSpPr>
        <p:spPr>
          <a:xfrm>
            <a:off x="10149840" y="1371600"/>
            <a:ext cx="1508760" cy="1234440"/>
          </a:xfrm>
          <a:prstGeom prst="roundRect">
            <a:avLst>
              <a:gd name="adj" fmla="val 592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8" name="Phase 6 text"/>
          <p:cNvSpPr txBox="1"/>
          <p:nvPr/>
        </p:nvSpPr>
        <p:spPr>
          <a:xfrm>
            <a:off x="10241280" y="1417320"/>
            <a:ext cx="1344168"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6</a:t>
            </a:r>
            <a:endParaRPr lang="en-US" sz="1400" dirty="0"/>
          </a:p>
          <a:p>
            <a:pPr marL="0" indent="0">
              <a:buNone/>
            </a:pPr>
            <a:r>
              <a:rPr lang="en-US" sz="1300" b="1" dirty="0">
                <a:solidFill>
                  <a:srgbClr val="1F2A44"/>
                </a:solidFill>
              </a:rPr>
              <a:t>Steady state</a:t>
            </a:r>
            <a:endParaRPr lang="en-US" sz="1400" dirty="0"/>
          </a:p>
          <a:p>
            <a:pPr marL="0" indent="0">
              <a:buNone/>
            </a:pPr>
            <a:r>
              <a:rPr lang="en-US" sz="1150" dirty="0">
                <a:solidFill>
                  <a:schemeClr val="tx2"/>
                </a:solidFill>
              </a:rPr>
              <a:t>Week 49 on</a:t>
            </a:r>
            <a:endParaRPr lang="en-US" sz="1400" dirty="0"/>
          </a:p>
        </p:txBody>
      </p:sp>
      <p:sp>
        <p:nvSpPr>
          <p:cNvPr id="19" name="Principle 1">
            <a:extLst>
              <a:ext uri="{C183D7F6-B498-43B3-948B-1728B52AA6E4}">
                <adec:decorative xmlns:adec="http://schemas.microsoft.com/office/drawing/2017/decorative" val="1"/>
              </a:ext>
            </a:extLst>
          </p:cNvPr>
          <p:cNvSpPr/>
          <p:nvPr/>
        </p:nvSpPr>
        <p:spPr>
          <a:xfrm>
            <a:off x="548640" y="2788920"/>
            <a:ext cx="2103120" cy="1828800"/>
          </a:xfrm>
          <a:prstGeom prst="roundRect">
            <a:avLst>
              <a:gd name="adj" fmla="val 4000"/>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20" name="Principle 1 text"/>
          <p:cNvSpPr txBox="1"/>
          <p:nvPr/>
        </p:nvSpPr>
        <p:spPr>
          <a:xfrm>
            <a:off x="685800" y="2852928"/>
            <a:ext cx="1828800" cy="1700784"/>
          </a:xfrm>
          <a:prstGeom prst="rect">
            <a:avLst/>
          </a:prstGeom>
          <a:noFill/>
          <a:ln/>
        </p:spPr>
        <p:txBody>
          <a:bodyPr wrap="square" lIns="0" tIns="0" rIns="0" bIns="0" rtlCol="0" anchor="t"/>
          <a:lstStyle/>
          <a:p>
            <a:pPr marL="0" indent="0">
              <a:spcAft>
                <a:spcPts val="300"/>
              </a:spcAft>
              <a:buNone/>
            </a:pPr>
            <a:r>
              <a:rPr lang="en-US" sz="2200" b="1" dirty="0">
                <a:solidFill>
                  <a:srgbClr val="B45309"/>
                </a:solidFill>
                <a:latin typeface="Cambria" pitchFamily="34" charset="0"/>
                <a:ea typeface="Cambria" pitchFamily="34" charset="-122"/>
                <a:cs typeface="Cambria" pitchFamily="34" charset="-120"/>
              </a:rPr>
              <a:t>1</a:t>
            </a:r>
            <a:endParaRPr lang="en-US" sz="1400" dirty="0"/>
          </a:p>
          <a:p>
            <a:pPr marL="0" indent="0">
              <a:spcAft>
                <a:spcPts val="300"/>
              </a:spcAft>
              <a:buNone/>
            </a:pPr>
            <a:r>
              <a:rPr lang="en-US" sz="1450" b="1" dirty="0">
                <a:solidFill>
                  <a:srgbClr val="1F2A44"/>
                </a:solidFill>
              </a:rPr>
              <a:t>One authoritative source</a:t>
            </a:r>
            <a:endParaRPr lang="en-US" sz="1400" dirty="0"/>
          </a:p>
          <a:p>
            <a:pPr marL="0" indent="0">
              <a:spcAft>
                <a:spcPts val="300"/>
              </a:spcAft>
              <a:buNone/>
            </a:pPr>
            <a:r>
              <a:rPr lang="en-US" sz="1300" dirty="0">
                <a:solidFill>
                  <a:schemeClr val="tx2"/>
                </a:solidFill>
              </a:rPr>
              <a:t>Every access attribute has one source</a:t>
            </a:r>
            <a:endParaRPr lang="en-US" sz="1400" dirty="0"/>
          </a:p>
        </p:txBody>
      </p:sp>
      <p:sp>
        <p:nvSpPr>
          <p:cNvPr id="21" name="Principle 2">
            <a:extLst>
              <a:ext uri="{C183D7F6-B498-43B3-948B-1728B52AA6E4}">
                <adec:decorative xmlns:adec="http://schemas.microsoft.com/office/drawing/2017/decorative" val="1"/>
              </a:ext>
            </a:extLst>
          </p:cNvPr>
          <p:cNvSpPr/>
          <p:nvPr/>
        </p:nvSpPr>
        <p:spPr>
          <a:xfrm>
            <a:off x="2800350" y="2788920"/>
            <a:ext cx="2103120" cy="1828800"/>
          </a:xfrm>
          <a:prstGeom prst="roundRect">
            <a:avLst>
              <a:gd name="adj" fmla="val 4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22" name="Principle 2 text"/>
          <p:cNvSpPr txBox="1"/>
          <p:nvPr/>
        </p:nvSpPr>
        <p:spPr>
          <a:xfrm>
            <a:off x="2937510" y="2852928"/>
            <a:ext cx="1828800" cy="1700784"/>
          </a:xfrm>
          <a:prstGeom prst="rect">
            <a:avLst/>
          </a:prstGeom>
          <a:noFill/>
          <a:ln/>
        </p:spPr>
        <p:txBody>
          <a:bodyPr wrap="square" lIns="0" tIns="0" rIns="0" bIns="0" rtlCol="0" anchor="t"/>
          <a:lstStyle/>
          <a:p>
            <a:pPr marL="0" indent="0">
              <a:spcAft>
                <a:spcPts val="300"/>
              </a:spcAft>
              <a:buNone/>
            </a:pPr>
            <a:r>
              <a:rPr lang="en-US" sz="2200" b="1" dirty="0">
                <a:solidFill>
                  <a:srgbClr val="B45309"/>
                </a:solidFill>
                <a:latin typeface="Cambria" pitchFamily="34" charset="0"/>
                <a:ea typeface="Cambria" pitchFamily="34" charset="-122"/>
                <a:cs typeface="Cambria" pitchFamily="34" charset="-120"/>
              </a:rPr>
              <a:t>2</a:t>
            </a:r>
            <a:endParaRPr lang="en-US" sz="1400" dirty="0"/>
          </a:p>
          <a:p>
            <a:pPr marL="0" indent="0">
              <a:spcAft>
                <a:spcPts val="300"/>
              </a:spcAft>
              <a:buNone/>
            </a:pPr>
            <a:r>
              <a:rPr lang="en-US" sz="1450" b="1" dirty="0">
                <a:solidFill>
                  <a:srgbClr val="1F2A44"/>
                </a:solidFill>
              </a:rPr>
              <a:t>Application-aware networking</a:t>
            </a:r>
            <a:endParaRPr lang="en-US" sz="1400" dirty="0"/>
          </a:p>
          <a:p>
            <a:pPr marL="0" indent="0">
              <a:spcAft>
                <a:spcPts val="300"/>
              </a:spcAft>
              <a:buNone/>
            </a:pPr>
            <a:r>
              <a:rPr lang="en-US" sz="1300" dirty="0">
                <a:solidFill>
                  <a:schemeClr val="tx2"/>
                </a:solidFill>
              </a:rPr>
              <a:t>Identity and context, not location</a:t>
            </a:r>
            <a:endParaRPr lang="en-US" sz="1400" dirty="0"/>
          </a:p>
        </p:txBody>
      </p:sp>
      <p:sp>
        <p:nvSpPr>
          <p:cNvPr id="23" name="Principle 3">
            <a:extLst>
              <a:ext uri="{C183D7F6-B498-43B3-948B-1728B52AA6E4}">
                <adec:decorative xmlns:adec="http://schemas.microsoft.com/office/drawing/2017/decorative" val="1"/>
              </a:ext>
            </a:extLst>
          </p:cNvPr>
          <p:cNvSpPr/>
          <p:nvPr/>
        </p:nvSpPr>
        <p:spPr>
          <a:xfrm>
            <a:off x="5052060" y="2788920"/>
            <a:ext cx="2103120" cy="1828800"/>
          </a:xfrm>
          <a:prstGeom prst="roundRect">
            <a:avLst>
              <a:gd name="adj" fmla="val 4000"/>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24" name="Principle 3 text"/>
          <p:cNvSpPr txBox="1"/>
          <p:nvPr/>
        </p:nvSpPr>
        <p:spPr>
          <a:xfrm>
            <a:off x="5189220" y="2852928"/>
            <a:ext cx="1828800" cy="1700784"/>
          </a:xfrm>
          <a:prstGeom prst="rect">
            <a:avLst/>
          </a:prstGeom>
          <a:noFill/>
          <a:ln/>
        </p:spPr>
        <p:txBody>
          <a:bodyPr wrap="square" lIns="0" tIns="0" rIns="0" bIns="0" rtlCol="0" anchor="t"/>
          <a:lstStyle/>
          <a:p>
            <a:pPr marL="0" indent="0">
              <a:spcAft>
                <a:spcPts val="300"/>
              </a:spcAft>
              <a:buNone/>
            </a:pPr>
            <a:r>
              <a:rPr lang="en-US" sz="2200" b="1" dirty="0">
                <a:solidFill>
                  <a:srgbClr val="B45309"/>
                </a:solidFill>
                <a:latin typeface="Cambria" pitchFamily="34" charset="0"/>
                <a:ea typeface="Cambria" pitchFamily="34" charset="-122"/>
                <a:cs typeface="Cambria" pitchFamily="34" charset="-120"/>
              </a:rPr>
              <a:t>3</a:t>
            </a:r>
            <a:endParaRPr lang="en-US" sz="1400" dirty="0"/>
          </a:p>
          <a:p>
            <a:pPr marL="0" indent="0">
              <a:spcAft>
                <a:spcPts val="300"/>
              </a:spcAft>
              <a:buNone/>
            </a:pPr>
            <a:r>
              <a:rPr lang="en-US" sz="1450" b="1" dirty="0">
                <a:solidFill>
                  <a:srgbClr val="1F2A44"/>
                </a:solidFill>
              </a:rPr>
              <a:t>Token-based identity</a:t>
            </a:r>
            <a:endParaRPr lang="en-US" sz="1400" dirty="0"/>
          </a:p>
          <a:p>
            <a:pPr marL="0" indent="0">
              <a:spcAft>
                <a:spcPts val="300"/>
              </a:spcAft>
              <a:buNone/>
            </a:pPr>
            <a:r>
              <a:rPr lang="en-US" sz="1300" dirty="0">
                <a:solidFill>
                  <a:schemeClr val="tx2"/>
                </a:solidFill>
              </a:rPr>
              <a:t>Signed tokens replace sessions</a:t>
            </a:r>
            <a:endParaRPr lang="en-US" sz="1400" dirty="0"/>
          </a:p>
        </p:txBody>
      </p:sp>
      <p:sp>
        <p:nvSpPr>
          <p:cNvPr id="25" name="Principle 4">
            <a:extLst>
              <a:ext uri="{C183D7F6-B498-43B3-948B-1728B52AA6E4}">
                <adec:decorative xmlns:adec="http://schemas.microsoft.com/office/drawing/2017/decorative" val="1"/>
              </a:ext>
            </a:extLst>
          </p:cNvPr>
          <p:cNvSpPr/>
          <p:nvPr/>
        </p:nvSpPr>
        <p:spPr>
          <a:xfrm>
            <a:off x="7303770" y="2788920"/>
            <a:ext cx="2103120" cy="1828800"/>
          </a:xfrm>
          <a:prstGeom prst="roundRect">
            <a:avLst>
              <a:gd name="adj" fmla="val 4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26" name="Principle 4 text"/>
          <p:cNvSpPr txBox="1"/>
          <p:nvPr/>
        </p:nvSpPr>
        <p:spPr>
          <a:xfrm>
            <a:off x="7440930" y="2852928"/>
            <a:ext cx="1828800" cy="1700784"/>
          </a:xfrm>
          <a:prstGeom prst="rect">
            <a:avLst/>
          </a:prstGeom>
          <a:noFill/>
          <a:ln/>
        </p:spPr>
        <p:txBody>
          <a:bodyPr wrap="square" lIns="0" tIns="0" rIns="0" bIns="0" rtlCol="0" anchor="t"/>
          <a:lstStyle/>
          <a:p>
            <a:pPr marL="0" indent="0">
              <a:spcAft>
                <a:spcPts val="300"/>
              </a:spcAft>
              <a:buNone/>
            </a:pPr>
            <a:r>
              <a:rPr lang="en-US" sz="2200" b="1" dirty="0">
                <a:solidFill>
                  <a:srgbClr val="B45309"/>
                </a:solidFill>
                <a:latin typeface="Cambria" pitchFamily="34" charset="0"/>
                <a:ea typeface="Cambria" pitchFamily="34" charset="-122"/>
                <a:cs typeface="Cambria" pitchFamily="34" charset="-120"/>
              </a:rPr>
              <a:t>4</a:t>
            </a:r>
            <a:endParaRPr lang="en-US" sz="1400" dirty="0"/>
          </a:p>
          <a:p>
            <a:pPr marL="0" indent="0">
              <a:spcAft>
                <a:spcPts val="300"/>
              </a:spcAft>
              <a:buNone/>
            </a:pPr>
            <a:r>
              <a:rPr lang="en-US" sz="1450" b="1" dirty="0">
                <a:solidFill>
                  <a:srgbClr val="1F2A44"/>
                </a:solidFill>
              </a:rPr>
              <a:t>Govern actively</a:t>
            </a:r>
            <a:endParaRPr lang="en-US" sz="1400" dirty="0"/>
          </a:p>
          <a:p>
            <a:pPr marL="0" indent="0">
              <a:spcAft>
                <a:spcPts val="300"/>
              </a:spcAft>
              <a:buNone/>
            </a:pPr>
            <a:r>
              <a:rPr lang="en-US" sz="1300" dirty="0">
                <a:solidFill>
                  <a:schemeClr val="tx2"/>
                </a:solidFill>
              </a:rPr>
              <a:t>Reconcile toward intent, under a ceiling</a:t>
            </a:r>
            <a:endParaRPr lang="en-US" sz="1400" dirty="0"/>
          </a:p>
        </p:txBody>
      </p:sp>
      <p:sp>
        <p:nvSpPr>
          <p:cNvPr id="27" name="Principle 5">
            <a:extLst>
              <a:ext uri="{C183D7F6-B498-43B3-948B-1728B52AA6E4}">
                <adec:decorative xmlns:adec="http://schemas.microsoft.com/office/drawing/2017/decorative" val="1"/>
              </a:ext>
            </a:extLst>
          </p:cNvPr>
          <p:cNvSpPr/>
          <p:nvPr/>
        </p:nvSpPr>
        <p:spPr>
          <a:xfrm>
            <a:off x="9555480" y="2788920"/>
            <a:ext cx="2103120" cy="1828800"/>
          </a:xfrm>
          <a:prstGeom prst="roundRect">
            <a:avLst>
              <a:gd name="adj" fmla="val 4000"/>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28" name="Principle 5 text"/>
          <p:cNvSpPr txBox="1"/>
          <p:nvPr/>
        </p:nvSpPr>
        <p:spPr>
          <a:xfrm>
            <a:off x="9692640" y="2852928"/>
            <a:ext cx="1828800" cy="1700784"/>
          </a:xfrm>
          <a:prstGeom prst="rect">
            <a:avLst/>
          </a:prstGeom>
          <a:noFill/>
          <a:ln/>
        </p:spPr>
        <p:txBody>
          <a:bodyPr wrap="square" lIns="0" tIns="0" rIns="0" bIns="0" rtlCol="0" anchor="t"/>
          <a:lstStyle/>
          <a:p>
            <a:pPr marL="0" indent="0">
              <a:spcAft>
                <a:spcPts val="300"/>
              </a:spcAft>
              <a:buNone/>
            </a:pPr>
            <a:r>
              <a:rPr lang="en-US" sz="2200" b="1" dirty="0">
                <a:solidFill>
                  <a:srgbClr val="B45309"/>
                </a:solidFill>
                <a:latin typeface="Cambria" pitchFamily="34" charset="0"/>
                <a:ea typeface="Cambria" pitchFamily="34" charset="-122"/>
                <a:cs typeface="Cambria" pitchFamily="34" charset="-120"/>
              </a:rPr>
              <a:t>5</a:t>
            </a:r>
            <a:endParaRPr lang="en-US" sz="1400" dirty="0"/>
          </a:p>
          <a:p>
            <a:pPr marL="0" indent="0">
              <a:spcAft>
                <a:spcPts val="300"/>
              </a:spcAft>
              <a:buNone/>
            </a:pPr>
            <a:r>
              <a:rPr lang="en-US" sz="1450" b="1" dirty="0">
                <a:solidFill>
                  <a:srgbClr val="1F2A44"/>
                </a:solidFill>
              </a:rPr>
              <a:t>Fewer round trips</a:t>
            </a:r>
            <a:endParaRPr lang="en-US" sz="1400" dirty="0"/>
          </a:p>
          <a:p>
            <a:pPr marL="0" indent="0">
              <a:spcAft>
                <a:spcPts val="300"/>
              </a:spcAft>
              <a:buNone/>
            </a:pPr>
            <a:r>
              <a:rPr lang="en-US" sz="1300" dirty="0">
                <a:solidFill>
                  <a:schemeClr val="tx2"/>
                </a:solidFill>
              </a:rPr>
              <a:t>Profile before separating</a:t>
            </a:r>
            <a:endParaRPr lang="en-US" sz="1400" dirty="0"/>
          </a:p>
        </p:txBody>
      </p:sp>
      <p:sp>
        <p:nvSpPr>
          <p:cNvPr id="29" name="Gates">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30" name="Icon FaClipboardCheck">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1F2A44"/>
          </a:solidFill>
          <a:ln w="12700">
            <a:solidFill>
              <a:srgbClr val="1F2A44"/>
            </a:solidFill>
            <a:prstDash val="solid"/>
          </a:ln>
        </p:spPr>
      </p:sp>
      <p:pic>
        <p:nvPicPr>
          <p:cNvPr id="3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81905"/>
            <a:ext cx="380390" cy="380390"/>
          </a:xfrm>
          <a:prstGeom prst="rect">
            <a:avLst/>
          </a:prstGeom>
        </p:spPr>
      </p:pic>
      <p:sp>
        <p:nvSpPr>
          <p:cNvPr id="32" name="Gates text"/>
          <p:cNvSpPr txBox="1"/>
          <p:nvPr/>
        </p:nvSpPr>
        <p:spPr>
          <a:xfrm>
            <a:off x="1737360" y="4846320"/>
            <a:ext cx="9738360" cy="1051560"/>
          </a:xfrm>
          <a:prstGeom prst="rect">
            <a:avLst/>
          </a:prstGeom>
          <a:noFill/>
          <a:ln/>
        </p:spPr>
        <p:txBody>
          <a:bodyPr wrap="square" lIns="0" tIns="0" rIns="0" bIns="0" rtlCol="0" anchor="ctr"/>
          <a:lstStyle/>
          <a:p>
            <a:pPr marL="0" indent="0">
              <a:buNone/>
            </a:pPr>
            <a:r>
              <a:rPr lang="en-US" sz="1650" b="1" dirty="0">
                <a:solidFill>
                  <a:srgbClr val="1F2A44"/>
                </a:solidFill>
              </a:rPr>
              <a:t>Gates read from data: </a:t>
            </a:r>
            <a:r>
              <a:rPr lang="en-US" sz="1650" dirty="0">
                <a:solidFill>
                  <a:schemeClr val="tx2"/>
                </a:solidFill>
              </a:rPr>
              <a:t>"zero drift for fourteen days" is a query, not a signature. The weeks are illustrative; large federal estates typically run multi-year.</a:t>
            </a:r>
            <a:endParaRPr lang="en-US" sz="1650" dirty="0"/>
          </a:p>
        </p:txBody>
      </p:sp>
      <p:sp>
        <p:nvSpPr>
          <p:cNvPr id="3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800-207; FedRAMP Consolidated Rules for 2026 and "Using a FedRAMP Certified Cloud Service"; Microsoft Learn — emergency access, DC demotion. Book 01, Chapter 12.</a:t>
            </a:r>
            <a:endParaRPr lang="en-US" sz="1000" dirty="0"/>
          </a:p>
        </p:txBody>
      </p:sp>
      <p:sp>
        <p:nvSpPr>
          <p:cNvPr id="34"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35" name="Narration" descr="Narration for this slide; captions available">
            <a:hlinkClick r:id="" action="ppaction://media"/>
            <a:extLst>
              <a:ext uri="{FF2B5EF4-FFF2-40B4-BE49-F238E27FC236}">
                <a16:creationId xmlns:a16="http://schemas.microsoft.com/office/drawing/2014/main" id="{F6698711-FB5C-18FB-0147-3A1621135CA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07C4A77-DEF0-4C5A-8475-3E1DBF5B0CA5}"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5750"/>
    </mc:Choice>
    <mc:Fallback>
      <p:transition spd="slow" advTm="657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4752" fill="hold"/>
                                        <p:tgtEl>
                                          <p:spTgt spid="3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to make, and next steps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Ask 1">
            <a:extLst>
              <a:ext uri="{C183D7F6-B498-43B3-948B-1728B52AA6E4}">
                <adec:decorative xmlns:adec="http://schemas.microsoft.com/office/drawing/2017/decorative" val="1"/>
              </a:ext>
            </a:extLst>
          </p:cNvPr>
          <p:cNvSpPr/>
          <p:nvPr/>
        </p:nvSpPr>
        <p:spPr>
          <a:xfrm>
            <a:off x="548640" y="1417320"/>
            <a:ext cx="5486400" cy="1417320"/>
          </a:xfrm>
          <a:prstGeom prst="roundRect">
            <a:avLst>
              <a:gd name="adj" fmla="val 516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UserCheck">
            <a:extLst>
              <a:ext uri="{C183D7F6-B498-43B3-948B-1728B52AA6E4}">
                <adec:decorative xmlns:adec="http://schemas.microsoft.com/office/drawing/2017/decorative" val="1"/>
              </a:ext>
            </a:extLst>
          </p:cNvPr>
          <p:cNvSpPr/>
          <p:nvPr/>
        </p:nvSpPr>
        <p:spPr>
          <a:xfrm>
            <a:off x="777240" y="1764792"/>
            <a:ext cx="685800" cy="685800"/>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41832" y="1929384"/>
            <a:ext cx="356616" cy="356616"/>
          </a:xfrm>
          <a:prstGeom prst="rect">
            <a:avLst/>
          </a:prstGeom>
        </p:spPr>
      </p:pic>
      <p:sp>
        <p:nvSpPr>
          <p:cNvPr id="8" name="Ask 1 text"/>
          <p:cNvSpPr txBox="1"/>
          <p:nvPr/>
        </p:nvSpPr>
        <p:spPr>
          <a:xfrm>
            <a:off x="1645920" y="1554480"/>
            <a:ext cx="4206240" cy="1188720"/>
          </a:xfrm>
          <a:prstGeom prst="rect">
            <a:avLst/>
          </a:prstGeom>
          <a:noFill/>
          <a:ln/>
        </p:spPr>
        <p:txBody>
          <a:bodyPr wrap="square" lIns="0" tIns="0" rIns="0" bIns="0" rtlCol="0" anchor="t"/>
          <a:lstStyle/>
          <a:p>
            <a:pPr marL="0" indent="0">
              <a:buNone/>
            </a:pPr>
            <a:r>
              <a:rPr lang="en-US" sz="1800" b="1" dirty="0">
                <a:solidFill>
                  <a:srgbClr val="1F2A44"/>
                </a:solidFill>
                <a:latin typeface="Cambria" pitchFamily="34" charset="0"/>
                <a:ea typeface="Cambria" pitchFamily="34" charset="-122"/>
                <a:cs typeface="Cambria" pitchFamily="34" charset="-120"/>
              </a:rPr>
              <a:t>Name the owners</a:t>
            </a:r>
            <a:endParaRPr lang="en-US" sz="1400" dirty="0"/>
          </a:p>
          <a:p>
            <a:pPr marL="0" indent="0">
              <a:buNone/>
            </a:pPr>
            <a:r>
              <a:rPr lang="en-US" sz="1450" dirty="0">
                <a:solidFill>
                  <a:schemeClr val="tx2"/>
                </a:solidFill>
              </a:rPr>
              <a:t>One decider per row, starting with the sponsor, the authorizing official and the steward</a:t>
            </a:r>
            <a:endParaRPr lang="en-US" sz="1400" dirty="0"/>
          </a:p>
        </p:txBody>
      </p:sp>
      <p:sp>
        <p:nvSpPr>
          <p:cNvPr id="9" name="Ask 2">
            <a:extLst>
              <a:ext uri="{C183D7F6-B498-43B3-948B-1728B52AA6E4}">
                <adec:decorative xmlns:adec="http://schemas.microsoft.com/office/drawing/2017/decorative" val="1"/>
              </a:ext>
            </a:extLst>
          </p:cNvPr>
          <p:cNvSpPr/>
          <p:nvPr/>
        </p:nvSpPr>
        <p:spPr>
          <a:xfrm>
            <a:off x="6144768" y="1417320"/>
            <a:ext cx="5486400" cy="1417320"/>
          </a:xfrm>
          <a:prstGeom prst="roundRect">
            <a:avLst>
              <a:gd name="adj" fmla="val 516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0" name="Icon FaListCheck">
            <a:extLst>
              <a:ext uri="{C183D7F6-B498-43B3-948B-1728B52AA6E4}">
                <adec:decorative xmlns:adec="http://schemas.microsoft.com/office/drawing/2017/decorative" val="1"/>
              </a:ext>
            </a:extLst>
          </p:cNvPr>
          <p:cNvSpPr/>
          <p:nvPr/>
        </p:nvSpPr>
        <p:spPr>
          <a:xfrm>
            <a:off x="6373368" y="1764792"/>
            <a:ext cx="685800" cy="685800"/>
          </a:xfrm>
          <a:prstGeom prst="ellipse">
            <a:avLst/>
          </a:prstGeom>
          <a:solidFill>
            <a:srgbClr val="0F766E"/>
          </a:solidFill>
          <a:ln w="12700">
            <a:solidFill>
              <a:srgbClr val="0F766E"/>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37960" y="1929384"/>
            <a:ext cx="356616" cy="356616"/>
          </a:xfrm>
          <a:prstGeom prst="rect">
            <a:avLst/>
          </a:prstGeom>
        </p:spPr>
      </p:pic>
      <p:sp>
        <p:nvSpPr>
          <p:cNvPr id="12" name="Ask 2 text"/>
          <p:cNvSpPr txBox="1"/>
          <p:nvPr/>
        </p:nvSpPr>
        <p:spPr>
          <a:xfrm>
            <a:off x="7242048" y="1554480"/>
            <a:ext cx="4206240" cy="1188720"/>
          </a:xfrm>
          <a:prstGeom prst="rect">
            <a:avLst/>
          </a:prstGeom>
          <a:noFill/>
          <a:ln/>
        </p:spPr>
        <p:txBody>
          <a:bodyPr wrap="square" lIns="0" tIns="0" rIns="0" bIns="0" rtlCol="0" anchor="t"/>
          <a:lstStyle/>
          <a:p>
            <a:pPr marL="0" indent="0">
              <a:buNone/>
            </a:pPr>
            <a:r>
              <a:rPr lang="en-US" sz="1800" b="1" dirty="0">
                <a:solidFill>
                  <a:srgbClr val="0F766E"/>
                </a:solidFill>
                <a:latin typeface="Cambria" pitchFamily="34" charset="0"/>
                <a:ea typeface="Cambria" pitchFamily="34" charset="-122"/>
                <a:cs typeface="Cambria" pitchFamily="34" charset="-120"/>
              </a:rPr>
              <a:t>Run the read-only assessment</a:t>
            </a:r>
            <a:endParaRPr lang="en-US" sz="1400" dirty="0"/>
          </a:p>
          <a:p>
            <a:pPr marL="0" indent="0">
              <a:buNone/>
            </a:pPr>
            <a:r>
              <a:rPr lang="en-US" sz="1450" dirty="0">
                <a:solidFill>
                  <a:schemeClr val="tx2"/>
                </a:solidFill>
              </a:rPr>
              <a:t>All eleven categories, committed with provenance</a:t>
            </a:r>
            <a:endParaRPr lang="en-US" sz="1400" dirty="0"/>
          </a:p>
        </p:txBody>
      </p:sp>
      <p:sp>
        <p:nvSpPr>
          <p:cNvPr id="13" name="Ask 3">
            <a:extLst>
              <a:ext uri="{C183D7F6-B498-43B3-948B-1728B52AA6E4}">
                <adec:decorative xmlns:adec="http://schemas.microsoft.com/office/drawing/2017/decorative" val="1"/>
              </a:ext>
            </a:extLst>
          </p:cNvPr>
          <p:cNvSpPr/>
          <p:nvPr/>
        </p:nvSpPr>
        <p:spPr>
          <a:xfrm>
            <a:off x="548640" y="2990088"/>
            <a:ext cx="5486400" cy="1417320"/>
          </a:xfrm>
          <a:prstGeom prst="roundRect">
            <a:avLst>
              <a:gd name="adj" fmla="val 5161"/>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4" name="Icon FaServer">
            <a:extLst>
              <a:ext uri="{C183D7F6-B498-43B3-948B-1728B52AA6E4}">
                <adec:decorative xmlns:adec="http://schemas.microsoft.com/office/drawing/2017/decorative" val="1"/>
              </a:ext>
            </a:extLst>
          </p:cNvPr>
          <p:cNvSpPr/>
          <p:nvPr/>
        </p:nvSpPr>
        <p:spPr>
          <a:xfrm>
            <a:off x="777240" y="3337560"/>
            <a:ext cx="685800" cy="685800"/>
          </a:xfrm>
          <a:prstGeom prst="ellipse">
            <a:avLst/>
          </a:prstGeom>
          <a:solidFill>
            <a:srgbClr val="B45309"/>
          </a:solidFill>
          <a:ln w="12700">
            <a:solidFill>
              <a:srgbClr val="B45309"/>
            </a:solidFill>
            <a:prstDash val="solid"/>
          </a:ln>
        </p:spPr>
      </p:sp>
      <p:pic>
        <p:nvPicPr>
          <p:cNvPr id="15"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41832" y="3502152"/>
            <a:ext cx="356616" cy="356616"/>
          </a:xfrm>
          <a:prstGeom prst="rect">
            <a:avLst/>
          </a:prstGeom>
        </p:spPr>
      </p:pic>
      <p:sp>
        <p:nvSpPr>
          <p:cNvPr id="16" name="Ask 3 text"/>
          <p:cNvSpPr txBox="1"/>
          <p:nvPr/>
        </p:nvSpPr>
        <p:spPr>
          <a:xfrm>
            <a:off x="1645920" y="3127248"/>
            <a:ext cx="4206240" cy="1188720"/>
          </a:xfrm>
          <a:prstGeom prst="rect">
            <a:avLst/>
          </a:prstGeom>
          <a:noFill/>
          <a:ln/>
        </p:spPr>
        <p:txBody>
          <a:bodyPr wrap="square" lIns="0" tIns="0" rIns="0" bIns="0" rtlCol="0" anchor="t"/>
          <a:lstStyle/>
          <a:p>
            <a:pPr marL="0" indent="0">
              <a:buNone/>
            </a:pPr>
            <a:r>
              <a:rPr lang="en-US" sz="1800" b="1" dirty="0">
                <a:solidFill>
                  <a:srgbClr val="B45309"/>
                </a:solidFill>
                <a:latin typeface="Cambria" pitchFamily="34" charset="0"/>
                <a:ea typeface="Cambria" pitchFamily="34" charset="-122"/>
                <a:cs typeface="Cambria" pitchFamily="34" charset="-120"/>
              </a:rPr>
              <a:t>Stand up the platform host</a:t>
            </a:r>
            <a:endParaRPr lang="en-US" sz="1400" dirty="0"/>
          </a:p>
          <a:p>
            <a:pPr marL="0" indent="0">
              <a:buNone/>
            </a:pPr>
            <a:r>
              <a:rPr lang="en-US" sz="1450" dirty="0">
                <a:solidFill>
                  <a:schemeClr val="tx2"/>
                </a:solidFill>
              </a:rPr>
              <a:t>One writer; governance kept apart from execution</a:t>
            </a:r>
            <a:endParaRPr lang="en-US" sz="1400" dirty="0"/>
          </a:p>
        </p:txBody>
      </p:sp>
      <p:sp>
        <p:nvSpPr>
          <p:cNvPr id="17" name="Ask 4">
            <a:extLst>
              <a:ext uri="{C183D7F6-B498-43B3-948B-1728B52AA6E4}">
                <adec:decorative xmlns:adec="http://schemas.microsoft.com/office/drawing/2017/decorative" val="1"/>
              </a:ext>
            </a:extLst>
          </p:cNvPr>
          <p:cNvSpPr/>
          <p:nvPr/>
        </p:nvSpPr>
        <p:spPr>
          <a:xfrm>
            <a:off x="6144768" y="2990088"/>
            <a:ext cx="5486400" cy="1417320"/>
          </a:xfrm>
          <a:prstGeom prst="roundRect">
            <a:avLst>
              <a:gd name="adj" fmla="val 5161"/>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8" name="Icon FaCodeBranch">
            <a:extLst>
              <a:ext uri="{C183D7F6-B498-43B3-948B-1728B52AA6E4}">
                <adec:decorative xmlns:adec="http://schemas.microsoft.com/office/drawing/2017/decorative" val="1"/>
              </a:ext>
            </a:extLst>
          </p:cNvPr>
          <p:cNvSpPr/>
          <p:nvPr/>
        </p:nvSpPr>
        <p:spPr>
          <a:xfrm>
            <a:off x="6373368" y="3337560"/>
            <a:ext cx="685800" cy="685800"/>
          </a:xfrm>
          <a:prstGeom prst="ellipse">
            <a:avLst/>
          </a:prstGeom>
          <a:solidFill>
            <a:srgbClr val="B91C1C"/>
          </a:solidFill>
          <a:ln w="12700">
            <a:solidFill>
              <a:srgbClr val="B91C1C"/>
            </a:solidFill>
            <a:prstDash val="solid"/>
          </a:ln>
        </p:spPr>
      </p:sp>
      <p:pic>
        <p:nvPicPr>
          <p:cNvPr id="19"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6537960" y="3502152"/>
            <a:ext cx="356616" cy="356616"/>
          </a:xfrm>
          <a:prstGeom prst="rect">
            <a:avLst/>
          </a:prstGeom>
        </p:spPr>
      </p:pic>
      <p:sp>
        <p:nvSpPr>
          <p:cNvPr id="20" name="Ask 4 text"/>
          <p:cNvSpPr txBox="1"/>
          <p:nvPr/>
        </p:nvSpPr>
        <p:spPr>
          <a:xfrm>
            <a:off x="7242048" y="3127248"/>
            <a:ext cx="4206240" cy="1188720"/>
          </a:xfrm>
          <a:prstGeom prst="rect">
            <a:avLst/>
          </a:prstGeom>
          <a:noFill/>
          <a:ln/>
        </p:spPr>
        <p:txBody>
          <a:bodyPr wrap="square" lIns="0" tIns="0" rIns="0" bIns="0" rtlCol="0" anchor="t"/>
          <a:lstStyle/>
          <a:p>
            <a:pPr marL="0" indent="0">
              <a:buNone/>
            </a:pPr>
            <a:r>
              <a:rPr lang="en-US" sz="1800" b="1" dirty="0">
                <a:solidFill>
                  <a:srgbClr val="B91C1C"/>
                </a:solidFill>
                <a:latin typeface="Cambria" pitchFamily="34" charset="0"/>
                <a:ea typeface="Cambria" pitchFamily="34" charset="-122"/>
                <a:cs typeface="Cambria" pitchFamily="34" charset="-120"/>
              </a:rPr>
              <a:t>Set the dates</a:t>
            </a:r>
            <a:endParaRPr lang="en-US" sz="1400" dirty="0"/>
          </a:p>
          <a:p>
            <a:pPr marL="0" indent="0">
              <a:buNone/>
            </a:pPr>
            <a:r>
              <a:rPr lang="en-US" sz="1450" dirty="0">
                <a:solidFill>
                  <a:schemeClr val="tx2"/>
                </a:solidFill>
              </a:rPr>
              <a:t>Gate dates on the sponsor's calendar; exception end dates on the authorizing official's</a:t>
            </a:r>
            <a:endParaRPr lang="en-US" sz="1400" dirty="0"/>
          </a:p>
        </p:txBody>
      </p:sp>
      <p:sp>
        <p:nvSpPr>
          <p:cNvPr id="21" name="Next">
            <a:extLst>
              <a:ext uri="{C183D7F6-B498-43B3-948B-1728B52AA6E4}">
                <adec:decorative xmlns:adec="http://schemas.microsoft.com/office/drawing/2017/decorative" val="1"/>
              </a:ext>
            </a:extLst>
          </p:cNvPr>
          <p:cNvSpPr/>
          <p:nvPr/>
        </p:nvSpPr>
        <p:spPr>
          <a:xfrm>
            <a:off x="548640" y="4709160"/>
            <a:ext cx="11109960" cy="1280160"/>
          </a:xfrm>
          <a:prstGeom prst="roundRect">
            <a:avLst>
              <a:gd name="adj" fmla="val 5714"/>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2" name="Icon FaRoute">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1F2A44"/>
          </a:solidFill>
          <a:ln w="12700">
            <a:solidFill>
              <a:srgbClr val="1F2A44"/>
            </a:solidFill>
            <a:prstDash val="solid"/>
          </a:ln>
        </p:spPr>
      </p:sp>
      <p:pic>
        <p:nvPicPr>
          <p:cNvPr id="23" name="Image 4">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952805" y="5159045"/>
            <a:ext cx="380390" cy="380390"/>
          </a:xfrm>
          <a:prstGeom prst="rect">
            <a:avLst/>
          </a:prstGeom>
        </p:spPr>
      </p:pic>
      <p:sp>
        <p:nvSpPr>
          <p:cNvPr id="24" name="Next text"/>
          <p:cNvSpPr txBox="1"/>
          <p:nvPr/>
        </p:nvSpPr>
        <p:spPr>
          <a:xfrm>
            <a:off x="1737360" y="4754880"/>
            <a:ext cx="9738360" cy="1188720"/>
          </a:xfrm>
          <a:prstGeom prst="rect">
            <a:avLst/>
          </a:prstGeom>
          <a:noFill/>
          <a:ln/>
        </p:spPr>
        <p:txBody>
          <a:bodyPr wrap="square" lIns="0" tIns="0" rIns="0" bIns="0" rtlCol="0" anchor="ctr"/>
          <a:lstStyle/>
          <a:p>
            <a:pPr marL="0" indent="0">
              <a:buNone/>
            </a:pPr>
            <a:r>
              <a:rPr lang="en-US" sz="1650" b="1" dirty="0">
                <a:solidFill>
                  <a:srgbClr val="1F2A44"/>
                </a:solidFill>
              </a:rPr>
              <a:t>Start with an inventory, an owner, and a date: </a:t>
            </a:r>
            <a:r>
              <a:rPr lang="en-US" sz="1650" dirty="0">
                <a:solidFill>
                  <a:schemeClr val="tx2"/>
                </a:solidFill>
              </a:rPr>
              <a:t>none of this requires a vendor decision on day one. Phase 0 produces all three, and every later decision reads from them.</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M-22-09 (zero trust implementation lead); NIST SP 800-37 Rev. 2. Book 01, Chapters 09, 10 and 12.</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8C2296AC-23B2-4D29-7A26-1031F0C91DE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5181513-CAF8-4C74-8295-4709B68108B0}" label="English (captions)" lang="en-US" r:embed="rId11"/>
                        </p173:trackLst>
                      </p173:tracksInfo>
                    </p:ext>
                  </p14:extLst>
                </p14:media>
              </p:ext>
            </p:extLst>
          </p:nvPr>
        </p:nvPicPr>
        <p:blipFill>
          <a:blip r:embed="rId10"/>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2480"/>
    </mc:Choice>
    <mc:Fallback>
      <p:transition spd="slow" advTm="524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1480"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5688</Words>
  <Application>Microsoft Office PowerPoint</Application>
  <PresentationFormat>Widescreen</PresentationFormat>
  <Paragraphs>372</Paragraphs>
  <Slides>16</Slides>
  <Notes>16</Notes>
  <HiddenSlides>0</HiddenSlides>
  <MMClips>16</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Federal Modernization Workbook</vt:lpstr>
      <vt:lpstr>Why Is Modernization So Hard?</vt:lpstr>
      <vt:lpstr>Four eras built the estate; none kept one truth</vt:lpstr>
      <vt:lpstr>Sessions carried trust; tokens are checked each time</vt:lpstr>
      <vt:lpstr>The OU tree was the governance tree</vt:lpstr>
      <vt:lpstr>Eleven categories, and the failures are silent</vt:lpstr>
      <vt:lpstr>One governed host, five roles, one writer</vt:lpstr>
      <vt:lpstr>Identity: one HR stamp drives five outcomes</vt:lpstr>
      <vt:lpstr>Policy: regenerate Group Policy, don't copy it</vt:lpstr>
      <vt:lpstr>DNS, DHCP and IPAM move together, and with AD</vt:lpstr>
      <vt:lpstr>Compute: the domain join is the last thing to go</vt:lpstr>
      <vt:lpstr>The access plane: every request decided again</vt:lpstr>
      <vt:lpstr>Instruments versus orchestra: who leads it</vt:lpstr>
      <vt:lpstr>Inventory first: read-only, with provenance</vt:lpstr>
      <vt:lpstr>Analyze, plan, deliver, under an actuation ceiling</vt:lpstr>
      <vt:lpstr>The roadmap: seven phases, gated by data</vt:lpstr>
      <vt:lpstr>Decisions to make, and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01 — The Transformation Arc</dc:title>
  <dc:subject>PptxGenJS Presentation</dc:subject>
  <dc:creator>Michael F. Stratton</dc:creator>
  <cp:lastModifiedBy>Michael F. Stratton</cp:lastModifiedBy>
  <cp:revision>2</cp:revision>
  <dcterms:created xsi:type="dcterms:W3CDTF">2026-10-21T14:42:47Z</dcterms:created>
  <dcterms:modified xsi:type="dcterms:W3CDTF">2026-10-22T22:29:57Z</dcterms:modified>
</cp:coreProperties>
</file>