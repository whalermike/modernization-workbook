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3F5CD546-9B98-9504-0230-EB6ED5E4E8C0}">
          <p14:sldIdLst>
            <p14:sldId id="256"/>
            <p14:sldId id="257"/>
            <p14:sldId id="258"/>
            <p14:sldId id="259"/>
          </p14:sldIdLst>
        </p14:section>
        <p14:section name="What we should do" id="{E8C318AA-1AD2-CA61-F418-4A86C92EEF74}">
          <p14:sldIdLst>
            <p14:sldId id="260"/>
            <p14:sldId id="261"/>
            <p14:sldId id="262"/>
          </p14:sldIdLst>
        </p14:section>
        <p14:section name="Who owns it" id="{7FE7344D-8820-CA0F-630D-881AA1996D05}">
          <p14:sldIdLst>
            <p14:sldId id="263"/>
          </p14:sldIdLst>
        </p14:section>
        <p14:section name="How to do it" id="{D031150B-B6C9-51C4-849A-33771AFF2EA4}">
          <p14:sldIdLst>
            <p14:sldId id="264"/>
            <p14:sldId id="265"/>
            <p14:sldId id="266"/>
            <p14:sldId id="267"/>
          </p14:sldIdLst>
        </p14:section>
        <p14:section name="Backup" id="{CABEB526-4615-8EA4-2F66-78B5A812F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1910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Federal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First, where this book sits. The series moves four populations to the cloud, each on its own track, and Book 03 is the HR track: people.
It accomplishes one thing. Every employee account follows the HR record, and every contractor account follows the contractor source of authority, which the agency still has to designate. Joiners, movers and leavers then change access by rule, with no ticket and no hand-edited group.
You know you're there when every enabled account matches an authoritative record or carries an owned exception, every group that used to come from an OU is a validated rule, and the drift checks run clean. Those criteria are program design guidance.
What this book doesn't cover: devices and servers, which are Book 05, and service accounts, application principals and AI agents, which are Books 02, 06 and 17. HR never describes them.
Workbook: Book 03, Chapters 01, 06, 08, 10 and 11; Book 05, Chapter 03; the attribute-driven migration guide, "Beyond users."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[2:37–3:48]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[3:48–5:07]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[5:07–6:12]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[6:12–7:19]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[7:19–8:36]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[8:36–9:43]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[9:43–10:45]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[10:45–11:56]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[11:56–12:59]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3.png"/><Relationship Id="rId4" Type="http://schemas.openxmlformats.org/officeDocument/2006/relationships/notesSlide" Target="../notesSlides/notesSlide3.xml"/><Relationship Id="rId9" Type="http://schemas.openxmlformats.org/officeDocument/2006/relationships/image" Target="../media/image7.png"/><Relationship Id="rId11"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notesSlide" Target="../notesSlides/notesSlide12.xml"/><Relationship Id="rId8"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proposal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B47614A-65A8-29B8-6966-F82689BCFF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04C773-1457-4BDC-8E7A-82DABAD585E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20"/>
    </mc:Choice>
    <mc:Fallback>
      <p:transition spd="slow" advTm="40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Book 03 is the HR track: people, from their records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rack col 1">
            <a:extLst>
              <a:ext uri="{C183D7F6-B498-43B3-948B-1728B52AA6E4}">
                <adec:decorative xmlns:adec="http://schemas.microsoft.com/office/drawing/2017/decorative" val="1"/>
              </a:ext>
            </a:extLst>
          </p:cNvPr>
          <p:cNvSpPr/>
          <p:nvPr/>
        </p:nvSpPr>
        <p:spPr>
          <a:xfrm>
            <a:off x="548640" y="137160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49808" y="1499616"/>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31290"/>
            <a:ext cx="285293" cy="285293"/>
          </a:xfrm>
          <a:prstGeom prst="rect">
            <a:avLst/>
          </a:prstGeom>
        </p:spPr>
      </p:pic>
      <p:sp>
        <p:nvSpPr>
          <p:cNvPr id="8" name="Track head 1"/>
          <p:cNvSpPr txBox="1"/>
          <p:nvPr/>
        </p:nvSpPr>
        <p:spPr>
          <a:xfrm>
            <a:off x="1444752" y="1499616"/>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it accomplishes</a:t>
            </a:r>
            <a:endParaRPr lang="en-US" sz="1700" dirty="0"/>
          </a:p>
        </p:txBody>
      </p:sp>
      <p:sp>
        <p:nvSpPr>
          <p:cNvPr id="9" name="Track text 1"/>
          <p:cNvSpPr txBox="1"/>
          <p:nvPr/>
        </p:nvSpPr>
        <p:spPr>
          <a:xfrm>
            <a:off x="77724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Employees from HR; contractors from their own source of authority</a:t>
            </a:r>
            <a:endParaRPr lang="en-US" sz="1400" dirty="0"/>
          </a:p>
          <a:p>
            <a:pPr marL="342900" indent="-342900">
              <a:spcAft>
                <a:spcPts val="600"/>
              </a:spcAft>
              <a:buSzPct val="100000"/>
              <a:buChar char="•"/>
            </a:pPr>
            <a:r>
              <a:rPr lang="en-US" sz="1350" dirty="0">
                <a:solidFill>
                  <a:schemeClr val="tx2"/>
                </a:solidFill>
              </a:rPr>
              <a:t>Joiner, mover and leaver change access by rule, with no ticket</a:t>
            </a:r>
            <a:endParaRPr lang="en-US" sz="1400" dirty="0"/>
          </a:p>
          <a:p>
            <a:pPr marL="342900" indent="-342900">
              <a:spcAft>
                <a:spcPts val="600"/>
              </a:spcAft>
              <a:buSzPct val="100000"/>
              <a:buChar char="•"/>
            </a:pPr>
            <a:r>
              <a:rPr lang="en-US" sz="1350" dirty="0">
                <a:solidFill>
                  <a:schemeClr val="tx2"/>
                </a:solidFill>
              </a:rPr>
              <a:t>Attributes feed groups, admin units, Conditional Access and Lifecycle Workflows</a:t>
            </a:r>
            <a:endParaRPr lang="en-US" sz="1400" dirty="0"/>
          </a:p>
        </p:txBody>
      </p:sp>
      <p:sp>
        <p:nvSpPr>
          <p:cNvPr id="10" name="Track col 2">
            <a:extLst>
              <a:ext uri="{C183D7F6-B498-43B3-948B-1728B52AA6E4}">
                <adec:decorative xmlns:adec="http://schemas.microsoft.com/office/drawing/2017/decorative" val="1"/>
              </a:ext>
            </a:extLst>
          </p:cNvPr>
          <p:cNvSpPr/>
          <p:nvPr/>
        </p:nvSpPr>
        <p:spPr>
          <a:xfrm>
            <a:off x="4297680" y="137160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9616"/>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0522" y="1631290"/>
            <a:ext cx="285293" cy="285293"/>
          </a:xfrm>
          <a:prstGeom prst="rect">
            <a:avLst/>
          </a:prstGeom>
        </p:spPr>
      </p:pic>
      <p:sp>
        <p:nvSpPr>
          <p:cNvPr id="13" name="Track head 2"/>
          <p:cNvSpPr txBox="1"/>
          <p:nvPr/>
        </p:nvSpPr>
        <p:spPr>
          <a:xfrm>
            <a:off x="5193792" y="1499616"/>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How you know</a:t>
            </a:r>
            <a:endParaRPr lang="en-US" sz="1700" dirty="0"/>
          </a:p>
        </p:txBody>
      </p:sp>
      <p:sp>
        <p:nvSpPr>
          <p:cNvPr id="14" name="Track text 2"/>
          <p:cNvSpPr txBox="1"/>
          <p:nvPr/>
        </p:nvSpPr>
        <p:spPr>
          <a:xfrm>
            <a:off x="452628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enabled account matches an HR or contractor record, or an owned exception</a:t>
            </a:r>
            <a:endParaRPr lang="en-US" sz="1400" dirty="0"/>
          </a:p>
          <a:p>
            <a:pPr marL="342900" indent="-342900">
              <a:spcAft>
                <a:spcPts val="600"/>
              </a:spcAft>
              <a:buSzPct val="100000"/>
              <a:buChar char="•"/>
            </a:pPr>
            <a:r>
              <a:rPr lang="en-US" sz="1350" dirty="0">
                <a:solidFill>
                  <a:schemeClr val="tx2"/>
                </a:solidFill>
              </a:rPr>
              <a:t>Every OU-derived group is a validated rule; no hand-kept membership</a:t>
            </a:r>
            <a:endParaRPr lang="en-US" sz="1400" dirty="0"/>
          </a:p>
          <a:p>
            <a:pPr marL="342900" indent="-342900">
              <a:spcAft>
                <a:spcPts val="600"/>
              </a:spcAft>
              <a:buSzPct val="100000"/>
              <a:buChar char="•"/>
            </a:pPr>
            <a:r>
              <a:rPr lang="en-US" sz="1350" dirty="0">
                <a:solidFill>
                  <a:schemeClr val="tx2"/>
                </a:solidFill>
              </a:rPr>
              <a:t>Drift checks run clean; fixes go to the source (design guidance)</a:t>
            </a:r>
            <a:endParaRPr lang="en-US" sz="1400" dirty="0"/>
          </a:p>
        </p:txBody>
      </p:sp>
      <p:sp>
        <p:nvSpPr>
          <p:cNvPr id="15" name="Track col 3">
            <a:extLst>
              <a:ext uri="{C183D7F6-B498-43B3-948B-1728B52AA6E4}">
                <adec:decorative xmlns:adec="http://schemas.microsoft.com/office/drawing/2017/decorative" val="1"/>
              </a:ext>
            </a:extLst>
          </p:cNvPr>
          <p:cNvSpPr/>
          <p:nvPr/>
        </p:nvSpPr>
        <p:spPr>
          <a:xfrm>
            <a:off x="8046720" y="137160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499616"/>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9562" y="1631290"/>
            <a:ext cx="285293" cy="285293"/>
          </a:xfrm>
          <a:prstGeom prst="rect">
            <a:avLst/>
          </a:prstGeom>
        </p:spPr>
      </p:pic>
      <p:sp>
        <p:nvSpPr>
          <p:cNvPr id="18" name="Track head 3"/>
          <p:cNvSpPr txBox="1"/>
          <p:nvPr/>
        </p:nvSpPr>
        <p:spPr>
          <a:xfrm>
            <a:off x="8942832" y="1499616"/>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Not in this book</a:t>
            </a:r>
            <a:endParaRPr lang="en-US" sz="1700" dirty="0"/>
          </a:p>
        </p:txBody>
      </p:sp>
      <p:sp>
        <p:nvSpPr>
          <p:cNvPr id="19" name="Track text 3"/>
          <p:cNvSpPr txBox="1"/>
          <p:nvPr/>
        </p:nvSpPr>
        <p:spPr>
          <a:xfrm>
            <a:off x="827532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Devices, the Intune track: Book 05</a:t>
            </a:r>
            <a:endParaRPr lang="en-US" sz="1400" dirty="0"/>
          </a:p>
          <a:p>
            <a:pPr marL="342900" indent="-342900">
              <a:spcAft>
                <a:spcPts val="600"/>
              </a:spcAft>
              <a:buSzPct val="100000"/>
              <a:buChar char="•"/>
            </a:pPr>
            <a:r>
              <a:rPr lang="en-US" sz="1350" dirty="0">
                <a:solidFill>
                  <a:schemeClr val="tx2"/>
                </a:solidFill>
              </a:rPr>
              <a:t>Servers, the Arc track: Book 05, Ch 09</a:t>
            </a:r>
            <a:endParaRPr lang="en-US" sz="1400" dirty="0"/>
          </a:p>
          <a:p>
            <a:pPr marL="342900" indent="-342900">
              <a:spcAft>
                <a:spcPts val="600"/>
              </a:spcAft>
              <a:buSzPct val="100000"/>
              <a:buChar char="•"/>
            </a:pPr>
            <a:r>
              <a:rPr lang="en-US" sz="1350" dirty="0">
                <a:solidFill>
                  <a:schemeClr val="tx2"/>
                </a:solidFill>
              </a:rPr>
              <a:t>Service accounts: Book 02, Ch 09</a:t>
            </a:r>
            <a:endParaRPr lang="en-US" sz="1400" dirty="0"/>
          </a:p>
          <a:p>
            <a:pPr marL="342900" indent="-342900">
              <a:spcAft>
                <a:spcPts val="600"/>
              </a:spcAft>
              <a:buSzPct val="100000"/>
              <a:buChar char="•"/>
            </a:pPr>
            <a:r>
              <a:rPr lang="en-US" sz="1350" dirty="0">
                <a:solidFill>
                  <a:schemeClr val="tx2"/>
                </a:solidFill>
              </a:rPr>
              <a:t>SQL and app principals: Book 06; AI agents: Book 17</a:t>
            </a:r>
            <a:endParaRPr lang="en-US" sz="1400" dirty="0"/>
          </a:p>
        </p:txBody>
      </p:sp>
      <p:sp>
        <p:nvSpPr>
          <p:cNvPr id="20" name="Reach">
            <a:extLst>
              <a:ext uri="{C183D7F6-B498-43B3-948B-1728B52AA6E4}">
                <adec:decorative xmlns:adec="http://schemas.microsoft.com/office/drawing/2017/decorative" val="1"/>
              </a:ext>
            </a:extLst>
          </p:cNvPr>
          <p:cNvSpPr/>
          <p:nvPr/>
        </p:nvSpPr>
        <p:spPr>
          <a:xfrm>
            <a:off x="548640" y="470916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953305"/>
            <a:ext cx="380390" cy="380390"/>
          </a:xfrm>
          <a:prstGeom prst="rect">
            <a:avLst/>
          </a:prstGeom>
        </p:spPr>
      </p:pic>
      <p:sp>
        <p:nvSpPr>
          <p:cNvPr id="23" name="Reach text"/>
          <p:cNvSpPr txBox="1"/>
          <p:nvPr/>
        </p:nvSpPr>
        <p:spPr>
          <a:xfrm>
            <a:off x="1737360" y="475488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HR never describes a device, a server or a service: </a:t>
            </a:r>
            <a:r>
              <a:rPr lang="en-US" sz="1650" dirty="0">
                <a:solidFill>
                  <a:schemeClr val="tx2"/>
                </a:solidFill>
              </a:rPr>
              <a:t>a device rule can't read its owner, and a service account answers to its owner and sponsor, not to a hire date.</a:t>
            </a:r>
            <a:endParaRPr lang="en-US" sz="1650" dirty="0"/>
          </a:p>
        </p:txBody>
      </p:sp>
      <p:sp>
        <p:nvSpPr>
          <p:cNvPr id="24" name="Requirements"/>
          <p:cNvSpPr txBox="1"/>
          <p:nvPr/>
        </p:nvSpPr>
        <p:spPr>
          <a:xfrm>
            <a:off x="548640" y="5669280"/>
            <a:ext cx="11109960" cy="310896"/>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AC-2, AC-2(1), PS-4, PS-5, IA-4(4); OMB M-19-17; OMB M-22-09 §III.A (Book 03, Chapter 11: control support, not control closure)</a:t>
            </a:r>
            <a:endParaRPr lang="en-US" sz="11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Chapters 01, 02, 06, 08, 10 and 11; Book 05, Chapter 03; companion guide, attribute-driven migration. Full citations in the backup.</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75BB802-6B66-1573-CAFF-96521C9DF2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8BC603-00FE-4954-9A93-E0012B3FDEF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70"/>
    </mc:Choice>
    <mc:Fallback>
      <p:transition spd="slow" advTm="5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Access outlives the job</a:t>
            </a:r>
            <a:endParaRPr lang="en-US" sz="1400" dirty="0"/>
          </a:p>
          <a:p>
            <a:pPr marL="0" indent="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Records we can't trust</a:t>
            </a:r>
            <a:endParaRPr lang="en-US" sz="1400" dirty="0"/>
          </a:p>
          <a:p>
            <a:pPr marL="0" indent="0">
              <a:buNone/>
            </a:pPr>
            <a:r>
              <a:rPr lang="en-US" sz="1400" dirty="0">
                <a:solidFill>
                  <a:schemeClr val="tx2"/>
                </a:solidFill>
              </a:rPr>
              <a:t>Phone book, managers and approval routing drift from HR.</a:t>
            </a:r>
            <a:endParaRPr lang="en-US" sz="1400" dirty="0"/>
          </a:p>
        </p:txBody>
      </p:sp>
      <p:sp>
        <p:nvSpPr>
          <p:cNvPr id="12" name="Icon FaUserClock">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Cost and delay</a:t>
            </a:r>
            <a:endParaRPr lang="en-US" sz="1400" dirty="0"/>
          </a:p>
          <a:p>
            <a:pPr marL="0" indent="0">
              <a:buNone/>
            </a:pPr>
            <a:r>
              <a:rPr lang="en-US" sz="1400" dirty="0">
                <a:solidFill>
                  <a:schemeClr val="tx2"/>
                </a:solidFill>
              </a:rPr>
              <a:t>Every joiner, mover and leaver is help-desk work.</a:t>
            </a:r>
            <a:endParaRPr lang="en-US" sz="1400" dirty="0"/>
          </a:p>
        </p:txBody>
      </p:sp>
      <p:sp>
        <p:nvSpPr>
          <p:cNvPr id="15" name="Token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THE GAP ZERO TRUST EXPOSES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marL="0" indent="0">
              <a:buNone/>
            </a:pPr>
            <a:r>
              <a:rPr lang="en-US" sz="1500" b="1" dirty="0">
                <a:solidFill>
                  <a:srgbClr val="0F766E"/>
                </a:solidFill>
              </a:rPr>
              <a:t>Those are workforce facts. They live in HR.</a:t>
            </a:r>
            <a:endParaRPr lang="en-US" sz="1500" dirty="0"/>
          </a:p>
        </p:txBody>
      </p:sp>
      <p:sp>
        <p:nvSpPr>
          <p:cNvPr id="21" name="Do noth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If we do nothing: </a:t>
            </a: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(PIV termination); NIST SP 800-53 PS-4, AC-2. Book 03, Chapters 01–02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C956DF9-1296-38B8-7C0D-A046245233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7BF653-1F8D-4076-88C9-3F7D25EF4BDC}"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marL="0" indent="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Honest limit: </a:t>
            </a: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6C91821-F709-ABCC-B48A-8A8871EAC4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CBD6E4-CC36-435F-9560-933FF25F9CA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80"/>
    </mc:Choice>
    <mc:Fallback>
      <p:transition spd="slow" advTm="6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2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42316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Judgment">
            <a:extLst>
              <a:ext uri="{C183D7F6-B498-43B3-948B-1728B52AA6E4}">
                <adec:decorative xmlns:adec="http://schemas.microsoft.com/office/drawing/2017/decorative" val="1"/>
              </a:ext>
            </a:extLst>
          </p:cNvPr>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ghtbulb">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judgment call: </a:t>
            </a: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09BFA21-665D-83C3-15B6-E84B9F0F48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F9D6E0-0BE3-4218-8AC2-7D0A67EB208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30"/>
    </mc:Choice>
    <mc:Fallback>
      <p:transition spd="slow" advTm="6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1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411480">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odel box">
            <a:extLst>
              <a:ext uri="{C183D7F6-B498-43B3-948B-1728B52AA6E4}">
                <adec:decorative xmlns:adec="http://schemas.microsoft.com/office/drawing/2017/decorative" val="1"/>
              </a:ext>
            </a:extLst>
          </p:cNvPr>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Sitemap">
            <a:extLst>
              <a:ext uri="{C183D7F6-B498-43B3-948B-1728B52AA6E4}">
                <adec:decorative xmlns:adec="http://schemas.microsoft.com/office/drawing/2017/decorative" val="1"/>
              </a:ext>
            </a:extLst>
          </p:cNvPr>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rule that makes it work: </a:t>
            </a: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675DF93-66AB-788D-1CDD-E06BB94F50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F0CE43-C1A4-4FA5-87B6-2A72F704C88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90"/>
    </mc:Choice>
    <mc:Fallback>
      <p:transition spd="slow" advTm="60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pe 0">
            <a:extLst>
              <a:ext uri="{C183D7F6-B498-43B3-948B-1728B52AA6E4}">
                <adec:decorative xmlns:adec="http://schemas.microsoft.com/office/drawing/2017/decorative" val="1"/>
              </a:ext>
            </a:extLst>
          </p:cNvPr>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marL="0" indent="0">
              <a:spcAft>
                <a:spcPts val="400"/>
              </a:spcAft>
              <a:buNone/>
            </a:pPr>
            <a:r>
              <a:rPr lang="en-US" sz="1400" dirty="0">
                <a:solidFill>
                  <a:schemeClr val="tx2"/>
                </a:solidFill>
              </a:rPr>
              <a:t>Worker records and personnel actions</a:t>
            </a:r>
            <a:endParaRPr lang="en-US" sz="1400" dirty="0"/>
          </a:p>
        </p:txBody>
      </p:sp>
      <p:sp>
        <p:nvSpPr>
          <p:cNvPr id="7" name="Pipe 1">
            <a:extLst>
              <a:ext uri="{C183D7F6-B498-43B3-948B-1728B52AA6E4}">
                <adec:decorative xmlns:adec="http://schemas.microsoft.com/office/drawing/2017/decorative" val="1"/>
              </a:ext>
            </a:extLst>
          </p:cNvPr>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marL="0" indent="0">
              <a:spcAft>
                <a:spcPts val="400"/>
              </a:spcAft>
              <a:buNone/>
            </a:pPr>
            <a:r>
              <a:rPr lang="en-US" sz="1400" dirty="0">
                <a:solidFill>
                  <a:schemeClr val="tx2"/>
                </a:solidFill>
              </a:rPr>
              <a:t>Validate, sequence, normalize to SCIM, write provenance, reconcile</a:t>
            </a:r>
            <a:endParaRPr lang="en-US" sz="1400" dirty="0"/>
          </a:p>
        </p:txBody>
      </p:sp>
      <p:sp>
        <p:nvSpPr>
          <p:cNvPr id="9" name="Pipe 2">
            <a:extLst>
              <a:ext uri="{C183D7F6-B498-43B3-948B-1728B52AA6E4}">
                <adec:decorative xmlns:adec="http://schemas.microsoft.com/office/drawing/2017/decorative" val="1"/>
              </a:ext>
            </a:extLst>
          </p:cNvPr>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marL="0" indent="0">
              <a:spcAft>
                <a:spcPts val="400"/>
              </a:spcAft>
              <a:buNone/>
            </a:pPr>
            <a:r>
              <a:rPr lang="en-US" sz="1400" dirty="0">
                <a:solidFill>
                  <a:schemeClr val="tx2"/>
                </a:solidFill>
              </a:rPr>
              <a:t>API-driven bulk upload; daily call limits apply</a:t>
            </a:r>
            <a:endParaRPr lang="en-US" sz="1400" dirty="0"/>
          </a:p>
        </p:txBody>
      </p:sp>
      <p:sp>
        <p:nvSpPr>
          <p:cNvPr id="11" name="Pipe 3">
            <a:extLst>
              <a:ext uri="{C183D7F6-B498-43B3-948B-1728B52AA6E4}">
                <adec:decorative xmlns:adec="http://schemas.microsoft.com/office/drawing/2017/decorative" val="1"/>
              </a:ext>
            </a:extLst>
          </p:cNvPr>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marL="0" indent="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marL="0" indent="0">
              <a:buNone/>
            </a:pPr>
            <a:r>
              <a:rPr lang="en-US" sz="1500" b="1" dirty="0">
                <a:solidFill>
                  <a:srgbClr val="1F2A44"/>
                </a:solidFill>
              </a:rPr>
              <a:t>Fail closed: </a:t>
            </a: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a:extLst>
              <a:ext uri="{C183D7F6-B498-43B3-948B-1728B52AA6E4}">
                <adec:decorative xmlns:adec="http://schemas.microsoft.com/office/drawing/2017/decorative" val="1"/>
              </a:ext>
            </a:extLst>
          </p:cNvPr>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5" name="Icon FaRightLef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The technology is the example, not the point: </a:t>
            </a: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5B8FE5E-ACF9-75DD-2A6D-2E9304A414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BD0076-12A8-40B3-8388-BE7DEAD1BAB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40"/>
    </mc:Choice>
    <mc:Fallback>
      <p:transition spd="slow" advTm="62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5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Platform, standards, interconnection</a:t>
            </a:r>
            <a:endParaRPr lang="en-US" sz="1450" dirty="0"/>
          </a:p>
          <a:p>
            <a:pPr marL="0" indent="0">
              <a:spcAft>
                <a:spcPts val="600"/>
              </a:spcAft>
              <a:buNone/>
            </a:pPr>
            <a:r>
              <a:rPr lang="en-US" sz="1450" b="1" dirty="0">
                <a:solidFill>
                  <a:srgbClr val="1F2A44"/>
                </a:solidFill>
              </a:rPr>
              <a:t>Contractor sources</a:t>
            </a:r>
            <a:endParaRPr lang="en-US" sz="1450" dirty="0"/>
          </a:p>
          <a:p>
            <a:pPr marL="0" indent="0">
              <a:spcAft>
                <a:spcPts val="600"/>
              </a:spcAft>
              <a:buNone/>
            </a:pPr>
            <a:r>
              <a:rPr lang="en-US" sz="1450" dirty="0">
                <a:solidFill>
                  <a:schemeClr val="tx2"/>
                </a:solidFill>
              </a:rPr>
              <a:t>Their own authoritative record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Disclosure basis, PIA, minimization</a:t>
            </a:r>
            <a:endParaRPr lang="en-US" sz="1450" dirty="0"/>
          </a:p>
          <a:p>
            <a:pPr marL="0" indent="0">
              <a:spcAft>
                <a:spcPts val="600"/>
              </a:spcAft>
              <a:buNone/>
            </a:pPr>
            <a:r>
              <a:rPr lang="en-US" sz="1450" b="1" dirty="0">
                <a:solidFill>
                  <a:srgbClr val="B45309"/>
                </a:solidFill>
              </a:rPr>
              <a:t>PIV office</a:t>
            </a:r>
            <a:endParaRPr lang="en-US" sz="1450" dirty="0"/>
          </a:p>
          <a:p>
            <a:pPr marL="0" indent="0">
              <a:spcAft>
                <a:spcPts val="600"/>
              </a:spcAft>
              <a:buNone/>
            </a:pPr>
            <a:r>
              <a:rPr lang="en-US" sz="1450" dirty="0">
                <a:solidFill>
                  <a:schemeClr val="tx2"/>
                </a:solidFill>
              </a:rPr>
              <a:t>Issuance and termination</a:t>
            </a:r>
            <a:endParaRPr lang="en-US" sz="1450" dirty="0"/>
          </a:p>
          <a:p>
            <a:pPr marL="0" indent="0">
              <a:spcAft>
                <a:spcPts val="600"/>
              </a:spcAft>
              <a:buNone/>
            </a:pPr>
            <a:r>
              <a:rPr lang="en-US" sz="1450" b="1" dirty="0">
                <a:solidFill>
                  <a:srgbClr val="B45309"/>
                </a:solidFill>
              </a:rPr>
              <a:t>ISSO and AO</a:t>
            </a:r>
            <a:endParaRPr lang="en-US" sz="1450" dirty="0"/>
          </a:p>
          <a:p>
            <a:pPr marL="0" indent="0">
              <a:spcAft>
                <a:spcPts val="600"/>
              </a:spcAft>
              <a:buNone/>
            </a:pPr>
            <a:r>
              <a:rPr lang="en-US" sz="1450" dirty="0">
                <a:solidFill>
                  <a:schemeClr val="tx2"/>
                </a:solidFill>
              </a:rPr>
              <a:t>Evidence and accepted risk</a:t>
            </a:r>
            <a:endParaRPr lang="en-US" sz="1450" dirty="0"/>
          </a:p>
        </p:txBody>
      </p:sp>
      <p:sp>
        <p:nvSpPr>
          <p:cNvPr id="20" name="Archite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data architect's role: </a:t>
            </a: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4B6946F-732D-72F0-C85D-C68D552F42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B240CC-90D9-4596-A12B-EC81E051AF3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20"/>
    </mc:Choice>
    <mc:Fallback>
      <p:transition spd="slow" advTm="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6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 0">
            <a:extLst>
              <a:ext uri="{C183D7F6-B498-43B3-948B-1728B52AA6E4}">
                <adec:decorative xmlns:adec="http://schemas.microsoft.com/office/drawing/2017/decorative" val="1"/>
              </a:ext>
            </a:extLst>
          </p:cNvPr>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marL="0" indent="0">
              <a:buNone/>
            </a:pPr>
            <a:r>
              <a:rPr lang="en-US" sz="1700" b="1" dirty="0">
                <a:solidFill>
                  <a:srgbClr val="0F766E"/>
                </a:solidFill>
              </a:rPr>
              <a:t>Joiner</a:t>
            </a:r>
            <a:endParaRPr lang="en-US" sz="1400" dirty="0"/>
          </a:p>
          <a:p>
            <a:pPr marL="0" indent="0">
              <a:buNone/>
            </a:pPr>
            <a:r>
              <a:rPr lang="en-US" sz="1400" dirty="0">
                <a:solidFill>
                  <a:schemeClr val="tx2"/>
                </a:solidFill>
              </a:rPr>
              <a:t>Account and baseline access ready on day one</a:t>
            </a:r>
            <a:endParaRPr lang="en-US" sz="1400" dirty="0"/>
          </a:p>
        </p:txBody>
      </p:sp>
      <p:sp>
        <p:nvSpPr>
          <p:cNvPr id="7" name="Ev 1">
            <a:extLst>
              <a:ext uri="{C183D7F6-B498-43B3-948B-1728B52AA6E4}">
                <adec:decorative xmlns:adec="http://schemas.microsoft.com/office/drawing/2017/decorative" val="1"/>
              </a:ext>
            </a:extLst>
          </p:cNvPr>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marL="0" indent="0">
              <a:buNone/>
            </a:pPr>
            <a:r>
              <a:rPr lang="en-US" sz="1700" b="1" dirty="0">
                <a:solidFill>
                  <a:srgbClr val="1F2A44"/>
                </a:solidFill>
              </a:rPr>
              <a:t>Mover</a:t>
            </a:r>
            <a:endParaRPr lang="en-US" sz="1400" dirty="0"/>
          </a:p>
          <a:p>
            <a:pPr marL="0" indent="0">
              <a:buNone/>
            </a:pPr>
            <a:r>
              <a:rPr lang="en-US" sz="1400" dirty="0">
                <a:solidFill>
                  <a:schemeClr val="tx2"/>
                </a:solidFill>
              </a:rPr>
              <a:t>Old access removed, new baseline applied, exceptions reviewed</a:t>
            </a:r>
            <a:endParaRPr lang="en-US" sz="1400" dirty="0"/>
          </a:p>
        </p:txBody>
      </p:sp>
      <p:sp>
        <p:nvSpPr>
          <p:cNvPr id="9" name="Ev 2">
            <a:extLst>
              <a:ext uri="{C183D7F6-B498-43B3-948B-1728B52AA6E4}">
                <adec:decorative xmlns:adec="http://schemas.microsoft.com/office/drawing/2017/decorative" val="1"/>
              </a:ext>
            </a:extLst>
          </p:cNvPr>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marL="0" indent="0">
              <a:buNone/>
            </a:pPr>
            <a:r>
              <a:rPr lang="en-US" sz="1700" b="1" dirty="0">
                <a:solidFill>
                  <a:srgbClr val="B91C1C"/>
                </a:solidFill>
              </a:rPr>
              <a:t>Leaver</a:t>
            </a:r>
            <a:endParaRPr lang="en-US" sz="1400" dirty="0"/>
          </a:p>
          <a:p>
            <a:pPr marL="0" indent="0">
              <a:buNone/>
            </a:pPr>
            <a:r>
              <a:rPr lang="en-US" sz="1400" dirty="0">
                <a:solidFill>
                  <a:schemeClr val="tx2"/>
                </a:solidFill>
              </a:rPr>
              <a:t>Block first: disable and revoke sessions — then credentials, devices, access</a:t>
            </a:r>
            <a:endParaRPr lang="en-US" sz="1400" dirty="0"/>
          </a:p>
        </p:txBody>
      </p:sp>
      <p:sp>
        <p:nvSpPr>
          <p:cNvPr id="11" name="Facts">
            <a:extLst>
              <a:ext uri="{C183D7F6-B498-43B3-948B-1728B52AA6E4}">
                <adec:decorative xmlns:adec="http://schemas.microsoft.com/office/drawing/2017/decorative" val="1"/>
              </a:ext>
            </a:extLst>
          </p:cNvPr>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By code, not by ticket: </a:t>
            </a: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9AFE4D80-8BF7-CC6C-B36B-D2D5563E48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824050-5E87-4D83-9EB6-EC2F23F926B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90"/>
    </mc:Choice>
    <mc:Fallback>
      <p:transition spd="slow" advTm="5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8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in 0">
            <a:extLst>
              <a:ext uri="{C183D7F6-B498-43B3-948B-1728B52AA6E4}">
                <adec:decorative xmlns:adec="http://schemas.microsoft.com/office/drawing/2017/decorative" val="1"/>
              </a:ext>
            </a:extLst>
          </p:cNvPr>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Personnel record</a:t>
            </a:r>
            <a:endParaRPr lang="en-US" sz="1500" dirty="0"/>
          </a:p>
        </p:txBody>
      </p:sp>
      <p:sp>
        <p:nvSpPr>
          <p:cNvPr id="7" name="Chain 1">
            <a:extLst>
              <a:ext uri="{C183D7F6-B498-43B3-948B-1728B52AA6E4}">
                <adec:decorative xmlns:adec="http://schemas.microsoft.com/office/drawing/2017/decorative" val="1"/>
              </a:ext>
            </a:extLst>
          </p:cNvPr>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Canonical attribute</a:t>
            </a:r>
            <a:endParaRPr lang="en-US" sz="1500" dirty="0"/>
          </a:p>
        </p:txBody>
      </p:sp>
      <p:sp>
        <p:nvSpPr>
          <p:cNvPr id="9" name="Chain 2">
            <a:extLst>
              <a:ext uri="{C183D7F6-B498-43B3-948B-1728B52AA6E4}">
                <adec:decorative xmlns:adec="http://schemas.microsoft.com/office/drawing/2017/decorative" val="1"/>
              </a:ext>
            </a:extLst>
          </p:cNvPr>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Rule or access package</a:t>
            </a:r>
            <a:endParaRPr lang="en-US" sz="1500" dirty="0"/>
          </a:p>
        </p:txBody>
      </p:sp>
      <p:sp>
        <p:nvSpPr>
          <p:cNvPr id="11" name="Chain 3">
            <a:extLst>
              <a:ext uri="{C183D7F6-B498-43B3-948B-1728B52AA6E4}">
                <adec:decorative xmlns:adec="http://schemas.microsoft.com/office/drawing/2017/decorative" val="1"/>
              </a:ext>
            </a:extLst>
          </p:cNvPr>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Entitlement</a:t>
            </a:r>
            <a:endParaRPr lang="en-US" sz="1500" dirty="0"/>
          </a:p>
        </p:txBody>
      </p:sp>
      <p:sp>
        <p:nvSpPr>
          <p:cNvPr id="13" name="Chain 4">
            <a:extLst>
              <a:ext uri="{C183D7F6-B498-43B3-948B-1728B52AA6E4}">
                <adec:decorative xmlns:adec="http://schemas.microsoft.com/office/drawing/2017/decorative" val="1"/>
              </a:ext>
            </a:extLst>
          </p:cNvPr>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marL="0" indent="0" algn="ctr">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marL="0" indent="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a:extLst>
              <a:ext uri="{C183D7F6-B498-43B3-948B-1728B52AA6E4}">
                <adec:decorative xmlns:adec="http://schemas.microsoft.com/office/drawing/2017/decorative" val="1"/>
              </a:ext>
            </a:extLst>
          </p:cNvPr>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Drift found by comparison</a:t>
            </a:r>
            <a:endParaRPr lang="en-US" sz="1400" dirty="0"/>
          </a:p>
          <a:p>
            <a:pPr marL="0" indent="0">
              <a:buNone/>
            </a:pPr>
            <a:r>
              <a:rPr lang="en-US" sz="1350" dirty="0">
                <a:solidFill>
                  <a:schemeClr val="tx2"/>
                </a:solidFill>
              </a:rPr>
              <a:t>Scheduled checks compare HR, the model and the directories</a:t>
            </a:r>
            <a:endParaRPr lang="en-US" sz="1400" dirty="0"/>
          </a:p>
        </p:txBody>
      </p:sp>
      <p:sp>
        <p:nvSpPr>
          <p:cNvPr id="18" name="Drift 1">
            <a:extLst>
              <a:ext uri="{C183D7F6-B498-43B3-948B-1728B52AA6E4}">
                <adec:decorative xmlns:adec="http://schemas.microsoft.com/office/drawing/2017/decorative" val="1"/>
              </a:ext>
            </a:extLst>
          </p:cNvPr>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Measured in business terms</a:t>
            </a:r>
            <a:endParaRPr lang="en-US" sz="1400" dirty="0"/>
          </a:p>
          <a:p>
            <a:pPr marL="0" indent="0">
              <a:buNone/>
            </a:pPr>
            <a:r>
              <a:rPr lang="en-US" sz="1350" dirty="0">
                <a:solidFill>
                  <a:schemeClr val="tx2"/>
                </a:solidFill>
              </a:rPr>
              <a:t>Separation-to-block time, orphan accounts, day-one readiness</a:t>
            </a:r>
            <a:endParaRPr lang="en-US" sz="1400" dirty="0"/>
          </a:p>
        </p:txBody>
      </p:sp>
      <p:sp>
        <p:nvSpPr>
          <p:cNvPr id="20" name="Drift 2">
            <a:extLst>
              <a:ext uri="{C183D7F6-B498-43B3-948B-1728B52AA6E4}">
                <adec:decorative xmlns:adec="http://schemas.microsoft.com/office/drawing/2017/decorative" val="1"/>
              </a:ext>
            </a:extLst>
          </p:cNvPr>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Kept long enough</a:t>
            </a:r>
            <a:endParaRPr lang="en-US" sz="1400" dirty="0"/>
          </a:p>
          <a:p>
            <a:pPr marL="0" indent="0">
              <a:buNone/>
            </a:pPr>
            <a:r>
              <a:rPr lang="en-US" sz="1350" dirty="0">
                <a:solidFill>
                  <a:schemeClr val="tx2"/>
                </a:solidFill>
              </a:rPr>
              <a:t>Entra keeps audit and provisioning logs 30 days with P1/P2 — export from the pilot onward</a:t>
            </a:r>
            <a:endParaRPr lang="en-US" sz="1400" dirty="0"/>
          </a:p>
        </p:txBody>
      </p:sp>
      <p:sp>
        <p:nvSpPr>
          <p:cNvPr id="22" name="Eviden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3"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Evidence as a byproduct: </a:t>
            </a: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A27B41F9-40CD-61E5-D70B-03C5809A4E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F16061-B89F-4D6C-AB66-A10695C024D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marL="0" indent="0" algn="ctr">
              <a:buNone/>
            </a:pPr>
            <a:r>
              <a:rPr lang="en-US" sz="1350" b="1" dirty="0">
                <a:solidFill>
                  <a:schemeClr val="tx2"/>
                </a:solidFill>
              </a:rPr>
              <a:t>Align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Authority and schema</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Build and test</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Pilot</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Lifecycle and access</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Cutover by population</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Gates are proposals: </a:t>
            </a: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ADA9195-5E19-AEEB-8145-65D0FB347E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FA4845-ECBE-4E6B-8E87-79A5A2024EA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20"/>
    </mc:Choice>
    <mc:Fallback>
      <p:transition spd="slow" advTm="56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0" indent="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23EB30D-068F-DF32-2760-60415D6F99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0ABEF0-CD98-46E8-BF5D-1A171146FEB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30"/>
    </mc:Choice>
    <mc:Fallback>
      <p:transition spd="slow" advTm="60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4494</Words>
  <Application>Microsoft Office PowerPoint</Application>
  <PresentationFormat>Widescreen</PresentationFormat>
  <Paragraphs>251</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Why Should HR Decide Who Exists?</vt:lpstr>
      <vt:lpstr>Book 03 is the HR track: people, from their records</vt:lpstr>
      <vt:lpstr>Identity is built by hand, and the mission is outgrowing it</vt:lpstr>
      <vt:lpstr>Why now: two migrations open one design window</vt:lpstr>
      <vt:lpstr>Four options, weighed against what leadership must balance</vt:lpstr>
      <vt:lpstr>One owner per fact, one model, one person key</vt:lpstr>
      <vt:lpstr>Provisioning: personnel records in, governed identities out</vt:lpstr>
      <vt:lpstr>Who owns, who uses, who guards</vt:lpstr>
      <vt:lpstr>Personnel actions drive joiner, mover and leaver</vt:lpstr>
      <vt:lpstr>From attributes to access, with evidence built in</vt:lpstr>
      <vt:lpstr>Seven phases, each gate the next phase's precondition</vt:lpstr>
      <vt:lpstr>How we'll know it works,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2026-10-29T13:00:12Z</dcterms:created>
  <dcterms:modified xsi:type="dcterms:W3CDTF">2026-10-29T17:34:28Z</dcterms:modified>
</cp:coreProperties>
</file>