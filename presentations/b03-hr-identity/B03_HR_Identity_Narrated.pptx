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3EDD7C59-8318-FDD1-BBF8-20C4D34FC889}">
          <p14:sldIdLst>
            <p14:sldId id="256"/>
            <p14:sldId id="257"/>
            <p14:sldId id="258"/>
          </p14:sldIdLst>
        </p14:section>
        <p14:section name="What we should do" id="{90B6B281-E1B0-4B64-A21C-100967F343E3}">
          <p14:sldIdLst>
            <p14:sldId id="259"/>
            <p14:sldId id="260"/>
            <p14:sldId id="261"/>
          </p14:sldIdLst>
        </p14:section>
        <p14:section name="Who owns it" id="{A8A206A4-3B33-4AF1-3E4C-823C2E912C4E}">
          <p14:sldIdLst>
            <p14:sldId id="262"/>
          </p14:sldIdLst>
        </p14:section>
        <p14:section name="How to do it" id="{13CD08CA-5AFB-6881-4AB9-B3BB02BF7BE2}">
          <p14:sldIdLst>
            <p14:sldId id="263"/>
            <p14:sldId id="264"/>
            <p14:sldId id="265"/>
            <p14:sldId id="266"/>
          </p14:sldIdLst>
        </p14:section>
        <p14:section name="Backup" id="{FC1024E8-21A6-2722-C676-DDC6501BD9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407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Federal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[1:37–2:48]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[2:48–4:07]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[4:07–5:12]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[5:12–6:19]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[6:19–7:36]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[7:36–8:43]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[8:43–9:45]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[10:56–11:59]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9.png"/><Relationship Id="rId4" Type="http://schemas.openxmlformats.org/officeDocument/2006/relationships/notesSlide" Target="../notesSlides/notesSlide7.xml"/><Relationship Id="rId9" Type="http://schemas.openxmlformats.org/officeDocument/2006/relationships/image" Target="../media/image3.png"/><Relationship Id="rId10"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1.xml"/><Relationship Id="rId8" Type="http://schemas.microsoft.com/office/2017/04/relationships/track" Target="../media/captions_slide1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proposal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A3E8B00-A0A4-2DE2-F5CD-94835F71C8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9199F8-41AB-4D76-807F-66229885DFB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000"/>
    </mc:Choice>
    <mc:Fallback>
      <p:transition spd="slow" advTm="40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TODAY: NOTHING CONNECTS HR TO IDENTITY</a:t>
            </a:r>
            <a:endParaRPr lang="en-US" sz="1200" dirty="0"/>
          </a:p>
        </p:txBody>
      </p:sp>
      <p:sp>
        <p:nvSpPr>
          <p:cNvPr id="6" name="Icon FaUserX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marL="0" indent="0">
              <a:buNone/>
            </a:pPr>
            <a:r>
              <a:rPr lang="en-US" sz="1650" b="1" dirty="0">
                <a:solidFill>
                  <a:srgbClr val="B91C1C"/>
                </a:solidFill>
              </a:rPr>
              <a:t>Access outlives the job</a:t>
            </a:r>
            <a:endParaRPr lang="en-US" sz="1400" dirty="0"/>
          </a:p>
          <a:p>
            <a:pPr marL="0" indent="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marL="0" indent="0">
              <a:buNone/>
            </a:pPr>
            <a:r>
              <a:rPr lang="en-US" sz="1650" b="1" dirty="0">
                <a:solidFill>
                  <a:srgbClr val="1F2A44"/>
                </a:solidFill>
              </a:rPr>
              <a:t>Records we can't trust</a:t>
            </a:r>
            <a:endParaRPr lang="en-US" sz="1400" dirty="0"/>
          </a:p>
          <a:p>
            <a:pPr marL="0" indent="0">
              <a:buNone/>
            </a:pPr>
            <a:r>
              <a:rPr lang="en-US" sz="1400" dirty="0">
                <a:solidFill>
                  <a:schemeClr val="tx2"/>
                </a:solidFill>
              </a:rPr>
              <a:t>Phone book, managers and approval routing drift from HR.</a:t>
            </a:r>
            <a:endParaRPr lang="en-US" sz="1400" dirty="0"/>
          </a:p>
        </p:txBody>
      </p:sp>
      <p:sp>
        <p:nvSpPr>
          <p:cNvPr id="12" name="Icon FaUserClock">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Cost and delay</a:t>
            </a:r>
            <a:endParaRPr lang="en-US" sz="1400" dirty="0"/>
          </a:p>
          <a:p>
            <a:pPr marL="0" indent="0">
              <a:buNone/>
            </a:pPr>
            <a:r>
              <a:rPr lang="en-US" sz="1400" dirty="0">
                <a:solidFill>
                  <a:schemeClr val="tx2"/>
                </a:solidFill>
              </a:rPr>
              <a:t>Every joiner, mover and leaver is help-desk work.</a:t>
            </a:r>
            <a:endParaRPr lang="en-US" sz="1400" dirty="0"/>
          </a:p>
        </p:txBody>
      </p:sp>
      <p:sp>
        <p:nvSpPr>
          <p:cNvPr id="15" name="Token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THE GAP ZERO TRUST EXPOSES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marL="0" indent="0">
              <a:buNone/>
            </a:pPr>
            <a:r>
              <a:rPr lang="en-US" sz="1500" b="1" dirty="0">
                <a:solidFill>
                  <a:srgbClr val="0F766E"/>
                </a:solidFill>
              </a:rPr>
              <a:t>Those are workforce facts. They live in HR.</a:t>
            </a:r>
            <a:endParaRPr lang="en-US" sz="1500" dirty="0"/>
          </a:p>
        </p:txBody>
      </p:sp>
      <p:sp>
        <p:nvSpPr>
          <p:cNvPr id="21" name="Do nothing">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If we do nothing: </a:t>
            </a: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(PIV termination); NIST SP 800-53 PS-4, AC-2. Book 03, Chapters 01–02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E1448A6-DF62-1E72-A66B-EAC8E81BB3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3FDE7D-7F9D-4996-AD5D-D757525050FD}"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ArrowUp">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marL="0" indent="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Honest limit: </a:t>
            </a: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37DEF36-1816-10CE-8B19-1D54DFCD0C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B414E8-ABFA-4B5F-88E6-A2769B5A8B3D}"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80"/>
    </mc:Choice>
    <mc:Fallback>
      <p:transition spd="slow" advTm="6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28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42316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a:extLst>
              <a:ext uri="{C183D7F6-B498-43B3-948B-1728B52AA6E4}">
                <adec:decorative xmlns:adec="http://schemas.microsoft.com/office/drawing/2017/decorative" val="1"/>
              </a:ext>
            </a:extLst>
          </p:cNvPr>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ghtbulb">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judgment call: </a:t>
            </a: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28416FA-3E2F-4FFA-EFE8-C81033D8CA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E03C80-929B-4E0E-9C7E-10F43AD316D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30"/>
    </mc:Choice>
    <mc:Fallback>
      <p:transition spd="slow" advTm="6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1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411480">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Model box">
            <a:extLst>
              <a:ext uri="{C183D7F6-B498-43B3-948B-1728B52AA6E4}">
                <adec:decorative xmlns:adec="http://schemas.microsoft.com/office/drawing/2017/decorative" val="1"/>
              </a:ext>
            </a:extLst>
          </p:cNvPr>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rule that makes it work: </a:t>
            </a: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F17662D-7B5E-A1A4-1167-8B3374384E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0C5B4C-AA8A-44C6-ACAD-E4D50DC10F0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590"/>
    </mc:Choice>
    <mc:Fallback>
      <p:transition spd="slow" advTm="60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5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pe 0">
            <a:extLst>
              <a:ext uri="{C183D7F6-B498-43B3-948B-1728B52AA6E4}">
                <adec:decorative xmlns:adec="http://schemas.microsoft.com/office/drawing/2017/decorative" val="1"/>
              </a:ext>
            </a:extLst>
          </p:cNvPr>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marL="0" indent="0">
              <a:spcAft>
                <a:spcPts val="400"/>
              </a:spcAft>
              <a:buNone/>
            </a:pPr>
            <a:r>
              <a:rPr lang="en-US" sz="1400" dirty="0">
                <a:solidFill>
                  <a:schemeClr val="tx2"/>
                </a:solidFill>
              </a:rPr>
              <a:t>Worker records and personnel actions</a:t>
            </a:r>
            <a:endParaRPr lang="en-US" sz="1400" dirty="0"/>
          </a:p>
        </p:txBody>
      </p:sp>
      <p:sp>
        <p:nvSpPr>
          <p:cNvPr id="7" name="Pipe 1">
            <a:extLst>
              <a:ext uri="{C183D7F6-B498-43B3-948B-1728B52AA6E4}">
                <adec:decorative xmlns:adec="http://schemas.microsoft.com/office/drawing/2017/decorative" val="1"/>
              </a:ext>
            </a:extLst>
          </p:cNvPr>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marL="0" indent="0">
              <a:spcAft>
                <a:spcPts val="400"/>
              </a:spcAft>
              <a:buNone/>
            </a:pPr>
            <a:r>
              <a:rPr lang="en-US" sz="1400" dirty="0">
                <a:solidFill>
                  <a:schemeClr val="tx2"/>
                </a:solidFill>
              </a:rPr>
              <a:t>Validate, sequence, normalize to SCIM, write provenance, reconcile</a:t>
            </a:r>
            <a:endParaRPr lang="en-US" sz="1400" dirty="0"/>
          </a:p>
        </p:txBody>
      </p:sp>
      <p:sp>
        <p:nvSpPr>
          <p:cNvPr id="9" name="Pipe 2">
            <a:extLst>
              <a:ext uri="{C183D7F6-B498-43B3-948B-1728B52AA6E4}">
                <adec:decorative xmlns:adec="http://schemas.microsoft.com/office/drawing/2017/decorative" val="1"/>
              </a:ext>
            </a:extLst>
          </p:cNvPr>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marL="0" indent="0">
              <a:spcAft>
                <a:spcPts val="400"/>
              </a:spcAft>
              <a:buNone/>
            </a:pPr>
            <a:r>
              <a:rPr lang="en-US" sz="1400" dirty="0">
                <a:solidFill>
                  <a:schemeClr val="tx2"/>
                </a:solidFill>
              </a:rPr>
              <a:t>API-driven bulk upload; daily call limits apply</a:t>
            </a:r>
            <a:endParaRPr lang="en-US" sz="1400" dirty="0"/>
          </a:p>
        </p:txBody>
      </p:sp>
      <p:sp>
        <p:nvSpPr>
          <p:cNvPr id="11" name="Pipe 3">
            <a:extLst>
              <a:ext uri="{C183D7F6-B498-43B3-948B-1728B52AA6E4}">
                <adec:decorative xmlns:adec="http://schemas.microsoft.com/office/drawing/2017/decorative" val="1"/>
              </a:ext>
            </a:extLst>
          </p:cNvPr>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marL="0" indent="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marL="0" indent="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marL="0" indent="0">
              <a:buNone/>
            </a:pPr>
            <a:r>
              <a:rPr lang="en-US" sz="1500" b="1" dirty="0">
                <a:solidFill>
                  <a:srgbClr val="1F2A44"/>
                </a:solidFill>
              </a:rPr>
              <a:t>Fail closed: </a:t>
            </a: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a:extLst>
              <a:ext uri="{C183D7F6-B498-43B3-948B-1728B52AA6E4}">
                <adec:decorative xmlns:adec="http://schemas.microsoft.com/office/drawing/2017/decorative" val="1"/>
              </a:ext>
            </a:extLst>
          </p:cNvPr>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5" name="Icon FaRightLeft">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The technology is the example, not the point: </a:t>
            </a: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3C7EFB51-7A9C-A4B9-E9FE-7CFA65985B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32C5C1-FE4F-48F1-896F-4EB06C1E474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540"/>
    </mc:Choice>
    <mc:Fallback>
      <p:transition spd="slow" advTm="62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5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Platform, standards, interconnection</a:t>
            </a:r>
            <a:endParaRPr lang="en-US" sz="1450" dirty="0"/>
          </a:p>
          <a:p>
            <a:pPr marL="0" indent="0">
              <a:spcAft>
                <a:spcPts val="600"/>
              </a:spcAft>
              <a:buNone/>
            </a:pPr>
            <a:r>
              <a:rPr lang="en-US" sz="1450" b="1" dirty="0">
                <a:solidFill>
                  <a:srgbClr val="1F2A44"/>
                </a:solidFill>
              </a:rPr>
              <a:t>Contractor sources</a:t>
            </a:r>
            <a:endParaRPr lang="en-US" sz="1450" dirty="0"/>
          </a:p>
          <a:p>
            <a:pPr marL="0" indent="0">
              <a:spcAft>
                <a:spcPts val="600"/>
              </a:spcAft>
              <a:buNone/>
            </a:pPr>
            <a:r>
              <a:rPr lang="en-US" sz="1450" dirty="0">
                <a:solidFill>
                  <a:schemeClr val="tx2"/>
                </a:solidFill>
              </a:rPr>
              <a:t>Their own authoritative record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Disclosure basis, PIA, minimization</a:t>
            </a:r>
            <a:endParaRPr lang="en-US" sz="1450" dirty="0"/>
          </a:p>
          <a:p>
            <a:pPr marL="0" indent="0">
              <a:spcAft>
                <a:spcPts val="600"/>
              </a:spcAft>
              <a:buNone/>
            </a:pPr>
            <a:r>
              <a:rPr lang="en-US" sz="1450" b="1" dirty="0">
                <a:solidFill>
                  <a:srgbClr val="B45309"/>
                </a:solidFill>
              </a:rPr>
              <a:t>PIV office</a:t>
            </a:r>
            <a:endParaRPr lang="en-US" sz="1450" dirty="0"/>
          </a:p>
          <a:p>
            <a:pPr marL="0" indent="0">
              <a:spcAft>
                <a:spcPts val="600"/>
              </a:spcAft>
              <a:buNone/>
            </a:pPr>
            <a:r>
              <a:rPr lang="en-US" sz="1450" dirty="0">
                <a:solidFill>
                  <a:schemeClr val="tx2"/>
                </a:solidFill>
              </a:rPr>
              <a:t>Issuance and termination</a:t>
            </a:r>
            <a:endParaRPr lang="en-US" sz="1450" dirty="0"/>
          </a:p>
          <a:p>
            <a:pPr marL="0" indent="0">
              <a:spcAft>
                <a:spcPts val="600"/>
              </a:spcAft>
              <a:buNone/>
            </a:pPr>
            <a:r>
              <a:rPr lang="en-US" sz="1450" b="1" dirty="0">
                <a:solidFill>
                  <a:srgbClr val="B45309"/>
                </a:solidFill>
              </a:rPr>
              <a:t>ISSO and AO</a:t>
            </a:r>
            <a:endParaRPr lang="en-US" sz="1450" dirty="0"/>
          </a:p>
          <a:p>
            <a:pPr marL="0" indent="0">
              <a:spcAft>
                <a:spcPts val="600"/>
              </a:spcAft>
              <a:buNone/>
            </a:pPr>
            <a:r>
              <a:rPr lang="en-US" sz="1450" dirty="0">
                <a:solidFill>
                  <a:schemeClr val="tx2"/>
                </a:solidFill>
              </a:rPr>
              <a:t>Evidence and accepted risk</a:t>
            </a:r>
            <a:endParaRPr lang="en-US" sz="1450" dirty="0"/>
          </a:p>
        </p:txBody>
      </p:sp>
      <p:sp>
        <p:nvSpPr>
          <p:cNvPr id="20" name="Archite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data architect's role: </a:t>
            </a: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929AF0E-0D66-8331-DFC7-B2BA6AC41C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33FFC6-3C59-4207-A5A3-A4661F35032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620"/>
    </mc:Choice>
    <mc:Fallback>
      <p:transition spd="slow" advTm="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6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 0">
            <a:extLst>
              <a:ext uri="{C183D7F6-B498-43B3-948B-1728B52AA6E4}">
                <adec:decorative xmlns:adec="http://schemas.microsoft.com/office/drawing/2017/decorative" val="1"/>
              </a:ext>
            </a:extLst>
          </p:cNvPr>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marL="0" indent="0">
              <a:buNone/>
            </a:pPr>
            <a:r>
              <a:rPr lang="en-US" sz="1700" b="1" dirty="0">
                <a:solidFill>
                  <a:srgbClr val="0F766E"/>
                </a:solidFill>
              </a:rPr>
              <a:t>Joiner</a:t>
            </a:r>
            <a:endParaRPr lang="en-US" sz="1400" dirty="0"/>
          </a:p>
          <a:p>
            <a:pPr marL="0" indent="0">
              <a:buNone/>
            </a:pPr>
            <a:r>
              <a:rPr lang="en-US" sz="1400" dirty="0">
                <a:solidFill>
                  <a:schemeClr val="tx2"/>
                </a:solidFill>
              </a:rPr>
              <a:t>Account and baseline access ready on day one</a:t>
            </a:r>
            <a:endParaRPr lang="en-US" sz="1400" dirty="0"/>
          </a:p>
        </p:txBody>
      </p:sp>
      <p:sp>
        <p:nvSpPr>
          <p:cNvPr id="7" name="Ev 1">
            <a:extLst>
              <a:ext uri="{C183D7F6-B498-43B3-948B-1728B52AA6E4}">
                <adec:decorative xmlns:adec="http://schemas.microsoft.com/office/drawing/2017/decorative" val="1"/>
              </a:ext>
            </a:extLst>
          </p:cNvPr>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marL="0" indent="0">
              <a:buNone/>
            </a:pPr>
            <a:r>
              <a:rPr lang="en-US" sz="1700" b="1" dirty="0">
                <a:solidFill>
                  <a:srgbClr val="1F2A44"/>
                </a:solidFill>
              </a:rPr>
              <a:t>Mover</a:t>
            </a:r>
            <a:endParaRPr lang="en-US" sz="1400" dirty="0"/>
          </a:p>
          <a:p>
            <a:pPr marL="0" indent="0">
              <a:buNone/>
            </a:pPr>
            <a:r>
              <a:rPr lang="en-US" sz="1400" dirty="0">
                <a:solidFill>
                  <a:schemeClr val="tx2"/>
                </a:solidFill>
              </a:rPr>
              <a:t>Old access removed, new baseline applied, exceptions reviewed</a:t>
            </a:r>
            <a:endParaRPr lang="en-US" sz="1400" dirty="0"/>
          </a:p>
        </p:txBody>
      </p:sp>
      <p:sp>
        <p:nvSpPr>
          <p:cNvPr id="9" name="Ev 2">
            <a:extLst>
              <a:ext uri="{C183D7F6-B498-43B3-948B-1728B52AA6E4}">
                <adec:decorative xmlns:adec="http://schemas.microsoft.com/office/drawing/2017/decorative" val="1"/>
              </a:ext>
            </a:extLst>
          </p:cNvPr>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marL="0" indent="0">
              <a:buNone/>
            </a:pPr>
            <a:r>
              <a:rPr lang="en-US" sz="1700" b="1" dirty="0">
                <a:solidFill>
                  <a:srgbClr val="B91C1C"/>
                </a:solidFill>
              </a:rPr>
              <a:t>Leaver</a:t>
            </a:r>
            <a:endParaRPr lang="en-US" sz="1400" dirty="0"/>
          </a:p>
          <a:p>
            <a:pPr marL="0" indent="0">
              <a:buNone/>
            </a:pPr>
            <a:r>
              <a:rPr lang="en-US" sz="1400" dirty="0">
                <a:solidFill>
                  <a:schemeClr val="tx2"/>
                </a:solidFill>
              </a:rPr>
              <a:t>Block first: disable and revoke sessions — then credentials, devices, access</a:t>
            </a:r>
            <a:endParaRPr lang="en-US" sz="1400" dirty="0"/>
          </a:p>
        </p:txBody>
      </p:sp>
      <p:sp>
        <p:nvSpPr>
          <p:cNvPr id="11" name="Facts">
            <a:extLst>
              <a:ext uri="{C183D7F6-B498-43B3-948B-1728B52AA6E4}">
                <adec:decorative xmlns:adec="http://schemas.microsoft.com/office/drawing/2017/decorative" val="1"/>
              </a:ext>
            </a:extLst>
          </p:cNvPr>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By code, not by ticket: </a:t>
            </a: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911EE902-383B-7490-6D96-45324E733E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6EFACC-32A4-44A7-9D5B-81E6AD3984A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90"/>
    </mc:Choice>
    <mc:Fallback>
      <p:transition spd="slow" advTm="57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8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hain 0">
            <a:extLst>
              <a:ext uri="{C183D7F6-B498-43B3-948B-1728B52AA6E4}">
                <adec:decorative xmlns:adec="http://schemas.microsoft.com/office/drawing/2017/decorative" val="1"/>
              </a:ext>
            </a:extLst>
          </p:cNvPr>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Personnel record</a:t>
            </a:r>
            <a:endParaRPr lang="en-US" sz="1500" dirty="0"/>
          </a:p>
        </p:txBody>
      </p:sp>
      <p:sp>
        <p:nvSpPr>
          <p:cNvPr id="7" name="Chain 1">
            <a:extLst>
              <a:ext uri="{C183D7F6-B498-43B3-948B-1728B52AA6E4}">
                <adec:decorative xmlns:adec="http://schemas.microsoft.com/office/drawing/2017/decorative" val="1"/>
              </a:ext>
            </a:extLst>
          </p:cNvPr>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Canonical attribute</a:t>
            </a:r>
            <a:endParaRPr lang="en-US" sz="1500" dirty="0"/>
          </a:p>
        </p:txBody>
      </p:sp>
      <p:sp>
        <p:nvSpPr>
          <p:cNvPr id="9" name="Chain 2">
            <a:extLst>
              <a:ext uri="{C183D7F6-B498-43B3-948B-1728B52AA6E4}">
                <adec:decorative xmlns:adec="http://schemas.microsoft.com/office/drawing/2017/decorative" val="1"/>
              </a:ext>
            </a:extLst>
          </p:cNvPr>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Rule or access package</a:t>
            </a:r>
            <a:endParaRPr lang="en-US" sz="1500" dirty="0"/>
          </a:p>
        </p:txBody>
      </p:sp>
      <p:sp>
        <p:nvSpPr>
          <p:cNvPr id="11" name="Chain 3">
            <a:extLst>
              <a:ext uri="{C183D7F6-B498-43B3-948B-1728B52AA6E4}">
                <adec:decorative xmlns:adec="http://schemas.microsoft.com/office/drawing/2017/decorative" val="1"/>
              </a:ext>
            </a:extLst>
          </p:cNvPr>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marL="0" indent="0" algn="ctr">
              <a:buNone/>
            </a:pPr>
            <a:r>
              <a:rPr lang="en-US" sz="1500" b="1" dirty="0">
                <a:solidFill>
                  <a:srgbClr val="1F2A44"/>
                </a:solidFill>
              </a:rPr>
              <a:t>Entitlement</a:t>
            </a:r>
            <a:endParaRPr lang="en-US" sz="1500" dirty="0"/>
          </a:p>
        </p:txBody>
      </p:sp>
      <p:sp>
        <p:nvSpPr>
          <p:cNvPr id="13" name="Chain 4">
            <a:extLst>
              <a:ext uri="{C183D7F6-B498-43B3-948B-1728B52AA6E4}">
                <adec:decorative xmlns:adec="http://schemas.microsoft.com/office/drawing/2017/decorative" val="1"/>
              </a:ext>
            </a:extLst>
          </p:cNvPr>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marL="0" indent="0" algn="ctr">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marL="0" indent="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a:extLst>
              <a:ext uri="{C183D7F6-B498-43B3-948B-1728B52AA6E4}">
                <adec:decorative xmlns:adec="http://schemas.microsoft.com/office/drawing/2017/decorative" val="1"/>
              </a:ext>
            </a:extLst>
          </p:cNvPr>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Drift found by comparison</a:t>
            </a:r>
            <a:endParaRPr lang="en-US" sz="1400" dirty="0"/>
          </a:p>
          <a:p>
            <a:pPr marL="0" indent="0">
              <a:buNone/>
            </a:pPr>
            <a:r>
              <a:rPr lang="en-US" sz="1350" dirty="0">
                <a:solidFill>
                  <a:schemeClr val="tx2"/>
                </a:solidFill>
              </a:rPr>
              <a:t>Scheduled checks compare HR, the model and the directories</a:t>
            </a:r>
            <a:endParaRPr lang="en-US" sz="1400" dirty="0"/>
          </a:p>
        </p:txBody>
      </p:sp>
      <p:sp>
        <p:nvSpPr>
          <p:cNvPr id="18" name="Drift 1">
            <a:extLst>
              <a:ext uri="{C183D7F6-B498-43B3-948B-1728B52AA6E4}">
                <adec:decorative xmlns:adec="http://schemas.microsoft.com/office/drawing/2017/decorative" val="1"/>
              </a:ext>
            </a:extLst>
          </p:cNvPr>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Measured in business terms</a:t>
            </a:r>
            <a:endParaRPr lang="en-US" sz="1400" dirty="0"/>
          </a:p>
          <a:p>
            <a:pPr marL="0" indent="0">
              <a:buNone/>
            </a:pPr>
            <a:r>
              <a:rPr lang="en-US" sz="1350" dirty="0">
                <a:solidFill>
                  <a:schemeClr val="tx2"/>
                </a:solidFill>
              </a:rPr>
              <a:t>Separation-to-block time, orphan accounts, day-one readiness</a:t>
            </a:r>
            <a:endParaRPr lang="en-US" sz="1400" dirty="0"/>
          </a:p>
        </p:txBody>
      </p:sp>
      <p:sp>
        <p:nvSpPr>
          <p:cNvPr id="20" name="Drift 2">
            <a:extLst>
              <a:ext uri="{C183D7F6-B498-43B3-948B-1728B52AA6E4}">
                <adec:decorative xmlns:adec="http://schemas.microsoft.com/office/drawing/2017/decorative" val="1"/>
              </a:ext>
            </a:extLst>
          </p:cNvPr>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marL="0" indent="0">
              <a:buNone/>
            </a:pPr>
            <a:r>
              <a:rPr lang="en-US" sz="1500" b="1" dirty="0">
                <a:solidFill>
                  <a:srgbClr val="0F766E"/>
                </a:solidFill>
              </a:rPr>
              <a:t>Kept long enough</a:t>
            </a:r>
            <a:endParaRPr lang="en-US" sz="1400" dirty="0"/>
          </a:p>
          <a:p>
            <a:pPr marL="0" indent="0">
              <a:buNone/>
            </a:pPr>
            <a:r>
              <a:rPr lang="en-US" sz="1350" dirty="0">
                <a:solidFill>
                  <a:schemeClr val="tx2"/>
                </a:solidFill>
              </a:rPr>
              <a:t>Entra keeps audit and provisioning logs 30 days with P1/P2 — export from the pilot onward</a:t>
            </a:r>
            <a:endParaRPr lang="en-US" sz="1400" dirty="0"/>
          </a:p>
        </p:txBody>
      </p:sp>
      <p:sp>
        <p:nvSpPr>
          <p:cNvPr id="22" name="Eviden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3" name="Icon FaFile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Evidence as a byproduct: </a:t>
            </a: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ED7154DD-5183-D450-67D1-362B2E710EB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FAB087-D4B4-4D6A-B054-5BB2AE77706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90"/>
    </mc:Choice>
    <mc:Fallback>
      <p:transition spd="slow" advTm="594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8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marL="0" indent="0" algn="ctr">
              <a:buNone/>
            </a:pPr>
            <a:r>
              <a:rPr lang="en-US" sz="1350" b="1" dirty="0">
                <a:solidFill>
                  <a:schemeClr val="tx2"/>
                </a:solidFill>
              </a:rPr>
              <a:t>Align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Authority and schema</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Build and test</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Pilot</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Lifecycle and access</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marL="0" indent="0" algn="ctr">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Cutover by population</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marL="0" indent="0" algn="ctr">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Gates are proposals: </a:t>
            </a: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1AE9745-F1C7-9634-50DD-A020B9A860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E4FF36-96FB-4C6E-AEA7-75B639C956D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20"/>
    </mc:Choice>
    <mc:Fallback>
      <p:transition spd="slow" advTm="56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0" indent="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7ADF4C7-3109-D1CC-6316-12A8389954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0F2D3B-37C1-4343-B89F-8127C49E219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30"/>
    </mc:Choice>
    <mc:Fallback>
      <p:transition spd="slow" advTm="60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4032</Words>
  <Application>Microsoft Office PowerPoint</Application>
  <PresentationFormat>Widescreen</PresentationFormat>
  <Paragraphs>230</Paragraphs>
  <Slides>11</Slides>
  <Notes>11</Notes>
  <HiddenSlides>0</HiddenSlides>
  <MMClips>11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Federal Modernization Workbook</vt:lpstr>
      <vt:lpstr>Why Should HR Decide Who Exists?</vt:lpstr>
      <vt:lpstr>Identity is built by hand, and the mission is outgrowing it</vt:lpstr>
      <vt:lpstr>Why now: two migrations open one design window</vt:lpstr>
      <vt:lpstr>Four options, weighed against what leadership must balance</vt:lpstr>
      <vt:lpstr>One owner per fact, one model, one person key</vt:lpstr>
      <vt:lpstr>Provisioning: personnel records in, governed identities out</vt:lpstr>
      <vt:lpstr>Who owns, who uses, who guards</vt:lpstr>
      <vt:lpstr>Personnel actions drive joiner, mover and leaver</vt:lpstr>
      <vt:lpstr>From attributes to access, with evidence built in</vt:lpstr>
      <vt:lpstr>Seven phases, each gate the next phase's precondition</vt:lpstr>
      <vt:lpstr>How we'll know it works,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2026-10-21T13:41:14Z</dcterms:created>
  <dcterms:modified xsi:type="dcterms:W3CDTF">2026-10-29T11:16:49Z</dcterms:modified>
</cp:coreProperties>
</file>