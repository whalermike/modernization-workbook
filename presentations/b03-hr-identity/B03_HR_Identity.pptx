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HR decides" id="{3edd7c59-8318-fdd1-bbf8-20c4d34fc889}">
          <p14:sldIdLst>
            <p14:sldId id="256"/>
            <p14:sldId id="257"/>
            <p14:sldId id="258"/>
          </p14:sldIdLst>
        </p14:section>
        <p14:section name="What we should do" id="{90b6b281-e1b0-4b64-a21c-100967f343e3}">
          <p14:sldIdLst>
            <p14:sldId id="259"/>
            <p14:sldId id="260"/>
            <p14:sldId id="261"/>
          </p14:sldIdLst>
        </p14:section>
        <p14:section name="Who owns it" id="{a8a206a4-3b33-4af1-3e4c-823c2e912c4e}">
          <p14:sldIdLst>
            <p14:sldId id="262"/>
          </p14:sldIdLst>
        </p14:section>
        <p14:section name="How to do it" id="{13cd08ca-5afb-6881-4ab9-b3bb02bf7be2}">
          <p14:sldIdLst>
            <p14:sldId id="263"/>
            <p14:sldId id="264"/>
            <p14:sldId id="265"/>
            <p14:sldId id="266"/>
          </p14:sldIdLst>
        </p14:section>
        <p14:section name="Backup" id="{fc1024e8-21a6-2722-c676-ddc6501bd909}">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[0:00–0:30]  This briefing comes from Book 03 of the Federal Modernization Workbook, HR-Driven Identity.
It has one proposal, and I'll take it through four questions, the way I'd take it to leadership: why it matters, what we should do, who has to be involved, and how we'd carry it out and know it's working.
Book 02 made the case that identity is now where every access decision is made. This book asks where the facts behind that identity should come from. The answer is the HR system of record, starting now.
Workbook: Book 03, index and Chapter 01.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[0:30–1:37]  Why. In many agencies today, nothing connects HR to identity. Accounts, access and credentials are created and removed by ticket, and that costs three ways.
Access outlives the job. When someone leaves or changes roles, removal waits for a ticket. Yet the federal PIV standard, FIPS 201-3, requires a card that can't be collected to be terminated within eighteen hours of notification. A ticket-driven process struggles to meet that. Records drift: the phone book, the manager and the approval routing are wrong until someone files a ticket. And every joiner, mover and leaver is help-desk work.
Zero Trust makes the gap visible. A token proves cryptographically who signed it. It can't prove the claim is true: that the person still works here, still holds the position the access was granted for, still reports to the supervisor who approved it. Those are workforce facts, and they live in HR.
If we do nothing, HR moves to Core HCM, identity moves to Entra ID, and we rebuild the same manual process twice, on new platforms.
Workbook: Book 03, Chapters 01 and 02; Chapter 07 for the PIV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[1:37–2:48]  Why now? Because two migrations open one design window.
On the HR side: the December 10, 2025 memo from OMB and OPM creates Federal HR 2.0, one government-wide core human capital platform. OPM awarded the platform contract on June 10, 2026, and the first agencies begin moving as fiscal year 2027 starts. The memo's sample timeline runs about eight months per agency, with the agency's interconnections going live around month five.
On the identity side: agencies are moving from Active Directory to Entra ID anyway, which is Book 02. In Entra ID, attributes drive Conditional Access, groups and delegation, and inbound provisioning from an HR system is a documented, supported path.
So there's a window. The identity feed has to be designed in during onboarding, before the interconnection goes live, not bolted on afterward.
One honest limit: Federal HR 2.0 covers federal employees only. Contractors and vendors need their own authoritative source, and the onboarding is the right time to decide it too.
Workbook: Book 03, Chapter 03 — Federal HR 2.0 and the Core HCM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[2:48–4:07]  What should we do? There are four realistic options, weighed against what leadership has to balance: the mission and the public, security, cost and resilience. Compliance matters, but on its own it isn't a reason to invest.
Option A keeps ticket-driven identity. No new investment, but the risk and the manual work stay where they are: the cost of doing nothing.
Option B automates inside the directories with scripts and exports. It's quick and cheap, but it automates a source that isn't authoritative, so it spreads bad data faster, and it has to be rebuilt when HR changes platforms.
Option C waits for HR 2.0 and integrates afterward. That's defensible, and it's less work this year. But the interconnection decisions are made during onboarding, so waiting means retrofitting after go-live.
Option D starts now: HR as the source of truth, expressed in OPM's standard personnel data and designed into both the HR onboarding and the Entra ID migration. It costs design effort up front and needs shared governance, which is why it's only partial on cost.
The judgment call: if HR 2.0 slipped a long way, C becomes reasonable. But D's first step, data standards, ownership and the person key, is no-regret either way.
Workbook: Book 03, Chapters 01 and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[4:07–5:12]  What does "HR as the source of truth" actually mean? It means one owner for every fact.
The HR system of record is authoritative for employment status, position, organization, supervisor and effective dates. The identity platform stays authoritative for what it does: credentials, authentication, sessions, directory objects and policy. And contractors, whom HR 2.0 doesn't cover, get their own authoritative source mapped into the same model.
That model is the canonical workforce identity model. Its contract is OPM's standard data elements and nature-of-action codes, the government-wide personnel data standards, so vendor field names stay at the boundary and can be replaced. It's keyed on an enterprise person key the agency controls, and that key has to fit Entra ID's employeeId attribute, which holds at most sixteen characters.
The rule that makes it work: every attribute gets one name, one definition and one accountable owner. When a fact is wrong, it gets fixed in its source, never patched in the directory.
Workbook: Book 03, Chapter 04 — Attribute Authority; Chapter 06 — The Canonical Workforce Identity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[5:12–6:19]  Provisioning turns personnel records into governed identities.
Core HCM publishes worker records and personnel actions. A small middleware, inside the agency's authorization boundary, does five things for every event: it validates the record, applies events in order, normalizes them to the SCIM standard, writes a provenance record, and reconciles the result. Then Entra ID's API-driven inbound provisioning creates and updates the accounts in Entra ID and, through the provisioning agent, in Active Directory. That interface has daily call limits that scale with the license, which the book sizes against the agency's population.
The design fails closed. Unknown worker types are refused. A failed record is retried and recorded, never silently skipped. And every event leaves a provenance record before the call returns, which is where the evidence comes from later.
The technology is the example, not the point. Today it's Oracle Core HCM feeding Entra ID. If the vendors change, the model and the rules hold; only the boundary changes.
Workbook: Book 03, Chapter 05 — Provisioning Services.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[6:19–7:36]  Who has to be involved. This is an organizational change as much as a technical one.
Owners. HR owns the personnel data and its quality, at the source. The OPM HR 2.0 program owns the platform, the standards and the interconnection. And each contractor source owns its own record.
Users. The CIO's identity team runs Entra ID, Active Directory and access from that data. Security sets the Zero Trust policy and owns the leaver path. And the help desk moves from routine tickets to handling exceptions.
Guards. The privacy office is in from the start. Sharing HR records with identity inside the agency normally rests on the Privacy Act's need-to-know provision, while disclosures outside the agency need a routine use, so the privacy office decides the basis for each leg, along with the privacy impact assessment and minimization. The PIV office owns issuance and termination. And the ISSO and authorizing official own the evidence and any accepted risk.
The data architect ties it together: owning the standards, the crosswalk and the person key, making sure every attribute has one accountable owner, and carrying the standard to the interagency forums where it's adopted.
Workbook: Book 03, Chapter 07 — Who Owns Workforce Identity.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[7:36–8:43]  How. Personnel actions drive the three identity events, by code, not by ticket.
A joiner gets an account and baseline access ready on day one. A mover has the old assignment's access removed, the new baseline applied, and any exceptions reviewed. And a leaver is blocked first: the account disabled and sessions revoked at the effective separation time, then credentials, devices and access removed in parallel, each one reconciled.
The book is precise about what the platform actually does. Lifecycle Workflows run on one tenant-wide schedule and need an Entra ID Governance license. Revoking sessions stops new tokens being issued, but tokens already issued last until they expire. Privileged leavers need their own verified block path, because the built-in disable task doesn't support users with admin roles. And synced users must be deleted in Active Directory, or the next sync brings them back.
Credentials follow the same events: PIV issuance, certificate binding and termination, and device certificates retired before the account is deleted.
Workbook: Book 03, Chapter 08 — Joiner, Mover, Leaver; Chapter 09 — Credentials and Certificates; Appendix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[8:43–9:45]  Next, access. Once the attributes are trustworthy, access is derived from them. A personnel record becomes a canonical attribute, a rule or access package turns that into an entitlement, and an evidence record captures why. Every entitlement then traces back to a rule, an approved exception, an authoritative attribute, or a privileged-access decision. That's what makes access explainable.
Drift is found by comparison, not by complaint: scheduled checks compare HR, the model and the directories. It's measured in business terms leadership can read: time from separation to blocked access, orphaned accounts, and access ready on day one. And the records have to be kept long enough. Entra ID keeps audit and provisioning logs for thirty days with P1 or P2, so the book exports them from the pilot onward.
The evidence comes as a byproduct. The same records that run the lifecycle answer the auditor's oldest question: does every account belong to a current person with a current reason?
Workbook: Book 03, Chapter 10 — From Attributes to Access; Chapter 11 — Drift, Metrics and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[9:45–10:56]  The execution plan has seven phases, and each gate is the next phase's precondition.
Phase zero aligns the program, naming identity as a consumer in both migrations. Phase one settles attribute authority and the schema. Phase two builds and tests the pipeline. Phase three is the pilot. Phase four turns on lifecycle automation and attribute-derived access. Phase five cuts over population by population. And phase six sustains it.
Four rules run through it. Start now, from the HR data the agency already has, and switch the source to Core HCM when it arrives. Run in shadow mode first, comparing what HR says with what the directories hold, and fix the gaps. Cut over one population at a time, with a signed validation report and a rollback. And close the ticket path for a population only when the data proves HR is the sole source.
The gate thresholds, like ninety-nine percent correlation, are proposals. They're starting criteria the agency approves through its own risk governance, not federal requirements. Chapter 13 walks an illustrative agency through all seven phases.
Workbook: Book 03, Chapter 12 — Execution Plan; Appendix C;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[10:56–11:59]  How we'll know it's working, and what we need.
Five measures, each baselined in phase one, and each one a business measure leadership can read. Time from separation to blocked access, in hours. Accounts tied to a person, with orphaned accounts trending to zero. Joiner and mover tickets going down, with access ready on day one. The manager and organization in the directory matching HR. And every exception with an owner and an age.
What we need from leadership is one decision: start HR-driven identity now, as a design requirement of the HR 2.0 onboarding and the Entra ID migration. And to act on it: a sponsor across HR, the identity team and privacy; identity named as a consumer in the HR 2.0 interconnection plan; data owners designated and the person key confirmed; and a small team for the pre-onboarding data work.
Book 03 has the full design, with every external claim footnoted, and Book 02 covers the directory migration it builds on. Thank you.
Workbook: Book 03, Chapters 11 and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Federal Modernization Workbook  ·  Book 03 HR-Driven Identity</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3.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Why Should HR Decide Who Exists?</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Book 03 — HR-Driven Identity</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Agenda line"/>
          <p:cNvSpPr txBox="1"/>
          <p:nvPr/>
        </p:nvSpPr>
        <p:spPr>
          <a:xfrm>
            <a:off x="731520" y="4297680"/>
            <a:ext cx="6035040" cy="457200"/>
          </a:xfrm>
          <a:prstGeom prst="rect">
            <a:avLst/>
          </a:prstGeom>
          <a:noFill/>
          <a:ln/>
        </p:spPr>
        <p:txBody>
          <a:bodyPr wrap="square" lIns="0" tIns="0" rIns="0" bIns="0" rtlCol="0" anchor="t"/>
          <a:lstStyle/>
          <a:p>
            <a:pPr indent="0" marL="0">
              <a:buNone/>
            </a:pPr>
            <a:r>
              <a:rPr lang="en-US" sz="2000" b="1" dirty="0">
                <a:solidFill>
                  <a:srgbClr val="B91C1C"/>
                </a:solidFill>
              </a:rPr>
              <a:t>Why</a:t>
            </a:r>
            <a:pPr indent="0" marL="0">
              <a:buNone/>
            </a:pPr>
            <a:r>
              <a:rPr lang="en-US" sz="2000" dirty="0">
                <a:solidFill>
                  <a:srgbClr val="64748B"/>
                </a:solidFill>
              </a:rPr>
              <a:t>   ·   </a:t>
            </a:r>
            <a:pPr indent="0" marL="0">
              <a:buNone/>
            </a:pPr>
            <a:r>
              <a:rPr lang="en-US" sz="2000" b="1" dirty="0">
                <a:solidFill>
                  <a:srgbClr val="1F2A44"/>
                </a:solidFill>
              </a:rPr>
              <a:t>What</a:t>
            </a:r>
            <a:pPr indent="0" marL="0">
              <a:buNone/>
            </a:pPr>
            <a:r>
              <a:rPr lang="en-US" sz="2000" dirty="0">
                <a:solidFill>
                  <a:srgbClr val="64748B"/>
                </a:solidFill>
              </a:rPr>
              <a:t>   ·   </a:t>
            </a:r>
            <a:pPr indent="0" marL="0">
              <a:buNone/>
            </a:pPr>
            <a:r>
              <a:rPr lang="en-US" sz="2000" b="1" dirty="0">
                <a:solidFill>
                  <a:srgbClr val="0F766E"/>
                </a:solidFill>
              </a:rPr>
              <a:t>Who</a:t>
            </a:r>
            <a:pPr indent="0" marL="0">
              <a:buNone/>
            </a:pPr>
            <a:r>
              <a:rPr lang="en-US" sz="2000" dirty="0">
                <a:solidFill>
                  <a:srgbClr val="64748B"/>
                </a:solidFill>
              </a:rPr>
              <a:t>   ·   </a:t>
            </a:r>
            <a:pPr indent="0" marL="0">
              <a:buNone/>
            </a:pPr>
            <a:r>
              <a:rPr lang="en-US" sz="2000" b="1" dirty="0">
                <a:solidFill>
                  <a:srgbClr val="B45309"/>
                </a:solidFill>
              </a:rPr>
              <a:t>How</a:t>
            </a:r>
            <a:endParaRPr lang="en-US" sz="2000" dirty="0"/>
          </a:p>
        </p:txBody>
      </p:sp>
      <p:sp>
        <p:nvSpPr>
          <p:cNvPr id="7" name="Series line"/>
          <p:cNvSpPr txBox="1"/>
          <p:nvPr/>
        </p:nvSpPr>
        <p:spPr>
          <a:xfrm>
            <a:off x="731520" y="5120640"/>
            <a:ext cx="7315200" cy="731520"/>
          </a:xfrm>
          <a:prstGeom prst="rect">
            <a:avLst/>
          </a:prstGeom>
          <a:noFill/>
          <a:ln/>
        </p:spPr>
        <p:txBody>
          <a:bodyPr wrap="square" lIns="0" tIns="0" rIns="0" bIns="0" rtlCol="0" anchor="t"/>
          <a:lstStyle/>
          <a:p>
            <a:pPr indent="0" marL="0">
              <a:buNone/>
            </a:pPr>
            <a:r>
              <a:rPr lang="en-US" sz="1600" b="1" dirty="0">
                <a:solidFill>
                  <a:srgbClr val="1F2A44"/>
                </a:solidFill>
              </a:rPr>
              <a:t>Federal Modernization Workbook</a:t>
            </a:r>
            <a:endParaRPr lang="en-US" sz="1600" dirty="0"/>
          </a:p>
          <a:p>
            <a:pPr indent="0" marL="0">
              <a:buNone/>
            </a:pPr>
            <a:r>
              <a:rPr lang="en-US" sz="1600" dirty="0">
                <a:solidFill>
                  <a:srgbClr val="64748B"/>
                </a:solidFill>
              </a:rPr>
              <a:t>A 15-minute briefing on the book's proposal and plan</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is built by hand, and the mission is outgrowing it</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Today head"/>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TODAY: NOTHING CONNECTS HR TO IDENTITY</a:t>
            </a:r>
            <a:endParaRPr lang="en-US" sz="1200" dirty="0"/>
          </a:p>
        </p:txBody>
      </p:sp>
      <p:sp>
        <p:nvSpPr>
          <p:cNvPr id="6" name="Icon FaUserXmark" descr="">
            <a:extLst>
              <a:ext uri="{C183D7F6-B498-43B3-948B-1728B52AA6E4}">
                <adec:decorative xmlns:adec="http://schemas.microsoft.com/office/drawing/2017/decorative" val="1"/>
              </a:ext>
            </a:extLst>
          </p:cNvPr>
          <p:cNvSpPr/>
          <p:nvPr/>
        </p:nvSpPr>
        <p:spPr>
          <a:xfrm>
            <a:off x="548640" y="1828800"/>
            <a:ext cx="566928" cy="566928"/>
          </a:xfrm>
          <a:prstGeom prst="ellipse">
            <a:avLst/>
          </a:prstGeom>
          <a:solidFill>
            <a:srgbClr val="B91C1C"/>
          </a:solidFill>
          <a:ln w="12700">
            <a:solidFill>
              <a:srgbClr val="B91C1C"/>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84703" y="1964863"/>
            <a:ext cx="294803" cy="294803"/>
          </a:xfrm>
          <a:prstGeom prst="rect">
            <a:avLst/>
          </a:prstGeom>
        </p:spPr>
      </p:pic>
      <p:sp>
        <p:nvSpPr>
          <p:cNvPr id="8" name="Today 1"/>
          <p:cNvSpPr txBox="1"/>
          <p:nvPr/>
        </p:nvSpPr>
        <p:spPr>
          <a:xfrm>
            <a:off x="1280160" y="1783080"/>
            <a:ext cx="5120640" cy="932688"/>
          </a:xfrm>
          <a:prstGeom prst="rect">
            <a:avLst/>
          </a:prstGeom>
          <a:noFill/>
          <a:ln/>
        </p:spPr>
        <p:txBody>
          <a:bodyPr wrap="square" lIns="0" tIns="0" rIns="0" bIns="0" rtlCol="0" anchor="t"/>
          <a:lstStyle/>
          <a:p>
            <a:pPr indent="0" marL="0">
              <a:buNone/>
            </a:pPr>
            <a:r>
              <a:rPr lang="en-US" sz="1650" b="1" dirty="0">
                <a:solidFill>
                  <a:srgbClr val="B91C1C"/>
                </a:solidFill>
              </a:rPr>
              <a:t>Access outlives the job</a:t>
            </a:r>
            <a:endParaRPr lang="en-US" sz="1400" dirty="0"/>
          </a:p>
          <a:p>
            <a:pPr indent="0" marL="0">
              <a:buNone/>
            </a:pPr>
            <a:r>
              <a:rPr lang="en-US" sz="1400" dirty="0">
                <a:solidFill>
                  <a:schemeClr val="tx2"/>
                </a:solidFill>
              </a:rPr>
              <a:t>Removal waits for a ticket — yet a PIV card that can't be collected must be terminated within 18 hours of notification.</a:t>
            </a:r>
            <a:endParaRPr lang="en-US" sz="1400" dirty="0"/>
          </a:p>
        </p:txBody>
      </p:sp>
      <p:sp>
        <p:nvSpPr>
          <p:cNvPr id="9" name="Icon FaAddressBook" descr="">
            <a:extLst>
              <a:ext uri="{C183D7F6-B498-43B3-948B-1728B52AA6E4}">
                <adec:decorative xmlns:adec="http://schemas.microsoft.com/office/drawing/2017/decorative" val="1"/>
              </a:ext>
            </a:extLst>
          </p:cNvPr>
          <p:cNvSpPr/>
          <p:nvPr/>
        </p:nvSpPr>
        <p:spPr>
          <a:xfrm>
            <a:off x="548640" y="2816352"/>
            <a:ext cx="566928" cy="566928"/>
          </a:xfrm>
          <a:prstGeom prst="ellipse">
            <a:avLst/>
          </a:prstGeom>
          <a:solidFill>
            <a:srgbClr val="1F2A44"/>
          </a:solidFill>
          <a:ln w="12700">
            <a:solidFill>
              <a:srgbClr val="1F2A44"/>
            </a:solidFill>
            <a:prstDash val="solid"/>
          </a:ln>
        </p:spPr>
      </p:sp>
      <p:pic>
        <p:nvPicPr>
          <p:cNvPr id="10"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684703" y="2952415"/>
            <a:ext cx="294803" cy="294803"/>
          </a:xfrm>
          <a:prstGeom prst="rect">
            <a:avLst/>
          </a:prstGeom>
        </p:spPr>
      </p:pic>
      <p:sp>
        <p:nvSpPr>
          <p:cNvPr id="11" name="Today 2"/>
          <p:cNvSpPr txBox="1"/>
          <p:nvPr/>
        </p:nvSpPr>
        <p:spPr>
          <a:xfrm>
            <a:off x="1280160" y="2770632"/>
            <a:ext cx="5120640" cy="932688"/>
          </a:xfrm>
          <a:prstGeom prst="rect">
            <a:avLst/>
          </a:prstGeom>
          <a:noFill/>
          <a:ln/>
        </p:spPr>
        <p:txBody>
          <a:bodyPr wrap="square" lIns="0" tIns="0" rIns="0" bIns="0" rtlCol="0" anchor="t"/>
          <a:lstStyle/>
          <a:p>
            <a:pPr indent="0" marL="0">
              <a:buNone/>
            </a:pPr>
            <a:r>
              <a:rPr lang="en-US" sz="1650" b="1" dirty="0">
                <a:solidFill>
                  <a:srgbClr val="1F2A44"/>
                </a:solidFill>
              </a:rPr>
              <a:t>Records we can't trust</a:t>
            </a:r>
            <a:endParaRPr lang="en-US" sz="1400" dirty="0"/>
          </a:p>
          <a:p>
            <a:pPr indent="0" marL="0">
              <a:buNone/>
            </a:pPr>
            <a:r>
              <a:rPr lang="en-US" sz="1400" dirty="0">
                <a:solidFill>
                  <a:schemeClr val="tx2"/>
                </a:solidFill>
              </a:rPr>
              <a:t>Phone book, managers and approval routing drift from HR.</a:t>
            </a:r>
            <a:endParaRPr lang="en-US" sz="1400" dirty="0"/>
          </a:p>
        </p:txBody>
      </p:sp>
      <p:sp>
        <p:nvSpPr>
          <p:cNvPr id="12" name="Icon FaUserClock" descr="">
            <a:extLst>
              <a:ext uri="{C183D7F6-B498-43B3-948B-1728B52AA6E4}">
                <adec:decorative xmlns:adec="http://schemas.microsoft.com/office/drawing/2017/decorative" val="1"/>
              </a:ext>
            </a:extLst>
          </p:cNvPr>
          <p:cNvSpPr/>
          <p:nvPr/>
        </p:nvSpPr>
        <p:spPr>
          <a:xfrm>
            <a:off x="548640" y="3803904"/>
            <a:ext cx="566928" cy="566928"/>
          </a:xfrm>
          <a:prstGeom prst="ellipse">
            <a:avLst/>
          </a:prstGeom>
          <a:solidFill>
            <a:srgbClr val="0F766E"/>
          </a:solidFill>
          <a:ln w="12700">
            <a:solidFill>
              <a:srgbClr val="0F766E"/>
            </a:solidFill>
            <a:prstDash val="solid"/>
          </a:ln>
        </p:spPr>
      </p:sp>
      <p:pic>
        <p:nvPicPr>
          <p:cNvPr id="13"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84703" y="3939967"/>
            <a:ext cx="294803" cy="294803"/>
          </a:xfrm>
          <a:prstGeom prst="rect">
            <a:avLst/>
          </a:prstGeom>
        </p:spPr>
      </p:pic>
      <p:sp>
        <p:nvSpPr>
          <p:cNvPr id="14" name="Today 3"/>
          <p:cNvSpPr txBox="1"/>
          <p:nvPr/>
        </p:nvSpPr>
        <p:spPr>
          <a:xfrm>
            <a:off x="1280160" y="3758184"/>
            <a:ext cx="5120640" cy="932688"/>
          </a:xfrm>
          <a:prstGeom prst="rect">
            <a:avLst/>
          </a:prstGeom>
          <a:noFill/>
          <a:ln/>
        </p:spPr>
        <p:txBody>
          <a:bodyPr wrap="square" lIns="0" tIns="0" rIns="0" bIns="0" rtlCol="0" anchor="t"/>
          <a:lstStyle/>
          <a:p>
            <a:pPr indent="0" marL="0">
              <a:buNone/>
            </a:pPr>
            <a:r>
              <a:rPr lang="en-US" sz="1650" b="1" dirty="0">
                <a:solidFill>
                  <a:srgbClr val="0F766E"/>
                </a:solidFill>
              </a:rPr>
              <a:t>Cost and delay</a:t>
            </a:r>
            <a:endParaRPr lang="en-US" sz="1400" dirty="0"/>
          </a:p>
          <a:p>
            <a:pPr indent="0" marL="0">
              <a:buNone/>
            </a:pPr>
            <a:r>
              <a:rPr lang="en-US" sz="1400" dirty="0">
                <a:solidFill>
                  <a:schemeClr val="tx2"/>
                </a:solidFill>
              </a:rPr>
              <a:t>Every joiner, mover and leaver is help-desk work.</a:t>
            </a:r>
            <a:endParaRPr lang="en-US" sz="1400" dirty="0"/>
          </a:p>
        </p:txBody>
      </p:sp>
      <p:sp>
        <p:nvSpPr>
          <p:cNvPr id="15" name="Token box" descr="">
            <a:extLst>
              <a:ext uri="{C183D7F6-B498-43B3-948B-1728B52AA6E4}">
                <adec:decorative xmlns:adec="http://schemas.microsoft.com/office/drawing/2017/decorative" val="1"/>
              </a:ext>
            </a:extLst>
          </p:cNvPr>
          <p:cNvSpPr/>
          <p:nvPr/>
        </p:nvSpPr>
        <p:spPr>
          <a:xfrm>
            <a:off x="6629400" y="1417320"/>
            <a:ext cx="5029200" cy="3337560"/>
          </a:xfrm>
          <a:prstGeom prst="roundRect">
            <a:avLst>
              <a:gd name="adj" fmla="val 219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Icon FaIdCard" descr="">
            <a:extLst>
              <a:ext uri="{C183D7F6-B498-43B3-948B-1728B52AA6E4}">
                <adec:decorative xmlns:adec="http://schemas.microsoft.com/office/drawing/2017/decorative" val="1"/>
              </a:ext>
            </a:extLst>
          </p:cNvPr>
          <p:cNvSpPr/>
          <p:nvPr/>
        </p:nvSpPr>
        <p:spPr>
          <a:xfrm>
            <a:off x="6858000" y="1627632"/>
            <a:ext cx="685800" cy="685800"/>
          </a:xfrm>
          <a:prstGeom prst="ellipse">
            <a:avLst/>
          </a:prstGeom>
          <a:solidFill>
            <a:srgbClr val="0F766E"/>
          </a:solidFill>
          <a:ln w="12700">
            <a:solidFill>
              <a:srgbClr val="0F766E"/>
            </a:solidFill>
            <a:prstDash val="solid"/>
          </a:ln>
        </p:spPr>
      </p:sp>
      <p:pic>
        <p:nvPicPr>
          <p:cNvPr id="17"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022592" y="1792224"/>
            <a:ext cx="356616" cy="356616"/>
          </a:xfrm>
          <a:prstGeom prst="rect">
            <a:avLst/>
          </a:prstGeom>
        </p:spPr>
      </p:pic>
      <p:sp>
        <p:nvSpPr>
          <p:cNvPr id="18" name="Token head"/>
          <p:cNvSpPr txBox="1"/>
          <p:nvPr/>
        </p:nvSpPr>
        <p:spPr>
          <a:xfrm>
            <a:off x="7726680" y="1572768"/>
            <a:ext cx="3794760" cy="868680"/>
          </a:xfrm>
          <a:prstGeom prst="rect">
            <a:avLst/>
          </a:prstGeom>
          <a:noFill/>
          <a:ln/>
        </p:spPr>
        <p:txBody>
          <a:bodyPr wrap="square" lIns="0" tIns="0" rIns="0" bIns="0" rtlCol="0" anchor="ctr"/>
          <a:lstStyle/>
          <a:p>
            <a:pPr indent="0" marL="0">
              <a:buNone/>
            </a:pPr>
            <a:r>
              <a:rPr lang="en-US" sz="1200" b="1" dirty="0">
                <a:solidFill>
                  <a:srgbClr val="64748B"/>
                </a:solidFill>
              </a:rPr>
              <a:t>THE GAP ZERO TRUST EXPOSES</a:t>
            </a:r>
            <a:endParaRPr lang="en-US" sz="1400" dirty="0"/>
          </a:p>
          <a:p>
            <a:pPr indent="0" marL="0">
              <a:buNone/>
            </a:pPr>
            <a:r>
              <a:rPr lang="en-US" sz="1800" b="1" dirty="0">
                <a:solidFill>
                  <a:srgbClr val="0F766E"/>
                </a:solidFill>
                <a:latin typeface="Cambria" pitchFamily="34" charset="0"/>
                <a:ea typeface="Cambria" pitchFamily="34" charset="-122"/>
                <a:cs typeface="Cambria" pitchFamily="34" charset="-120"/>
              </a:rPr>
              <a:t>A token proves who signed it — not that it's true</a:t>
            </a:r>
            <a:endParaRPr lang="en-US" sz="1400" dirty="0"/>
          </a:p>
        </p:txBody>
      </p:sp>
      <p:sp>
        <p:nvSpPr>
          <p:cNvPr id="19" name="Token text"/>
          <p:cNvSpPr txBox="1"/>
          <p:nvPr/>
        </p:nvSpPr>
        <p:spPr>
          <a:xfrm>
            <a:off x="6903720" y="2606040"/>
            <a:ext cx="457200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Does this person still work here?</a:t>
            </a:r>
            <a:endParaRPr lang="en-US" sz="1400" dirty="0"/>
          </a:p>
          <a:p>
            <a:pPr marL="342900" indent="-342900">
              <a:spcAft>
                <a:spcPts val="600"/>
              </a:spcAft>
              <a:buSzPct val="100000"/>
              <a:buChar char="•"/>
            </a:pPr>
            <a:r>
              <a:rPr lang="en-US" sz="1500" dirty="0">
                <a:solidFill>
                  <a:schemeClr val="tx2"/>
                </a:solidFill>
              </a:rPr>
              <a:t>Do they still hold the position the access was granted for?</a:t>
            </a:r>
            <a:endParaRPr lang="en-US" sz="1400" dirty="0"/>
          </a:p>
          <a:p>
            <a:pPr marL="342900" indent="-342900">
              <a:spcAft>
                <a:spcPts val="600"/>
              </a:spcAft>
              <a:buSzPct val="100000"/>
              <a:buChar char="•"/>
            </a:pPr>
            <a:r>
              <a:rPr lang="en-US" sz="1500" dirty="0">
                <a:solidFill>
                  <a:schemeClr val="tx2"/>
                </a:solidFill>
              </a:rPr>
              <a:t>Who do they report to today?</a:t>
            </a:r>
            <a:endParaRPr lang="en-US" sz="1400" dirty="0"/>
          </a:p>
        </p:txBody>
      </p:sp>
      <p:sp>
        <p:nvSpPr>
          <p:cNvPr id="20" name="Token close"/>
          <p:cNvSpPr txBox="1"/>
          <p:nvPr/>
        </p:nvSpPr>
        <p:spPr>
          <a:xfrm>
            <a:off x="6903720" y="4160520"/>
            <a:ext cx="4572000" cy="457200"/>
          </a:xfrm>
          <a:prstGeom prst="rect">
            <a:avLst/>
          </a:prstGeom>
          <a:noFill/>
          <a:ln/>
        </p:spPr>
        <p:txBody>
          <a:bodyPr wrap="square" lIns="0" tIns="0" rIns="0" bIns="0" rtlCol="0" anchor="t"/>
          <a:lstStyle/>
          <a:p>
            <a:pPr indent="0" marL="0">
              <a:buNone/>
            </a:pPr>
            <a:r>
              <a:rPr lang="en-US" sz="1500" b="1" dirty="0">
                <a:solidFill>
                  <a:srgbClr val="0F766E"/>
                </a:solidFill>
              </a:rPr>
              <a:t>Those are workforce facts. They live in HR.</a:t>
            </a:r>
            <a:endParaRPr lang="en-US" sz="1500" dirty="0"/>
          </a:p>
        </p:txBody>
      </p:sp>
      <p:sp>
        <p:nvSpPr>
          <p:cNvPr id="21" name="Do nothing"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2" name="Icon FaTriangleExclamation"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3" name="Image 4"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52805" y="5273345"/>
            <a:ext cx="380390" cy="380390"/>
          </a:xfrm>
          <a:prstGeom prst="rect">
            <a:avLst/>
          </a:prstGeom>
        </p:spPr>
      </p:pic>
      <p:sp>
        <p:nvSpPr>
          <p:cNvPr id="24" name="Do nothing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If we do nothing: </a:t>
            </a:r>
            <a:pPr indent="0" marL="0">
              <a:buNone/>
            </a:pPr>
            <a:r>
              <a:rPr lang="en-US" sz="1650" dirty="0">
                <a:solidFill>
                  <a:schemeClr val="tx2"/>
                </a:solidFill>
              </a:rPr>
              <a:t>HR moves to Core HCM, identity moves to Entra ID — and we rebuild the same manual process twice, on new platforms.</a:t>
            </a:r>
            <a:endParaRPr lang="en-US" sz="1650" dirty="0"/>
          </a:p>
        </p:txBody>
      </p:sp>
      <p:sp>
        <p:nvSpPr>
          <p:cNvPr id="2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FIPS 201-3 (PIV termination); NIST SP 800-53 PS-4, AC-2. Book 03, Chapters 01–02 and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Why now: two migrations open one design window</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Col 0" descr="">
            <a:extLst>
              <a:ext uri="{C183D7F6-B498-43B3-948B-1728B52AA6E4}">
                <adec:decorative xmlns:adec="http://schemas.microsoft.com/office/drawing/2017/decorative" val="1"/>
              </a:ext>
            </a:extLst>
          </p:cNvPr>
          <p:cNvSpPr/>
          <p:nvPr/>
        </p:nvSpPr>
        <p:spPr>
          <a:xfrm>
            <a:off x="548640" y="1417320"/>
            <a:ext cx="3703320" cy="3291840"/>
          </a:xfrm>
          <a:prstGeom prst="roundRect">
            <a:avLst>
              <a:gd name="adj" fmla="val 2222"/>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Col 0 head"/>
          <p:cNvSpPr txBox="1"/>
          <p:nvPr/>
        </p:nvSpPr>
        <p:spPr>
          <a:xfrm>
            <a:off x="1463040" y="1572768"/>
            <a:ext cx="265176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Federal HR 2.0</a:t>
            </a:r>
            <a:endParaRPr lang="en-US" sz="1900" dirty="0"/>
          </a:p>
        </p:txBody>
      </p:sp>
      <p:sp>
        <p:nvSpPr>
          <p:cNvPr id="9" name="Col 0 text"/>
          <p:cNvSpPr txBox="1"/>
          <p:nvPr/>
        </p:nvSpPr>
        <p:spPr>
          <a:xfrm>
            <a:off x="77724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OMB/OPM memo, December 10, 2025: one government-wide Core HCM</a:t>
            </a:r>
            <a:endParaRPr lang="en-US" sz="1400" dirty="0"/>
          </a:p>
          <a:p>
            <a:pPr marL="342900" indent="-342900">
              <a:spcAft>
                <a:spcPts val="700"/>
              </a:spcAft>
              <a:buSzPct val="100000"/>
              <a:buChar char="•"/>
            </a:pPr>
            <a:r>
              <a:rPr lang="en-US" sz="1450" dirty="0">
                <a:solidFill>
                  <a:schemeClr val="tx2"/>
                </a:solidFill>
              </a:rPr>
              <a:t>OPM awarded the platform contract June 10, 2026</a:t>
            </a:r>
            <a:endParaRPr lang="en-US" sz="1400" dirty="0"/>
          </a:p>
          <a:p>
            <a:pPr marL="342900" indent="-342900">
              <a:spcAft>
                <a:spcPts val="700"/>
              </a:spcAft>
              <a:buSzPct val="100000"/>
              <a:buChar char="•"/>
            </a:pPr>
            <a:r>
              <a:rPr lang="en-US" sz="1450" dirty="0">
                <a:solidFill>
                  <a:schemeClr val="tx2"/>
                </a:solidFill>
              </a:rPr>
              <a:t>First agencies begin as FY 2027 starts; onboarding about 8 months, interconnections live around month 5</a:t>
            </a:r>
            <a:endParaRPr lang="en-US" sz="1400" dirty="0"/>
          </a:p>
        </p:txBody>
      </p:sp>
      <p:sp>
        <p:nvSpPr>
          <p:cNvPr id="10" name="Col 1" descr="">
            <a:extLst>
              <a:ext uri="{C183D7F6-B498-43B3-948B-1728B52AA6E4}">
                <adec:decorative xmlns:adec="http://schemas.microsoft.com/office/drawing/2017/decorative" val="1"/>
              </a:ext>
            </a:extLst>
          </p:cNvPr>
          <p:cNvSpPr/>
          <p:nvPr/>
        </p:nvSpPr>
        <p:spPr>
          <a:xfrm>
            <a:off x="4389120" y="1417320"/>
            <a:ext cx="370332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CloudArrowUp" descr="">
            <a:extLst>
              <a:ext uri="{C183D7F6-B498-43B3-948B-1728B52AA6E4}">
                <adec:decorative xmlns:adec="http://schemas.microsoft.com/office/drawing/2017/decorative" val="1"/>
              </a:ext>
            </a:extLst>
          </p:cNvPr>
          <p:cNvSpPr/>
          <p:nvPr/>
        </p:nvSpPr>
        <p:spPr>
          <a:xfrm>
            <a:off x="459028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726351" y="1708831"/>
            <a:ext cx="294803" cy="294803"/>
          </a:xfrm>
          <a:prstGeom prst="rect">
            <a:avLst/>
          </a:prstGeom>
        </p:spPr>
      </p:pic>
      <p:sp>
        <p:nvSpPr>
          <p:cNvPr id="13" name="Col 1 head"/>
          <p:cNvSpPr txBox="1"/>
          <p:nvPr/>
        </p:nvSpPr>
        <p:spPr>
          <a:xfrm>
            <a:off x="5303520" y="1572768"/>
            <a:ext cx="265176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The Entra ID migration</a:t>
            </a:r>
            <a:endParaRPr lang="en-US" sz="1900" dirty="0"/>
          </a:p>
        </p:txBody>
      </p:sp>
      <p:sp>
        <p:nvSpPr>
          <p:cNvPr id="14" name="Col 1 text"/>
          <p:cNvSpPr txBox="1"/>
          <p:nvPr/>
        </p:nvSpPr>
        <p:spPr>
          <a:xfrm>
            <a:off x="4617720" y="2286000"/>
            <a:ext cx="3291840" cy="2377440"/>
          </a:xfrm>
          <a:prstGeom prst="rect">
            <a:avLst/>
          </a:prstGeom>
          <a:noFill/>
          <a:ln/>
        </p:spPr>
        <p:txBody>
          <a:bodyPr wrap="square" lIns="0" tIns="0" rIns="0" bIns="0" rtlCol="0" anchor="t"/>
          <a:lstStyle/>
          <a:p>
            <a:pPr marL="342900" indent="-342900">
              <a:spcAft>
                <a:spcPts val="700"/>
              </a:spcAft>
              <a:buSzPct val="100000"/>
              <a:buChar char="•"/>
            </a:pPr>
            <a:r>
              <a:rPr lang="en-US" sz="1450" dirty="0">
                <a:solidFill>
                  <a:schemeClr val="tx2"/>
                </a:solidFill>
              </a:rPr>
              <a:t>Identity moves from Active Directory to Entra ID anyway (Book 02)</a:t>
            </a:r>
            <a:endParaRPr lang="en-US" sz="1400" dirty="0"/>
          </a:p>
          <a:p>
            <a:pPr marL="342900" indent="-342900">
              <a:spcAft>
                <a:spcPts val="700"/>
              </a:spcAft>
              <a:buSzPct val="100000"/>
              <a:buChar char="•"/>
            </a:pPr>
            <a:r>
              <a:rPr lang="en-US" sz="1450" dirty="0">
                <a:solidFill>
                  <a:schemeClr val="tx2"/>
                </a:solidFill>
              </a:rPr>
              <a:t>Attributes now drive Conditional Access, groups and delegation</a:t>
            </a:r>
            <a:endParaRPr lang="en-US" sz="1400" dirty="0"/>
          </a:p>
          <a:p>
            <a:pPr marL="342900" indent="-342900">
              <a:spcAft>
                <a:spcPts val="700"/>
              </a:spcAft>
              <a:buSzPct val="100000"/>
              <a:buChar char="•"/>
            </a:pPr>
            <a:r>
              <a:rPr lang="en-US" sz="1450" dirty="0">
                <a:solidFill>
                  <a:schemeClr val="tx2"/>
                </a:solidFill>
              </a:rPr>
              <a:t>Inbound provisioning from HR is a supported, documented path</a:t>
            </a:r>
            <a:endParaRPr lang="en-US" sz="1400" dirty="0"/>
          </a:p>
        </p:txBody>
      </p:sp>
      <p:sp>
        <p:nvSpPr>
          <p:cNvPr id="15" name="Window" descr="">
            <a:extLst>
              <a:ext uri="{C183D7F6-B498-43B3-948B-1728B52AA6E4}">
                <adec:decorative xmlns:adec="http://schemas.microsoft.com/office/drawing/2017/decorative" val="1"/>
              </a:ext>
            </a:extLst>
          </p:cNvPr>
          <p:cNvSpPr/>
          <p:nvPr/>
        </p:nvSpPr>
        <p:spPr>
          <a:xfrm>
            <a:off x="8229600" y="1417320"/>
            <a:ext cx="3429000" cy="3291840"/>
          </a:xfrm>
          <a:prstGeom prst="roundRect">
            <a:avLst>
              <a:gd name="adj" fmla="val 222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6" name="Icon FaDoorOpen" descr="">
            <a:extLst>
              <a:ext uri="{C183D7F6-B498-43B3-948B-1728B52AA6E4}">
                <adec:decorative xmlns:adec="http://schemas.microsoft.com/office/drawing/2017/decorative" val="1"/>
              </a:ext>
            </a:extLst>
          </p:cNvPr>
          <p:cNvSpPr/>
          <p:nvPr/>
        </p:nvSpPr>
        <p:spPr>
          <a:xfrm>
            <a:off x="8458200"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594263" y="1708831"/>
            <a:ext cx="294803" cy="294803"/>
          </a:xfrm>
          <a:prstGeom prst="rect">
            <a:avLst/>
          </a:prstGeom>
        </p:spPr>
      </p:pic>
      <p:sp>
        <p:nvSpPr>
          <p:cNvPr id="18" name="Window head"/>
          <p:cNvSpPr txBox="1"/>
          <p:nvPr/>
        </p:nvSpPr>
        <p:spPr>
          <a:xfrm>
            <a:off x="9189720" y="1572768"/>
            <a:ext cx="237744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The window</a:t>
            </a:r>
            <a:endParaRPr lang="en-US" sz="1900" dirty="0"/>
          </a:p>
        </p:txBody>
      </p:sp>
      <p:sp>
        <p:nvSpPr>
          <p:cNvPr id="19" name="Window text"/>
          <p:cNvSpPr txBox="1"/>
          <p:nvPr/>
        </p:nvSpPr>
        <p:spPr>
          <a:xfrm>
            <a:off x="8458200" y="2286000"/>
            <a:ext cx="3017520" cy="2286000"/>
          </a:xfrm>
          <a:prstGeom prst="rect">
            <a:avLst/>
          </a:prstGeom>
          <a:noFill/>
          <a:ln/>
        </p:spPr>
        <p:txBody>
          <a:bodyPr wrap="square" lIns="0" tIns="0" rIns="0" bIns="0" rtlCol="0" anchor="t"/>
          <a:lstStyle/>
          <a:p>
            <a:pPr indent="0" marL="0">
              <a:buNone/>
            </a:pPr>
            <a:r>
              <a:rPr lang="en-US" sz="1450" dirty="0">
                <a:solidFill>
                  <a:schemeClr val="tx2"/>
                </a:solidFill>
              </a:rPr>
              <a:t>The identity feed has to be designed in during onboarding — before the agency's interconnection goes live — not bolted on after.</a:t>
            </a:r>
            <a:endParaRPr lang="en-US" sz="1450" dirty="0"/>
          </a:p>
        </p:txBody>
      </p:sp>
      <p:sp>
        <p:nvSpPr>
          <p:cNvPr id="20" name="Limit"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21" name="Icon FaScaleBalanced"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64748B"/>
          </a:solidFill>
          <a:ln w="12700">
            <a:solidFill>
              <a:srgbClr val="64748B"/>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50485"/>
            <a:ext cx="380390" cy="380390"/>
          </a:xfrm>
          <a:prstGeom prst="rect">
            <a:avLst/>
          </a:prstGeom>
        </p:spPr>
      </p:pic>
      <p:sp>
        <p:nvSpPr>
          <p:cNvPr id="23" name="Limit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64748B"/>
                </a:solidFill>
              </a:rPr>
              <a:t>Honest limit: </a:t>
            </a:r>
            <a:pPr indent="0" marL="0">
              <a:buNone/>
            </a:pPr>
            <a:r>
              <a:rPr lang="en-US" sz="1650" dirty="0">
                <a:solidFill>
                  <a:schemeClr val="tx2"/>
                </a:solidFill>
              </a:rPr>
              <a:t>Federal HR 2.0 covers federal employees only. Contractors need their own authoritative source — decided during the same onboarding.</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OMB/OPM, Creating "Federal HR 2.0" (Dec. 10, 2025); OPM award (June 10, 2026). Book 03, Chapter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Four options, weighed against what leadership must balance</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3520440"/>
                <a:gridCol w="1325880"/>
                <a:gridCol w="1280160"/>
                <a:gridCol w="1188720"/>
                <a:gridCol w="1371600"/>
                <a:gridCol w="2423160"/>
              </a:tblGrid>
              <a:tr h="45720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Option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Mission</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Cost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Resilience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Bottom line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7315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A  Keep ticket-driven identity</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No new investment</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The cost of doing nothing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B  Automate inside the directories</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Scripts and exports, no HR authority</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Automates a source that isn't authoritative</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C  Wait for HR 2.0, integrate later</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Less work this year</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B91C1C"/>
                          </a:solidFill>
                          <a:latin typeface="Calibri" pitchFamily="34" charset="0"/>
                          <a:ea typeface="Calibri" pitchFamily="34" charset="-122"/>
                          <a:cs typeface="Calibri" pitchFamily="34" charset="-120"/>
                        </a:rPr>
                        <a:t>Weak</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4E4"/>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dirty="0">
                          <a:solidFill>
                            <a:srgbClr val="334155"/>
                          </a:solidFill>
                          <a:latin typeface="Calibri" pitchFamily="34" charset="0"/>
                          <a:ea typeface="Calibri" pitchFamily="34" charset="-122"/>
                          <a:cs typeface="Calibri" pitchFamily="34" charset="-120"/>
                        </a:rPr>
                        <a:t>Defensible — but misses the design window</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731520">
                <a:tc>
                  <a:txBody>
                    <a:bodyPr/>
                    <a:lstStyle/>
                    <a:p>
                      <a:pPr indent="0" marL="0">
                        <a:buNone/>
                      </a:pPr>
                      <a:r>
                        <a:rPr lang="en-US" sz="1400" b="1" dirty="0">
                          <a:solidFill>
                            <a:srgbClr val="1F2A44"/>
                          </a:solidFill>
                          <a:latin typeface="Calibri" pitchFamily="34" charset="0"/>
                          <a:ea typeface="Calibri" pitchFamily="34" charset="-122"/>
                          <a:cs typeface="Calibri" pitchFamily="34" charset="-120"/>
                        </a:rPr>
                        <a:t>D  Start now: HR is the source of truth</a:t>
                      </a:r>
                      <a:endParaRPr lang="en-US" sz="1400" dirty="0">
                        <a:latin typeface="Calibri" charset="0"/>
                        <a:ea typeface="Calibri" charset="0"/>
                        <a:cs typeface="Calibri" charset="0"/>
                      </a:endParaRPr>
                    </a:p>
                    <a:p>
                      <a:pPr indent="0" marL="0">
                        <a:buNone/>
                      </a:pPr>
                      <a:r>
                        <a:rPr lang="en-US" sz="1200" dirty="0">
                          <a:solidFill>
                            <a:srgbClr val="64748B"/>
                          </a:solidFill>
                          <a:latin typeface="Calibri" pitchFamily="34" charset="0"/>
                          <a:ea typeface="Calibri" pitchFamily="34" charset="-122"/>
                          <a:cs typeface="Calibri" pitchFamily="34" charset="-120"/>
                        </a:rPr>
                        <a:t>On OPM standard data, built into both migrations</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algn="ctr" indent="0" marL="0">
                        <a:buNone/>
                      </a:pPr>
                      <a:r>
                        <a:rPr lang="en-US" sz="1400" b="1" dirty="0">
                          <a:solidFill>
                            <a:srgbClr val="B45309"/>
                          </a:solidFill>
                          <a:latin typeface="Calibri" pitchFamily="34" charset="0"/>
                          <a:ea typeface="Calibri" pitchFamily="34" charset="-122"/>
                          <a:cs typeface="Calibri" pitchFamily="34" charset="-120"/>
                        </a:rPr>
                        <a:t>Partial</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BEEDC"/>
                    </a:solidFill>
                  </a:tcPr>
                </a:tc>
                <a:tc>
                  <a:txBody>
                    <a:bodyPr/>
                    <a:lstStyle/>
                    <a:p>
                      <a:pPr algn="ctr" indent="0" marL="0">
                        <a:buNone/>
                      </a:pPr>
                      <a:r>
                        <a:rPr lang="en-US" sz="1400" b="1" dirty="0">
                          <a:solidFill>
                            <a:srgbClr val="0F766E"/>
                          </a:solidFill>
                          <a:latin typeface="Calibri" pitchFamily="34" charset="0"/>
                          <a:ea typeface="Calibri" pitchFamily="34" charset="-122"/>
                          <a:cs typeface="Calibri" pitchFamily="34" charset="-120"/>
                        </a:rPr>
                        <a:t>Strong</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DCEFEC"/>
                    </a:solidFill>
                  </a:tcPr>
                </a:tc>
                <a:tc>
                  <a:txBody>
                    <a:bodyPr/>
                    <a:lstStyle/>
                    <a:p>
                      <a:pPr indent="0" marL="0">
                        <a:buNone/>
                      </a:pPr>
                      <a:r>
                        <a:rPr lang="en-US" sz="1400" b="1" dirty="0">
                          <a:solidFill>
                            <a:srgbClr val="0F766E"/>
                          </a:solidFill>
                          <a:latin typeface="Calibri" pitchFamily="34" charset="0"/>
                          <a:ea typeface="Calibri" pitchFamily="34" charset="-122"/>
                          <a:cs typeface="Calibri" pitchFamily="34" charset="-120"/>
                        </a:rPr>
                        <a:t>Recommended, phased</a:t>
                      </a:r>
                      <a:endParaRPr lang="en-US" sz="14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Judgment" descr="">
            <a:extLst>
              <a:ext uri="{C183D7F6-B498-43B3-948B-1728B52AA6E4}">
                <adec:decorative xmlns:adec="http://schemas.microsoft.com/office/drawing/2017/decorative" val="1"/>
              </a:ext>
            </a:extLst>
          </p:cNvPr>
          <p:cNvSpPr/>
          <p:nvPr/>
        </p:nvSpPr>
        <p:spPr>
          <a:xfrm>
            <a:off x="548640" y="5029200"/>
            <a:ext cx="11109960" cy="1005840"/>
          </a:xfrm>
          <a:prstGeom prst="roundRect">
            <a:avLst>
              <a:gd name="adj" fmla="val 7273"/>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Lightbulb" descr="">
            <a:extLst>
              <a:ext uri="{C183D7F6-B498-43B3-948B-1728B52AA6E4}">
                <adec:decorative xmlns:adec="http://schemas.microsoft.com/office/drawing/2017/decorative" val="1"/>
              </a:ext>
            </a:extLst>
          </p:cNvPr>
          <p:cNvSpPr/>
          <p:nvPr/>
        </p:nvSpPr>
        <p:spPr>
          <a:xfrm>
            <a:off x="777240" y="5166360"/>
            <a:ext cx="731520" cy="73152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341925"/>
            <a:ext cx="380390" cy="380390"/>
          </a:xfrm>
          <a:prstGeom prst="rect">
            <a:avLst/>
          </a:prstGeom>
        </p:spPr>
      </p:pic>
      <p:sp>
        <p:nvSpPr>
          <p:cNvPr id="9" name="Judgment text"/>
          <p:cNvSpPr txBox="1"/>
          <p:nvPr/>
        </p:nvSpPr>
        <p:spPr>
          <a:xfrm>
            <a:off x="1737360" y="5074920"/>
            <a:ext cx="9738360" cy="914400"/>
          </a:xfrm>
          <a:prstGeom prst="rect">
            <a:avLst/>
          </a:prstGeom>
          <a:noFill/>
          <a:ln/>
        </p:spPr>
        <p:txBody>
          <a:bodyPr wrap="square" lIns="0" tIns="0" rIns="0" bIns="0" rtlCol="0" anchor="ctr"/>
          <a:lstStyle/>
          <a:p>
            <a:pPr indent="0" marL="0">
              <a:buNone/>
            </a:pPr>
            <a:r>
              <a:rPr lang="en-US" sz="1650" b="1" dirty="0">
                <a:solidFill>
                  <a:srgbClr val="B45309"/>
                </a:solidFill>
              </a:rPr>
              <a:t>The judgment call: </a:t>
            </a:r>
            <a:pPr indent="0" marL="0">
              <a:buNone/>
            </a:pPr>
            <a:r>
              <a:rPr lang="en-US" sz="1650" dirty="0">
                <a:solidFill>
                  <a:schemeClr val="tx2"/>
                </a:solidFill>
              </a:rPr>
              <a:t>if HR 2.0 slipped a long way, C becomes reasonable. But D's first step — data standards, ownership and the person key — is no-regret either way.</a:t>
            </a:r>
            <a:endParaRPr lang="en-US" sz="16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Program assessment; ratings are the book's judgment, not external fact. Book 03, Chapters 01 and 03.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One owner per fact, one model, one person key</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9144000" cy="914400"/>
        </p:xfrm>
        <a:graphic>
          <a:graphicData uri="http://schemas.openxmlformats.org/drawingml/2006/table">
            <a:tbl>
              <a:tblPr firstRow="1" bandRow="1"/>
              <a:tblGrid>
                <a:gridCol w="2651760"/>
                <a:gridCol w="4206240"/>
              </a:tblGrid>
              <a:tr h="411480">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Who is authoritative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450" b="1" dirty="0">
                          <a:solidFill>
                            <a:srgbClr val="FFFFFF"/>
                          </a:solidFill>
                          <a:latin typeface="Calibri" pitchFamily="34" charset="0"/>
                          <a:ea typeface="Calibri" pitchFamily="34" charset="-122"/>
                          <a:cs typeface="Calibri" pitchFamily="34" charset="-120"/>
                        </a:rPr>
                        <a:t>For which facts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85800">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HR system of record</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Employment status, position, organization, supervisor, effective dates</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Identity platform</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Credentials, authentication, sessions, directory objects, policy</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5800">
                <a:tc>
                  <a:txBody>
                    <a:bodyPr/>
                    <a:lstStyle/>
                    <a:p>
                      <a:pPr indent="0" marL="0">
                        <a:buNone/>
                      </a:pPr>
                      <a:r>
                        <a:rPr lang="en-US" sz="1450" b="1" dirty="0">
                          <a:solidFill>
                            <a:srgbClr val="1F2A44"/>
                          </a:solidFill>
                          <a:latin typeface="Calibri" pitchFamily="34" charset="0"/>
                          <a:ea typeface="Calibri" pitchFamily="34" charset="-122"/>
                          <a:cs typeface="Calibri" pitchFamily="34" charset="-120"/>
                        </a:rPr>
                        <a:t>Contractor source</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450" dirty="0">
                          <a:solidFill>
                            <a:srgbClr val="334155"/>
                          </a:solidFill>
                          <a:latin typeface="Calibri" pitchFamily="34" charset="0"/>
                          <a:ea typeface="Calibri" pitchFamily="34" charset="-122"/>
                          <a:cs typeface="Calibri" pitchFamily="34" charset="-120"/>
                        </a:rPr>
                        <a:t>Its own authoritative record for people HR 2.0 doesn't cover</a:t>
                      </a:r>
                      <a:endParaRPr lang="en-US" sz="14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Model box" descr="">
            <a:extLst>
              <a:ext uri="{C183D7F6-B498-43B3-948B-1728B52AA6E4}">
                <adec:decorative xmlns:adec="http://schemas.microsoft.com/office/drawing/2017/decorative" val="1"/>
              </a:ext>
            </a:extLst>
          </p:cNvPr>
          <p:cNvSpPr/>
          <p:nvPr/>
        </p:nvSpPr>
        <p:spPr>
          <a:xfrm>
            <a:off x="7635240" y="1417320"/>
            <a:ext cx="4023360" cy="3200400"/>
          </a:xfrm>
          <a:prstGeom prst="roundRect">
            <a:avLst>
              <a:gd name="adj" fmla="val 228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Icon FaSitemap" descr="">
            <a:extLst>
              <a:ext uri="{C183D7F6-B498-43B3-948B-1728B52AA6E4}">
                <adec:decorative xmlns:adec="http://schemas.microsoft.com/office/drawing/2017/decorative" val="1"/>
              </a:ext>
            </a:extLst>
          </p:cNvPr>
          <p:cNvSpPr/>
          <p:nvPr/>
        </p:nvSpPr>
        <p:spPr>
          <a:xfrm>
            <a:off x="7863840" y="1600200"/>
            <a:ext cx="640080" cy="640080"/>
          </a:xfrm>
          <a:prstGeom prst="ellipse">
            <a:avLst/>
          </a:prstGeom>
          <a:solidFill>
            <a:srgbClr val="1F2A44"/>
          </a:solidFill>
          <a:ln w="12700">
            <a:solidFill>
              <a:srgbClr val="1F2A44"/>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017459" y="1753819"/>
            <a:ext cx="332842" cy="332842"/>
          </a:xfrm>
          <a:prstGeom prst="rect">
            <a:avLst/>
          </a:prstGeom>
        </p:spPr>
      </p:pic>
      <p:sp>
        <p:nvSpPr>
          <p:cNvPr id="9" name="Model head"/>
          <p:cNvSpPr txBox="1"/>
          <p:nvPr/>
        </p:nvSpPr>
        <p:spPr>
          <a:xfrm>
            <a:off x="8641080" y="1600200"/>
            <a:ext cx="2926080" cy="640080"/>
          </a:xfrm>
          <a:prstGeom prst="rect">
            <a:avLst/>
          </a:prstGeom>
          <a:noFill/>
          <a:ln/>
        </p:spPr>
        <p:txBody>
          <a:bodyPr wrap="square" lIns="0" tIns="0" rIns="0" bIns="0" rtlCol="0" anchor="ctr"/>
          <a:lstStyle/>
          <a:p>
            <a:pPr indent="0" marL="0">
              <a:buNone/>
            </a:pPr>
            <a:r>
              <a:rPr lang="en-US" sz="1800" b="1" dirty="0">
                <a:solidFill>
                  <a:srgbClr val="1F2A44"/>
                </a:solidFill>
                <a:latin typeface="Cambria" pitchFamily="34" charset="0"/>
                <a:ea typeface="Cambria" pitchFamily="34" charset="-122"/>
                <a:cs typeface="Cambria" pitchFamily="34" charset="-120"/>
              </a:rPr>
              <a:t>The canonical model</a:t>
            </a:r>
            <a:endParaRPr lang="en-US" sz="1800" dirty="0"/>
          </a:p>
        </p:txBody>
      </p:sp>
      <p:sp>
        <p:nvSpPr>
          <p:cNvPr id="10" name="Model text"/>
          <p:cNvSpPr txBox="1"/>
          <p:nvPr/>
        </p:nvSpPr>
        <p:spPr>
          <a:xfrm>
            <a:off x="7863840" y="2377440"/>
            <a:ext cx="3611880" cy="219456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OPM's standard data elements and nature-of-action codes are the contract</a:t>
            </a:r>
            <a:endParaRPr lang="en-US" sz="1400" dirty="0"/>
          </a:p>
          <a:p>
            <a:pPr marL="342900" indent="-342900">
              <a:spcAft>
                <a:spcPts val="700"/>
              </a:spcAft>
              <a:buSzPct val="100000"/>
              <a:buChar char="•"/>
            </a:pPr>
            <a:r>
              <a:rPr lang="en-US" sz="1400" dirty="0">
                <a:solidFill>
                  <a:schemeClr val="tx2"/>
                </a:solidFill>
              </a:rPr>
              <a:t>Vendor field names stay at the boundary</a:t>
            </a:r>
            <a:endParaRPr lang="en-US" sz="1400" dirty="0"/>
          </a:p>
          <a:p>
            <a:pPr marL="342900" indent="-342900">
              <a:spcAft>
                <a:spcPts val="700"/>
              </a:spcAft>
              <a:buSzPct val="100000"/>
              <a:buChar char="•"/>
            </a:pPr>
            <a:r>
              <a:rPr lang="en-US" sz="1400" dirty="0">
                <a:solidFill>
                  <a:schemeClr val="tx2"/>
                </a:solidFill>
              </a:rPr>
              <a:t>An enterprise person key the agency controls — it must fit Entra's 16-character employeeId</a:t>
            </a:r>
            <a:endParaRPr lang="en-US" sz="1400" dirty="0"/>
          </a:p>
        </p:txBody>
      </p:sp>
      <p:sp>
        <p:nvSpPr>
          <p:cNvPr id="11" name="Rule" descr="">
            <a:extLst>
              <a:ext uri="{C183D7F6-B498-43B3-948B-1728B52AA6E4}">
                <adec:decorative xmlns:adec="http://schemas.microsoft.com/office/drawing/2017/decorative" val="1"/>
              </a:ext>
            </a:extLst>
          </p:cNvPr>
          <p:cNvSpPr/>
          <p:nvPr/>
        </p:nvSpPr>
        <p:spPr>
          <a:xfrm>
            <a:off x="548640" y="4846320"/>
            <a:ext cx="11109960" cy="1143000"/>
          </a:xfrm>
          <a:prstGeom prst="roundRect">
            <a:avLst>
              <a:gd name="adj" fmla="val 6400"/>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12" name="Icon FaKey" descr="">
            <a:extLst>
              <a:ext uri="{C183D7F6-B498-43B3-948B-1728B52AA6E4}">
                <adec:decorative xmlns:adec="http://schemas.microsoft.com/office/drawing/2017/decorative" val="1"/>
              </a:ext>
            </a:extLst>
          </p:cNvPr>
          <p:cNvSpPr/>
          <p:nvPr/>
        </p:nvSpPr>
        <p:spPr>
          <a:xfrm>
            <a:off x="777240" y="5052060"/>
            <a:ext cx="731520" cy="731520"/>
          </a:xfrm>
          <a:prstGeom prst="ellipse">
            <a:avLst/>
          </a:prstGeom>
          <a:solidFill>
            <a:srgbClr val="0F766E"/>
          </a:solidFill>
          <a:ln w="12700">
            <a:solidFill>
              <a:srgbClr val="0F766E"/>
            </a:solidFill>
            <a:prstDash val="solid"/>
          </a:ln>
        </p:spPr>
      </p:sp>
      <p:pic>
        <p:nvPicPr>
          <p:cNvPr id="13"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27625"/>
            <a:ext cx="380390" cy="380390"/>
          </a:xfrm>
          <a:prstGeom prst="rect">
            <a:avLst/>
          </a:prstGeom>
        </p:spPr>
      </p:pic>
      <p:sp>
        <p:nvSpPr>
          <p:cNvPr id="14" name="Rule text"/>
          <p:cNvSpPr txBox="1"/>
          <p:nvPr/>
        </p:nvSpPr>
        <p:spPr>
          <a:xfrm>
            <a:off x="1737360" y="4892040"/>
            <a:ext cx="9738360" cy="1051560"/>
          </a:xfrm>
          <a:prstGeom prst="rect">
            <a:avLst/>
          </a:prstGeom>
          <a:noFill/>
          <a:ln/>
        </p:spPr>
        <p:txBody>
          <a:bodyPr wrap="square" lIns="0" tIns="0" rIns="0" bIns="0" rtlCol="0" anchor="ctr"/>
          <a:lstStyle/>
          <a:p>
            <a:pPr indent="0" marL="0">
              <a:buNone/>
            </a:pPr>
            <a:r>
              <a:rPr lang="en-US" sz="1650" b="1" dirty="0">
                <a:solidFill>
                  <a:srgbClr val="0F766E"/>
                </a:solidFill>
              </a:rPr>
              <a:t>The rule that makes it work: </a:t>
            </a:r>
            <a:pPr indent="0" marL="0">
              <a:buNone/>
            </a:pPr>
            <a:r>
              <a:rPr lang="en-US" sz="1650" dirty="0">
                <a:solidFill>
                  <a:schemeClr val="tx2"/>
                </a:solidFill>
              </a:rPr>
              <a:t>every attribute gets one name, one definition and one accountable owner. When a fact is wrong, it is fixed in its source — never patched in the directory.</a:t>
            </a:r>
            <a:endParaRPr lang="en-US" sz="16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OPM Guide to Data Standards and Guide to Processing Personnel Actions; Microsoft Graph user resource. Book 03, Chapters 04 and 06.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Provisioning: personnel records in, governed identities out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sp>
        <p:nvSpPr>
          <p:cNvPr id="5" name="Pipe 0" descr="">
            <a:extLst>
              <a:ext uri="{C183D7F6-B498-43B3-948B-1728B52AA6E4}">
                <adec:decorative xmlns:adec="http://schemas.microsoft.com/office/drawing/2017/decorative" val="1"/>
              </a:ext>
            </a:extLst>
          </p:cNvPr>
          <p:cNvSpPr/>
          <p:nvPr/>
        </p:nvSpPr>
        <p:spPr>
          <a:xfrm>
            <a:off x="548640" y="1463040"/>
            <a:ext cx="2606040" cy="2011680"/>
          </a:xfrm>
          <a:prstGeom prst="roundRect">
            <a:avLst>
              <a:gd name="adj" fmla="val 3636"/>
            </a:avLst>
          </a:prstGeom>
          <a:solidFill>
            <a:srgbClr val="E9EEF4"/>
          </a:solidFill>
          <a:ln w="12700">
            <a:solidFill>
              <a:srgbClr val="E9EEF4"/>
            </a:solidFill>
            <a:prstDash val="solid"/>
          </a:ln>
          <a:effectLst>
            <a:outerShdw sx="100000" sy="100000" kx="0" ky="0" algn="bl" rotWithShape="0" blurRad="76200" dist="25400" dir="5400000">
              <a:srgbClr val="64748B">
                <a:alpha val="22000"/>
              </a:srgbClr>
            </a:outerShdw>
          </a:effectLst>
        </p:spPr>
      </p:sp>
      <p:sp>
        <p:nvSpPr>
          <p:cNvPr id="6" name="Pipe 0 text"/>
          <p:cNvSpPr txBox="1"/>
          <p:nvPr/>
        </p:nvSpPr>
        <p:spPr>
          <a:xfrm>
            <a:off x="731520" y="1600200"/>
            <a:ext cx="2240280" cy="1783080"/>
          </a:xfrm>
          <a:prstGeom prst="rect">
            <a:avLst/>
          </a:prstGeom>
          <a:noFill/>
          <a:ln/>
        </p:spPr>
        <p:txBody>
          <a:bodyPr wrap="square" lIns="0" tIns="0" rIns="0" bIns="0" rtlCol="0" anchor="t"/>
          <a:lstStyle/>
          <a:p>
            <a:pPr indent="0" marL="0">
              <a:spcAft>
                <a:spcPts val="400"/>
              </a:spcAft>
              <a:buNone/>
            </a:pPr>
            <a:r>
              <a:rPr lang="en-US" sz="1700" b="1" dirty="0">
                <a:solidFill>
                  <a:srgbClr val="64748B"/>
                </a:solidFill>
                <a:latin typeface="Cambria" pitchFamily="34" charset="0"/>
                <a:ea typeface="Cambria" pitchFamily="34" charset="-122"/>
                <a:cs typeface="Cambria" pitchFamily="34" charset="-120"/>
              </a:rPr>
              <a:t>Core HCM</a:t>
            </a:r>
            <a:endParaRPr lang="en-US" sz="1400" dirty="0"/>
          </a:p>
          <a:p>
            <a:pPr indent="0" marL="0">
              <a:spcAft>
                <a:spcPts val="400"/>
              </a:spcAft>
              <a:buNone/>
            </a:pPr>
            <a:r>
              <a:rPr lang="en-US" sz="1400" dirty="0">
                <a:solidFill>
                  <a:schemeClr val="tx2"/>
                </a:solidFill>
              </a:rPr>
              <a:t>Worker records and personnel actions</a:t>
            </a:r>
            <a:endParaRPr lang="en-US" sz="1400" dirty="0"/>
          </a:p>
        </p:txBody>
      </p:sp>
      <p:sp>
        <p:nvSpPr>
          <p:cNvPr id="7" name="Pipe 1" descr="">
            <a:extLst>
              <a:ext uri="{C183D7F6-B498-43B3-948B-1728B52AA6E4}">
                <adec:decorative xmlns:adec="http://schemas.microsoft.com/office/drawing/2017/decorative" val="1"/>
              </a:ext>
            </a:extLst>
          </p:cNvPr>
          <p:cNvSpPr/>
          <p:nvPr/>
        </p:nvSpPr>
        <p:spPr>
          <a:xfrm>
            <a:off x="3346704" y="1463040"/>
            <a:ext cx="2606040" cy="2011680"/>
          </a:xfrm>
          <a:prstGeom prst="roundRect">
            <a:avLst>
              <a:gd name="adj" fmla="val 3636"/>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8" name="Pipe 1 text"/>
          <p:cNvSpPr txBox="1"/>
          <p:nvPr/>
        </p:nvSpPr>
        <p:spPr>
          <a:xfrm>
            <a:off x="3529584" y="1600200"/>
            <a:ext cx="2240280" cy="1783080"/>
          </a:xfrm>
          <a:prstGeom prst="rect">
            <a:avLst/>
          </a:prstGeom>
          <a:noFill/>
          <a:ln/>
        </p:spPr>
        <p:txBody>
          <a:bodyPr wrap="square" lIns="0" tIns="0" rIns="0" bIns="0" rtlCol="0" anchor="t"/>
          <a:lstStyle/>
          <a:p>
            <a:pPr indent="0" marL="0">
              <a:spcAft>
                <a:spcPts val="400"/>
              </a:spcAft>
              <a:buNone/>
            </a:pPr>
            <a:r>
              <a:rPr lang="en-US" sz="1700" b="1" dirty="0">
                <a:solidFill>
                  <a:srgbClr val="B45309"/>
                </a:solidFill>
                <a:latin typeface="Cambria" pitchFamily="34" charset="0"/>
                <a:ea typeface="Cambria" pitchFamily="34" charset="-122"/>
                <a:cs typeface="Cambria" pitchFamily="34" charset="-120"/>
              </a:rPr>
              <a:t>Middleware</a:t>
            </a:r>
            <a:endParaRPr lang="en-US" sz="1400" dirty="0"/>
          </a:p>
          <a:p>
            <a:pPr indent="0" marL="0">
              <a:spcAft>
                <a:spcPts val="400"/>
              </a:spcAft>
              <a:buNone/>
            </a:pPr>
            <a:r>
              <a:rPr lang="en-US" sz="1400" dirty="0">
                <a:solidFill>
                  <a:schemeClr val="tx2"/>
                </a:solidFill>
              </a:rPr>
              <a:t>Validate, sequence, normalize to SCIM, write provenance, reconcile</a:t>
            </a:r>
            <a:endParaRPr lang="en-US" sz="1400" dirty="0"/>
          </a:p>
        </p:txBody>
      </p:sp>
      <p:sp>
        <p:nvSpPr>
          <p:cNvPr id="9" name="Pipe 2" descr="">
            <a:extLst>
              <a:ext uri="{C183D7F6-B498-43B3-948B-1728B52AA6E4}">
                <adec:decorative xmlns:adec="http://schemas.microsoft.com/office/drawing/2017/decorative" val="1"/>
              </a:ext>
            </a:extLst>
          </p:cNvPr>
          <p:cNvSpPr/>
          <p:nvPr/>
        </p:nvSpPr>
        <p:spPr>
          <a:xfrm>
            <a:off x="6144768" y="1463040"/>
            <a:ext cx="2606040" cy="2011680"/>
          </a:xfrm>
          <a:prstGeom prst="roundRect">
            <a:avLst>
              <a:gd name="adj" fmla="val 3636"/>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ipe 2 text"/>
          <p:cNvSpPr txBox="1"/>
          <p:nvPr/>
        </p:nvSpPr>
        <p:spPr>
          <a:xfrm>
            <a:off x="6327648" y="1600200"/>
            <a:ext cx="2240280" cy="1783080"/>
          </a:xfrm>
          <a:prstGeom prst="rect">
            <a:avLst/>
          </a:prstGeom>
          <a:noFill/>
          <a:ln/>
        </p:spPr>
        <p:txBody>
          <a:bodyPr wrap="square" lIns="0" tIns="0" rIns="0" bIns="0" rtlCol="0" anchor="t"/>
          <a:lstStyle/>
          <a:p>
            <a:pPr indent="0" marL="0">
              <a:spcAft>
                <a:spcPts val="400"/>
              </a:spcAft>
              <a:buNone/>
            </a:pPr>
            <a:r>
              <a:rPr lang="en-US" sz="1700" b="1" dirty="0">
                <a:solidFill>
                  <a:srgbClr val="1F2A44"/>
                </a:solidFill>
                <a:latin typeface="Cambria" pitchFamily="34" charset="0"/>
                <a:ea typeface="Cambria" pitchFamily="34" charset="-122"/>
                <a:cs typeface="Cambria" pitchFamily="34" charset="-120"/>
              </a:rPr>
              <a:t>Entra inbound provisioning</a:t>
            </a:r>
            <a:endParaRPr lang="en-US" sz="1400" dirty="0"/>
          </a:p>
          <a:p>
            <a:pPr indent="0" marL="0">
              <a:spcAft>
                <a:spcPts val="400"/>
              </a:spcAft>
              <a:buNone/>
            </a:pPr>
            <a:r>
              <a:rPr lang="en-US" sz="1400" dirty="0">
                <a:solidFill>
                  <a:schemeClr val="tx2"/>
                </a:solidFill>
              </a:rPr>
              <a:t>API-driven bulk upload; daily call limits apply</a:t>
            </a:r>
            <a:endParaRPr lang="en-US" sz="1400" dirty="0"/>
          </a:p>
        </p:txBody>
      </p:sp>
      <p:sp>
        <p:nvSpPr>
          <p:cNvPr id="11" name="Pipe 3" descr="">
            <a:extLst>
              <a:ext uri="{C183D7F6-B498-43B3-948B-1728B52AA6E4}">
                <adec:decorative xmlns:adec="http://schemas.microsoft.com/office/drawing/2017/decorative" val="1"/>
              </a:ext>
            </a:extLst>
          </p:cNvPr>
          <p:cNvSpPr/>
          <p:nvPr/>
        </p:nvSpPr>
        <p:spPr>
          <a:xfrm>
            <a:off x="8942832" y="1463040"/>
            <a:ext cx="2606040" cy="2011680"/>
          </a:xfrm>
          <a:prstGeom prst="roundRect">
            <a:avLst>
              <a:gd name="adj" fmla="val 3636"/>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Pipe 3 text"/>
          <p:cNvSpPr txBox="1"/>
          <p:nvPr/>
        </p:nvSpPr>
        <p:spPr>
          <a:xfrm>
            <a:off x="9125712" y="1600200"/>
            <a:ext cx="2240280" cy="1783080"/>
          </a:xfrm>
          <a:prstGeom prst="rect">
            <a:avLst/>
          </a:prstGeom>
          <a:noFill/>
          <a:ln/>
        </p:spPr>
        <p:txBody>
          <a:bodyPr wrap="square" lIns="0" tIns="0" rIns="0" bIns="0" rtlCol="0" anchor="t"/>
          <a:lstStyle/>
          <a:p>
            <a:pPr indent="0" marL="0">
              <a:spcAft>
                <a:spcPts val="400"/>
              </a:spcAft>
              <a:buNone/>
            </a:pPr>
            <a:r>
              <a:rPr lang="en-US" sz="1700" b="1" dirty="0">
                <a:solidFill>
                  <a:srgbClr val="0F766E"/>
                </a:solidFill>
                <a:latin typeface="Cambria" pitchFamily="34" charset="0"/>
                <a:ea typeface="Cambria" pitchFamily="34" charset="-122"/>
                <a:cs typeface="Cambria" pitchFamily="34" charset="-120"/>
              </a:rPr>
              <a:t>Entra ID and AD</a:t>
            </a:r>
            <a:endParaRPr lang="en-US" sz="1400" dirty="0"/>
          </a:p>
          <a:p>
            <a:pPr indent="0" marL="0">
              <a:spcAft>
                <a:spcPts val="400"/>
              </a:spcAft>
              <a:buNone/>
            </a:pPr>
            <a:r>
              <a:rPr lang="en-US" sz="1400" dirty="0">
                <a:solidFill>
                  <a:schemeClr val="tx2"/>
                </a:solidFill>
              </a:rPr>
              <a:t>Accounts created and updated from the record</a:t>
            </a:r>
            <a:endParaRPr lang="en-US" sz="1400" dirty="0"/>
          </a:p>
        </p:txBody>
      </p:sp>
      <p:sp>
        <p:nvSpPr>
          <p:cNvPr id="13" name="Pipe facts"/>
          <p:cNvSpPr txBox="1"/>
          <p:nvPr/>
        </p:nvSpPr>
        <p:spPr>
          <a:xfrm>
            <a:off x="548640" y="3657600"/>
            <a:ext cx="11109960" cy="731520"/>
          </a:xfrm>
          <a:prstGeom prst="rect">
            <a:avLst/>
          </a:prstGeom>
          <a:noFill/>
          <a:ln/>
        </p:spPr>
        <p:txBody>
          <a:bodyPr wrap="square" lIns="0" tIns="0" rIns="0" bIns="0" rtlCol="0" anchor="t"/>
          <a:lstStyle/>
          <a:p>
            <a:pPr indent="0" marL="0">
              <a:buNone/>
            </a:pPr>
            <a:r>
              <a:rPr lang="en-US" sz="1500" b="1" dirty="0">
                <a:solidFill>
                  <a:srgbClr val="1F2A44"/>
                </a:solidFill>
              </a:rPr>
              <a:t>Fail closed: </a:t>
            </a:r>
            <a:pPr indent="0" marL="0">
              <a:buNone/>
            </a:pPr>
            <a:r>
              <a:rPr lang="en-US" sz="1500" dirty="0">
                <a:solidFill>
                  <a:schemeClr val="tx2"/>
                </a:solidFill>
              </a:rPr>
              <a:t>unknown worker types are refused; a failed record is retried and recorded, never skipped; every event leaves a provenance record before the call returns.</a:t>
            </a:r>
            <a:endParaRPr lang="en-US" sz="1500" dirty="0"/>
          </a:p>
        </p:txBody>
      </p:sp>
      <p:sp>
        <p:nvSpPr>
          <p:cNvPr id="14" name="Example" descr="">
            <a:extLst>
              <a:ext uri="{C183D7F6-B498-43B3-948B-1728B52AA6E4}">
                <adec:decorative xmlns:adec="http://schemas.microsoft.com/office/drawing/2017/decorative" val="1"/>
              </a:ext>
            </a:extLst>
          </p:cNvPr>
          <p:cNvSpPr/>
          <p:nvPr/>
        </p:nvSpPr>
        <p:spPr>
          <a:xfrm>
            <a:off x="548640" y="4754880"/>
            <a:ext cx="11109960" cy="1234440"/>
          </a:xfrm>
          <a:prstGeom prst="roundRect">
            <a:avLst>
              <a:gd name="adj" fmla="val 5926"/>
            </a:avLst>
          </a:prstGeom>
          <a:solidFill>
            <a:srgbClr val="FFFFFF"/>
          </a:solidFill>
          <a:ln w="12700">
            <a:solidFill>
              <a:srgbClr val="64748B"/>
            </a:solidFill>
            <a:prstDash val="solid"/>
          </a:ln>
          <a:effectLst>
            <a:outerShdw sx="100000" sy="100000" kx="0" ky="0" algn="bl" rotWithShape="0" blurRad="76200" dist="25400" dir="5400000">
              <a:srgbClr val="64748B">
                <a:alpha val="22000"/>
              </a:srgbClr>
            </a:outerShdw>
          </a:effectLst>
        </p:spPr>
      </p:sp>
      <p:sp>
        <p:nvSpPr>
          <p:cNvPr id="15" name="Icon FaRightLeft" descr="">
            <a:extLst>
              <a:ext uri="{C183D7F6-B498-43B3-948B-1728B52AA6E4}">
                <adec:decorative xmlns:adec="http://schemas.microsoft.com/office/drawing/2017/decorative" val="1"/>
              </a:ext>
            </a:extLst>
          </p:cNvPr>
          <p:cNvSpPr/>
          <p:nvPr/>
        </p:nvSpPr>
        <p:spPr>
          <a:xfrm>
            <a:off x="777240" y="5006340"/>
            <a:ext cx="731520" cy="731520"/>
          </a:xfrm>
          <a:prstGeom prst="ellipse">
            <a:avLst/>
          </a:prstGeom>
          <a:solidFill>
            <a:srgbClr val="64748B"/>
          </a:solidFill>
          <a:ln w="12700">
            <a:solidFill>
              <a:srgbClr val="64748B"/>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81905"/>
            <a:ext cx="380390" cy="380390"/>
          </a:xfrm>
          <a:prstGeom prst="rect">
            <a:avLst/>
          </a:prstGeom>
        </p:spPr>
      </p:pic>
      <p:sp>
        <p:nvSpPr>
          <p:cNvPr id="17" name="Example text"/>
          <p:cNvSpPr txBox="1"/>
          <p:nvPr/>
        </p:nvSpPr>
        <p:spPr>
          <a:xfrm>
            <a:off x="1737360" y="4800600"/>
            <a:ext cx="9738360" cy="1143000"/>
          </a:xfrm>
          <a:prstGeom prst="rect">
            <a:avLst/>
          </a:prstGeom>
          <a:noFill/>
          <a:ln/>
        </p:spPr>
        <p:txBody>
          <a:bodyPr wrap="square" lIns="0" tIns="0" rIns="0" bIns="0" rtlCol="0" anchor="ctr"/>
          <a:lstStyle/>
          <a:p>
            <a:pPr indent="0" marL="0">
              <a:buNone/>
            </a:pPr>
            <a:r>
              <a:rPr lang="en-US" sz="1650" b="1" dirty="0">
                <a:solidFill>
                  <a:srgbClr val="64748B"/>
                </a:solidFill>
              </a:rPr>
              <a:t>The technology is the example, not the point: </a:t>
            </a:r>
            <a:pPr indent="0" marL="0">
              <a:buNone/>
            </a:pPr>
            <a:r>
              <a:rPr lang="en-US" sz="1650" dirty="0">
                <a:solidFill>
                  <a:schemeClr val="tx2"/>
                </a:solidFill>
              </a:rPr>
              <a:t>Oracle Core HCM feeding Entra ID today. If the vendors change, the model and the rules hold — only the boundary changes.</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API-driven inbound provisioning, provisioning limits; Oracle HCM REST APIs. Book 03, Chapter 05.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Who owns, who uses, who guards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Who col 1" descr="">
            <a:extLst>
              <a:ext uri="{C183D7F6-B498-43B3-948B-1728B52AA6E4}">
                <adec:decorative xmlns:adec="http://schemas.microsoft.com/office/drawing/2017/decorative" val="1"/>
              </a:ext>
            </a:extLst>
          </p:cNvPr>
          <p:cNvSpPr/>
          <p:nvPr/>
        </p:nvSpPr>
        <p:spPr>
          <a:xfrm>
            <a:off x="548640" y="1417320"/>
            <a:ext cx="3611880" cy="3246120"/>
          </a:xfrm>
          <a:prstGeom prst="roundRect">
            <a:avLst>
              <a:gd name="adj" fmla="val 2254"/>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Icon FaBuildingColumns" descr="">
            <a:extLst>
              <a:ext uri="{C183D7F6-B498-43B3-948B-1728B52AA6E4}">
                <adec:decorative xmlns:adec="http://schemas.microsoft.com/office/drawing/2017/decorative" val="1"/>
              </a:ext>
            </a:extLst>
          </p:cNvPr>
          <p:cNvSpPr/>
          <p:nvPr/>
        </p:nvSpPr>
        <p:spPr>
          <a:xfrm>
            <a:off x="749808" y="1572768"/>
            <a:ext cx="566928" cy="566928"/>
          </a:xfrm>
          <a:prstGeom prst="ellipse">
            <a:avLst/>
          </a:prstGeom>
          <a:solidFill>
            <a:srgbClr val="1F2A44"/>
          </a:solidFill>
          <a:ln w="12700">
            <a:solidFill>
              <a:srgbClr val="1F2A44"/>
            </a:solidFill>
            <a:prstDash val="solid"/>
          </a:ln>
        </p:spPr>
      </p:sp>
      <p:pic>
        <p:nvPicPr>
          <p:cNvPr id="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85871" y="1708831"/>
            <a:ext cx="294803" cy="294803"/>
          </a:xfrm>
          <a:prstGeom prst="rect">
            <a:avLst/>
          </a:prstGeom>
        </p:spPr>
      </p:pic>
      <p:sp>
        <p:nvSpPr>
          <p:cNvPr id="8" name="Who head 1"/>
          <p:cNvSpPr txBox="1"/>
          <p:nvPr/>
        </p:nvSpPr>
        <p:spPr>
          <a:xfrm>
            <a:off x="1463040" y="1572768"/>
            <a:ext cx="2560320" cy="566928"/>
          </a:xfrm>
          <a:prstGeom prst="rect">
            <a:avLst/>
          </a:prstGeom>
          <a:noFill/>
          <a:ln/>
        </p:spPr>
        <p:txBody>
          <a:bodyPr wrap="square" lIns="0" tIns="0" rIns="0" bIns="0" rtlCol="0" anchor="ctr"/>
          <a:lstStyle/>
          <a:p>
            <a:pPr indent="0" marL="0">
              <a:buNone/>
            </a:pPr>
            <a:r>
              <a:rPr lang="en-US" sz="1900" b="1" dirty="0">
                <a:solidFill>
                  <a:srgbClr val="1F2A44"/>
                </a:solidFill>
                <a:latin typeface="Cambria" pitchFamily="34" charset="0"/>
                <a:ea typeface="Cambria" pitchFamily="34" charset="-122"/>
                <a:cs typeface="Cambria" pitchFamily="34" charset="-120"/>
              </a:rPr>
              <a:t>Owns the data</a:t>
            </a:r>
            <a:endParaRPr lang="en-US" sz="1900" dirty="0"/>
          </a:p>
        </p:txBody>
      </p:sp>
      <p:sp>
        <p:nvSpPr>
          <p:cNvPr id="9" name="Who text 1"/>
          <p:cNvSpPr txBox="1"/>
          <p:nvPr/>
        </p:nvSpPr>
        <p:spPr>
          <a:xfrm>
            <a:off x="77724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1F2A44"/>
                </a:solidFill>
              </a:rPr>
              <a:t>HR</a:t>
            </a:r>
            <a:endParaRPr lang="en-US" sz="1450" dirty="0"/>
          </a:p>
          <a:p>
            <a:pPr indent="0" marL="0">
              <a:spcAft>
                <a:spcPts val="600"/>
              </a:spcAft>
              <a:buNone/>
            </a:pPr>
            <a:r>
              <a:rPr lang="en-US" sz="1450" dirty="0">
                <a:solidFill>
                  <a:schemeClr val="tx2"/>
                </a:solidFill>
              </a:rPr>
              <a:t>Personnel data and its quality, at the source</a:t>
            </a:r>
            <a:endParaRPr lang="en-US" sz="1450" dirty="0"/>
          </a:p>
          <a:p>
            <a:pPr indent="0" marL="0">
              <a:spcAft>
                <a:spcPts val="600"/>
              </a:spcAft>
              <a:buNone/>
            </a:pPr>
            <a:r>
              <a:rPr lang="en-US" sz="1450" b="1" dirty="0">
                <a:solidFill>
                  <a:srgbClr val="1F2A44"/>
                </a:solidFill>
              </a:rPr>
              <a:t>OPM HR 2.0 program</a:t>
            </a:r>
            <a:endParaRPr lang="en-US" sz="1450" dirty="0"/>
          </a:p>
          <a:p>
            <a:pPr indent="0" marL="0">
              <a:spcAft>
                <a:spcPts val="600"/>
              </a:spcAft>
              <a:buNone/>
            </a:pPr>
            <a:r>
              <a:rPr lang="en-US" sz="1450" dirty="0">
                <a:solidFill>
                  <a:schemeClr val="tx2"/>
                </a:solidFill>
              </a:rPr>
              <a:t>Platform, standards, interconnection</a:t>
            </a:r>
            <a:endParaRPr lang="en-US" sz="1450" dirty="0"/>
          </a:p>
          <a:p>
            <a:pPr indent="0" marL="0">
              <a:spcAft>
                <a:spcPts val="600"/>
              </a:spcAft>
              <a:buNone/>
            </a:pPr>
            <a:r>
              <a:rPr lang="en-US" sz="1450" b="1" dirty="0">
                <a:solidFill>
                  <a:srgbClr val="1F2A44"/>
                </a:solidFill>
              </a:rPr>
              <a:t>Contractor sources</a:t>
            </a:r>
            <a:endParaRPr lang="en-US" sz="1450" dirty="0"/>
          </a:p>
          <a:p>
            <a:pPr indent="0" marL="0">
              <a:spcAft>
                <a:spcPts val="600"/>
              </a:spcAft>
              <a:buNone/>
            </a:pPr>
            <a:r>
              <a:rPr lang="en-US" sz="1450" dirty="0">
                <a:solidFill>
                  <a:schemeClr val="tx2"/>
                </a:solidFill>
              </a:rPr>
              <a:t>Their own authoritative record</a:t>
            </a:r>
            <a:endParaRPr lang="en-US" sz="1450" dirty="0"/>
          </a:p>
        </p:txBody>
      </p:sp>
      <p:sp>
        <p:nvSpPr>
          <p:cNvPr id="10" name="Who col 2" descr="">
            <a:extLst>
              <a:ext uri="{C183D7F6-B498-43B3-948B-1728B52AA6E4}">
                <adec:decorative xmlns:adec="http://schemas.microsoft.com/office/drawing/2017/decorative" val="1"/>
              </a:ext>
            </a:extLst>
          </p:cNvPr>
          <p:cNvSpPr/>
          <p:nvPr/>
        </p:nvSpPr>
        <p:spPr>
          <a:xfrm>
            <a:off x="4297680" y="1417320"/>
            <a:ext cx="3611880" cy="3246120"/>
          </a:xfrm>
          <a:prstGeom prst="roundRect">
            <a:avLst>
              <a:gd name="adj" fmla="val 2254"/>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1" name="Icon FaUsersGear" descr="">
            <a:extLst>
              <a:ext uri="{C183D7F6-B498-43B3-948B-1728B52AA6E4}">
                <adec:decorative xmlns:adec="http://schemas.microsoft.com/office/drawing/2017/decorative" val="1"/>
              </a:ext>
            </a:extLst>
          </p:cNvPr>
          <p:cNvSpPr/>
          <p:nvPr/>
        </p:nvSpPr>
        <p:spPr>
          <a:xfrm>
            <a:off x="4498848" y="1572768"/>
            <a:ext cx="566928" cy="566928"/>
          </a:xfrm>
          <a:prstGeom prst="ellipse">
            <a:avLst/>
          </a:prstGeom>
          <a:solidFill>
            <a:srgbClr val="0F766E"/>
          </a:solidFill>
          <a:ln w="12700">
            <a:solidFill>
              <a:srgbClr val="0F766E"/>
            </a:solidFill>
            <a:prstDash val="solid"/>
          </a:ln>
        </p:spPr>
      </p:sp>
      <p:pic>
        <p:nvPicPr>
          <p:cNvPr id="12"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4634911" y="1708831"/>
            <a:ext cx="294803" cy="294803"/>
          </a:xfrm>
          <a:prstGeom prst="rect">
            <a:avLst/>
          </a:prstGeom>
        </p:spPr>
      </p:pic>
      <p:sp>
        <p:nvSpPr>
          <p:cNvPr id="13" name="Who head 2"/>
          <p:cNvSpPr txBox="1"/>
          <p:nvPr/>
        </p:nvSpPr>
        <p:spPr>
          <a:xfrm>
            <a:off x="5212080" y="1572768"/>
            <a:ext cx="2560320" cy="566928"/>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Uses the data</a:t>
            </a:r>
            <a:endParaRPr lang="en-US" sz="1900" dirty="0"/>
          </a:p>
        </p:txBody>
      </p:sp>
      <p:sp>
        <p:nvSpPr>
          <p:cNvPr id="14" name="Who text 2"/>
          <p:cNvSpPr txBox="1"/>
          <p:nvPr/>
        </p:nvSpPr>
        <p:spPr>
          <a:xfrm>
            <a:off x="452628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0F766E"/>
                </a:solidFill>
              </a:rPr>
              <a:t>CIO identity team</a:t>
            </a:r>
            <a:endParaRPr lang="en-US" sz="1450" dirty="0"/>
          </a:p>
          <a:p>
            <a:pPr indent="0" marL="0">
              <a:spcAft>
                <a:spcPts val="600"/>
              </a:spcAft>
              <a:buNone/>
            </a:pPr>
            <a:r>
              <a:rPr lang="en-US" sz="1450" dirty="0">
                <a:solidFill>
                  <a:schemeClr val="tx2"/>
                </a:solidFill>
              </a:rPr>
              <a:t>Entra ID, Active Directory, access</a:t>
            </a:r>
            <a:endParaRPr lang="en-US" sz="1450" dirty="0"/>
          </a:p>
          <a:p>
            <a:pPr indent="0" marL="0">
              <a:spcAft>
                <a:spcPts val="600"/>
              </a:spcAft>
              <a:buNone/>
            </a:pPr>
            <a:r>
              <a:rPr lang="en-US" sz="1450" b="1" dirty="0">
                <a:solidFill>
                  <a:srgbClr val="0F766E"/>
                </a:solidFill>
              </a:rPr>
              <a:t>Security</a:t>
            </a:r>
            <a:endParaRPr lang="en-US" sz="1450" dirty="0"/>
          </a:p>
          <a:p>
            <a:pPr indent="0" marL="0">
              <a:spcAft>
                <a:spcPts val="600"/>
              </a:spcAft>
              <a:buNone/>
            </a:pPr>
            <a:r>
              <a:rPr lang="en-US" sz="1450" dirty="0">
                <a:solidFill>
                  <a:schemeClr val="tx2"/>
                </a:solidFill>
              </a:rPr>
              <a:t>Zero Trust policy and the leaver path</a:t>
            </a:r>
            <a:endParaRPr lang="en-US" sz="1450" dirty="0"/>
          </a:p>
          <a:p>
            <a:pPr indent="0" marL="0">
              <a:spcAft>
                <a:spcPts val="600"/>
              </a:spcAft>
              <a:buNone/>
            </a:pPr>
            <a:r>
              <a:rPr lang="en-US" sz="1450" b="1" dirty="0">
                <a:solidFill>
                  <a:srgbClr val="0F766E"/>
                </a:solidFill>
              </a:rPr>
              <a:t>Help desk</a:t>
            </a:r>
            <a:endParaRPr lang="en-US" sz="1450" dirty="0"/>
          </a:p>
          <a:p>
            <a:pPr indent="0" marL="0">
              <a:spcAft>
                <a:spcPts val="600"/>
              </a:spcAft>
              <a:buNone/>
            </a:pPr>
            <a:r>
              <a:rPr lang="en-US" sz="1450" dirty="0">
                <a:solidFill>
                  <a:schemeClr val="tx2"/>
                </a:solidFill>
              </a:rPr>
              <a:t>Exceptions, not routine tickets</a:t>
            </a:r>
            <a:endParaRPr lang="en-US" sz="1450" dirty="0"/>
          </a:p>
        </p:txBody>
      </p:sp>
      <p:sp>
        <p:nvSpPr>
          <p:cNvPr id="15" name="Who col 3" descr="">
            <a:extLst>
              <a:ext uri="{C183D7F6-B498-43B3-948B-1728B52AA6E4}">
                <adec:decorative xmlns:adec="http://schemas.microsoft.com/office/drawing/2017/decorative" val="1"/>
              </a:ext>
            </a:extLst>
          </p:cNvPr>
          <p:cNvSpPr/>
          <p:nvPr/>
        </p:nvSpPr>
        <p:spPr>
          <a:xfrm>
            <a:off x="8046720" y="1417320"/>
            <a:ext cx="3611880" cy="3246120"/>
          </a:xfrm>
          <a:prstGeom prst="roundRect">
            <a:avLst>
              <a:gd name="adj" fmla="val 2254"/>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6" name="Icon FaShieldHalved" descr="">
            <a:extLst>
              <a:ext uri="{C183D7F6-B498-43B3-948B-1728B52AA6E4}">
                <adec:decorative xmlns:adec="http://schemas.microsoft.com/office/drawing/2017/decorative" val="1"/>
              </a:ext>
            </a:extLst>
          </p:cNvPr>
          <p:cNvSpPr/>
          <p:nvPr/>
        </p:nvSpPr>
        <p:spPr>
          <a:xfrm>
            <a:off x="8247888" y="1572768"/>
            <a:ext cx="566928" cy="566928"/>
          </a:xfrm>
          <a:prstGeom prst="ellipse">
            <a:avLst/>
          </a:prstGeom>
          <a:solidFill>
            <a:srgbClr val="B45309"/>
          </a:solidFill>
          <a:ln w="12700">
            <a:solidFill>
              <a:srgbClr val="B45309"/>
            </a:solidFill>
            <a:prstDash val="solid"/>
          </a:ln>
        </p:spPr>
      </p:sp>
      <p:pic>
        <p:nvPicPr>
          <p:cNvPr id="17" name="Image 2"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8383951" y="1708831"/>
            <a:ext cx="294803" cy="294803"/>
          </a:xfrm>
          <a:prstGeom prst="rect">
            <a:avLst/>
          </a:prstGeom>
        </p:spPr>
      </p:pic>
      <p:sp>
        <p:nvSpPr>
          <p:cNvPr id="18" name="Who head 3"/>
          <p:cNvSpPr txBox="1"/>
          <p:nvPr/>
        </p:nvSpPr>
        <p:spPr>
          <a:xfrm>
            <a:off x="8961120" y="1572768"/>
            <a:ext cx="2560320" cy="566928"/>
          </a:xfrm>
          <a:prstGeom prst="rect">
            <a:avLst/>
          </a:prstGeom>
          <a:noFill/>
          <a:ln/>
        </p:spPr>
        <p:txBody>
          <a:bodyPr wrap="square" lIns="0" tIns="0" rIns="0" bIns="0" rtlCol="0" anchor="ctr"/>
          <a:lstStyle/>
          <a:p>
            <a:pPr indent="0" marL="0">
              <a:buNone/>
            </a:pPr>
            <a:r>
              <a:rPr lang="en-US" sz="1900" b="1" dirty="0">
                <a:solidFill>
                  <a:srgbClr val="B45309"/>
                </a:solidFill>
                <a:latin typeface="Cambria" pitchFamily="34" charset="0"/>
                <a:ea typeface="Cambria" pitchFamily="34" charset="-122"/>
                <a:cs typeface="Cambria" pitchFamily="34" charset="-120"/>
              </a:rPr>
              <a:t>Guards it</a:t>
            </a:r>
            <a:endParaRPr lang="en-US" sz="1900" dirty="0"/>
          </a:p>
        </p:txBody>
      </p:sp>
      <p:sp>
        <p:nvSpPr>
          <p:cNvPr id="19" name="Who text 3"/>
          <p:cNvSpPr txBox="1"/>
          <p:nvPr/>
        </p:nvSpPr>
        <p:spPr>
          <a:xfrm>
            <a:off x="8275320" y="2286000"/>
            <a:ext cx="3200400" cy="2286000"/>
          </a:xfrm>
          <a:prstGeom prst="rect">
            <a:avLst/>
          </a:prstGeom>
          <a:noFill/>
          <a:ln/>
        </p:spPr>
        <p:txBody>
          <a:bodyPr wrap="square" lIns="0" tIns="0" rIns="0" bIns="0" rtlCol="0" anchor="t"/>
          <a:lstStyle/>
          <a:p>
            <a:pPr indent="0" marL="0">
              <a:spcAft>
                <a:spcPts val="600"/>
              </a:spcAft>
              <a:buNone/>
            </a:pPr>
            <a:r>
              <a:rPr lang="en-US" sz="1450" b="1" dirty="0">
                <a:solidFill>
                  <a:srgbClr val="B45309"/>
                </a:solidFill>
              </a:rPr>
              <a:t>Privacy office</a:t>
            </a:r>
            <a:endParaRPr lang="en-US" sz="1450" dirty="0"/>
          </a:p>
          <a:p>
            <a:pPr indent="0" marL="0">
              <a:spcAft>
                <a:spcPts val="600"/>
              </a:spcAft>
              <a:buNone/>
            </a:pPr>
            <a:r>
              <a:rPr lang="en-US" sz="1450" dirty="0">
                <a:solidFill>
                  <a:schemeClr val="tx2"/>
                </a:solidFill>
              </a:rPr>
              <a:t>Disclosure basis, PIA, minimization</a:t>
            </a:r>
            <a:endParaRPr lang="en-US" sz="1450" dirty="0"/>
          </a:p>
          <a:p>
            <a:pPr indent="0" marL="0">
              <a:spcAft>
                <a:spcPts val="600"/>
              </a:spcAft>
              <a:buNone/>
            </a:pPr>
            <a:r>
              <a:rPr lang="en-US" sz="1450" b="1" dirty="0">
                <a:solidFill>
                  <a:srgbClr val="B45309"/>
                </a:solidFill>
              </a:rPr>
              <a:t>PIV office</a:t>
            </a:r>
            <a:endParaRPr lang="en-US" sz="1450" dirty="0"/>
          </a:p>
          <a:p>
            <a:pPr indent="0" marL="0">
              <a:spcAft>
                <a:spcPts val="600"/>
              </a:spcAft>
              <a:buNone/>
            </a:pPr>
            <a:r>
              <a:rPr lang="en-US" sz="1450" dirty="0">
                <a:solidFill>
                  <a:schemeClr val="tx2"/>
                </a:solidFill>
              </a:rPr>
              <a:t>Issuance and termination</a:t>
            </a:r>
            <a:endParaRPr lang="en-US" sz="1450" dirty="0"/>
          </a:p>
          <a:p>
            <a:pPr indent="0" marL="0">
              <a:spcAft>
                <a:spcPts val="600"/>
              </a:spcAft>
              <a:buNone/>
            </a:pPr>
            <a:r>
              <a:rPr lang="en-US" sz="1450" b="1" dirty="0">
                <a:solidFill>
                  <a:srgbClr val="B45309"/>
                </a:solidFill>
              </a:rPr>
              <a:t>ISSO and AO</a:t>
            </a:r>
            <a:endParaRPr lang="en-US" sz="1450" dirty="0"/>
          </a:p>
          <a:p>
            <a:pPr indent="0" marL="0">
              <a:spcAft>
                <a:spcPts val="600"/>
              </a:spcAft>
              <a:buNone/>
            </a:pPr>
            <a:r>
              <a:rPr lang="en-US" sz="1450" dirty="0">
                <a:solidFill>
                  <a:schemeClr val="tx2"/>
                </a:solidFill>
              </a:rPr>
              <a:t>Evidence and accepted risk</a:t>
            </a:r>
            <a:endParaRPr lang="en-US" sz="1450" dirty="0"/>
          </a:p>
        </p:txBody>
      </p:sp>
      <p:sp>
        <p:nvSpPr>
          <p:cNvPr id="20" name="Architect"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1" name="Icon FaSitemap"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1F2A44"/>
          </a:solidFill>
          <a:ln w="12700">
            <a:solidFill>
              <a:srgbClr val="1F2A44"/>
            </a:solidFill>
            <a:prstDash val="solid"/>
          </a:ln>
        </p:spPr>
      </p:sp>
      <p:pic>
        <p:nvPicPr>
          <p:cNvPr id="22" name="Image 3"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952805" y="5204765"/>
            <a:ext cx="380390" cy="380390"/>
          </a:xfrm>
          <a:prstGeom prst="rect">
            <a:avLst/>
          </a:prstGeom>
        </p:spPr>
      </p:pic>
      <p:sp>
        <p:nvSpPr>
          <p:cNvPr id="23" name="Architect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1F2A44"/>
                </a:solidFill>
              </a:rPr>
              <a:t>The data architect's role: </a:t>
            </a:r>
            <a:pPr indent="0" marL="0">
              <a:buNone/>
            </a:pPr>
            <a:r>
              <a:rPr lang="en-US" sz="1650" dirty="0">
                <a:solidFill>
                  <a:schemeClr val="tx2"/>
                </a:solidFill>
              </a:rPr>
              <a:t>own the standards, the crosswalk and the person key; make sure every attribute has one accountable owner; carry the standard to the interagency forums where it is adopted.</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NIST SP 800-37 Rev. 2; OMB M-19-17; FIPS 201-3; OMB A-108, A-130. Book 03,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Personnel actions drive joiner, mover and leaver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Ev 0" descr="">
            <a:extLst>
              <a:ext uri="{C183D7F6-B498-43B3-948B-1728B52AA6E4}">
                <adec:decorative xmlns:adec="http://schemas.microsoft.com/office/drawing/2017/decorative" val="1"/>
              </a:ext>
            </a:extLst>
          </p:cNvPr>
          <p:cNvSpPr/>
          <p:nvPr/>
        </p:nvSpPr>
        <p:spPr>
          <a:xfrm>
            <a:off x="548640" y="1417320"/>
            <a:ext cx="598932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6" name="Ev 0 text"/>
          <p:cNvSpPr txBox="1"/>
          <p:nvPr/>
        </p:nvSpPr>
        <p:spPr>
          <a:xfrm>
            <a:off x="777240" y="1490472"/>
            <a:ext cx="5577840" cy="786384"/>
          </a:xfrm>
          <a:prstGeom prst="rect">
            <a:avLst/>
          </a:prstGeom>
          <a:noFill/>
          <a:ln/>
        </p:spPr>
        <p:txBody>
          <a:bodyPr wrap="square" lIns="0" tIns="0" rIns="0" bIns="0" rtlCol="0" anchor="t"/>
          <a:lstStyle/>
          <a:p>
            <a:pPr indent="0" marL="0">
              <a:buNone/>
            </a:pPr>
            <a:r>
              <a:rPr lang="en-US" sz="1700" b="1" dirty="0">
                <a:solidFill>
                  <a:srgbClr val="0F766E"/>
                </a:solidFill>
              </a:rPr>
              <a:t>Joiner</a:t>
            </a:r>
            <a:endParaRPr lang="en-US" sz="1400" dirty="0"/>
          </a:p>
          <a:p>
            <a:pPr indent="0" marL="0">
              <a:buNone/>
            </a:pPr>
            <a:r>
              <a:rPr lang="en-US" sz="1400" dirty="0">
                <a:solidFill>
                  <a:schemeClr val="tx2"/>
                </a:solidFill>
              </a:rPr>
              <a:t>Account and baseline access ready on day one</a:t>
            </a:r>
            <a:endParaRPr lang="en-US" sz="1400" dirty="0"/>
          </a:p>
        </p:txBody>
      </p:sp>
      <p:sp>
        <p:nvSpPr>
          <p:cNvPr id="7" name="Ev 1" descr="">
            <a:extLst>
              <a:ext uri="{C183D7F6-B498-43B3-948B-1728B52AA6E4}">
                <adec:decorative xmlns:adec="http://schemas.microsoft.com/office/drawing/2017/decorative" val="1"/>
              </a:ext>
            </a:extLst>
          </p:cNvPr>
          <p:cNvSpPr/>
          <p:nvPr/>
        </p:nvSpPr>
        <p:spPr>
          <a:xfrm>
            <a:off x="548640" y="2441448"/>
            <a:ext cx="598932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8" name="Ev 1 text"/>
          <p:cNvSpPr txBox="1"/>
          <p:nvPr/>
        </p:nvSpPr>
        <p:spPr>
          <a:xfrm>
            <a:off x="777240" y="2514600"/>
            <a:ext cx="5577840" cy="786384"/>
          </a:xfrm>
          <a:prstGeom prst="rect">
            <a:avLst/>
          </a:prstGeom>
          <a:noFill/>
          <a:ln/>
        </p:spPr>
        <p:txBody>
          <a:bodyPr wrap="square" lIns="0" tIns="0" rIns="0" bIns="0" rtlCol="0" anchor="t"/>
          <a:lstStyle/>
          <a:p>
            <a:pPr indent="0" marL="0">
              <a:buNone/>
            </a:pPr>
            <a:r>
              <a:rPr lang="en-US" sz="1700" b="1" dirty="0">
                <a:solidFill>
                  <a:srgbClr val="1F2A44"/>
                </a:solidFill>
              </a:rPr>
              <a:t>Mover</a:t>
            </a:r>
            <a:endParaRPr lang="en-US" sz="1400" dirty="0"/>
          </a:p>
          <a:p>
            <a:pPr indent="0" marL="0">
              <a:buNone/>
            </a:pPr>
            <a:r>
              <a:rPr lang="en-US" sz="1400" dirty="0">
                <a:solidFill>
                  <a:schemeClr val="tx2"/>
                </a:solidFill>
              </a:rPr>
              <a:t>Old access removed, new baseline applied, exceptions reviewed</a:t>
            </a:r>
            <a:endParaRPr lang="en-US" sz="1400" dirty="0"/>
          </a:p>
        </p:txBody>
      </p:sp>
      <p:sp>
        <p:nvSpPr>
          <p:cNvPr id="9" name="Ev 2" descr="">
            <a:extLst>
              <a:ext uri="{C183D7F6-B498-43B3-948B-1728B52AA6E4}">
                <adec:decorative xmlns:adec="http://schemas.microsoft.com/office/drawing/2017/decorative" val="1"/>
              </a:ext>
            </a:extLst>
          </p:cNvPr>
          <p:cNvSpPr/>
          <p:nvPr/>
        </p:nvSpPr>
        <p:spPr>
          <a:xfrm>
            <a:off x="548640" y="3465576"/>
            <a:ext cx="5989320" cy="914400"/>
          </a:xfrm>
          <a:prstGeom prst="roundRect">
            <a:avLst>
              <a:gd name="adj" fmla="val 8000"/>
            </a:avLst>
          </a:prstGeom>
          <a:solidFill>
            <a:srgbClr val="FBE4E4"/>
          </a:solidFill>
          <a:ln w="12700">
            <a:solidFill>
              <a:srgbClr val="FBE4E4"/>
            </a:solidFill>
            <a:prstDash val="solid"/>
          </a:ln>
          <a:effectLst>
            <a:outerShdw sx="100000" sy="100000" kx="0" ky="0" algn="bl" rotWithShape="0" blurRad="76200" dist="25400" dir="5400000">
              <a:srgbClr val="64748B">
                <a:alpha val="22000"/>
              </a:srgbClr>
            </a:outerShdw>
          </a:effectLst>
        </p:spPr>
      </p:sp>
      <p:sp>
        <p:nvSpPr>
          <p:cNvPr id="10" name="Ev 2 text"/>
          <p:cNvSpPr txBox="1"/>
          <p:nvPr/>
        </p:nvSpPr>
        <p:spPr>
          <a:xfrm>
            <a:off x="777240" y="3538728"/>
            <a:ext cx="5577840" cy="786384"/>
          </a:xfrm>
          <a:prstGeom prst="rect">
            <a:avLst/>
          </a:prstGeom>
          <a:noFill/>
          <a:ln/>
        </p:spPr>
        <p:txBody>
          <a:bodyPr wrap="square" lIns="0" tIns="0" rIns="0" bIns="0" rtlCol="0" anchor="t"/>
          <a:lstStyle/>
          <a:p>
            <a:pPr indent="0" marL="0">
              <a:buNone/>
            </a:pPr>
            <a:r>
              <a:rPr lang="en-US" sz="1700" b="1" dirty="0">
                <a:solidFill>
                  <a:srgbClr val="B91C1C"/>
                </a:solidFill>
              </a:rPr>
              <a:t>Leaver</a:t>
            </a:r>
            <a:endParaRPr lang="en-US" sz="1400" dirty="0"/>
          </a:p>
          <a:p>
            <a:pPr indent="0" marL="0">
              <a:buNone/>
            </a:pPr>
            <a:r>
              <a:rPr lang="en-US" sz="1400" dirty="0">
                <a:solidFill>
                  <a:schemeClr val="tx2"/>
                </a:solidFill>
              </a:rPr>
              <a:t>Block first: disable and revoke sessions — then credentials, devices, access</a:t>
            </a:r>
            <a:endParaRPr lang="en-US" sz="1400" dirty="0"/>
          </a:p>
        </p:txBody>
      </p:sp>
      <p:sp>
        <p:nvSpPr>
          <p:cNvPr id="11" name="Facts" descr="">
            <a:extLst>
              <a:ext uri="{C183D7F6-B498-43B3-948B-1728B52AA6E4}">
                <adec:decorative xmlns:adec="http://schemas.microsoft.com/office/drawing/2017/decorative" val="1"/>
              </a:ext>
            </a:extLst>
          </p:cNvPr>
          <p:cNvSpPr/>
          <p:nvPr/>
        </p:nvSpPr>
        <p:spPr>
          <a:xfrm>
            <a:off x="6766560" y="1417320"/>
            <a:ext cx="4892040" cy="3072384"/>
          </a:xfrm>
          <a:prstGeom prst="roundRect">
            <a:avLst>
              <a:gd name="adj" fmla="val 238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Facts head"/>
          <p:cNvSpPr txBox="1"/>
          <p:nvPr/>
        </p:nvSpPr>
        <p:spPr>
          <a:xfrm>
            <a:off x="6995160" y="1554480"/>
            <a:ext cx="4480560" cy="274320"/>
          </a:xfrm>
          <a:prstGeom prst="rect">
            <a:avLst/>
          </a:prstGeom>
          <a:noFill/>
          <a:ln/>
        </p:spPr>
        <p:txBody>
          <a:bodyPr wrap="square" lIns="0" tIns="0" rIns="0" bIns="0" rtlCol="0" anchor="t"/>
          <a:lstStyle/>
          <a:p>
            <a:pPr indent="0" marL="0">
              <a:buNone/>
            </a:pPr>
            <a:r>
              <a:rPr lang="en-US" sz="1200" b="1" dirty="0">
                <a:solidFill>
                  <a:srgbClr val="64748B"/>
                </a:solidFill>
              </a:rPr>
              <a:t>WHAT THE PLATFORM ACTUALLY DOES</a:t>
            </a:r>
            <a:endParaRPr lang="en-US" sz="1200" dirty="0"/>
          </a:p>
        </p:txBody>
      </p:sp>
      <p:sp>
        <p:nvSpPr>
          <p:cNvPr id="13" name="Facts list"/>
          <p:cNvSpPr txBox="1"/>
          <p:nvPr/>
        </p:nvSpPr>
        <p:spPr>
          <a:xfrm>
            <a:off x="6995160" y="1920240"/>
            <a:ext cx="4526280" cy="2514600"/>
          </a:xfrm>
          <a:prstGeom prst="rect">
            <a:avLst/>
          </a:prstGeom>
          <a:noFill/>
          <a:ln/>
        </p:spPr>
        <p:txBody>
          <a:bodyPr wrap="square" lIns="0" tIns="0" rIns="0" bIns="0" rtlCol="0" anchor="t"/>
          <a:lstStyle/>
          <a:p>
            <a:pPr marL="342900" indent="-342900">
              <a:spcAft>
                <a:spcPts val="700"/>
              </a:spcAft>
              <a:buSzPct val="100000"/>
              <a:buChar char="•"/>
            </a:pPr>
            <a:r>
              <a:rPr lang="en-US" sz="1400" dirty="0">
                <a:solidFill>
                  <a:schemeClr val="tx2"/>
                </a:solidFill>
              </a:rPr>
              <a:t>Lifecycle Workflows run on one tenant-wide schedule and need Entra ID Governance</a:t>
            </a:r>
            <a:endParaRPr lang="en-US" sz="1400" dirty="0"/>
          </a:p>
          <a:p>
            <a:pPr marL="342900" indent="-342900">
              <a:spcAft>
                <a:spcPts val="700"/>
              </a:spcAft>
              <a:buSzPct val="100000"/>
              <a:buChar char="•"/>
            </a:pPr>
            <a:r>
              <a:rPr lang="en-US" sz="1400" dirty="0">
                <a:solidFill>
                  <a:schemeClr val="tx2"/>
                </a:solidFill>
              </a:rPr>
              <a:t>Revoking sessions stops new tokens; issued tokens last until they expire</a:t>
            </a:r>
            <a:endParaRPr lang="en-US" sz="1400" dirty="0"/>
          </a:p>
          <a:p>
            <a:pPr marL="342900" indent="-342900">
              <a:spcAft>
                <a:spcPts val="700"/>
              </a:spcAft>
              <a:buSzPct val="100000"/>
              <a:buChar char="•"/>
            </a:pPr>
            <a:r>
              <a:rPr lang="en-US" sz="1400" dirty="0">
                <a:solidFill>
                  <a:schemeClr val="tx2"/>
                </a:solidFill>
              </a:rPr>
              <a:t>Privileged leavers need their own verified block path</a:t>
            </a:r>
            <a:endParaRPr lang="en-US" sz="1400" dirty="0"/>
          </a:p>
          <a:p>
            <a:pPr marL="342900" indent="-342900">
              <a:spcAft>
                <a:spcPts val="700"/>
              </a:spcAft>
              <a:buSzPct val="100000"/>
              <a:buChar char="•"/>
            </a:pPr>
            <a:r>
              <a:rPr lang="en-US" sz="1400" dirty="0">
                <a:solidFill>
                  <a:schemeClr val="tx2"/>
                </a:solidFill>
              </a:rPr>
              <a:t>Synced users are deleted in AD, or the next sync restores them</a:t>
            </a:r>
            <a:endParaRPr lang="en-US" sz="1400" dirty="0"/>
          </a:p>
        </p:txBody>
      </p:sp>
      <p:sp>
        <p:nvSpPr>
          <p:cNvPr id="14" name="Codes" descr="">
            <a:extLst>
              <a:ext uri="{C183D7F6-B498-43B3-948B-1728B52AA6E4}">
                <adec:decorative xmlns:adec="http://schemas.microsoft.com/office/drawing/2017/decorative" val="1"/>
              </a:ext>
            </a:extLst>
          </p:cNvPr>
          <p:cNvSpPr/>
          <p:nvPr/>
        </p:nvSpPr>
        <p:spPr>
          <a:xfrm>
            <a:off x="548640" y="4709160"/>
            <a:ext cx="11109960" cy="1280160"/>
          </a:xfrm>
          <a:prstGeom prst="roundRect">
            <a:avLst>
              <a:gd name="adj" fmla="val 5714"/>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istCheck" descr="">
            <a:extLst>
              <a:ext uri="{C183D7F6-B498-43B3-948B-1728B52AA6E4}">
                <adec:decorative xmlns:adec="http://schemas.microsoft.com/office/drawing/2017/decorative" val="1"/>
              </a:ext>
            </a:extLst>
          </p:cNvPr>
          <p:cNvSpPr/>
          <p:nvPr/>
        </p:nvSpPr>
        <p:spPr>
          <a:xfrm>
            <a:off x="777240" y="4983480"/>
            <a:ext cx="731520" cy="73152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159045"/>
            <a:ext cx="380390" cy="380390"/>
          </a:xfrm>
          <a:prstGeom prst="rect">
            <a:avLst/>
          </a:prstGeom>
        </p:spPr>
      </p:pic>
      <p:sp>
        <p:nvSpPr>
          <p:cNvPr id="17" name="Codes text"/>
          <p:cNvSpPr txBox="1"/>
          <p:nvPr/>
        </p:nvSpPr>
        <p:spPr>
          <a:xfrm>
            <a:off x="1737360" y="4754880"/>
            <a:ext cx="9738360" cy="1188720"/>
          </a:xfrm>
          <a:prstGeom prst="rect">
            <a:avLst/>
          </a:prstGeom>
          <a:noFill/>
          <a:ln/>
        </p:spPr>
        <p:txBody>
          <a:bodyPr wrap="square" lIns="0" tIns="0" rIns="0" bIns="0" rtlCol="0" anchor="ctr"/>
          <a:lstStyle/>
          <a:p>
            <a:pPr indent="0" marL="0">
              <a:buNone/>
            </a:pPr>
            <a:r>
              <a:rPr lang="en-US" sz="1650" b="1" dirty="0">
                <a:solidFill>
                  <a:srgbClr val="B45309"/>
                </a:solidFill>
              </a:rPr>
              <a:t>By code, not by ticket: </a:t>
            </a:r>
            <a:pPr indent="0" marL="0">
              <a:buNone/>
            </a:pPr>
            <a:r>
              <a:rPr lang="en-US" sz="1650" dirty="0">
                <a:solidFill>
                  <a:schemeClr val="tx2"/>
                </a:solidFill>
              </a:rPr>
              <a:t>the personnel action's nature-of-action code decides the identity event; credentials follow the same events — PIV issuance, binding and termination, device certificates retired before the account is deleted.</a:t>
            </a:r>
            <a:endParaRPr lang="en-US" sz="1650" dirty="0"/>
          </a:p>
        </p:txBody>
      </p:sp>
      <p:sp>
        <p:nvSpPr>
          <p:cNvPr id="18"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Lifecycle Workflows, revoke user access; FIPS 201-3. Book 03, Chapters 08–09 and Appendix A.</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From attributes to access, with evidence built in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Chain 0" descr="">
            <a:extLst>
              <a:ext uri="{C183D7F6-B498-43B3-948B-1728B52AA6E4}">
                <adec:decorative xmlns:adec="http://schemas.microsoft.com/office/drawing/2017/decorative" val="1"/>
              </a:ext>
            </a:extLst>
          </p:cNvPr>
          <p:cNvSpPr/>
          <p:nvPr/>
        </p:nvSpPr>
        <p:spPr>
          <a:xfrm>
            <a:off x="548640" y="1554480"/>
            <a:ext cx="205740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Chain 0 text"/>
          <p:cNvSpPr txBox="1"/>
          <p:nvPr/>
        </p:nvSpPr>
        <p:spPr>
          <a:xfrm>
            <a:off x="640080" y="1554480"/>
            <a:ext cx="1874520" cy="914400"/>
          </a:xfrm>
          <a:prstGeom prst="rect">
            <a:avLst/>
          </a:prstGeom>
          <a:noFill/>
          <a:ln/>
        </p:spPr>
        <p:txBody>
          <a:bodyPr wrap="square" lIns="0" tIns="0" rIns="0" bIns="0" rtlCol="0" anchor="ctr"/>
          <a:lstStyle/>
          <a:p>
            <a:pPr algn="ctr" indent="0" marL="0">
              <a:buNone/>
            </a:pPr>
            <a:r>
              <a:rPr lang="en-US" sz="1500" b="1" dirty="0">
                <a:solidFill>
                  <a:srgbClr val="1F2A44"/>
                </a:solidFill>
              </a:rPr>
              <a:t>Personnel record</a:t>
            </a:r>
            <a:endParaRPr lang="en-US" sz="1500" dirty="0"/>
          </a:p>
        </p:txBody>
      </p:sp>
      <p:sp>
        <p:nvSpPr>
          <p:cNvPr id="7" name="Chain 1" descr="">
            <a:extLst>
              <a:ext uri="{C183D7F6-B498-43B3-948B-1728B52AA6E4}">
                <adec:decorative xmlns:adec="http://schemas.microsoft.com/office/drawing/2017/decorative" val="1"/>
              </a:ext>
            </a:extLst>
          </p:cNvPr>
          <p:cNvSpPr/>
          <p:nvPr/>
        </p:nvSpPr>
        <p:spPr>
          <a:xfrm>
            <a:off x="2798064" y="1554480"/>
            <a:ext cx="205740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Chain 1 text"/>
          <p:cNvSpPr txBox="1"/>
          <p:nvPr/>
        </p:nvSpPr>
        <p:spPr>
          <a:xfrm>
            <a:off x="2889504" y="1554480"/>
            <a:ext cx="1874520" cy="914400"/>
          </a:xfrm>
          <a:prstGeom prst="rect">
            <a:avLst/>
          </a:prstGeom>
          <a:noFill/>
          <a:ln/>
        </p:spPr>
        <p:txBody>
          <a:bodyPr wrap="square" lIns="0" tIns="0" rIns="0" bIns="0" rtlCol="0" anchor="ctr"/>
          <a:lstStyle/>
          <a:p>
            <a:pPr algn="ctr" indent="0" marL="0">
              <a:buNone/>
            </a:pPr>
            <a:r>
              <a:rPr lang="en-US" sz="1500" b="1" dirty="0">
                <a:solidFill>
                  <a:srgbClr val="1F2A44"/>
                </a:solidFill>
              </a:rPr>
              <a:t>Canonical attribute</a:t>
            </a:r>
            <a:endParaRPr lang="en-US" sz="1500" dirty="0"/>
          </a:p>
        </p:txBody>
      </p:sp>
      <p:sp>
        <p:nvSpPr>
          <p:cNvPr id="9" name="Chain 2" descr="">
            <a:extLst>
              <a:ext uri="{C183D7F6-B498-43B3-948B-1728B52AA6E4}">
                <adec:decorative xmlns:adec="http://schemas.microsoft.com/office/drawing/2017/decorative" val="1"/>
              </a:ext>
            </a:extLst>
          </p:cNvPr>
          <p:cNvSpPr/>
          <p:nvPr/>
        </p:nvSpPr>
        <p:spPr>
          <a:xfrm>
            <a:off x="5047488" y="1554480"/>
            <a:ext cx="2057400"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Chain 2 text"/>
          <p:cNvSpPr txBox="1"/>
          <p:nvPr/>
        </p:nvSpPr>
        <p:spPr>
          <a:xfrm>
            <a:off x="5138928" y="1554480"/>
            <a:ext cx="1874520" cy="914400"/>
          </a:xfrm>
          <a:prstGeom prst="rect">
            <a:avLst/>
          </a:prstGeom>
          <a:noFill/>
          <a:ln/>
        </p:spPr>
        <p:txBody>
          <a:bodyPr wrap="square" lIns="0" tIns="0" rIns="0" bIns="0" rtlCol="0" anchor="ctr"/>
          <a:lstStyle/>
          <a:p>
            <a:pPr algn="ctr" indent="0" marL="0">
              <a:buNone/>
            </a:pPr>
            <a:r>
              <a:rPr lang="en-US" sz="1500" b="1" dirty="0">
                <a:solidFill>
                  <a:srgbClr val="1F2A44"/>
                </a:solidFill>
              </a:rPr>
              <a:t>Rule or access package</a:t>
            </a:r>
            <a:endParaRPr lang="en-US" sz="1500" dirty="0"/>
          </a:p>
        </p:txBody>
      </p:sp>
      <p:sp>
        <p:nvSpPr>
          <p:cNvPr id="11" name="Chain 3" descr="">
            <a:extLst>
              <a:ext uri="{C183D7F6-B498-43B3-948B-1728B52AA6E4}">
                <adec:decorative xmlns:adec="http://schemas.microsoft.com/office/drawing/2017/decorative" val="1"/>
              </a:ext>
            </a:extLst>
          </p:cNvPr>
          <p:cNvSpPr/>
          <p:nvPr/>
        </p:nvSpPr>
        <p:spPr>
          <a:xfrm>
            <a:off x="7296912" y="1554480"/>
            <a:ext cx="2057400"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Chain 3 text"/>
          <p:cNvSpPr txBox="1"/>
          <p:nvPr/>
        </p:nvSpPr>
        <p:spPr>
          <a:xfrm>
            <a:off x="7388352" y="1554480"/>
            <a:ext cx="1874520" cy="914400"/>
          </a:xfrm>
          <a:prstGeom prst="rect">
            <a:avLst/>
          </a:prstGeom>
          <a:noFill/>
          <a:ln/>
        </p:spPr>
        <p:txBody>
          <a:bodyPr wrap="square" lIns="0" tIns="0" rIns="0" bIns="0" rtlCol="0" anchor="ctr"/>
          <a:lstStyle/>
          <a:p>
            <a:pPr algn="ctr" indent="0" marL="0">
              <a:buNone/>
            </a:pPr>
            <a:r>
              <a:rPr lang="en-US" sz="1500" b="1" dirty="0">
                <a:solidFill>
                  <a:srgbClr val="1F2A44"/>
                </a:solidFill>
              </a:rPr>
              <a:t>Entitlement</a:t>
            </a:r>
            <a:endParaRPr lang="en-US" sz="1500" dirty="0"/>
          </a:p>
        </p:txBody>
      </p:sp>
      <p:sp>
        <p:nvSpPr>
          <p:cNvPr id="13" name="Chain 4" descr="">
            <a:extLst>
              <a:ext uri="{C183D7F6-B498-43B3-948B-1728B52AA6E4}">
                <adec:decorative xmlns:adec="http://schemas.microsoft.com/office/drawing/2017/decorative" val="1"/>
              </a:ext>
            </a:extLst>
          </p:cNvPr>
          <p:cNvSpPr/>
          <p:nvPr/>
        </p:nvSpPr>
        <p:spPr>
          <a:xfrm>
            <a:off x="9546336" y="1554480"/>
            <a:ext cx="2057400"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4" name="Chain 4 text"/>
          <p:cNvSpPr txBox="1"/>
          <p:nvPr/>
        </p:nvSpPr>
        <p:spPr>
          <a:xfrm>
            <a:off x="9637776" y="1554480"/>
            <a:ext cx="1874520" cy="914400"/>
          </a:xfrm>
          <a:prstGeom prst="rect">
            <a:avLst/>
          </a:prstGeom>
          <a:noFill/>
          <a:ln/>
        </p:spPr>
        <p:txBody>
          <a:bodyPr wrap="square" lIns="0" tIns="0" rIns="0" bIns="0" rtlCol="0" anchor="ctr"/>
          <a:lstStyle/>
          <a:p>
            <a:pPr algn="ctr" indent="0" marL="0">
              <a:buNone/>
            </a:pPr>
            <a:r>
              <a:rPr lang="en-US" sz="1500" b="1" dirty="0">
                <a:solidFill>
                  <a:srgbClr val="B45309"/>
                </a:solidFill>
              </a:rPr>
              <a:t>Evidence record</a:t>
            </a:r>
            <a:endParaRPr lang="en-US" sz="1500" dirty="0"/>
          </a:p>
        </p:txBody>
      </p:sp>
      <p:sp>
        <p:nvSpPr>
          <p:cNvPr id="15" name="Chain note"/>
          <p:cNvSpPr txBox="1"/>
          <p:nvPr/>
        </p:nvSpPr>
        <p:spPr>
          <a:xfrm>
            <a:off x="548640" y="2697480"/>
            <a:ext cx="11109960" cy="457200"/>
          </a:xfrm>
          <a:prstGeom prst="rect">
            <a:avLst/>
          </a:prstGeom>
          <a:noFill/>
          <a:ln/>
        </p:spPr>
        <p:txBody>
          <a:bodyPr wrap="square" lIns="0" tIns="0" rIns="0" bIns="0" rtlCol="0" anchor="t"/>
          <a:lstStyle/>
          <a:p>
            <a:pPr indent="0" marL="0">
              <a:buNone/>
            </a:pPr>
            <a:r>
              <a:rPr lang="en-US" sz="1550" i="1" dirty="0">
                <a:solidFill>
                  <a:srgbClr val="334155"/>
                </a:solidFill>
              </a:rPr>
              <a:t>Every entitlement traces back to a rule, an approved exception, an authoritative attribute, or a privileged-access decision.</a:t>
            </a:r>
            <a:endParaRPr lang="en-US" sz="1550" dirty="0"/>
          </a:p>
        </p:txBody>
      </p:sp>
      <p:sp>
        <p:nvSpPr>
          <p:cNvPr id="16" name="Drift 0" descr="">
            <a:extLst>
              <a:ext uri="{C183D7F6-B498-43B3-948B-1728B52AA6E4}">
                <adec:decorative xmlns:adec="http://schemas.microsoft.com/office/drawing/2017/decorative" val="1"/>
              </a:ext>
            </a:extLst>
          </p:cNvPr>
          <p:cNvSpPr/>
          <p:nvPr/>
        </p:nvSpPr>
        <p:spPr>
          <a:xfrm>
            <a:off x="548640" y="3291840"/>
            <a:ext cx="3611880" cy="1325880"/>
          </a:xfrm>
          <a:prstGeom prst="roundRect">
            <a:avLst>
              <a:gd name="adj" fmla="val 5517"/>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7" name="Drift 0 text"/>
          <p:cNvSpPr txBox="1"/>
          <p:nvPr/>
        </p:nvSpPr>
        <p:spPr>
          <a:xfrm>
            <a:off x="731520" y="3383280"/>
            <a:ext cx="3246120" cy="1188720"/>
          </a:xfrm>
          <a:prstGeom prst="rect">
            <a:avLst/>
          </a:prstGeom>
          <a:noFill/>
          <a:ln/>
        </p:spPr>
        <p:txBody>
          <a:bodyPr wrap="square" lIns="0" tIns="0" rIns="0" bIns="0" rtlCol="0" anchor="t"/>
          <a:lstStyle/>
          <a:p>
            <a:pPr indent="0" marL="0">
              <a:buNone/>
            </a:pPr>
            <a:r>
              <a:rPr lang="en-US" sz="1500" b="1" dirty="0">
                <a:solidFill>
                  <a:srgbClr val="0F766E"/>
                </a:solidFill>
              </a:rPr>
              <a:t>Drift found by comparison</a:t>
            </a:r>
            <a:endParaRPr lang="en-US" sz="1400" dirty="0"/>
          </a:p>
          <a:p>
            <a:pPr indent="0" marL="0">
              <a:buNone/>
            </a:pPr>
            <a:r>
              <a:rPr lang="en-US" sz="1350" dirty="0">
                <a:solidFill>
                  <a:schemeClr val="tx2"/>
                </a:solidFill>
              </a:rPr>
              <a:t>Scheduled checks compare HR, the model and the directories</a:t>
            </a:r>
            <a:endParaRPr lang="en-US" sz="1400" dirty="0"/>
          </a:p>
        </p:txBody>
      </p:sp>
      <p:sp>
        <p:nvSpPr>
          <p:cNvPr id="18" name="Drift 1" descr="">
            <a:extLst>
              <a:ext uri="{C183D7F6-B498-43B3-948B-1728B52AA6E4}">
                <adec:decorative xmlns:adec="http://schemas.microsoft.com/office/drawing/2017/decorative" val="1"/>
              </a:ext>
            </a:extLst>
          </p:cNvPr>
          <p:cNvSpPr/>
          <p:nvPr/>
        </p:nvSpPr>
        <p:spPr>
          <a:xfrm>
            <a:off x="4297680" y="3291840"/>
            <a:ext cx="3611880" cy="1325880"/>
          </a:xfrm>
          <a:prstGeom prst="roundRect">
            <a:avLst>
              <a:gd name="adj" fmla="val 5517"/>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19" name="Drift 1 text"/>
          <p:cNvSpPr txBox="1"/>
          <p:nvPr/>
        </p:nvSpPr>
        <p:spPr>
          <a:xfrm>
            <a:off x="4480560" y="3383280"/>
            <a:ext cx="3246120" cy="1188720"/>
          </a:xfrm>
          <a:prstGeom prst="rect">
            <a:avLst/>
          </a:prstGeom>
          <a:noFill/>
          <a:ln/>
        </p:spPr>
        <p:txBody>
          <a:bodyPr wrap="square" lIns="0" tIns="0" rIns="0" bIns="0" rtlCol="0" anchor="t"/>
          <a:lstStyle/>
          <a:p>
            <a:pPr indent="0" marL="0">
              <a:buNone/>
            </a:pPr>
            <a:r>
              <a:rPr lang="en-US" sz="1500" b="1" dirty="0">
                <a:solidFill>
                  <a:srgbClr val="0F766E"/>
                </a:solidFill>
              </a:rPr>
              <a:t>Measured in business terms</a:t>
            </a:r>
            <a:endParaRPr lang="en-US" sz="1400" dirty="0"/>
          </a:p>
          <a:p>
            <a:pPr indent="0" marL="0">
              <a:buNone/>
            </a:pPr>
            <a:r>
              <a:rPr lang="en-US" sz="1350" dirty="0">
                <a:solidFill>
                  <a:schemeClr val="tx2"/>
                </a:solidFill>
              </a:rPr>
              <a:t>Separation-to-block time, orphan accounts, day-one readiness</a:t>
            </a:r>
            <a:endParaRPr lang="en-US" sz="1400" dirty="0"/>
          </a:p>
        </p:txBody>
      </p:sp>
      <p:sp>
        <p:nvSpPr>
          <p:cNvPr id="20" name="Drift 2" descr="">
            <a:extLst>
              <a:ext uri="{C183D7F6-B498-43B3-948B-1728B52AA6E4}">
                <adec:decorative xmlns:adec="http://schemas.microsoft.com/office/drawing/2017/decorative" val="1"/>
              </a:ext>
            </a:extLst>
          </p:cNvPr>
          <p:cNvSpPr/>
          <p:nvPr/>
        </p:nvSpPr>
        <p:spPr>
          <a:xfrm>
            <a:off x="8046720" y="3291840"/>
            <a:ext cx="3611880" cy="1325880"/>
          </a:xfrm>
          <a:prstGeom prst="roundRect">
            <a:avLst>
              <a:gd name="adj" fmla="val 5517"/>
            </a:avLst>
          </a:prstGeom>
          <a:solidFill>
            <a:srgbClr val="FFFFFF"/>
          </a:solidFill>
          <a:ln w="12700">
            <a:solidFill>
              <a:srgbClr val="CBD5E1"/>
            </a:solidFill>
            <a:prstDash val="solid"/>
          </a:ln>
          <a:effectLst>
            <a:outerShdw sx="100000" sy="100000" kx="0" ky="0" algn="bl" rotWithShape="0" blurRad="76200" dist="25400" dir="5400000">
              <a:srgbClr val="64748B">
                <a:alpha val="22000"/>
              </a:srgbClr>
            </a:outerShdw>
          </a:effectLst>
        </p:spPr>
      </p:sp>
      <p:sp>
        <p:nvSpPr>
          <p:cNvPr id="21" name="Drift 2 text"/>
          <p:cNvSpPr txBox="1"/>
          <p:nvPr/>
        </p:nvSpPr>
        <p:spPr>
          <a:xfrm>
            <a:off x="8229600" y="3383280"/>
            <a:ext cx="3246120" cy="1188720"/>
          </a:xfrm>
          <a:prstGeom prst="rect">
            <a:avLst/>
          </a:prstGeom>
          <a:noFill/>
          <a:ln/>
        </p:spPr>
        <p:txBody>
          <a:bodyPr wrap="square" lIns="0" tIns="0" rIns="0" bIns="0" rtlCol="0" anchor="t"/>
          <a:lstStyle/>
          <a:p>
            <a:pPr indent="0" marL="0">
              <a:buNone/>
            </a:pPr>
            <a:r>
              <a:rPr lang="en-US" sz="1500" b="1" dirty="0">
                <a:solidFill>
                  <a:srgbClr val="0F766E"/>
                </a:solidFill>
              </a:rPr>
              <a:t>Kept long enough</a:t>
            </a:r>
            <a:endParaRPr lang="en-US" sz="1400" dirty="0"/>
          </a:p>
          <a:p>
            <a:pPr indent="0" marL="0">
              <a:buNone/>
            </a:pPr>
            <a:r>
              <a:rPr lang="en-US" sz="1350" dirty="0">
                <a:solidFill>
                  <a:schemeClr val="tx2"/>
                </a:solidFill>
              </a:rPr>
              <a:t>Entra keeps audit and provisioning logs 30 days with P1/P2 — export from the pilot onward</a:t>
            </a:r>
            <a:endParaRPr lang="en-US" sz="1400" dirty="0"/>
          </a:p>
        </p:txBody>
      </p:sp>
      <p:sp>
        <p:nvSpPr>
          <p:cNvPr id="22" name="Evidence" descr="">
            <a:extLst>
              <a:ext uri="{C183D7F6-B498-43B3-948B-1728B52AA6E4}">
                <adec:decorative xmlns:adec="http://schemas.microsoft.com/office/drawing/2017/decorative" val="1"/>
              </a:ext>
            </a:extLst>
          </p:cNvPr>
          <p:cNvSpPr/>
          <p:nvPr/>
        </p:nvSpPr>
        <p:spPr>
          <a:xfrm>
            <a:off x="548640" y="4846320"/>
            <a:ext cx="11109960" cy="1097280"/>
          </a:xfrm>
          <a:prstGeom prst="roundRect">
            <a:avLst>
              <a:gd name="adj" fmla="val 6667"/>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3" name="Icon FaFileShield"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25" name="Evidence text"/>
          <p:cNvSpPr txBox="1"/>
          <p:nvPr/>
        </p:nvSpPr>
        <p:spPr>
          <a:xfrm>
            <a:off x="1737360" y="4892040"/>
            <a:ext cx="9738360" cy="1005840"/>
          </a:xfrm>
          <a:prstGeom prst="rect">
            <a:avLst/>
          </a:prstGeom>
          <a:noFill/>
          <a:ln/>
        </p:spPr>
        <p:txBody>
          <a:bodyPr wrap="square" lIns="0" tIns="0" rIns="0" bIns="0" rtlCol="0" anchor="ctr"/>
          <a:lstStyle/>
          <a:p>
            <a:pPr indent="0" marL="0">
              <a:buNone/>
            </a:pPr>
            <a:r>
              <a:rPr lang="en-US" sz="1650" b="1" dirty="0">
                <a:solidFill>
                  <a:srgbClr val="B45309"/>
                </a:solidFill>
              </a:rPr>
              <a:t>Evidence as a byproduct: </a:t>
            </a:r>
            <a:pPr indent="0" marL="0">
              <a:buNone/>
            </a:pPr>
            <a:r>
              <a:rPr lang="en-US" sz="1650" dirty="0">
                <a:solidFill>
                  <a:schemeClr val="tx2"/>
                </a:solidFill>
              </a:rPr>
              <a:t>the same records that run the lifecycle answer the auditor's question — does every account belong to a current person with a current reason?</a:t>
            </a:r>
            <a:endParaRPr lang="en-US" sz="1650" dirty="0"/>
          </a:p>
        </p:txBody>
      </p:sp>
      <p:sp>
        <p:nvSpPr>
          <p:cNvPr id="26"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 dynamic membership, entitlement management, log retention; NIST SP 800-53 AC-2, CA-7. Book 03, Chapters 10–11.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Seven phases, each gate the next phase's precondition</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Phase 0" descr="">
            <a:extLst>
              <a:ext uri="{C183D7F6-B498-43B3-948B-1728B52AA6E4}">
                <adec:decorative xmlns:adec="http://schemas.microsoft.com/office/drawing/2017/decorative" val="1"/>
              </a:ext>
            </a:extLst>
          </p:cNvPr>
          <p:cNvSpPr/>
          <p:nvPr/>
        </p:nvSpPr>
        <p:spPr>
          <a:xfrm>
            <a:off x="548640" y="1508760"/>
            <a:ext cx="146304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Phase 0 text"/>
          <p:cNvSpPr txBox="1"/>
          <p:nvPr/>
        </p:nvSpPr>
        <p:spPr>
          <a:xfrm>
            <a:off x="658368" y="1572768"/>
            <a:ext cx="1280160" cy="1325880"/>
          </a:xfrm>
          <a:prstGeom prst="rect">
            <a:avLst/>
          </a:prstGeom>
          <a:noFill/>
          <a:ln/>
        </p:spPr>
        <p:txBody>
          <a:bodyPr wrap="square" lIns="0" tIns="0" rIns="0" bIns="0" rtlCol="0" anchor="t"/>
          <a:lstStyle/>
          <a:p>
            <a:pPr algn="ctr" indent="0" marL="0">
              <a:buNone/>
            </a:pPr>
            <a:r>
              <a:rPr lang="en-US" sz="2600" b="1" dirty="0">
                <a:solidFill>
                  <a:srgbClr val="1F2A44"/>
                </a:solidFill>
                <a:latin typeface="Cambria" pitchFamily="34" charset="0"/>
                <a:ea typeface="Cambria" pitchFamily="34" charset="-122"/>
                <a:cs typeface="Cambria" pitchFamily="34" charset="-120"/>
              </a:rPr>
              <a:t>0</a:t>
            </a:r>
            <a:endParaRPr lang="en-US" sz="1400" dirty="0"/>
          </a:p>
          <a:p>
            <a:pPr algn="ctr" indent="0" marL="0">
              <a:buNone/>
            </a:pPr>
            <a:r>
              <a:rPr lang="en-US" sz="1350" b="1" dirty="0">
                <a:solidFill>
                  <a:schemeClr val="tx2"/>
                </a:solidFill>
              </a:rPr>
              <a:t>Align</a:t>
            </a:r>
            <a:endParaRPr lang="en-US" sz="1400" dirty="0"/>
          </a:p>
        </p:txBody>
      </p:sp>
      <p:sp>
        <p:nvSpPr>
          <p:cNvPr id="7" name="Phase 1" descr="">
            <a:extLst>
              <a:ext uri="{C183D7F6-B498-43B3-948B-1728B52AA6E4}">
                <adec:decorative xmlns:adec="http://schemas.microsoft.com/office/drawing/2017/decorative" val="1"/>
              </a:ext>
            </a:extLst>
          </p:cNvPr>
          <p:cNvSpPr/>
          <p:nvPr/>
        </p:nvSpPr>
        <p:spPr>
          <a:xfrm>
            <a:off x="2148840" y="1508760"/>
            <a:ext cx="146304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Phase 1 text"/>
          <p:cNvSpPr txBox="1"/>
          <p:nvPr/>
        </p:nvSpPr>
        <p:spPr>
          <a:xfrm>
            <a:off x="2258568" y="1572768"/>
            <a:ext cx="1280160" cy="1325880"/>
          </a:xfrm>
          <a:prstGeom prst="rect">
            <a:avLst/>
          </a:prstGeom>
          <a:noFill/>
          <a:ln/>
        </p:spPr>
        <p:txBody>
          <a:bodyPr wrap="square" lIns="0" tIns="0" rIns="0" bIns="0" rtlCol="0" anchor="t"/>
          <a:lstStyle/>
          <a:p>
            <a:pPr algn="ctr" indent="0" marL="0">
              <a:buNone/>
            </a:pPr>
            <a:r>
              <a:rPr lang="en-US" sz="2600" b="1" dirty="0">
                <a:solidFill>
                  <a:srgbClr val="0F766E"/>
                </a:solidFill>
                <a:latin typeface="Cambria" pitchFamily="34" charset="0"/>
                <a:ea typeface="Cambria" pitchFamily="34" charset="-122"/>
                <a:cs typeface="Cambria" pitchFamily="34" charset="-120"/>
              </a:rPr>
              <a:t>1</a:t>
            </a:r>
            <a:endParaRPr lang="en-US" sz="1400" dirty="0"/>
          </a:p>
          <a:p>
            <a:pPr algn="ctr" indent="0" marL="0">
              <a:buNone/>
            </a:pPr>
            <a:r>
              <a:rPr lang="en-US" sz="1350" b="1" dirty="0">
                <a:solidFill>
                  <a:schemeClr val="tx2"/>
                </a:solidFill>
              </a:rPr>
              <a:t>Authority and schema</a:t>
            </a:r>
            <a:endParaRPr lang="en-US" sz="1400" dirty="0"/>
          </a:p>
        </p:txBody>
      </p:sp>
      <p:sp>
        <p:nvSpPr>
          <p:cNvPr id="9" name="Phase 2" descr="">
            <a:extLst>
              <a:ext uri="{C183D7F6-B498-43B3-948B-1728B52AA6E4}">
                <adec:decorative xmlns:adec="http://schemas.microsoft.com/office/drawing/2017/decorative" val="1"/>
              </a:ext>
            </a:extLst>
          </p:cNvPr>
          <p:cNvSpPr/>
          <p:nvPr/>
        </p:nvSpPr>
        <p:spPr>
          <a:xfrm>
            <a:off x="3749040" y="1508760"/>
            <a:ext cx="146304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0" name="Phase 2 text"/>
          <p:cNvSpPr txBox="1"/>
          <p:nvPr/>
        </p:nvSpPr>
        <p:spPr>
          <a:xfrm>
            <a:off x="3858768" y="1572768"/>
            <a:ext cx="1280160" cy="1325880"/>
          </a:xfrm>
          <a:prstGeom prst="rect">
            <a:avLst/>
          </a:prstGeom>
          <a:noFill/>
          <a:ln/>
        </p:spPr>
        <p:txBody>
          <a:bodyPr wrap="square" lIns="0" tIns="0" rIns="0" bIns="0" rtlCol="0" anchor="t"/>
          <a:lstStyle/>
          <a:p>
            <a:pPr algn="ctr" indent="0" marL="0">
              <a:buNone/>
            </a:pPr>
            <a:r>
              <a:rPr lang="en-US" sz="2600" b="1" dirty="0">
                <a:solidFill>
                  <a:srgbClr val="1F2A44"/>
                </a:solidFill>
                <a:latin typeface="Cambria" pitchFamily="34" charset="0"/>
                <a:ea typeface="Cambria" pitchFamily="34" charset="-122"/>
                <a:cs typeface="Cambria" pitchFamily="34" charset="-120"/>
              </a:rPr>
              <a:t>2</a:t>
            </a:r>
            <a:endParaRPr lang="en-US" sz="1400" dirty="0"/>
          </a:p>
          <a:p>
            <a:pPr algn="ctr" indent="0" marL="0">
              <a:buNone/>
            </a:pPr>
            <a:r>
              <a:rPr lang="en-US" sz="1350" b="1" dirty="0">
                <a:solidFill>
                  <a:schemeClr val="tx2"/>
                </a:solidFill>
              </a:rPr>
              <a:t>Build and test</a:t>
            </a:r>
            <a:endParaRPr lang="en-US" sz="1400" dirty="0"/>
          </a:p>
        </p:txBody>
      </p:sp>
      <p:sp>
        <p:nvSpPr>
          <p:cNvPr id="11" name="Phase 3" descr="">
            <a:extLst>
              <a:ext uri="{C183D7F6-B498-43B3-948B-1728B52AA6E4}">
                <adec:decorative xmlns:adec="http://schemas.microsoft.com/office/drawing/2017/decorative" val="1"/>
              </a:ext>
            </a:extLst>
          </p:cNvPr>
          <p:cNvSpPr/>
          <p:nvPr/>
        </p:nvSpPr>
        <p:spPr>
          <a:xfrm>
            <a:off x="5349240" y="1508760"/>
            <a:ext cx="146304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2" name="Phase 3 text"/>
          <p:cNvSpPr txBox="1"/>
          <p:nvPr/>
        </p:nvSpPr>
        <p:spPr>
          <a:xfrm>
            <a:off x="5458968" y="1572768"/>
            <a:ext cx="1280160" cy="1325880"/>
          </a:xfrm>
          <a:prstGeom prst="rect">
            <a:avLst/>
          </a:prstGeom>
          <a:noFill/>
          <a:ln/>
        </p:spPr>
        <p:txBody>
          <a:bodyPr wrap="square" lIns="0" tIns="0" rIns="0" bIns="0" rtlCol="0" anchor="t"/>
          <a:lstStyle/>
          <a:p>
            <a:pPr algn="ctr" indent="0" marL="0">
              <a:buNone/>
            </a:pPr>
            <a:r>
              <a:rPr lang="en-US" sz="2600" b="1" dirty="0">
                <a:solidFill>
                  <a:srgbClr val="0F766E"/>
                </a:solidFill>
                <a:latin typeface="Cambria" pitchFamily="34" charset="0"/>
                <a:ea typeface="Cambria" pitchFamily="34" charset="-122"/>
                <a:cs typeface="Cambria" pitchFamily="34" charset="-120"/>
              </a:rPr>
              <a:t>3</a:t>
            </a:r>
            <a:endParaRPr lang="en-US" sz="1400" dirty="0"/>
          </a:p>
          <a:p>
            <a:pPr algn="ctr" indent="0" marL="0">
              <a:buNone/>
            </a:pPr>
            <a:r>
              <a:rPr lang="en-US" sz="1350" b="1" dirty="0">
                <a:solidFill>
                  <a:schemeClr val="tx2"/>
                </a:solidFill>
              </a:rPr>
              <a:t>Pilot</a:t>
            </a:r>
            <a:endParaRPr lang="en-US" sz="1400" dirty="0"/>
          </a:p>
        </p:txBody>
      </p:sp>
      <p:sp>
        <p:nvSpPr>
          <p:cNvPr id="13" name="Phase 4" descr="">
            <a:extLst>
              <a:ext uri="{C183D7F6-B498-43B3-948B-1728B52AA6E4}">
                <adec:decorative xmlns:adec="http://schemas.microsoft.com/office/drawing/2017/decorative" val="1"/>
              </a:ext>
            </a:extLst>
          </p:cNvPr>
          <p:cNvSpPr/>
          <p:nvPr/>
        </p:nvSpPr>
        <p:spPr>
          <a:xfrm>
            <a:off x="6949440" y="1508760"/>
            <a:ext cx="146304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4" name="Phase 4 text"/>
          <p:cNvSpPr txBox="1"/>
          <p:nvPr/>
        </p:nvSpPr>
        <p:spPr>
          <a:xfrm>
            <a:off x="7059168" y="1572768"/>
            <a:ext cx="1280160" cy="1325880"/>
          </a:xfrm>
          <a:prstGeom prst="rect">
            <a:avLst/>
          </a:prstGeom>
          <a:noFill/>
          <a:ln/>
        </p:spPr>
        <p:txBody>
          <a:bodyPr wrap="square" lIns="0" tIns="0" rIns="0" bIns="0" rtlCol="0" anchor="t"/>
          <a:lstStyle/>
          <a:p>
            <a:pPr algn="ctr" indent="0" marL="0">
              <a:buNone/>
            </a:pPr>
            <a:r>
              <a:rPr lang="en-US" sz="2600" b="1" dirty="0">
                <a:solidFill>
                  <a:srgbClr val="1F2A44"/>
                </a:solidFill>
                <a:latin typeface="Cambria" pitchFamily="34" charset="0"/>
                <a:ea typeface="Cambria" pitchFamily="34" charset="-122"/>
                <a:cs typeface="Cambria" pitchFamily="34" charset="-120"/>
              </a:rPr>
              <a:t>4</a:t>
            </a:r>
            <a:endParaRPr lang="en-US" sz="1400" dirty="0"/>
          </a:p>
          <a:p>
            <a:pPr algn="ctr" indent="0" marL="0">
              <a:buNone/>
            </a:pPr>
            <a:r>
              <a:rPr lang="en-US" sz="1350" b="1" dirty="0">
                <a:solidFill>
                  <a:schemeClr val="tx2"/>
                </a:solidFill>
              </a:rPr>
              <a:t>Lifecycle and access</a:t>
            </a:r>
            <a:endParaRPr lang="en-US" sz="1400" dirty="0"/>
          </a:p>
        </p:txBody>
      </p:sp>
      <p:sp>
        <p:nvSpPr>
          <p:cNvPr id="15" name="Phase 5" descr="">
            <a:extLst>
              <a:ext uri="{C183D7F6-B498-43B3-948B-1728B52AA6E4}">
                <adec:decorative xmlns:adec="http://schemas.microsoft.com/office/drawing/2017/decorative" val="1"/>
              </a:ext>
            </a:extLst>
          </p:cNvPr>
          <p:cNvSpPr/>
          <p:nvPr/>
        </p:nvSpPr>
        <p:spPr>
          <a:xfrm>
            <a:off x="8549640" y="1508760"/>
            <a:ext cx="1463040" cy="1463040"/>
          </a:xfrm>
          <a:prstGeom prst="roundRect">
            <a:avLst>
              <a:gd name="adj" fmla="val 5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6" name="Phase 5 text"/>
          <p:cNvSpPr txBox="1"/>
          <p:nvPr/>
        </p:nvSpPr>
        <p:spPr>
          <a:xfrm>
            <a:off x="8659368" y="1572768"/>
            <a:ext cx="1280160" cy="1325880"/>
          </a:xfrm>
          <a:prstGeom prst="rect">
            <a:avLst/>
          </a:prstGeom>
          <a:noFill/>
          <a:ln/>
        </p:spPr>
        <p:txBody>
          <a:bodyPr wrap="square" lIns="0" tIns="0" rIns="0" bIns="0" rtlCol="0" anchor="t"/>
          <a:lstStyle/>
          <a:p>
            <a:pPr algn="ctr" indent="0" marL="0">
              <a:buNone/>
            </a:pPr>
            <a:r>
              <a:rPr lang="en-US" sz="2600" b="1" dirty="0">
                <a:solidFill>
                  <a:srgbClr val="0F766E"/>
                </a:solidFill>
                <a:latin typeface="Cambria" pitchFamily="34" charset="0"/>
                <a:ea typeface="Cambria" pitchFamily="34" charset="-122"/>
                <a:cs typeface="Cambria" pitchFamily="34" charset="-120"/>
              </a:rPr>
              <a:t>5</a:t>
            </a:r>
            <a:endParaRPr lang="en-US" sz="1400" dirty="0"/>
          </a:p>
          <a:p>
            <a:pPr algn="ctr" indent="0" marL="0">
              <a:buNone/>
            </a:pPr>
            <a:r>
              <a:rPr lang="en-US" sz="1350" b="1" dirty="0">
                <a:solidFill>
                  <a:schemeClr val="tx2"/>
                </a:solidFill>
              </a:rPr>
              <a:t>Cutover by population</a:t>
            </a:r>
            <a:endParaRPr lang="en-US" sz="1400" dirty="0"/>
          </a:p>
        </p:txBody>
      </p:sp>
      <p:sp>
        <p:nvSpPr>
          <p:cNvPr id="17" name="Phase 6" descr="">
            <a:extLst>
              <a:ext uri="{C183D7F6-B498-43B3-948B-1728B52AA6E4}">
                <adec:decorative xmlns:adec="http://schemas.microsoft.com/office/drawing/2017/decorative" val="1"/>
              </a:ext>
            </a:extLst>
          </p:cNvPr>
          <p:cNvSpPr/>
          <p:nvPr/>
        </p:nvSpPr>
        <p:spPr>
          <a:xfrm>
            <a:off x="10149840" y="1508760"/>
            <a:ext cx="1463040" cy="1463040"/>
          </a:xfrm>
          <a:prstGeom prst="roundRect">
            <a:avLst>
              <a:gd name="adj" fmla="val 5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8" name="Phase 6 text"/>
          <p:cNvSpPr txBox="1"/>
          <p:nvPr/>
        </p:nvSpPr>
        <p:spPr>
          <a:xfrm>
            <a:off x="10259568" y="1572768"/>
            <a:ext cx="1280160" cy="1325880"/>
          </a:xfrm>
          <a:prstGeom prst="rect">
            <a:avLst/>
          </a:prstGeom>
          <a:noFill/>
          <a:ln/>
        </p:spPr>
        <p:txBody>
          <a:bodyPr wrap="square" lIns="0" tIns="0" rIns="0" bIns="0" rtlCol="0" anchor="t"/>
          <a:lstStyle/>
          <a:p>
            <a:pPr algn="ctr" indent="0" marL="0">
              <a:buNone/>
            </a:pPr>
            <a:r>
              <a:rPr lang="en-US" sz="2600" b="1" dirty="0">
                <a:solidFill>
                  <a:srgbClr val="1F2A44"/>
                </a:solidFill>
                <a:latin typeface="Cambria" pitchFamily="34" charset="0"/>
                <a:ea typeface="Cambria" pitchFamily="34" charset="-122"/>
                <a:cs typeface="Cambria" pitchFamily="34" charset="-120"/>
              </a:rPr>
              <a:t>6</a:t>
            </a:r>
            <a:endParaRPr lang="en-US" sz="1400" dirty="0"/>
          </a:p>
          <a:p>
            <a:pPr algn="ctr" indent="0" marL="0">
              <a:buNone/>
            </a:pPr>
            <a:r>
              <a:rPr lang="en-US" sz="1350" b="1" dirty="0">
                <a:solidFill>
                  <a:schemeClr val="tx2"/>
                </a:solidFill>
              </a:rPr>
              <a:t>Sustain</a:t>
            </a:r>
            <a:endParaRPr lang="en-US" sz="1400" dirty="0"/>
          </a:p>
        </p:txBody>
      </p:sp>
      <p:sp>
        <p:nvSpPr>
          <p:cNvPr id="19" name="Plan rules"/>
          <p:cNvSpPr txBox="1"/>
          <p:nvPr/>
        </p:nvSpPr>
        <p:spPr>
          <a:xfrm>
            <a:off x="548640" y="3154680"/>
            <a:ext cx="11109960" cy="164592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Start now from the HR data the agency already has; switch the source to Core HCM when it arrives</a:t>
            </a:r>
            <a:endParaRPr lang="en-US" sz="1400" dirty="0"/>
          </a:p>
          <a:p>
            <a:pPr marL="342900" indent="-342900">
              <a:spcAft>
                <a:spcPts val="600"/>
              </a:spcAft>
              <a:buSzPct val="100000"/>
              <a:buChar char="•"/>
            </a:pPr>
            <a:r>
              <a:rPr lang="en-US" sz="1500" dirty="0">
                <a:solidFill>
                  <a:schemeClr val="tx2"/>
                </a:solidFill>
              </a:rPr>
              <a:t>Run in shadow mode first: compare what HR says with what the directories hold, and fix the gaps</a:t>
            </a:r>
            <a:endParaRPr lang="en-US" sz="1400" dirty="0"/>
          </a:p>
          <a:p>
            <a:pPr marL="342900" indent="-342900">
              <a:spcAft>
                <a:spcPts val="600"/>
              </a:spcAft>
              <a:buSzPct val="100000"/>
              <a:buChar char="•"/>
            </a:pPr>
            <a:r>
              <a:rPr lang="en-US" sz="1500" dirty="0">
                <a:solidFill>
                  <a:schemeClr val="tx2"/>
                </a:solidFill>
              </a:rPr>
              <a:t>Cut over one population at a time, with a signed validation report and a rollback</a:t>
            </a:r>
            <a:endParaRPr lang="en-US" sz="1400" dirty="0"/>
          </a:p>
          <a:p>
            <a:pPr marL="342900" indent="-342900">
              <a:spcAft>
                <a:spcPts val="600"/>
              </a:spcAft>
              <a:buSzPct val="100000"/>
              <a:buChar char="•"/>
            </a:pPr>
            <a:r>
              <a:rPr lang="en-US" sz="1500" dirty="0">
                <a:solidFill>
                  <a:schemeClr val="tx2"/>
                </a:solidFill>
              </a:rPr>
              <a:t>Close the ticket path for a population only when the data proves HR is the sole source</a:t>
            </a:r>
            <a:endParaRPr lang="en-US" sz="1400" dirty="0"/>
          </a:p>
        </p:txBody>
      </p:sp>
      <p:sp>
        <p:nvSpPr>
          <p:cNvPr id="20" name="Gates" descr="">
            <a:extLst>
              <a:ext uri="{C183D7F6-B498-43B3-948B-1728B52AA6E4}">
                <adec:decorative xmlns:adec="http://schemas.microsoft.com/office/drawing/2017/decorative" val="1"/>
              </a:ext>
            </a:extLst>
          </p:cNvPr>
          <p:cNvSpPr/>
          <p:nvPr/>
        </p:nvSpPr>
        <p:spPr>
          <a:xfrm>
            <a:off x="548640" y="4983480"/>
            <a:ext cx="11109960" cy="960120"/>
          </a:xfrm>
          <a:prstGeom prst="roundRect">
            <a:avLst>
              <a:gd name="adj" fmla="val 761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1" name="Icon FaClipboardCheck" descr="">
            <a:extLst>
              <a:ext uri="{C183D7F6-B498-43B3-948B-1728B52AA6E4}">
                <adec:decorative xmlns:adec="http://schemas.microsoft.com/office/drawing/2017/decorative" val="1"/>
              </a:ext>
            </a:extLst>
          </p:cNvPr>
          <p:cNvSpPr/>
          <p:nvPr/>
        </p:nvSpPr>
        <p:spPr>
          <a:xfrm>
            <a:off x="777240" y="5097780"/>
            <a:ext cx="731520" cy="731520"/>
          </a:xfrm>
          <a:prstGeom prst="ellipse">
            <a:avLst/>
          </a:prstGeom>
          <a:solidFill>
            <a:srgbClr val="B45309"/>
          </a:solidFill>
          <a:ln w="12700">
            <a:solidFill>
              <a:srgbClr val="B45309"/>
            </a:solidFill>
            <a:prstDash val="solid"/>
          </a:ln>
        </p:spPr>
      </p:sp>
      <p:pic>
        <p:nvPicPr>
          <p:cNvPr id="2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73345"/>
            <a:ext cx="380390" cy="380390"/>
          </a:xfrm>
          <a:prstGeom prst="rect">
            <a:avLst/>
          </a:prstGeom>
        </p:spPr>
      </p:pic>
      <p:sp>
        <p:nvSpPr>
          <p:cNvPr id="23" name="Gates text"/>
          <p:cNvSpPr txBox="1"/>
          <p:nvPr/>
        </p:nvSpPr>
        <p:spPr>
          <a:xfrm>
            <a:off x="1737360" y="5029200"/>
            <a:ext cx="9738360" cy="868680"/>
          </a:xfrm>
          <a:prstGeom prst="rect">
            <a:avLst/>
          </a:prstGeom>
          <a:noFill/>
          <a:ln/>
        </p:spPr>
        <p:txBody>
          <a:bodyPr wrap="square" lIns="0" tIns="0" rIns="0" bIns="0" rtlCol="0" anchor="ctr"/>
          <a:lstStyle/>
          <a:p>
            <a:pPr indent="0" marL="0">
              <a:buNone/>
            </a:pPr>
            <a:r>
              <a:rPr lang="en-US" sz="1650" b="1" dirty="0">
                <a:solidFill>
                  <a:srgbClr val="B45309"/>
                </a:solidFill>
              </a:rPr>
              <a:t>Gates are proposals: </a:t>
            </a:r>
            <a:pPr indent="0" marL="0">
              <a:buNone/>
            </a:pPr>
            <a:r>
              <a:rPr lang="en-US" sz="1650" dirty="0">
                <a:solidFill>
                  <a:schemeClr val="tx2"/>
                </a:solidFill>
              </a:rPr>
              <a:t>thresholds such as 99% correlation are starting criteria the agency approves through its own risk governance, not federal requirements.</a:t>
            </a:r>
            <a:endParaRPr lang="en-US" sz="1650" dirty="0"/>
          </a:p>
        </p:txBody>
      </p:sp>
      <p:sp>
        <p:nvSpPr>
          <p:cNvPr id="24" name="Sources"/>
          <p:cNvSpPr txBox="1"/>
          <p:nvPr/>
        </p:nvSpPr>
        <p:spPr>
          <a:xfrm>
            <a:off x="548640" y="6053328"/>
            <a:ext cx="10424160" cy="292608"/>
          </a:xfrm>
          <a:prstGeom prst="rect">
            <a:avLst/>
          </a:prstGeom>
          <a:noFill/>
          <a:ln/>
        </p:spPr>
        <p:txBody>
          <a:bodyPr wrap="square" lIns="0" tIns="0" rIns="0" bIns="0" rtlCol="0" anchor="t"/>
          <a:lstStyle/>
          <a:p>
            <a:pPr indent="0" marL="0">
              <a:buNone/>
            </a:pPr>
            <a:r>
              <a:rPr lang="en-US" sz="1000" i="1" dirty="0">
                <a:solidFill>
                  <a:srgbClr val="64748B"/>
                </a:solidFill>
              </a:rPr>
              <a:t>Program design. Book 03, Chapter 12 — Execution Plan; Appendix C — Acceptance and Cutover; Chapter 13 — Reference Deployment.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we'll know it works, and what we need</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Measures head"/>
          <p:cNvSpPr txBox="1"/>
          <p:nvPr/>
        </p:nvSpPr>
        <p:spPr>
          <a:xfrm>
            <a:off x="548640" y="1417320"/>
            <a:ext cx="5852160" cy="274320"/>
          </a:xfrm>
          <a:prstGeom prst="rect">
            <a:avLst/>
          </a:prstGeom>
          <a:noFill/>
          <a:ln/>
        </p:spPr>
        <p:txBody>
          <a:bodyPr wrap="square" lIns="0" tIns="0" rIns="0" bIns="0" rtlCol="0" anchor="t"/>
          <a:lstStyle/>
          <a:p>
            <a:pPr indent="0" marL="0">
              <a:buNone/>
            </a:pPr>
            <a:r>
              <a:rPr lang="en-US" sz="1200" b="1" dirty="0">
                <a:solidFill>
                  <a:srgbClr val="64748B"/>
                </a:solidFill>
              </a:rPr>
              <a:t>FIVE MEASURES, BASELINED IN PHASE 1</a:t>
            </a:r>
            <a:endParaRPr lang="en-US" sz="1200" dirty="0"/>
          </a:p>
        </p:txBody>
      </p:sp>
      <p:sp>
        <p:nvSpPr>
          <p:cNvPr id="6" name="Measures"/>
          <p:cNvSpPr txBox="1"/>
          <p:nvPr/>
        </p:nvSpPr>
        <p:spPr>
          <a:xfrm>
            <a:off x="548640" y="1783080"/>
            <a:ext cx="5760720" cy="2926080"/>
          </a:xfrm>
          <a:prstGeom prst="rect">
            <a:avLst/>
          </a:prstGeom>
          <a:noFill/>
          <a:ln/>
        </p:spPr>
        <p:txBody>
          <a:bodyPr wrap="square" lIns="0" tIns="0" rIns="0" bIns="0" rtlCol="0" anchor="t"/>
          <a:lstStyle/>
          <a:p>
            <a:pPr marL="342900" indent="-342900">
              <a:spcAft>
                <a:spcPts val="800"/>
              </a:spcAft>
              <a:buSzPct val="100000"/>
              <a:buChar char="•"/>
            </a:pPr>
            <a:r>
              <a:rPr lang="en-US" sz="1550" dirty="0">
                <a:solidFill>
                  <a:schemeClr val="tx2"/>
                </a:solidFill>
              </a:rPr>
              <a:t>Separation to blocked access, in hours</a:t>
            </a:r>
            <a:endParaRPr lang="en-US" sz="1400" dirty="0"/>
          </a:p>
          <a:p>
            <a:pPr marL="342900" indent="-342900">
              <a:spcAft>
                <a:spcPts val="800"/>
              </a:spcAft>
              <a:buSzPct val="100000"/>
              <a:buChar char="•"/>
            </a:pPr>
            <a:r>
              <a:rPr lang="en-US" sz="1550" dirty="0">
                <a:solidFill>
                  <a:schemeClr val="tx2"/>
                </a:solidFill>
              </a:rPr>
              <a:t>Accounts tied to a person; orphans trending to zero</a:t>
            </a:r>
            <a:endParaRPr lang="en-US" sz="1400" dirty="0"/>
          </a:p>
          <a:p>
            <a:pPr marL="342900" indent="-342900">
              <a:spcAft>
                <a:spcPts val="800"/>
              </a:spcAft>
              <a:buSzPct val="100000"/>
              <a:buChar char="•"/>
            </a:pPr>
            <a:r>
              <a:rPr lang="en-US" sz="1550" dirty="0">
                <a:solidFill>
                  <a:schemeClr val="tx2"/>
                </a:solidFill>
              </a:rPr>
              <a:t>Joiner and mover tickets down; access ready on day one</a:t>
            </a:r>
            <a:endParaRPr lang="en-US" sz="1400" dirty="0"/>
          </a:p>
          <a:p>
            <a:pPr marL="342900" indent="-342900">
              <a:spcAft>
                <a:spcPts val="800"/>
              </a:spcAft>
              <a:buSzPct val="100000"/>
              <a:buChar char="•"/>
            </a:pPr>
            <a:r>
              <a:rPr lang="en-US" sz="1550" dirty="0">
                <a:solidFill>
                  <a:schemeClr val="tx2"/>
                </a:solidFill>
              </a:rPr>
              <a:t>Manager and organization in the directory match HR</a:t>
            </a:r>
            <a:endParaRPr lang="en-US" sz="1400" dirty="0"/>
          </a:p>
          <a:p>
            <a:pPr marL="342900" indent="-342900">
              <a:spcAft>
                <a:spcPts val="800"/>
              </a:spcAft>
              <a:buSzPct val="100000"/>
              <a:buChar char="•"/>
            </a:pPr>
            <a:r>
              <a:rPr lang="en-US" sz="1550" dirty="0">
                <a:solidFill>
                  <a:schemeClr val="tx2"/>
                </a:solidFill>
              </a:rPr>
              <a:t>Every exception has an owner and an age</a:t>
            </a:r>
            <a:endParaRPr lang="en-US" sz="1400" dirty="0"/>
          </a:p>
        </p:txBody>
      </p:sp>
      <p:sp>
        <p:nvSpPr>
          <p:cNvPr id="7" name="Ask box" descr="">
            <a:extLst>
              <a:ext uri="{C183D7F6-B498-43B3-948B-1728B52AA6E4}">
                <adec:decorative xmlns:adec="http://schemas.microsoft.com/office/drawing/2017/decorative" val="1"/>
              </a:ext>
            </a:extLst>
          </p:cNvPr>
          <p:cNvSpPr/>
          <p:nvPr/>
        </p:nvSpPr>
        <p:spPr>
          <a:xfrm>
            <a:off x="6629400" y="1417320"/>
            <a:ext cx="5029200" cy="3291840"/>
          </a:xfrm>
          <a:prstGeom prst="roundRect">
            <a:avLst>
              <a:gd name="adj" fmla="val 2222"/>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8" name="Icon FaUserCheck" descr="">
            <a:extLst>
              <a:ext uri="{C183D7F6-B498-43B3-948B-1728B52AA6E4}">
                <adec:decorative xmlns:adec="http://schemas.microsoft.com/office/drawing/2017/decorative" val="1"/>
              </a:ext>
            </a:extLst>
          </p:cNvPr>
          <p:cNvSpPr/>
          <p:nvPr/>
        </p:nvSpPr>
        <p:spPr>
          <a:xfrm>
            <a:off x="6858000" y="1600200"/>
            <a:ext cx="640080" cy="640080"/>
          </a:xfrm>
          <a:prstGeom prst="ellipse">
            <a:avLst/>
          </a:prstGeom>
          <a:solidFill>
            <a:srgbClr val="0F766E"/>
          </a:solidFill>
          <a:ln w="12700">
            <a:solidFill>
              <a:srgbClr val="0F766E"/>
            </a:solidFill>
            <a:prstDash val="solid"/>
          </a:ln>
        </p:spPr>
      </p:sp>
      <p:pic>
        <p:nvPicPr>
          <p:cNvPr id="9"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011619" y="1753819"/>
            <a:ext cx="332842" cy="332842"/>
          </a:xfrm>
          <a:prstGeom prst="rect">
            <a:avLst/>
          </a:prstGeom>
        </p:spPr>
      </p:pic>
      <p:sp>
        <p:nvSpPr>
          <p:cNvPr id="10" name="Ask head"/>
          <p:cNvSpPr txBox="1"/>
          <p:nvPr/>
        </p:nvSpPr>
        <p:spPr>
          <a:xfrm>
            <a:off x="7635240" y="1600200"/>
            <a:ext cx="3840480" cy="640080"/>
          </a:xfrm>
          <a:prstGeom prst="rect">
            <a:avLst/>
          </a:prstGeom>
          <a:noFill/>
          <a:ln/>
        </p:spPr>
        <p:txBody>
          <a:bodyPr wrap="square" lIns="0" tIns="0" rIns="0" bIns="0" rtlCol="0" anchor="ctr"/>
          <a:lstStyle/>
          <a:p>
            <a:pPr indent="0" marL="0">
              <a:buNone/>
            </a:pPr>
            <a:r>
              <a:rPr lang="en-US" sz="1900" b="1" dirty="0">
                <a:solidFill>
                  <a:srgbClr val="0F766E"/>
                </a:solidFill>
                <a:latin typeface="Cambria" pitchFamily="34" charset="0"/>
                <a:ea typeface="Cambria" pitchFamily="34" charset="-122"/>
                <a:cs typeface="Cambria" pitchFamily="34" charset="-120"/>
              </a:rPr>
              <a:t>One decision</a:t>
            </a:r>
            <a:endParaRPr lang="en-US" sz="1900" dirty="0"/>
          </a:p>
        </p:txBody>
      </p:sp>
      <p:sp>
        <p:nvSpPr>
          <p:cNvPr id="11" name="Ask text"/>
          <p:cNvSpPr txBox="1"/>
          <p:nvPr/>
        </p:nvSpPr>
        <p:spPr>
          <a:xfrm>
            <a:off x="6858000" y="2331720"/>
            <a:ext cx="4617720" cy="2286000"/>
          </a:xfrm>
          <a:prstGeom prst="rect">
            <a:avLst/>
          </a:prstGeom>
          <a:noFill/>
          <a:ln/>
        </p:spPr>
        <p:txBody>
          <a:bodyPr wrap="square" lIns="0" tIns="0" rIns="0" bIns="0" rtlCol="0" anchor="t"/>
          <a:lstStyle/>
          <a:p>
            <a:pPr indent="0" marL="0">
              <a:spcAft>
                <a:spcPts val="500"/>
              </a:spcAft>
              <a:buNone/>
            </a:pPr>
            <a:r>
              <a:rPr lang="en-US" sz="1450" b="1" dirty="0">
                <a:solidFill>
                  <a:schemeClr val="tx2"/>
                </a:solidFill>
              </a:rPr>
              <a:t>Start HR-driven identity now, as a design requirement of the HR 2.0 onboarding and the Entra ID migration.</a:t>
            </a:r>
            <a:endParaRPr lang="en-US" sz="1450" dirty="0"/>
          </a:p>
          <a:p>
            <a:pPr marL="342900" indent="-342900">
              <a:spcAft>
                <a:spcPts val="500"/>
              </a:spcAft>
              <a:buSzPct val="100000"/>
              <a:buChar char="•"/>
            </a:pPr>
            <a:r>
              <a:rPr lang="en-US" sz="1400" dirty="0">
                <a:solidFill>
                  <a:schemeClr val="tx2"/>
                </a:solidFill>
              </a:rPr>
              <a:t>A sponsor across HR, identity and privacy</a:t>
            </a:r>
            <a:endParaRPr lang="en-US" sz="1450" dirty="0"/>
          </a:p>
          <a:p>
            <a:pPr marL="342900" indent="-342900">
              <a:spcAft>
                <a:spcPts val="500"/>
              </a:spcAft>
              <a:buSzPct val="100000"/>
              <a:buChar char="•"/>
            </a:pPr>
            <a:r>
              <a:rPr lang="en-US" sz="1400" dirty="0">
                <a:solidFill>
                  <a:schemeClr val="tx2"/>
                </a:solidFill>
              </a:rPr>
              <a:t>Identity named in the HR 2.0 interconnection plan</a:t>
            </a:r>
            <a:endParaRPr lang="en-US" sz="1450" dirty="0"/>
          </a:p>
          <a:p>
            <a:pPr marL="342900" indent="-342900">
              <a:spcAft>
                <a:spcPts val="500"/>
              </a:spcAft>
              <a:buSzPct val="100000"/>
              <a:buChar char="•"/>
            </a:pPr>
            <a:r>
              <a:rPr lang="en-US" sz="1400" dirty="0">
                <a:solidFill>
                  <a:schemeClr val="tx2"/>
                </a:solidFill>
              </a:rPr>
              <a:t>Data owners designated; the person key confirmed</a:t>
            </a:r>
            <a:endParaRPr lang="en-US" sz="1450" dirty="0"/>
          </a:p>
          <a:p>
            <a:pPr marL="342900" indent="-342900">
              <a:spcAft>
                <a:spcPts val="500"/>
              </a:spcAft>
              <a:buSzPct val="100000"/>
              <a:buChar char="•"/>
            </a:pPr>
            <a:r>
              <a:rPr lang="en-US" sz="1400" dirty="0">
                <a:solidFill>
                  <a:schemeClr val="tx2"/>
                </a:solidFill>
              </a:rPr>
              <a:t>A small team for the pre-onboarding data work</a:t>
            </a:r>
            <a:endParaRPr lang="en-US" sz="1450" dirty="0"/>
          </a:p>
        </p:txBody>
      </p:sp>
      <p:sp>
        <p:nvSpPr>
          <p:cNvPr id="12" name="Next" descr="">
            <a:extLst>
              <a:ext uri="{C183D7F6-B498-43B3-948B-1728B52AA6E4}">
                <adec:decorative xmlns:adec="http://schemas.microsoft.com/office/drawing/2017/decorative" val="1"/>
              </a:ext>
            </a:extLst>
          </p:cNvPr>
          <p:cNvSpPr/>
          <p:nvPr/>
        </p:nvSpPr>
        <p:spPr>
          <a:xfrm>
            <a:off x="548640" y="4937760"/>
            <a:ext cx="11109960" cy="1005840"/>
          </a:xfrm>
          <a:prstGeom prst="roundRect">
            <a:avLst>
              <a:gd name="adj" fmla="val 7273"/>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3" name="Icon FaBook" descr="">
            <a:extLst>
              <a:ext uri="{C183D7F6-B498-43B3-948B-1728B52AA6E4}">
                <adec:decorative xmlns:adec="http://schemas.microsoft.com/office/drawing/2017/decorative" val="1"/>
              </a:ext>
            </a:extLst>
          </p:cNvPr>
          <p:cNvSpPr/>
          <p:nvPr/>
        </p:nvSpPr>
        <p:spPr>
          <a:xfrm>
            <a:off x="777240" y="5074920"/>
            <a:ext cx="731520" cy="731520"/>
          </a:xfrm>
          <a:prstGeom prst="ellipse">
            <a:avLst/>
          </a:prstGeom>
          <a:solidFill>
            <a:srgbClr val="1F2A44"/>
          </a:solidFill>
          <a:ln w="12700">
            <a:solidFill>
              <a:srgbClr val="1F2A44"/>
            </a:solidFill>
            <a:prstDash val="solid"/>
          </a:ln>
        </p:spPr>
      </p:sp>
      <p:pic>
        <p:nvPicPr>
          <p:cNvPr id="14" name="Image 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52805" y="5250485"/>
            <a:ext cx="380390" cy="380390"/>
          </a:xfrm>
          <a:prstGeom prst="rect">
            <a:avLst/>
          </a:prstGeom>
        </p:spPr>
      </p:pic>
      <p:sp>
        <p:nvSpPr>
          <p:cNvPr id="15" name="Next text"/>
          <p:cNvSpPr txBox="1"/>
          <p:nvPr/>
        </p:nvSpPr>
        <p:spPr>
          <a:xfrm>
            <a:off x="1737360" y="4983480"/>
            <a:ext cx="9738360" cy="914400"/>
          </a:xfrm>
          <a:prstGeom prst="rect">
            <a:avLst/>
          </a:prstGeom>
          <a:noFill/>
          <a:ln/>
        </p:spPr>
        <p:txBody>
          <a:bodyPr wrap="square" lIns="0" tIns="0" rIns="0" bIns="0" rtlCol="0" anchor="ctr"/>
          <a:lstStyle/>
          <a:p>
            <a:pPr indent="0" marL="0">
              <a:buNone/>
            </a:pPr>
            <a:r>
              <a:rPr lang="en-US" sz="1650" b="1" dirty="0">
                <a:solidFill>
                  <a:srgbClr val="1F2A44"/>
                </a:solidFill>
              </a:rPr>
              <a:t>Read next: </a:t>
            </a:r>
            <a:pPr indent="0" marL="0">
              <a:buNone/>
            </a:pPr>
            <a:r>
              <a:rPr lang="en-US" sz="1650" dirty="0">
                <a:solidFill>
                  <a:schemeClr val="tx2"/>
                </a:solidFill>
              </a:rPr>
              <a:t>Book 03 for the full design, every claim footnoted; Book 02 for the directory migration it builds on.</a:t>
            </a:r>
            <a:endParaRPr lang="en-US" sz="165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the slides</a:t>
            </a:r>
            <a:endParaRPr lang="en-US" sz="3000" dirty="0"/>
          </a:p>
        </p:txBody>
      </p:sp>
      <p:sp>
        <p:nvSpPr>
          <p:cNvPr id="3" name="Source list"/>
          <p:cNvSpPr txBox="1"/>
          <p:nvPr/>
        </p:nvSpPr>
        <p:spPr>
          <a:xfrm>
            <a:off x="548640" y="1417320"/>
            <a:ext cx="11064240" cy="4572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2"/>
                </a:solidFill>
              </a:rPr>
              <a:t>OMB and OPM, Creating "Federal HR 2.0" by Consolidating Core Human Capital Management Across the Federal Government, December 10, 2025.</a:t>
            </a:r>
            <a:endParaRPr lang="en-US" sz="1400" dirty="0"/>
          </a:p>
          <a:p>
            <a:pPr marL="342900" indent="-342900">
              <a:spcAft>
                <a:spcPts val="600"/>
              </a:spcAft>
              <a:buSzPct val="100000"/>
              <a:buChar char="•"/>
            </a:pPr>
            <a:r>
              <a:rPr lang="en-US" sz="1300" dirty="0">
                <a:solidFill>
                  <a:schemeClr val="tx2"/>
                </a:solidFill>
              </a:rPr>
              <a:t>OPM, Core HCM contract award, June 10, 2026.  ·  OPM, Guide to Data Standards; Guide to Processing Personnel Actions.</a:t>
            </a:r>
            <a:endParaRPr lang="en-US" sz="1400" dirty="0"/>
          </a:p>
          <a:p>
            <a:pPr marL="342900" indent="-342900">
              <a:spcAft>
                <a:spcPts val="600"/>
              </a:spcAft>
              <a:buSzPct val="100000"/>
              <a:buChar char="•"/>
            </a:pPr>
            <a:r>
              <a:rPr lang="en-US" sz="1300" dirty="0">
                <a:solidFill>
                  <a:schemeClr val="tx2"/>
                </a:solidFill>
              </a:rPr>
              <a:t>NIST FIPS 201-3, Personal Identity Verification (PIV) of Federal Employees and Contractors, January 2022.</a:t>
            </a:r>
            <a:endParaRPr lang="en-US" sz="1400" dirty="0"/>
          </a:p>
          <a:p>
            <a:pPr marL="342900" indent="-342900">
              <a:spcAft>
                <a:spcPts val="600"/>
              </a:spcAft>
              <a:buSzPct val="100000"/>
              <a:buChar char="•"/>
            </a:pPr>
            <a:r>
              <a:rPr lang="en-US" sz="1300" dirty="0">
                <a:solidFill>
                  <a:schemeClr val="tx2"/>
                </a:solidFill>
              </a:rPr>
              <a:t>NIST SP 800-53 Rev. 5 (PS-4, PS-5, AC-2, CA-7, IA-4)  ·  NIST SP 800-37 Rev. 2  ·  OMB M-19-17; OMB Circulars A-108 and A-130.</a:t>
            </a:r>
            <a:endParaRPr lang="en-US" sz="1400" dirty="0"/>
          </a:p>
          <a:p>
            <a:pPr marL="342900" indent="-342900">
              <a:spcAft>
                <a:spcPts val="600"/>
              </a:spcAft>
              <a:buSzPct val="100000"/>
              <a:buChar char="•"/>
            </a:pPr>
            <a:r>
              <a:rPr lang="en-US" sz="1300" dirty="0">
                <a:solidFill>
                  <a:schemeClr val="tx2"/>
                </a:solidFill>
              </a:rPr>
              <a:t>Privacy Act of 1974, 5 U.S.C. 552a (need-to-know and routine uses).</a:t>
            </a:r>
            <a:endParaRPr lang="en-US" sz="1400" dirty="0"/>
          </a:p>
          <a:p>
            <a:pPr marL="342900" indent="-342900">
              <a:spcAft>
                <a:spcPts val="600"/>
              </a:spcAft>
              <a:buSzPct val="100000"/>
              <a:buChar char="•"/>
            </a:pPr>
            <a:r>
              <a:rPr lang="en-US" sz="1300" dirty="0">
                <a:solidFill>
                  <a:schemeClr val="tx2"/>
                </a:solidFill>
              </a:rPr>
              <a:t>Microsoft Learn: API-driven inbound provisioning and its limits; Lifecycle Workflows; revoke user access; log retention.</a:t>
            </a:r>
            <a:endParaRPr lang="en-US" sz="1400" dirty="0"/>
          </a:p>
          <a:p>
            <a:pPr marL="342900" indent="-342900">
              <a:spcAft>
                <a:spcPts val="600"/>
              </a:spcAft>
              <a:buSzPct val="100000"/>
              <a:buChar char="•"/>
            </a:pPr>
            <a:r>
              <a:rPr lang="en-US" sz="1300" dirty="0">
                <a:solidFill>
                  <a:schemeClr val="tx2"/>
                </a:solidFill>
              </a:rPr>
              <a:t>Microsoft Learn: Microsoft Graph user resource (employeeId); dynamic membership; entitlement management; certificate-based authentication.</a:t>
            </a:r>
            <a:endParaRPr lang="en-US" sz="1400" dirty="0"/>
          </a:p>
          <a:p>
            <a:pPr marL="342900" indent="-342900">
              <a:spcAft>
                <a:spcPts val="600"/>
              </a:spcAft>
              <a:buSzPct val="100000"/>
              <a:buChar char="•"/>
            </a:pPr>
            <a:r>
              <a:rPr lang="en-US" sz="1300" dirty="0">
                <a:solidFill>
                  <a:schemeClr val="tx2"/>
                </a:solidFill>
              </a:rPr>
              <a:t>Oracle: Fusion Cloud HCM REST APIs (workers).</a:t>
            </a:r>
            <a:endParaRPr lang="en-US" sz="1400" dirty="0"/>
          </a:p>
          <a:p>
            <a:pPr marL="342900" indent="-342900">
              <a:spcAft>
                <a:spcPts val="600"/>
              </a:spcAft>
              <a:buSzPct val="100000"/>
              <a:buChar char="•"/>
            </a:pPr>
            <a:r>
              <a:rPr lang="en-US" sz="1300" dirty="0">
                <a:solidFill>
                  <a:schemeClr val="tx2"/>
                </a:solidFill>
              </a:rPr>
              <a:t>Full footnotes with links and access dates: Book 03, every chapter (whalermike.github.io/modernization-workbook/docs/books/b03-hr-identity/).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Book 03 — HR-Driven Identity</dc:title>
  <dc:subject>PptxGenJS Presentation</dc:subject>
  <dc:creator>Michael F. Stratton</dc:creator>
  <cp:lastModifiedBy>Michael F. Stratton</cp:lastModifiedBy>
  <cp:revision>1</cp:revision>
  <dcterms:created xsi:type="dcterms:W3CDTF">2026-10-21T13:41:14Z</dcterms:created>
  <dcterms:modified xsi:type="dcterms:W3CDTF">2026-10-21T13:41:14Z</dcterms:modified>
</cp:coreProperties>
</file>