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 portfolio, not a rewrite" id="{977f4b30-1fa0-9f7c-15c1-c4119e83d4b8}">
          <p14:sldIdLst>
            <p14:sldId id="256"/>
            <p14:sldId id="257"/>
            <p14:sldId id="258"/>
          </p14:sldIdLst>
        </p14:section>
        <p14:section name="What each application becomes" id="{f80c64db-90f1-fc74-b930-59231e0185bc}">
          <p14:sldIdLst>
            <p14:sldId id="259"/>
            <p14:sldId id="260"/>
            <p14:sldId id="261"/>
            <p14:sldId id="262"/>
            <p14:sldId id="263"/>
          </p14:sldIdLst>
        </p14:section>
        <p14:section name="Who governs the architecture" id="{9b6b1215-fe9d-447b-654f-2be222ef85e0}">
          <p14:sldIdLst>
            <p14:sldId id="264"/>
          </p14:sldIdLst>
        </p14:section>
        <p14:section name="How to run it at scale" id="{29552a15-8777-3998-4c8c-9e239d0a2afd}">
          <p14:sldIdLst>
            <p14:sldId id="265"/>
            <p14:sldId id="266"/>
            <p14:sldId id="267"/>
            <p14:sldId id="268"/>
          </p14:sldIdLst>
        </p14:section>
        <p14:section name="Backup" id="{53ea823c-2b56-b0df-d26d-485868eb6597}">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[0:00–0:57]  This briefing comes from Book 18 of the Federal Modernization Workbook, Application Modernization. It's written for CIOs and portfolio owners, enterprise and solution architects, database and data teams, AI and application teams, ISSOs, privacy officers and authorizing officials.
I'll take four questions: why application modernization is a portfolio decision and not a rewrite; what each application should become, and what the changed ones are built on; who governs the architecture; and how to run it at scale, in waves.
The short version: decide application by application, build the changed ones on one architecture, prove the data moved, give every AI agent an owner, and let the review gates write the compliance evidence. The rubric, the gates and the waves are the book's program design, not federal requirements, and product versions are as of October 28, 2026.
Workbook: Book 18, Chapter 01 — A Portfolio, Not a Rewrite (The book's argument); index (Why, what, who, how; Reading paths); Chapter 10 (closing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[0:57–2:16]  Most of what federal agencies spend on IT keeps existing systems running. GAO's July 2025 review puts federal IT and cyber spending at more than 100 billion dollars a year. For fiscal 2025, the 24 CFO Act agencies planned about 83 billion dollars, 79 percent, for operations and maintenance. GAO's 2019 review gave the same "about 80 percent". The share has hardly moved in six years.
GAO ranked the most critical legacy systems both times. The 2025 list has 11 systems, about 23 to 60 years old, costing about 754 million dollars a year to run. Eight use languages such as COBOL and assembly, and seven carry vulnerabilities that can't be fixed without modernization. Only three of the eleven had plans with all of GAO's key elements.
Two lessons. The gap is planning, not technology: GAO's key elements are milestones, the work to modernize, and a disposition for the legacy system, all decided per system. And eleven systems are a small share of 83 billion; the bulk sits in thousands of ordinary applications. GAO also notes the full extent of federal legacy IT is unknown.
Workbook: Book 18, Chapter 01 — A Portfolio, Not a Rewrite (opening; The scale of the problem;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[2:16–3:24]  The intuitive answer to an aging portfolio is a replacement program: design the new system, build it, switch over. GAO's work keeps finding such efforts running for years, restarted or abandoned, some taking more than a decade partly because they weren't split into manageable segments.
The reasons are structural. Value arrives only at the end. The real specification is the old system, its code, its data and its users' workarounds. Risk is concentrated in one cut-over. And the world moves while the build runs.
Federal policy already points the other way. Circular A-130 asks agencies to structure major IT acquisitions into useful segments with a narrow scope and brief duration, and expects IT delivered within 18 months. The FAR asks for increments that each deliver a workable system. A-130 also wants a disposition for each system in the enterprise architecture.
So the unit of decision is the application: it has an owner, data, code, dependencies and an authorization boundary to decide about.
Workbook: Book 18, Chapter 01 — A Portfolio, Not a Rewrite (Why big-bang rewrites fail; The unit of decision is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[3:24–4:40]  In a portfolio of thousands, triage can't be a three-month study per application. It has to be a rubric applied to data, with judgment kept for the exceptions.
The book uses six dispositions, in rising order of cost and risk: retire, retain, rehost, replatform, refactor and rebuild. They line up with Gartner's five options, AWS's seven Rs and Microsoft's lists; replacing an application with a commercial or shared service counts as retiring it. Every application gets the cheapest disposition that meets its mission need.
Six criteria are scored from data the agency mostly holds already: mission criticality, technical condition, data sensitivity, cost, skills and dependencies. FIPS 199 impact levels do a lot of the first pass. The scores combine into two axes, mission value and technical health, and a decision table proposes the disposition. Owners confirm or contest it in a fixed window. Most applications are decided by the first four rules; deep study goes only to high-impact refactors and rebuilds, and to contested cases. Retire and retain are decisions, not projects, and that's where most early savings are.
Workbook: Book 18, Chapter 02 — Triaging the Portfolio (The six dispositions; Where the names come from; The six triage criteria; A scored rubric, not a study per application; Calibrating the rubric;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[4:40–5:55]  If every refactor picks its own stack, the agency trades one legacy problem for many new ones. So the applications that change land on one target, and the platform team, the security team and the authorizing official review one pattern instead of hundreds.
The program's choices are mainstream, with long support windows and large labor pools: Java and Spring Boot for services, React for thin front ends, Node.js only for thin layers like a backend-for-frontend, OpenAPI contracts written before the code, and containers on Kubernetes. Java 25 is the current long-term support release, and Spring Boot 4.1 is current. These are design choices, not federal requirements.
Versions are a snapshot. Recent Spring Boot generations get about thirteen months of open-source support, so the platform needs a funded upgrade cadence, or the modernized portfolio becomes the next legacy one.
A refactor happens through the strangler fig. A façade routes each request to the legacy application or a new service, functions move one at a time behind the same contract, and rollback stays possible until the legacy objects are removed.
Workbook: Book 18, Chapter 03 — The Target Reference Architecture (The layers and the choices; Services: Java and Spring Boot; Node.js where it fits; API-first with OpenAPI; Replacing incrementally: the strangler fig; Honest limits; What leadership should take from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[5:55–7:14]  Code can be replaced a piece at a time. Data moves once, and the move isn't finished until someone can prove nothing was lost. A row that didn't arrive, or a date that lost its time of day, may not surface until a beneficiary's record is wrong months later.
So the move is three jobs, each with evidence: convert the schema, move the rows, prove the result. The dangerous conversions are the ones that succeed: Oracle's DATE type carries a time, and mapping it to a date-only type drops it silently.
The proof is three independent checks: row counts, a checksum over canonicalized rows, and aggregates the business recognizes, computed separately on each side. No single check is enough, because each shares an assumption with what it checks; a checksum taken after a wrong transform agrees perfectly, and both are wrong.
During coexistence, each table has one writer, and changes flow by change data capture or delta loads. Dual writes don't share a transaction, so the two stores drift. Pick the engine with the tools in view: only AWS's tools convert D B two to PostgreSQL.
Workbook: Book 18, Chapter 04 — Moving the Data (opening; Choosing the target engine; Type mapping; The conversion tools, October 2026; Proving that nothing was lost; Coexistence without dual writes; What leadership should take from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[7:14–8:22]  Generative AI fits the architecture best when it's treated like any other component: a capability behind an interface, called by a service that owns the business rules, with its output checked rather than trusted. And an agent acts, so it needs what any actor needs: an identity, a human who answers for it, permissions limited to its job, and a record of what it did.
AI fits in four places, ordered by what each can change. An assistive feature or a retrieval answer changes nothing by itself. Code modernization help produces a draft that goes through review and tests. An agent that calls tools can act.
The design can't rely on the model refusing bad instructions; OWASP says there's no fool-proof prevention for prompt injection. So the guardrails sit outside the model: a tool allow-list, a step limit, an audit trail, and no write power. An agent that thinks a record should change files a proposal, and a person approves it.
Workbook: Book 18, Chapter 05 — Generative and Agentic AI in the Architecture (opening; Where AI fits; One provider-neutral model interface; The guardrails an agent needs; Tool protocols: the Model Context Protocol; What leadership should take from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[8:22–9:28]  Compliance usually arrives as a package assembled at the end. Modernization is the one moment that can change, because the agency is choosing the architecture and the pipeline anyway. A control the platform implements once is inherited by every application built on it, and a pipeline that keeps its results produces evidence without anyone collecting it. Circular A-130 asks for exactly that, across the system life cycle.
It also makes legacy a compliance matter: systems that can't be protected, including unsupported ones, get high priority for upgrade, replacement or retirement. So a retained application on unsupported software is an open finding until it has a plan.
Data migration evidence lands in the control catalog too: the validation report shows integrity, and the cut-over is a controlled change.
And privacy and records come in at design review, not at authorization. A new data store, a new flow, an AI feature, test data, or retirement each reopens their work.
Workbook: Book 18, Chapter 06 — Compliance by Design (opening; Legacy as a compliance finding; The controls application work touches most; Secure development after M-26-05; Privacy as a design input; Records: from design to decommissioning).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[9:28–10:36]  A target architecture holds across thousands of applications only if someone owns each decision and every change passes the same few gates. Governance here means three things: who decides, what every change has to pass, and what record each pass leaves.
No federal rule requires an architecture review board, but A-130 and NIST's controls require what one produces. In the program's design, the board reviews and doesn't vote. The chief architect decides standards, patterns and exceptions. The application owner decides the disposition. The authorizing official alone accepts residual risk, and the CIO approves what the agency buys.
There are four gates: disposition, design review, the pull request, and release. Two are meetings, because they need judgment once per application. Two are automation, because they run many times a day on protected branches and a pipeline that keeps its outputs. A program that runs the pull-request gate as a meeting will stall or stop running it. And every gate leaves evidence behind.
Workbook: Book 18, Chapter 07 — Who Governs the Architecture (What federal policy asks for; The architecture review board; Four gates; Git and pipeline practice; How the gates become evidence; Responsibility matrix; Key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[10:36–11:41]  An architecture is easier to trust when it runs. So the workbook ships a small reference implementation beside the book: one mission application in miniature, a case-management service with a React front end, the legacy database it was moved from, and an AI agent that helps triage cases.
Each part shows a pattern from the earlier chapters. A test checks the service's A P I contract against the code in both directions. The migration tool proves every load three ways, and its tests break a value on purpose to show the checks catch it. The agent has an identity, a sponsor, an allow-list and a step limit, and can only file proposals a person approves.
It's honest about its limits. It's illustrative, not production code: synthetic data, no authentication. Its tests run against real PostgreSQL, but it hasn't been run against a real D B two or Oracle database, a real model, or in containers.
Workbook: Book 18, Chapter 08 — The Reference Implementation (opening; What is in it; The service and its contract; The migration tool and its three checks; The agent and its guardrails; What was verified, and what wasn't).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[11:41–12:45]  Many agencies have an enterprise architecture office that speaks TOGAF or Zachman. A program that ignores that vocabulary forces every artifact to be translated; one that adopts it wholesale produces deliverables nobody reads. The book takes the middle course.
TOGAF's Architecture Development Method tells you the order: the triage is the business baseline, the reference architecture is the target, and the wave plan is the migration plan. Re-triage is change management, which starts the next cycle. Zachman's six-by-six grid tells you whether you've described everything. It isn't a method, and an empty cell is a question, not a defect.
The requirement behind both is the architecture itself. A-130 asks for a baseline, a target and a transition plan, and NIST's controls carry that forward. No federal rule requires either framework. The mappings are the book's own reading, so file its artifacts as they are, and answer the assessor with those three.
Workbook: Book 18, Chapter 09 — Mapping the Work to TOGAF and Zachman (opening; What federal policy requires; The TOGAF Standard today; The Zachman Framework today; Using the mappings; Key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[12:45–13:51]  A disposition for every application is a list, not a plan. An agency can't start thousands of projects at once, and running them one at a time rediscovers the same problems. Waves solve both, and each wave leaves the next a little cheaper.
The waves run on the program's existing phases and gates. A pilot wave holds a few simple applications plus one representative hard case, so the first factory wave doesn't meet its first database package unprepared. Factory waves move groups that share data or an owner. Then retirement actually switches the old systems off, and the long tail keeps an owner and a review date for everything retained.
Waves are also a funding structure. The Technology Modernization Fund funds projects that improve, retire or replace systems, and working capital funds let one wave's retirement savings pay for the next.
Report from records, not plans. Cost avoided counts only once the old system is off.
Workbook: Book 18, Chapter 10 — Running the Portfolio in Waves (opening; The portfolio on the program's phases; Planning waves; The modernization factory; Metrics; Funding; Keeping the triage current; Where wave programs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[13:51–14:54]  So, four decisions.
Ask for the inventory before the program. The first deliverable is a list of applications with an owner and a proposed disposition for each, not a target-state design.
Approve the rubric, not each decision. Agree the criteria and rules once, rule on the contested cases, and fund the decommissioning that makes retirements real.
Before any cut-over, ask for three results: row counts, a checksum, and totals the business recognizes, with every mismatch explained. And forbid dual writes.
And no agent writes to a system of record. Agents propose, people approve, services apply, and every agent has a sponsor.
The next step is small. Score a pilot set of thirty to fifty applications your architects already know, calibrate the rubric against their judgment, and pick a pilot wave with one representative hard case.
Decide application by application. Book 18 has the detail, every claim footnoted. Thank you.
Workbook: Book 18, Chapters 01 (What leadership should take from this), 02 (Calibrating the rubric; What leadership should take from this), 04 (What leadership should take from this), 05 (What leadership should take from this) and 10 (Planning waves);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18 Application Modernization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A Portfolio, Not a Rewrite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18 — Application Modernization</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83480"/>
            <a:ext cx="8778240" cy="77724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for CIOs, portfolio owners, enterprise and solution architects, data teams, ISSOs and authorizing officials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Most IT money keeps existing systems running</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400800" cy="914400"/>
        </p:xfrm>
        <a:graphic>
          <a:graphicData uri="http://schemas.openxmlformats.org/drawingml/2006/table">
            <a:tbl>
              <a:tblPr firstRow="1" bandRow="1"/>
              <a:tblGrid>
                <a:gridCol w="1737360"/>
                <a:gridCol w="2286000"/>
                <a:gridCol w="2377440"/>
              </a:tblGrid>
              <a:tr h="384048">
                <a:tc>
                  <a:txBody>
                    <a:bodyPr/>
                    <a:lstStyle/>
                    <a:p>
                      <a:pPr indent="0" marL="0">
                        <a:buNone/>
                      </a:pP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GAO-19-471 (June 2019)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GAO-25-107795 (July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Systems reviewed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65, from 24 agencies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69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Most in need of modernization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10, at 10 agencies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11, at 10 agencies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Age of those systems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 to 51 years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About 23 to 60 years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Modernization plans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 of 10 agencies lacked complete plans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 of 11 had all key elements; 2 had none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323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Federal IT spending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More than $90 billion planned, FY 2019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About $83 billion (79%) planned for O&amp;M, FY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Eleven box" descr="">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315200" y="1554480"/>
            <a:ext cx="621792" cy="621792"/>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64430" y="1703710"/>
            <a:ext cx="323332" cy="323332"/>
          </a:xfrm>
          <a:prstGeom prst="rect">
            <a:avLst/>
          </a:prstGeom>
        </p:spPr>
      </p:pic>
      <p:sp>
        <p:nvSpPr>
          <p:cNvPr id="9" name="Eleven head"/>
          <p:cNvSpPr txBox="1"/>
          <p:nvPr/>
        </p:nvSpPr>
        <p:spPr>
          <a:xfrm>
            <a:off x="8110728" y="1508760"/>
            <a:ext cx="3429000" cy="731520"/>
          </a:xfrm>
          <a:prstGeom prst="rect">
            <a:avLst/>
          </a:prstGeom>
          <a:noFill/>
          <a:ln/>
        </p:spPr>
        <p:txBody>
          <a:bodyPr wrap="square" lIns="0" tIns="0" rIns="0" bIns="0" rtlCol="0" anchor="ctr"/>
          <a:lstStyle/>
          <a:p>
            <a:pPr indent="0" marL="0">
              <a:buNone/>
            </a:pPr>
            <a:r>
              <a:rPr lang="en-US" sz="1200" b="1" dirty="0">
                <a:solidFill>
                  <a:srgbClr val="64748B"/>
                </a:solidFill>
              </a:rPr>
              <a:t>THE 11 CRITICAL SYSTEMS, 2025</a:t>
            </a:r>
            <a:endParaRPr lang="en-US" sz="1700" dirty="0"/>
          </a:p>
          <a:p>
            <a:pPr indent="0" marL="0">
              <a:buNone/>
            </a:pPr>
            <a:r>
              <a:rPr lang="en-US" sz="1700" b="1" dirty="0">
                <a:solidFill>
                  <a:srgbClr val="B91C1C"/>
                </a:solidFill>
                <a:latin typeface="Cambria" pitchFamily="34" charset="0"/>
                <a:ea typeface="Cambria" pitchFamily="34" charset="-122"/>
                <a:cs typeface="Cambria" pitchFamily="34" charset="-120"/>
              </a:rPr>
              <a:t>About $754 million a year</a:t>
            </a:r>
            <a:endParaRPr lang="en-US" sz="1700" dirty="0"/>
          </a:p>
        </p:txBody>
      </p:sp>
      <p:sp>
        <p:nvSpPr>
          <p:cNvPr id="10" name="Eleven list"/>
          <p:cNvSpPr txBox="1"/>
          <p:nvPr/>
        </p:nvSpPr>
        <p:spPr>
          <a:xfrm>
            <a:off x="7315200" y="2331720"/>
            <a:ext cx="4206240" cy="222199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8 use outdated languages such as COBOL and assembly</a:t>
            </a:r>
            <a:endParaRPr lang="en-US" sz="1350" dirty="0"/>
          </a:p>
          <a:p>
            <a:pPr marL="342900" indent="-342900">
              <a:spcAft>
                <a:spcPts val="600"/>
              </a:spcAft>
              <a:buSzPct val="100000"/>
              <a:buChar char="•"/>
            </a:pPr>
            <a:r>
              <a:rPr lang="en-US" sz="1350" dirty="0">
                <a:solidFill>
                  <a:schemeClr val="tx2"/>
                </a:solidFill>
              </a:rPr>
              <a:t>4 have unsupported hardware or software</a:t>
            </a:r>
            <a:endParaRPr lang="en-US" sz="1350" dirty="0"/>
          </a:p>
          <a:p>
            <a:pPr marL="342900" indent="-342900">
              <a:spcAft>
                <a:spcPts val="600"/>
              </a:spcAft>
              <a:buSzPct val="100000"/>
              <a:buChar char="•"/>
            </a:pPr>
            <a:r>
              <a:rPr lang="en-US" sz="1350" dirty="0">
                <a:solidFill>
                  <a:schemeClr val="tx2"/>
                </a:solidFill>
              </a:rPr>
              <a:t>7 have vulnerabilities only modernization can fix</a:t>
            </a:r>
            <a:endParaRPr lang="en-US" sz="1350" dirty="0"/>
          </a:p>
          <a:p>
            <a:pPr marL="342900" indent="-342900">
              <a:spcAft>
                <a:spcPts val="600"/>
              </a:spcAft>
              <a:buSzPct val="100000"/>
              <a:buChar char="•"/>
            </a:pPr>
            <a:r>
              <a:rPr lang="en-US" sz="1350" dirty="0">
                <a:solidFill>
                  <a:schemeClr val="tx2"/>
                </a:solidFill>
              </a:rPr>
              <a:t>Of 2019's 10, three modernized by February 2025</a:t>
            </a:r>
            <a:endParaRPr lang="en-US" sz="1350" dirty="0"/>
          </a:p>
        </p:txBody>
      </p:sp>
      <p:sp>
        <p:nvSpPr>
          <p:cNvPr id="11" name="Plan"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List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Plan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The gap GAO keeps finding is planning, not technology: </a:t>
            </a:r>
            <a:pPr indent="0" marL="0">
              <a:buNone/>
            </a:pPr>
            <a:r>
              <a:rPr lang="en-US" sz="1650" dirty="0">
                <a:solidFill>
                  <a:schemeClr val="tx2"/>
                </a:solidFill>
              </a:rPr>
              <a:t>milestones, the work to modernize and a disposition for the legacy system, all decided per system. And 11 systems are a sliver of $83 billion: most of the cost sits in ordinary applications.</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GAO-25-107795 (July 17, 2025) and product page (status as of February 2026); GAO-19-471 (June 11, 2019). Book 18,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Big rewrites fail, and policy asks for segments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Fail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WHY BIG-BANG REWRITES FAIL</a:t>
            </a:r>
            <a:endParaRPr lang="en-US" sz="1200" dirty="0"/>
          </a:p>
        </p:txBody>
      </p:sp>
      <p:sp>
        <p:nvSpPr>
          <p:cNvPr id="6" name="Fail 0" descr="">
            <a:extLst>
              <a:ext uri="{C183D7F6-B498-43B3-948B-1728B52AA6E4}">
                <adec:decorative xmlns:adec="http://schemas.microsoft.com/office/drawing/2017/decorative" val="1"/>
              </a:ext>
            </a:extLst>
          </p:cNvPr>
          <p:cNvSpPr/>
          <p:nvPr/>
        </p:nvSpPr>
        <p:spPr>
          <a:xfrm>
            <a:off x="548640" y="1783080"/>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Fail 0 text"/>
          <p:cNvSpPr txBox="1"/>
          <p:nvPr/>
        </p:nvSpPr>
        <p:spPr>
          <a:xfrm>
            <a:off x="731520" y="178308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Value comes last   </a:t>
            </a:r>
            <a:pPr indent="0" marL="0">
              <a:buNone/>
            </a:pPr>
            <a:r>
              <a:rPr lang="en-US" sz="1400" dirty="0">
                <a:solidFill>
                  <a:schemeClr val="tx2"/>
                </a:solidFill>
              </a:rPr>
              <a:t>Nothing ships until cut-over; users wait years</a:t>
            </a:r>
            <a:endParaRPr lang="en-US" sz="1400" dirty="0"/>
          </a:p>
        </p:txBody>
      </p:sp>
      <p:sp>
        <p:nvSpPr>
          <p:cNvPr id="8" name="Fail 1" descr="">
            <a:extLst>
              <a:ext uri="{C183D7F6-B498-43B3-948B-1728B52AA6E4}">
                <adec:decorative xmlns:adec="http://schemas.microsoft.com/office/drawing/2017/decorative" val="1"/>
              </a:ext>
            </a:extLst>
          </p:cNvPr>
          <p:cNvSpPr/>
          <p:nvPr/>
        </p:nvSpPr>
        <p:spPr>
          <a:xfrm>
            <a:off x="548640" y="2514600"/>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Fail 1 text"/>
          <p:cNvSpPr txBox="1"/>
          <p:nvPr/>
        </p:nvSpPr>
        <p:spPr>
          <a:xfrm>
            <a:off x="731520" y="251460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The old system is the spec   </a:t>
            </a:r>
            <a:pPr indent="0" marL="0">
              <a:buNone/>
            </a:pPr>
            <a:r>
              <a:rPr lang="en-US" sz="1400" dirty="0">
                <a:solidFill>
                  <a:schemeClr val="tx2"/>
                </a:solidFill>
              </a:rPr>
              <a:t>Requirements hide in code, data and workarounds</a:t>
            </a:r>
            <a:endParaRPr lang="en-US" sz="1400" dirty="0"/>
          </a:p>
        </p:txBody>
      </p:sp>
      <p:sp>
        <p:nvSpPr>
          <p:cNvPr id="10" name="Fail 2" descr="">
            <a:extLst>
              <a:ext uri="{C183D7F6-B498-43B3-948B-1728B52AA6E4}">
                <adec:decorative xmlns:adec="http://schemas.microsoft.com/office/drawing/2017/decorative" val="1"/>
              </a:ext>
            </a:extLst>
          </p:cNvPr>
          <p:cNvSpPr/>
          <p:nvPr/>
        </p:nvSpPr>
        <p:spPr>
          <a:xfrm>
            <a:off x="548640" y="3246120"/>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Fail 2 text"/>
          <p:cNvSpPr txBox="1"/>
          <p:nvPr/>
        </p:nvSpPr>
        <p:spPr>
          <a:xfrm>
            <a:off x="731520" y="324612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One risky cut-over   </a:t>
            </a:r>
            <a:pPr indent="0" marL="0">
              <a:buNone/>
            </a:pPr>
            <a:r>
              <a:rPr lang="en-US" sz="1400" dirty="0">
                <a:solidFill>
                  <a:schemeClr val="tx2"/>
                </a:solidFill>
              </a:rPr>
              <a:t>One high-stakes switch, no easy way back</a:t>
            </a:r>
            <a:endParaRPr lang="en-US" sz="1400" dirty="0"/>
          </a:p>
        </p:txBody>
      </p:sp>
      <p:sp>
        <p:nvSpPr>
          <p:cNvPr id="12" name="Fail 3" descr="">
            <a:extLst>
              <a:ext uri="{C183D7F6-B498-43B3-948B-1728B52AA6E4}">
                <adec:decorative xmlns:adec="http://schemas.microsoft.com/office/drawing/2017/decorative" val="1"/>
              </a:ext>
            </a:extLst>
          </p:cNvPr>
          <p:cNvSpPr/>
          <p:nvPr/>
        </p:nvSpPr>
        <p:spPr>
          <a:xfrm>
            <a:off x="548640" y="3977640"/>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Fail 3 text"/>
          <p:cNvSpPr txBox="1"/>
          <p:nvPr/>
        </p:nvSpPr>
        <p:spPr>
          <a:xfrm>
            <a:off x="731520" y="397764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The world moves   </a:t>
            </a:r>
            <a:pPr indent="0" marL="0">
              <a:buNone/>
            </a:pPr>
            <a:r>
              <a:rPr lang="en-US" sz="1400" dirty="0">
                <a:solidFill>
                  <a:schemeClr val="tx2"/>
                </a:solidFill>
              </a:rPr>
              <a:t>A decade-long build ships decade-old choices</a:t>
            </a:r>
            <a:endParaRPr lang="en-US" sz="1400" dirty="0"/>
          </a:p>
        </p:txBody>
      </p:sp>
      <p:sp>
        <p:nvSpPr>
          <p:cNvPr id="14" name="Policy box" descr="">
            <a:extLst>
              <a:ext uri="{C183D7F6-B498-43B3-948B-1728B52AA6E4}">
                <adec:decorative xmlns:adec="http://schemas.microsoft.com/office/drawing/2017/decorative" val="1"/>
              </a:ext>
            </a:extLst>
          </p:cNvPr>
          <p:cNvSpPr/>
          <p:nvPr/>
        </p:nvSpPr>
        <p:spPr>
          <a:xfrm>
            <a:off x="6492240" y="1417320"/>
            <a:ext cx="5166360" cy="3246120"/>
          </a:xfrm>
          <a:prstGeom prst="roundRect">
            <a:avLst>
              <a:gd name="adj" fmla="val 225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5" name="Icon FaLandmark" descr="">
            <a:extLst>
              <a:ext uri="{C183D7F6-B498-43B3-948B-1728B52AA6E4}">
                <adec:decorative xmlns:adec="http://schemas.microsoft.com/office/drawing/2017/decorative" val="1"/>
              </a:ext>
            </a:extLst>
          </p:cNvPr>
          <p:cNvSpPr/>
          <p:nvPr/>
        </p:nvSpPr>
        <p:spPr>
          <a:xfrm>
            <a:off x="6720840" y="1600200"/>
            <a:ext cx="621792" cy="621792"/>
          </a:xfrm>
          <a:prstGeom prst="ellipse">
            <a:avLst/>
          </a:prstGeom>
          <a:solidFill>
            <a:srgbClr val="B91C1C"/>
          </a:solidFill>
          <a:ln w="12700">
            <a:solidFill>
              <a:srgbClr val="B91C1C"/>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0070" y="1749430"/>
            <a:ext cx="323332" cy="323332"/>
          </a:xfrm>
          <a:prstGeom prst="rect">
            <a:avLst/>
          </a:prstGeom>
        </p:spPr>
      </p:pic>
      <p:sp>
        <p:nvSpPr>
          <p:cNvPr id="17" name="Policy head"/>
          <p:cNvSpPr txBox="1"/>
          <p:nvPr/>
        </p:nvSpPr>
        <p:spPr>
          <a:xfrm>
            <a:off x="7516368" y="1554480"/>
            <a:ext cx="4023360" cy="731520"/>
          </a:xfrm>
          <a:prstGeom prst="rect">
            <a:avLst/>
          </a:prstGeom>
          <a:noFill/>
          <a:ln/>
        </p:spPr>
        <p:txBody>
          <a:bodyPr wrap="square" lIns="0" tIns="0" rIns="0" bIns="0" rtlCol="0" anchor="ctr"/>
          <a:lstStyle/>
          <a:p>
            <a:pPr indent="0" marL="0">
              <a:buNone/>
            </a:pPr>
            <a:r>
              <a:rPr lang="en-US" sz="1200" b="1" dirty="0">
                <a:solidFill>
                  <a:srgbClr val="64748B"/>
                </a:solidFill>
              </a:rPr>
              <a:t>WHAT FEDERAL POLICY ASKS</a:t>
            </a:r>
            <a:endParaRPr lang="en-US" sz="1700" dirty="0"/>
          </a:p>
          <a:p>
            <a:pPr indent="0" marL="0">
              <a:buNone/>
            </a:pPr>
            <a:r>
              <a:rPr lang="en-US" sz="1700" b="1" dirty="0">
                <a:solidFill>
                  <a:srgbClr val="B91C1C"/>
                </a:solidFill>
                <a:latin typeface="Cambria" pitchFamily="34" charset="0"/>
                <a:ea typeface="Cambria" pitchFamily="34" charset="-122"/>
                <a:cs typeface="Cambria" pitchFamily="34" charset="-120"/>
              </a:rPr>
              <a:t>Useful segments that stand alone</a:t>
            </a:r>
            <a:endParaRPr lang="en-US" sz="1700" dirty="0"/>
          </a:p>
        </p:txBody>
      </p:sp>
      <p:sp>
        <p:nvSpPr>
          <p:cNvPr id="18" name="Policy list"/>
          <p:cNvSpPr txBox="1"/>
          <p:nvPr/>
        </p:nvSpPr>
        <p:spPr>
          <a:xfrm>
            <a:off x="6720840" y="2377440"/>
            <a:ext cx="4800600" cy="2221992"/>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A-130: narrow scope, brief duration for major IT</a:t>
            </a:r>
            <a:endParaRPr lang="en-US" sz="1400" dirty="0"/>
          </a:p>
          <a:p>
            <a:pPr marL="342900" indent="-342900">
              <a:spcAft>
                <a:spcPts val="600"/>
              </a:spcAft>
              <a:buSzPct val="100000"/>
              <a:buChar char="•"/>
            </a:pPr>
            <a:r>
              <a:rPr lang="en-US" sz="1400" dirty="0">
                <a:solidFill>
                  <a:schemeClr val="tx2"/>
                </a:solidFill>
              </a:rPr>
              <a:t>Modular contracts within 180 days; IT within 18 months</a:t>
            </a:r>
            <a:endParaRPr lang="en-US" sz="1400" dirty="0"/>
          </a:p>
          <a:p>
            <a:pPr marL="342900" indent="-342900">
              <a:spcAft>
                <a:spcPts val="600"/>
              </a:spcAft>
              <a:buSzPct val="100000"/>
              <a:buChar char="•"/>
            </a:pPr>
            <a:r>
              <a:rPr lang="en-US" sz="1400" dirty="0">
                <a:solidFill>
                  <a:schemeClr val="tx2"/>
                </a:solidFill>
              </a:rPr>
              <a:t>FAR 39.103: each increment a workable system</a:t>
            </a:r>
            <a:endParaRPr lang="en-US" sz="1400" dirty="0"/>
          </a:p>
          <a:p>
            <a:pPr marL="342900" indent="-342900">
              <a:spcAft>
                <a:spcPts val="600"/>
              </a:spcAft>
              <a:buSzPct val="100000"/>
              <a:buChar char="•"/>
            </a:pPr>
            <a:r>
              <a:rPr lang="en-US" sz="1400" dirty="0">
                <a:solidFill>
                  <a:schemeClr val="tx2"/>
                </a:solidFill>
              </a:rPr>
              <a:t>A-130: a disposition for every system in the EA</a:t>
            </a:r>
            <a:endParaRPr lang="en-US" sz="1400" dirty="0"/>
          </a:p>
        </p:txBody>
      </p:sp>
      <p:sp>
        <p:nvSpPr>
          <p:cNvPr id="19" name="Unit" desc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0" name="Icon FaCubes"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91C1C"/>
          </a:solidFill>
          <a:ln w="12700">
            <a:solidFill>
              <a:srgbClr val="B91C1C"/>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27625"/>
            <a:ext cx="380390" cy="380390"/>
          </a:xfrm>
          <a:prstGeom prst="rect">
            <a:avLst/>
          </a:prstGeom>
        </p:spPr>
      </p:pic>
      <p:sp>
        <p:nvSpPr>
          <p:cNvPr id="22" name="Unit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B91C1C"/>
                </a:solidFill>
              </a:rPr>
              <a:t>The unit of decision is the application: </a:t>
            </a:r>
            <a:pPr indent="0" marL="0">
              <a:buNone/>
            </a:pPr>
            <a:r>
              <a:rPr lang="en-US" sz="1650" dirty="0">
                <a:solidFill>
                  <a:schemeClr val="tx2"/>
                </a:solidFill>
              </a:rPr>
              <a:t>it has a mission owner, a data set, a code base, dependencies and an authorization boundary. A program is too coarse, and a platform treats a hundred applications as one.</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GAO-25-107795; Martin Fowler, “Strangler Fig” (2024); OMB Circular A-130 §5.a and §5.d; FAR 48 CFR 39.103 (FAC 2026-01). Book 18,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Triage every application into one of six</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wo-by-two grid of cards under a note saying that rows are mission value, high above low, and columns are technical health, poor on the left and good on the right. Top left, high value and poor health: a blue card, replatform, refactor or rebuild; replatform when the platform is the problem and the code is sound, refactor or rebuild when the code is the problem. Top right, high value and good health: a green card, retain or rehost; keep it with a review date, and rehost only if its platform is being exited. Bottom left, low value and poor health: a red card, retire first, the cheapest modernization there is. Bottom right, low value and good health: a slate card, retain, or retire when convenient, retire if a product or shared service does the job. A violet note under the grid reads: dependencies decide the order, not the disposition.">    </p:cNvPr>
          <p:cNvPicPr>
            <a:picLocks noChangeAspect="1"/>
          </p:cNvPicPr>
          <p:nvPr/>
        </p:nvPicPr>
        <p:blipFill>
          <a:blip r:embed="rId1"/>
          <a:stretch>
            <a:fillRect/>
          </a:stretch>
        </p:blipFill>
        <p:spPr>
          <a:xfrm>
            <a:off x="548640" y="1403940"/>
            <a:ext cx="5760720" cy="3227159"/>
          </a:xfrm>
          <a:prstGeom prst="rect">
            <a:avLst/>
          </a:prstGeom>
        </p:spPr>
      </p:pic>
      <p:sp>
        <p:nvSpPr>
          <p:cNvPr id="6" name="Rules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Filter" descr="">
            <a:extLst>
              <a:ext uri="{C183D7F6-B498-43B3-948B-1728B52AA6E4}">
                <adec:decorative xmlns:adec="http://schemas.microsoft.com/office/drawing/2017/decorative" val="1"/>
              </a:ext>
            </a:extLst>
          </p:cNvPr>
          <p:cNvSpPr/>
          <p:nvPr/>
        </p:nvSpPr>
        <p:spPr>
          <a:xfrm>
            <a:off x="6720840" y="1554480"/>
            <a:ext cx="621792" cy="621792"/>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70070" y="1703710"/>
            <a:ext cx="323332" cy="323332"/>
          </a:xfrm>
          <a:prstGeom prst="rect">
            <a:avLst/>
          </a:prstGeom>
        </p:spPr>
      </p:pic>
      <p:sp>
        <p:nvSpPr>
          <p:cNvPr id="9" name="Rules head"/>
          <p:cNvSpPr txBox="1"/>
          <p:nvPr/>
        </p:nvSpPr>
        <p:spPr>
          <a:xfrm>
            <a:off x="7516368" y="1508760"/>
            <a:ext cx="4023360" cy="731520"/>
          </a:xfrm>
          <a:prstGeom prst="rect">
            <a:avLst/>
          </a:prstGeom>
          <a:noFill/>
          <a:ln/>
        </p:spPr>
        <p:txBody>
          <a:bodyPr wrap="square" lIns="0" tIns="0" rIns="0" bIns="0" rtlCol="0" anchor="ctr"/>
          <a:lstStyle/>
          <a:p>
            <a:pPr indent="0" marL="0">
              <a:buNone/>
            </a:pPr>
            <a:r>
              <a:rPr lang="en-US" sz="1200" b="1" dirty="0">
                <a:solidFill>
                  <a:srgbClr val="64748B"/>
                </a:solidFill>
              </a:rPr>
              <a:t>THE DECISION TABLE (PROGRAM DESIGN)</a:t>
            </a:r>
            <a:endParaRPr lang="en-US" sz="1700" dirty="0"/>
          </a:p>
          <a:p>
            <a:pPr indent="0" marL="0">
              <a:buNone/>
            </a:pPr>
            <a:r>
              <a:rPr lang="en-US" sz="1700" b="1" dirty="0">
                <a:solidFill>
                  <a:srgbClr val="1F2A44"/>
                </a:solidFill>
                <a:latin typeface="Cambria" pitchFamily="34" charset="0"/>
                <a:ea typeface="Cambria" pitchFamily="34" charset="-122"/>
                <a:cs typeface="Cambria" pitchFamily="34" charset="-120"/>
              </a:rPr>
              <a:t>First matching rule wins</a:t>
            </a:r>
            <a:endParaRPr lang="en-US" sz="1700" dirty="0"/>
          </a:p>
        </p:txBody>
      </p:sp>
      <p:sp>
        <p:nvSpPr>
          <p:cNvPr id="10" name="Rules list"/>
          <p:cNvSpPr txBox="1"/>
          <p:nvPr/>
        </p:nvSpPr>
        <p:spPr>
          <a:xfrm>
            <a:off x="6720840" y="2331720"/>
            <a:ext cx="480060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Low value, or a service already does it: retire</a:t>
            </a:r>
            <a:endParaRPr lang="en-US" sz="1300" dirty="0"/>
          </a:p>
          <a:p>
            <a:pPr marL="342900" indent="-342900">
              <a:spcAft>
                <a:spcPts val="600"/>
              </a:spcAft>
              <a:buSzPct val="100000"/>
              <a:buChar char="•"/>
            </a:pPr>
            <a:r>
              <a:rPr lang="en-US" sz="1300" dirty="0">
                <a:solidFill>
                  <a:schemeClr val="tx2"/>
                </a:solidFill>
              </a:rPr>
              <a:t>Healthy, no platform exit: retain, with a date</a:t>
            </a:r>
            <a:endParaRPr lang="en-US" sz="1300" dirty="0"/>
          </a:p>
          <a:p>
            <a:pPr marL="342900" indent="-342900">
              <a:spcAft>
                <a:spcPts val="600"/>
              </a:spcAft>
              <a:buSzPct val="100000"/>
              <a:buChar char="•"/>
            </a:pPr>
            <a:r>
              <a:rPr lang="en-US" sz="1300" dirty="0">
                <a:solidFill>
                  <a:schemeClr val="tx2"/>
                </a:solidFill>
              </a:rPr>
              <a:t>Healthy, platform being exited: rehost</a:t>
            </a:r>
            <a:endParaRPr lang="en-US" sz="1300" dirty="0"/>
          </a:p>
          <a:p>
            <a:pPr marL="342900" indent="-342900">
              <a:spcAft>
                <a:spcPts val="600"/>
              </a:spcAft>
              <a:buSzPct val="100000"/>
              <a:buChar char="•"/>
            </a:pPr>
            <a:r>
              <a:rPr lang="en-US" sz="1300" dirty="0">
                <a:solidFill>
                  <a:schemeClr val="tx2"/>
                </a:solidFill>
              </a:rPr>
              <a:t>Code sound, platform unsupported: replatform</a:t>
            </a:r>
            <a:endParaRPr lang="en-US" sz="1300" dirty="0"/>
          </a:p>
          <a:p>
            <a:pPr marL="342900" indent="-342900">
              <a:spcAft>
                <a:spcPts val="600"/>
              </a:spcAft>
              <a:buSzPct val="100000"/>
              <a:buChar char="•"/>
            </a:pPr>
            <a:r>
              <a:rPr lang="en-US" sz="1300" dirty="0">
                <a:solidFill>
                  <a:schemeClr val="tx2"/>
                </a:solidFill>
              </a:rPr>
              <a:t>Code is the problem: refactor, or rebuild in increments</a:t>
            </a:r>
            <a:endParaRPr lang="en-US" sz="1300" dirty="0"/>
          </a:p>
          <a:p>
            <a:pPr marL="342900" indent="-342900">
              <a:spcAft>
                <a:spcPts val="600"/>
              </a:spcAft>
              <a:buSzPct val="100000"/>
              <a:buChar char="•"/>
            </a:pPr>
            <a:r>
              <a:rPr lang="en-US" sz="1300" dirty="0">
                <a:solidFill>
                  <a:schemeClr val="tx2"/>
                </a:solidFill>
              </a:rPr>
              <a:t>High-impact or contested: deep study first</a:t>
            </a:r>
            <a:endParaRPr lang="en-US" sz="1300" dirty="0"/>
          </a:p>
        </p:txBody>
      </p:sp>
      <p:sp>
        <p:nvSpPr>
          <p:cNvPr id="11" name="Scor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TableList"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Scor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Score from data; study only the exceptions: </a:t>
            </a:r>
            <a:pPr indent="0" marL="0">
              <a:buNone/>
            </a:pPr>
            <a:r>
              <a:rPr lang="en-US" sz="1650" dirty="0">
                <a:solidFill>
                  <a:schemeClr val="tx2"/>
                </a:solidFill>
              </a:rPr>
              <a:t>six criteria scored 1 to 5 from data the agency already holds, such as FIPS 199 impact and support dates. Owners confirm or contest, and the rubric is first calibrated on 30 to 50 known applications.</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Circular A-130; NIST FIPS 199; GAO-25-107795; AWS 7 Rs; Microsoft Cloud Adoption Framework and 6 Rs guidance; 40 U.S.C. §11312. Book 18,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target architecture, replaced piece by piece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280160"/>
                <a:gridCol w="2377440"/>
                <a:gridCol w="265176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Layer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Program's choice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As of October 28,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Services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Java LTS with Spring Boot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Java 25 is LTS; Spring Boot 4.1 current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Front ends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React, kept thin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React 19.3 (September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Thin layers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Node.js, LTS releases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Node.js 26 enters LTS October 28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Contracts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OpenAPI, written first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OpenAPI 3.2.1 (September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Platform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OCI images on Kubernetes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Kubernetes 1.37 the newest minor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Data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PostgreSQL or SQL Server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Chapter 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ig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RightLeft" descr="">
            <a:extLst>
              <a:ext uri="{C183D7F6-B498-43B3-948B-1728B52AA6E4}">
                <adec:decorative xmlns:adec="http://schemas.microsoft.com/office/drawing/2017/decorative" val="1"/>
              </a:ext>
            </a:extLst>
          </p:cNvPr>
          <p:cNvSpPr/>
          <p:nvPr/>
        </p:nvSpPr>
        <p:spPr>
          <a:xfrm>
            <a:off x="7315200" y="1554480"/>
            <a:ext cx="621792" cy="621792"/>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64430" y="1703710"/>
            <a:ext cx="323332" cy="323332"/>
          </a:xfrm>
          <a:prstGeom prst="rect">
            <a:avLst/>
          </a:prstGeom>
        </p:spPr>
      </p:pic>
      <p:sp>
        <p:nvSpPr>
          <p:cNvPr id="9" name="Fig head"/>
          <p:cNvSpPr txBox="1"/>
          <p:nvPr/>
        </p:nvSpPr>
        <p:spPr>
          <a:xfrm>
            <a:off x="8110728" y="1508760"/>
            <a:ext cx="3429000" cy="731520"/>
          </a:xfrm>
          <a:prstGeom prst="rect">
            <a:avLst/>
          </a:prstGeom>
          <a:noFill/>
          <a:ln/>
        </p:spPr>
        <p:txBody>
          <a:bodyPr wrap="square" lIns="0" tIns="0" rIns="0" bIns="0" rtlCol="0" anchor="ctr"/>
          <a:lstStyle/>
          <a:p>
            <a:pPr indent="0" marL="0">
              <a:buNone/>
            </a:pPr>
            <a:r>
              <a:rPr lang="en-US" sz="1200" b="1" dirty="0">
                <a:solidFill>
                  <a:srgbClr val="64748B"/>
                </a:solidFill>
              </a:rPr>
              <a:t>REFACTOR WITH THE STRANGLER FIG</a:t>
            </a:r>
            <a:endParaRPr lang="en-US" sz="1700" dirty="0"/>
          </a:p>
          <a:p>
            <a:pPr indent="0" marL="0">
              <a:buNone/>
            </a:pPr>
            <a:r>
              <a:rPr lang="en-US" sz="1700" b="1" dirty="0">
                <a:solidFill>
                  <a:srgbClr val="1F2A44"/>
                </a:solidFill>
                <a:latin typeface="Cambria" pitchFamily="34" charset="0"/>
                <a:ea typeface="Cambria" pitchFamily="34" charset="-122"/>
                <a:cs typeface="Cambria" pitchFamily="34" charset="-120"/>
              </a:rPr>
              <a:t>Replace it piece by piece</a:t>
            </a:r>
            <a:endParaRPr lang="en-US" sz="1700" dirty="0"/>
          </a:p>
        </p:txBody>
      </p:sp>
      <p:sp>
        <p:nvSpPr>
          <p:cNvPr id="10" name="Fig list"/>
          <p:cNvSpPr txBox="1"/>
          <p:nvPr/>
        </p:nvSpPr>
        <p:spPr>
          <a:xfrm>
            <a:off x="7315200" y="2331720"/>
            <a:ext cx="4206240" cy="226771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façade routes each request to legacy or new</a:t>
            </a:r>
            <a:endParaRPr lang="en-US" sz="1350" dirty="0"/>
          </a:p>
          <a:p>
            <a:pPr marL="342900" indent="-342900">
              <a:spcAft>
                <a:spcPts val="600"/>
              </a:spcAft>
              <a:buSzPct val="100000"/>
              <a:buChar char="•"/>
            </a:pPr>
            <a:r>
              <a:rPr lang="en-US" sz="1350" dirty="0">
                <a:solidFill>
                  <a:schemeClr val="tx2"/>
                </a:solidFill>
              </a:rPr>
              <a:t>Functions move one at a time, same contract</a:t>
            </a:r>
            <a:endParaRPr lang="en-US" sz="1350" dirty="0"/>
          </a:p>
          <a:p>
            <a:pPr marL="342900" indent="-342900">
              <a:spcAft>
                <a:spcPts val="600"/>
              </a:spcAft>
              <a:buSzPct val="100000"/>
              <a:buChar char="•"/>
            </a:pPr>
            <a:r>
              <a:rPr lang="en-US" sz="1350" dirty="0">
                <a:solidFill>
                  <a:schemeClr val="tx2"/>
                </a:solidFill>
              </a:rPr>
              <a:t>An anti-corruption layer translates between them</a:t>
            </a:r>
            <a:endParaRPr lang="en-US" sz="1350" dirty="0"/>
          </a:p>
          <a:p>
            <a:pPr marL="342900" indent="-342900">
              <a:spcAft>
                <a:spcPts val="600"/>
              </a:spcAft>
              <a:buSzPct val="100000"/>
              <a:buChar char="•"/>
            </a:pPr>
            <a:r>
              <a:rPr lang="en-US" sz="1350" dirty="0">
                <a:solidFill>
                  <a:schemeClr val="tx2"/>
                </a:solidFill>
              </a:rPr>
              <a:t>Rollback holds until the legacy objects go</a:t>
            </a:r>
            <a:endParaRPr lang="en-US" sz="1350" dirty="0"/>
          </a:p>
        </p:txBody>
      </p:sp>
      <p:sp>
        <p:nvSpPr>
          <p:cNvPr id="11" name="Cadenc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ArrowsRotat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Cadenc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Fund the upgrade cadence: </a:t>
            </a:r>
            <a:pPr indent="0" marL="0">
              <a:buNone/>
            </a:pPr>
            <a:r>
              <a:rPr lang="en-US" sz="1650" dirty="0">
                <a:solidFill>
                  <a:schemeClr val="tx2"/>
                </a:solidFill>
              </a:rPr>
              <a:t>recent Spring Boot generations get about thirteen months of open-source support, and 4.0's ends December 31, 2026. The stack is the program's design: no federal rule names a language, and an agency can substitute its own list.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OpenJDK; Spring Boot generations and requirements; React; Node.js schedule; OpenAPI 3.2.1; OCI; Kubernetes; Azure Architecture Center. Book 18,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Move the data once, and prove nothing was lost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flow. A slate card at the top: the source database, DB2 or Oracle, with tables, stored procedures, packages and sequences. A blue arrow leads to a blue card, Convert the schema: type mapping, sequences and identity, procedures and packages, using a conversion tool and then human review. Next a blue card, Move the rows: a full load, then change data capture or delta loads while both systems run. Next a violet card, Prove the result, with three items: row counts per table, an order-independent checksum over canonicalized rows, and an independent aggregate reconciliation. An amber card, Cut-over decision, follows, offering big-bang, phased or parallel run. A green card at the bottom: the target, PostgreSQL or SQL Server, as the system of record. A dashed red arrow from Prove the result back to Convert the schema is labeled any mismatch: fix and rerun.">    </p:cNvPr>
          <p:cNvPicPr>
            <a:picLocks noChangeAspect="1"/>
          </p:cNvPicPr>
          <p:nvPr/>
        </p:nvPicPr>
        <p:blipFill>
          <a:blip r:embed="rId1"/>
          <a:stretch>
            <a:fillRect/>
          </a:stretch>
        </p:blipFill>
        <p:spPr>
          <a:xfrm>
            <a:off x="608798" y="1371600"/>
            <a:ext cx="3811604" cy="329184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663440" y="1371600"/>
          <a:ext cx="6995160" cy="914400"/>
        </p:xfrm>
        <a:graphic>
          <a:graphicData uri="http://schemas.openxmlformats.org/drawingml/2006/table">
            <a:tbl>
              <a:tblPr firstRow="1" bandRow="1"/>
              <a:tblGrid>
                <a:gridCol w="2103120"/>
                <a:gridCol w="2377440"/>
                <a:gridCol w="251460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Check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catches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can miss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Row counts per table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Missing or duplicated rows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Rows that arrived with wrong values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Checksum over canonical rows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Any changed value, in any order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wrong transform it shares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Independent aggregates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Business totals that disagree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Errors that cancel out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Traps box" descr="">
            <a:extLst>
              <a:ext uri="{C183D7F6-B498-43B3-948B-1728B52AA6E4}">
                <adec:decorative xmlns:adec="http://schemas.microsoft.com/office/drawing/2017/decorative" val="1"/>
              </a:ext>
            </a:extLst>
          </p:cNvPr>
          <p:cNvSpPr/>
          <p:nvPr/>
        </p:nvSpPr>
        <p:spPr>
          <a:xfrm>
            <a:off x="4663440" y="3401568"/>
            <a:ext cx="6995160" cy="1280160"/>
          </a:xfrm>
          <a:prstGeom prst="roundRect">
            <a:avLst>
              <a:gd name="adj" fmla="val 571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con FaDatabase" descr="">
            <a:extLst>
              <a:ext uri="{C183D7F6-B498-43B3-948B-1728B52AA6E4}">
                <adec:decorative xmlns:adec="http://schemas.microsoft.com/office/drawing/2017/decorative" val="1"/>
              </a:ext>
            </a:extLst>
          </p:cNvPr>
          <p:cNvSpPr/>
          <p:nvPr/>
        </p:nvSpPr>
        <p:spPr>
          <a:xfrm>
            <a:off x="4846320" y="3639312"/>
            <a:ext cx="621792" cy="621792"/>
          </a:xfrm>
          <a:prstGeom prst="ellipse">
            <a:avLst/>
          </a:prstGeom>
          <a:solidFill>
            <a:srgbClr val="1F2A44"/>
          </a:solidFill>
          <a:ln w="12700">
            <a:solidFill>
              <a:srgbClr val="1F2A44"/>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995550" y="3788542"/>
            <a:ext cx="323332" cy="323332"/>
          </a:xfrm>
          <a:prstGeom prst="rect">
            <a:avLst/>
          </a:prstGeom>
        </p:spPr>
      </p:pic>
      <p:sp>
        <p:nvSpPr>
          <p:cNvPr id="10" name="Traps text"/>
          <p:cNvSpPr txBox="1"/>
          <p:nvPr/>
        </p:nvSpPr>
        <p:spPr>
          <a:xfrm>
            <a:off x="5623560" y="3474720"/>
            <a:ext cx="5943600" cy="1143000"/>
          </a:xfrm>
          <a:prstGeom prst="rect">
            <a:avLst/>
          </a:prstGeom>
          <a:noFill/>
          <a:ln/>
        </p:spPr>
        <p:txBody>
          <a:bodyPr wrap="square" lIns="0" tIns="0" rIns="0" bIns="0" rtlCol="0" anchor="ctr"/>
          <a:lstStyle/>
          <a:p>
            <a:pPr indent="0" marL="0">
              <a:buNone/>
            </a:pPr>
            <a:r>
              <a:rPr lang="en-US" sz="1600" b="1" dirty="0">
                <a:solidFill>
                  <a:srgbClr val="1F2A44"/>
                </a:solidFill>
                <a:latin typeface="Cambria" pitchFamily="34" charset="0"/>
                <a:ea typeface="Cambria" pitchFamily="34" charset="-122"/>
                <a:cs typeface="Cambria" pitchFamily="34" charset="-120"/>
              </a:rPr>
              <a:t>Where meaning changes silently</a:t>
            </a:r>
            <a:endParaRPr lang="en-US" sz="1350" dirty="0"/>
          </a:p>
          <a:p>
            <a:pPr marL="342900" indent="-342900">
              <a:buSzPct val="100000"/>
              <a:buChar char="•"/>
            </a:pPr>
            <a:r>
              <a:rPr lang="en-US" sz="1350" dirty="0">
                <a:solidFill>
                  <a:schemeClr val="tx2"/>
                </a:solidFill>
              </a:rPr>
              <a:t>Oracle DATE mapped to a date-only type drops the time of day</a:t>
            </a:r>
            <a:endParaRPr lang="en-US" sz="1350" dirty="0"/>
          </a:p>
          <a:p>
            <a:pPr marL="342900" indent="-342900">
              <a:buSzPct val="100000"/>
              <a:buChar char="•"/>
            </a:pPr>
            <a:r>
              <a:rPr lang="en-US" sz="1350" dirty="0">
                <a:solidFill>
                  <a:schemeClr val="tx2"/>
                </a:solidFill>
              </a:rPr>
              <a:t>Sequences aren't gapless; advance them past the highest key</a:t>
            </a:r>
            <a:endParaRPr lang="en-US" sz="1350" dirty="0"/>
          </a:p>
        </p:txBody>
      </p:sp>
      <p:sp>
        <p:nvSpPr>
          <p:cNvPr id="11" name="Write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PlugCircleXmar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Writer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One writer per table; never dual-write: </a:t>
            </a:r>
            <a:pPr indent="0" marL="0">
              <a:buNone/>
            </a:pPr>
            <a:r>
              <a:rPr lang="en-US" sz="1650" dirty="0">
                <a:solidFill>
                  <a:schemeClr val="tx2"/>
                </a:solidFill>
              </a:rPr>
              <a:t>coexistence runs through change data capture or delta loads. Two writes don't share a transaction, so the stores drift. AWS DMS offers no change data capture for Db2 for z/OS as a source.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Oracle SQL Reference 23ai; PostgreSQL 18 docs; AWS DMS User Guide (validation, replication, Db2 for z/OS); Azure Architecture Center. Book 18,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AI joins with an identity, an owner and no write power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flow. A blue card, Agent identity: agent ID, human sponsor and allowed tools, leads to a slate card, Agent loop: the model proposes the next tool call. Next a violet card, Step limit check, with a dashed red arrow labeled limit reached to a red card, Stop and audit. Under the limit, the flow reaches a violet card, Allow-list check: is this tool on this agent's list? A dashed red arrow labeled not allowed leads to a red card, Denied and audited. A green arrow labeled read leads to a green card, Read tool runs with least privilege. An amber arrow labeled changes a record leads to an amber card, propose_action: records a PENDING proposal and changes nothing; from it a violet card, Human approval, then a green card, Service applies the change under its own authorization and rules. Dashed violet arrows from the read tool and from the applied change lead to a violet card at the bottom, Audit log: every call, denial, proposal and decision.">    </p:cNvPr>
          <p:cNvPicPr>
            <a:picLocks noChangeAspect="1"/>
          </p:cNvPicPr>
          <p:nvPr/>
        </p:nvPicPr>
        <p:blipFill>
          <a:blip r:embed="rId1"/>
          <a:stretch>
            <a:fillRect/>
          </a:stretch>
        </p:blipFill>
        <p:spPr>
          <a:xfrm>
            <a:off x="617325" y="1371600"/>
            <a:ext cx="3977430" cy="3291840"/>
          </a:xfrm>
          <a:prstGeom prst="rect">
            <a:avLst/>
          </a:prstGeom>
        </p:spPr>
      </p:pic>
      <p:sp>
        <p:nvSpPr>
          <p:cNvPr id="6" name="Fits box" descr="">
            <a:extLst>
              <a:ext uri="{C183D7F6-B498-43B3-948B-1728B52AA6E4}">
                <adec:decorative xmlns:adec="http://schemas.microsoft.com/office/drawing/2017/decorative" val="1"/>
              </a:ext>
            </a:extLst>
          </p:cNvPr>
          <p:cNvSpPr/>
          <p:nvPr/>
        </p:nvSpPr>
        <p:spPr>
          <a:xfrm>
            <a:off x="4892040" y="1371600"/>
            <a:ext cx="67665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UserShield" descr="">
            <a:extLst>
              <a:ext uri="{C183D7F6-B498-43B3-948B-1728B52AA6E4}">
                <adec:decorative xmlns:adec="http://schemas.microsoft.com/office/drawing/2017/decorative" val="1"/>
              </a:ext>
            </a:extLst>
          </p:cNvPr>
          <p:cNvSpPr/>
          <p:nvPr/>
        </p:nvSpPr>
        <p:spPr>
          <a:xfrm>
            <a:off x="5120640" y="1554480"/>
            <a:ext cx="621792" cy="621792"/>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269870" y="1703710"/>
            <a:ext cx="323332" cy="323332"/>
          </a:xfrm>
          <a:prstGeom prst="rect">
            <a:avLst/>
          </a:prstGeom>
        </p:spPr>
      </p:pic>
      <p:sp>
        <p:nvSpPr>
          <p:cNvPr id="9" name="Fits head"/>
          <p:cNvSpPr txBox="1"/>
          <p:nvPr/>
        </p:nvSpPr>
        <p:spPr>
          <a:xfrm>
            <a:off x="5916168" y="1508760"/>
            <a:ext cx="5623560" cy="731520"/>
          </a:xfrm>
          <a:prstGeom prst="rect">
            <a:avLst/>
          </a:prstGeom>
          <a:noFill/>
          <a:ln/>
        </p:spPr>
        <p:txBody>
          <a:bodyPr wrap="square" lIns="0" tIns="0" rIns="0" bIns="0" rtlCol="0" anchor="ctr"/>
          <a:lstStyle/>
          <a:p>
            <a:pPr indent="0" marL="0">
              <a:buNone/>
            </a:pPr>
            <a:r>
              <a:rPr lang="en-US" sz="1200" b="1" dirty="0">
                <a:solidFill>
                  <a:srgbClr val="64748B"/>
                </a:solidFill>
              </a:rPr>
              <a:t>FOUR PLACES AI FITS, BY WHAT EACH CAN CHANGE</a:t>
            </a:r>
            <a:endParaRPr lang="en-US" sz="1700" dirty="0"/>
          </a:p>
          <a:p>
            <a:pPr indent="0" marL="0">
              <a:buNone/>
            </a:pPr>
            <a:r>
              <a:rPr lang="en-US" sz="1700" b="1" dirty="0">
                <a:solidFill>
                  <a:srgbClr val="1F2A44"/>
                </a:solidFill>
                <a:latin typeface="Cambria" pitchFamily="34" charset="0"/>
                <a:ea typeface="Cambria" pitchFamily="34" charset="-122"/>
                <a:cs typeface="Cambria" pitchFamily="34" charset="-120"/>
              </a:rPr>
              <a:t>A model is a component behind one interface</a:t>
            </a:r>
            <a:endParaRPr lang="en-US" sz="1700" dirty="0"/>
          </a:p>
        </p:txBody>
      </p:sp>
      <p:sp>
        <p:nvSpPr>
          <p:cNvPr id="10" name="Fits list"/>
          <p:cNvSpPr txBox="1"/>
          <p:nvPr/>
        </p:nvSpPr>
        <p:spPr>
          <a:xfrm>
            <a:off x="5120640" y="2331720"/>
            <a:ext cx="6400800" cy="2267712"/>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Assistive feature: changes nothing; a person accepts or edits</a:t>
            </a:r>
            <a:endParaRPr lang="en-US" sz="1400" dirty="0"/>
          </a:p>
          <a:p>
            <a:pPr marL="342900" indent="-342900">
              <a:spcAft>
                <a:spcPts val="600"/>
              </a:spcAft>
              <a:buSzPct val="100000"/>
              <a:buChar char="•"/>
            </a:pPr>
            <a:r>
              <a:rPr lang="en-US" sz="1400" dirty="0">
                <a:solidFill>
                  <a:schemeClr val="tx2"/>
                </a:solidFill>
              </a:rPr>
              <a:t>Retrieval: answers only with the caller's own permissions</a:t>
            </a:r>
            <a:endParaRPr lang="en-US" sz="1400" dirty="0"/>
          </a:p>
          <a:p>
            <a:pPr marL="342900" indent="-342900">
              <a:spcAft>
                <a:spcPts val="600"/>
              </a:spcAft>
              <a:buSzPct val="100000"/>
              <a:buChar char="•"/>
            </a:pPr>
            <a:r>
              <a:rPr lang="en-US" sz="1400" dirty="0">
                <a:solidFill>
                  <a:schemeClr val="tx2"/>
                </a:solidFill>
              </a:rPr>
              <a:t>Code modernization help: a draft through review and tests</a:t>
            </a:r>
            <a:endParaRPr lang="en-US" sz="1400" dirty="0"/>
          </a:p>
          <a:p>
            <a:pPr marL="342900" indent="-342900">
              <a:spcAft>
                <a:spcPts val="600"/>
              </a:spcAft>
              <a:buSzPct val="100000"/>
              <a:buChar char="•"/>
            </a:pPr>
            <a:r>
              <a:rPr lang="en-US" sz="1400" dirty="0">
                <a:solidFill>
                  <a:schemeClr val="tx2"/>
                </a:solidFill>
              </a:rPr>
              <a:t>Agent that calls tools: an allow-list, a step limit, an audit trail</a:t>
            </a:r>
            <a:endParaRPr lang="en-US" sz="1400" dirty="0"/>
          </a:p>
          <a:p>
            <a:pPr marL="342900" indent="-342900">
              <a:spcAft>
                <a:spcPts val="600"/>
              </a:spcAft>
              <a:buSzPct val="100000"/>
              <a:buChar char="•"/>
            </a:pPr>
            <a:r>
              <a:rPr lang="en-US" sz="1400" dirty="0">
                <a:solidFill>
                  <a:schemeClr val="tx2"/>
                </a:solidFill>
              </a:rPr>
              <a:t>Changes to records: proposals a person approves</a:t>
            </a:r>
            <a:endParaRPr lang="en-US" sz="1400" dirty="0"/>
          </a:p>
        </p:txBody>
      </p:sp>
      <p:sp>
        <p:nvSpPr>
          <p:cNvPr id="11" name="Writ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Lo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Writ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No agent writes to a system of record: </a:t>
            </a:r>
            <a:pPr indent="0" marL="0">
              <a:buNone/>
            </a:pPr>
            <a:r>
              <a:rPr lang="en-US" sz="1650" dirty="0">
                <a:solidFill>
                  <a:schemeClr val="tx2"/>
                </a:solidFill>
              </a:rPr>
              <a:t>agents read and propose, people approve, services apply. Prompt injection has no fool-proof prevention, so the guardrails live outside the model: in the host and the systems behind each tool.</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OWASP Top 10 for LLM Applications 2025 (LLM01, LLM06, LLM10); NIST AI 600-1; MCP specification 2026-07-28; OMB M-25-21, M-25-22. Book 18,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Compliance by design: the platform carries controls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TriangleExclamation" descr="">
            <a:extLst>
              <a:ext uri="{C183D7F6-B498-43B3-948B-1728B52AA6E4}">
                <adec:decorative xmlns:adec="http://schemas.microsoft.com/office/drawing/2017/decorative" val="1"/>
              </a:ext>
            </a:extLst>
          </p:cNvPr>
          <p:cNvSpPr/>
          <p:nvPr/>
        </p:nvSpPr>
        <p:spPr>
          <a:xfrm>
            <a:off x="749808" y="1517904"/>
            <a:ext cx="566928" cy="566928"/>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53967"/>
            <a:ext cx="294803" cy="294803"/>
          </a:xfrm>
          <a:prstGeom prst="rect">
            <a:avLst/>
          </a:prstGeom>
        </p:spPr>
      </p:pic>
      <p:sp>
        <p:nvSpPr>
          <p:cNvPr id="8" name="Card head 1"/>
          <p:cNvSpPr txBox="1"/>
          <p:nvPr/>
        </p:nvSpPr>
        <p:spPr>
          <a:xfrm>
            <a:off x="1463040" y="1481328"/>
            <a:ext cx="2606040" cy="731520"/>
          </a:xfrm>
          <a:prstGeom prst="rect">
            <a:avLst/>
          </a:prstGeom>
          <a:noFill/>
          <a:ln/>
        </p:spPr>
        <p:txBody>
          <a:bodyPr wrap="square" lIns="0" tIns="0" rIns="0" bIns="0" rtlCol="0" anchor="ctr"/>
          <a:lstStyle/>
          <a:p>
            <a:pPr indent="0" marL="0">
              <a:buNone/>
            </a:pPr>
            <a:r>
              <a:rPr lang="en-US" sz="1200" b="1" dirty="0">
                <a:solidFill>
                  <a:srgbClr val="64748B"/>
                </a:solidFill>
              </a:rPr>
              <a:t>LEGACY IS A FINDING</a:t>
            </a:r>
            <a:endParaRPr lang="en-US" sz="1700" dirty="0"/>
          </a:p>
          <a:p>
            <a:pPr indent="0" marL="0">
              <a:buNone/>
            </a:pPr>
            <a:r>
              <a:rPr lang="en-US" sz="1700" b="1" dirty="0">
                <a:solidFill>
                  <a:srgbClr val="B91C1C"/>
                </a:solidFill>
                <a:latin typeface="Cambria" pitchFamily="34" charset="0"/>
                <a:ea typeface="Cambria" pitchFamily="34" charset="-122"/>
                <a:cs typeface="Cambria" pitchFamily="34" charset="-120"/>
              </a:rPr>
              <a:t>Unsupported means a plan</a:t>
            </a:r>
            <a:endParaRPr lang="en-US" sz="1700" dirty="0"/>
          </a:p>
        </p:txBody>
      </p:sp>
      <p:sp>
        <p:nvSpPr>
          <p:cNvPr id="9" name="Card text 1"/>
          <p:cNvSpPr txBox="1"/>
          <p:nvPr/>
        </p:nvSpPr>
        <p:spPr>
          <a:xfrm>
            <a:off x="777240" y="2331720"/>
            <a:ext cx="3200400" cy="2240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A-130: high priority to upgrade, replace or retire</a:t>
            </a:r>
            <a:endParaRPr lang="en-US" sz="1350" dirty="0"/>
          </a:p>
          <a:p>
            <a:pPr marL="342900" indent="-342900">
              <a:spcAft>
                <a:spcPts val="600"/>
              </a:spcAft>
              <a:buSzPct val="100000"/>
              <a:buChar char="•"/>
            </a:pPr>
            <a:r>
              <a:rPr lang="en-US" sz="1350" dirty="0">
                <a:solidFill>
                  <a:schemeClr val="tx2"/>
                </a:solidFill>
              </a:rPr>
              <a:t>SA-22: Unsupported System Components</a:t>
            </a:r>
            <a:endParaRPr lang="en-US" sz="1350" dirty="0"/>
          </a:p>
          <a:p>
            <a:pPr marL="342900" indent="-342900">
              <a:spcAft>
                <a:spcPts val="600"/>
              </a:spcAft>
              <a:buSzPct val="100000"/>
              <a:buChar char="•"/>
            </a:pPr>
            <a:r>
              <a:rPr lang="en-US" sz="1350" dirty="0">
                <a:solidFill>
                  <a:schemeClr val="tx2"/>
                </a:solidFill>
              </a:rPr>
              <a:t>Retained: compensating controls, a risk acceptance, a date</a:t>
            </a:r>
            <a:endParaRPr lang="en-US" sz="1350" dirty="0"/>
          </a:p>
        </p:txBody>
      </p:sp>
      <p:sp>
        <p:nvSpPr>
          <p:cNvPr id="10" name="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ShieldHalved" descr="">
            <a:extLst>
              <a:ext uri="{C183D7F6-B498-43B3-948B-1728B52AA6E4}">
                <adec:decorative xmlns:adec="http://schemas.microsoft.com/office/drawing/2017/decorative" val="1"/>
              </a:ext>
            </a:extLst>
          </p:cNvPr>
          <p:cNvSpPr/>
          <p:nvPr/>
        </p:nvSpPr>
        <p:spPr>
          <a:xfrm>
            <a:off x="4498848" y="1517904"/>
            <a:ext cx="566928" cy="566928"/>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53967"/>
            <a:ext cx="294803" cy="294803"/>
          </a:xfrm>
          <a:prstGeom prst="rect">
            <a:avLst/>
          </a:prstGeom>
        </p:spPr>
      </p:pic>
      <p:sp>
        <p:nvSpPr>
          <p:cNvPr id="13" name="Card head 2"/>
          <p:cNvSpPr txBox="1"/>
          <p:nvPr/>
        </p:nvSpPr>
        <p:spPr>
          <a:xfrm>
            <a:off x="5212080" y="1481328"/>
            <a:ext cx="2606040" cy="731520"/>
          </a:xfrm>
          <a:prstGeom prst="rect">
            <a:avLst/>
          </a:prstGeom>
          <a:noFill/>
          <a:ln/>
        </p:spPr>
        <p:txBody>
          <a:bodyPr wrap="square" lIns="0" tIns="0" rIns="0" bIns="0" rtlCol="0" anchor="ctr"/>
          <a:lstStyle/>
          <a:p>
            <a:pPr indent="0" marL="0">
              <a:buNone/>
            </a:pPr>
            <a:r>
              <a:rPr lang="en-US" sz="1200" b="1" dirty="0">
                <a:solidFill>
                  <a:srgbClr val="64748B"/>
                </a:solidFill>
              </a:rPr>
              <a:t>SP 800-53 REV. 5 (5.2.0)</a:t>
            </a:r>
            <a:endParaRPr lang="en-US" sz="1700" dirty="0"/>
          </a:p>
          <a:p>
            <a:pPr indent="0" marL="0">
              <a:buNone/>
            </a:pPr>
            <a:r>
              <a:rPr lang="en-US" sz="1700" b="1" dirty="0">
                <a:solidFill>
                  <a:srgbClr val="1F2A44"/>
                </a:solidFill>
                <a:latin typeface="Cambria" pitchFamily="34" charset="0"/>
                <a:ea typeface="Cambria" pitchFamily="34" charset="-122"/>
                <a:cs typeface="Cambria" pitchFamily="34" charset="-120"/>
              </a:rPr>
              <a:t>Evidence from the work</a:t>
            </a:r>
            <a:endParaRPr lang="en-US" sz="1700" dirty="0"/>
          </a:p>
        </p:txBody>
      </p:sp>
      <p:sp>
        <p:nvSpPr>
          <p:cNvPr id="14" name="Card text 2"/>
          <p:cNvSpPr txBox="1"/>
          <p:nvPr/>
        </p:nvSpPr>
        <p:spPr>
          <a:xfrm>
            <a:off x="4526280" y="2331720"/>
            <a:ext cx="3200400" cy="2240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SA, SR, AC, AU, CM, SC, SI and PT carry most weight</a:t>
            </a:r>
            <a:endParaRPr lang="en-US" sz="1350" dirty="0"/>
          </a:p>
          <a:p>
            <a:pPr marL="342900" indent="-342900">
              <a:spcAft>
                <a:spcPts val="600"/>
              </a:spcAft>
              <a:buSzPct val="100000"/>
              <a:buChar char="•"/>
            </a:pPr>
            <a:r>
              <a:rPr lang="en-US" sz="1350" dirty="0">
                <a:solidFill>
                  <a:schemeClr val="tx2"/>
                </a:solidFill>
              </a:rPr>
              <a:t>Validation report: SI-7 integrity evidence</a:t>
            </a:r>
            <a:endParaRPr lang="en-US" sz="1350" dirty="0"/>
          </a:p>
          <a:p>
            <a:pPr marL="342900" indent="-342900">
              <a:spcAft>
                <a:spcPts val="600"/>
              </a:spcAft>
              <a:buSzPct val="100000"/>
              <a:buChar char="•"/>
            </a:pPr>
            <a:r>
              <a:rPr lang="en-US" sz="1350" dirty="0">
                <a:solidFill>
                  <a:schemeClr val="tx2"/>
                </a:solidFill>
              </a:rPr>
              <a:t>Cut-over: a CM-3 change with a CM-4 analysis</a:t>
            </a:r>
            <a:endParaRPr lang="en-US" sz="1350" dirty="0"/>
          </a:p>
        </p:txBody>
      </p:sp>
      <p:sp>
        <p:nvSpPr>
          <p:cNvPr id="15" name="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CodeBranch" descr="">
            <a:extLst>
              <a:ext uri="{C183D7F6-B498-43B3-948B-1728B52AA6E4}">
                <adec:decorative xmlns:adec="http://schemas.microsoft.com/office/drawing/2017/decorative" val="1"/>
              </a:ext>
            </a:extLst>
          </p:cNvPr>
          <p:cNvSpPr/>
          <p:nvPr/>
        </p:nvSpPr>
        <p:spPr>
          <a:xfrm>
            <a:off x="8247888" y="1517904"/>
            <a:ext cx="566928" cy="566928"/>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53967"/>
            <a:ext cx="294803" cy="294803"/>
          </a:xfrm>
          <a:prstGeom prst="rect">
            <a:avLst/>
          </a:prstGeom>
        </p:spPr>
      </p:pic>
      <p:sp>
        <p:nvSpPr>
          <p:cNvPr id="18" name="Card head 3"/>
          <p:cNvSpPr txBox="1"/>
          <p:nvPr/>
        </p:nvSpPr>
        <p:spPr>
          <a:xfrm>
            <a:off x="8961120" y="1481328"/>
            <a:ext cx="2606040" cy="731520"/>
          </a:xfrm>
          <a:prstGeom prst="rect">
            <a:avLst/>
          </a:prstGeom>
          <a:noFill/>
          <a:ln/>
        </p:spPr>
        <p:txBody>
          <a:bodyPr wrap="square" lIns="0" tIns="0" rIns="0" bIns="0" rtlCol="0" anchor="ctr"/>
          <a:lstStyle/>
          <a:p>
            <a:pPr indent="0" marL="0">
              <a:buNone/>
            </a:pPr>
            <a:r>
              <a:rPr lang="en-US" sz="1200" b="1" dirty="0">
                <a:solidFill>
                  <a:srgbClr val="64748B"/>
                </a:solidFill>
              </a:rPr>
              <a:t>SECURE DEVELOPMENT</a:t>
            </a:r>
            <a:endParaRPr lang="en-US" sz="1700" dirty="0"/>
          </a:p>
          <a:p>
            <a:pPr indent="0" marL="0">
              <a:buNone/>
            </a:pPr>
            <a:r>
              <a:rPr lang="en-US" sz="1700" b="1" dirty="0">
                <a:solidFill>
                  <a:srgbClr val="0F766E"/>
                </a:solidFill>
                <a:latin typeface="Cambria" pitchFamily="34" charset="0"/>
                <a:ea typeface="Cambria" pitchFamily="34" charset="-122"/>
                <a:cs typeface="Cambria" pitchFamily="34" charset="-120"/>
              </a:rPr>
              <a:t>The SSDF after M-26-05</a:t>
            </a:r>
            <a:endParaRPr lang="en-US" sz="1700" dirty="0"/>
          </a:p>
        </p:txBody>
      </p:sp>
      <p:sp>
        <p:nvSpPr>
          <p:cNvPr id="19" name="Card text 3"/>
          <p:cNvSpPr txBox="1"/>
          <p:nvPr/>
        </p:nvSpPr>
        <p:spPr>
          <a:xfrm>
            <a:off x="8275320" y="2331720"/>
            <a:ext cx="3200400" cy="2240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M-26-05 rescinded the attestation memo, M-22-18</a:t>
            </a:r>
            <a:endParaRPr lang="en-US" sz="1350" dirty="0"/>
          </a:p>
          <a:p>
            <a:pPr marL="342900" indent="-342900">
              <a:spcAft>
                <a:spcPts val="600"/>
              </a:spcAft>
              <a:buSzPct val="100000"/>
              <a:buChar char="•"/>
            </a:pPr>
            <a:r>
              <a:rPr lang="en-US" sz="1350" dirty="0">
                <a:solidFill>
                  <a:schemeClr val="tx2"/>
                </a:solidFill>
              </a:rPr>
              <a:t>The software inventory is still required</a:t>
            </a:r>
            <a:endParaRPr lang="en-US" sz="1350" dirty="0"/>
          </a:p>
          <a:p>
            <a:pPr marL="342900" indent="-342900">
              <a:spcAft>
                <a:spcPts val="600"/>
              </a:spcAft>
              <a:buSzPct val="100000"/>
              <a:buChar char="•"/>
            </a:pPr>
            <a:r>
              <a:rPr lang="en-US" sz="1350" dirty="0">
                <a:solidFill>
                  <a:schemeClr val="tx2"/>
                </a:solidFill>
              </a:rPr>
              <a:t>SSDF 1.1 is final; version 1.2 is still a draft</a:t>
            </a:r>
            <a:endParaRPr lang="en-US" sz="1350" dirty="0"/>
          </a:p>
        </p:txBody>
      </p:sp>
      <p:sp>
        <p:nvSpPr>
          <p:cNvPr id="20" name="Privac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FileShiel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Privac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Bring privacy and records in at design review: </a:t>
            </a:r>
            <a:pPr indent="0" marL="0">
              <a:buNone/>
            </a:pPr>
            <a:r>
              <a:rPr lang="en-US" sz="1650" dirty="0">
                <a:solidFill>
                  <a:schemeClr val="tx2"/>
                </a:solidFill>
              </a:rPr>
              <a:t>a new data store, a new data flow, an AI feature, production data in test, and retirement each reopen the privacy impact assessment or the records schedule.</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Circular A-130 and Appendices I–II; NIST SP 800-53 Rev. 5 (release 5.2.0); OMB M-26-05; NIST SP 800-218; OMB M-25-05. Book 18,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owner per decision, four gates per change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Gate 1" descr="">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6" name="Gate 1 text"/>
          <p:cNvSpPr txBox="1"/>
          <p:nvPr/>
        </p:nvSpPr>
        <p:spPr>
          <a:xfrm>
            <a:off x="658368" y="1417320"/>
            <a:ext cx="2472309" cy="11430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Gate 1</a:t>
            </a:r>
            <a:endParaRPr lang="en-US" sz="1400" dirty="0"/>
          </a:p>
          <a:p>
            <a:pPr indent="0" marL="0">
              <a:buNone/>
            </a:pPr>
            <a:r>
              <a:rPr lang="en-US" sz="1400" b="1" dirty="0">
                <a:solidFill>
                  <a:srgbClr val="1F2A44"/>
                </a:solidFill>
              </a:rPr>
              <a:t>Disposition</a:t>
            </a:r>
            <a:endParaRPr lang="en-US" sz="1400" dirty="0"/>
          </a:p>
          <a:p>
            <a:pPr indent="0" marL="0">
              <a:buNone/>
            </a:pPr>
            <a:r>
              <a:rPr lang="en-US" sz="1200" dirty="0">
                <a:solidFill>
                  <a:schemeClr val="tx2"/>
                </a:solidFill>
              </a:rPr>
              <a:t>Triage record; the owner signs</a:t>
            </a:r>
            <a:endParaRPr lang="en-US" sz="1400" dirty="0"/>
          </a:p>
        </p:txBody>
      </p:sp>
      <p:sp>
        <p:nvSpPr>
          <p:cNvPr id="7" name="Gate 2" descr="">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Gate 2 text"/>
          <p:cNvSpPr txBox="1"/>
          <p:nvPr/>
        </p:nvSpPr>
        <p:spPr>
          <a:xfrm>
            <a:off x="3464433" y="1417320"/>
            <a:ext cx="2472309" cy="11430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Gate 2</a:t>
            </a:r>
            <a:endParaRPr lang="en-US" sz="1400" dirty="0"/>
          </a:p>
          <a:p>
            <a:pPr indent="0" marL="0">
              <a:buNone/>
            </a:pPr>
            <a:r>
              <a:rPr lang="en-US" sz="1400" b="1" dirty="0">
                <a:solidFill>
                  <a:srgbClr val="1F2A44"/>
                </a:solidFill>
              </a:rPr>
              <a:t>Design review</a:t>
            </a:r>
            <a:endParaRPr lang="en-US" sz="1400" dirty="0"/>
          </a:p>
          <a:p>
            <a:pPr indent="0" marL="0">
              <a:buNone/>
            </a:pPr>
            <a:r>
              <a:rPr lang="en-US" sz="1200" dirty="0">
                <a:solidFill>
                  <a:schemeClr val="tx2"/>
                </a:solidFill>
              </a:rPr>
              <a:t>Decision record, contract, threat model</a:t>
            </a:r>
            <a:endParaRPr lang="en-US" sz="1400" dirty="0"/>
          </a:p>
        </p:txBody>
      </p:sp>
      <p:sp>
        <p:nvSpPr>
          <p:cNvPr id="9" name="Gate 3" descr="">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Gate 3 text"/>
          <p:cNvSpPr txBox="1"/>
          <p:nvPr/>
        </p:nvSpPr>
        <p:spPr>
          <a:xfrm>
            <a:off x="6270498" y="1417320"/>
            <a:ext cx="2472309" cy="114300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Gate 3</a:t>
            </a:r>
            <a:endParaRPr lang="en-US" sz="1400" dirty="0"/>
          </a:p>
          <a:p>
            <a:pPr indent="0" marL="0">
              <a:buNone/>
            </a:pPr>
            <a:r>
              <a:rPr lang="en-US" sz="1400" b="1" dirty="0">
                <a:solidFill>
                  <a:srgbClr val="1F2A44"/>
                </a:solidFill>
              </a:rPr>
              <a:t>Pull request</a:t>
            </a:r>
            <a:endParaRPr lang="en-US" sz="1400" dirty="0"/>
          </a:p>
          <a:p>
            <a:pPr indent="0" marL="0">
              <a:buNone/>
            </a:pPr>
            <a:r>
              <a:rPr lang="en-US" sz="1200" dirty="0">
                <a:solidFill>
                  <a:schemeClr val="tx2"/>
                </a:solidFill>
              </a:rPr>
              <a:t>Independent review, tests, scans, SBOM</a:t>
            </a:r>
            <a:endParaRPr lang="en-US" sz="1400" dirty="0"/>
          </a:p>
        </p:txBody>
      </p:sp>
      <p:sp>
        <p:nvSpPr>
          <p:cNvPr id="11" name="Gate 4" descr="">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Gate 4 text"/>
          <p:cNvSpPr txBox="1"/>
          <p:nvPr/>
        </p:nvSpPr>
        <p:spPr>
          <a:xfrm>
            <a:off x="9076563" y="1417320"/>
            <a:ext cx="2472309" cy="114300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Gate 4</a:t>
            </a:r>
            <a:endParaRPr lang="en-US" sz="1400" dirty="0"/>
          </a:p>
          <a:p>
            <a:pPr indent="0" marL="0">
              <a:buNone/>
            </a:pPr>
            <a:r>
              <a:rPr lang="en-US" sz="1400" b="1" dirty="0">
                <a:solidFill>
                  <a:srgbClr val="1F2A44"/>
                </a:solidFill>
              </a:rPr>
              <a:t>Release</a:t>
            </a:r>
            <a:endParaRPr lang="en-US" sz="1400" dirty="0"/>
          </a:p>
          <a:p>
            <a:pPr indent="0" marL="0">
              <a:buNone/>
            </a:pPr>
            <a:r>
              <a:rPr lang="en-US" sz="1200" dirty="0">
                <a:solidFill>
                  <a:schemeClr val="tx2"/>
                </a:solidFill>
              </a:rPr>
              <a:t>Signed build, provenance, change record</a:t>
            </a:r>
            <a:endParaRPr lang="en-US" sz="1400" dirty="0"/>
          </a:p>
        </p:txBody>
      </p:sp>
      <p:sp>
        <p:nvSpPr>
          <p:cNvPr id="13" name="Panel 1" descr="">
            <a:extLst>
              <a:ext uri="{C183D7F6-B498-43B3-948B-1728B52AA6E4}">
                <adec:decorative xmlns:adec="http://schemas.microsoft.com/office/drawing/2017/decorative" val="1"/>
              </a:ext>
            </a:extLst>
          </p:cNvPr>
          <p:cNvSpPr/>
          <p:nvPr/>
        </p:nvSpPr>
        <p:spPr>
          <a:xfrm>
            <a:off x="548640" y="2743200"/>
            <a:ext cx="5486400"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Icon FaUsersGear" descr="">
            <a:extLst>
              <a:ext uri="{C183D7F6-B498-43B3-948B-1728B52AA6E4}">
                <adec:decorative xmlns:adec="http://schemas.microsoft.com/office/drawing/2017/decorative" val="1"/>
              </a:ext>
            </a:extLst>
          </p:cNvPr>
          <p:cNvSpPr/>
          <p:nvPr/>
        </p:nvSpPr>
        <p:spPr>
          <a:xfrm>
            <a:off x="731520" y="2816352"/>
            <a:ext cx="512064" cy="512064"/>
          </a:xfrm>
          <a:prstGeom prst="ellipse">
            <a:avLst/>
          </a:prstGeom>
          <a:solidFill>
            <a:srgbClr val="0F766E"/>
          </a:solidFill>
          <a:ln w="12700">
            <a:solidFill>
              <a:srgbClr val="0F766E"/>
            </a:solidFill>
            <a:prstDash val="solid"/>
          </a:ln>
        </p:spPr>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39247"/>
            <a:ext cx="266273" cy="266273"/>
          </a:xfrm>
          <a:prstGeom prst="rect">
            <a:avLst/>
          </a:prstGeom>
        </p:spPr>
      </p:pic>
      <p:sp>
        <p:nvSpPr>
          <p:cNvPr id="16" name="Panel head 1"/>
          <p:cNvSpPr txBox="1"/>
          <p:nvPr/>
        </p:nvSpPr>
        <p:spPr>
          <a:xfrm>
            <a:off x="1417320" y="281635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One decider for each decision</a:t>
            </a:r>
            <a:endParaRPr lang="en-US" sz="1700" dirty="0"/>
          </a:p>
        </p:txBody>
      </p:sp>
      <p:sp>
        <p:nvSpPr>
          <p:cNvPr id="17" name="Panel text 1"/>
          <p:cNvSpPr txBox="1"/>
          <p:nvPr/>
        </p:nvSpPr>
        <p:spPr>
          <a:xfrm>
            <a:off x="777240" y="3383280"/>
            <a:ext cx="5120640" cy="1243584"/>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Chief architect: standards, patterns, exceptions</a:t>
            </a:r>
            <a:endParaRPr lang="en-US" sz="1300" dirty="0"/>
          </a:p>
          <a:p>
            <a:pPr marL="342900" indent="-342900">
              <a:spcAft>
                <a:spcPts val="200"/>
              </a:spcAft>
              <a:buSzPct val="100000"/>
              <a:buChar char="•"/>
            </a:pPr>
            <a:r>
              <a:rPr lang="en-US" sz="1300" dirty="0">
                <a:solidFill>
                  <a:schemeClr val="tx2"/>
                </a:solidFill>
              </a:rPr>
              <a:t>Application owner: the disposition</a:t>
            </a:r>
            <a:endParaRPr lang="en-US" sz="1300" dirty="0"/>
          </a:p>
          <a:p>
            <a:pPr marL="342900" indent="-342900">
              <a:spcAft>
                <a:spcPts val="200"/>
              </a:spcAft>
              <a:buSzPct val="100000"/>
              <a:buChar char="•"/>
            </a:pPr>
            <a:r>
              <a:rPr lang="en-US" sz="1300" dirty="0">
                <a:solidFill>
                  <a:schemeClr val="tx2"/>
                </a:solidFill>
              </a:rPr>
              <a:t>Authorizing official alone: residual risk</a:t>
            </a:r>
            <a:endParaRPr lang="en-US" sz="1300" dirty="0"/>
          </a:p>
          <a:p>
            <a:pPr marL="342900" indent="-342900">
              <a:spcAft>
                <a:spcPts val="200"/>
              </a:spcAft>
              <a:buSzPct val="100000"/>
              <a:buChar char="•"/>
            </a:pPr>
            <a:r>
              <a:rPr lang="en-US" sz="1300" dirty="0">
                <a:solidFill>
                  <a:schemeClr val="tx2"/>
                </a:solidFill>
              </a:rPr>
              <a:t>CIO: IT contracts and licenses</a:t>
            </a:r>
            <a:endParaRPr lang="en-US" sz="1300" dirty="0"/>
          </a:p>
        </p:txBody>
      </p:sp>
      <p:sp>
        <p:nvSpPr>
          <p:cNvPr id="18" name="Panel 2" descr="">
            <a:extLst>
              <a:ext uri="{C183D7F6-B498-43B3-948B-1728B52AA6E4}">
                <adec:decorative xmlns:adec="http://schemas.microsoft.com/office/drawing/2017/decorative" val="1"/>
              </a:ext>
            </a:extLst>
          </p:cNvPr>
          <p:cNvSpPr/>
          <p:nvPr/>
        </p:nvSpPr>
        <p:spPr>
          <a:xfrm>
            <a:off x="6172200" y="2743200"/>
            <a:ext cx="5486400"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9" name="Icon FaCodeBranch" descr="">
            <a:extLst>
              <a:ext uri="{C183D7F6-B498-43B3-948B-1728B52AA6E4}">
                <adec:decorative xmlns:adec="http://schemas.microsoft.com/office/drawing/2017/decorative" val="1"/>
              </a:ext>
            </a:extLst>
          </p:cNvPr>
          <p:cNvSpPr/>
          <p:nvPr/>
        </p:nvSpPr>
        <p:spPr>
          <a:xfrm>
            <a:off x="6355080" y="2816352"/>
            <a:ext cx="512064" cy="512064"/>
          </a:xfrm>
          <a:prstGeom prst="ellipse">
            <a:avLst/>
          </a:prstGeom>
          <a:solidFill>
            <a:srgbClr val="1F2A44"/>
          </a:solidFill>
          <a:ln w="12700">
            <a:solidFill>
              <a:srgbClr val="1F2A44"/>
            </a:solidFill>
            <a:prstDash val="solid"/>
          </a:ln>
        </p:spPr>
      </p:sp>
      <p:pic>
        <p:nvPicPr>
          <p:cNvPr id="2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39247"/>
            <a:ext cx="266273" cy="266273"/>
          </a:xfrm>
          <a:prstGeom prst="rect">
            <a:avLst/>
          </a:prstGeom>
        </p:spPr>
      </p:pic>
      <p:sp>
        <p:nvSpPr>
          <p:cNvPr id="21" name="Panel head 2"/>
          <p:cNvSpPr txBox="1"/>
          <p:nvPr/>
        </p:nvSpPr>
        <p:spPr>
          <a:xfrm>
            <a:off x="7040880" y="281635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Two meetings, two automated</a:t>
            </a:r>
            <a:endParaRPr lang="en-US" sz="1700" dirty="0"/>
          </a:p>
        </p:txBody>
      </p:sp>
      <p:sp>
        <p:nvSpPr>
          <p:cNvPr id="22" name="Panel text 2"/>
          <p:cNvSpPr txBox="1"/>
          <p:nvPr/>
        </p:nvSpPr>
        <p:spPr>
          <a:xfrm>
            <a:off x="6400800" y="3383280"/>
            <a:ext cx="5120640" cy="1243584"/>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Gates 1 and 2 need judgment, once per application</a:t>
            </a:r>
            <a:endParaRPr lang="en-US" sz="1300" dirty="0"/>
          </a:p>
          <a:p>
            <a:pPr marL="342900" indent="-342900">
              <a:spcAft>
                <a:spcPts val="200"/>
              </a:spcAft>
              <a:buSzPct val="100000"/>
              <a:buChar char="•"/>
            </a:pPr>
            <a:r>
              <a:rPr lang="en-US" sz="1300" dirty="0">
                <a:solidFill>
                  <a:schemeClr val="tx2"/>
                </a:solidFill>
              </a:rPr>
              <a:t>Gates 3 and 4 run on protected branches and pipelines</a:t>
            </a:r>
            <a:endParaRPr lang="en-US" sz="1300" dirty="0"/>
          </a:p>
          <a:p>
            <a:pPr marL="342900" indent="-342900">
              <a:spcAft>
                <a:spcPts val="200"/>
              </a:spcAft>
              <a:buSzPct val="100000"/>
              <a:buChar char="•"/>
            </a:pPr>
            <a:r>
              <a:rPr lang="en-US" sz="1300" dirty="0">
                <a:solidFill>
                  <a:schemeClr val="tx2"/>
                </a:solidFill>
              </a:rPr>
              <a:t>Every gate's output is kept as evidence</a:t>
            </a:r>
            <a:endParaRPr lang="en-US" sz="1300" dirty="0"/>
          </a:p>
        </p:txBody>
      </p:sp>
      <p:sp>
        <p:nvSpPr>
          <p:cNvPr id="23" name="Board"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4" name="Icon FaBuildingColumns"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26" name="Board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0F766E"/>
                </a:solidFill>
              </a:rPr>
              <a:t>The review board reviews; it doesn't vote: </a:t>
            </a:r>
            <a:pPr indent="0" marL="0">
              <a:buNone/>
            </a:pPr>
            <a:r>
              <a:rPr lang="en-US" sz="1650" dirty="0">
                <a:solidFill>
                  <a:schemeClr val="tx2"/>
                </a:solidFill>
              </a:rPr>
              <a:t>security and privacy representatives sit on it, as CM-3(4) asks. The authorizing official observes but isn't a member, and the board can recommend a technology but can't buy one.</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A-130 §5.a(2); NIST SP 800-53 Rev. 5 (CM-3, CM-4, PL-8, PM-7, SA-22); OMB M-26-10; NIST SP 800-218; Nygard (2011). Book 18,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reference implementation you can run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Eight cards. On the left, a blue card for the React front end in the web folder (case list, triage, approve or reject) has an arrow labeled /api to a blue card for the Spring Boot REST service in the service folder (OpenAPI contract checked by a test; problem details for errors). The service has an arrow labeled triage to a violet card for the triage agent (identity, sponsor, tool allow-list; step limit, every call audited; writes only PENDING proposals). The agent has a green arrow labeled proposal to a green card, a person decides (only an approval changes a case), and a dashed arrow to a slate card, ModelClient (provider-neutral, stub by default). On the right, a slate card for the synthetic legacy DB2 or Oracle schema (H2 stand-in in tests) has an arrow to an amber card for the migration tool (transform, upsert, delta mode; row counts, checksum, aggregates), which has an arrow labeled load and prove to a blue card for PostgreSQL (schema owned by the service through Flyway, file V1 baseline). The service also has an arrow to PostgreSQL.">    </p:cNvPr>
          <p:cNvPicPr>
            <a:picLocks noChangeAspect="1"/>
          </p:cNvPicPr>
          <p:nvPr/>
        </p:nvPicPr>
        <p:blipFill>
          <a:blip r:embed="rId1"/>
          <a:stretch>
            <a:fillRect/>
          </a:stretch>
        </p:blipFill>
        <p:spPr>
          <a:xfrm>
            <a:off x="656016" y="1371600"/>
            <a:ext cx="4357249" cy="3291840"/>
          </a:xfrm>
          <a:prstGeom prst="rect">
            <a:avLst/>
          </a:prstGeom>
        </p:spPr>
      </p:pic>
      <p:sp>
        <p:nvSpPr>
          <p:cNvPr id="6" name="Tests box" descr="">
            <a:extLst>
              <a:ext uri="{C183D7F6-B498-43B3-948B-1728B52AA6E4}">
                <adec:decorative xmlns:adec="http://schemas.microsoft.com/office/drawing/2017/decorative" val="1"/>
              </a:ext>
            </a:extLst>
          </p:cNvPr>
          <p:cNvSpPr/>
          <p:nvPr/>
        </p:nvSpPr>
        <p:spPr>
          <a:xfrm>
            <a:off x="5349240" y="1371600"/>
            <a:ext cx="630936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5577840" y="1554480"/>
            <a:ext cx="621792" cy="621792"/>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27070" y="1703710"/>
            <a:ext cx="323332" cy="323332"/>
          </a:xfrm>
          <a:prstGeom prst="rect">
            <a:avLst/>
          </a:prstGeom>
        </p:spPr>
      </p:pic>
      <p:sp>
        <p:nvSpPr>
          <p:cNvPr id="9" name="Tests head"/>
          <p:cNvSpPr txBox="1"/>
          <p:nvPr/>
        </p:nvSpPr>
        <p:spPr>
          <a:xfrm>
            <a:off x="6373368" y="1508760"/>
            <a:ext cx="5166360" cy="731520"/>
          </a:xfrm>
          <a:prstGeom prst="rect">
            <a:avLst/>
          </a:prstGeom>
          <a:noFill/>
          <a:ln/>
        </p:spPr>
        <p:txBody>
          <a:bodyPr wrap="square" lIns="0" tIns="0" rIns="0" bIns="0" rtlCol="0" anchor="ctr"/>
          <a:lstStyle/>
          <a:p>
            <a:pPr indent="0" marL="0">
              <a:buNone/>
            </a:pPr>
            <a:r>
              <a:rPr lang="en-US" sz="1200" b="1" dirty="0">
                <a:solidFill>
                  <a:srgbClr val="64748B"/>
                </a:solidFill>
              </a:rPr>
              <a:t>WHAT WAS VERIFIED, OCTOBER 28, 2026</a:t>
            </a:r>
            <a:endParaRPr lang="en-US" sz="1700" dirty="0"/>
          </a:p>
          <a:p>
            <a:pPr indent="0" marL="0">
              <a:buNone/>
            </a:pPr>
            <a:r>
              <a:rPr lang="en-US" sz="1700" b="1" dirty="0">
                <a:solidFill>
                  <a:srgbClr val="B45309"/>
                </a:solidFill>
                <a:latin typeface="Cambria" pitchFamily="34" charset="0"/>
                <a:ea typeface="Cambria" pitchFamily="34" charset="-122"/>
                <a:cs typeface="Cambria" pitchFamily="34" charset="-120"/>
              </a:rPr>
              <a:t>Tested, and plain about what isn't</a:t>
            </a:r>
            <a:endParaRPr lang="en-US" sz="1700" dirty="0"/>
          </a:p>
        </p:txBody>
      </p:sp>
      <p:sp>
        <p:nvSpPr>
          <p:cNvPr id="10" name="Tests list"/>
          <p:cNvSpPr txBox="1"/>
          <p:nvPr/>
        </p:nvSpPr>
        <p:spPr>
          <a:xfrm>
            <a:off x="5577840" y="2331720"/>
            <a:ext cx="5943600" cy="226771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25 service tests pass against real PostgreSQL 18.6</a:t>
            </a:r>
            <a:endParaRPr lang="en-US" sz="1350" dirty="0"/>
          </a:p>
          <a:p>
            <a:pPr marL="342900" indent="-342900">
              <a:spcAft>
                <a:spcPts val="600"/>
              </a:spcAft>
              <a:buSzPct val="100000"/>
              <a:buChar char="•"/>
            </a:pPr>
            <a:r>
              <a:rPr lang="en-US" sz="1350" dirty="0">
                <a:solidFill>
                  <a:schemeClr val="tx2"/>
                </a:solidFill>
              </a:rPr>
              <a:t>A contract test checks the OpenAPI file both ways</a:t>
            </a:r>
            <a:endParaRPr lang="en-US" sz="1350" dirty="0"/>
          </a:p>
          <a:p>
            <a:pPr marL="342900" indent="-342900">
              <a:spcAft>
                <a:spcPts val="600"/>
              </a:spcAft>
              <a:buSzPct val="100000"/>
              <a:buChar char="•"/>
            </a:pPr>
            <a:r>
              <a:rPr lang="en-US" sz="1350" dirty="0">
                <a:solidFill>
                  <a:schemeClr val="tx2"/>
                </a:solidFill>
              </a:rPr>
              <a:t>Migration tests break one value; the checks catch it</a:t>
            </a:r>
            <a:endParaRPr lang="en-US" sz="1350" dirty="0"/>
          </a:p>
          <a:p>
            <a:pPr marL="342900" indent="-342900">
              <a:spcAft>
                <a:spcPts val="600"/>
              </a:spcAft>
              <a:buSzPct val="100000"/>
              <a:buChar char="•"/>
            </a:pPr>
            <a:r>
              <a:rPr lang="en-US" sz="1350" dirty="0">
                <a:solidFill>
                  <a:schemeClr val="tx2"/>
                </a:solidFill>
              </a:rPr>
              <a:t>Agent guardrails hold against a misbehaving stub</a:t>
            </a:r>
            <a:endParaRPr lang="en-US" sz="1350" dirty="0"/>
          </a:p>
          <a:p>
            <a:pPr marL="342900" indent="-342900">
              <a:spcAft>
                <a:spcPts val="600"/>
              </a:spcAft>
              <a:buSzPct val="100000"/>
              <a:buChar char="•"/>
            </a:pPr>
            <a:r>
              <a:rPr lang="en-US" sz="1350" dirty="0">
                <a:solidFill>
                  <a:schemeClr val="tx2"/>
                </a:solidFill>
              </a:rPr>
              <a:t>Not verified: real DB2 or Oracle, a real model, containers</a:t>
            </a:r>
            <a:endParaRPr lang="en-US" sz="1350" dirty="0"/>
          </a:p>
        </p:txBody>
      </p:sp>
      <p:sp>
        <p:nvSpPr>
          <p:cNvPr id="11" name="Illu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Lightbulb"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Illu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Illustrative, not production: </a:t>
            </a:r>
            <a:pPr indent="0" marL="0">
              <a:buNone/>
            </a:pPr>
            <a:r>
              <a:rPr lang="en-US" sz="1650" dirty="0">
                <a:solidFill>
                  <a:schemeClr val="tx2"/>
                </a:solidFill>
              </a:rPr>
              <a:t>synthetic data and no authentication. It runs Spring Boot 4.1.2 and React 19.3.1, but compiles for Java 21 and uses OpenAPI 3.1, short of the Chapter 03 targets.</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examples/app-modernization; Maven Central (Spring Boot 4.1.2); PostgreSQL versioning policy; npm (React 19.3.1); RFC 9457. Book 18,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TOGAF gives the order; Zachman, the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lumn 1" descr="">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6" name="Icon FaRoute" descr="">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B45309"/>
          </a:solidFill>
          <a:ln w="12700">
            <a:solidFill>
              <a:srgbClr val="B45309"/>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THE TOGAF STANDARD, 10TH EDITION</a:t>
            </a:r>
            <a:endParaRPr lang="en-US" sz="1800" dirty="0"/>
          </a:p>
          <a:p>
            <a:pPr indent="0" marL="0">
              <a:buNone/>
            </a:pPr>
            <a:r>
              <a:rPr lang="en-US" sz="1800" b="1" dirty="0">
                <a:solidFill>
                  <a:srgbClr val="B45309"/>
                </a:solidFill>
                <a:latin typeface="Cambria" pitchFamily="34" charset="0"/>
                <a:ea typeface="Cambria" pitchFamily="34" charset="-122"/>
                <a:cs typeface="Cambria" pitchFamily="34" charset="-120"/>
              </a:rPr>
              <a:t>The order to do the work in</a:t>
            </a:r>
            <a:endParaRPr lang="en-US" sz="18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The ADM: Preliminary, Phases A to H, requirements at the center</a:t>
            </a:r>
            <a:endParaRPr lang="en-US" sz="1400" dirty="0"/>
          </a:p>
          <a:p>
            <a:pPr marL="342900" indent="-342900">
              <a:spcAft>
                <a:spcPts val="600"/>
              </a:spcAft>
              <a:buSzPct val="100000"/>
              <a:buChar char="•"/>
            </a:pPr>
            <a:r>
              <a:rPr lang="en-US" sz="1400" dirty="0">
                <a:solidFill>
                  <a:schemeClr val="tx2"/>
                </a:solidFill>
              </a:rPr>
              <a:t>Phases B to D compare baseline with target</a:t>
            </a:r>
            <a:endParaRPr lang="en-US" sz="1400" dirty="0"/>
          </a:p>
          <a:p>
            <a:pPr marL="342900" indent="-342900">
              <a:spcAft>
                <a:spcPts val="600"/>
              </a:spcAft>
              <a:buSzPct val="100000"/>
              <a:buChar char="•"/>
            </a:pPr>
            <a:r>
              <a:rPr lang="en-US" sz="1400" dirty="0">
                <a:solidFill>
                  <a:schemeClr val="tx2"/>
                </a:solidFill>
              </a:rPr>
              <a:t>Phases E and F: dispositions and waves</a:t>
            </a:r>
            <a:endParaRPr lang="en-US" sz="1400" dirty="0"/>
          </a:p>
          <a:p>
            <a:pPr marL="342900" indent="-342900">
              <a:spcAft>
                <a:spcPts val="600"/>
              </a:spcAft>
              <a:buSzPct val="100000"/>
              <a:buChar char="•"/>
            </a:pPr>
            <a:r>
              <a:rPr lang="en-US" sz="1400" dirty="0">
                <a:solidFill>
                  <a:schemeClr val="tx2"/>
                </a:solidFill>
              </a:rPr>
              <a:t>Phase H: re-triage starts the next cycle</a:t>
            </a:r>
            <a:endParaRPr lang="en-US" sz="1400" dirty="0"/>
          </a:p>
        </p:txBody>
      </p:sp>
      <p:sp>
        <p:nvSpPr>
          <p:cNvPr id="10" name="Column 2" descr="">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TableList" descr="">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THE ZACHMAN FRAMEWORK, VERSION 3.0</a:t>
            </a:r>
            <a:endParaRPr lang="en-US" sz="1800" dirty="0"/>
          </a:p>
          <a:p>
            <a:pPr indent="0" marL="0">
              <a:buNone/>
            </a:pPr>
            <a:r>
              <a:rPr lang="en-US" sz="1800" b="1" dirty="0">
                <a:solidFill>
                  <a:srgbClr val="1F2A44"/>
                </a:solidFill>
                <a:latin typeface="Cambria" pitchFamily="34" charset="0"/>
                <a:ea typeface="Cambria" pitchFamily="34" charset="-122"/>
                <a:cs typeface="Cambria" pitchFamily="34" charset="-120"/>
              </a:rPr>
              <a:t>A check that nothing is missing</a:t>
            </a:r>
            <a:endParaRPr lang="en-US" sz="18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Six interrogatives by six perspectives</a:t>
            </a:r>
            <a:endParaRPr lang="en-US" sz="1400" dirty="0"/>
          </a:p>
          <a:p>
            <a:pPr marL="342900" indent="-342900">
              <a:spcAft>
                <a:spcPts val="600"/>
              </a:spcAft>
              <a:buSzPct val="100000"/>
              <a:buChar char="•"/>
            </a:pPr>
            <a:r>
              <a:rPr lang="en-US" sz="1400" dirty="0">
                <a:solidFill>
                  <a:schemeClr val="tx2"/>
                </a:solidFill>
              </a:rPr>
              <a:t>Not a methodology: no order, no starting point</a:t>
            </a:r>
            <a:endParaRPr lang="en-US" sz="1400" dirty="0"/>
          </a:p>
          <a:p>
            <a:pPr marL="342900" indent="-342900">
              <a:spcAft>
                <a:spcPts val="600"/>
              </a:spcAft>
              <a:buSzPct val="100000"/>
              <a:buChar char="•"/>
            </a:pPr>
            <a:r>
              <a:rPr lang="en-US" sz="1400" dirty="0">
                <a:solidFill>
                  <a:schemeClr val="tx2"/>
                </a:solidFill>
              </a:rPr>
              <a:t>Thin cells show gaps, such as Where above row 4</a:t>
            </a:r>
            <a:endParaRPr lang="en-US" sz="1400" dirty="0"/>
          </a:p>
          <a:p>
            <a:pPr marL="342900" indent="-342900">
              <a:spcAft>
                <a:spcPts val="600"/>
              </a:spcAft>
              <a:buSzPct val="100000"/>
              <a:buChar char="•"/>
            </a:pPr>
            <a:r>
              <a:rPr lang="en-US" sz="1400" dirty="0">
                <a:solidFill>
                  <a:schemeClr val="tx2"/>
                </a:solidFill>
              </a:rPr>
              <a:t>An empty cell is a question, not a defect</a:t>
            </a:r>
            <a:endParaRPr lang="en-US" sz="1400" dirty="0"/>
          </a:p>
        </p:txBody>
      </p:sp>
      <p:sp>
        <p:nvSpPr>
          <p:cNvPr id="15" name="Req"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Landmar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8" name="Req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The requirement is the architecture, not a framework: </a:t>
            </a:r>
            <a:pPr indent="0" marL="0">
              <a:buNone/>
            </a:pPr>
            <a:r>
              <a:rPr lang="en-US" sz="1650" dirty="0">
                <a:solidFill>
                  <a:schemeClr val="tx2"/>
                </a:solidFill>
              </a:rPr>
              <a:t>A-130 asks for a baseline, a target and a transition plan, and PM-7 and PL-8 carry it into controls. FEAF v2 is historical. File the book's artifacts under both as they are.</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A-130 §5.a(2); NIST SP 800-53 Rev. 5 (PM-7, PL-8); The Open Group, TOGAF Standard, 10th Ed. (C220); Zachman International, Version 3.0. Book 18,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Run the portfolio in waves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Wave 1" descr="">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6" name="Wave 1 text"/>
          <p:cNvSpPr txBox="1"/>
          <p:nvPr/>
        </p:nvSpPr>
        <p:spPr>
          <a:xfrm>
            <a:off x="658368" y="1417320"/>
            <a:ext cx="2472309" cy="11430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Phase 2</a:t>
            </a:r>
            <a:endParaRPr lang="en-US" sz="1400" dirty="0"/>
          </a:p>
          <a:p>
            <a:pPr indent="0" marL="0">
              <a:buNone/>
            </a:pPr>
            <a:r>
              <a:rPr lang="en-US" sz="1400" b="1" dirty="0">
                <a:solidFill>
                  <a:srgbClr val="1F2A44"/>
                </a:solidFill>
              </a:rPr>
              <a:t>Pilot wave</a:t>
            </a:r>
            <a:endParaRPr lang="en-US" sz="1400" dirty="0"/>
          </a:p>
          <a:p>
            <a:pPr indent="0" marL="0">
              <a:buNone/>
            </a:pPr>
            <a:r>
              <a:rPr lang="en-US" sz="1200" dirty="0">
                <a:solidFill>
                  <a:schemeClr val="tx2"/>
                </a:solidFill>
              </a:rPr>
              <a:t>3 to 5 simple applications, plus one hard case</a:t>
            </a:r>
            <a:endParaRPr lang="en-US" sz="1400" dirty="0"/>
          </a:p>
        </p:txBody>
      </p:sp>
      <p:sp>
        <p:nvSpPr>
          <p:cNvPr id="7" name="Wave 2" descr="">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Wave 2 text"/>
          <p:cNvSpPr txBox="1"/>
          <p:nvPr/>
        </p:nvSpPr>
        <p:spPr>
          <a:xfrm>
            <a:off x="3464433" y="1417320"/>
            <a:ext cx="2472309" cy="114300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Phase 3</a:t>
            </a:r>
            <a:endParaRPr lang="en-US" sz="1400" dirty="0"/>
          </a:p>
          <a:p>
            <a:pPr indent="0" marL="0">
              <a:buNone/>
            </a:pPr>
            <a:r>
              <a:rPr lang="en-US" sz="1400" b="1" dirty="0">
                <a:solidFill>
                  <a:srgbClr val="1F2A44"/>
                </a:solidFill>
              </a:rPr>
              <a:t>Factory waves</a:t>
            </a:r>
            <a:endParaRPr lang="en-US" sz="1400" dirty="0"/>
          </a:p>
          <a:p>
            <a:pPr indent="0" marL="0">
              <a:buNone/>
            </a:pPr>
            <a:r>
              <a:rPr lang="en-US" sz="1200" dirty="0">
                <a:solidFill>
                  <a:schemeClr val="tx2"/>
                </a:solidFill>
              </a:rPr>
              <a:t>Move groups by shared data and owner</a:t>
            </a:r>
            <a:endParaRPr lang="en-US" sz="1400" dirty="0"/>
          </a:p>
        </p:txBody>
      </p:sp>
      <p:sp>
        <p:nvSpPr>
          <p:cNvPr id="9" name="Wave 3" descr="">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0" name="Wave 3 text"/>
          <p:cNvSpPr txBox="1"/>
          <p:nvPr/>
        </p:nvSpPr>
        <p:spPr>
          <a:xfrm>
            <a:off x="6270498" y="1417320"/>
            <a:ext cx="2472309" cy="1143000"/>
          </a:xfrm>
          <a:prstGeom prst="rect">
            <a:avLst/>
          </a:prstGeom>
          <a:noFill/>
          <a:ln/>
        </p:spPr>
        <p:txBody>
          <a:bodyPr wrap="square" lIns="0" tIns="0" rIns="0" bIns="0" rtlCol="0" anchor="ctr"/>
          <a:lstStyle/>
          <a:p>
            <a:pPr indent="0" marL="0">
              <a:buNone/>
            </a:pPr>
            <a:r>
              <a:rPr lang="en-US" sz="1800" b="1" dirty="0">
                <a:solidFill>
                  <a:srgbClr val="B91C1C"/>
                </a:solidFill>
                <a:latin typeface="Cambria" pitchFamily="34" charset="0"/>
                <a:ea typeface="Cambria" pitchFamily="34" charset="-122"/>
                <a:cs typeface="Cambria" pitchFamily="34" charset="-120"/>
              </a:rPr>
              <a:t>Phase 4</a:t>
            </a:r>
            <a:endParaRPr lang="en-US" sz="1400" dirty="0"/>
          </a:p>
          <a:p>
            <a:pPr indent="0" marL="0">
              <a:buNone/>
            </a:pPr>
            <a:r>
              <a:rPr lang="en-US" sz="1400" b="1" dirty="0">
                <a:solidFill>
                  <a:srgbClr val="1F2A44"/>
                </a:solidFill>
              </a:rPr>
              <a:t>Retirement</a:t>
            </a:r>
            <a:endParaRPr lang="en-US" sz="1400" dirty="0"/>
          </a:p>
          <a:p>
            <a:pPr indent="0" marL="0">
              <a:buNone/>
            </a:pPr>
            <a:r>
              <a:rPr lang="en-US" sz="1200" dirty="0">
                <a:solidFill>
                  <a:schemeClr val="tx2"/>
                </a:solidFill>
              </a:rPr>
              <a:t>Old servers, databases, licenses off</a:t>
            </a:r>
            <a:endParaRPr lang="en-US" sz="1400" dirty="0"/>
          </a:p>
        </p:txBody>
      </p:sp>
      <p:sp>
        <p:nvSpPr>
          <p:cNvPr id="11" name="Wave 4" descr="">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2" name="Wave 4 text"/>
          <p:cNvSpPr txBox="1"/>
          <p:nvPr/>
        </p:nvSpPr>
        <p:spPr>
          <a:xfrm>
            <a:off x="9076563" y="1417320"/>
            <a:ext cx="2472309" cy="1143000"/>
          </a:xfrm>
          <a:prstGeom prst="rect">
            <a:avLst/>
          </a:prstGeom>
          <a:noFill/>
          <a:ln/>
        </p:spPr>
        <p:txBody>
          <a:bodyPr wrap="square" lIns="0" tIns="0" rIns="0" bIns="0" rtlCol="0" anchor="ctr"/>
          <a:lstStyle/>
          <a:p>
            <a:pPr indent="0" marL="0">
              <a:buNone/>
            </a:pPr>
            <a:r>
              <a:rPr lang="en-US" sz="1800" b="1" dirty="0">
                <a:solidFill>
                  <a:srgbClr val="64748B"/>
                </a:solidFill>
                <a:latin typeface="Cambria" pitchFamily="34" charset="0"/>
                <a:ea typeface="Cambria" pitchFamily="34" charset="-122"/>
                <a:cs typeface="Cambria" pitchFamily="34" charset="-120"/>
              </a:rPr>
              <a:t>Phase 6</a:t>
            </a:r>
            <a:endParaRPr lang="en-US" sz="1400" dirty="0"/>
          </a:p>
          <a:p>
            <a:pPr indent="0" marL="0">
              <a:buNone/>
            </a:pPr>
            <a:r>
              <a:rPr lang="en-US" sz="1400" b="1" dirty="0">
                <a:solidFill>
                  <a:srgbClr val="1F2A44"/>
                </a:solidFill>
              </a:rPr>
              <a:t>Long tail</a:t>
            </a:r>
            <a:endParaRPr lang="en-US" sz="1400" dirty="0"/>
          </a:p>
          <a:p>
            <a:pPr indent="0" marL="0">
              <a:buNone/>
            </a:pPr>
            <a:r>
              <a:rPr lang="en-US" sz="1200" dirty="0">
                <a:solidFill>
                  <a:schemeClr val="tx2"/>
                </a:solidFill>
              </a:rPr>
              <a:t>Retained, with an owner and a review date</a:t>
            </a:r>
            <a:endParaRPr lang="en-US" sz="1400" dirty="0"/>
          </a:p>
        </p:txBody>
      </p:sp>
      <p:sp>
        <p:nvSpPr>
          <p:cNvPr id="13" name="Panel 1" descr="">
            <a:extLst>
              <a:ext uri="{C183D7F6-B498-43B3-948B-1728B52AA6E4}">
                <adec:decorative xmlns:adec="http://schemas.microsoft.com/office/drawing/2017/decorative" val="1"/>
              </a:ext>
            </a:extLst>
          </p:cNvPr>
          <p:cNvSpPr/>
          <p:nvPr/>
        </p:nvSpPr>
        <p:spPr>
          <a:xfrm>
            <a:off x="548640" y="2743200"/>
            <a:ext cx="5486400" cy="1920240"/>
          </a:xfrm>
          <a:prstGeom prst="roundRect">
            <a:avLst>
              <a:gd name="adj" fmla="val 381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Landmark" descr="">
            <a:extLst>
              <a:ext uri="{C183D7F6-B498-43B3-948B-1728B52AA6E4}">
                <adec:decorative xmlns:adec="http://schemas.microsoft.com/office/drawing/2017/decorative" val="1"/>
              </a:ext>
            </a:extLst>
          </p:cNvPr>
          <p:cNvSpPr/>
          <p:nvPr/>
        </p:nvSpPr>
        <p:spPr>
          <a:xfrm>
            <a:off x="731520" y="2816352"/>
            <a:ext cx="512064" cy="512064"/>
          </a:xfrm>
          <a:prstGeom prst="ellipse">
            <a:avLst/>
          </a:prstGeom>
          <a:solidFill>
            <a:srgbClr val="B45309"/>
          </a:solidFill>
          <a:ln w="12700">
            <a:solidFill>
              <a:srgbClr val="B45309"/>
            </a:solidFill>
            <a:prstDash val="solid"/>
          </a:ln>
        </p:spPr>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39247"/>
            <a:ext cx="266273" cy="266273"/>
          </a:xfrm>
          <a:prstGeom prst="rect">
            <a:avLst/>
          </a:prstGeom>
        </p:spPr>
      </p:pic>
      <p:sp>
        <p:nvSpPr>
          <p:cNvPr id="16" name="Panel head 1"/>
          <p:cNvSpPr txBox="1"/>
          <p:nvPr/>
        </p:nvSpPr>
        <p:spPr>
          <a:xfrm>
            <a:off x="1417320" y="2816352"/>
            <a:ext cx="4480560" cy="512064"/>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Fund it wave by wave</a:t>
            </a:r>
            <a:endParaRPr lang="en-US" sz="1700" dirty="0"/>
          </a:p>
        </p:txBody>
      </p:sp>
      <p:sp>
        <p:nvSpPr>
          <p:cNvPr id="17" name="Panel text 1"/>
          <p:cNvSpPr txBox="1"/>
          <p:nvPr/>
        </p:nvSpPr>
        <p:spPr>
          <a:xfrm>
            <a:off x="777240" y="3383280"/>
            <a:ext cx="5120640" cy="1243584"/>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TMF: improve, retire or replace; typically under $25M</a:t>
            </a:r>
            <a:endParaRPr lang="en-US" sz="1300" dirty="0"/>
          </a:p>
          <a:p>
            <a:pPr marL="342900" indent="-342900">
              <a:spcAft>
                <a:spcPts val="200"/>
              </a:spcAft>
              <a:buSzPct val="100000"/>
              <a:buChar char="•"/>
            </a:pPr>
            <a:r>
              <a:rPr lang="en-US" sz="1300" dirty="0">
                <a:solidFill>
                  <a:schemeClr val="tx2"/>
                </a:solidFill>
              </a:rPr>
              <a:t>Working capital funds: savings pay the next wave</a:t>
            </a:r>
            <a:endParaRPr lang="en-US" sz="1300" dirty="0"/>
          </a:p>
          <a:p>
            <a:pPr marL="342900" indent="-342900">
              <a:spcAft>
                <a:spcPts val="200"/>
              </a:spcAft>
              <a:buSzPct val="100000"/>
              <a:buChar char="•"/>
            </a:pPr>
            <a:r>
              <a:rPr lang="en-US" sz="1300" dirty="0">
                <a:solidFill>
                  <a:schemeClr val="tx2"/>
                </a:solidFill>
              </a:rPr>
              <a:t>The CIO signs the wave plan</a:t>
            </a:r>
            <a:endParaRPr lang="en-US" sz="1300" dirty="0"/>
          </a:p>
        </p:txBody>
      </p:sp>
      <p:sp>
        <p:nvSpPr>
          <p:cNvPr id="18" name="Panel 2" descr="">
            <a:extLst>
              <a:ext uri="{C183D7F6-B498-43B3-948B-1728B52AA6E4}">
                <adec:decorative xmlns:adec="http://schemas.microsoft.com/office/drawing/2017/decorative" val="1"/>
              </a:ext>
            </a:extLst>
          </p:cNvPr>
          <p:cNvSpPr/>
          <p:nvPr/>
        </p:nvSpPr>
        <p:spPr>
          <a:xfrm>
            <a:off x="6172200" y="2743200"/>
            <a:ext cx="5486400"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9" name="Icon FaChartLine" descr="">
            <a:extLst>
              <a:ext uri="{C183D7F6-B498-43B3-948B-1728B52AA6E4}">
                <adec:decorative xmlns:adec="http://schemas.microsoft.com/office/drawing/2017/decorative" val="1"/>
              </a:ext>
            </a:extLst>
          </p:cNvPr>
          <p:cNvSpPr/>
          <p:nvPr/>
        </p:nvSpPr>
        <p:spPr>
          <a:xfrm>
            <a:off x="6355080" y="2816352"/>
            <a:ext cx="512064" cy="512064"/>
          </a:xfrm>
          <a:prstGeom prst="ellipse">
            <a:avLst/>
          </a:prstGeom>
          <a:solidFill>
            <a:srgbClr val="1F2A44"/>
          </a:solidFill>
          <a:ln w="12700">
            <a:solidFill>
              <a:srgbClr val="1F2A44"/>
            </a:solidFill>
            <a:prstDash val="solid"/>
          </a:ln>
        </p:spPr>
      </p:sp>
      <p:pic>
        <p:nvPicPr>
          <p:cNvPr id="2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39247"/>
            <a:ext cx="266273" cy="266273"/>
          </a:xfrm>
          <a:prstGeom prst="rect">
            <a:avLst/>
          </a:prstGeom>
        </p:spPr>
      </p:pic>
      <p:sp>
        <p:nvSpPr>
          <p:cNvPr id="21" name="Panel head 2"/>
          <p:cNvSpPr txBox="1"/>
          <p:nvPr/>
        </p:nvSpPr>
        <p:spPr>
          <a:xfrm>
            <a:off x="7040880" y="281635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Measure from records, not plans</a:t>
            </a:r>
            <a:endParaRPr lang="en-US" sz="1700" dirty="0"/>
          </a:p>
        </p:txBody>
      </p:sp>
      <p:sp>
        <p:nvSpPr>
          <p:cNvPr id="22" name="Panel text 2"/>
          <p:cNvSpPr txBox="1"/>
          <p:nvPr/>
        </p:nvSpPr>
        <p:spPr>
          <a:xfrm>
            <a:off x="6400800" y="3383280"/>
            <a:ext cx="5120640" cy="1243584"/>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Applications dispositioned, with a named owner</a:t>
            </a:r>
            <a:endParaRPr lang="en-US" sz="1300" dirty="0"/>
          </a:p>
          <a:p>
            <a:pPr marL="342900" indent="-342900">
              <a:spcAft>
                <a:spcPts val="200"/>
              </a:spcAft>
              <a:buSzPct val="100000"/>
              <a:buChar char="•"/>
            </a:pPr>
            <a:r>
              <a:rPr lang="en-US" sz="1300" dirty="0">
                <a:solidFill>
                  <a:schemeClr val="tx2"/>
                </a:solidFill>
              </a:rPr>
              <a:t>Cost avoided, counted from retirement records</a:t>
            </a:r>
            <a:endParaRPr lang="en-US" sz="1300" dirty="0"/>
          </a:p>
          <a:p>
            <a:pPr marL="342900" indent="-342900">
              <a:spcAft>
                <a:spcPts val="200"/>
              </a:spcAft>
              <a:buSzPct val="100000"/>
              <a:buChar char="•"/>
            </a:pPr>
            <a:r>
              <a:rPr lang="en-US" sz="1300" dirty="0">
                <a:solidFill>
                  <a:schemeClr val="tx2"/>
                </a:solidFill>
              </a:rPr>
              <a:t>Migrations validated on the first run</a:t>
            </a:r>
            <a:endParaRPr lang="en-US" sz="1300" dirty="0"/>
          </a:p>
        </p:txBody>
      </p:sp>
      <p:sp>
        <p:nvSpPr>
          <p:cNvPr id="23" name="Siz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4" name="Icon FaArrowsRotat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26" name="Siz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Size waves by measured throughput, not the schedule: </a:t>
            </a:r>
            <a:pPr indent="0" marL="0">
              <a:buNone/>
            </a:pPr>
            <a:r>
              <a:rPr lang="en-US" sz="1650" dirty="0">
                <a:solidFill>
                  <a:schemeClr val="tx2"/>
                </a:solidFill>
              </a:rPr>
              <a:t>plan four to five waves ahead and only the next in detail. The fifth wave should cost less per application than the first, and the triage is re-scored on triggers and at least yearly.</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AWS Prescriptive Guidance; Microsoft Cloud Adoption Framework; TMF fit, process and 2026 call; MGT Act §1077(b); OMB M-26-10; DORA. Book 18,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ListCheck"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Ask for the inventory first</a:t>
            </a:r>
            <a:endParaRPr lang="en-US" sz="1800" dirty="0"/>
          </a:p>
          <a:p>
            <a:pPr indent="0" marL="0">
              <a:buNone/>
            </a:pPr>
            <a:r>
              <a:rPr lang="en-US" sz="1450" dirty="0">
                <a:solidFill>
                  <a:schemeClr val="tx2"/>
                </a:solidFill>
              </a:rPr>
              <a:t>An owner and a proposed disposition for every application</a:t>
            </a:r>
            <a:endParaRPr lang="en-US" sz="1800" dirty="0"/>
          </a:p>
        </p:txBody>
      </p:sp>
      <p:sp>
        <p:nvSpPr>
          <p:cNvPr id="9" name="Ask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Icon FaScaleBalanced"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1F2A44"/>
          </a:solidFill>
          <a:ln w="12700">
            <a:solidFill>
              <a:srgbClr val="1F2A44"/>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Approve the rubric, not each decision</a:t>
            </a:r>
            <a:endParaRPr lang="en-US" sz="1800" dirty="0"/>
          </a:p>
          <a:p>
            <a:pPr indent="0" marL="0">
              <a:buNone/>
            </a:pPr>
            <a:r>
              <a:rPr lang="en-US" sz="1450" dirty="0">
                <a:solidFill>
                  <a:schemeClr val="tx2"/>
                </a:solidFill>
              </a:rPr>
              <a:t>Rule on contested cases; fund the retirements</a:t>
            </a:r>
            <a:endParaRPr lang="en-US" sz="1800" dirty="0"/>
          </a:p>
        </p:txBody>
      </p:sp>
      <p:sp>
        <p:nvSpPr>
          <p:cNvPr id="13" name="Ask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Icon FaDatabase"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0F766E"/>
          </a:solidFill>
          <a:ln w="12700">
            <a:solidFill>
              <a:srgbClr val="0F766E"/>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Ask for three results before cut-over</a:t>
            </a:r>
            <a:endParaRPr lang="en-US" sz="1800" dirty="0"/>
          </a:p>
          <a:p>
            <a:pPr indent="0" marL="0">
              <a:buNone/>
            </a:pPr>
            <a:r>
              <a:rPr lang="en-US" sz="1450" dirty="0">
                <a:solidFill>
                  <a:schemeClr val="tx2"/>
                </a:solidFill>
              </a:rPr>
              <a:t>Counts, a checksum and business totals; no dual writes</a:t>
            </a:r>
            <a:endParaRPr lang="en-US" sz="1800" dirty="0"/>
          </a:p>
        </p:txBody>
      </p:sp>
      <p:sp>
        <p:nvSpPr>
          <p:cNvPr id="17" name="Ask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8" name="Icon FaUserCheck"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45309"/>
          </a:solidFill>
          <a:ln w="12700">
            <a:solidFill>
              <a:srgbClr val="B45309"/>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Every agent has a sponsor</a:t>
            </a:r>
            <a:endParaRPr lang="en-US" sz="1800" dirty="0"/>
          </a:p>
          <a:p>
            <a:pPr indent="0" marL="0">
              <a:buNone/>
            </a:pPr>
            <a:r>
              <a:rPr lang="en-US" sz="1450" dirty="0">
                <a:solidFill>
                  <a:schemeClr val="tx2"/>
                </a:solidFill>
              </a:rPr>
              <a:t>Agents propose; people approve; services apply</a:t>
            </a:r>
            <a:endParaRPr lang="en-US" sz="18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Route"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Next step: </a:t>
            </a:r>
            <a:pPr indent="0" marL="0">
              <a:buNone/>
            </a:pPr>
            <a:r>
              <a:rPr lang="en-US" sz="1650" dirty="0">
                <a:solidFill>
                  <a:schemeClr val="tx2"/>
                </a:solidFill>
              </a:rPr>
              <a:t>score a pilot set of 30 to 50 applications that experienced architects already know, calibrate the rubric against their judgment, then choose a pilot wave with one representative hard case.</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GAO-25-107795; OMB Circular A-130; AWS and Microsoft wave-planning guidance; OWASP LLM06:2025. Book 18, Chapters 01, 02, 04, 05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policy, GAO and NIST</a:t>
            </a:r>
            <a:endParaRPr lang="en-US" sz="3000" dirty="0"/>
          </a:p>
        </p:txBody>
      </p:sp>
      <p:sp>
        <p:nvSpPr>
          <p:cNvPr id="3" name="Source list"/>
          <p:cNvSpPr txBox="1"/>
          <p:nvPr/>
        </p:nvSpPr>
        <p:spPr>
          <a:xfrm>
            <a:off x="548640" y="1371600"/>
            <a:ext cx="11064240" cy="46177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2"/>
                </a:solidFill>
              </a:rPr>
              <a:t>GAO: GAO-25-107795, Agencies Need to Plan for Modernizing Critical Decades-Old Legacy Systems (July 17, 2025) and its product page (status as of February 2026); GAO-19-471, Agencies Need to Develop Modernization Plans for Critical Legacy Systems (June 11, 2019).</a:t>
            </a:r>
            <a:endParaRPr lang="en-US" sz="1250" dirty="0"/>
          </a:p>
          <a:p>
            <a:pPr marL="342900" indent="-342900">
              <a:spcAft>
                <a:spcPts val="600"/>
              </a:spcAft>
              <a:buSzPct val="100000"/>
              <a:buChar char="•"/>
            </a:pPr>
            <a:r>
              <a:rPr lang="en-US" sz="1250" dirty="0">
                <a:solidFill>
                  <a:schemeClr val="tx2"/>
                </a:solidFill>
              </a:rPr>
              <a:t>OMB: Circular A-130 (2016 revision), §5 and Appendices I–II; M-25-05 (January 15, 2025); M-25-21 and M-25-22 (April 3, 2025); M-26-05 (January 23, 2026); M-26-10 (March 31, 2026).  ·  FAR 48 CFR 39.103, FAC 2026-01 (March 13, 2026).</a:t>
            </a:r>
            <a:endParaRPr lang="en-US" sz="1250" dirty="0"/>
          </a:p>
          <a:p>
            <a:pPr marL="342900" indent="-342900">
              <a:spcAft>
                <a:spcPts val="600"/>
              </a:spcAft>
              <a:buSzPct val="100000"/>
              <a:buChar char="•"/>
            </a:pPr>
            <a:r>
              <a:rPr lang="en-US" sz="1250" dirty="0">
                <a:solidFill>
                  <a:schemeClr val="tx2"/>
                </a:solidFill>
              </a:rPr>
              <a:t>Statutes: 40 U.S.C. §11312; Modernizing Government Technology Act, Pub. L. 115-91 §1077(b); Technology Modernization Fund fit, process and 2026 call for proposals.</a:t>
            </a:r>
            <a:endParaRPr lang="en-US" sz="1250" dirty="0"/>
          </a:p>
          <a:p>
            <a:pPr marL="342900" indent="-342900">
              <a:spcAft>
                <a:spcPts val="600"/>
              </a:spcAft>
              <a:buSzPct val="100000"/>
              <a:buChar char="•"/>
            </a:pPr>
            <a:r>
              <a:rPr lang="en-US" sz="1250" dirty="0">
                <a:solidFill>
                  <a:schemeClr val="tx2"/>
                </a:solidFill>
              </a:rPr>
              <a:t>NIST: FIPS 199 (February 2004); SP 800-53 Rev. 5, release 5.2.0 (August 27, 2025) and SP 800-53B; SP 800-218 SSDF 1.1 (February 2022) and the 1.2 draft (December 17, 2025); SP 800-218A; SP 800-204, 800-204A–D and 800-190; AI 600-1 (July 2024).</a:t>
            </a:r>
            <a:endParaRPr lang="en-US" sz="1250" dirty="0"/>
          </a:p>
          <a:p>
            <a:pPr marL="342900" indent="-342900">
              <a:spcAft>
                <a:spcPts val="600"/>
              </a:spcAft>
              <a:buSzPct val="100000"/>
              <a:buChar char="•"/>
            </a:pPr>
            <a:r>
              <a:rPr lang="en-US" sz="1250" dirty="0">
                <a:solidFill>
                  <a:schemeClr val="tx2"/>
                </a:solidFill>
              </a:rPr>
              <a:t>CISA: Careful Adoption of Agentic AI Services (May 1, 2026); 2026 Minimum Elements for a Software Bill of Materials (July 29, 2026).</a:t>
            </a:r>
            <a:endParaRPr lang="en-US" sz="1250" dirty="0"/>
          </a:p>
          <a:p>
            <a:pPr marL="342900" indent="-342900">
              <a:spcAft>
                <a:spcPts val="600"/>
              </a:spcAft>
              <a:buSzPct val="100000"/>
              <a:buChar char="•"/>
            </a:pPr>
            <a:r>
              <a:rPr lang="en-US" sz="1250" dirty="0">
                <a:solidFill>
                  <a:schemeClr val="tx2"/>
                </a:solidFill>
              </a:rPr>
              <a:t>Full footnotes with links and access dates (October 28, 2026): Book 18, every chapter (whalermike.github.io/modernization-workbook/docs/books/b18-application-modernization/).</a:t>
            </a:r>
            <a:endParaRPr lang="en-US" sz="12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products, vendors and frameworks</a:t>
            </a:r>
            <a:endParaRPr lang="en-US" sz="3000" dirty="0"/>
          </a:p>
        </p:txBody>
      </p:sp>
      <p:sp>
        <p:nvSpPr>
          <p:cNvPr id="3" name="Source list"/>
          <p:cNvSpPr txBox="1"/>
          <p:nvPr/>
        </p:nvSpPr>
        <p:spPr>
          <a:xfrm>
            <a:off x="548640" y="1371600"/>
            <a:ext cx="11064240" cy="46177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2"/>
                </a:solidFill>
              </a:rPr>
              <a:t>Runtimes and specifications, as of October 28, 2026: OpenJDK JDK project; Microsoft Build of OpenJDK support roadmap; Spring Boot generations, releases and system requirements (4.1.2); Spring AI 2.0.2; React versions (19.3) and npm (19.3.1); Node.js releases and schedule; OpenAPI 3.2.1; OCI image, distribution and runtime specifications; Kubernetes releases; The Twelve-Factor App.</a:t>
            </a:r>
            <a:endParaRPr lang="en-US" sz="1250" dirty="0"/>
          </a:p>
          <a:p>
            <a:pPr marL="342900" indent="-342900">
              <a:spcAft>
                <a:spcPts val="600"/>
              </a:spcAft>
              <a:buSzPct val="100000"/>
              <a:buChar char="•"/>
            </a:pPr>
            <a:r>
              <a:rPr lang="en-US" sz="1250" dirty="0">
                <a:solidFill>
                  <a:schemeClr val="tx2"/>
                </a:solidFill>
              </a:rPr>
              <a:t>Data: PostgreSQL versioning policy and PostgreSQL 18 documentation; Oracle Database SQL Language Reference 23ai; Microsoft SQL Server Migration Assistant for Db2 and Oracle (v10.6); AWS Schema Conversion Tool, DMS Schema Conversion and DMS User Guide; Ora2Pg 25.0.</a:t>
            </a:r>
            <a:endParaRPr lang="en-US" sz="1250" dirty="0"/>
          </a:p>
          <a:p>
            <a:pPr marL="342900" indent="-342900">
              <a:spcAft>
                <a:spcPts val="600"/>
              </a:spcAft>
              <a:buSzPct val="100000"/>
              <a:buChar char="•"/>
            </a:pPr>
            <a:r>
              <a:rPr lang="en-US" sz="1250" dirty="0">
                <a:solidFill>
                  <a:schemeClr val="tx2"/>
                </a:solidFill>
              </a:rPr>
              <a:t>Patterns and AI: Martin Fowler, Strangler Fig (2024); Azure Architecture Center (Strangler Fig, Backends for Frontends, Transactional Outbox, Scheduler Agent Supervisor); OWASP Top 10 for LLM Applications 2025 and Top 10 for Agentic Applications 2026; Model Context Protocol specification 2026-07-28; GitHub Copilot modernization; AWS Transform for mainframe; Lewis et al. (2020).</a:t>
            </a:r>
            <a:endParaRPr lang="en-US" sz="1250" dirty="0"/>
          </a:p>
          <a:p>
            <a:pPr marL="342900" indent="-342900">
              <a:spcAft>
                <a:spcPts val="600"/>
              </a:spcAft>
              <a:buSzPct val="100000"/>
              <a:buChar char="•"/>
            </a:pPr>
            <a:r>
              <a:rPr lang="en-US" sz="1250" dirty="0">
                <a:solidFill>
                  <a:schemeClr val="tx2"/>
                </a:solidFill>
              </a:rPr>
              <a:t>Delivery and governance: AWS Prescriptive Guidance (7 Rs; large migrations; wave planning); Microsoft Cloud Adoption Framework and 6 Rs guidance; DORA; GitHub protected branches; SLSA 1.2; Nygard (2011); RFC 9457.  ·  Frameworks: The Open Group, TOGAF Standard, 10th Edition (C220); Zachman Framework 3.0.</a:t>
            </a:r>
            <a:endParaRPr lang="en-US" sz="1250" dirty="0"/>
          </a:p>
          <a:p>
            <a:pPr marL="342900" indent="-342900">
              <a:spcAft>
                <a:spcPts val="600"/>
              </a:spcAft>
              <a:buSzPct val="100000"/>
              <a:buChar char="•"/>
            </a:pPr>
            <a:r>
              <a:rPr lang="en-US" sz="1250" dirty="0">
                <a:solidFill>
                  <a:schemeClr val="tx2"/>
                </a:solidFill>
              </a:rPr>
              <a:t>Vendors and products are named as examples, not endorsements.</a:t>
            </a:r>
            <a:endParaRPr lang="en-US" sz="12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18 — Application Modernization</dc:title>
  <dc:subject>PptxGenJS Presentation</dc:subject>
  <dc:creator>Michael F. Stratton</dc:creator>
  <cp:lastModifiedBy>Michael F. Stratton</cp:lastModifiedBy>
  <cp:revision>1</cp:revision>
  <dcterms:created xsi:type="dcterms:W3CDTF">2026-10-29T05:13:57Z</dcterms:created>
  <dcterms:modified xsi:type="dcterms:W3CDTF">2026-10-29T05:13:57Z</dcterms:modified>
</cp:coreProperties>
</file>