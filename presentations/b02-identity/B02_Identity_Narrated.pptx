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36B658B9-63E0-0B5B-0BE2-A89FC06B46F9}">
          <p14:sldIdLst>
            <p14:sldId id="256"/>
            <p14:sldId id="257"/>
            <p14:sldId id="258"/>
          </p14:sldIdLst>
        </p14:section>
        <p14:section name="What changes" id="{AB1D69BD-30C9-C07E-F211-FD3127E8A71D}">
          <p14:sldIdLst>
            <p14:sldId id="259"/>
            <p14:sldId id="260"/>
            <p14:sldId id="261"/>
            <p14:sldId id="262"/>
          </p14:sldIdLst>
        </p14:section>
        <p14:section name="Who owns it" id="{88D589CD-7428-5AC1-C542-92FC8E6E5E4F}">
          <p14:sldIdLst>
            <p14:sldId id="263"/>
          </p14:sldIdLst>
        </p14:section>
        <p14:section name="How to do it" id="{F2DF7BCD-7E6E-2685-7605-EB5DB27C59D9}">
          <p14:sldIdLst>
            <p14:sldId id="264"/>
            <p14:sldId id="265"/>
            <p14:sldId id="266"/>
          </p14:sldIdLst>
        </p14:section>
        <p14:section name="Backup" id="{E0A784E4-1F72-8198-80D8-B40E0AA8FED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23813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Workbook: Book 02,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11"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5.xml"/><Relationship Id="rId9" Type="http://schemas.openxmlformats.org/officeDocument/2006/relationships/image" Target="../media/image14.png"/><Relationship Id="rId1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Active Directory to Entra ID</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6" name="Narration">
            <a:hlinkClick r:id="" action="ppaction://media"/>
            <a:extLst>
              <a:ext uri="{FF2B5EF4-FFF2-40B4-BE49-F238E27FC236}">
                <a16:creationId xmlns:a16="http://schemas.microsoft.com/office/drawing/2014/main" id="{8F13AE23-2601-7E56-F9D9-5FBD72B2028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0640"/>
    </mc:Choice>
    <mc:Fallback>
      <p:transition spd="slow" advTm="30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6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FEDERAL ZERO TRUST POLICY MOVED THE DECISION</a:t>
            </a:r>
            <a:endParaRPr lang="en-US" sz="1200" dirty="0"/>
          </a:p>
        </p:txBody>
      </p:sp>
      <p:sp>
        <p:nvSpPr>
          <p:cNvPr id="6" name="Icon FaLandmark"/>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descr="C:\Users\whale\git\mwb-b02\presentations\_build\icons\FaLandmark.png"/>
          <p:cNvPicPr>
            <a:picLocks noChangeAspect="1"/>
          </p:cNvPicPr>
          <p:nvPr/>
        </p:nvPicPr>
        <p:blipFill>
          <a:blip r:embed="rId5"/>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Agency staff use enterprise-managed identities and phishing-resistant MFA.</a:t>
            </a:r>
            <a:endParaRPr lang="en-US" sz="1400" dirty="0"/>
          </a:p>
        </p:txBody>
      </p:sp>
      <p:sp>
        <p:nvSpPr>
          <p:cNvPr id="9" name="Icon FaBook"/>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descr="C:\Users\whale\git\mwb-b02\presentations\_build\icons\FaBook.png"/>
          <p:cNvPicPr>
            <a:picLocks noChangeAspect="1"/>
          </p:cNvPicPr>
          <p:nvPr/>
        </p:nvPicPr>
        <p:blipFill>
          <a:blip r:embed="rId6"/>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No implicit trust from network location; every request is evaluated.</a:t>
            </a:r>
            <a:endParaRPr lang="en-US" sz="1400" dirty="0"/>
          </a:p>
        </p:txBody>
      </p:sp>
      <p:sp>
        <p:nvSpPr>
          <p:cNvPr id="12" name="Icon FaSitemap"/>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descr="C:\Users\whale\git\mwb-b02\presentations\_build\icons\FaSitemap.png"/>
          <p:cNvPicPr>
            <a:picLocks noChangeAspect="1"/>
          </p:cNvPicPr>
          <p:nvPr/>
        </p:nvPicPr>
        <p:blipFill>
          <a:blip r:embed="rId7"/>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CISA Zero Trust Maturity Model</a:t>
            </a:r>
            <a:endParaRPr lang="en-US" sz="1400" dirty="0"/>
          </a:p>
          <a:p>
            <a:pPr marL="0" indent="0">
              <a:buNone/>
            </a:pPr>
            <a:r>
              <a:rPr lang="en-US" sz="1450" dirty="0">
                <a:solidFill>
                  <a:schemeClr val="tx2"/>
                </a:solidFill>
              </a:rPr>
              <a:t>Identity is the first of five pillars.</a:t>
            </a:r>
            <a:endParaRPr lang="en-US" sz="1400" dirty="0"/>
          </a:p>
        </p:txBody>
      </p:sp>
      <p:sp>
        <p:nvSpPr>
          <p:cNvPr id="15" name="Consequence box"/>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descr="C:\Users\whale\git\mwb-b02\presentations\_build\icons\FaIdCard.png"/>
          <p:cNvPicPr>
            <a:picLocks noChangeAspect="1"/>
          </p:cNvPicPr>
          <p:nvPr/>
        </p:nvPicPr>
        <p:blipFill>
          <a:blip r:embed="rId8"/>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THAT MEANS</a:t>
            </a:r>
            <a:endParaRPr lang="en-US" sz="1400" dirty="0"/>
          </a:p>
          <a:p>
            <a:pPr marL="0" indent="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marL="0" indent="0">
              <a:buNone/>
            </a:pPr>
            <a:r>
              <a:rPr lang="en-US" sz="1500" b="1" dirty="0">
                <a:solidFill>
                  <a:srgbClr val="1F2A44"/>
                </a:solidFill>
              </a:rPr>
              <a:t>If those facts are wrong, every policy built on them is wrong.</a:t>
            </a:r>
            <a:endParaRPr lang="en-US" sz="1500" dirty="0"/>
          </a:p>
        </p:txBody>
      </p:sp>
      <p:sp>
        <p:nvSpPr>
          <p:cNvPr id="21" name="Not an upgrade"/>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descr="C:\Users\whale\git\mwb-b02\presentations\_build\icons\FaTriangleExclamation.png"/>
          <p:cNvPicPr>
            <a:picLocks noChangeAspect="1"/>
          </p:cNvPicPr>
          <p:nvPr/>
        </p:nvPicPr>
        <p:blipFill>
          <a:blip r:embed="rId9"/>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directory upgrade: </a:t>
            </a: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(Aug. 2020); CISA ZTMM v2.0 (Apr. 2023). Book 02,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a:hlinkClick r:id="" action="ppaction://media"/>
            <a:extLst>
              <a:ext uri="{FF2B5EF4-FFF2-40B4-BE49-F238E27FC236}">
                <a16:creationId xmlns:a16="http://schemas.microsoft.com/office/drawing/2014/main" id="{2BBF1DC9-9887-BC34-4BA4-9EFD1E2EE450}"/>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320"/>
    </mc:Choice>
    <mc:Fallback>
      <p:transition spd="slow" advTm="65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32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 1"/>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marL="0" indent="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marL="0" indent="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marL="0" indent="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marL="0" indent="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marL="0" indent="0">
              <a:buNone/>
            </a:pPr>
            <a:r>
              <a:rPr lang="en-US" sz="1550" b="1" dirty="0">
                <a:solidFill>
                  <a:srgbClr val="1F2A44"/>
                </a:solidFill>
              </a:rPr>
              <a:t>Microsoft's direction: </a:t>
            </a: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PlugCircleXmark"/>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descr="C:\Users\whale\git\mwb-b02\presentations\_build\icons\FaPlugCircleXmark.png"/>
          <p:cNvPicPr>
            <a:picLocks noChangeAspect="1"/>
          </p:cNvPicPr>
          <p:nvPr/>
        </p:nvPicPr>
        <p:blipFill>
          <a:blip r:embed="rId5"/>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The trap — lift and shift: </a:t>
            </a: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9" name="Narration">
            <a:hlinkClick r:id="" action="ppaction://media"/>
            <a:extLst>
              <a:ext uri="{FF2B5EF4-FFF2-40B4-BE49-F238E27FC236}">
                <a16:creationId xmlns:a16="http://schemas.microsoft.com/office/drawing/2014/main" id="{09F8277D-E1F6-B5DD-9B7D-DF66A92F9D8C}"/>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190"/>
    </mc:Choice>
    <mc:Fallback>
      <p:transition spd="slow" advTm="85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19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1965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Key idea"/>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ightLeft"/>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descr="C:\Users\whale\git\mwb-b02\presentations\_build\icons\FaRightLeft.png"/>
          <p:cNvPicPr>
            <a:picLocks noChangeAspect="1"/>
          </p:cNvPicPr>
          <p:nvPr/>
        </p:nvPicPr>
        <p:blipFill>
          <a:blip r:embed="rId5"/>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key idea: </a:t>
            </a: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a:hlinkClick r:id="" action="ppaction://media"/>
            <a:extLst>
              <a:ext uri="{FF2B5EF4-FFF2-40B4-BE49-F238E27FC236}">
                <a16:creationId xmlns:a16="http://schemas.microsoft.com/office/drawing/2014/main" id="{26B2550F-F566-7EFD-ECE2-0B3817A211A6}"/>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370"/>
    </mc:Choice>
    <mc:Fallback>
      <p:transition spd="slow" advTm="71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36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marL="0" indent="0">
              <a:buNone/>
            </a:pPr>
            <a:r>
              <a:rPr lang="en-US" sz="1600" dirty="0">
                <a:solidFill>
                  <a:srgbClr val="334155"/>
                </a:solidFill>
              </a:rPr>
              <a:t>Most plans count users and groups. Active Directory also holds the estate together:</a:t>
            </a:r>
            <a:endParaRPr lang="en-US" sz="1600" dirty="0"/>
          </a:p>
        </p:txBody>
      </p:sp>
      <p:sp>
        <p:nvSpPr>
          <p:cNvPr id="6" name="Dep 1"/>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descr="C:\Users\whale\git\mwb-b02\presentations\_build\icons\FaGlobe.png"/>
          <p:cNvPicPr>
            <a:picLocks noChangeAspect="1"/>
          </p:cNvPicPr>
          <p:nvPr/>
        </p:nvPicPr>
        <p:blipFill>
          <a:blip r:embed="rId5"/>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DNS, DHCP and IPAM</a:t>
            </a:r>
            <a:endParaRPr lang="en-US" sz="1400" dirty="0"/>
          </a:p>
          <a:p>
            <a:pPr marL="0" indent="0">
              <a:buNone/>
            </a:pPr>
            <a:r>
              <a:rPr lang="en-US" sz="1250" dirty="0">
                <a:solidFill>
                  <a:schemeClr val="tx2"/>
                </a:solidFill>
              </a:rPr>
              <a:t>AD-integrated zones and the records apps depend on</a:t>
            </a:r>
            <a:endParaRPr lang="en-US" sz="1400" dirty="0"/>
          </a:p>
        </p:txBody>
      </p:sp>
      <p:sp>
        <p:nvSpPr>
          <p:cNvPr id="10" name="Dep 2"/>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Key"/>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descr="C:\Users\whale\git\mwb-b02\presentations\_build\icons\FaKey.png"/>
          <p:cNvPicPr>
            <a:picLocks noChangeAspect="1"/>
          </p:cNvPicPr>
          <p:nvPr/>
        </p:nvPicPr>
        <p:blipFill>
          <a:blip r:embed="rId6"/>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Certificates (AD CS)</a:t>
            </a:r>
            <a:endParaRPr lang="en-US" sz="1400" dirty="0"/>
          </a:p>
          <a:p>
            <a:pPr marL="0" indent="0">
              <a:buNone/>
            </a:pPr>
            <a:r>
              <a:rPr lang="en-US" sz="1250" dirty="0">
                <a:solidFill>
                  <a:schemeClr val="tx2"/>
                </a:solidFill>
              </a:rPr>
              <a:t>Smart card, Wi-Fi, VPN and server certificates</a:t>
            </a:r>
            <a:endParaRPr lang="en-US" sz="1400" dirty="0"/>
          </a:p>
        </p:txBody>
      </p:sp>
      <p:sp>
        <p:nvSpPr>
          <p:cNvPr id="14" name="Dep 3"/>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Route"/>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descr="C:\Users\whale\git\mwb-b02\presentations\_build\icons\FaRoute.png"/>
          <p:cNvPicPr>
            <a:picLocks noChangeAspect="1"/>
          </p:cNvPicPr>
          <p:nvPr/>
        </p:nvPicPr>
        <p:blipFill>
          <a:blip r:embed="rId7"/>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RADIUS / NPS</a:t>
            </a:r>
            <a:endParaRPr lang="en-US" sz="1400" dirty="0"/>
          </a:p>
          <a:p>
            <a:pPr marL="0" indent="0">
              <a:buNone/>
            </a:pPr>
            <a:r>
              <a:rPr lang="en-US" sz="1250" dirty="0">
                <a:solidFill>
                  <a:schemeClr val="tx2"/>
                </a:solidFill>
              </a:rPr>
              <a:t>802.1X Wi-Fi and VPN sign-in through AD</a:t>
            </a:r>
            <a:endParaRPr lang="en-US" sz="1400" dirty="0"/>
          </a:p>
        </p:txBody>
      </p:sp>
      <p:sp>
        <p:nvSpPr>
          <p:cNvPr id="18" name="Dep 4"/>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PlugCircleXmark"/>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descr="C:\Users\whale\git\mwb-b02\presentations\_build\icons\FaPlugCircleXmark.png"/>
          <p:cNvPicPr>
            <a:picLocks noChangeAspect="1"/>
          </p:cNvPicPr>
          <p:nvPr/>
        </p:nvPicPr>
        <p:blipFill>
          <a:blip r:embed="rId8"/>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LDAP-bound apps</a:t>
            </a:r>
            <a:endParaRPr lang="en-US" sz="1400" dirty="0"/>
          </a:p>
          <a:p>
            <a:pPr marL="0" indent="0">
              <a:buNone/>
            </a:pPr>
            <a:r>
              <a:rPr lang="en-US" sz="1250" dirty="0">
                <a:solidFill>
                  <a:schemeClr val="tx2"/>
                </a:solidFill>
              </a:rPr>
              <a:t>Applications that bind and search the directory</a:t>
            </a:r>
            <a:endParaRPr lang="en-US" sz="1400" dirty="0"/>
          </a:p>
        </p:txBody>
      </p:sp>
      <p:sp>
        <p:nvSpPr>
          <p:cNvPr id="22" name="Dep 5"/>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ArrowsRotate"/>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descr="C:\Users\whale\git\mwb-b02\presentations\_build\icons\FaArrowsRotate.png"/>
          <p:cNvPicPr>
            <a:picLocks noChangeAspect="1"/>
          </p:cNvPicPr>
          <p:nvPr/>
        </p:nvPicPr>
        <p:blipFill>
          <a:blip r:embed="rId9"/>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The sync engine</a:t>
            </a:r>
            <a:endParaRPr lang="en-US" sz="1400" dirty="0"/>
          </a:p>
          <a:p>
            <a:pPr marL="0" indent="0">
              <a:buNone/>
            </a:pPr>
            <a:r>
              <a:rPr lang="en-US" sz="1250" dirty="0">
                <a:solidFill>
                  <a:schemeClr val="tx2"/>
                </a:solidFill>
              </a:rPr>
              <a:t>Connect Sync or Cloud Sync, a tier 0 asset</a:t>
            </a:r>
            <a:endParaRPr lang="en-US" sz="1400" dirty="0"/>
          </a:p>
        </p:txBody>
      </p:sp>
      <p:sp>
        <p:nvSpPr>
          <p:cNvPr id="26" name="Dep 6"/>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7" name="Icon FaLaptop"/>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descr="C:\Users\whale\git\mwb-b02\presentations\_build\icons\FaLaptop.png"/>
          <p:cNvPicPr>
            <a:picLocks noChangeAspect="1"/>
          </p:cNvPicPr>
          <p:nvPr/>
        </p:nvPicPr>
        <p:blipFill>
          <a:blip r:embed="rId10"/>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Devices</a:t>
            </a:r>
            <a:endParaRPr lang="en-US" sz="1400" dirty="0"/>
          </a:p>
          <a:p>
            <a:pPr marL="0" indent="0">
              <a:buNone/>
            </a:pPr>
            <a:r>
              <a:rPr lang="en-US" sz="1250" dirty="0">
                <a:solidFill>
                  <a:schemeClr val="tx2"/>
                </a:solidFill>
              </a:rPr>
              <a:t>Domain join and GPO, moving to Intune and Arc</a:t>
            </a:r>
            <a:endParaRPr lang="en-US" sz="1400" dirty="0"/>
          </a:p>
        </p:txBody>
      </p:sp>
      <p:sp>
        <p:nvSpPr>
          <p:cNvPr id="30" name="Dep 7"/>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UserClock"/>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descr="C:\Users\whale\git\mwb-b02\presentations\_build\icons\FaUserClock.png"/>
          <p:cNvPicPr>
            <a:picLocks noChangeAspect="1"/>
          </p:cNvPicPr>
          <p:nvPr/>
        </p:nvPicPr>
        <p:blipFill>
          <a:blip r:embed="rId11"/>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Time</a:t>
            </a:r>
            <a:endParaRPr lang="en-US" sz="1400" dirty="0"/>
          </a:p>
          <a:p>
            <a:pPr marL="0" indent="0">
              <a:buNone/>
            </a:pPr>
            <a:r>
              <a:rPr lang="en-US" sz="1250" dirty="0">
                <a:solidFill>
                  <a:schemeClr val="tx2"/>
                </a:solidFill>
              </a:rPr>
              <a:t>Kerberos needs synchronized clocks across the hierarchy</a:t>
            </a:r>
            <a:endParaRPr lang="en-US" sz="1400" dirty="0"/>
          </a:p>
        </p:txBody>
      </p:sp>
      <p:sp>
        <p:nvSpPr>
          <p:cNvPr id="34" name="Dep 8"/>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5" name="Icon FaDatabase"/>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descr="C:\Users\whale\git\mwb-b02\presentations\_build\icons\FaDatabase.png"/>
          <p:cNvPicPr>
            <a:picLocks noChangeAspect="1"/>
          </p:cNvPicPr>
          <p:nvPr/>
        </p:nvPicPr>
        <p:blipFill>
          <a:blip r:embed="rId12"/>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File services and DFS</a:t>
            </a:r>
            <a:endParaRPr lang="en-US" sz="1400" dirty="0"/>
          </a:p>
          <a:p>
            <a:pPr marL="0" indent="0">
              <a:buNone/>
            </a:pPr>
            <a:r>
              <a:rPr lang="en-US" sz="1250" dirty="0">
                <a:solidFill>
                  <a:schemeClr val="tx2"/>
                </a:solidFill>
              </a:rPr>
              <a:t>Share permissions bound to AD groups</a:t>
            </a:r>
            <a:endParaRPr lang="en-US" sz="1400" dirty="0"/>
          </a:p>
        </p:txBody>
      </p:sp>
      <p:sp>
        <p:nvSpPr>
          <p:cNvPr id="38" name="Adapters"/>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9" name="Icon FaCubes"/>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descr="C:\Users\whale\git\mwb-b02\presentations\_build\icons\FaCubes.png"/>
          <p:cNvPicPr>
            <a:picLocks noChangeAspect="1"/>
          </p:cNvPicPr>
          <p:nvPr/>
        </p:nvPicPr>
        <p:blipFill>
          <a:blip r:embed="rId13"/>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program's answer: </a:t>
            </a: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4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44" name="Narration">
            <a:hlinkClick r:id="" action="ppaction://media"/>
            <a:extLst>
              <a:ext uri="{FF2B5EF4-FFF2-40B4-BE49-F238E27FC236}">
                <a16:creationId xmlns:a16="http://schemas.microsoft.com/office/drawing/2014/main" id="{972C06EF-0978-BE4A-99F4-702AB56C4367}"/>
              </a:ext>
            </a:extLst>
          </p:cNvPr>
          <p:cNvPicPr>
            <a:picLocks noChangeAspect="1"/>
          </p:cNvPicPr>
          <p:nvPr>
            <a:audioFile r:link="rId2"/>
            <p:extLst>
              <p:ext uri="{DAA4B4D4-6D71-4841-9C94-3DE7FCFB9230}">
                <p14:media xmlns:p14="http://schemas.microsoft.com/office/powerpoint/2010/main" r:embed="rId1"/>
              </p:ext>
            </p:extLst>
          </p:nvPr>
        </p:nvPicPr>
        <p:blipFill>
          <a:blip r:embed="rId14"/>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00"/>
    </mc:Choice>
    <mc:Fallback>
      <p:transition spd="slow" advTm="6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96"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ier 0"/>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marL="0" indent="0">
              <a:buNone/>
            </a:pPr>
            <a:r>
              <a:rPr lang="en-US" sz="1650" b="1" dirty="0">
                <a:solidFill>
                  <a:srgbClr val="B91C1C"/>
                </a:solidFill>
              </a:rPr>
              <a:t>Tier 0  ·  Tenant-wide control</a:t>
            </a:r>
            <a:endParaRPr lang="en-US" sz="1400" dirty="0"/>
          </a:p>
          <a:p>
            <a:pPr marL="0" indent="0">
              <a:buNone/>
            </a:pPr>
            <a:r>
              <a:rPr lang="en-US" sz="1400" dirty="0">
                <a:solidFill>
                  <a:schemeClr val="tx2"/>
                </a:solidFill>
              </a:rPr>
              <a:t>Global Administrator and similar roles; break-glass accounts; activated just in time</a:t>
            </a:r>
            <a:endParaRPr lang="en-US" sz="1400" dirty="0"/>
          </a:p>
        </p:txBody>
      </p:sp>
      <p:sp>
        <p:nvSpPr>
          <p:cNvPr id="7" name="Tier 1"/>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marL="0" indent="0">
              <a:buNone/>
            </a:pPr>
            <a:r>
              <a:rPr lang="en-US" sz="1650" b="1" dirty="0">
                <a:solidFill>
                  <a:srgbClr val="B45309"/>
                </a:solidFill>
              </a:rPr>
              <a:t>Tier 1  ·  Service administration</a:t>
            </a:r>
            <a:endParaRPr lang="en-US" sz="1400" dirty="0"/>
          </a:p>
          <a:p>
            <a:pPr marL="0" indent="0">
              <a:buNone/>
            </a:pPr>
            <a:r>
              <a:rPr lang="en-US" sz="1400" dirty="0">
                <a:solidFill>
                  <a:schemeClr val="tx2"/>
                </a:solidFill>
              </a:rPr>
              <a:t>Exchange, Intune, security; scoped where the role allows it</a:t>
            </a:r>
            <a:endParaRPr lang="en-US" sz="1400" dirty="0"/>
          </a:p>
        </p:txBody>
      </p:sp>
      <p:sp>
        <p:nvSpPr>
          <p:cNvPr id="9" name="Tier 2"/>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marL="0" indent="0">
              <a:buNone/>
            </a:pPr>
            <a:r>
              <a:rPr lang="en-US" sz="1650" b="1" dirty="0">
                <a:solidFill>
                  <a:srgbClr val="0F766E"/>
                </a:solidFill>
              </a:rPr>
              <a:t>Tier 2  ·  Department administration</a:t>
            </a:r>
            <a:endParaRPr lang="en-US" sz="1400" dirty="0"/>
          </a:p>
          <a:p>
            <a:pPr marL="0" indent="0">
              <a:buNone/>
            </a:pPr>
            <a:r>
              <a:rPr lang="en-US" sz="1400" dirty="0">
                <a:solidFill>
                  <a:schemeClr val="tx2"/>
                </a:solidFill>
              </a:rPr>
              <a:t>Help desk and local admins, scoped to administrative units</a:t>
            </a:r>
            <a:endParaRPr lang="en-US" sz="1400" dirty="0"/>
          </a:p>
        </p:txBody>
      </p:sp>
      <p:sp>
        <p:nvSpPr>
          <p:cNvPr id="11" name="Facts box"/>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caleBalanced"/>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descr="C:\Users\whale\git\mwb-b02\presentations\_build\icons\FaScaleBalanced.png"/>
          <p:cNvPicPr>
            <a:picLocks noChangeAspect="1"/>
          </p:cNvPicPr>
          <p:nvPr/>
        </p:nvPicPr>
        <p:blipFill>
          <a:blip r:embed="rId5"/>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Program decision: </a:t>
            </a: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a:hlinkClick r:id="" action="ppaction://media"/>
            <a:extLst>
              <a:ext uri="{FF2B5EF4-FFF2-40B4-BE49-F238E27FC236}">
                <a16:creationId xmlns:a16="http://schemas.microsoft.com/office/drawing/2014/main" id="{5EDC55F9-D3E4-4C9A-FA31-C326A8E519FE}"/>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000"/>
    </mc:Choice>
    <mc:Fallback>
      <p:transition spd="slow" advTm="7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00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7772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ff box"/>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p:cNvSpPr/>
          <p:nvPr/>
        </p:nvSpPr>
        <p:spPr>
          <a:xfrm>
            <a:off x="7406640" y="1600200"/>
            <a:ext cx="640080" cy="640080"/>
          </a:xfrm>
          <a:prstGeom prst="ellipse">
            <a:avLst/>
          </a:prstGeom>
          <a:solidFill>
            <a:srgbClr val="B91C1C"/>
          </a:solidFill>
          <a:ln w="12700">
            <a:solidFill>
              <a:srgbClr val="B91C1C"/>
            </a:solidFill>
            <a:prstDash val="solid"/>
          </a:ln>
        </p:spPr>
      </p:sp>
      <p:pic>
        <p:nvPicPr>
          <p:cNvPr id="5" name="Image 0" descr="C:\Users\whale\git\mwb-b02\presentations\_build\icons\FaLock.png"/>
          <p:cNvPicPr>
            <a:picLocks noChangeAspect="1"/>
          </p:cNvPicPr>
          <p:nvPr/>
        </p:nvPicPr>
        <p:blipFill>
          <a:blip r:embed="rId5"/>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marL="0" indent="0">
              <a:buNone/>
            </a:pPr>
            <a:r>
              <a:rPr lang="en-US" sz="1200" b="1" dirty="0">
                <a:solidFill>
                  <a:srgbClr val="64748B"/>
                </a:solidFill>
              </a:rPr>
              <a:t>WHAT GOES AWAY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descr="C:\Users\whale\git\mwb-b02\presentations\_build\icons\FaKey.png"/>
          <p:cNvPicPr>
            <a:picLocks noChangeAspect="1"/>
          </p:cNvPicPr>
          <p:nvPr/>
        </p:nvPicPr>
        <p:blipFill>
          <a:blip r:embed="rId6"/>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What stays on: </a:t>
            </a: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a:hlinkClick r:id="" action="ppaction://media"/>
            <a:extLst>
              <a:ext uri="{FF2B5EF4-FFF2-40B4-BE49-F238E27FC236}">
                <a16:creationId xmlns:a16="http://schemas.microsoft.com/office/drawing/2014/main" id="{257676EE-2662-5019-9027-8B2F90E43572}"/>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830"/>
    </mc:Choice>
    <mc:Fallback>
      <p:transition spd="slow" advTm="90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8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2\presentations\_build\icons\FaBuildingColumns.png"/>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executive sponsor</a:t>
            </a:r>
            <a:endParaRPr lang="en-US" sz="1450" dirty="0"/>
          </a:p>
          <a:p>
            <a:pPr marL="0" indent="0">
              <a:spcAft>
                <a:spcPts val="600"/>
              </a:spcAft>
              <a:buNone/>
            </a:pPr>
            <a:r>
              <a:rPr lang="en-US" sz="1450" dirty="0">
                <a:solidFill>
                  <a:schemeClr val="tx2"/>
                </a:solidFill>
              </a:rPr>
              <a:t>Scope, funding, sequence</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Control requirements for the target</a:t>
            </a:r>
            <a:endParaRPr lang="en-US" sz="1450" dirty="0"/>
          </a:p>
          <a:p>
            <a:pPr marL="0" indent="0">
              <a:spcAft>
                <a:spcPts val="600"/>
              </a:spcAft>
              <a:buNone/>
            </a:pPr>
            <a:r>
              <a:rPr lang="en-US" sz="1450" b="1" dirty="0">
                <a:solidFill>
                  <a:srgbClr val="1F2A44"/>
                </a:solidFill>
              </a:rPr>
              <a:t>Authorizing official</a:t>
            </a:r>
            <a:endParaRPr lang="en-US" sz="1450" dirty="0"/>
          </a:p>
          <a:p>
            <a:pPr marL="0" indent="0">
              <a:spcAft>
                <a:spcPts val="600"/>
              </a:spcAft>
              <a:buNone/>
            </a:pPr>
            <a:r>
              <a:rPr lang="en-US" sz="1450" dirty="0">
                <a:solidFill>
                  <a:schemeClr val="tx2"/>
                </a:solidFill>
              </a:rPr>
              <a:t>Accepts any risk carried instead of removed</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2\presentations\_build\icons\FaUsersGear.png"/>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Sync, authentication, Conditional Access, PIM, AUs</a:t>
            </a:r>
            <a:endParaRPr lang="en-US" sz="1450" dirty="0"/>
          </a:p>
          <a:p>
            <a:pPr marL="0" indent="0">
              <a:spcAft>
                <a:spcPts val="600"/>
              </a:spcAft>
              <a:buNone/>
            </a:pPr>
            <a:r>
              <a:rPr lang="en-US" sz="1450" b="1" dirty="0">
                <a:solidFill>
                  <a:srgbClr val="0F766E"/>
                </a:solidFill>
              </a:rPr>
              <a:t>AD administrators</a:t>
            </a:r>
            <a:endParaRPr lang="en-US" sz="1450" dirty="0"/>
          </a:p>
          <a:p>
            <a:pPr marL="0" indent="0">
              <a:spcAft>
                <a:spcPts val="600"/>
              </a:spcAft>
              <a:buNone/>
            </a:pPr>
            <a:r>
              <a:rPr lang="en-US" sz="1450" dirty="0">
                <a:solidFill>
                  <a:schemeClr val="tx2"/>
                </a:solidFill>
              </a:rPr>
              <a:t>Clean the source; retire it at the end</a:t>
            </a:r>
            <a:endParaRPr lang="en-US" sz="1450" dirty="0"/>
          </a:p>
          <a:p>
            <a:pPr marL="0" indent="0">
              <a:spcAft>
                <a:spcPts val="600"/>
              </a:spcAft>
              <a:buNone/>
            </a:pPr>
            <a:r>
              <a:rPr lang="en-US" sz="1450" b="1" dirty="0">
                <a:solidFill>
                  <a:srgbClr val="0F766E"/>
                </a:solidFill>
              </a:rPr>
              <a:t>ISSO</a:t>
            </a:r>
            <a:endParaRPr lang="en-US" sz="1450" dirty="0"/>
          </a:p>
          <a:p>
            <a:pPr marL="0" indent="0">
              <a:spcAft>
                <a:spcPts val="600"/>
              </a:spcAft>
              <a:buNone/>
            </a:pPr>
            <a:r>
              <a:rPr lang="en-US" sz="1450" dirty="0">
                <a:solidFill>
                  <a:schemeClr val="tx2"/>
                </a:solidFill>
              </a:rPr>
              <a:t>Evidence, findings, closure</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2\presentations\_build\icons\FaPeopleArrows.png"/>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HR</a:t>
            </a:r>
            <a:endParaRPr lang="en-US" sz="1450" dirty="0"/>
          </a:p>
          <a:p>
            <a:pPr marL="0" indent="0">
              <a:spcAft>
                <a:spcPts val="600"/>
              </a:spcAft>
              <a:buNone/>
            </a:pPr>
            <a:r>
              <a:rPr lang="en-US" sz="1450" dirty="0">
                <a:solidFill>
                  <a:schemeClr val="tx2"/>
                </a:solidFill>
              </a:rPr>
              <a:t>The facts the directory can't verify</a:t>
            </a:r>
            <a:endParaRPr lang="en-US" sz="1450" dirty="0"/>
          </a:p>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cutover windows</a:t>
            </a:r>
            <a:endParaRPr lang="en-US" sz="1450" dirty="0"/>
          </a:p>
          <a:p>
            <a:pPr marL="0" indent="0">
              <a:spcAft>
                <a:spcPts val="600"/>
              </a:spcAft>
              <a:buNone/>
            </a:pPr>
            <a:r>
              <a:rPr lang="en-US" sz="1450" b="1" dirty="0">
                <a:solidFill>
                  <a:srgbClr val="B45309"/>
                </a:solidFill>
              </a:rPr>
              <a:t>Help desk and users</a:t>
            </a:r>
            <a:endParaRPr lang="en-US" sz="1450" dirty="0"/>
          </a:p>
          <a:p>
            <a:pPr marL="0" indent="0">
              <a:spcAft>
                <a:spcPts val="600"/>
              </a:spcAft>
              <a:buNone/>
            </a:pPr>
            <a:r>
              <a:rPr lang="en-US" sz="1450" dirty="0">
                <a:solidFill>
                  <a:schemeClr val="tx2"/>
                </a:solidFill>
              </a:rPr>
              <a:t>Recovery, registration, wave readiness</a:t>
            </a:r>
            <a:endParaRPr lang="en-US" sz="1450" dirty="0"/>
          </a:p>
        </p:txBody>
      </p:sp>
      <p:sp>
        <p:nvSpPr>
          <p:cNvPr id="20" name="Gap owne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C:\Users\whale\git\mwb-b02\presentations\_build\icons\FaSitemap.png"/>
          <p:cNvPicPr>
            <a:picLocks noChangeAspect="1"/>
          </p:cNvPicPr>
          <p:nvPr/>
        </p:nvPicPr>
        <p:blipFill>
          <a:blip r:embed="rId8"/>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missing owner: </a:t>
            </a: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a:hlinkClick r:id="" action="ppaction://media"/>
            <a:extLst>
              <a:ext uri="{FF2B5EF4-FFF2-40B4-BE49-F238E27FC236}">
                <a16:creationId xmlns:a16="http://schemas.microsoft.com/office/drawing/2014/main" id="{03C474EB-AC5E-1A49-F20A-770B60589484}"/>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400"/>
    </mc:Choice>
    <mc:Fallback>
      <p:transition spd="slow" advTm="75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4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1"/>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400"/>
              </a:spcAft>
              <a:buNone/>
            </a:pPr>
            <a:r>
              <a:rPr lang="en-US" sz="1350" dirty="0">
                <a:solidFill>
                  <a:schemeClr val="tx2"/>
                </a:solidFill>
              </a:rPr>
              <a:t>Read-only first; ask for narrow, time-bound access</a:t>
            </a:r>
            <a:endParaRPr lang="en-US" sz="1400" dirty="0"/>
          </a:p>
          <a:p>
            <a:pPr marL="0" indent="0">
              <a:spcAft>
                <a:spcPts val="400"/>
              </a:spcAft>
              <a:buNone/>
            </a:pPr>
            <a:r>
              <a:rPr lang="en-US" sz="1200" i="1" dirty="0">
                <a:solidFill>
                  <a:srgbClr val="64748B"/>
                </a:solidFill>
              </a:rPr>
              <a:t>Ch 07</a:t>
            </a:r>
            <a:endParaRPr lang="en-US" sz="1400" dirty="0"/>
          </a:p>
        </p:txBody>
      </p:sp>
      <p:sp>
        <p:nvSpPr>
          <p:cNvPr id="8" name="Step 2"/>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marL="0" indent="0">
              <a:spcAft>
                <a:spcPts val="400"/>
              </a:spcAft>
              <a:buNone/>
            </a:pPr>
            <a:r>
              <a:rPr lang="en-US" sz="1350" dirty="0">
                <a:solidFill>
                  <a:schemeClr val="tx2"/>
                </a:solidFill>
              </a:rPr>
              <a:t>Full forest inventory, with secrets never requested</a:t>
            </a:r>
            <a:endParaRPr lang="en-US" sz="1400" dirty="0"/>
          </a:p>
          <a:p>
            <a:pPr marL="0" indent="0">
              <a:spcAft>
                <a:spcPts val="400"/>
              </a:spcAft>
              <a:buNone/>
            </a:pPr>
            <a:r>
              <a:rPr lang="en-US" sz="1200" i="1" dirty="0">
                <a:solidFill>
                  <a:srgbClr val="64748B"/>
                </a:solidFill>
              </a:rPr>
              <a:t>Ch 08</a:t>
            </a:r>
            <a:endParaRPr lang="en-US" sz="1400" dirty="0"/>
          </a:p>
        </p:txBody>
      </p:sp>
      <p:sp>
        <p:nvSpPr>
          <p:cNvPr id="11" name="Step 3"/>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marL="0" indent="0">
              <a:spcAft>
                <a:spcPts val="400"/>
              </a:spcAft>
              <a:buNone/>
            </a:pPr>
            <a:r>
              <a:rPr lang="en-US" sz="1350" dirty="0">
                <a:solidFill>
                  <a:schemeClr val="tx2"/>
                </a:solidFill>
              </a:rPr>
              <a:t>Cloud Sync, password hash sync, PIM, Conditional Access</a:t>
            </a:r>
            <a:endParaRPr lang="en-US" sz="1400" dirty="0"/>
          </a:p>
          <a:p>
            <a:pPr marL="0" indent="0">
              <a:spcAft>
                <a:spcPts val="400"/>
              </a:spcAft>
              <a:buNone/>
            </a:pPr>
            <a:r>
              <a:rPr lang="en-US" sz="1200" i="1" dirty="0">
                <a:solidFill>
                  <a:srgbClr val="64748B"/>
                </a:solidFill>
              </a:rPr>
              <a:t>Ch 09</a:t>
            </a:r>
            <a:endParaRPr lang="en-US" sz="1400" dirty="0"/>
          </a:p>
        </p:txBody>
      </p:sp>
      <p:sp>
        <p:nvSpPr>
          <p:cNvPr id="14" name="Step 4"/>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marL="0" indent="0">
              <a:spcAft>
                <a:spcPts val="400"/>
              </a:spcAft>
              <a:buNone/>
            </a:pPr>
            <a:r>
              <a:rPr lang="en-US" sz="1350" dirty="0">
                <a:solidFill>
                  <a:schemeClr val="tx2"/>
                </a:solidFill>
              </a:rPr>
              <a:t>Waves; phishing-resistant MFA; legacy auth off</a:t>
            </a:r>
            <a:endParaRPr lang="en-US" sz="1400" dirty="0"/>
          </a:p>
          <a:p>
            <a:pPr marL="0" indent="0">
              <a:spcAft>
                <a:spcPts val="400"/>
              </a:spcAft>
              <a:buNone/>
            </a:pPr>
            <a:r>
              <a:rPr lang="en-US" sz="1200" i="1" dirty="0">
                <a:solidFill>
                  <a:srgbClr val="64748B"/>
                </a:solidFill>
              </a:rPr>
              <a:t>Ch 10</a:t>
            </a:r>
            <a:endParaRPr lang="en-US" sz="1400" dirty="0"/>
          </a:p>
        </p:txBody>
      </p:sp>
      <p:sp>
        <p:nvSpPr>
          <p:cNvPr id="17" name="Step 5"/>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marL="0" indent="0">
              <a:spcAft>
                <a:spcPts val="400"/>
              </a:spcAft>
              <a:buNone/>
            </a:pPr>
            <a:r>
              <a:rPr lang="en-US" sz="1350" dirty="0">
                <a:solidFill>
                  <a:schemeClr val="tx2"/>
                </a:solidFill>
              </a:rPr>
              <a:t>Drift checks and an evidence bundle for the AO</a:t>
            </a:r>
            <a:endParaRPr lang="en-US" sz="1400" dirty="0"/>
          </a:p>
          <a:p>
            <a:pPr marL="0" indent="0">
              <a:spcAft>
                <a:spcPts val="400"/>
              </a:spcAft>
              <a:buNone/>
            </a:pPr>
            <a:r>
              <a:rPr lang="en-US" sz="1200" i="1" dirty="0">
                <a:solidFill>
                  <a:srgbClr val="64748B"/>
                </a:solidFill>
              </a:rPr>
              <a:t>Ch 10–11</a:t>
            </a:r>
            <a:endParaRPr lang="en-US" sz="1400" dirty="0"/>
          </a:p>
        </p:txBody>
      </p:sp>
      <p:sp>
        <p:nvSpPr>
          <p:cNvPr id="20" name="Rules"/>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descr="C:\Users\whale\git\mwb-b02\presentations\_build\icons\FaClipboardCheck.png"/>
          <p:cNvPicPr>
            <a:picLocks noChangeAspect="1"/>
          </p:cNvPicPr>
          <p:nvPr/>
        </p:nvPicPr>
        <p:blipFill>
          <a:blip r:embed="rId5"/>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Rules that hold every wave: </a:t>
            </a: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a:hlinkClick r:id="" action="ppaction://media"/>
            <a:extLst>
              <a:ext uri="{FF2B5EF4-FFF2-40B4-BE49-F238E27FC236}">
                <a16:creationId xmlns:a16="http://schemas.microsoft.com/office/drawing/2014/main" id="{FC004E95-8AEB-2877-6492-4BC15F2B8D4E}"/>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140"/>
    </mc:Choice>
    <mc:Fallback>
      <p:transition spd="slow" advTm="7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1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1  Discover   </a:t>
            </a:r>
            <a:r>
              <a:rPr lang="en-US" sz="1350" dirty="0">
                <a:solidFill>
                  <a:schemeClr val="tx2"/>
                </a:solidFill>
              </a:rPr>
              <a:t>Read-only survey of both forests; service-account and SPN inventory</a:t>
            </a:r>
            <a:endParaRPr lang="en-US" sz="1400" dirty="0"/>
          </a:p>
        </p:txBody>
      </p:sp>
      <p:sp>
        <p:nvSpPr>
          <p:cNvPr id="7" name="Phase 2"/>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2  Normalize   </a:t>
            </a:r>
            <a:r>
              <a:rPr lang="en-US" sz="1350" dirty="0">
                <a:solidFill>
                  <a:schemeClr val="tx2"/>
                </a:solidFill>
              </a:rPr>
              <a:t>An organizational registry; a finding for every unattributed principal</a:t>
            </a:r>
            <a:endParaRPr lang="en-US" sz="1400" dirty="0"/>
          </a:p>
        </p:txBody>
      </p:sp>
      <p:sp>
        <p:nvSpPr>
          <p:cNvPr id="9" name="Phase 3"/>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3  Map   </a:t>
            </a:r>
            <a:r>
              <a:rPr lang="en-US" sz="1350" dirty="0">
                <a:solidFill>
                  <a:schemeClr val="tx2"/>
                </a:solidFill>
              </a:rPr>
              <a:t>One adapter per surface: sync, PKI, RADIUS, SQL Server</a:t>
            </a:r>
            <a:endParaRPr lang="en-US" sz="1400" dirty="0"/>
          </a:p>
        </p:txBody>
      </p:sp>
      <p:sp>
        <p:nvSpPr>
          <p:cNvPr id="11" name="Phase 4"/>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4  Migrate   </a:t>
            </a:r>
            <a:r>
              <a:rPr lang="en-US" sz="1350" dirty="0">
                <a:solidFill>
                  <a:schemeClr val="tx2"/>
                </a:solidFill>
              </a:rPr>
              <a:t>Every change recorded with who asked, on what authority, and a state hash</a:t>
            </a:r>
            <a:endParaRPr lang="en-US" sz="1400" dirty="0"/>
          </a:p>
        </p:txBody>
      </p:sp>
      <p:sp>
        <p:nvSpPr>
          <p:cNvPr id="13" name="Phase 5"/>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5  Validate   </a:t>
            </a:r>
            <a:r>
              <a:rPr lang="en-US" sz="1350" dirty="0">
                <a:solidFill>
                  <a:schemeClr val="tx2"/>
                </a:solidFill>
              </a:rPr>
              <a:t>Before-and-after inventories compared; drift closed with evidence</a:t>
            </a:r>
            <a:endParaRPr lang="en-US" sz="1400" dirty="0"/>
          </a:p>
        </p:txBody>
      </p:sp>
      <p:sp>
        <p:nvSpPr>
          <p:cNvPr id="15" name="Bundle box"/>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FileShield"/>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descr="C:\Users\whale\git\mwb-b02\presentations\_build\icons\FaFileShield.png"/>
          <p:cNvPicPr>
            <a:picLocks noChangeAspect="1"/>
          </p:cNvPicPr>
          <p:nvPr/>
        </p:nvPicPr>
        <p:blipFill>
          <a:blip r:embed="rId5"/>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marL="0" indent="0">
              <a:buNone/>
            </a:pPr>
            <a:r>
              <a:rPr lang="en-US" sz="1200" b="1" dirty="0">
                <a:solidFill>
                  <a:srgbClr val="64748B"/>
                </a:solidFill>
              </a:rPr>
              <a:t>THE EVIDENCE BUNDLE</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Building"/>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descr="C:\Users\whale\git\mwb-b02\presentations\_build\icons\FaBuilding.png"/>
          <p:cNvPicPr>
            <a:picLocks noChangeAspect="1"/>
          </p:cNvPicPr>
          <p:nvPr/>
        </p:nvPicPr>
        <p:blipFill>
          <a:blip r:embed="rId6"/>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A framing pattern, not a real engagement: </a:t>
            </a: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a:hlinkClick r:id="" action="ppaction://media"/>
            <a:extLst>
              <a:ext uri="{FF2B5EF4-FFF2-40B4-BE49-F238E27FC236}">
                <a16:creationId xmlns:a16="http://schemas.microsoft.com/office/drawing/2014/main" id="{AF28C65E-7D0B-C08D-CC24-D455345228C3}"/>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620"/>
    </mc:Choice>
    <mc:Fallback>
      <p:transition spd="slow" advTm="8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C:\Users\whale\git\mwb-b02\presentations\_build\icons\FaUserCheck.png"/>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Sponsor, CISO, AO, identity engineering lead — and an owner for the gaps</a:t>
            </a:r>
            <a:endParaRPr lang="en-US" sz="1400" dirty="0"/>
          </a:p>
        </p:txBody>
      </p:sp>
      <p:sp>
        <p:nvSpPr>
          <p:cNvPr id="9" name="Ask 2"/>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C:\Users\whale\git\mwb-b02\presentations\_build\icons\FaListCheck.png"/>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marL="0" indent="0">
              <a:buNone/>
            </a:pPr>
            <a:r>
              <a:rPr lang="en-US" sz="1450" dirty="0">
                <a:solidFill>
                  <a:schemeClr val="tx2"/>
                </a:solidFill>
              </a:rPr>
              <a:t>No elevated access needed to begin; delegation follows the evidence</a:t>
            </a:r>
            <a:endParaRPr lang="en-US" sz="1400" dirty="0"/>
          </a:p>
        </p:txBody>
      </p:sp>
      <p:sp>
        <p:nvSpPr>
          <p:cNvPr id="13" name="Ask 3"/>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C:\Users\whale\git\mwb-b02\presentations\_build\icons\FaUserClock.png"/>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marL="0" indent="0">
              <a:buNone/>
            </a:pPr>
            <a:r>
              <a:rPr lang="en-US" sz="1450" dirty="0">
                <a:solidFill>
                  <a:schemeClr val="tx2"/>
                </a:solidFill>
              </a:rPr>
              <a:t>Connect Sync by April 7, 2027; NTLM and legacy auth off by wave</a:t>
            </a:r>
            <a:endParaRPr lang="en-US" sz="1400" dirty="0"/>
          </a:p>
        </p:txBody>
      </p:sp>
      <p:sp>
        <p:nvSpPr>
          <p:cNvPr id="17" name="Ask 4"/>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C:\Users\whale\git\mwb-b02\presentations\_build\icons\FaFileShield.png"/>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marL="0" indent="0">
              <a:buNone/>
            </a:pPr>
            <a:r>
              <a:rPr lang="en-US" sz="1450" dirty="0">
                <a:solidFill>
                  <a:schemeClr val="tx2"/>
                </a:solidFill>
              </a:rPr>
              <a:t>Every control backed by evidence an assessor can read</a:t>
            </a:r>
            <a:endParaRPr lang="en-US" sz="1400" dirty="0"/>
          </a:p>
        </p:txBody>
      </p:sp>
      <p:sp>
        <p:nvSpPr>
          <p:cNvPr id="21" name="Close"/>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C:\Users\whale\git\mwb-b02\presentations\_build\icons\FaBook.png"/>
          <p:cNvPicPr>
            <a:picLocks noChangeAspect="1"/>
          </p:cNvPicPr>
          <p:nvPr/>
        </p:nvPicPr>
        <p:blipFill>
          <a:blip r:embed="rId9"/>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a:hlinkClick r:id="" action="ppaction://media"/>
            <a:extLst>
              <a:ext uri="{FF2B5EF4-FFF2-40B4-BE49-F238E27FC236}">
                <a16:creationId xmlns:a16="http://schemas.microsoft.com/office/drawing/2014/main" id="{C87575CA-9614-4CA2-A999-D9674D81B74A}"/>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80"/>
    </mc:Choice>
    <mc:Fallback>
      <p:transition spd="slow" advTm="6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3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4042</Words>
  <Application>Microsoft Office PowerPoint</Application>
  <PresentationFormat>Widescreen</PresentationFormat>
  <Paragraphs>226</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Modernization Workbook</vt:lpstr>
      <vt:lpstr>Why Does Identity Matter?</vt:lpstr>
      <vt:lpstr>Identity is now where access is decided</vt:lpstr>
      <vt:lpstr>AD isn't retiring — but every road now points to the cloud</vt:lpstr>
      <vt:lpstr>Two directories, two different models</vt:lpstr>
      <vt:lpstr>The migration surface is much larger than users and groups</vt:lpstr>
      <vt:lpstr>Delegation has to be rebuilt without OUs</vt:lpstr>
      <vt:lpstr>Sign-in moves to phishing-resistant credentials</vt:lpstr>
      <vt:lpstr>Who decides, who does the work</vt:lpstr>
      <vt:lpstr>How: discover, assess, build, migrate, prove</vt:lpstr>
      <vt:lpstr>What a reference deployment produces</vt:lpstr>
      <vt:lpstr>What we're asking for</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Mike Stratton</dc:creator>
  <cp:lastModifiedBy>Michael Stratton</cp:lastModifiedBy>
  <cp:revision>2</cp:revision>
  <dcterms:created xsi:type="dcterms:W3CDTF">2026-10-20T16:08:52Z</dcterms:created>
  <dcterms:modified xsi:type="dcterms:W3CDTF">2026-10-20T16:09:15Z</dcterms:modified>
</cp:coreProperties>
</file>