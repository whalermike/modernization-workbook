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252D397D-F72B-6D7A-7C8D-65F278D89D7E}">
          <p14:sldIdLst>
            <p14:sldId id="256"/>
            <p14:sldId id="257"/>
            <p14:sldId id="258"/>
          </p14:sldIdLst>
        </p14:section>
        <p14:section name="What changes" id="{55052109-6183-7980-B9CE-AA6E0993BC8C}">
          <p14:sldIdLst>
            <p14:sldId id="259"/>
            <p14:sldId id="260"/>
            <p14:sldId id="261"/>
            <p14:sldId id="262"/>
          </p14:sldIdLst>
        </p14:section>
        <p14:section name="Who owns it" id="{F2A4C398-C262-7B73-F8D9-8BA02308393D}">
          <p14:sldIdLst>
            <p14:sldId id="263"/>
          </p14:sldIdLst>
        </p14:section>
        <p14:section name="How to do it" id="{FB486A26-0329-F58A-BA66-8CBA11CFD0E4}">
          <p14:sldIdLst>
            <p14:sldId id="264"/>
            <p14:sldId id="265"/>
            <p14:sldId id="266"/>
          </p14:sldIdLst>
        </p14:section>
        <p14:section name="Backup" id="{47BD790A-5004-4587-2BC3-D31C63DFD5A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63291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Workbook: Book 02,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11"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5.xml"/><Relationship Id="rId9" Type="http://schemas.openxmlformats.org/officeDocument/2006/relationships/image" Target="../media/image14.png"/><Relationship Id="rId14" Type="http://schemas.openxmlformats.org/officeDocument/2006/relationships/image" Target="../media/image3.png"/><Relationship Id="rId15"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5.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22381C0-BCC2-06D5-B28D-49FB0F472A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956B57-5DA5-4BE7-8BEA-4F403C29212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60"/>
    </mc:Choice>
    <mc:Fallback>
      <p:transition spd="slow" advTm="39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6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FEDERAL ZERO TRUST POLICY MOVED THE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Agency staff use enterprise-managed identities and phishing-resistant MFA.</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No implicit trust from network location; every request is evaluated.</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CISA Zero Trust Maturity Model</a:t>
            </a:r>
            <a:endParaRPr lang="en-US" sz="1400" dirty="0"/>
          </a:p>
          <a:p>
            <a:pPr marL="0" indent="0">
              <a:buNone/>
            </a:pPr>
            <a:r>
              <a:rPr lang="en-US" sz="1450" dirty="0">
                <a:solidFill>
                  <a:schemeClr val="tx2"/>
                </a:solidFill>
              </a:rPr>
              <a:t>Identity is the first of five pillars.</a:t>
            </a:r>
            <a:endParaRPr lang="en-US" sz="1400" dirty="0"/>
          </a:p>
        </p:txBody>
      </p:sp>
      <p:sp>
        <p:nvSpPr>
          <p:cNvPr id="15" name="Consequence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THAT MEANS</a:t>
            </a:r>
            <a:endParaRPr lang="en-US" sz="1400" dirty="0"/>
          </a:p>
          <a:p>
            <a:pPr marL="0" indent="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marL="0" indent="0">
              <a:buNone/>
            </a:pPr>
            <a:r>
              <a:rPr lang="en-US" sz="1500" b="1" dirty="0">
                <a:solidFill>
                  <a:srgbClr val="1F2A44"/>
                </a:solidFill>
              </a:rPr>
              <a:t>If those facts are wrong, every policy built on them is wrong.</a:t>
            </a:r>
            <a:endParaRPr lang="en-US" sz="1500" dirty="0"/>
          </a:p>
        </p:txBody>
      </p:sp>
      <p:sp>
        <p:nvSpPr>
          <p:cNvPr id="21" name="Not an upgrad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directory upgrade: </a:t>
            </a: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(Aug. 2020); CISA ZTMM v2.0 (Apr. 2023). Book 02,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D99CADA-8305-C459-D4E5-C18ECFAC79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D7B0A2-D966-4FF4-BD03-CF2C73A7313B}"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40"/>
    </mc:Choice>
    <mc:Fallback>
      <p:transition spd="slow" advTm="58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 1">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marL="0" indent="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marL="0" indent="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marL="0" indent="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marL="0" indent="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marL="0" indent="0">
              <a:buNone/>
            </a:pPr>
            <a:r>
              <a:rPr lang="en-US" sz="1550" b="1" dirty="0">
                <a:solidFill>
                  <a:srgbClr val="1F2A44"/>
                </a:solidFill>
              </a:rPr>
              <a:t>Microsoft's direction: </a:t>
            </a: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PlugCircleXmark">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The trap — lift and shift: </a:t>
            </a: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45D06C1-FB83-816A-4BB4-2BCFE28B1B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30072B-8D7F-43EE-AF6A-9FF251BD335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650"/>
    </mc:Choice>
    <mc:Fallback>
      <p:transition spd="slow" advTm="67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4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Key idea">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key idea: </a:t>
            </a: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049CD48-4DBE-75A6-7D56-118063ACFB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7475AE-6F50-4714-9313-906605AD850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040"/>
    </mc:Choice>
    <mc:Fallback>
      <p:transition spd="slow" advTm="60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0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marL="0" indent="0">
              <a:buNone/>
            </a:pPr>
            <a:r>
              <a:rPr lang="en-US" sz="1600" dirty="0">
                <a:solidFill>
                  <a:srgbClr val="334155"/>
                </a:solidFill>
              </a:rPr>
              <a:t>Most plans count users and groups. Active Directory also holds the estate together:</a:t>
            </a:r>
            <a:endParaRPr lang="en-US" sz="1600" dirty="0"/>
          </a:p>
        </p:txBody>
      </p:sp>
      <p:sp>
        <p:nvSpPr>
          <p:cNvPr id="6" name="Dep 1">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DNS, DHCP and IPAM</a:t>
            </a:r>
            <a:endParaRPr lang="en-US" sz="1400" dirty="0"/>
          </a:p>
          <a:p>
            <a:pPr marL="0" indent="0">
              <a:buNone/>
            </a:pPr>
            <a:r>
              <a:rPr lang="en-US" sz="1250" dirty="0">
                <a:solidFill>
                  <a:schemeClr val="tx2"/>
                </a:solidFill>
              </a:rPr>
              <a:t>AD-integrated zones and the records apps depend on</a:t>
            </a:r>
            <a:endParaRPr lang="en-US" sz="1400" dirty="0"/>
          </a:p>
        </p:txBody>
      </p:sp>
      <p:sp>
        <p:nvSpPr>
          <p:cNvPr id="10" name="Dep 2">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Certificates (AD CS)</a:t>
            </a:r>
            <a:endParaRPr lang="en-US" sz="1400" dirty="0"/>
          </a:p>
          <a:p>
            <a:pPr marL="0" indent="0">
              <a:buNone/>
            </a:pPr>
            <a:r>
              <a:rPr lang="en-US" sz="1250" dirty="0">
                <a:solidFill>
                  <a:schemeClr val="tx2"/>
                </a:solidFill>
              </a:rPr>
              <a:t>Smart card, Wi-Fi, VPN and server certificates</a:t>
            </a:r>
            <a:endParaRPr lang="en-US" sz="1400" dirty="0"/>
          </a:p>
        </p:txBody>
      </p:sp>
      <p:sp>
        <p:nvSpPr>
          <p:cNvPr id="14" name="Dep 3">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Route">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RADIUS / NPS</a:t>
            </a:r>
            <a:endParaRPr lang="en-US" sz="1400" dirty="0"/>
          </a:p>
          <a:p>
            <a:pPr marL="0" indent="0">
              <a:buNone/>
            </a:pPr>
            <a:r>
              <a:rPr lang="en-US" sz="1250" dirty="0">
                <a:solidFill>
                  <a:schemeClr val="tx2"/>
                </a:solidFill>
              </a:rPr>
              <a:t>802.1X Wi-Fi and VPN sign-in through AD</a:t>
            </a:r>
            <a:endParaRPr lang="en-US" sz="1400" dirty="0"/>
          </a:p>
        </p:txBody>
      </p:sp>
      <p:sp>
        <p:nvSpPr>
          <p:cNvPr id="18" name="Dep 4">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PlugCircleXmark">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LDAP-bound apps</a:t>
            </a:r>
            <a:endParaRPr lang="en-US" sz="1400" dirty="0"/>
          </a:p>
          <a:p>
            <a:pPr marL="0" indent="0">
              <a:buNone/>
            </a:pPr>
            <a:r>
              <a:rPr lang="en-US" sz="1250" dirty="0">
                <a:solidFill>
                  <a:schemeClr val="tx2"/>
                </a:solidFill>
              </a:rPr>
              <a:t>Applications that bind and search the directory</a:t>
            </a:r>
            <a:endParaRPr lang="en-US" sz="1400" dirty="0"/>
          </a:p>
        </p:txBody>
      </p:sp>
      <p:sp>
        <p:nvSpPr>
          <p:cNvPr id="22" name="Dep 5">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ArrowsRotate">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The sync engine</a:t>
            </a:r>
            <a:endParaRPr lang="en-US" sz="1400" dirty="0"/>
          </a:p>
          <a:p>
            <a:pPr marL="0" indent="0">
              <a:buNone/>
            </a:pPr>
            <a:r>
              <a:rPr lang="en-US" sz="1250" dirty="0">
                <a:solidFill>
                  <a:schemeClr val="tx2"/>
                </a:solidFill>
              </a:rPr>
              <a:t>Connect Sync or Cloud Sync, a tier 0 asset</a:t>
            </a:r>
            <a:endParaRPr lang="en-US" sz="1400" dirty="0"/>
          </a:p>
        </p:txBody>
      </p:sp>
      <p:sp>
        <p:nvSpPr>
          <p:cNvPr id="26" name="Dep 6">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7" name="Icon FaLaptop">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Devices</a:t>
            </a:r>
            <a:endParaRPr lang="en-US" sz="1400" dirty="0"/>
          </a:p>
          <a:p>
            <a:pPr marL="0" indent="0">
              <a:buNone/>
            </a:pPr>
            <a:r>
              <a:rPr lang="en-US" sz="1250" dirty="0">
                <a:solidFill>
                  <a:schemeClr val="tx2"/>
                </a:solidFill>
              </a:rPr>
              <a:t>Domain join and GPO, moving to Intune and Arc</a:t>
            </a:r>
            <a:endParaRPr lang="en-US" sz="1400" dirty="0"/>
          </a:p>
        </p:txBody>
      </p:sp>
      <p:sp>
        <p:nvSpPr>
          <p:cNvPr id="30" name="Dep 7">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UserClock">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Time</a:t>
            </a:r>
            <a:endParaRPr lang="en-US" sz="1400" dirty="0"/>
          </a:p>
          <a:p>
            <a:pPr marL="0" indent="0">
              <a:buNone/>
            </a:pPr>
            <a:r>
              <a:rPr lang="en-US" sz="1250" dirty="0">
                <a:solidFill>
                  <a:schemeClr val="tx2"/>
                </a:solidFill>
              </a:rPr>
              <a:t>Kerberos needs synchronized clocks across the hierarchy</a:t>
            </a:r>
            <a:endParaRPr lang="en-US" sz="1400" dirty="0"/>
          </a:p>
        </p:txBody>
      </p:sp>
      <p:sp>
        <p:nvSpPr>
          <p:cNvPr id="34" name="Dep 8">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5" name="Icon FaDatabase">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File services and DFS</a:t>
            </a:r>
            <a:endParaRPr lang="en-US" sz="1400" dirty="0"/>
          </a:p>
          <a:p>
            <a:pPr marL="0" indent="0">
              <a:buNone/>
            </a:pPr>
            <a:r>
              <a:rPr lang="en-US" sz="1250" dirty="0">
                <a:solidFill>
                  <a:schemeClr val="tx2"/>
                </a:solidFill>
              </a:rPr>
              <a:t>Share permissions bound to AD groups</a:t>
            </a:r>
            <a:endParaRPr lang="en-US" sz="1400" dirty="0"/>
          </a:p>
        </p:txBody>
      </p:sp>
      <p:sp>
        <p:nvSpPr>
          <p:cNvPr id="38" name="Adapter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9"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program's answer: </a:t>
            </a: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4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44" name="Narration" descr="Narration for this slide; captions available">
            <a:hlinkClick r:id="" action="ppaction://media"/>
            <a:extLst>
              <a:ext uri="{FF2B5EF4-FFF2-40B4-BE49-F238E27FC236}">
                <a16:creationId xmlns:a16="http://schemas.microsoft.com/office/drawing/2014/main" id="{93A188C7-1100-B709-827B-96ADA2DF70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6F4057-10DF-46BD-8892-54C3DCE11477}" label="English (captions)" lang="en-US" r:embed="rId15"/>
                        </p173:trackLst>
                      </p173:tracksInfo>
                    </p:ext>
                  </p14:extLst>
                </p14:media>
              </p:ext>
            </p:extLst>
          </p:nvPr>
        </p:nvPicPr>
        <p:blipFill>
          <a:blip r:embed="rId14"/>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40"/>
    </mc:Choice>
    <mc:Fallback>
      <p:transition spd="slow" advTm="56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40"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ier 0">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marL="0" indent="0">
              <a:buNone/>
            </a:pPr>
            <a:r>
              <a:rPr lang="en-US" sz="1650" b="1" dirty="0">
                <a:solidFill>
                  <a:srgbClr val="B91C1C"/>
                </a:solidFill>
              </a:rPr>
              <a:t>Tier 0  ·  Tenant-wide control</a:t>
            </a:r>
            <a:endParaRPr lang="en-US" sz="1400" dirty="0"/>
          </a:p>
          <a:p>
            <a:pPr marL="0" indent="0">
              <a:buNone/>
            </a:pPr>
            <a:r>
              <a:rPr lang="en-US" sz="1400" dirty="0">
                <a:solidFill>
                  <a:schemeClr val="tx2"/>
                </a:solidFill>
              </a:rPr>
              <a:t>Global Administrator and similar roles; break-glass accounts; activated just in time</a:t>
            </a:r>
            <a:endParaRPr lang="en-US" sz="1400" dirty="0"/>
          </a:p>
        </p:txBody>
      </p:sp>
      <p:sp>
        <p:nvSpPr>
          <p:cNvPr id="7" name="Tier 1">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marL="0" indent="0">
              <a:buNone/>
            </a:pPr>
            <a:r>
              <a:rPr lang="en-US" sz="1650" b="1" dirty="0">
                <a:solidFill>
                  <a:srgbClr val="B45309"/>
                </a:solidFill>
              </a:rPr>
              <a:t>Tier 1  ·  Service administration</a:t>
            </a:r>
            <a:endParaRPr lang="en-US" sz="1400" dirty="0"/>
          </a:p>
          <a:p>
            <a:pPr marL="0" indent="0">
              <a:buNone/>
            </a:pPr>
            <a:r>
              <a:rPr lang="en-US" sz="1400" dirty="0">
                <a:solidFill>
                  <a:schemeClr val="tx2"/>
                </a:solidFill>
              </a:rPr>
              <a:t>Exchange, Intune, security; scoped where the role allows it</a:t>
            </a:r>
            <a:endParaRPr lang="en-US" sz="1400" dirty="0"/>
          </a:p>
        </p:txBody>
      </p:sp>
      <p:sp>
        <p:nvSpPr>
          <p:cNvPr id="9" name="Tier 2">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marL="0" indent="0">
              <a:buNone/>
            </a:pPr>
            <a:r>
              <a:rPr lang="en-US" sz="1650" b="1" dirty="0">
                <a:solidFill>
                  <a:srgbClr val="0F766E"/>
                </a:solidFill>
              </a:rPr>
              <a:t>Tier 2  ·  Department administration</a:t>
            </a:r>
            <a:endParaRPr lang="en-US" sz="1400" dirty="0"/>
          </a:p>
          <a:p>
            <a:pPr marL="0" indent="0">
              <a:buNone/>
            </a:pPr>
            <a:r>
              <a:rPr lang="en-US" sz="1400" dirty="0">
                <a:solidFill>
                  <a:schemeClr val="tx2"/>
                </a:solidFill>
              </a:rPr>
              <a:t>Help desk and local admins, scoped to administrative units</a:t>
            </a:r>
            <a:endParaRPr lang="en-US" sz="1400" dirty="0"/>
          </a:p>
        </p:txBody>
      </p:sp>
      <p:sp>
        <p:nvSpPr>
          <p:cNvPr id="11" name="Facts box">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Program decision: </a:t>
            </a: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D87C1D3E-27AC-D5D9-9AF8-9A7CA08FB0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116692-9061-4428-8C18-34F71A6EAB4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40"/>
    </mc:Choice>
    <mc:Fallback>
      <p:transition spd="slow" advTm="57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3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ff box">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marL="0" indent="0">
              <a:buNone/>
            </a:pPr>
            <a:r>
              <a:rPr lang="en-US" sz="1200" b="1" dirty="0">
                <a:solidFill>
                  <a:srgbClr val="64748B"/>
                </a:solidFill>
              </a:rPr>
              <a:t>WHAT GOES AWAY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What stays on: </a:t>
            </a: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162AA53-323B-2E80-0465-EF37DFEF29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657677-F906-4DCB-A5B0-C0335DA0640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30"/>
    </mc:Choice>
    <mc:Fallback>
      <p:transition spd="slow" advTm="61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executive sponsor</a:t>
            </a:r>
            <a:endParaRPr lang="en-US" sz="1450" dirty="0"/>
          </a:p>
          <a:p>
            <a:pPr marL="0" indent="0">
              <a:spcAft>
                <a:spcPts val="600"/>
              </a:spcAft>
              <a:buNone/>
            </a:pPr>
            <a:r>
              <a:rPr lang="en-US" sz="1450" dirty="0">
                <a:solidFill>
                  <a:schemeClr val="tx2"/>
                </a:solidFill>
              </a:rPr>
              <a:t>Scope, funding, sequence</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Control requirements for the target</a:t>
            </a:r>
            <a:endParaRPr lang="en-US" sz="1450" dirty="0"/>
          </a:p>
          <a:p>
            <a:pPr marL="0" indent="0">
              <a:spcAft>
                <a:spcPts val="600"/>
              </a:spcAft>
              <a:buNone/>
            </a:pPr>
            <a:r>
              <a:rPr lang="en-US" sz="1450" b="1" dirty="0">
                <a:solidFill>
                  <a:srgbClr val="1F2A44"/>
                </a:solidFill>
              </a:rPr>
              <a:t>Authorizing official</a:t>
            </a:r>
            <a:endParaRPr lang="en-US" sz="1450" dirty="0"/>
          </a:p>
          <a:p>
            <a:pPr marL="0" indent="0">
              <a:spcAft>
                <a:spcPts val="600"/>
              </a:spcAft>
              <a:buNone/>
            </a:pPr>
            <a:r>
              <a:rPr lang="en-US" sz="1450" dirty="0">
                <a:solidFill>
                  <a:schemeClr val="tx2"/>
                </a:solidFill>
              </a:rPr>
              <a:t>Accepts any risk carried instead of removed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Sync, authentication, Conditional Access, PIM, AUs</a:t>
            </a:r>
            <a:endParaRPr lang="en-US" sz="1450" dirty="0"/>
          </a:p>
          <a:p>
            <a:pPr marL="0" indent="0">
              <a:spcAft>
                <a:spcPts val="600"/>
              </a:spcAft>
              <a:buNone/>
            </a:pPr>
            <a:r>
              <a:rPr lang="en-US" sz="1450" b="1" dirty="0">
                <a:solidFill>
                  <a:srgbClr val="0F766E"/>
                </a:solidFill>
              </a:rPr>
              <a:t>AD administrators</a:t>
            </a:r>
            <a:endParaRPr lang="en-US" sz="1450" dirty="0"/>
          </a:p>
          <a:p>
            <a:pPr marL="0" indent="0">
              <a:spcAft>
                <a:spcPts val="600"/>
              </a:spcAft>
              <a:buNone/>
            </a:pPr>
            <a:r>
              <a:rPr lang="en-US" sz="1450" dirty="0">
                <a:solidFill>
                  <a:schemeClr val="tx2"/>
                </a:solidFill>
              </a:rPr>
              <a:t>Clean the source; retire it at the end</a:t>
            </a:r>
            <a:endParaRPr lang="en-US" sz="1450" dirty="0"/>
          </a:p>
          <a:p>
            <a:pPr marL="0" indent="0">
              <a:spcAft>
                <a:spcPts val="600"/>
              </a:spcAft>
              <a:buNone/>
            </a:pPr>
            <a:r>
              <a:rPr lang="en-US" sz="1450" b="1" dirty="0">
                <a:solidFill>
                  <a:srgbClr val="0F766E"/>
                </a:solidFill>
              </a:rPr>
              <a:t>ISSO</a:t>
            </a:r>
            <a:endParaRPr lang="en-US" sz="1450" dirty="0"/>
          </a:p>
          <a:p>
            <a:pPr marL="0" indent="0">
              <a:spcAft>
                <a:spcPts val="600"/>
              </a:spcAft>
              <a:buNone/>
            </a:pPr>
            <a:r>
              <a:rPr lang="en-US" sz="1450" dirty="0">
                <a:solidFill>
                  <a:schemeClr val="tx2"/>
                </a:solidFill>
              </a:rPr>
              <a:t>Evidence, findings, closure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HR</a:t>
            </a:r>
            <a:endParaRPr lang="en-US" sz="1450" dirty="0"/>
          </a:p>
          <a:p>
            <a:pPr marL="0" indent="0">
              <a:spcAft>
                <a:spcPts val="600"/>
              </a:spcAft>
              <a:buNone/>
            </a:pPr>
            <a:r>
              <a:rPr lang="en-US" sz="1450" dirty="0">
                <a:solidFill>
                  <a:schemeClr val="tx2"/>
                </a:solidFill>
              </a:rPr>
              <a:t>The facts the directory can't verify</a:t>
            </a:r>
            <a:endParaRPr lang="en-US" sz="1450" dirty="0"/>
          </a:p>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cutover windows</a:t>
            </a:r>
            <a:endParaRPr lang="en-US" sz="1450" dirty="0"/>
          </a:p>
          <a:p>
            <a:pPr marL="0" indent="0">
              <a:spcAft>
                <a:spcPts val="600"/>
              </a:spcAft>
              <a:buNone/>
            </a:pPr>
            <a:r>
              <a:rPr lang="en-US" sz="1450" b="1" dirty="0">
                <a:solidFill>
                  <a:srgbClr val="B45309"/>
                </a:solidFill>
              </a:rPr>
              <a:t>Help desk and users</a:t>
            </a:r>
            <a:endParaRPr lang="en-US" sz="1450" dirty="0"/>
          </a:p>
          <a:p>
            <a:pPr marL="0" indent="0">
              <a:spcAft>
                <a:spcPts val="600"/>
              </a:spcAft>
              <a:buNone/>
            </a:pPr>
            <a:r>
              <a:rPr lang="en-US" sz="1450" dirty="0">
                <a:solidFill>
                  <a:schemeClr val="tx2"/>
                </a:solidFill>
              </a:rPr>
              <a:t>Recovery, registration, wave readiness</a:t>
            </a:r>
            <a:endParaRPr lang="en-US" sz="1450" dirty="0"/>
          </a:p>
        </p:txBody>
      </p:sp>
      <p:sp>
        <p:nvSpPr>
          <p:cNvPr id="20" name="Gap own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missing owner: </a:t>
            </a: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E18A00F5-17AE-951A-8E69-3261B1C2EA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9E4740-8E1C-4605-A6DA-D3CACFC2905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10"/>
    </mc:Choice>
    <mc:Fallback>
      <p:transition spd="slow" advTm="60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400"/>
              </a:spcAft>
              <a:buNone/>
            </a:pPr>
            <a:r>
              <a:rPr lang="en-US" sz="1350" dirty="0">
                <a:solidFill>
                  <a:schemeClr val="tx2"/>
                </a:solidFill>
              </a:rPr>
              <a:t>Read-only first; ask for narrow, time-bound access</a:t>
            </a:r>
            <a:endParaRPr lang="en-US" sz="1400" dirty="0"/>
          </a:p>
          <a:p>
            <a:pPr marL="0" indent="0">
              <a:spcAft>
                <a:spcPts val="400"/>
              </a:spcAft>
              <a:buNone/>
            </a:pPr>
            <a:r>
              <a:rPr lang="en-US" sz="1200" i="1" dirty="0">
                <a:solidFill>
                  <a:srgbClr val="64748B"/>
                </a:solidFill>
              </a:rPr>
              <a:t>Ch 07</a:t>
            </a:r>
            <a:endParaRPr lang="en-US" sz="1400" dirty="0"/>
          </a:p>
        </p:txBody>
      </p:sp>
      <p:sp>
        <p:nvSpPr>
          <p:cNvPr id="8" name="Step 2">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marL="0" indent="0">
              <a:spcAft>
                <a:spcPts val="400"/>
              </a:spcAft>
              <a:buNone/>
            </a:pPr>
            <a:r>
              <a:rPr lang="en-US" sz="1350" dirty="0">
                <a:solidFill>
                  <a:schemeClr val="tx2"/>
                </a:solidFill>
              </a:rPr>
              <a:t>Full forest inventory, with secrets never requested</a:t>
            </a:r>
            <a:endParaRPr lang="en-US" sz="1400" dirty="0"/>
          </a:p>
          <a:p>
            <a:pPr marL="0" indent="0">
              <a:spcAft>
                <a:spcPts val="400"/>
              </a:spcAft>
              <a:buNone/>
            </a:pPr>
            <a:r>
              <a:rPr lang="en-US" sz="1200" i="1" dirty="0">
                <a:solidFill>
                  <a:srgbClr val="64748B"/>
                </a:solidFill>
              </a:rPr>
              <a:t>Ch 08</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marL="0" indent="0">
              <a:spcAft>
                <a:spcPts val="400"/>
              </a:spcAft>
              <a:buNone/>
            </a:pPr>
            <a:r>
              <a:rPr lang="en-US" sz="1350" dirty="0">
                <a:solidFill>
                  <a:schemeClr val="tx2"/>
                </a:solidFill>
              </a:rPr>
              <a:t>Cloud Sync, password hash sync, PIM, Conditional Access</a:t>
            </a:r>
            <a:endParaRPr lang="en-US" sz="1400" dirty="0"/>
          </a:p>
          <a:p>
            <a:pPr marL="0" indent="0">
              <a:spcAft>
                <a:spcPts val="400"/>
              </a:spcAft>
              <a:buNone/>
            </a:pPr>
            <a:r>
              <a:rPr lang="en-US" sz="1200" i="1" dirty="0">
                <a:solidFill>
                  <a:srgbClr val="64748B"/>
                </a:solidFill>
              </a:rPr>
              <a:t>Ch 09</a:t>
            </a:r>
            <a:endParaRPr lang="en-US" sz="1400" dirty="0"/>
          </a:p>
        </p:txBody>
      </p:sp>
      <p:sp>
        <p:nvSpPr>
          <p:cNvPr id="14" name="Step 4">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marL="0" indent="0">
              <a:spcAft>
                <a:spcPts val="400"/>
              </a:spcAft>
              <a:buNone/>
            </a:pPr>
            <a:r>
              <a:rPr lang="en-US" sz="1350" dirty="0">
                <a:solidFill>
                  <a:schemeClr val="tx2"/>
                </a:solidFill>
              </a:rPr>
              <a:t>Waves; phishing-resistant MFA; legacy auth off</a:t>
            </a:r>
            <a:endParaRPr lang="en-US" sz="1400" dirty="0"/>
          </a:p>
          <a:p>
            <a:pPr marL="0" indent="0">
              <a:spcAft>
                <a:spcPts val="400"/>
              </a:spcAft>
              <a:buNone/>
            </a:pPr>
            <a:r>
              <a:rPr lang="en-US" sz="1200" i="1" dirty="0">
                <a:solidFill>
                  <a:srgbClr val="64748B"/>
                </a:solidFill>
              </a:rPr>
              <a:t>Ch 10</a:t>
            </a:r>
            <a:endParaRPr lang="en-US" sz="1400" dirty="0"/>
          </a:p>
        </p:txBody>
      </p:sp>
      <p:sp>
        <p:nvSpPr>
          <p:cNvPr id="17" name="Step 5">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marL="0" indent="0">
              <a:spcAft>
                <a:spcPts val="400"/>
              </a:spcAft>
              <a:buNone/>
            </a:pPr>
            <a:r>
              <a:rPr lang="en-US" sz="1350" dirty="0">
                <a:solidFill>
                  <a:schemeClr val="tx2"/>
                </a:solidFill>
              </a:rPr>
              <a:t>Drift checks and an evidence bundle for the AO</a:t>
            </a:r>
            <a:endParaRPr lang="en-US" sz="1400" dirty="0"/>
          </a:p>
          <a:p>
            <a:pPr marL="0" indent="0">
              <a:spcAft>
                <a:spcPts val="400"/>
              </a:spcAft>
              <a:buNone/>
            </a:pPr>
            <a:r>
              <a:rPr lang="en-US" sz="1200" i="1" dirty="0">
                <a:solidFill>
                  <a:srgbClr val="64748B"/>
                </a:solidFill>
              </a:rPr>
              <a:t>Ch 10–11</a:t>
            </a:r>
            <a:endParaRPr lang="en-US" sz="1400" dirty="0"/>
          </a:p>
        </p:txBody>
      </p:sp>
      <p:sp>
        <p:nvSpPr>
          <p:cNvPr id="20" name="Rules">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Rules that hold every wave: </a:t>
            </a: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4370BF2-7285-7FF2-8A49-82D03EE2BD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4B0695-B0AB-406B-8D28-3256E33261E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230"/>
    </mc:Choice>
    <mc:Fallback>
      <p:transition spd="slow" advTm="60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23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1  Discover   </a:t>
            </a:r>
            <a:r>
              <a:rPr lang="en-US" sz="1350" dirty="0">
                <a:solidFill>
                  <a:schemeClr val="tx2"/>
                </a:solidFill>
              </a:rPr>
              <a:t>Read-only survey of both forests; service-account and SPN inventory</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2  Normalize   </a:t>
            </a:r>
            <a:r>
              <a:rPr lang="en-US" sz="1350" dirty="0">
                <a:solidFill>
                  <a:schemeClr val="tx2"/>
                </a:solidFill>
              </a:rPr>
              <a:t>An organizational registry; a finding for every unattributed principal</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3  Map   </a:t>
            </a:r>
            <a:r>
              <a:rPr lang="en-US" sz="1350" dirty="0">
                <a:solidFill>
                  <a:schemeClr val="tx2"/>
                </a:solidFill>
              </a:rPr>
              <a:t>One adapter per surface: sync, PKI, RADIUS, SQL Server</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4  Migrate   </a:t>
            </a:r>
            <a:r>
              <a:rPr lang="en-US" sz="1350" dirty="0">
                <a:solidFill>
                  <a:schemeClr val="tx2"/>
                </a:solidFill>
              </a:rPr>
              <a:t>Every change recorded with who asked, on what authority, and a state hash</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5  Validate   </a:t>
            </a:r>
            <a:r>
              <a:rPr lang="en-US" sz="1350" dirty="0">
                <a:solidFill>
                  <a:schemeClr val="tx2"/>
                </a:solidFill>
              </a:rPr>
              <a:t>Before-and-after inventories compared; drift closed with evidence</a:t>
            </a:r>
            <a:endParaRPr lang="en-US" sz="1400" dirty="0"/>
          </a:p>
        </p:txBody>
      </p:sp>
      <p:sp>
        <p:nvSpPr>
          <p:cNvPr id="15" name="Bundle box">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marL="0" indent="0">
              <a:buNone/>
            </a:pPr>
            <a:r>
              <a:rPr lang="en-US" sz="1200" b="1" dirty="0">
                <a:solidFill>
                  <a:srgbClr val="64748B"/>
                </a:solidFill>
              </a:rPr>
              <a:t>THE EVIDENCE BUNDLE</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Building">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A framing pattern, not a real engagement: </a:t>
            </a: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4A36555-209A-4D79-3568-E01A43E04D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F5FE6E-D251-4184-AC50-9AA770B6205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340"/>
    </mc:Choice>
    <mc:Fallback>
      <p:transition spd="slow" advTm="5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3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Sponsor, CISO, AO, identity engineering lead — and an owner for the gaps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marL="0" indent="0">
              <a:buNone/>
            </a:pPr>
            <a:r>
              <a:rPr lang="en-US" sz="1450" dirty="0">
                <a:solidFill>
                  <a:schemeClr val="tx2"/>
                </a:solidFill>
              </a:rPr>
              <a:t>No elevated access needed to begin; delegation follows the evidence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marL="0" indent="0">
              <a:buNone/>
            </a:pPr>
            <a:r>
              <a:rPr lang="en-US" sz="1450" dirty="0">
                <a:solidFill>
                  <a:schemeClr val="tx2"/>
                </a:solidFill>
              </a:rPr>
              <a:t>Connect Sync by April 7, 2027; NTLM and legacy auth off by wave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marL="0" indent="0">
              <a:buNone/>
            </a:pPr>
            <a:r>
              <a:rPr lang="en-US" sz="1450" dirty="0">
                <a:solidFill>
                  <a:schemeClr val="tx2"/>
                </a:solidFill>
              </a:rPr>
              <a:t>Every control backed by evidence an assessor can read</a:t>
            </a:r>
            <a:endParaRPr lang="en-US" sz="1400" dirty="0"/>
          </a:p>
        </p:txBody>
      </p:sp>
      <p:sp>
        <p:nvSpPr>
          <p:cNvPr id="21" name="Close">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4402C1A-F1BF-9DCD-A7B2-0B09B15DBD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C5A588-F67E-4519-A1A2-F414275DCD7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430"/>
    </mc:Choice>
    <mc:Fallback>
      <p:transition spd="slow" advTm="58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43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4073</Words>
  <Application>Microsoft Office PowerPoint</Application>
  <PresentationFormat>Widescreen</PresentationFormat>
  <Paragraphs>228</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Does Identity Matter?</vt:lpstr>
      <vt:lpstr>Identity is now where access is decided</vt:lpstr>
      <vt:lpstr>AD isn't retiring — but every road now points to the cloud</vt:lpstr>
      <vt:lpstr>Two directories, two different models</vt:lpstr>
      <vt:lpstr>The migration surface is much larger than users and groups</vt:lpstr>
      <vt:lpstr>Delegation has to be rebuilt without OUs</vt:lpstr>
      <vt:lpstr>Sign-in moves to phishing-resistant credentials</vt:lpstr>
      <vt:lpstr>Who decides, who does the work</vt:lpstr>
      <vt:lpstr>How: discover, assess, build, migrate, prove</vt:lpstr>
      <vt:lpstr>What a reference deployment produces</vt:lpstr>
      <vt:lpstr>What we're asking for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2026-10-21T13:41:13Z</dcterms:created>
  <dcterms:modified xsi:type="dcterms:W3CDTF">2026-10-23T17:44:40Z</dcterms:modified>
</cp:coreProperties>
</file>