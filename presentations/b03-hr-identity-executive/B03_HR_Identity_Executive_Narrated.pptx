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HR is the source of authority" id="{31AECEA0-B5BC-491A-EEE3-972F9E582510}">
          <p14:sldIdLst>
            <p14:sldId id="256"/>
            <p14:sldId id="257"/>
            <p14:sldId id="258"/>
            <p14:sldId id="259"/>
          </p14:sldIdLst>
        </p14:section>
        <p14:section name="What data, owned by whom, flowing how" id="{14306DD5-3C8C-8641-B9AB-14C8EB372E26}">
          <p14:sldIdLst>
            <p14:sldId id="260"/>
            <p14:sldId id="261"/>
            <p14:sldId id="262"/>
            <p14:sldId id="263"/>
          </p14:sldIdLst>
        </p14:section>
        <p14:section name="Who owns workforce identity" id="{E3835C9F-D955-8F3E-D0DF-F46938377EC1}">
          <p14:sldIdLst>
            <p14:sldId id="264"/>
            <p14:sldId id="265"/>
            <p14:sldId id="266"/>
          </p14:sldIdLst>
        </p14:section>
        <p14:section name="How to run it and know it works" id="{0AA05BEF-2183-544F-AC58-1571D346CE97}">
          <p14:sldIdLst>
            <p14:sldId id="267"/>
            <p14:sldId id="268"/>
            <p14:sldId id="269"/>
            <p14:sldId id="270"/>
            <p14:sldId id="271"/>
            <p14:sldId id="272"/>
            <p14:sldId id="273"/>
          </p14:sldIdLst>
        </p14:section>
        <p14:section name="Backup" id="{C6333651-47F1-A9CE-D1CE-3B067FE229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8976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[0:00–1:49]  This is the executive briefing for Book 03 of the Federal Modernization Workbook, HR-Driven Identity. It runs about thirty minutes, for the people who make the calls: the CIO, the Chief Human Capital Officer and HR leadership, the CISO, the privacy officer and the program's sponsors.
The argument fits in three sentences. Access is now decided by identity, and the attributes it reads, organization, position, status and supervisor, are workforce facts that only the HR system of record originates. In most agencies those facts reach the directory by ticket. And two migrations already under way, Federal HR 2.0 and the move from Active Directory to Entra ID, rebuild both ends of that connection, so this is the cheapest moment the agency will get to start HR-driven identity.
I'll take four questions: why HR should decide who exists, and why now; what data, owned by whom, flowing how; who owns, uses and guards workforce identity; and how to run joiner, mover and leaver, bind credentials, settle the contractor source, sequence the plan and know it works.
Three labels run through the deck, as they do through the book. The responsibility matrix, the phase gates and their thresholds are program design and proposed starting criteria, for the agency to approve or replace. Federal HR 2.0 facts are as of October 20, 2026, and they change. And the contractor source of authority is a decision the book leaves open.
Every decision slide names the decision, its owner and when it's needed, and the last slide gathers them into one table.
Workbook: Book 03, index; Chapter 01 — Overview and Applicability (The proposal; The ask); Chapter 12 (About the numbers in the gates).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[1:49–3:30]  Start with what a token actually asserts. It carries claims, an identifier, group memberships, role assignments, and those claims are projections of upstream facts: this person is employed, holds this position, reports to this supervisor, and their affiliation ends on this date. The identity platform can prove a claim was signed by the right party. It can't tell you whether the claim is true.
That matters more now. M-22-09 makes Zero Trust federal strategy, with every request evaluated. NIST SP 800-207 has the policy engine read the attributes the enterprise assigns to the account, and CISA's maturity model defines an identity as a set of attributes. In Entra ID, a user signs in with a PIV card, gets a token, and Conditional Access and dynamic groups decide what it reaches, from organization, position, status and supervisor.
So the cost of bad data changed. A wrong department now means the wrong dynamic groups, and so the wrong access; a stale status means a valid token for a separated person, usable from anywhere.
Federal guidance points one way without naming a product. The FICAM Identity Lifecycle Management Playbook, best practice rather than policy, recommends designating HR systems as the authoritative source for identity creation and termination, and SP 800-53 asks for account management aligned with termination and transfer. One caution stated up front: no OPM document specifies Entra ID integration. OPM fixes the HR side; the identity side is the agency's decision.
Workbook: Book 03, Chapter 02 — Why HR Is the Source of Authority (What the claims in a token assert; Why the agency needs HR-driven ICAM now; The federal policy frame); Chapter 01 (One caution, stated up front).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[3:30–5:15]  Ask an estate three questions, who works here, what do they do, and who do they report to, and no single system answers. The answers sit in regional OU trees, in each application's own account store, in onboarding spreadsheets and separation checklists, and in organization charts. Each fragment is locally maintained and globally wrong, and none is designated to win.
The visible symptom is the orphaned account: an enabled credential whose human justification has ended. The timeline is the book's illustration. HR records a separation two weeks ahead, and no other system is listening. On the day it takes effect, the account, the application logins and the badge are all still live. A ticket disables the directory account on day three but not nine application accounts; a review flags two of them at day forty-five; and at day one hundred and eighty a penetration test signs in with one. Nothing in that is a failure of diligence. It's the wiring working as built: one system that records the truth and five that need it, with no channel between them.
Three patches fail for structural reasons. Cleaning the directory produces a correct snapshot with no event source behind it. Making the directory the master puts employment facts back into tickets. And quarterly reviews sample state; they can't observe transitions.
The fix is a designated origin with an event feed: HR-driven provisioning, where a hire creates the account and a separation disables it. The decision: designate it now, inside both migrations.
Workbook: Book 03, Chapter 02 — Why HR Is the Source of Authority (The fragmented truth problem; The visible symptom: orphaned accounts; Why this can't be patched; What HR-driven provisioning means); Chapter 01 (The ask); Chapter 07 (responsibility matrix: Gov. body).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[5:15–7:04]  Why now? Because Federal HR 2.0 is coming regardless. The joint OMB and OPM memo of December 10, 2025 moves the government's more than 100 Core HCM systems onto one platform, and agencies have paused their own Core HCM procurement. OPM awarded the platform to Oracle on June 10, 2026: Oracle Fusion Cloud HCM. Wave 2, the remaining agencies at about 1.1 million FTE, transitions in fiscal 2027. The first agencies were expected to start moving as fiscal 2027 began, with initial go-lives reported for January to March 2027. The government-wide goal is fiscal 2028. Those facts change; confirm them at engagement time.
An agency doesn't choose whether to implement HR 2.0. It chooses whether identity rides along. HR 2.0 rebuilds the interconnections anyway, during onboarding; HR data is reviewed and migrated anyway; and one platform means one standards-based crosswalk instead of one per provider. The solicitation already provisions the platform's own users from the government's identity provider. The reverse direction, HR events driving Entra ID, isn't in it; that's the agency's to propose.
The window closes at the interconnection. The memo's sample timeline runs about eight months, with interconnection go-live around month five, a planning assumption. A feed designed into onboarding costs a fraction of one retrofitted after. And the two migrations need each other: done separately, the directory migration moves ticket-created accounts as they are, and an HR feed targets a directory about to change.
So in Phase 0 the agency's HR 2.0 point of contact names the identity feed, and the ISSO signs the inventory.
Workbook: Book 03, Chapter 03 — Federal HR 2.0 (The program facts; Why this is the opportunity, not the project; What OPM requires, and what it leaves to the agency); Chapter 01 (Why together); Chapter 12 (Phase 0 — Program alignment and its gate).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[7:04–8:49]  Now, what data. The human capital system isn't "the payroll system". It's where four kinds of fact are created rather than copied: the worker record, the position, the assignment, and the supervisory hierarchy. Each is created by a business act.
Two clarifications prevent the usual misreading. HR doesn't compete with the identity platform: HR is authoritative for who a worker is and where they sit; the identity platform is authoritative for how identity is proven and whether a request is permitted now. And the book separates source of authority, HR owning a person's facts, from Microsoft's object source of authority, which directory masters the account. HR can be the source for a person whose account is still mastered in Active Directory.
The property that matters most is effective dating. A future-dated hire or separation exists in HR before it's true, with the date it becomes true. That's what makes day-one readiness and same-day revocation possible.
So the map has one rule with no exceptions: corrections flow upstream. A wrong department in a token is fixed in the HR record or the derivation rule, never by hand-editing the directory, because a hand-edited copy is a new fragment. No attribute is writable in both directions, and no source field drives access until the agency approves its owner, meaning, values, quality, correction path and permitted use.
The governance body signs the map, because it binds several offices at once, and the data architect keeps the record. It's a Phase 1 gate item.
Workbook: Book 03, Chapter 04 — Attribute Authority (What a human capital system actually owns; System of record versus identity provider; Effective dating; Authoritative versus derived attributes; Operating rules); Chapter 01 (Authority boundaries); Chapter 07 (responsibility matrix); Chapter 12 (Phase 1 gate).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[8:49–10:35]  IA-4 asks agencies to manage identifiers and prevent their reuse. The book's discipline is stricter and simpler: one governed person record, explicit affiliation records, and a stable key for each layer. It takes several keys because each layer has its own lifecycle. The source key changes when the HR system changes. An affiliation key starts with each new employment or contract.
So the agency needs one enterprise person key it controls, assigned once and never changed, with every other key mapped to it. Projecting the HR source's person number works while there's one source that never reassigns numbers. But the Core HCM cutover is exactly a source change, and contractors come from a different source. Many agencies already have a long-standing enterprise identifier; whatever is chosen has to fit its carrier, and Entra ID's employee ID holds at most sixteen characters. Then the move to Core HCM changes only the source key, and nothing downstream has to. A rehire re-links the same person instead of minting a new identity, and a contractor who converts keeps one key. The Social Security number is never the join key; the layered identifiers exist so it never has to be.
Worker type deserves special notice: employee, contractor, intern or volunteer sets member or guest treatment, license, access ceiling and policy baseline. Derived from the worker record, a contractor loses access on the engagement's end date.
The governance body makes the identifier decision before Phase 1 closes, and the data architect keeps the record.
Workbook: Book 03, Chapter 04 — Attribute Authority (One person, layered identifiers; The identifier decision; The worker-type boundary; Privacy); Chapter 07 (The data architect: one key; responsibility matrix: enterprise person key).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[10:35–12:16]  The schema names Oracle fields because Oracle is the platform. But the durable contract sits one level up: OPM's standard personnel data. Every agency on the platform records the same data elements, with the same codes and meanings, defined by OPM's data standards, now kept in an online metadata repository. And every personnel action carries a nature-of-action code from the same standards. OPM requires the coded blocks of the SF-50 to use only listed codes, which is what makes them dependable as access inputs.
Mapping identity to the standard instead of to vendor fields means one crosswalk serves every employee population, survives the next vendor change, and can be reused by any agency on the platform. Vendor field names become boundary logic: if the source changes, the source contract and transformation change, and lifecycle and access policy don't.
The design rules are short. Use a native Entra attribute wherever one exists, because the org chart, Lifecycle Workflows and access-package approvals read them directly. Add an extension attribute only where a rule can't read a value natively. Put codes in access attributes, never display strings, because a display name changes whenever someone retypes it.
The standard stops at federal employees. Contractors map into the same model from their own source, which comes later in the deck.
The data architect owns the canonical schema and the crosswalk, and HR owns the code lists the access attributes carry. Both are Phase 1 work.
Workbook: Book 03, Chapter 06 — Canonical Attribute Schema (The standard-attribute layer; Design rules); Chapter 01 (Standards before vendor fields); Chapter 07 (HR's three asks; responsibility matrix: canonical schema and crosswalk changes).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[12:16–13:55]  How the data flows, at decision level. The logical architecture is stable: the authoritative source, a boundary transformation, the governed workforce identity model, a provisioning service, and the target directories. The Microsoft realization is replaceable: Core HCM, a middleware of Azure Functions or Logic Apps, Microsoft Graph's bulk upload endpoint, the Entra provisioning service, and Entra ID or Active Directory.
Why that pattern? Oracle Fusion Cloud HCM has no native Entra connector; Entra's prebuilt HR connectors are for Workday and SAP SuccessFactors. Microsoft's own Oracle guidance is the API-driven pattern. And it gives one entry point, so one provenance stream.
The middleware runs inside the agency's authorization boundary and does five things for every event: validate and fail closed, apply events in order, normalize to SCIM, write a provenance record, and reconcile the result. No record, no verifiable outcome.
The same feed lands in two places. While Active Directory masters a population's accounts, HR lands users in AD and they sync up. As a population's accounts move to the cloud, HR lands them in Entra ID, and AD becomes a downstream target that shrinks as applications move. Writeback to HR is optional and one-way per attribute, and nothing depends on it.
The feed and middleware sit inside an authorization boundary, and the interconnection with Core HCM is an information exchange between systems. The authorizing official authorizes it and accepts its residual risk, before the pilot.
Workbook: Book 03, Chapter 05 — The Provisioning Pipeline (Logical architecture and Microsoft realization; Why API-driven inbound provisioning; The middleware: five duties per event; Two landing zones; Writeback); Chapter 07 (The ISSO and the authorizing official; responsibility matrix: authorize the feed).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[13:55–15:41]  Who owns it? The earlier chapters decided which system is authoritative for each fact. This one decides which people are, and most of them sit outside the CIO's organization. A system of record can be authoritative for worker type and still hold the wrong value for half the contractors, if no office accepts that keeping it right is its job.
Owners first. HR owns the facts only a personnel action creates, and their quality, at the source. OPM owns the government-wide definitions and the platform; the agency owns its side of the interconnection. And contractor sources own the people HR doesn't cover.
Users consume governed projections and change none of them. The identity team runs the directories and the provisioning. Security owns the leaver path end to end. The help desk moves from routine tickets to exceptions, and routes data errors to their owner instead of fixing them, so it holds a scoped help desk role rather than one that can rewrite user properties. Application owners decide the access rules for their applications.
The data architect keeps the parts consistent, as steward of the model rather than owner of any value: one name, one definition, one accountable owner and one key per attribute, under the agency's data governance body.
The program asks three concrete things of HR: name an owner for each HR-mastered attribute, own the code lists, and treat reassigning a departed supervisor's direct reports as HR work. HR leadership names those owners, by role, in Phase 1.
Workbook: Book 03, Chapter 07 — Who Owns Workforce Identity (introduction; Who owns the data; Who uses it; The data architect; Where ownership fails: an owner without the means).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[15:41–17:23]  The book's responsibility matrix, in one view, with one decider per row. "Governance body" is the agency's ICAM governance structure under M-19-17, chaired by the executive sponsor.
The governance body decides the three things that bind several offices at once and that no single office can impose on the others: who owns each attribute, the enterprise person key, and the contractor source. HR decides what its attributes mean and owns their code lists. The data architect decides schema and crosswalk changes. The privacy office decides the disclosure basis, the privacy impact assessment and the minimized attribute set. Identity engineering decides the provisioning rules. Security decides who may write HR-mastered attributes, and the leaver timing. Contracting, through the COR, owns contractor sponsorship and end dates. The PIV office owns issuance and termination. Application owners decide access rules for their applications. And the authorizing official authorizes the feed and accepts residual risk.
The failures on the right share a root: in a ticket-driven estate, whoever can make a change ends up owning the data. The directory team fixes a wrong title because it can; HR, IT and the PIV office each do part of a leaver and nobody owns completion; and privacy first sees the feed at go-live.
The decision here is the leaver. Security owns the path end to end, the block threshold, the schedule and the grace periods, and consults the authorizing official, because a threshold looser than policy is a risk acceptance.
Workbook: Book 03, Chapter 07 — Who Owns Workforce Identity (The responsibility matrix and its comments; Where ownership fails, and how the program prevents it; Who uses it: security).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[17:23–19:10]  Two offices guard the data and the credential, and each brings a clock the project can't move.
The privacy office. HR records are a Privacy Act system of records, so moving them into identity systems is a disclosure that needs a basis. Inside the agency that maintains them, the Act permits disclosure to employees who need the record for their duties, and an identity platform the agency runs for its own access decisions normally rests on that. A routine use is for disclosure outside the agency, for example to a shared-service provider, and OMB's guidance says a new or significantly modified routine use can't be relied on until at least thirty days after it's published. Which basis applies depends on who maintains the records and where the platform runs, so the decision belongs to the privacy office, not the project. It also needs an updated privacy impact assessment, and carries only the attributes an identity decision reads.
The PIV office. FIPS 201-3 requires separation of duties, so no single person can issue a card without another authorized person, and NIST's issuer guideline says only the agency can decide sponsorship and adjudication, so those can't be outsourced. The office also owns termination: for a card that can't be collected, normal termination procedures must be completed within 18 hours of notification. In HR-driven identity, the notification is the separation record, and the PIV office decides how its card system receives it.
Privacy comes in at Phase 1, because those timelines can't be compressed at go-live.
Workbook: Book 03, Chapter 07 — Who Owns Workforce Identity (Who guards it: the privacy office; the PIV and credentialing office); Chapter 04 (Privacy: the disclosure basis); Appendix B; Chapter 12 (Phase 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[19:10–20:56]  Now, how. Joiner, mover and leaver, plus the two transitions estates forget until they hurt, rehire and conversion, are the five state changes a worker record goes through, and each maps to a fixed set of identity actions. A joiner's account is created ahead of the start date, with baseline access ready on day one. A mover's attributes are re-stamped, so the old organization's access leaves as the new one's arrives, and a review covers what remains. A leaver is blocked first and reconciled to the end. A rehire re-links the prior identity, and a conversion re-derives access on the same key.
What matters is the direction of causation. Nobody remembers to disable a leaver; the separation record causes it, on the effective date. Tickets survive only for exceptions.
For federal employees, the triggers already exist: every personnel action carries a nature-of-action code, and its first digit sets the family. Accessions are joiners, separations are leavers, conversions convert, and position and duty-station changes are movers. That's a government-wide trigger vocabulary instead of a local one. The mapping is the book's proposed interpretation, not an OPM rule.
Three rules prevent harm. Leave is not a leaver: furlough, leave without pay and suspension keep the person. A separation wins precedence when two actions land in one cycle. And a cancelled separation re-enables what it disabled, with evidence. Contractors have no SF-50; their events are contract and sponsorship dates.
HR, security, labor relations, privacy and personnel policy validate the table before anything automates.
Workbook: Book 03, Chapter 08 — Joiner, Mover, Leaver (The lifecycle is an event stream; Personnel actions are the triggers; the three rules; Joiner; Mover; Leaver; Rehire and conversion); Appendix A — Lifecycle Rules.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[20:56–22:42]  Credentials need their own decision, because certificates don't follow the account. A PIV authentication certificate stays valid until it expires or is revoked, and an Intune device certificate stays on the device until Intune removes it. Disabling or deleting the Entra user touches neither. A lifecycle that stops at the account leaves a former worker's credentials live in every relying party that trusts them.
At the joiner, without the binding between the card's certificate and the account, a PIV card is just a badge. The book prefers a high-affinity binding, an identifier that can't be reused, so one certificate signs in as one user. That value changes on every reissue, so it's lifecycle data and needs one writer. Microsoft warns that for synchronized users, Active Directory administrators can change it for any account. So the program allows one automated writer, the card-management integration, and treats any other write as drift.
At the leaver, block first. Disable the account, then revoke sessions and refresh tokens: that closes Entra now. Then revoke the PIV card and derived credentials, retire or wipe devices, and remove access, in parallel, and reconcile every result. Dispose of the account last, because deleting it leaves device certificates valid. A PIV revocation reaches Entra only when the CA's revocation list refreshes, which is why the token step matters. The built-in workflow tasks don't revoke a card or retire a device, so custom tasks call those systems.
Security decides who may write the binding; the PIV office runs the card system.
Workbook: Book 03, Chapter 09 — Credentials and Certificates (Why certificates need their own chapter; Binding the PIV certificate to the Entra user; Revocation checking; The canonical leaver sequence; Running it from Lifecycle Workflows; What the evidence must show); Chapter 07 (responsibility matrix: write permissions).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[22:42–24:27]  One decision the book deliberately leaves open: where contractors come from. Federal HR 2.0 moves federal employees, and OPM's standards describe them. Contractors and vendors, often a large share of accounts and the share most likely to be orphaned, are in neither. Today they're usually tracked in COR spreadsheets, with a sponsor, a contract and an end date nobody is obliged to keep current. A spreadsheet can't be a source of authority.
There are four options, and no single one is complete. Core HCM's contingent worker type gives a full worker record and lifecycle, but no contract, sponsorship or vetting layer. The PIV sponsorship system has sponsorship, adjudication and an expiry, but only for people who get a card. A contractor suitability register links a person to a contract under agency authority, but often records the vetting decision, not the end of the engagement. And a non-employee lifecycle service adds a third source to govern.
So don't pick one. Give each fact one authority, and hang the record on an accountable federal sponsor who is mastered in HR. Access then ends at the earliest end condition: the contract ends, suitability is withdrawn, the card is revoked, or the sponsor leaves or misses recertification.
Start with what exists: reconcile the register and PIV enrollment against the directories, read-only, to measure the problem. Then use the register and sponsor attestation until Core HCM, leaver trigger first. The governance body decides in Phase 1, and revisits at Core HCM go-live.
Workbook: Book 03, Chapter 06 — Canonical Attribute Schema (Contractors and vendors; One fact, one authority; Before a register becomes an authority; Sequence: start with what already exists); Chapter 07 (Contractor sources own the people HR doesn't cover); Chapter 12 (Phase 1; open verification register).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[24:27–26:14]  The plan has seven phases, and each phase's gate is the next one's precondition. Align the program; settle attribute authority and the schema; build and test the pipeline; run a pilot; automate the lifecycle and derive access; cut over population by population; then sustain it.
One caveat governs the whole program: the source must be correct, not just designated. A drifted HR feed produces drifted access faster than any ticket queue could, so data quality at the source is Phase 1 work. Phases 1 and 2 produce no visible change for end users, which is exactly why they're tempting to skip.
The numbers in the gates, such as 99 percent correlation on the pilot cohort or zero missed leavers across a full pay-period cycle, are proposed starting criteria, not federal requirements. The agency approves or replaces each one, and a risk-tiered threshold, tighter for privileged populations, is usually more useful than one number. The pilot runs in shadow mode first: the pipeline computes what it would do, and every difference is explained before it acts. And automation turns on leaver first, because that's where the risk and the evidence value are.
This ties to the wider program. In Book 01's roadmap, Phase 1, Foundation, includes the HR-to-cloud provisioning feed for the foundation scope, and Gate G1, Foundation Complete, requires it operational, with the attribute slots in use confirmed free and single-writer. Book 01's risk register names the failure it prevents: an HR connector that breaks mid-rollout and stalls the program. The steward decides G1.
Workbook: Book 03, Chapter 12 — Execution Plan (Sequencing principle; About the numbers in the gates; Phases 0–6; The program at a glance); Book 00, Chapter 09 (Gate G1 — Foundation Complete); Book 01, Chapter 12 (Phase 1 — Foundation; Gate G1; risk register).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[26:14–28:00]  Cutover happens one population at a time, and each population cuts over to HR-driven identity as it moves to Entra ID. That's where the two migrations meet. While Active Directory still masters a population's accounts, HR lands them in AD and they sync to the cloud. Once their accounts move to the cloud, HR lands them in Entra ID directly, and an AD account is provisioned from Entra ID only where an application still needs one. Retargeting a population is a configuration change, gated on evidence, with the AD leg kept dormant but intact until nothing remains synced. And the feed has to be ready when the agency's Core HCM interconnection goes live.
The cutover itself follows Appendix C. Acceptance tests are written in business terms, by worker type and event, so HR, the business and security can read them. Anything that could leave a separated person with access, or lock out an active one, blocks acceptance. A short validation report is signed before the cutover is scheduled. Then a dry run on production data with writes disabled, cutover with spot checks, and a written rollback: pause the provisioning job, which keeps its state, and return the population to the prior process.
Then the proof: for seven days, every create, change and disable must trace to an HR event. When that holds, the ticket path closes. Nobody requests an account for a new hire, because the hire causes it. HR, the identity owner, the ISSO and the population's business owner sign.
Workbook: Book 03, Chapter 12 — Execution Plan (Phase 5 — Cutover, population by population); Chapter 05 (Two landing zones; Over the Entra ID migration); Appendix C — Acceptance and Cutover (Acceptance; The validation report; Dry run, cutover and rollback; Proving HR is the sole source; Closing the ticket path).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[28:00–29:43]  How will you know it's working? An event-driven lifecycle is also a measured one: every interval from event to action is a number. The book proposes six. Separation to block, the interval to a disabled account and revoked sessions, is the PS-4 measure. Separation to revocation runs to the last confirmed credential revocation. Transfer to review measures PS-5. Joiner readiness is the share of new hires ready at the start of day one. Correlation coverage turns the orphan population into a query instead of a hunt. And derivation purity is the share of access computed by rule rather than assigned by hand.
None of these numbers exists in a ticket-driven estate, because the events aren't recorded as events. They're also what continuous monitoring asks for: CA-7 has the organization set system-level metrics and how often to monitor them. Choosing them, and their thresholds, is the agency's decision.
Expect a surprise in the first month: a burst of high-severity drift findings. That burst is the measurement working, not the pipeline failing.
Evidence has to outlive the account. Entra ID keeps provisioning logs, workflow history and audit logs for about thirty days, far shorter than any federal records schedule, and expired data can't be recovered. So route them to the agency's log store from the pilot's first day. And the book's caution holds: the architecture supports these controls; it doesn't satisfy them on its own.
The ISSO owns the evidence, and security sets the leaver thresholds.
Workbook: Book 03, Chapter 11 — Drift, Metrics and Evidence (The measured lifecycle; Drift between HR and the directory; The evidence each event leaves; Control support); Chapter 07 (The ISSO and the authorizing official; responsibility matrix: leaver timing); Chapter 12 (Phase 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[29:43–31:30]  So, the decisions, with their owners.
The ICAM governance body, chaired by the sponsor, designates HR as the source of authority now, signs the attribute authority map, decides the enterprise person key before Phase 1 closes, and decides the contractor source, retiring the COR spreadsheets as a source of truth.
In Phase 0, the agency's HR 2.0 point of contact names the identity feed among the integration points, and the ISSO signs the inventory.
In Phase 1, HR leadership names an owner and a quality expectation for each HR-mastered attribute; the data architect builds one crosswalk to OPM's standards, with HR owning the code lists; HR and its validators confirm the nature-of-action trigger table; and the privacy office decides the disclosure basis, the PIA and the minimized attribute set.
The authorizing official authorizes the feed inside the agency's boundary before the pilot. Security owns the leaver path end to end, and makes the card-management integration the only writer of the PIV binding. The program steward holds the rollout until Gate G1 shows the HR feed live. The ISSO, HR and each population's business owner close its ticket path after seven days of proof. And the ISSO adopts the six metrics, with every log kept in the agency's store from the pilot's first day.
The end state is simple to say. Nobody requests an account for a new hire: the hire causes it, the separation ends it, and every step leaves evidence. Book 03 has the detail, with every claim footnoted. Thank you.
Workbook: Book 03, Chapter 01 (The ask; What success looks like); Chapter 07 — Who Owns Workforce Identity (The responsibility matrix); Chapters 03, 04, 06, 08, 09, 11, 12 and Appendix C (the decisions on each slide); Book 00, Chapter 09 (Gate G1).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03 HR-Driven Identity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5.xml"/><Relationship Id="rId9"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3.xml"/><Relationship Id="rId9"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8.png"/><Relationship Id="rId5" Type="http://schemas.openxmlformats.org/officeDocument/2006/relationships/image" Target="../media/image26.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8.png"/><Relationship Id="rId5" Type="http://schemas.openxmlformats.org/officeDocument/2006/relationships/image" Target="../media/image27.png"/><Relationship Id="rId4" Type="http://schemas.openxmlformats.org/officeDocument/2006/relationships/notesSlide" Target="../notesSlides/notesSlide15.xml"/><Relationship Id="rId8"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16.xml"/><Relationship Id="rId9"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8.png"/><Relationship Id="rId5" Type="http://schemas.openxmlformats.org/officeDocument/2006/relationships/image" Target="../media/image30.png"/><Relationship Id="rId4" Type="http://schemas.openxmlformats.org/officeDocument/2006/relationships/notesSlide" Target="../notesSlides/notesSlide17.xml"/><Relationship Id="rId8"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HR-Driven Identity: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03 — HR-Driven Identity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37760"/>
            <a:ext cx="877824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30 minutes for the CIO, CHCO and HR leadership, CISO, privacy officer and sponsors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AA3A4698-C6EA-AE2E-B21F-E1B8BC68C8C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EEA16ED-E605-4B2F-90A2-6FDD4E24CE0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970"/>
    </mc:Choice>
    <mc:Fallback>
      <p:transition spd="slow" advTm="50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96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Access now runs on employee data</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Left to right: a grey box, the strategy, Zero Trust: OMB M-22-09, NIST SP 800-207, CISA ZTMM v2.0. An arrow labelled delivered by goes to a blue box, the delivery, SASE: each request enforced at the cloud edge under TIC 3.0. An arrow labelled driven by goes to a violet box, the decision, ICAM in Entra ID: a token from a PIV or phishing-resistant credential, with Conditional Access and dynamic groups reading attributes. An amber box, employee data (organization, position, status, supervisor), tagged accuracy decides access, feeds the ICAM box."/>
          <p:cNvPicPr>
            <a:picLocks noChangeAspect="1"/>
          </p:cNvPicPr>
          <p:nvPr/>
        </p:nvPicPr>
        <p:blipFill>
          <a:blip r:embed="rId5"/>
          <a:stretch>
            <a:fillRect/>
          </a:stretch>
        </p:blipFill>
        <p:spPr>
          <a:xfrm>
            <a:off x="548640" y="1788123"/>
            <a:ext cx="6309360" cy="2458795"/>
          </a:xfrm>
          <a:prstGeom prst="rect">
            <a:avLst/>
          </a:prstGeom>
        </p:spPr>
      </p:pic>
      <p:sp>
        <p:nvSpPr>
          <p:cNvPr id="6" name="Frame box">
            <a:extLst>
              <a:ext uri="{C183D7F6-B498-43B3-948B-1728B52AA6E4}">
                <adec:decorative xmlns:adec="http://schemas.microsoft.com/office/drawing/2017/decorative" val="1"/>
              </a:ext>
            </a:extLst>
          </p:cNvPr>
          <p:cNvSpPr/>
          <p:nvPr/>
        </p:nvSpPr>
        <p:spPr>
          <a:xfrm>
            <a:off x="7086600" y="1371600"/>
            <a:ext cx="4572000" cy="3054096"/>
          </a:xfrm>
          <a:prstGeom prst="roundRect">
            <a:avLst>
              <a:gd name="adj" fmla="val 239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andmar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Frame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federal policy points to</a:t>
            </a:r>
            <a:endParaRPr lang="en-US" sz="1650" dirty="0"/>
          </a:p>
        </p:txBody>
      </p:sp>
      <p:sp>
        <p:nvSpPr>
          <p:cNvPr id="10" name="Frame list"/>
          <p:cNvSpPr txBox="1"/>
          <p:nvPr/>
        </p:nvSpPr>
        <p:spPr>
          <a:xfrm>
            <a:off x="7315200" y="2212848"/>
            <a:ext cx="4160520" cy="2118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every request evaluated</a:t>
            </a:r>
            <a:endParaRPr lang="en-US" sz="1400" dirty="0"/>
          </a:p>
          <a:p>
            <a:pPr marL="342900" indent="-342900">
              <a:spcAft>
                <a:spcPts val="600"/>
              </a:spcAft>
              <a:buSzPct val="100000"/>
              <a:buChar char="•"/>
            </a:pPr>
            <a:r>
              <a:rPr lang="en-US" sz="1350" dirty="0">
                <a:solidFill>
                  <a:schemeClr val="tx2"/>
                </a:solidFill>
              </a:rPr>
              <a:t>SP 800-207: policy reads enterprise attributes</a:t>
            </a:r>
            <a:endParaRPr lang="en-US" sz="1400" dirty="0"/>
          </a:p>
          <a:p>
            <a:pPr marL="342900" indent="-342900">
              <a:spcAft>
                <a:spcPts val="600"/>
              </a:spcAft>
              <a:buSzPct val="100000"/>
              <a:buChar char="•"/>
            </a:pPr>
            <a:r>
              <a:rPr lang="en-US" sz="1350" dirty="0">
                <a:solidFill>
                  <a:schemeClr val="tx2"/>
                </a:solidFill>
              </a:rPr>
              <a:t>FICAM playbook: HR as the authoritative source</a:t>
            </a:r>
            <a:endParaRPr lang="en-US" sz="1400" dirty="0"/>
          </a:p>
          <a:p>
            <a:pPr marL="342900" indent="-342900">
              <a:spcAft>
                <a:spcPts val="600"/>
              </a:spcAft>
              <a:buSzPct val="100000"/>
              <a:buChar char="•"/>
            </a:pPr>
            <a:r>
              <a:rPr lang="en-US" sz="1350" dirty="0">
                <a:solidFill>
                  <a:schemeClr val="tx2"/>
                </a:solidFill>
              </a:rPr>
              <a:t>AC-2: accounts aligned with termination, transfer</a:t>
            </a:r>
            <a:endParaRPr lang="en-US" sz="1400" dirty="0"/>
          </a:p>
          <a:p>
            <a:pPr marL="342900" indent="-342900">
              <a:spcAft>
                <a:spcPts val="600"/>
              </a:spcAft>
              <a:buSzPct val="100000"/>
              <a:buChar char="•"/>
            </a:pPr>
            <a:r>
              <a:rPr lang="en-US" sz="1350" dirty="0">
                <a:solidFill>
                  <a:schemeClr val="tx2"/>
                </a:solidFill>
              </a:rPr>
              <a:t>No OPM document specifies Entra ID</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 accuracy of employee data is now the accuracy of access.  </a:t>
            </a:r>
            <a:r>
              <a:rPr lang="en-US" sz="1650" dirty="0">
                <a:solidFill>
                  <a:schemeClr val="tx2"/>
                </a:solidFill>
              </a:rPr>
              <a:t>A wrong department is the wrong access; a stale status is a valid token for a separated person.</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NIST SP 800-207; CISA ZTMM 2.0; FICAM ILM Playbook; NIST SP 800-53 Rev. 5 AC-2; Microsoft Learn — dynamic groups. Book 03, Ch. 01,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3CFBB5A-8023-E92B-B40E-36FF1CAAED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F176F9F-833E-4255-9B5E-FC62DD8322B2}"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530"/>
    </mc:Choice>
    <mc:Fallback>
      <p:transition spd="slow" advTm="49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52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orphans keep coming back: no channel from HR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Five boxes left to right. Day minus 14, green: HR records the separation; no other system is listening. Day 0, amber: separation takes effect; account, app logins and badge all still live. Day plus 3, amber: a ticket disables the account; nine application accounts stay enabled. Day plus 45, red: a review flags two; nobody owns the other seven. Day plus 180, red: a pen test signs in with one; the gap is now an incident."/>
          <p:cNvPicPr>
            <a:picLocks noChangeAspect="1"/>
          </p:cNvPicPr>
          <p:nvPr/>
        </p:nvPicPr>
        <p:blipFill>
          <a:blip r:embed="rId5"/>
          <a:stretch>
            <a:fillRect/>
          </a:stretch>
        </p:blipFill>
        <p:spPr>
          <a:xfrm>
            <a:off x="1803940" y="1371600"/>
            <a:ext cx="8599361" cy="1874520"/>
          </a:xfrm>
          <a:prstGeom prst="rect">
            <a:avLst/>
          </a:prstGeom>
        </p:spPr>
      </p:pic>
      <p:sp>
        <p:nvSpPr>
          <p:cNvPr id="6" name="Patches panel">
            <a:extLst>
              <a:ext uri="{C183D7F6-B498-43B3-948B-1728B52AA6E4}">
                <adec:decorative xmlns:adec="http://schemas.microsoft.com/office/drawing/2017/decorative" val="1"/>
              </a:ext>
            </a:extLst>
          </p:cNvPr>
          <p:cNvSpPr/>
          <p:nvPr/>
        </p:nvSpPr>
        <p:spPr>
          <a:xfrm>
            <a:off x="548640" y="3429000"/>
            <a:ext cx="544068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atches panel text"/>
          <p:cNvSpPr txBox="1"/>
          <p:nvPr/>
        </p:nvSpPr>
        <p:spPr>
          <a:xfrm>
            <a:off x="731520" y="3520440"/>
            <a:ext cx="5120640" cy="1051560"/>
          </a:xfrm>
          <a:prstGeom prst="rect">
            <a:avLst/>
          </a:prstGeom>
          <a:noFill/>
          <a:ln/>
        </p:spPr>
        <p:txBody>
          <a:bodyPr wrap="square" lIns="0" tIns="0" rIns="0" bIns="0" rtlCol="0" anchor="t"/>
          <a:lstStyle/>
          <a:p>
            <a:pPr marL="0" indent="0">
              <a:spcAft>
                <a:spcPts val="300"/>
              </a:spcAft>
              <a:buNone/>
            </a:pPr>
            <a:r>
              <a:rPr lang="en-US" sz="1400" b="1" dirty="0">
                <a:solidFill>
                  <a:srgbClr val="64748B"/>
                </a:solidFill>
              </a:rPr>
              <a:t>Three patches that don't hold</a:t>
            </a:r>
            <a:endParaRPr lang="en-US" sz="1300" dirty="0"/>
          </a:p>
          <a:p>
            <a:pPr marL="342900" indent="-342900">
              <a:spcAft>
                <a:spcPts val="300"/>
              </a:spcAft>
              <a:buSzPct val="100000"/>
              <a:buChar char="•"/>
            </a:pPr>
            <a:r>
              <a:rPr lang="en-US" sz="1300" dirty="0">
                <a:solidFill>
                  <a:schemeClr val="tx2"/>
                </a:solidFill>
              </a:rPr>
              <a:t>Clean the directory: a snapshot, not a source</a:t>
            </a:r>
            <a:endParaRPr lang="en-US" sz="1300" dirty="0"/>
          </a:p>
          <a:p>
            <a:pPr marL="342900" indent="-342900">
              <a:spcAft>
                <a:spcPts val="300"/>
              </a:spcAft>
              <a:buSzPct val="100000"/>
              <a:buChar char="•"/>
            </a:pPr>
            <a:r>
              <a:rPr lang="en-US" sz="1300" dirty="0">
                <a:solidFill>
                  <a:schemeClr val="tx2"/>
                </a:solidFill>
              </a:rPr>
              <a:t>Make the directory master: tickets again</a:t>
            </a:r>
            <a:endParaRPr lang="en-US" sz="1300" dirty="0"/>
          </a:p>
          <a:p>
            <a:pPr marL="342900" indent="-342900">
              <a:spcAft>
                <a:spcPts val="300"/>
              </a:spcAft>
              <a:buSzPct val="100000"/>
              <a:buChar char="•"/>
            </a:pPr>
            <a:r>
              <a:rPr lang="en-US" sz="1300" dirty="0">
                <a:solidFill>
                  <a:schemeClr val="tx2"/>
                </a:solidFill>
              </a:rPr>
              <a:t>Review to correctness: samples state, misses moves</a:t>
            </a:r>
            <a:endParaRPr lang="en-US" sz="1300" dirty="0"/>
          </a:p>
        </p:txBody>
      </p:sp>
      <p:sp>
        <p:nvSpPr>
          <p:cNvPr id="8" name="Fix panel">
            <a:extLst>
              <a:ext uri="{C183D7F6-B498-43B3-948B-1728B52AA6E4}">
                <adec:decorative xmlns:adec="http://schemas.microsoft.com/office/drawing/2017/decorative" val="1"/>
              </a:ext>
            </a:extLst>
          </p:cNvPr>
          <p:cNvSpPr/>
          <p:nvPr/>
        </p:nvSpPr>
        <p:spPr>
          <a:xfrm>
            <a:off x="6217920" y="3429000"/>
            <a:ext cx="544068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Fix panel text"/>
          <p:cNvSpPr txBox="1"/>
          <p:nvPr/>
        </p:nvSpPr>
        <p:spPr>
          <a:xfrm>
            <a:off x="6400800" y="3520440"/>
            <a:ext cx="5120640" cy="105156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rPr>
              <a:t>The fix: a designated origin, with events</a:t>
            </a:r>
            <a:endParaRPr lang="en-US" sz="1300" dirty="0"/>
          </a:p>
          <a:p>
            <a:pPr marL="342900" indent="-342900">
              <a:spcAft>
                <a:spcPts val="300"/>
              </a:spcAft>
              <a:buSzPct val="100000"/>
              <a:buChar char="•"/>
            </a:pPr>
            <a:r>
              <a:rPr lang="en-US" sz="1300" dirty="0">
                <a:solidFill>
                  <a:schemeClr val="tx2"/>
                </a:solidFill>
              </a:rPr>
              <a:t>A hire creates the account; a change updates it</a:t>
            </a:r>
            <a:endParaRPr lang="en-US" sz="1300" dirty="0"/>
          </a:p>
          <a:p>
            <a:pPr marL="342900" indent="-342900">
              <a:spcAft>
                <a:spcPts val="300"/>
              </a:spcAft>
              <a:buSzPct val="100000"/>
              <a:buChar char="•"/>
            </a:pPr>
            <a:r>
              <a:rPr lang="en-US" sz="1300" dirty="0">
                <a:solidFill>
                  <a:schemeClr val="tx2"/>
                </a:solidFill>
              </a:rPr>
              <a:t>A separation disables it, on the effective date</a:t>
            </a:r>
            <a:endParaRPr lang="en-US" sz="1300" dirty="0"/>
          </a:p>
          <a:p>
            <a:pPr marL="342900" indent="-342900">
              <a:spcAft>
                <a:spcPts val="300"/>
              </a:spcAft>
              <a:buSzPct val="100000"/>
              <a:buChar char="•"/>
            </a:pPr>
            <a:r>
              <a:rPr lang="en-US" sz="1300" dirty="0">
                <a:solidFill>
                  <a:schemeClr val="tx2"/>
                </a:solidFill>
              </a:rPr>
              <a:t>A rehire re-links the same person</a:t>
            </a:r>
            <a:endParaRPr lang="en-US" sz="1300" dirty="0"/>
          </a:p>
        </p:txBody>
      </p:sp>
      <p:sp>
        <p:nvSpPr>
          <p:cNvPr id="1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Designate the HR system of record as the source of authority for workforce identity, and build HR-driven identity into both migrations</a:t>
            </a:r>
            <a:endParaRPr lang="en-US" sz="1400" dirty="0"/>
          </a:p>
        </p:txBody>
      </p:sp>
      <p:sp>
        <p:nvSpPr>
          <p:cNvPr id="1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ICAM governance body (sponsor chairs)</a:t>
            </a:r>
            <a:endParaRPr lang="en-US" sz="1400" dirty="0"/>
          </a:p>
        </p:txBody>
      </p:sp>
      <p:sp>
        <p:nvSpPr>
          <p:cNvPr id="1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Now, before either migration ends</a:t>
            </a:r>
            <a:endParaRPr lang="en-US" sz="14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(PS-5, AC-2); Microsoft Learn — What is HR-driven provisioning? Book 03, Chapters 01, 02. The timeline is an illustrative pattern.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61F5D811-DC2B-AED8-AD3A-4F05474F298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32FBA6D-FD23-4D92-B164-7C4BC5DC56A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000"/>
    </mc:Choice>
    <mc:Fallback>
      <p:transition spd="slow" advTm="4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00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Federal HR 2.0: the window closes at interconnection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Five boxes left to right. Dec 10 2025, OMB/OPM memo: one Core HCM platform, agencies pause their own. Jun 10 2026, Core HCM award, Oracle Fusion Cloud HCM. Amber: onboarding months 1 to 5, the window; data standards, cleanup, interconnection design and the identity feed are decided. Red: interconnection go-live, the window closes; retrofitting identity means reopening it. FY 2028: one system, the government-wide adoption goal; EHRI and eOPF later made redundant."/>
          <p:cNvPicPr>
            <a:picLocks noChangeAspect="1"/>
          </p:cNvPicPr>
          <p:nvPr/>
        </p:nvPicPr>
        <p:blipFill>
          <a:blip r:embed="rId5"/>
          <a:stretch>
            <a:fillRect/>
          </a:stretch>
        </p:blipFill>
        <p:spPr>
          <a:xfrm>
            <a:off x="1768107" y="1371600"/>
            <a:ext cx="8671025" cy="1874520"/>
          </a:xfrm>
          <a:prstGeom prst="rect">
            <a:avLst/>
          </a:prstGeom>
        </p:spPr>
      </p:pic>
      <p:sp>
        <p:nvSpPr>
          <p:cNvPr id="6" name="Facts panel">
            <a:extLst>
              <a:ext uri="{C183D7F6-B498-43B3-948B-1728B52AA6E4}">
                <adec:decorative xmlns:adec="http://schemas.microsoft.com/office/drawing/2017/decorative" val="1"/>
              </a:ext>
            </a:extLst>
          </p:cNvPr>
          <p:cNvSpPr/>
          <p:nvPr/>
        </p:nvSpPr>
        <p:spPr>
          <a:xfrm>
            <a:off x="548640" y="3429000"/>
            <a:ext cx="5440680"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Facts panel text"/>
          <p:cNvSpPr txBox="1"/>
          <p:nvPr/>
        </p:nvSpPr>
        <p:spPr>
          <a:xfrm>
            <a:off x="731520" y="3520440"/>
            <a:ext cx="5120640" cy="1051560"/>
          </a:xfrm>
          <a:prstGeom prst="rect">
            <a:avLst/>
          </a:prstGeom>
          <a:noFill/>
          <a:ln/>
        </p:spPr>
        <p:txBody>
          <a:bodyPr wrap="square" lIns="0" tIns="0" rIns="0" bIns="0" rtlCol="0" anchor="t"/>
          <a:lstStyle/>
          <a:p>
            <a:pPr marL="0" indent="0">
              <a:spcAft>
                <a:spcPts val="300"/>
              </a:spcAft>
              <a:buNone/>
            </a:pPr>
            <a:r>
              <a:rPr lang="en-US" sz="1400" b="1" dirty="0">
                <a:solidFill>
                  <a:srgbClr val="B45309"/>
                </a:solidFill>
              </a:rPr>
              <a:t>Program facts, as of October 20, 2026</a:t>
            </a:r>
            <a:endParaRPr lang="en-US" sz="1300" dirty="0"/>
          </a:p>
          <a:p>
            <a:pPr marL="342900" indent="-342900">
              <a:spcAft>
                <a:spcPts val="300"/>
              </a:spcAft>
              <a:buSzPct val="100000"/>
              <a:buChar char="•"/>
            </a:pPr>
            <a:r>
              <a:rPr lang="en-US" sz="1300" dirty="0">
                <a:solidFill>
                  <a:schemeClr val="tx2"/>
                </a:solidFill>
              </a:rPr>
              <a:t>Oracle Fusion Cloud HCM, awarded June 10, 2026</a:t>
            </a:r>
            <a:endParaRPr lang="en-US" sz="1300" dirty="0"/>
          </a:p>
          <a:p>
            <a:pPr marL="342900" indent="-342900">
              <a:spcAft>
                <a:spcPts val="300"/>
              </a:spcAft>
              <a:buSzPct val="100000"/>
              <a:buChar char="•"/>
            </a:pPr>
            <a:r>
              <a:rPr lang="en-US" sz="1300" dirty="0">
                <a:solidFill>
                  <a:schemeClr val="tx2"/>
                </a:solidFill>
              </a:rPr>
              <a:t>Wave 2 (about 1.1M FTE) moves in FY 2027</a:t>
            </a:r>
            <a:endParaRPr lang="en-US" sz="1300" dirty="0"/>
          </a:p>
          <a:p>
            <a:pPr marL="342900" indent="-342900">
              <a:spcAft>
                <a:spcPts val="300"/>
              </a:spcAft>
              <a:buSzPct val="100000"/>
              <a:buChar char="•"/>
            </a:pPr>
            <a:r>
              <a:rPr lang="en-US" sz="1300" dirty="0">
                <a:solidFill>
                  <a:schemeClr val="tx2"/>
                </a:solidFill>
              </a:rPr>
              <a:t>Interconnection near month 5 of ~8 (sample)</a:t>
            </a:r>
            <a:endParaRPr lang="en-US" sz="1300" dirty="0"/>
          </a:p>
        </p:txBody>
      </p:sp>
      <p:sp>
        <p:nvSpPr>
          <p:cNvPr id="8" name="Gives panel">
            <a:extLst>
              <a:ext uri="{C183D7F6-B498-43B3-948B-1728B52AA6E4}">
                <adec:decorative xmlns:adec="http://schemas.microsoft.com/office/drawing/2017/decorative" val="1"/>
              </a:ext>
            </a:extLst>
          </p:cNvPr>
          <p:cNvSpPr/>
          <p:nvPr/>
        </p:nvSpPr>
        <p:spPr>
          <a:xfrm>
            <a:off x="6217920" y="3429000"/>
            <a:ext cx="544068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Gives panel text"/>
          <p:cNvSpPr txBox="1"/>
          <p:nvPr/>
        </p:nvSpPr>
        <p:spPr>
          <a:xfrm>
            <a:off x="6400800" y="3520440"/>
            <a:ext cx="5120640" cy="105156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rPr>
              <a:t>What HR 2.0 rebuilds that identity can use</a:t>
            </a:r>
            <a:endParaRPr lang="en-US" sz="1300" dirty="0"/>
          </a:p>
          <a:p>
            <a:pPr marL="342900" indent="-342900">
              <a:spcAft>
                <a:spcPts val="300"/>
              </a:spcAft>
              <a:buSzPct val="100000"/>
              <a:buChar char="•"/>
            </a:pPr>
            <a:r>
              <a:rPr lang="en-US" sz="1300" dirty="0">
                <a:solidFill>
                  <a:schemeClr val="tx2"/>
                </a:solidFill>
              </a:rPr>
              <a:t>New interconnections, designed in onboarding</a:t>
            </a:r>
            <a:endParaRPr lang="en-US" sz="1300" dirty="0"/>
          </a:p>
          <a:p>
            <a:pPr marL="342900" indent="-342900">
              <a:spcAft>
                <a:spcPts val="300"/>
              </a:spcAft>
              <a:buSzPct val="100000"/>
              <a:buChar char="•"/>
            </a:pPr>
            <a:r>
              <a:rPr lang="en-US" sz="1300" dirty="0">
                <a:solidFill>
                  <a:schemeClr val="tx2"/>
                </a:solidFill>
              </a:rPr>
              <a:t>HR data cleaned once, at the source</a:t>
            </a:r>
            <a:endParaRPr lang="en-US" sz="1300" dirty="0"/>
          </a:p>
          <a:p>
            <a:pPr marL="342900" indent="-342900">
              <a:spcAft>
                <a:spcPts val="300"/>
              </a:spcAft>
              <a:buSzPct val="100000"/>
              <a:buChar char="•"/>
            </a:pPr>
            <a:r>
              <a:rPr lang="en-US" sz="1300" dirty="0">
                <a:solidFill>
                  <a:schemeClr val="tx2"/>
                </a:solidFill>
              </a:rPr>
              <a:t>One platform, so one standard crosswalk</a:t>
            </a:r>
            <a:endParaRPr lang="en-US" sz="1300" dirty="0"/>
          </a:p>
        </p:txBody>
      </p:sp>
      <p:sp>
        <p:nvSpPr>
          <p:cNvPr id="1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Name the HR-driven identity feed among the agency's HR 2.0 integration points, and name HR as the source in the Entra ID migration plan</a:t>
            </a:r>
            <a:endParaRPr lang="en-US" sz="1400" dirty="0"/>
          </a:p>
        </p:txBody>
      </p:sp>
      <p:sp>
        <p:nvSpPr>
          <p:cNvPr id="1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HR 2.0 point of contact; ISSO signs</a:t>
            </a:r>
            <a:endParaRPr lang="en-US" sz="1400" dirty="0"/>
          </a:p>
        </p:txBody>
      </p:sp>
      <p:sp>
        <p:nvSpPr>
          <p:cNvPr id="1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0, before interconnection design</a:t>
            </a:r>
            <a:endParaRPr lang="en-US" sz="14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OMB/OPM memo, Creating “Federal HR 2.0” (Dec 10, 2025), Appendices A–C; OPM Core HCM award; solicitation 24322626R0007. Book 03, Chapters 01, 03,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CA20B43D-0998-B475-EC37-F726F2D1488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29DF1DB-45A9-4D3E-83EC-1FAB93FCFD4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430"/>
    </mc:Choice>
    <mc:Fallback>
      <p:transition spd="slow" advTm="49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432"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owner per fact: the attribute authority map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authoritative boxes on the left: HR system of record (person and affiliation keys, worker type and status, position, series and grade, organization and duty station, supervisor); identity platform (accounts and UPN, sessions and authentication, group membership by rule); card management and PKI (PIV and derived credentials, device certificates). HR feeds the identity platform as a governed projection and card management through sponsorship and status. The identity platform and card management feed a green consumers box: applications and token claims, access packages and reviews, Conditional Access, SIEM and audit joins."/>
          <p:cNvPicPr>
            <a:picLocks noChangeAspect="1"/>
          </p:cNvPicPr>
          <p:nvPr/>
        </p:nvPicPr>
        <p:blipFill>
          <a:blip r:embed="rId5"/>
          <a:stretch>
            <a:fillRect/>
          </a:stretch>
        </p:blipFill>
        <p:spPr>
          <a:xfrm>
            <a:off x="548640" y="1684317"/>
            <a:ext cx="6309360" cy="2666405"/>
          </a:xfrm>
          <a:prstGeom prst="rect">
            <a:avLst/>
          </a:prstGeom>
        </p:spPr>
      </p:pic>
      <p:sp>
        <p:nvSpPr>
          <p:cNvPr id="6" name="Rules box">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Rule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Operating rules</a:t>
            </a:r>
            <a:endParaRPr lang="en-US" sz="1650" dirty="0"/>
          </a:p>
        </p:txBody>
      </p:sp>
      <p:sp>
        <p:nvSpPr>
          <p:cNvPr id="10" name="Rules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Corrections flow upstream, never in the directory</a:t>
            </a:r>
            <a:endParaRPr lang="en-US" sz="1400" dirty="0"/>
          </a:p>
          <a:p>
            <a:pPr marL="342900" indent="-342900">
              <a:spcAft>
                <a:spcPts val="600"/>
              </a:spcAft>
              <a:buSzPct val="100000"/>
              <a:buChar char="•"/>
            </a:pPr>
            <a:r>
              <a:rPr lang="en-US" sz="1350" dirty="0">
                <a:solidFill>
                  <a:schemeClr val="tx2"/>
                </a:solidFill>
              </a:rPr>
              <a:t>No attribute writable in both directions</a:t>
            </a:r>
            <a:endParaRPr lang="en-US" sz="1400" dirty="0"/>
          </a:p>
          <a:p>
            <a:pPr marL="342900" indent="-342900">
              <a:spcAft>
                <a:spcPts val="600"/>
              </a:spcAft>
              <a:buSzPct val="100000"/>
              <a:buChar char="•"/>
            </a:pPr>
            <a:r>
              <a:rPr lang="en-US" sz="1350" dirty="0">
                <a:solidFill>
                  <a:schemeClr val="tx2"/>
                </a:solidFill>
              </a:rPr>
              <a:t>Effective dates: changes known before they're true</a:t>
            </a:r>
            <a:endParaRPr lang="en-US" sz="1400" dirty="0"/>
          </a:p>
          <a:p>
            <a:pPr marL="342900" indent="-342900">
              <a:spcAft>
                <a:spcPts val="600"/>
              </a:spcAft>
              <a:buSzPct val="100000"/>
              <a:buChar char="•"/>
            </a:pPr>
            <a:r>
              <a:rPr lang="en-US" sz="1350" dirty="0">
                <a:solidFill>
                  <a:schemeClr val="tx2"/>
                </a:solidFill>
              </a:rPr>
              <a:t>No field drives access until its use is approved</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Sign the attribute authority map: every attribute an access decision reads, its authoritative system and its data-quality owner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ICAM governance body; data architect records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1 gate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Oracle Fusion Cloud HCM documentation (positions, assignments, date effectivity); Microsoft Learn — source of authority. Book 03, Chapters 01, 04,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5ECEAD62-DE77-C54C-C90A-E5BD2FBD0BB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29E7B62-8643-4B96-892B-F90ADAF0B2D4}"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280"/>
    </mc:Choice>
    <mc:Fallback>
      <p:transition spd="slow" advTm="48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28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person, one key, through every source change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n amber box at the top, enterprise person key, never changes once assigned, assigned by the agency's identifier decision, often an existing enterprise ID such as a Mainframe PIN. Four boxes below it: source person key (changes with the source; Oracle PersonNumber today), affiliation key (per affiliation), directory object ID (per account), credential identifiers (per authenticator; PIV FASC-N or card UUID, certificate SKI)."/>
          <p:cNvPicPr>
            <a:picLocks noChangeAspect="1"/>
          </p:cNvPicPr>
          <p:nvPr/>
        </p:nvPicPr>
        <p:blipFill>
          <a:blip r:embed="rId5"/>
          <a:stretch>
            <a:fillRect/>
          </a:stretch>
        </p:blipFill>
        <p:spPr>
          <a:xfrm>
            <a:off x="548640" y="1372473"/>
            <a:ext cx="6309360" cy="1918495"/>
          </a:xfrm>
          <a:prstGeom prst="rect">
            <a:avLst/>
          </a:prstGeom>
        </p:spPr>
      </p:pic>
      <p:sp>
        <p:nvSpPr>
          <p:cNvPr id="6" name="Worker type"/>
          <p:cNvSpPr txBox="1"/>
          <p:nvPr/>
        </p:nvSpPr>
        <p:spPr>
          <a:xfrm>
            <a:off x="548640" y="3474720"/>
            <a:ext cx="6309360" cy="1143000"/>
          </a:xfrm>
          <a:prstGeom prst="rect">
            <a:avLst/>
          </a:prstGeom>
          <a:noFill/>
          <a:ln/>
        </p:spPr>
        <p:txBody>
          <a:bodyPr wrap="square" lIns="0" tIns="0" rIns="0" bIns="0" rtlCol="0" anchor="ctr"/>
          <a:lstStyle/>
          <a:p>
            <a:pPr marL="0" indent="0">
              <a:buNone/>
            </a:pPr>
            <a:r>
              <a:rPr lang="en-US" sz="1450" b="1" dirty="0">
                <a:solidFill>
                  <a:srgbClr val="1F2A44"/>
                </a:solidFill>
              </a:rPr>
              <a:t>Worker type is the boundary attribute: </a:t>
            </a:r>
            <a:r>
              <a:rPr lang="en-US" sz="1450" dirty="0">
                <a:solidFill>
                  <a:srgbClr val="334155"/>
                </a:solidFill>
              </a:rPr>
              <a:t>it sets member or guest treatment, license, access ceiling and the policy baseline, so it's derived from the worker record, never set by hand.</a:t>
            </a:r>
            <a:endParaRPr lang="en-US" sz="1450" dirty="0"/>
          </a:p>
        </p:txBody>
      </p:sp>
      <p:sp>
        <p:nvSpPr>
          <p:cNvPr id="7" name="Key box">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Icon FaFingerprint">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10" name="Key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Why the key must be the agency's</a:t>
            </a:r>
            <a:endParaRPr lang="en-US" sz="1650" dirty="0"/>
          </a:p>
        </p:txBody>
      </p:sp>
      <p:sp>
        <p:nvSpPr>
          <p:cNvPr id="11" name="Key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Core HCM cutover changes the source key</a:t>
            </a:r>
            <a:endParaRPr lang="en-US" sz="1400" dirty="0"/>
          </a:p>
          <a:p>
            <a:pPr marL="342900" indent="-342900">
              <a:spcAft>
                <a:spcPts val="600"/>
              </a:spcAft>
              <a:buSzPct val="100000"/>
              <a:buChar char="•"/>
            </a:pPr>
            <a:r>
              <a:rPr lang="en-US" sz="1350" dirty="0">
                <a:solidFill>
                  <a:schemeClr val="tx2"/>
                </a:solidFill>
              </a:rPr>
              <a:t>Contractors come from another source</a:t>
            </a:r>
            <a:endParaRPr lang="en-US" sz="1400" dirty="0"/>
          </a:p>
          <a:p>
            <a:pPr marL="342900" indent="-342900">
              <a:spcAft>
                <a:spcPts val="600"/>
              </a:spcAft>
              <a:buSzPct val="100000"/>
              <a:buChar char="•"/>
            </a:pPr>
            <a:r>
              <a:rPr lang="en-US" sz="1350" dirty="0">
                <a:solidFill>
                  <a:schemeClr val="tx2"/>
                </a:solidFill>
              </a:rPr>
              <a:t>A rehire re-links the same person</a:t>
            </a:r>
            <a:endParaRPr lang="en-US" sz="1400" dirty="0"/>
          </a:p>
          <a:p>
            <a:pPr marL="342900" indent="-342900">
              <a:spcAft>
                <a:spcPts val="600"/>
              </a:spcAft>
              <a:buSzPct val="100000"/>
              <a:buChar char="•"/>
            </a:pPr>
            <a:r>
              <a:rPr lang="en-US" sz="1350" dirty="0">
                <a:solidFill>
                  <a:schemeClr val="tx2"/>
                </a:solidFill>
              </a:rPr>
              <a:t>A conversion keeps one identity</a:t>
            </a:r>
            <a:endParaRPr lang="en-US" sz="1400" dirty="0"/>
          </a:p>
          <a:p>
            <a:pPr marL="342900" indent="-342900">
              <a:spcAft>
                <a:spcPts val="600"/>
              </a:spcAft>
              <a:buSzPct val="100000"/>
              <a:buChar char="•"/>
            </a:pPr>
            <a:r>
              <a:rPr lang="en-US" sz="1350" dirty="0">
                <a:solidFill>
                  <a:schemeClr val="tx2"/>
                </a:solidFill>
              </a:rPr>
              <a:t>The SSN is never the join key</a:t>
            </a:r>
            <a:endParaRPr lang="en-US" sz="1400" dirty="0"/>
          </a:p>
        </p:txBody>
      </p:sp>
      <p:sp>
        <p:nvSpPr>
          <p:cNvPr id="12"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Decide the enterprise person key the agency controls, and map every source, directory and credential key to it</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ICAM governance body; data architect records</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Phase 1 closes</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(IA-4, IA-4(4)); FIPS 201-3; Oracle Change Worker Type; Microsoft Graph user resource (employeeId). Book 03, Chapters 04,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BC82C476-EC39-3BBD-DA3D-8165AFDB0E4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04E01A9-BEA8-4EC4-AA7D-DDED2573D0D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020"/>
    </mc:Choice>
    <mc:Fallback>
      <p:transition spd="slow" advTm="48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01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Map to OPM's standards once, not to vendor fields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boxes left to right. Amber, OPM data standards, standard elements: agency or subelement; personnel office identifier; duty station; occupational series, pay plan, grade; supervisory status; tenure, appointment, work schedule; nature of action plus effective date; a footnote says Core HCM fields implement the standard and are not the contract. Arrow labelled one governed crosswalk to a blue canonical model box: enterprise person key; organization and location codes; position category; worker type and status; lifecycle event. Arrow to a green Entra ID and AD box: native attributes first; coded extension attributes; hire and leave dates; manager relationship. Below the standard elements, a violet box, not in HRIT: contractors and vendors, from three sources: the Core HCM contingent worker, PIV enrollment and sponsorship, and the contractor suitability register; a footnote says one authority per fact, with a federal sponsor accountable. It joins the canonical model by a dashed arrow labelled own sources."/>
          <p:cNvPicPr>
            <a:picLocks noChangeAspect="1"/>
          </p:cNvPicPr>
          <p:nvPr/>
        </p:nvPicPr>
        <p:blipFill>
          <a:blip r:embed="rId5"/>
          <a:stretch>
            <a:fillRect/>
          </a:stretch>
        </p:blipFill>
        <p:spPr>
          <a:xfrm>
            <a:off x="548640" y="1400255"/>
            <a:ext cx="4754880" cy="3234530"/>
          </a:xfrm>
          <a:prstGeom prst="rect">
            <a:avLst/>
          </a:prstGeom>
        </p:spPr>
      </p:pic>
      <p:sp>
        <p:nvSpPr>
          <p:cNvPr id="6" name="Standard box">
            <a:extLst>
              <a:ext uri="{C183D7F6-B498-43B3-948B-1728B52AA6E4}">
                <adec:decorative xmlns:adec="http://schemas.microsoft.com/office/drawing/2017/decorative" val="1"/>
              </a:ext>
            </a:extLst>
          </p:cNvPr>
          <p:cNvSpPr/>
          <p:nvPr/>
        </p:nvSpPr>
        <p:spPr>
          <a:xfrm>
            <a:off x="5532120" y="1371600"/>
            <a:ext cx="6126480" cy="2432304"/>
          </a:xfrm>
          <a:prstGeom prst="roundRect">
            <a:avLst>
              <a:gd name="adj" fmla="val 30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Book">
            <a:extLst>
              <a:ext uri="{C183D7F6-B498-43B3-948B-1728B52AA6E4}">
                <adec:decorative xmlns:adec="http://schemas.microsoft.com/office/drawing/2017/decorative" val="1"/>
              </a:ext>
            </a:extLst>
          </p:cNvPr>
          <p:cNvSpPr/>
          <p:nvPr/>
        </p:nvSpPr>
        <p:spPr>
          <a:xfrm>
            <a:off x="576072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892394" y="1649578"/>
            <a:ext cx="285293" cy="285293"/>
          </a:xfrm>
          <a:prstGeom prst="rect">
            <a:avLst/>
          </a:prstGeom>
        </p:spPr>
      </p:pic>
      <p:sp>
        <p:nvSpPr>
          <p:cNvPr id="9" name="Standard head"/>
          <p:cNvSpPr txBox="1"/>
          <p:nvPr/>
        </p:nvSpPr>
        <p:spPr>
          <a:xfrm>
            <a:off x="6446520" y="1517904"/>
            <a:ext cx="507492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the standard gives identity</a:t>
            </a:r>
            <a:endParaRPr lang="en-US" sz="1650" dirty="0"/>
          </a:p>
        </p:txBody>
      </p:sp>
      <p:sp>
        <p:nvSpPr>
          <p:cNvPr id="10" name="Standard list"/>
          <p:cNvSpPr txBox="1"/>
          <p:nvPr/>
        </p:nvSpPr>
        <p:spPr>
          <a:xfrm>
            <a:off x="5760720" y="2212848"/>
            <a:ext cx="57150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same elements and codes in every agency</a:t>
            </a:r>
            <a:endParaRPr lang="en-US" sz="1400" dirty="0"/>
          </a:p>
          <a:p>
            <a:pPr marL="342900" indent="-342900">
              <a:spcAft>
                <a:spcPts val="600"/>
              </a:spcAft>
              <a:buSzPct val="100000"/>
              <a:buChar char="•"/>
            </a:pPr>
            <a:r>
              <a:rPr lang="en-US" sz="1350" dirty="0">
                <a:solidFill>
                  <a:schemeClr val="tx2"/>
                </a:solidFill>
              </a:rPr>
              <a:t>Nature-of-action codes as lifecycle triggers</a:t>
            </a:r>
            <a:endParaRPr lang="en-US" sz="1400" dirty="0"/>
          </a:p>
          <a:p>
            <a:pPr marL="342900" indent="-342900">
              <a:spcAft>
                <a:spcPts val="600"/>
              </a:spcAft>
              <a:buSzPct val="100000"/>
              <a:buChar char="•"/>
            </a:pPr>
            <a:r>
              <a:rPr lang="en-US" sz="1350" dirty="0">
                <a:solidFill>
                  <a:schemeClr val="tx2"/>
                </a:solidFill>
              </a:rPr>
              <a:t>One crosswalk that outlives the next vendor</a:t>
            </a:r>
            <a:endParaRPr lang="en-US" sz="1400" dirty="0"/>
          </a:p>
          <a:p>
            <a:pPr marL="342900" indent="-342900">
              <a:spcAft>
                <a:spcPts val="600"/>
              </a:spcAft>
              <a:buSzPct val="100000"/>
              <a:buChar char="•"/>
            </a:pPr>
            <a:r>
              <a:rPr lang="en-US" sz="1350" dirty="0">
                <a:solidFill>
                  <a:schemeClr val="tx2"/>
                </a:solidFill>
              </a:rPr>
              <a:t>Codes for access, never display strings</a:t>
            </a:r>
            <a:endParaRPr lang="en-US" sz="1400" dirty="0"/>
          </a:p>
          <a:p>
            <a:pPr marL="342900" indent="-342900">
              <a:spcAft>
                <a:spcPts val="600"/>
              </a:spcAft>
              <a:buSzPct val="100000"/>
              <a:buChar char="•"/>
            </a:pPr>
            <a:r>
              <a:rPr lang="en-US" sz="1350" dirty="0">
                <a:solidFill>
                  <a:schemeClr val="tx2"/>
                </a:solidFill>
              </a:rPr>
              <a:t>It stops at federal employees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Build one governed crosswalk from OPM's standard data elements to the canonical model; the codes access reads come from the standard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Data architect; HR owns the code lists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1</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OPM data standards (metadata repository); OPM Guide to Processing Personnel Actions; Microsoft Learn — dynamic membership rules. Book 03, Ch. 01, 06,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3C0F14E-96D8-E77B-9840-0D9A8BBFBE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79F33BB-962D-4B1D-A8B4-E4A857ABFD5D}"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940"/>
    </mc:Choice>
    <mc:Fallback>
      <p:transition spd="slow" advTm="50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94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provisioning pipeline, at decision level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Left to right: Core HCM (extracts, ATOM feeds, REST, SCIM); boundary transformation (source-specific, replaceable); an amber middleware box with five duties: validate (fail closed), sequence, normalize to SCIM, write provenance, reconcile results; Graph /bulkUpload (Entra provisioning service), which writes to Active Directory (hybrid users, via the provisioning agent) and Entra ID (cloud-managed users). A dashed green line from the middleware goes to an evidence store (provenance and provisioning logs)."/>
          <p:cNvPicPr>
            <a:picLocks noChangeAspect="1"/>
          </p:cNvPicPr>
          <p:nvPr/>
        </p:nvPicPr>
        <p:blipFill>
          <a:blip r:embed="rId5"/>
          <a:stretch>
            <a:fillRect/>
          </a:stretch>
        </p:blipFill>
        <p:spPr>
          <a:xfrm>
            <a:off x="548640" y="1379762"/>
            <a:ext cx="6309360" cy="2132516"/>
          </a:xfrm>
          <a:prstGeom prst="rect">
            <a:avLst/>
          </a:prstGeom>
        </p:spPr>
      </p:pic>
      <p:sp>
        <p:nvSpPr>
          <p:cNvPr id="6" name="Connector"/>
          <p:cNvSpPr txBox="1"/>
          <p:nvPr/>
        </p:nvSpPr>
        <p:spPr>
          <a:xfrm>
            <a:off x="548640" y="3657600"/>
            <a:ext cx="6309360" cy="960120"/>
          </a:xfrm>
          <a:prstGeom prst="rect">
            <a:avLst/>
          </a:prstGeom>
          <a:noFill/>
          <a:ln/>
        </p:spPr>
        <p:txBody>
          <a:bodyPr wrap="square" lIns="0" tIns="0" rIns="0" bIns="0" rtlCol="0" anchor="ctr"/>
          <a:lstStyle/>
          <a:p>
            <a:pPr marL="0" indent="0">
              <a:buNone/>
            </a:pPr>
            <a:r>
              <a:rPr lang="en-US" sz="1400" b="1" dirty="0">
                <a:solidFill>
                  <a:srgbClr val="1F2A44"/>
                </a:solidFill>
              </a:rPr>
              <a:t>No native connector: </a:t>
            </a:r>
            <a:r>
              <a:rPr lang="en-US" sz="1400" dirty="0">
                <a:solidFill>
                  <a:srgbClr val="334155"/>
                </a:solidFill>
              </a:rPr>
              <a:t>Oracle Fusion Cloud HCM has no prebuilt Entra connector, and Microsoft's own Oracle guidance is API-driven inbound provisioning, through a middleware the agency runs.</a:t>
            </a:r>
            <a:endParaRPr lang="en-US" sz="1400" dirty="0"/>
          </a:p>
        </p:txBody>
      </p:sp>
      <p:sp>
        <p:nvSpPr>
          <p:cNvPr id="7" name="Forces box">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Icon FaRout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10" name="Force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Choices it forces</a:t>
            </a:r>
            <a:endParaRPr lang="en-US" sz="1650" dirty="0"/>
          </a:p>
        </p:txBody>
      </p:sp>
      <p:sp>
        <p:nvSpPr>
          <p:cNvPr id="11" name="Forces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middleware sits inside the agency boundary</a:t>
            </a:r>
            <a:endParaRPr lang="en-US" sz="1400" dirty="0"/>
          </a:p>
          <a:p>
            <a:pPr marL="342900" indent="-342900">
              <a:spcAft>
                <a:spcPts val="600"/>
              </a:spcAft>
              <a:buSzPct val="100000"/>
              <a:buChar char="•"/>
            </a:pPr>
            <a:r>
              <a:rPr lang="en-US" sz="1350" dirty="0">
                <a:solidFill>
                  <a:schemeClr val="tx2"/>
                </a:solidFill>
              </a:rPr>
              <a:t>Fail closed; every event leaves a record</a:t>
            </a:r>
            <a:endParaRPr lang="en-US" sz="1400" dirty="0"/>
          </a:p>
          <a:p>
            <a:pPr marL="342900" indent="-342900">
              <a:spcAft>
                <a:spcPts val="600"/>
              </a:spcAft>
              <a:buSzPct val="100000"/>
              <a:buChar char="•"/>
            </a:pPr>
            <a:r>
              <a:rPr lang="en-US" sz="1350" dirty="0">
                <a:solidFill>
                  <a:schemeClr val="tx2"/>
                </a:solidFill>
              </a:rPr>
              <a:t>AD first; Entra ID as populations move</a:t>
            </a:r>
            <a:endParaRPr lang="en-US" sz="1400" dirty="0"/>
          </a:p>
          <a:p>
            <a:pPr marL="342900" indent="-342900">
              <a:spcAft>
                <a:spcPts val="600"/>
              </a:spcAft>
              <a:buSzPct val="100000"/>
              <a:buChar char="•"/>
            </a:pPr>
            <a:r>
              <a:rPr lang="en-US" sz="1350" dirty="0">
                <a:solidFill>
                  <a:schemeClr val="tx2"/>
                </a:solidFill>
              </a:rPr>
              <a:t>Writeback optional, one way per attribute</a:t>
            </a:r>
            <a:endParaRPr lang="en-US" sz="1400" dirty="0"/>
          </a:p>
        </p:txBody>
      </p:sp>
      <p:sp>
        <p:nvSpPr>
          <p:cNvPr id="12"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Authorize the workforce identity feed and its middleware inside the agency's boundary, with provenance for every event</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Authorizing official; identity engineering builds</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pilot</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API-driven inbound provisioning; plan cloud HR provisioning; Oracle HCM tutorial; NIST SP 800-47 Rev. 1. Book 03, Chapters 05,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3D712B78-F6BA-38C5-5D81-A6ACA6A5695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6F98A9-37BB-445B-98EA-16285B29063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570"/>
    </mc:Choice>
    <mc:Fallback>
      <p:transition spd="slow" advTm="51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568"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Owners, users and guards of workforce identity</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of cards. The top row, in amber, holds the owners: HR, which owns personnel data and its quality at the source; the OPM Federal HR 2.0 program, which owns the platform, the data standards and the interconnection; and the contractor sources, meaning the sponsor or COR, PIV sponsorship and the contingent worker record. Arrows labelled personnel facts, standards and contractor facts run from the owners to a blue card in the middle row, the data architect, who stewards one model, one key and one owner per attribute. Beside the data architect in the middle row are three violet guard cards: the privacy office (routine use, PIA, minimization), the PIV office (sponsorship, proofing, issuance, termination) and the ISSO and authorizing official (authorization, risk acceptance, evidence). Blue arrows run from the data architect down to four green cards in the bottom row, the users: the CIO identity team (Entra ID, AD, provisioning, access), security (Zero Trust policy and the leaver path), the help desk (exceptions, not routine tickets) and application owners (access rules for their applications)."/>
          <p:cNvPicPr>
            <a:picLocks noChangeAspect="1"/>
          </p:cNvPicPr>
          <p:nvPr/>
        </p:nvPicPr>
        <p:blipFill>
          <a:blip r:embed="rId5"/>
          <a:stretch>
            <a:fillRect/>
          </a:stretch>
        </p:blipFill>
        <p:spPr>
          <a:xfrm>
            <a:off x="548640" y="1546347"/>
            <a:ext cx="6309360" cy="2942346"/>
          </a:xfrm>
          <a:prstGeom prst="rect">
            <a:avLst/>
          </a:prstGeom>
        </p:spPr>
      </p:pic>
      <p:sp>
        <p:nvSpPr>
          <p:cNvPr id="6" name="Owners box">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Owner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Who owns what</a:t>
            </a:r>
            <a:endParaRPr lang="en-US" sz="1650" dirty="0"/>
          </a:p>
        </p:txBody>
      </p:sp>
      <p:sp>
        <p:nvSpPr>
          <p:cNvPr id="10" name="Owners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HR: personnel data and its quality</a:t>
            </a:r>
            <a:endParaRPr lang="en-US" sz="1400" dirty="0"/>
          </a:p>
          <a:p>
            <a:pPr marL="342900" indent="-342900">
              <a:spcAft>
                <a:spcPts val="600"/>
              </a:spcAft>
              <a:buSzPct val="100000"/>
              <a:buChar char="•"/>
            </a:pPr>
            <a:r>
              <a:rPr lang="en-US" sz="1350" dirty="0">
                <a:solidFill>
                  <a:schemeClr val="tx2"/>
                </a:solidFill>
              </a:rPr>
              <a:t>OPM: platform, standards, interconnection</a:t>
            </a:r>
            <a:endParaRPr lang="en-US" sz="1400" dirty="0"/>
          </a:p>
          <a:p>
            <a:pPr marL="342900" indent="-342900">
              <a:spcAft>
                <a:spcPts val="600"/>
              </a:spcAft>
              <a:buSzPct val="100000"/>
              <a:buChar char="•"/>
            </a:pPr>
            <a:r>
              <a:rPr lang="en-US" sz="1350" dirty="0">
                <a:solidFill>
                  <a:schemeClr val="tx2"/>
                </a:solidFill>
              </a:rPr>
              <a:t>Contractor sources: who HR doesn't cover</a:t>
            </a:r>
            <a:endParaRPr lang="en-US" sz="1400" dirty="0"/>
          </a:p>
          <a:p>
            <a:pPr marL="342900" indent="-342900">
              <a:spcAft>
                <a:spcPts val="600"/>
              </a:spcAft>
              <a:buSzPct val="100000"/>
              <a:buChar char="•"/>
            </a:pPr>
            <a:r>
              <a:rPr lang="en-US" sz="1350" dirty="0">
                <a:solidFill>
                  <a:schemeClr val="tx2"/>
                </a:solidFill>
              </a:rPr>
              <a:t>Data architect: one model, one key</a:t>
            </a:r>
            <a:endParaRPr lang="en-US" sz="1400" dirty="0"/>
          </a:p>
          <a:p>
            <a:pPr marL="342900" indent="-342900">
              <a:spcAft>
                <a:spcPts val="600"/>
              </a:spcAft>
              <a:buSzPct val="100000"/>
              <a:buChar char="•"/>
            </a:pPr>
            <a:r>
              <a:rPr lang="en-US" sz="1350" dirty="0">
                <a:solidFill>
                  <a:schemeClr val="tx2"/>
                </a:solidFill>
              </a:rPr>
              <a:t>Help desk routes data errors; never fixes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Name an accountable owner, by role, for each HR-mastered attribute, with a quality expectation HR accepts before automation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HR leadership (CHCO)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1, before the map is signed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M-19-17; NIST SP 800-37 Rev. 2 (information owner); OMB M-19-23; OPM data standards guidance; Microsoft Learn — Entra roles. Book 03,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CD820F0-9CDE-45FB-FBD8-8D1435EB0A0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2B31B94-FA2B-4037-ABBD-E14D35DFAB01}"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610"/>
    </mc:Choice>
    <mc:Fallback>
      <p:transition spd="slow" advTm="50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60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what for workforce identity</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8862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Authority map, person key, contractor 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ICAM governance body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Meaning and code lists of HR attributes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HR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Canonical schema and crosswalk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Data architect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Privacy basis, PIA, minimized attribute set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Privacy office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Write rights; leaver timing and path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Security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Contractor sponsorship and end dates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Contracting (the COR)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PIV issuance and termination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PIV office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Access rules for an application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Authorize the feed; accept residual 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Fails box">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Fail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Where ownership usually fails</a:t>
            </a:r>
            <a:endParaRPr lang="en-US" sz="1650" dirty="0"/>
          </a:p>
        </p:txBody>
      </p:sp>
      <p:sp>
        <p:nvSpPr>
          <p:cNvPr id="10" name="Fails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Ownership by console</a:t>
            </a:r>
            <a:endParaRPr lang="en-US" sz="1400" dirty="0"/>
          </a:p>
          <a:p>
            <a:pPr marL="342900" indent="-342900">
              <a:spcAft>
                <a:spcPts val="600"/>
              </a:spcAft>
              <a:buSzPct val="100000"/>
              <a:buChar char="•"/>
            </a:pPr>
            <a:r>
              <a:rPr lang="en-US" sz="1350" dirty="0">
                <a:solidFill>
                  <a:schemeClr val="tx2"/>
                </a:solidFill>
              </a:rPr>
              <a:t>The help desk as a shadow source</a:t>
            </a:r>
            <a:endParaRPr lang="en-US" sz="1400" dirty="0"/>
          </a:p>
          <a:p>
            <a:pPr marL="342900" indent="-342900">
              <a:spcAft>
                <a:spcPts val="600"/>
              </a:spcAft>
              <a:buSzPct val="100000"/>
              <a:buChar char="•"/>
            </a:pPr>
            <a:r>
              <a:rPr lang="en-US" sz="1350" dirty="0">
                <a:solidFill>
                  <a:schemeClr val="tx2"/>
                </a:solidFill>
              </a:rPr>
              <a:t>A key owned by the source system</a:t>
            </a:r>
            <a:endParaRPr lang="en-US" sz="1400" dirty="0"/>
          </a:p>
          <a:p>
            <a:pPr marL="342900" indent="-342900">
              <a:spcAft>
                <a:spcPts val="600"/>
              </a:spcAft>
              <a:buSzPct val="100000"/>
              <a:buChar char="•"/>
            </a:pPr>
            <a:r>
              <a:rPr lang="en-US" sz="1350" dirty="0">
                <a:solidFill>
                  <a:schemeClr val="tx2"/>
                </a:solidFill>
              </a:rPr>
              <a:t>A leaver owned in pieces</a:t>
            </a:r>
            <a:endParaRPr lang="en-US" sz="1400" dirty="0"/>
          </a:p>
          <a:p>
            <a:pPr marL="342900" indent="-342900">
              <a:spcAft>
                <a:spcPts val="600"/>
              </a:spcAft>
              <a:buSzPct val="100000"/>
              <a:buChar char="•"/>
            </a:pPr>
            <a:r>
              <a:rPr lang="en-US" sz="1350" dirty="0">
                <a:solidFill>
                  <a:schemeClr val="tx2"/>
                </a:solidFill>
              </a:rPr>
              <a:t>Privacy brought in at go-live</a:t>
            </a:r>
            <a:endParaRPr lang="en-US" sz="1400" dirty="0"/>
          </a:p>
        </p:txBody>
      </p:sp>
      <p:sp>
        <p:nvSpPr>
          <p:cNvPr id="5"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Give security end-to-end ownership of the leaver path and its timing, with the AO consulted on any threshold looser than policy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Security (CISO)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leaver automation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M-19-17; NIST SP 800-37 Rev. 2; NIST SP 800-79-2; FIPS 201-3. Book 03, Chapter 07 (responsibility matrix; ownership failures) and Chapter 12 (roles).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C5F3300-BA5A-A7E5-9049-A8F1D4F273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8F3202-47EF-4C04-A614-1E07C1ACCDE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700"/>
    </mc:Choice>
    <mc:Fallback>
      <p:transition spd="slow" advTm="49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69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Privacy and PIV: guards with clocks of their own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Privacy box">
            <a:extLst>
              <a:ext uri="{C183D7F6-B498-43B3-948B-1728B52AA6E4}">
                <adec:decorative xmlns:adec="http://schemas.microsoft.com/office/drawing/2017/decorative" val="1"/>
              </a:ext>
            </a:extLst>
          </p:cNvPr>
          <p:cNvSpPr/>
          <p:nvPr/>
        </p:nvSpPr>
        <p:spPr>
          <a:xfrm>
            <a:off x="548640" y="1371600"/>
            <a:ext cx="544068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Lock">
            <a:extLst>
              <a:ext uri="{C183D7F6-B498-43B3-948B-1728B52AA6E4}">
                <adec:decorative xmlns:adec="http://schemas.microsoft.com/office/drawing/2017/decorative" val="1"/>
              </a:ext>
            </a:extLst>
          </p:cNvPr>
          <p:cNvSpPr/>
          <p:nvPr/>
        </p:nvSpPr>
        <p:spPr>
          <a:xfrm>
            <a:off x="777240" y="1517904"/>
            <a:ext cx="548640" cy="54864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8914" y="1649578"/>
            <a:ext cx="285293" cy="285293"/>
          </a:xfrm>
          <a:prstGeom prst="rect">
            <a:avLst/>
          </a:prstGeom>
        </p:spPr>
      </p:pic>
      <p:sp>
        <p:nvSpPr>
          <p:cNvPr id="8" name="Privacy head"/>
          <p:cNvSpPr txBox="1"/>
          <p:nvPr/>
        </p:nvSpPr>
        <p:spPr>
          <a:xfrm>
            <a:off x="1463040" y="1517904"/>
            <a:ext cx="438912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The privacy office</a:t>
            </a:r>
            <a:endParaRPr lang="en-US" sz="1650" dirty="0"/>
          </a:p>
        </p:txBody>
      </p:sp>
      <p:sp>
        <p:nvSpPr>
          <p:cNvPr id="9" name="Privacy list"/>
          <p:cNvSpPr txBox="1"/>
          <p:nvPr/>
        </p:nvSpPr>
        <p:spPr>
          <a:xfrm>
            <a:off x="777240" y="2212848"/>
            <a:ext cx="502920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Moving HR records into identity is a disclosure</a:t>
            </a:r>
            <a:endParaRPr lang="en-US" sz="1400" dirty="0"/>
          </a:p>
          <a:p>
            <a:pPr marL="342900" indent="-342900">
              <a:spcAft>
                <a:spcPts val="600"/>
              </a:spcAft>
              <a:buSzPct val="100000"/>
              <a:buChar char="•"/>
            </a:pPr>
            <a:r>
              <a:rPr lang="en-US" sz="1350" dirty="0">
                <a:solidFill>
                  <a:schemeClr val="tx2"/>
                </a:solidFill>
              </a:rPr>
              <a:t>Inside the agency: need to know; outside: a routine use</a:t>
            </a:r>
            <a:endParaRPr lang="en-US" sz="1400" dirty="0"/>
          </a:p>
          <a:p>
            <a:pPr marL="342900" indent="-342900">
              <a:spcAft>
                <a:spcPts val="600"/>
              </a:spcAft>
              <a:buSzPct val="100000"/>
              <a:buChar char="•"/>
            </a:pPr>
            <a:r>
              <a:rPr lang="en-US" sz="1350" dirty="0">
                <a:solidFill>
                  <a:schemeClr val="tx2"/>
                </a:solidFill>
              </a:rPr>
              <a:t>A new routine use waits 30 days after publication</a:t>
            </a:r>
            <a:endParaRPr lang="en-US" sz="1400" dirty="0"/>
          </a:p>
          <a:p>
            <a:pPr marL="342900" indent="-342900">
              <a:spcAft>
                <a:spcPts val="600"/>
              </a:spcAft>
              <a:buSzPct val="100000"/>
              <a:buChar char="•"/>
            </a:pPr>
            <a:r>
              <a:rPr lang="en-US" sz="1350" dirty="0">
                <a:solidFill>
                  <a:schemeClr val="tx2"/>
                </a:solidFill>
              </a:rPr>
              <a:t>An updated PIA, and only the attributes decisions read</a:t>
            </a:r>
            <a:endParaRPr lang="en-US" sz="1400" dirty="0"/>
          </a:p>
          <a:p>
            <a:pPr marL="342900" indent="-342900">
              <a:spcAft>
                <a:spcPts val="600"/>
              </a:spcAft>
              <a:buSzPct val="100000"/>
              <a:buChar char="•"/>
            </a:pPr>
            <a:r>
              <a:rPr lang="en-US" sz="1350" dirty="0">
                <a:solidFill>
                  <a:schemeClr val="tx2"/>
                </a:solidFill>
              </a:rPr>
              <a:t>The privacy office decides, not the project</a:t>
            </a:r>
            <a:endParaRPr lang="en-US" sz="1400" dirty="0"/>
          </a:p>
        </p:txBody>
      </p:sp>
      <p:sp>
        <p:nvSpPr>
          <p:cNvPr id="10" name="PIV box">
            <a:extLst>
              <a:ext uri="{C183D7F6-B498-43B3-948B-1728B52AA6E4}">
                <adec:decorative xmlns:adec="http://schemas.microsoft.com/office/drawing/2017/decorative" val="1"/>
              </a:ext>
            </a:extLst>
          </p:cNvPr>
          <p:cNvSpPr/>
          <p:nvPr/>
        </p:nvSpPr>
        <p:spPr>
          <a:xfrm>
            <a:off x="6217920" y="1371600"/>
            <a:ext cx="54406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IdCard">
            <a:extLst>
              <a:ext uri="{C183D7F6-B498-43B3-948B-1728B52AA6E4}">
                <adec:decorative xmlns:adec="http://schemas.microsoft.com/office/drawing/2017/decorative" val="1"/>
              </a:ext>
            </a:extLst>
          </p:cNvPr>
          <p:cNvSpPr/>
          <p:nvPr/>
        </p:nvSpPr>
        <p:spPr>
          <a:xfrm>
            <a:off x="6446520" y="1517904"/>
            <a:ext cx="548640" cy="548640"/>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78194" y="1649578"/>
            <a:ext cx="285293" cy="285293"/>
          </a:xfrm>
          <a:prstGeom prst="rect">
            <a:avLst/>
          </a:prstGeom>
        </p:spPr>
      </p:pic>
      <p:sp>
        <p:nvSpPr>
          <p:cNvPr id="13" name="PIV head"/>
          <p:cNvSpPr txBox="1"/>
          <p:nvPr/>
        </p:nvSpPr>
        <p:spPr>
          <a:xfrm>
            <a:off x="7132320" y="1517904"/>
            <a:ext cx="438912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The PIV and credentialing office</a:t>
            </a:r>
            <a:endParaRPr lang="en-US" sz="1650" dirty="0"/>
          </a:p>
        </p:txBody>
      </p:sp>
      <p:sp>
        <p:nvSpPr>
          <p:cNvPr id="14" name="PIV list"/>
          <p:cNvSpPr txBox="1"/>
          <p:nvPr/>
        </p:nvSpPr>
        <p:spPr>
          <a:xfrm>
            <a:off x="6446520" y="2212848"/>
            <a:ext cx="50292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Sponsorship and adjudication can't be outsourced</a:t>
            </a:r>
            <a:endParaRPr lang="en-US" sz="1400" dirty="0"/>
          </a:p>
          <a:p>
            <a:pPr marL="342900" indent="-342900">
              <a:spcAft>
                <a:spcPts val="600"/>
              </a:spcAft>
              <a:buSzPct val="100000"/>
              <a:buChar char="•"/>
            </a:pPr>
            <a:r>
              <a:rPr lang="en-US" sz="1350" dirty="0">
                <a:solidFill>
                  <a:schemeClr val="tx2"/>
                </a:solidFill>
              </a:rPr>
              <a:t>No one person can issue a PIV card alone</a:t>
            </a:r>
            <a:endParaRPr lang="en-US" sz="1400" dirty="0"/>
          </a:p>
          <a:p>
            <a:pPr marL="342900" indent="-342900">
              <a:spcAft>
                <a:spcPts val="600"/>
              </a:spcAft>
              <a:buSzPct val="100000"/>
              <a:buChar char="•"/>
            </a:pPr>
            <a:r>
              <a:rPr lang="en-US" sz="1350" dirty="0">
                <a:solidFill>
                  <a:schemeClr val="tx2"/>
                </a:solidFill>
              </a:rPr>
              <a:t>A card not collected: terminated within 18 hours</a:t>
            </a:r>
            <a:endParaRPr lang="en-US" sz="1400" dirty="0"/>
          </a:p>
          <a:p>
            <a:pPr marL="342900" indent="-342900">
              <a:spcAft>
                <a:spcPts val="600"/>
              </a:spcAft>
              <a:buSzPct val="100000"/>
              <a:buChar char="•"/>
            </a:pPr>
            <a:r>
              <a:rPr lang="en-US" sz="1350" dirty="0">
                <a:solidFill>
                  <a:schemeClr val="tx2"/>
                </a:solidFill>
              </a:rPr>
              <a:t>The separation record is the notification</a:t>
            </a:r>
            <a:endParaRPr lang="en-US" sz="1400" dirty="0"/>
          </a:p>
          <a:p>
            <a:pPr marL="342900" indent="-342900">
              <a:spcAft>
                <a:spcPts val="600"/>
              </a:spcAft>
              <a:buSzPct val="100000"/>
              <a:buChar char="•"/>
            </a:pPr>
            <a:r>
              <a:rPr lang="en-US" sz="1350" dirty="0">
                <a:solidFill>
                  <a:schemeClr val="tx2"/>
                </a:solidFill>
              </a:rPr>
              <a:t>It decides how its system receives that record</a:t>
            </a:r>
            <a:endParaRPr lang="en-US" sz="1400" dirty="0"/>
          </a:p>
        </p:txBody>
      </p:sp>
      <p:sp>
        <p:nvSpPr>
          <p:cNvPr id="15"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8"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Decide the privacy basis, the PIA update and the minimized attribute set in Phase 1, because those timelines can't be compressed at go-live</a:t>
            </a:r>
            <a:endParaRPr lang="en-US" sz="1400" dirty="0"/>
          </a:p>
        </p:txBody>
      </p:sp>
      <p:sp>
        <p:nvSpPr>
          <p:cNvPr id="19"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Privacy office (SAOP)</a:t>
            </a:r>
            <a:endParaRPr lang="en-US" sz="1400" dirty="0"/>
          </a:p>
        </p:txBody>
      </p:sp>
      <p:sp>
        <p:nvSpPr>
          <p:cNvPr id="20"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1 gate</a:t>
            </a:r>
            <a:endParaRPr lang="en-US" sz="1400" dirty="0"/>
          </a:p>
        </p:txBody>
      </p:sp>
      <p:sp>
        <p:nvSpPr>
          <p:cNvPr id="2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Privacy Act, 5 U.S.C. 552a; OMB A-108; A-130; M-03-22; OPM/GOVT-1; FIPS 201-3; NIST SP 800-79-2. Book 03, Chapters 04, 07;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06D85AEB-EFF5-9DC7-075C-B4BE64AF0E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2696B85-7EF5-45EA-B143-B6ABE2ADAA57}"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140"/>
    </mc:Choice>
    <mc:Fallback>
      <p:transition spd="slow" advTm="48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136"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Joiner, mover, leaver: by code, not by ticket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n amber box on the left, SF-50 nature of action: first digit sets the family; effective date sets the time. Seven arrows fan out to: 1xx accessions, joiner; 5xx conversions, conversion; 7xx position, duty station and name changes, mover; 4xx nonpay or nonduty status, not a leaver; 2xx return to duty, reinstate; 3xx separations, leaver, block first; 001 and 002 corrections and cancellations, reverse or re-derive with evidence."/>
          <p:cNvPicPr>
            <a:picLocks noChangeAspect="1"/>
          </p:cNvPicPr>
          <p:nvPr/>
        </p:nvPicPr>
        <p:blipFill>
          <a:blip r:embed="rId5"/>
          <a:stretch>
            <a:fillRect/>
          </a:stretch>
        </p:blipFill>
        <p:spPr>
          <a:xfrm>
            <a:off x="565839" y="1371600"/>
            <a:ext cx="2708803" cy="3291840"/>
          </a:xfrm>
          <a:prstGeom prst="rect">
            <a:avLst/>
          </a:prstGeom>
        </p:spPr>
      </p:pic>
      <p:sp>
        <p:nvSpPr>
          <p:cNvPr id="6" name="Events box">
            <a:extLst>
              <a:ext uri="{C183D7F6-B498-43B3-948B-1728B52AA6E4}">
                <adec:decorative xmlns:adec="http://schemas.microsoft.com/office/drawing/2017/decorative" val="1"/>
              </a:ext>
            </a:extLst>
          </p:cNvPr>
          <p:cNvSpPr/>
          <p:nvPr/>
        </p:nvSpPr>
        <p:spPr>
          <a:xfrm>
            <a:off x="3474720" y="1371600"/>
            <a:ext cx="4206240" cy="3108960"/>
          </a:xfrm>
          <a:prstGeom prst="roundRect">
            <a:avLst>
              <a:gd name="adj" fmla="val 235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370332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834994" y="1649578"/>
            <a:ext cx="285293" cy="285293"/>
          </a:xfrm>
          <a:prstGeom prst="rect">
            <a:avLst/>
          </a:prstGeom>
        </p:spPr>
      </p:pic>
      <p:sp>
        <p:nvSpPr>
          <p:cNvPr id="9" name="Events head"/>
          <p:cNvSpPr txBox="1"/>
          <p:nvPr/>
        </p:nvSpPr>
        <p:spPr>
          <a:xfrm>
            <a:off x="4389120" y="1517904"/>
            <a:ext cx="315468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Five events, five outcomes</a:t>
            </a:r>
            <a:endParaRPr lang="en-US" sz="1650" dirty="0"/>
          </a:p>
        </p:txBody>
      </p:sp>
      <p:sp>
        <p:nvSpPr>
          <p:cNvPr id="10" name="Events list"/>
          <p:cNvSpPr txBox="1"/>
          <p:nvPr/>
        </p:nvSpPr>
        <p:spPr>
          <a:xfrm>
            <a:off x="3703320" y="2212848"/>
            <a:ext cx="379476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Joiner: ready before day one</a:t>
            </a:r>
            <a:endParaRPr lang="en-US" sz="1400" dirty="0"/>
          </a:p>
          <a:p>
            <a:pPr marL="342900" indent="-342900">
              <a:spcAft>
                <a:spcPts val="600"/>
              </a:spcAft>
              <a:buSzPct val="100000"/>
              <a:buChar char="•"/>
            </a:pPr>
            <a:r>
              <a:rPr lang="en-US" sz="1350" dirty="0">
                <a:solidFill>
                  <a:schemeClr val="tx2"/>
                </a:solidFill>
              </a:rPr>
              <a:t>Mover: old access leaves as new arrives</a:t>
            </a:r>
            <a:endParaRPr lang="en-US" sz="1400" dirty="0"/>
          </a:p>
          <a:p>
            <a:pPr marL="342900" indent="-342900">
              <a:spcAft>
                <a:spcPts val="600"/>
              </a:spcAft>
              <a:buSzPct val="100000"/>
              <a:buChar char="•"/>
            </a:pPr>
            <a:r>
              <a:rPr lang="en-US" sz="1350" dirty="0">
                <a:solidFill>
                  <a:schemeClr val="tx2"/>
                </a:solidFill>
              </a:rPr>
              <a:t>Leaver: block first, then reconcile</a:t>
            </a:r>
            <a:endParaRPr lang="en-US" sz="1400" dirty="0"/>
          </a:p>
          <a:p>
            <a:pPr marL="342900" indent="-342900">
              <a:spcAft>
                <a:spcPts val="600"/>
              </a:spcAft>
              <a:buSzPct val="100000"/>
              <a:buChar char="•"/>
            </a:pPr>
            <a:r>
              <a:rPr lang="en-US" sz="1350" dirty="0">
                <a:solidFill>
                  <a:schemeClr val="tx2"/>
                </a:solidFill>
              </a:rPr>
              <a:t>Rehire: the same person, the same key</a:t>
            </a:r>
            <a:endParaRPr lang="en-US" sz="1400" dirty="0"/>
          </a:p>
          <a:p>
            <a:pPr marL="342900" indent="-342900">
              <a:spcAft>
                <a:spcPts val="600"/>
              </a:spcAft>
              <a:buSzPct val="100000"/>
              <a:buChar char="•"/>
            </a:pPr>
            <a:r>
              <a:rPr lang="en-US" sz="1350" dirty="0">
                <a:solidFill>
                  <a:schemeClr val="tx2"/>
                </a:solidFill>
              </a:rPr>
              <a:t>Conversion: re-derived, not re-created</a:t>
            </a:r>
            <a:endParaRPr lang="en-US" sz="1400" dirty="0"/>
          </a:p>
        </p:txBody>
      </p:sp>
      <p:sp>
        <p:nvSpPr>
          <p:cNvPr id="11" name="Rules box">
            <a:extLst>
              <a:ext uri="{C183D7F6-B498-43B3-948B-1728B52AA6E4}">
                <adec:decorative xmlns:adec="http://schemas.microsoft.com/office/drawing/2017/decorative" val="1"/>
              </a:ext>
            </a:extLst>
          </p:cNvPr>
          <p:cNvSpPr/>
          <p:nvPr/>
        </p:nvSpPr>
        <p:spPr>
          <a:xfrm>
            <a:off x="7863840" y="1371600"/>
            <a:ext cx="3794760" cy="3108960"/>
          </a:xfrm>
          <a:prstGeom prst="roundRect">
            <a:avLst>
              <a:gd name="adj" fmla="val 235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8092440" y="1517904"/>
            <a:ext cx="548640" cy="54864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224114" y="1649578"/>
            <a:ext cx="285293" cy="285293"/>
          </a:xfrm>
          <a:prstGeom prst="rect">
            <a:avLst/>
          </a:prstGeom>
        </p:spPr>
      </p:pic>
      <p:sp>
        <p:nvSpPr>
          <p:cNvPr id="14" name="Rules head"/>
          <p:cNvSpPr txBox="1"/>
          <p:nvPr/>
        </p:nvSpPr>
        <p:spPr>
          <a:xfrm>
            <a:off x="8778240" y="1517904"/>
            <a:ext cx="274320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Rules that prevent harm</a:t>
            </a:r>
            <a:endParaRPr lang="en-US" sz="1650" dirty="0"/>
          </a:p>
        </p:txBody>
      </p:sp>
      <p:sp>
        <p:nvSpPr>
          <p:cNvPr id="15" name="Rules list"/>
          <p:cNvSpPr txBox="1"/>
          <p:nvPr/>
        </p:nvSpPr>
        <p:spPr>
          <a:xfrm>
            <a:off x="8092440" y="2212848"/>
            <a:ext cx="338328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Leave is not a leaver</a:t>
            </a:r>
            <a:endParaRPr lang="en-US" sz="1400" dirty="0"/>
          </a:p>
          <a:p>
            <a:pPr marL="342900" indent="-342900">
              <a:spcAft>
                <a:spcPts val="600"/>
              </a:spcAft>
              <a:buSzPct val="100000"/>
              <a:buChar char="•"/>
            </a:pPr>
            <a:r>
              <a:rPr lang="en-US" sz="1350" dirty="0">
                <a:solidFill>
                  <a:schemeClr val="tx2"/>
                </a:solidFill>
              </a:rPr>
              <a:t>A separation wins precedence</a:t>
            </a:r>
            <a:endParaRPr lang="en-US" sz="1400" dirty="0"/>
          </a:p>
          <a:p>
            <a:pPr marL="342900" indent="-342900">
              <a:spcAft>
                <a:spcPts val="600"/>
              </a:spcAft>
              <a:buSzPct val="100000"/>
              <a:buChar char="•"/>
            </a:pPr>
            <a:r>
              <a:rPr lang="en-US" sz="1350" dirty="0">
                <a:solidFill>
                  <a:schemeClr val="tx2"/>
                </a:solidFill>
              </a:rPr>
              <a:t>Cancellations re-enable, with evidence</a:t>
            </a:r>
            <a:endParaRPr lang="en-US" sz="1400" dirty="0"/>
          </a:p>
          <a:p>
            <a:pPr marL="342900" indent="-342900">
              <a:spcAft>
                <a:spcPts val="600"/>
              </a:spcAft>
              <a:buSzPct val="100000"/>
              <a:buChar char="•"/>
            </a:pPr>
            <a:r>
              <a:rPr lang="en-US" sz="1350" dirty="0">
                <a:solidFill>
                  <a:schemeClr val="tx2"/>
                </a:solidFill>
              </a:rPr>
              <a:t>Contractors: contract and sponsor dates</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Validate the nature-of-action trigger table, its exceptions and precedence rules before any lifecycle event is automated</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HR; security, labor relations, privacy validate</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1, before automation</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OPM Guide to Processing Personnel Actions (Oct 2026 edition); NIST SP 800-53 Rev. 5 (PS-4, PS-5, IA-4); Microsoft Learn — Lifecycle Workflows. Book 03,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EDB04119-B01C-BCAE-C81B-9DC7D2F7FB8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4E6DA9D-CF60-4857-B919-1913FFE991F8}"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060"/>
    </mc:Choice>
    <mc:Fallback>
      <p:transition spd="slow" advTm="50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056"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Block first, then reconcile every credential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ertical flow. The HR separation record, which sets employeeLeaveDateTime through provisioning, starts the sequence. Step 1, Entra ID and AD: disable the account, so no new sign-ins or tokens. Step 2, Entra ID: revoke sessions and refresh tokens, so no new tokens are issued from then on, without waiting for the next CRL. These two steps form the block. Step 3 fans out into three parallel actions: the card management system revokes the PIV credential and any derived PIV credentials; Intune retires or wipes every managed device, which revokes and removes SCEP and PKCS certificates; and entitlements, access packages, groups, licenses, privileged-role eligibility and application access are removed. All three feed step 4: reconcile every result and escalate anything incomplete through an alternate path. Step 5: dispose of the directory object under the approved account-disposition rule. A red note, 'Why disposal comes last', points at step 5: deleting the user or removing the license leaves SCEP certificates valid on the device."/>
          <p:cNvPicPr>
            <a:picLocks noChangeAspect="1"/>
          </p:cNvPicPr>
          <p:nvPr/>
        </p:nvPicPr>
        <p:blipFill>
          <a:blip r:embed="rId5"/>
          <a:stretch>
            <a:fillRect/>
          </a:stretch>
        </p:blipFill>
        <p:spPr>
          <a:xfrm>
            <a:off x="548640" y="1388182"/>
            <a:ext cx="3474720" cy="3258675"/>
          </a:xfrm>
          <a:prstGeom prst="rect">
            <a:avLst/>
          </a:prstGeom>
        </p:spPr>
      </p:pic>
      <p:sp>
        <p:nvSpPr>
          <p:cNvPr id="6" name="Creds box">
            <a:extLst>
              <a:ext uri="{C183D7F6-B498-43B3-948B-1728B52AA6E4}">
                <adec:decorative xmlns:adec="http://schemas.microsoft.com/office/drawing/2017/decorative" val="1"/>
              </a:ext>
            </a:extLst>
          </p:cNvPr>
          <p:cNvSpPr/>
          <p:nvPr/>
        </p:nvSpPr>
        <p:spPr>
          <a:xfrm>
            <a:off x="4251960" y="1371600"/>
            <a:ext cx="7406640" cy="2843784"/>
          </a:xfrm>
          <a:prstGeom prst="roundRect">
            <a:avLst>
              <a:gd name="adj" fmla="val 257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448056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12234" y="1649578"/>
            <a:ext cx="285293" cy="285293"/>
          </a:xfrm>
          <a:prstGeom prst="rect">
            <a:avLst/>
          </a:prstGeom>
        </p:spPr>
      </p:pic>
      <p:sp>
        <p:nvSpPr>
          <p:cNvPr id="9" name="Creds head"/>
          <p:cNvSpPr txBox="1"/>
          <p:nvPr/>
        </p:nvSpPr>
        <p:spPr>
          <a:xfrm>
            <a:off x="5166360" y="1517904"/>
            <a:ext cx="635508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Credentials, at decision level</a:t>
            </a:r>
            <a:endParaRPr lang="en-US" sz="1650" dirty="0"/>
          </a:p>
        </p:txBody>
      </p:sp>
      <p:sp>
        <p:nvSpPr>
          <p:cNvPr id="10" name="Creds list"/>
          <p:cNvSpPr txBox="1"/>
          <p:nvPr/>
        </p:nvSpPr>
        <p:spPr>
          <a:xfrm>
            <a:off x="4480560" y="2212848"/>
            <a:ext cx="699516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Disabling an account doesn't revoke a PIV or device certificate</a:t>
            </a:r>
            <a:endParaRPr lang="en-US" sz="1400" dirty="0"/>
          </a:p>
          <a:p>
            <a:pPr marL="342900" indent="-342900">
              <a:spcAft>
                <a:spcPts val="600"/>
              </a:spcAft>
              <a:buSzPct val="100000"/>
              <a:buChar char="•"/>
            </a:pPr>
            <a:r>
              <a:rPr lang="en-US" sz="1350" dirty="0">
                <a:solidFill>
                  <a:schemeClr val="tx2"/>
                </a:solidFill>
              </a:rPr>
              <a:t>Bind each PIV card by a high-affinity value, with one automated writer</a:t>
            </a:r>
            <a:endParaRPr lang="en-US" sz="1400" dirty="0"/>
          </a:p>
          <a:p>
            <a:pPr marL="342900" indent="-342900">
              <a:spcAft>
                <a:spcPts val="600"/>
              </a:spcAft>
              <a:buSzPct val="100000"/>
              <a:buChar char="•"/>
            </a:pPr>
            <a:r>
              <a:rPr lang="en-US" sz="1350" dirty="0">
                <a:solidFill>
                  <a:schemeClr val="tx2"/>
                </a:solidFill>
              </a:rPr>
              <a:t>A PIV revocation reaches Entra on the CA's schedule; token revocation closes it now</a:t>
            </a:r>
            <a:endParaRPr lang="en-US" sz="1400" dirty="0"/>
          </a:p>
          <a:p>
            <a:pPr marL="342900" indent="-342900">
              <a:spcAft>
                <a:spcPts val="600"/>
              </a:spcAft>
              <a:buSzPct val="100000"/>
              <a:buChar char="•"/>
            </a:pPr>
            <a:r>
              <a:rPr lang="en-US" sz="1350" dirty="0">
                <a:solidFill>
                  <a:schemeClr val="tx2"/>
                </a:solidFill>
              </a:rPr>
              <a:t>Built-in workflows don't revoke cards or retire devices: custom tasks do</a:t>
            </a:r>
            <a:endParaRPr lang="en-US" sz="1400" dirty="0"/>
          </a:p>
          <a:p>
            <a:pPr marL="342900" indent="-342900">
              <a:spcAft>
                <a:spcPts val="600"/>
              </a:spcAft>
              <a:buSzPct val="100000"/>
              <a:buChar char="•"/>
            </a:pPr>
            <a:r>
              <a:rPr lang="en-US" sz="1350" dirty="0">
                <a:solidFill>
                  <a:schemeClr val="tx2"/>
                </a:solidFill>
              </a:rPr>
              <a:t>Two measures: separation to block, and to the last revocation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Make the card-management integration the only writer of the PIV binding, and require high-affinity binding in the tenant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Security; the PIV office runs the CMS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CBA and leaver automation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FIPS 201-3; FICAM ILM Playbook; Microsoft Learn — CBA, certificateUserIds, CRL validation, revoke user access, Lifecycle Workflows tasks. Book 03,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E2DCB06-CA14-5CA1-BEED-34E96CAFA69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CA0D09-AFF3-4474-B8B4-41CAA9A709D8}"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860"/>
    </mc:Choice>
    <mc:Fallback>
      <p:transition spd="slow" advTm="51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85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Contractors: the source decision is still open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Option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gives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lacks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Core HCM contingent worker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full worker record and lifecycle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contract, sponsor or vetting layer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PIV sponsorship system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Sponsor, adjudication, expiry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Only people who get a card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Contractor suitability register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Contract link and suitability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Often no engagement end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Non-employee lifecycle 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Sponsor workflows, attestation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third source to govern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Rules box">
            <a:extLst>
              <a:ext uri="{C183D7F6-B498-43B3-948B-1728B52AA6E4}">
                <adec:decorative xmlns:adec="http://schemas.microsoft.com/office/drawing/2017/decorative" val="1"/>
              </a:ext>
            </a:extLst>
          </p:cNvPr>
          <p:cNvSpPr/>
          <p:nvPr/>
        </p:nvSpPr>
        <p:spPr>
          <a:xfrm>
            <a:off x="7086600" y="1371600"/>
            <a:ext cx="4572000" cy="2642616"/>
          </a:xfrm>
          <a:prstGeom prst="roundRect">
            <a:avLst>
              <a:gd name="adj" fmla="val 276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Ti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Rule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Whichever source is chosen</a:t>
            </a:r>
            <a:endParaRPr lang="en-US" sz="1650" dirty="0"/>
          </a:p>
        </p:txBody>
      </p:sp>
      <p:sp>
        <p:nvSpPr>
          <p:cNvPr id="10" name="Rules list"/>
          <p:cNvSpPr txBox="1"/>
          <p:nvPr/>
        </p:nvSpPr>
        <p:spPr>
          <a:xfrm>
            <a:off x="7315200" y="2212848"/>
            <a:ext cx="416052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model and one person key</a:t>
            </a:r>
            <a:endParaRPr lang="en-US" sz="1400" dirty="0"/>
          </a:p>
          <a:p>
            <a:pPr marL="342900" indent="-342900">
              <a:spcAft>
                <a:spcPts val="600"/>
              </a:spcAft>
              <a:buSzPct val="100000"/>
              <a:buChar char="•"/>
            </a:pPr>
            <a:r>
              <a:rPr lang="en-US" sz="1350" dirty="0">
                <a:solidFill>
                  <a:schemeClr val="tx2"/>
                </a:solidFill>
              </a:rPr>
              <a:t>One authority per fact; a federal sponsor</a:t>
            </a:r>
            <a:endParaRPr lang="en-US" sz="1400" dirty="0"/>
          </a:p>
          <a:p>
            <a:pPr marL="342900" indent="-342900">
              <a:spcAft>
                <a:spcPts val="600"/>
              </a:spcAft>
              <a:buSzPct val="100000"/>
              <a:buChar char="•"/>
            </a:pPr>
            <a:r>
              <a:rPr lang="en-US" sz="1350" dirty="0">
                <a:solidFill>
                  <a:schemeClr val="tx2"/>
                </a:solidFill>
              </a:rPr>
              <a:t>Access ends at the earliest end condition</a:t>
            </a:r>
            <a:endParaRPr lang="en-US" sz="1400" dirty="0"/>
          </a:p>
          <a:p>
            <a:pPr marL="342900" indent="-342900">
              <a:spcAft>
                <a:spcPts val="600"/>
              </a:spcAft>
              <a:buSzPct val="100000"/>
              <a:buChar char="•"/>
            </a:pPr>
            <a:r>
              <a:rPr lang="en-US" sz="1350" dirty="0">
                <a:solidFill>
                  <a:schemeClr val="tx2"/>
                </a:solidFill>
              </a:rPr>
              <a:t>Start read-only: reconcile register and PIV</a:t>
            </a:r>
            <a:endParaRPr lang="en-US" sz="1400" dirty="0"/>
          </a:p>
          <a:p>
            <a:pPr marL="342900" indent="-342900">
              <a:spcAft>
                <a:spcPts val="600"/>
              </a:spcAft>
              <a:buSzPct val="100000"/>
              <a:buChar char="•"/>
            </a:pPr>
            <a:r>
              <a:rPr lang="en-US" sz="1350" dirty="0">
                <a:solidFill>
                  <a:schemeClr val="tx2"/>
                </a:solidFill>
              </a:rPr>
              <a:t>Ship the leaver trigger first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Decide the contractor and vendor source, one authority per fact, and retire COR spreadsheets as a source of truth</a:t>
            </a:r>
            <a:endParaRPr lang="en-US" sz="1400" dirty="0"/>
          </a:p>
        </p:txBody>
      </p:sp>
      <p:sp>
        <p:nvSpPr>
          <p:cNvPr id="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ICAM governance body</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1; revisit at Core HCM go-live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Oracle Fusion Cloud HCM — contingent workers; FIPS 201-3; NIST SP 800-79-2. Book 03, Chapters 06, 07, 12. The book leaves this decision to the agency.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9EAB155-7954-B743-749D-0252A354910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5562EFC-A05F-49E1-BEB0-0386A6CB6DAD}"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500"/>
    </mc:Choice>
    <mc:Fallback>
      <p:transition spd="slow" advTm="52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50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Seven gated phases, and the feed Gate G1 needs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Seven boxes left to right. Phase 0, align: identity named in both migrations. Phase 1 in amber, standards and authority: crosswalk, authority map, identifier, privacy basis. Phase 2, build and test: joiner, mover, leaver end to end with evidence. Phase 3, pilot: shadow mode first. Phase 4, automate: leavers first; access by rule. Phase 5 in green, cut over: per population, with its move to Entra ID. Phase 6, sustain: metrics on the ConMon cadence."/>
          <p:cNvPicPr>
            <a:picLocks noChangeAspect="1"/>
          </p:cNvPicPr>
          <p:nvPr/>
        </p:nvPicPr>
        <p:blipFill>
          <a:blip r:embed="rId5"/>
          <a:stretch>
            <a:fillRect/>
          </a:stretch>
        </p:blipFill>
        <p:spPr>
          <a:xfrm>
            <a:off x="2127824" y="1371600"/>
            <a:ext cx="7951593" cy="1874520"/>
          </a:xfrm>
          <a:prstGeom prst="rect">
            <a:avLst/>
          </a:prstGeom>
        </p:spPr>
      </p:pic>
      <p:sp>
        <p:nvSpPr>
          <p:cNvPr id="6" name="Gates panel">
            <a:extLst>
              <a:ext uri="{C183D7F6-B498-43B3-948B-1728B52AA6E4}">
                <adec:decorative xmlns:adec="http://schemas.microsoft.com/office/drawing/2017/decorative" val="1"/>
              </a:ext>
            </a:extLst>
          </p:cNvPr>
          <p:cNvSpPr/>
          <p:nvPr/>
        </p:nvSpPr>
        <p:spPr>
          <a:xfrm>
            <a:off x="548640" y="3429000"/>
            <a:ext cx="5440680"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Gates panel text"/>
          <p:cNvSpPr txBox="1"/>
          <p:nvPr/>
        </p:nvSpPr>
        <p:spPr>
          <a:xfrm>
            <a:off x="731520" y="3520440"/>
            <a:ext cx="5120640" cy="1051560"/>
          </a:xfrm>
          <a:prstGeom prst="rect">
            <a:avLst/>
          </a:prstGeom>
          <a:noFill/>
          <a:ln/>
        </p:spPr>
        <p:txBody>
          <a:bodyPr wrap="square" lIns="0" tIns="0" rIns="0" bIns="0" rtlCol="0" anchor="t"/>
          <a:lstStyle/>
          <a:p>
            <a:pPr marL="0" indent="0">
              <a:spcAft>
                <a:spcPts val="300"/>
              </a:spcAft>
              <a:buNone/>
            </a:pPr>
            <a:r>
              <a:rPr lang="en-US" sz="1400" b="1" dirty="0">
                <a:solidFill>
                  <a:srgbClr val="B45309"/>
                </a:solidFill>
              </a:rPr>
              <a:t>Proposed starting criteria, agency-approved</a:t>
            </a:r>
            <a:endParaRPr lang="en-US" sz="1300" dirty="0"/>
          </a:p>
          <a:p>
            <a:pPr marL="342900" indent="-342900">
              <a:spcAft>
                <a:spcPts val="300"/>
              </a:spcAft>
              <a:buSzPct val="100000"/>
              <a:buChar char="•"/>
            </a:pPr>
            <a:r>
              <a:rPr lang="en-US" sz="1300" dirty="0">
                <a:solidFill>
                  <a:schemeClr val="tx2"/>
                </a:solidFill>
              </a:rPr>
              <a:t>Correlation of at least 99% on the pilot cohort</a:t>
            </a:r>
            <a:endParaRPr lang="en-US" sz="1300" dirty="0"/>
          </a:p>
          <a:p>
            <a:pPr marL="342900" indent="-342900">
              <a:spcAft>
                <a:spcPts val="300"/>
              </a:spcAft>
              <a:buSzPct val="100000"/>
              <a:buChar char="•"/>
            </a:pPr>
            <a:r>
              <a:rPr lang="en-US" sz="1300" dirty="0">
                <a:solidFill>
                  <a:schemeClr val="tx2"/>
                </a:solidFill>
              </a:rPr>
              <a:t>Shadow mode before the pipeline acts</a:t>
            </a:r>
            <a:endParaRPr lang="en-US" sz="1300" dirty="0"/>
          </a:p>
          <a:p>
            <a:pPr marL="342900" indent="-342900">
              <a:spcAft>
                <a:spcPts val="300"/>
              </a:spcAft>
              <a:buSzPct val="100000"/>
              <a:buChar char="•"/>
            </a:pPr>
            <a:r>
              <a:rPr lang="en-US" sz="1300" dirty="0">
                <a:solidFill>
                  <a:schemeClr val="tx2"/>
                </a:solidFill>
              </a:rPr>
              <a:t>Zero missed leavers across a pay-period cycle</a:t>
            </a:r>
            <a:endParaRPr lang="en-US" sz="1300" dirty="0"/>
          </a:p>
        </p:txBody>
      </p:sp>
      <p:sp>
        <p:nvSpPr>
          <p:cNvPr id="8" name="G1 panel">
            <a:extLst>
              <a:ext uri="{C183D7F6-B498-43B3-948B-1728B52AA6E4}">
                <adec:decorative xmlns:adec="http://schemas.microsoft.com/office/drawing/2017/decorative" val="1"/>
              </a:ext>
            </a:extLst>
          </p:cNvPr>
          <p:cNvSpPr/>
          <p:nvPr/>
        </p:nvSpPr>
        <p:spPr>
          <a:xfrm>
            <a:off x="6217920" y="3429000"/>
            <a:ext cx="544068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G1 panel text"/>
          <p:cNvSpPr txBox="1"/>
          <p:nvPr/>
        </p:nvSpPr>
        <p:spPr>
          <a:xfrm>
            <a:off x="6400800" y="3520440"/>
            <a:ext cx="5120640" cy="105156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rPr>
              <a:t>Program Gate G1, Foundation Complete</a:t>
            </a:r>
            <a:endParaRPr lang="en-US" sz="1300" dirty="0"/>
          </a:p>
          <a:p>
            <a:pPr marL="342900" indent="-342900">
              <a:spcAft>
                <a:spcPts val="300"/>
              </a:spcAft>
              <a:buSzPct val="100000"/>
              <a:buChar char="•"/>
            </a:pPr>
            <a:r>
              <a:rPr lang="en-US" sz="1300" dirty="0">
                <a:solidFill>
                  <a:schemeClr val="tx2"/>
                </a:solidFill>
              </a:rPr>
              <a:t>HR-to-cloud provisioning live for the foundation</a:t>
            </a:r>
            <a:endParaRPr lang="en-US" sz="1300" dirty="0"/>
          </a:p>
          <a:p>
            <a:pPr marL="342900" indent="-342900">
              <a:spcAft>
                <a:spcPts val="300"/>
              </a:spcAft>
              <a:buSzPct val="100000"/>
              <a:buChar char="•"/>
            </a:pPr>
            <a:r>
              <a:rPr lang="en-US" sz="1300" dirty="0">
                <a:solidFill>
                  <a:schemeClr val="tx2"/>
                </a:solidFill>
              </a:rPr>
              <a:t>Attribute slots in use: free and single-writer</a:t>
            </a:r>
            <a:endParaRPr lang="en-US" sz="1300" dirty="0"/>
          </a:p>
          <a:p>
            <a:pPr marL="342900" indent="-342900">
              <a:spcAft>
                <a:spcPts val="300"/>
              </a:spcAft>
              <a:buSzPct val="100000"/>
              <a:buChar char="•"/>
            </a:pPr>
            <a:r>
              <a:rPr lang="en-US" sz="1300" dirty="0">
                <a:solidFill>
                  <a:schemeClr val="tx2"/>
                </a:solidFill>
              </a:rPr>
              <a:t>So an HR connector can't stall the rollout</a:t>
            </a:r>
            <a:endParaRPr lang="en-US" sz="1300" dirty="0"/>
          </a:p>
        </p:txBody>
      </p:sp>
      <p:sp>
        <p:nvSpPr>
          <p:cNvPr id="1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Hold the rollout until Gate G1: the HR feed operational for the foundation scope, its attribute slots confirmed free and single-writer</a:t>
            </a:r>
            <a:endParaRPr lang="en-US" sz="1400" dirty="0"/>
          </a:p>
        </p:txBody>
      </p:sp>
      <p:sp>
        <p:nvSpPr>
          <p:cNvPr id="1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Program steward</a:t>
            </a:r>
            <a:endParaRPr lang="en-US" sz="1400" dirty="0"/>
          </a:p>
        </p:txBody>
      </p:sp>
      <p:sp>
        <p:nvSpPr>
          <p:cNvPr id="1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Gate G1, end of Foundation</a:t>
            </a:r>
            <a:endParaRPr lang="en-US" sz="14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Chapter 12 (phases, gates, thresholds); Book 00, Chapter 09 (Gate G1 checklist); Book 01, Chapter 12 (Phase 1, G1, risk register).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7E8F0A3B-4C9C-386B-91BB-47FFE4D1C48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4217859-0F7D-4B0A-988E-FB6E03C19DC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480"/>
    </mc:Choice>
    <mc:Fallback>
      <p:transition spd="slow" advTm="46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48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Cut over one population at a time, then close tickets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wo framed rows. Top, while AD holds the object SOA (which directory masters the account): HR (Core HCM) to Active Directory (provisioning agent writes the user) to Entra ID (synced from AD). Bottom, after the object SOA moves to the cloud: HR (Core HCM) to Entra ID (cloud-managed users), with a dashed arrow to Active Directory (only where apps still need it, provisioned from Entra ID)."/>
          <p:cNvPicPr>
            <a:picLocks noChangeAspect="1"/>
          </p:cNvPicPr>
          <p:nvPr/>
        </p:nvPicPr>
        <p:blipFill>
          <a:blip r:embed="rId5"/>
          <a:stretch>
            <a:fillRect/>
          </a:stretch>
        </p:blipFill>
        <p:spPr>
          <a:xfrm>
            <a:off x="548640" y="1615544"/>
            <a:ext cx="5486400" cy="2803952"/>
          </a:xfrm>
          <a:prstGeom prst="rect">
            <a:avLst/>
          </a:prstGeom>
        </p:spPr>
      </p:pic>
      <p:sp>
        <p:nvSpPr>
          <p:cNvPr id="6" name="Cutover box">
            <a:extLst>
              <a:ext uri="{C183D7F6-B498-43B3-948B-1728B52AA6E4}">
                <adec:decorative xmlns:adec="http://schemas.microsoft.com/office/drawing/2017/decorative" val="1"/>
              </a:ext>
            </a:extLst>
          </p:cNvPr>
          <p:cNvSpPr/>
          <p:nvPr/>
        </p:nvSpPr>
        <p:spPr>
          <a:xfrm>
            <a:off x="6263640" y="1371600"/>
            <a:ext cx="5394960" cy="2432304"/>
          </a:xfrm>
          <a:prstGeom prst="roundRect">
            <a:avLst>
              <a:gd name="adj" fmla="val 30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DoorClosed">
            <a:extLst>
              <a:ext uri="{C183D7F6-B498-43B3-948B-1728B52AA6E4}">
                <adec:decorative xmlns:adec="http://schemas.microsoft.com/office/drawing/2017/decorative" val="1"/>
              </a:ext>
            </a:extLst>
          </p:cNvPr>
          <p:cNvSpPr/>
          <p:nvPr/>
        </p:nvSpPr>
        <p:spPr>
          <a:xfrm>
            <a:off x="64922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23914" y="1649578"/>
            <a:ext cx="285293" cy="285293"/>
          </a:xfrm>
          <a:prstGeom prst="rect">
            <a:avLst/>
          </a:prstGeom>
        </p:spPr>
      </p:pic>
      <p:sp>
        <p:nvSpPr>
          <p:cNvPr id="9" name="Cutover head"/>
          <p:cNvSpPr txBox="1"/>
          <p:nvPr/>
        </p:nvSpPr>
        <p:spPr>
          <a:xfrm>
            <a:off x="7178040" y="1517904"/>
            <a:ext cx="434340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For each population</a:t>
            </a:r>
            <a:endParaRPr lang="en-US" sz="1650" dirty="0"/>
          </a:p>
        </p:txBody>
      </p:sp>
      <p:sp>
        <p:nvSpPr>
          <p:cNvPr id="10" name="Cutover list"/>
          <p:cNvSpPr txBox="1"/>
          <p:nvPr/>
        </p:nvSpPr>
        <p:spPr>
          <a:xfrm>
            <a:off x="6492240" y="2212848"/>
            <a:ext cx="498348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Cut over as it moves to Entra ID</a:t>
            </a:r>
            <a:endParaRPr lang="en-US" sz="1400" dirty="0"/>
          </a:p>
          <a:p>
            <a:pPr marL="342900" indent="-342900">
              <a:spcAft>
                <a:spcPts val="600"/>
              </a:spcAft>
              <a:buSzPct val="100000"/>
              <a:buChar char="•"/>
            </a:pPr>
            <a:r>
              <a:rPr lang="en-US" sz="1350" dirty="0">
                <a:solidFill>
                  <a:schemeClr val="tx2"/>
                </a:solidFill>
              </a:rPr>
              <a:t>Acceptance tests in business terms, signed</a:t>
            </a:r>
            <a:endParaRPr lang="en-US" sz="1400" dirty="0"/>
          </a:p>
          <a:p>
            <a:pPr marL="342900" indent="-342900">
              <a:spcAft>
                <a:spcPts val="600"/>
              </a:spcAft>
              <a:buSzPct val="100000"/>
              <a:buChar char="•"/>
            </a:pPr>
            <a:r>
              <a:rPr lang="en-US" sz="1350" dirty="0">
                <a:solidFill>
                  <a:schemeClr val="tx2"/>
                </a:solidFill>
              </a:rPr>
              <a:t>A dry run on production data, writes off</a:t>
            </a:r>
            <a:endParaRPr lang="en-US" sz="1400" dirty="0"/>
          </a:p>
          <a:p>
            <a:pPr marL="342900" indent="-342900">
              <a:spcAft>
                <a:spcPts val="600"/>
              </a:spcAft>
              <a:buSzPct val="100000"/>
              <a:buChar char="•"/>
            </a:pPr>
            <a:r>
              <a:rPr lang="en-US" sz="1350" dirty="0">
                <a:solidFill>
                  <a:schemeClr val="tx2"/>
                </a:solidFill>
              </a:rPr>
              <a:t>Seven days in which every change traces to HR</a:t>
            </a:r>
            <a:endParaRPr lang="en-US" sz="1400" dirty="0"/>
          </a:p>
          <a:p>
            <a:pPr marL="342900" indent="-342900">
              <a:spcAft>
                <a:spcPts val="600"/>
              </a:spcAft>
              <a:buSzPct val="100000"/>
              <a:buChar char="•"/>
            </a:pPr>
            <a:r>
              <a:rPr lang="en-US" sz="1350" dirty="0">
                <a:solidFill>
                  <a:schemeClr val="tx2"/>
                </a:solidFill>
              </a:rPr>
              <a:t>Rollback: pause the job, restore the old path</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Close the account-creation ticket path for each population once its validation report is signed and seven days prove HR is the sole source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ISSO, HR and the business owner sign</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Per population, at its Entra ID move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source of authority; road to the cloud; provisioning logs; synchronizationJob pause. Book 03, Chapters 05, 12; Appendix 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592A2F6A-8DC1-C954-74B9-F30FEA7B6D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47F2D18-8E8B-4484-84D1-8691F24DA797}"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850"/>
    </mc:Choice>
    <mc:Fallback>
      <p:transition spd="slow" advTm="47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84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How you'll know it works: six numbers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shows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Separation to block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Access disabled within the period (PS-4)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Separation to revocation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credential revoked, or excepted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Transfer to 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Residual access reviewed (PS-5)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Joiner readiness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Ready at the start of day 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Correlation coverage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Orphans as a query, not a hunt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Derivation purity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Access computed by rule, not by hand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Evidence box">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FileShiel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Evidence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Evidence that outlives the account</a:t>
            </a:r>
            <a:endParaRPr lang="en-US" sz="1650" dirty="0"/>
          </a:p>
        </p:txBody>
      </p:sp>
      <p:sp>
        <p:nvSpPr>
          <p:cNvPr id="10" name="Evidence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keeps most logs for 30 days</a:t>
            </a:r>
            <a:endParaRPr lang="en-US" sz="1400" dirty="0"/>
          </a:p>
          <a:p>
            <a:pPr marL="342900" indent="-342900">
              <a:spcAft>
                <a:spcPts val="600"/>
              </a:spcAft>
              <a:buSzPct val="100000"/>
              <a:buChar char="•"/>
            </a:pPr>
            <a:r>
              <a:rPr lang="en-US" sz="1350" dirty="0">
                <a:solidFill>
                  <a:schemeClr val="tx2"/>
                </a:solidFill>
              </a:rPr>
              <a:t>So route them to the agency's store</a:t>
            </a:r>
            <a:endParaRPr lang="en-US" sz="1400" dirty="0"/>
          </a:p>
          <a:p>
            <a:pPr marL="342900" indent="-342900">
              <a:spcAft>
                <a:spcPts val="600"/>
              </a:spcAft>
              <a:buSzPct val="100000"/>
              <a:buChar char="•"/>
            </a:pPr>
            <a:r>
              <a:rPr lang="en-US" sz="1350" dirty="0">
                <a:solidFill>
                  <a:schemeClr val="tx2"/>
                </a:solidFill>
              </a:rPr>
              <a:t>Supports AC-2, PS-4, PS-5, IA-4; closes none</a:t>
            </a:r>
            <a:endParaRPr lang="en-US" sz="1400" dirty="0"/>
          </a:p>
          <a:p>
            <a:pPr marL="342900" indent="-342900">
              <a:spcAft>
                <a:spcPts val="600"/>
              </a:spcAft>
              <a:buSzPct val="100000"/>
              <a:buChar char="•"/>
            </a:pPr>
            <a:r>
              <a:rPr lang="en-US" sz="1350" dirty="0">
                <a:solidFill>
                  <a:schemeClr val="tx2"/>
                </a:solidFill>
              </a:rPr>
              <a:t>Expect a burst of findings in month one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Adopt the six lifecycle metrics as system-level monitoring metrics, and keep every log in the agency's store from the pilot's first day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ISSO; security sets leaver thresholds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From the pilot's first day</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(AC-2, PS-4, PS-5, IA-4, CA-7, AU-11, SI-12); Microsoft Learn — provisioning logs, Lifecycle Workflows history, retention. Book 03,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E08C1C2-3E2B-3E43-2CFC-B75A9AB96B5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066338D-20DF-44B2-B743-043CBD77AF3A}"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150"/>
    </mc:Choice>
    <mc:Fallback>
      <p:transition spd="slow" advTm="47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1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109960" cy="914400"/>
        </p:xfrm>
        <a:graphic>
          <a:graphicData uri="http://schemas.openxmlformats.org/drawingml/2006/table">
            <a:tbl>
              <a:tblPr firstRow="1" bandRow="1"/>
              <a:tblGrid>
                <a:gridCol w="6035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29260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Designate HR as the source of authority; start now</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ICAM governance body</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Now</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Name the identity feed among HR 2.0 integration points</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HR 2.0 contact; ISSO</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Phase 0</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Sign the attribute authority map</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ICAM governance body</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Phase 1 gate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Decide the enterprise person key the agency controls</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ICAM governance body</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Phase 1 closes</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One governed crosswalk to OPM's standard elements</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Data architect; HR</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Phase 1</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Authorize the feed inside the agency's boundary</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Authorizing official</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the pilot</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Name an owner and quality bar per HR attribute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HR leadership</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Phase 1</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Own the leaver path end to end</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Security</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leaver automation</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Privacy basis, PIA and the minimized attribute set</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Privacy office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Phase 1 gate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Validate the nature-of-action trigger table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HR, with validators</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automation</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One automated writer for the PIV binding</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Security; PIV office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Before CBA at scale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Decide the contractor source; retire COR spreadsheets</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ICAM governance body</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Phase 1</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Hold rollout until Gate G1's HR feed is live</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Program steward</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Gate G1</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Close each population's ticket path after the proof</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ISSO, HR, business owner</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Per population</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56032">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Adopt the six metrics; keep evidence off the directory</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0F766E"/>
                          </a:solidFill>
                          <a:latin typeface="Calibri" pitchFamily="34" charset="0"/>
                          <a:ea typeface="Calibri" pitchFamily="34" charset="-122"/>
                          <a:cs typeface="Calibri" pitchFamily="34" charset="-120"/>
                        </a:rPr>
                        <a:t>ISSO; security</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From the pilot</a:t>
                      </a:r>
                      <a:endParaRPr lang="en-US" sz="1100" dirty="0">
                        <a:latin typeface="Calibri" charset="0"/>
                        <a:ea typeface="Calibri" charset="0"/>
                        <a:cs typeface="Calibri" charset="0"/>
                      </a:endParaRPr>
                    </a:p>
                  </a:txBody>
                  <a:tcPr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6" name="Close line"/>
          <p:cNvSpPr txBox="1"/>
          <p:nvPr/>
        </p:nvSpPr>
        <p:spPr>
          <a:xfrm>
            <a:off x="548640" y="5532120"/>
            <a:ext cx="11109960" cy="475488"/>
          </a:xfrm>
          <a:prstGeom prst="rect">
            <a:avLst/>
          </a:prstGeom>
          <a:noFill/>
          <a:ln/>
        </p:spPr>
        <p:txBody>
          <a:bodyPr wrap="square" lIns="0" tIns="0" rIns="0" bIns="0" rtlCol="0" anchor="ctr"/>
          <a:lstStyle/>
          <a:p>
            <a:pPr marL="0" indent="0" algn="ctr">
              <a:buNone/>
            </a:pPr>
            <a:r>
              <a:rPr lang="en-US" sz="1500" b="1" dirty="0">
                <a:solidFill>
                  <a:srgbClr val="B45309"/>
                </a:solidFill>
              </a:rPr>
              <a:t>Nobody requests an account for a new hire.  </a:t>
            </a:r>
            <a:r>
              <a:rPr lang="en-US" sz="1500" dirty="0">
                <a:solidFill>
                  <a:schemeClr val="tx2"/>
                </a:solidFill>
              </a:rPr>
              <a:t>The hire causes it, the separation ends it, and every step leaves evidence.</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OMB/OPM Federal HR 2.0 memo; OMB M-19-17; FIPS 201-3; NIST SP 800-53 Rev. 5. Book 03, Chapters 01–12; Appendix C.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B7F84E0-3813-34A1-550B-45EF007EC19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400C748-128C-422D-8D76-0A9A04129F55}"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660"/>
    </mc:Choice>
    <mc:Fallback>
      <p:transition spd="slow" advTm="51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6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9011</Words>
  <Application>Microsoft Office PowerPoint</Application>
  <PresentationFormat>Widescreen</PresentationFormat>
  <Paragraphs>412</Paragraphs>
  <Slides>18</Slides>
  <Notes>18</Notes>
  <HiddenSlides>0</HiddenSlides>
  <MMClips>18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Federal Modernization Workbook</vt:lpstr>
      <vt:lpstr>HR-Driven Identity: the executive briefing</vt:lpstr>
      <vt:lpstr>Access now runs on employee data</vt:lpstr>
      <vt:lpstr>Why orphans keep coming back: no channel from HR</vt:lpstr>
      <vt:lpstr>Federal HR 2.0: the window closes at interconnection</vt:lpstr>
      <vt:lpstr>One owner per fact: the attribute authority map</vt:lpstr>
      <vt:lpstr>One person, one key, through every source change</vt:lpstr>
      <vt:lpstr>Map to OPM's standards once, not to vendor fields</vt:lpstr>
      <vt:lpstr>The provisioning pipeline, at decision level</vt:lpstr>
      <vt:lpstr>Owners, users and guards of workforce identity</vt:lpstr>
      <vt:lpstr>Who decides what for workforce identity</vt:lpstr>
      <vt:lpstr>Privacy and PIV: guards with clocks of their own</vt:lpstr>
      <vt:lpstr>Joiner, mover, leaver: by code, not by ticket</vt:lpstr>
      <vt:lpstr>Block first, then reconcile every credential</vt:lpstr>
      <vt:lpstr>Contractors: the source decision is still open</vt:lpstr>
      <vt:lpstr>Seven gated phases, and the feed Gate G1 needs</vt:lpstr>
      <vt:lpstr>Cut over one population at a time, then close tickets</vt:lpstr>
      <vt:lpstr>How you'll know it works: six numbers</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03 — HR-Driven Identity</dc:title>
  <dc:subject>PptxGenJS Presentation</dc:subject>
  <dc:creator>Michael F. Stratton</dc:creator>
  <cp:lastModifiedBy>Michael F. Stratton</cp:lastModifiedBy>
  <cp:revision>2</cp:revision>
  <dcterms:created xsi:type="dcterms:W3CDTF">2026-10-27T10:00:28Z</dcterms:created>
  <dcterms:modified xsi:type="dcterms:W3CDTF">2026-10-27T10:23:34Z</dcterms:modified>
</cp:coreProperties>
</file>