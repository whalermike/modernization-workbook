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5700946-7242-041B-0565-C6220BBFAF9F}">
          <p14:sldIdLst>
            <p14:sldId id="256"/>
          </p14:sldIdLst>
        </p14:section>
        <p14:section name="Why" id="{F8ED4D0B-53A3-B9C2-99AA-FF289C5EB033}">
          <p14:sldIdLst>
            <p14:sldId id="257"/>
            <p14:sldId id="258"/>
            <p14:sldId id="259"/>
          </p14:sldIdLst>
        </p14:section>
        <p14:section name="What" id="{16615D96-C0F5-99C3-4AD1-40BEA2C716A2}">
          <p14:sldIdLst>
            <p14:sldId id="260"/>
            <p14:sldId id="261"/>
            <p14:sldId id="262"/>
            <p14:sldId id="263"/>
            <p14:sldId id="264"/>
            <p14:sldId id="265"/>
            <p14:sldId id="266"/>
            <p14:sldId id="267"/>
          </p14:sldIdLst>
        </p14:section>
        <p14:section name="Who" id="{EC8202A5-11E1-0F8E-64D9-2273D300E19D}">
          <p14:sldIdLst>
            <p14:sldId id="268"/>
          </p14:sldIdLst>
        </p14:section>
        <p14:section name="How" id="{4432182A-F8B8-405A-E014-0589068E869E}">
          <p14:sldIdLst>
            <p14:sldId id="269"/>
            <p14:sldId id="270"/>
            <p14:sldId id="271"/>
            <p14:sldId id="272"/>
            <p14:sldId id="273"/>
          </p14:sldIdLst>
        </p14:section>
        <p14:section name="Backup" id="{6EEB09A9-34BA-F8C9-D2B8-EE5B5EA3085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83813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the Attribute-Driven Migration. This is Chapter 4: dynamic rules as code. A dynamic membership rule is access policy written as one line, so the chapter treats it like code: reviewed, tested against people you can name, and diffed before it ships. We'll look at what Microsoft's engine and samples give you, what they leave out, then the rule library, the linter, the shadow diff, the incident path, two labs and the dangers. One note before we begin: the code is illustrative, tested against fixtures.
Detail: A dynamic rule is access policy written as a one-line expression. Treat it as code: review it, test it against people you can name, see whom a change adds and removes before it ships, and know how to stop the engine safely when one goes wrong. The chapter covers the rules that place people and devices in dynamic membership groups, which the Attribute-Driven Migration uses for access, licensing and policy. You keep the rules in Git, one file per group, and check every change with code: a linter for the guards Book 03 requires, membership tests against a fictional population, and a shadow diff. For incidents, you start from Learn's own pause and resume samples, which the repository keeps as a pinned copy, run them against a fake tenant, and add the record they leave out. Lab 1 runs on a laptop with no tenant; Lab 2 uses a test tenant.
Sources: Microsoft Learn, "Manage rules for dynamic membership groups in Microsoft Entra ID," https://learn.microsoft.com/entra/identity/users/groups-dynamic-membership (accessed Oct 30, 2026). · Microsoft Learn, "PowerShell samples for dynamic membership processing," https://learn.microsoft.com/entra/identity/users/groups-dynamic-membership-powershell-samples, and its five sample pages (accessed Oct 30, 2026).
Workbook: Building the Attribute-Driven Migration, Chapter 04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treat a one-line rule as code? Because in this migration, access follows the HR record. HR values land in a few coded attributes, and dynamic rules read them to decide who gets access, licenses and policy. Every rule that grants access starts with two guards: the account is enabled, and it's a member, not a guest. The validation kit from Chapter 3 already checks the rules live in a tenant. This chapter moves those checks earlier, into the pull request, so a bad rule is caught before the engine starts moving people.
Detail: In the migration, a person's access follows their HR record: HR attributes land in coded slots (extensionAttribute10 for organization, 11 for worker type, 12 for position category), and dynamic membership rules read those slots (Book 03, Chapter 10). Every rule that grants access ANDs two guards at the top: (user.accountEnabled -eq true) and (user.userType -eq "Member"). The validation kit already reads the rules live in a tenant (VK-DG-01 to VK-DG-07, Chapter 03). This chapter moves the same checks earlier, into the pull request that changes a rule. Goal: by the end of this chapter you can write a dynamic rule as a reviewed file with tests, explain every finding the linter raises, show whom a rule change adds and removes before it reaches the tenant, and pause and resume dynamic processing in an incident without turning on anything that was off on purpose. For each rule in the code you can say whether it is Microsoft's contract, Microsoft's sample, or the program's own design. A rule change that moves hundreds of people: access, licenses and policy follow within hours.
Sources: Building the Attribute-Driven Migration, Chapter 04, docs/project-plans/developer-workbooks/attribute-driven-migration/04-dynamic-rules-as-code.md
Workbook: Building the Attribute-Driven Migration, Chapter 04 — “Goal and audience”; “Where the rules sit”.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Learn says about the engine is what makes this worth the trouble. The rule language is small and precise, so a parser can follow it exactly. Comparisons ignore case, so a lower-case code still matches, and the HR side has to keep its codes clean. Processing runs one tenant at a time and can take more than a day, so a mistake doesn't undo itself quickly. The memberOf operator is a preview that ends in November, after which those groups freeze. And agents' user accounts are included unless excluded, with no documented property to exclude them yet.
Detail: A rule is &lt;property&gt; &lt;operator&gt; &lt;value&gt; expressions joined with -and, -or and -not. Comparisons bind tightest, then -not, then -and, then -or. The body can't exceed 3,072 characters. String and regex comparisons aren't case sensitive; property names are. fin-led matches "FIN-LED", so the HR side has to keep codes clean. A tenant can have at most 15,000 dynamic membership groups. Each unique user in a dynamic group needs a Microsoft Entra ID P1 license. Processing is sequential per tenant. Changes are usually applied within a few hours but can take more than 24, and -match, -contains and memberOf slow it down. memberOf is a preview that ends on November 3, 2026. After that date, groups that use it stop updating and stay in their last state. It is available only in the public cloud. An agent's user account is a user to the engine and is included by user rules unless the rule excludes it. Learn doesn't yet name the property to exclude it with, so the guards in this chapter can't include that clause (see the book index, "Changes from the first outline").
Sources: Microsoft Learn, "Manage rules for dynamic membership groups in Microsoft Entra ID," https://learn.microsoft.com/entra/identity/users/groups-dynamic-membership (accessed Oct 30, 2026). · Microsoft Learn, "Understand and manage dynamic group processing in Microsoft Entra ID," https://learn.microsoft.com/entra/identity/users/manage-dynamic-group (accessed Oct 30, 2026). · Microsoft Learn, "Configure dynamic membership groups with the memberOf operator in the Entra Admin Center (preview)," https://learn.microsoft.com/entra/identity/users/groups-dynamic-rule-member-of (accessed Oct 30, 2026).
Workbook: Building the Attribute-Driven Migration, Chapter 04 — “Where the rules sit”.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cloud you're in matters here in a quiet way. Learn's incident samples ask you for the cloud, but if they don't recognize your answer, they fall back to the worldwide endpoint, so a GCC High tenant could be signed in to as the wrong cloud. The chapter's code uses the same hosts but refuses a cloud name it doesn't know. Graph's own rule evaluator is a beta, delegated-only action, listed for the global service and the US Government clouds. And the memberOf preview is public cloud only, which is one more reason the library doesn't use it.
Detail: Each of Learn's sample scripts asks for the cloud and requests only the scopes for the phases you choose. Run against the fake tenant, an answer the cloud prompt doesn't recognize, such as GCCHigh, selects the worldwide endpoint: in a GCC High or DoD tenant, the run signs in to the wrong cloud. examples/dynamic-rules keeps the same cloud hosts and the same two phases, and Get-DrGraphEndpoint refuses a cloud name it doesn't know. Graph's evaluateDynamicMembership action (POST /beta/groups/evaluateDynamicMembership) is beta and delegated only; it is listed for the global service, US Government L4 and L5. memberOf is a preview ending November 3, 2026; then stops updating; public cloud only; 500 per tenant. DR-06 flags it in the pull request; VK-DG-06 live.
Sources: Microsoft Learn, "PowerShell samples for dynamic membership processing," https://learn.microsoft.com/entra/identity/users/groups-dynamic-membership-powershell-samples, and its five sample pages (accessed Oct 30, 2026). · Microsoft Learn, "group: evaluateDynamicMembership," https://learn.microsoft.com/graph/api/group-evaluatedynamicmembership?view=graph-rest-beta (accessed Oct 30, 2026). · Microsoft Learn, "Configure dynamic membership groups with the memberOf operator in the Entra Admin Center (preview)," https://learn.microsoft.com/entra/identity/users/groups-dynamic-rule-member-of (accessed Oct 30, 2026).
Workbook: Building the Attribute-Driven Migration, Chapter 04 — “What Learn gives you”; “What they leave to you”; “Verified facts”.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Microsoft give you? For writing rules: a syntax page with every property and operator, and a page on writing efficient rules. There's no sample library of rules or tests; the closest thing is Graph's evaluator, which is beta. For running the engine, there's more: five PowerShell samples for an incident, when a rule change starts moving people you didn't intend. You pause processing, then resume it in order, critical groups first. Each script works in two phases, asks before it acts, and asks only for the permissions it needs.
Detail: For writing rules, Learn gives you its syntax page, with a table of properties and operators and an example for each, and a page on writing efficient rules. There is no Microsoft sample library of rules or rule tests. Microsoft's own testing tool is Graph's evaluateDynamicMembership action, which is beta and delegated only. For running the engine, Learn publishes five PowerShell samples for an incident: when a rule change or a mass update starts moving members you didn't intend, pause processing, then resume it in order. Pause all: pauses every dynamic group and dynamic administrative unit that is On. Pause specific: pauses the IDs you type. Pause all except: pauses everything that is On except the IDs you type. Resume specific critical: resumes the IDs you type; run it first. Resume noncritical: resumes up to 100 paused groups and 100 paused administrative units per run, after the critical ones. Each script runs in two phases (groups, then administrative units), asks for yes before each, asks for the cloud, and requests only the scopes for the phases you choose: Group.ReadWrite.All with Groups Administrator, AdministrativeUnit.ReadWrite.All with Privileged Role Administrator.
Sources: Microsoft Learn, "Manage rules for dynamic membership groups in Microsoft Entra ID," https://learn.microsoft.com/entra/identity/users/groups-dynamic-membership (accessed Oct 30, 2026). · Microsoft Learn, "Create simpler, more efficient rules for dynamic membership groups in Microsoft Entra ID," https://learn.microsoft.com/entra/identity/users/groups-dynamic-rule-more-efficient (accessed Oct 30, 2026). · Microsoft Learn, "group: evaluateDynamicMembership," https://learn.microsoft.com/graph/api/group-evaluatedynamicmembership?view=graph-rest-beta (accessed Oct 30, 2026). · Microsoft Learn, "PowerShell samples for dynamic membership processing," https://learn.microsoft.com/entra/identity/users/groups-dynamic-membership-powershell-samples, and its five sample pages (accessed Oct 30, 2026).
Workbook: Building the Attribute-Driven Migration, Chapter 04 — “Start with Learn's samples” — “What Learn gives you”.</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scripts only exist inside Learn's pages, so the repository pins the pages themselves, unmodified, at a known commit, with hashes a test checks and a weekly watch for changes. Then a small harness pulls each script out of its pinned page at test time and runs it, as published, against a fake tenant. Only the things it calls outside itself are swapped out: the prompts, the screen output, the sleep, and four Graph cmdlets. That way you can watch Microsoft's own scripts behave, instead of taking them on trust. Here's what that showed.
Detail: The scripts live only inside Learn's pages, so the repository pins the pages themselves: the overview and the five sample pages, from MicrosoftDocs/entra-docs at commit 07cb73d (October 30, 2026), unmodified, with the repository's MIT code license. snapshot.json records each file's SHA-256 and a unit test checks them. The weekly source watch reports new commits to the sample pages. Updating the copy is a reviewed pull request, as in Chapter 01. tests/LearnSampleHarness.ps1 extracts each script from its pinned page at test time and runs it, unmodified, against a fake tenant. Only the commands it calls outside itself are replaced: the prompts, the screen output, Start-Sleep, and the four Graph PowerShell cmdlets it uses. tests/LearnSamples.Tests.ps1 has 13 tests that run Learn's five scripts against the fake tenant.
Sources: Microsoft, MicrosoftDocs/entra-docs, docs/identity/users/scripts and docs/identity/users/groups-dynamic-membership-powershell-samples.md at commit 07cb73d6c6380414eecd040ba5e14c1c94d48b66 (October 30, 2026), code under the MIT License, https://github.com/MicrosoftDocs/entra-docs/tree/07cb73d6c6380414eecd040ba5e14c1c94d48b66/docs/identity/users/scripts (accessed Oct 30, 2026); pinned copy in examples/third_party/dynamic-membership-samples. · Microsoft Learn, "PowerShell samples for dynamic membership processing," https://learn.microsoft.com/entra/identity/users/groups-dynamic-membership-powershell-samples, and its five sample pages (accessed Oct 30, 2026).
Workbook: Building the Attribute-Driven Migration, Chapter 04 — “The pinned copy”; “The tests”.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Learn's pause script does its job well, and the code keeps it as the model. But it records nothing about what it paused. So when you resume, Learn's script turns on every paused group, including one that was deliberately frozen before the incident started. It also falls back to the worldwide cloud on an answer it doesn't know, and nothing makes you wait before resuming. The verdict: during recovery, the questions are what did we pause, and what was already off. Only a record answers them.
Detail: Each row is pinned by a test in tests/LearnSamples.Tests.ps1. Pause all skips a group that is already paused, pauses the rest, and signs in to the cloud chosen with only the scopes needed: kept as the model, the same cloud hosts and the same two phases. Pause all records nothing about what it paused: afterwards, nobody can tell which groups the incident paused and which were paused before it; New-DrPauseManifest records every collection's state before anything changes, and Invoke-DrPause records what it paused. Resume noncritical turns on every paused group, including one that was paused on purpose before the incident: a group held for review, or frozen while its rule was being fixed, starts moving members again; Invoke-DrResume resumes only collections this manifest paused, and refuses any other ID. An answer the cloud prompt doesn't recognize, such as GCCHigh, selects the worldwide endpoint: in a GCC High or DoD tenant, the run signs in to the wrong cloud; Get-DrGraphEndpoint refuses a cloud name it doesn't know. Nothing in the resume scripts enforces a wait: Learn asks for one, 12 hours on the samples page, at least 24 in its processing guidance; noncritical resumes wait 24 hours after the pause by default, the stricter of the two. A throttled request is retried once, then counted as failed: in a large tenant some collections stay unpaused, and the summary shows the count; the manifest lists every collection, so a second pause run picks up the rest. Interactive only: fine at 2 a.m. by hand, not testable, not repeatable; -Apply to act and a dry run without it, and the Graph call is a script block, so the tests use a fake tenant. The verdict: use Learn's samples as the model for the incident path, and keep them pinned for comparison. The program's runbook uses the manifest-based functions, because during recovery the questions are "what did we pause?" and "what was already off?", and the samples can't answer them. One thing Learn states differently on two pages, recorded so a later edit doesn't loosen the code: the samples page says to resume noncritical collections after at least 12 hours, and the processing guidance says to wait a minimum of 24 hours and check the audit logs first. The code defaults to 24. Separately, the rules page says a condition can exclude agents' user accounts but names no property; the code doesn't invent one.
Sources: Microsoft Learn, "PowerShell samples for dynamic membership processing," https://learn.microsoft.com/entra/identity/users/groups-dynamic-membership-powershell-samples, and its five sample pages (accessed Oct 30, 2026). · Microsoft Learn, "Understand and manage dynamic group processing in Microsoft Entra ID," https://learn.microsoft.com/entra/identity/users/manage-dynamic-group (accessed Oct 30, 2026). · Microsoft Learn, "Manage rules for dynamic membership groups in Microsoft Entra ID," https://learn.microsoft.com/entra/identity/users/groups-dynamic-membership (accessed Oct 30, 2026).
Workbook: Building the Attribute-Driven Migration, Chapter 04 — “What they leave to you”; “Verified facts”.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 rule looks like as code. Each group is one small file: a name, whether it holds users or devices, an owner who approves changes, a flag saying whether it's critical in an incident, the rule itself with its two guards at the top, and a few tests. The tests name people in a fictional population built to trip every guard: someone disabled, a guest who copied an organization code, a worker with an empty type, a code in lower case. If the rule ever lets the wrong person in, a test says so.
Detail: examples/dynamic-rules is one PowerShell module, one check script, the rule library and two test files. Each group is a JSON file in rules/, for example: displayName "FIN-LED everyone but contractors", kind "user", owner "FIN-LED access owner", critical false, membershipRule "(user.accountEnabled -eq true) -and (user.userType -eq "Member") -and (user.extensionAttribute10 -eq "FIN-LED") -and (user.extensionAttribute11 -ne "CTR") -and (user.extensionAttribute11 -ne null)", and tests u01 expected true, u02 expected false, u06 expected false. The owner is the person who approves changes. critical marks the groups an incident responder resumes first. The tests name members of tests/fixtures/population.json, a fictional population built to exercise each guard: a disabled employee, a guest with a copied organization code, a worker with an empty worker-type slot, a lower-case code, a manager and their reports, and three devices. The six rules are Book 03's patterns, with the guards in place.
Sources: Building the Attribute-Driven Migration, Chapter 04, docs/project-plans/developer-workbooks/attribute-driven-migration/04-dynamic-rules-as-code.md
Workbook: Building the Attribute-Driven Migration, Chapter 04 — “The code: what examples/dynamic-rules adds” — “One file per group”.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rules without a tenant, the code needs to read them. The parser follows the grammar on Learn's syntax page: the operators, lists, collections, nulls, escaped quotes and the order of precedence. It even accepts the en dash that some of Learn's own examples print instead of a hyphen. The evaluator then checks a parsed rule against one fictional person, ignoring case, just as the engine does. It's honest about its limits: anything it can't evaluate faithfully, it refuses. It's a test tool, not the engine, and Lab 2 checks it against Graph's.
Detail: ConvertFrom-DrRule parses the grammar on Learn's syntax page: the twelve comparison operators, written with or without the hyphen, -in lists, -any and -all over collections, null, system.now -plus, backtick-escaped quotation marks, the direct reports form, and Learn's precedence. Learn's own examples sometimes print an en dash for the hyphen (–eq), which the parser accepts. Test-DrMember evaluates a parsed rule against one fixture object, case-insensitively, as Learn says the engine compares. The evaluator is for tests and reviews, and it isn't the engine. It refuses memberOf and the date comparisons rather than guess. Lab 2 runs the same rules through Graph's own evaluator for the same test users. Extension attributes: extensionAttribute1 to 15 as string properties; multi-value extension properties aren't supported.
Sources: Microsoft Learn, "Manage rules for dynamic membership groups in Microsoft Entra ID," https://learn.microsoft.com/entra/identity/users/groups-dynamic-membership (accessed Oct 30, 2026).
Workbook: Building the Attribute-Driven Migration, Chapter 04 — “Parse and evaluate offline”; “Verified facts”.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linter is where the guards become enforceable. Its most important check is that the two guards sit at the top of the rule, ANDed with everything else. A guard tucked inside an "or" protects nothing, yet a simple text search would still find it and call the rule fine. That's why the linter works on the parsed rule, not the text. Another check is subtler: "not equal to contractor" also lets in someone whose worker type is empty. The linter flags it, and the owner decides.
Detail: Test-DrRule applies eleven rules (DR-01 to DR-11; the README lists them). Two matter most. DR-03 and DR-04 require the guards to be ANDed at the top of the rule: a guard inside an -or protects nothing, and a regular expression over the rule text can't tell the difference, which is why the linter works on the parsed tree. DR-10 notes that -ne or -notIn on a coded slot also admits someone whose slot is empty; add (… -ne null) if an empty slot must not qualify (design guidance). DR-06 flags memberOf in the pull request (VK-DG-06 live): after November 3, 2026 a group that uses it stops updating and holds stale access. In Lab 1, a broken rule shows DR-11 when a membership test fails.
Sources: Microsoft Learn, "Manage rules for dynamic membership groups in Microsoft Entra ID," https://learn.microsoft.com/entra/identity/users/groups-dynamic-membership (accessed Oct 30, 2026). · Microsoft Learn, "Configure dynamic membership groups with the memberOf operator in the Entra Admin Center (preview)," https://learn.microsoft.com/entra/identity/users/groups-dynamic-rule-member-of (accessed Oct 30, 2026).
Workbook: Building the Attribute-Driven Migration, Chapter 04 — “Lint”; “Dangers”; Lab 1, step 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proof a linter is useful is that it finds something real. Run against Book 3's own table of rule patterns, it found three things. One pattern had no guest guard, so a guest with a matching employer name could have qualified; that's now fixed. Another let in a worker with an empty type, and the owner decided that shouldn't count, so it gained a clause. And the direct reports rule can't carry guards at all, because Learn says it can't be combined with anything, so the linter just notes it.
Detail: Run against Book 03, Chapter 10's own rule pattern table, the linter found three things. The Legal employer pattern had no userType guard, so a guest whose companyName matched would have qualified (DR-04); it now has the guard, fixed in the same change as this chapter. It still reads companyName, a display-name attribute (DR-05), because the row exists to show that case. The Exclusion pattern admitted a worker whose type slot was empty (DR-10). The owner decided that an empty worker type must not qualify, so the pattern now ends -and (user.extensionAttribute11 -ne null), as this library's entry already did, and the linter finds nothing in it. The Direct reports pattern can't carry guards at all, because Learn says that rule can't be combined with any other, so the linter only notes it (DR-03, Info). Direct reports: can't be combined with other rules; adds the manager too. A test checks that the fixture still matches Book 03's table row for row.
Sources: Microsoft Learn, "Manage rules for dynamic membership groups in Microsoft Entra ID," https://learn.microsoft.com/entra/identity/users/groups-dynamic-membership (accessed Oct 30, 2026).
Workbook: Building the Attribute-Driven Migration, Chapter 04 — “Lint”; Lab 1, step 2.</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pieces finish the code. The shadow diff runs the old rule and the new one over the fictional population and lists exactly who a change adds and who it removes, right in the pull request. The same idea runs live in the validation kit. The pause manifest is the record Learn's samples leave out: before anything is paused, it writes down every group's state, then pauses only what was on, and later resumes only what it paused. Seventy tests cover all of it, with no tenant and no network.
Detail: Compare-DrRule evaluates the current and proposed rule over the population and lists whom the change adds and removes. Invoke-DrLibraryCheck.ps1 is the pull request check: it lints every rule, runs every test, and for each rule file changed since -BaseRef, prints the adds and removes and writes them to out/check-results.json. The live equivalent, against real groups, is VK-DG-04. New-DrPauseManifest reads every dynamic group and dynamic administrative unit, with its processing state, through the same Graph calls Learn's samples make, and returns a record: when, which cloud, why, and each collection's state before. Invoke-DrPause pauses only what was On, minus any exceptions, and adds each ID it paused to the record. Invoke-DrResume -Ids resumes named critical collections at once. Without -Ids, it resumes the next batch, and only after the wait. It refuses any ID the record didn't pause. Each function takes the Graph call as a script block: Invoke-MgGraphRequest in a tenant, a fake in the tests. tests/DynamicRules.Tests.ps1 has 57 tests: the parser, the evaluator, the linter, the library, Book 03's table, the shadow diff, and pause and resume against a fake Graph. tests/LearnSamples.Tests.ps1 has 13 tests that run Learn's five scripts against the fake tenant. Neither needs a module, a tenant or a network.
Sources: Microsoft Learn, "PowerShell samples for dynamic membership processing," https://learn.microsoft.com/entra/identity/users/groups-dynamic-membership-powershell-samples, and its five sample pages (accessed Oct 30, 2026).
Workbook: Building the Attribute-Driven Migration, Chapter 04 — “The shadow diff”; “The pause manifest”; “The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and maintain the library and its checks. Identity engineers own the group library, and every rule file names the owner who approves its changes. Reviewers approve each change, with the shadow diff in front of them. And each step asks for the least it needs. Creating groups needs group write rights with the Groups Administrator role. Testing a rule with Graph needs only read rights when you supply the rule. Pausing administrative units is the heavier one: it needs the Privileged Role Administrator.
Detail: Audience: developers and identity engineers who own the group library, and the reviewers who approve rule changes. You should be comfortable in PowerShell 7. You don't need a tenant until Lab 2. The owner in each rule file is the person who approves changes. Creating groups needs Group.ReadWrite.All delegated (or Group.Create for an application) with Groups Administrator. Reading test results with Graph's evaluator needs only User.Read.All (or Device.Read.All) when you supply the rule, plus Group.Read.All with a group ID; the action is beta and delegated only, and is listed for the global service, US Government L4 and L5. Learn's samples request only the scopes for the phases you choose: Group.ReadWrite.All with Groups Administrator, AdministrativeUnit.ReadWrite.All with Privileged Role Administrator. Pause and resume: membershipRuleProcessingState On or Paused.
Sources: Microsoft Learn, "New-MgGroup," https://learn.microsoft.com/powershell/module/microsoft.graph.groups/new-mggroup?view=graph-powershell-1.0 (accessed Oct 30, 2026). · Microsoft Learn, "group: evaluateDynamicMembership," https://learn.microsoft.com/graph/api/group-evaluatedynamicmembership?view=graph-rest-beta (accessed Oct 30, 2026). · Microsoft Learn, "PowerShell samples for dynamic membership processing," https://learn.microsoft.com/entra/identity/users/groups-dynamic-membership-powershell-samples, and its five sample pages (accessed Oct 30, 2026). · Microsoft Learn, "group resource type," https://learn.microsoft.com/graph/api/resources/group?view=graph-rest-1.0 (accessed Oct 30, 2026).
Workbook: Building the Attribute-Driven Migration, Chapter 04 — “Goal and audience”; “Lab 2: test tenant,” step 1;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with PowerShell 7 and Pester. First you run Learn's own pause and resume scripts against a fake tenant with two groups, one of them already paused for review. After the resume, both are on: the held group came back to life. Try an unknown cloud name and you'll see it sign in to worldwide. Then you lint Book 3's table and evaluate a rule over the fictional people. The disabled account and the guest stay out, and the lower-case code gets in, just as Learn says.
Detail: You need PowerShell 7.1 or later and Pester 5. Work in examples/dynamic-rules. Step 1, run Learn's samples against the fake tenant: dot-source ./tests/LearnSampleHarness.ps1; $pages = '../third_party/dynamic-membership-samples/scripts'; $t = New-FakeTenant -Collections with two groups, 11111111-… 'FIN-LED all members' state On and 22222222-… 'Held for review' state Paused; $answers = 'yes', 'USGov', 'yes', 'yes', 'yes' (run, cloud, groups phase, AU phase, confirm account). Invoke-LearnSample the pause-all page with -Tenant $t -Answers $answers, set $t.Connected = $null, then Invoke-LearnSample the resume-noncritical page, and list $t.Collections.Values | Select-Object displayName, state. Both groups end On. "Held for review" was paused before the incident, and the resume turned it on. Run the pause again with GCCHigh as the cloud answer and read $t.Calls[0].Uri: https://graph.microsoft.com/…. Step 2, lint Book 03's rule table: Import-Module ./powershell/DynamicRules.psm1; Get-Content ./tests/fixtures/book03-patterns.json -Raw | ConvertFrom-Json | ForEach-Object { Test-DrRule -Rule $_.membershipRule -Kind $_.kind -Group $_.pattern } | Format-Table Severity, Rule, Group, Issue. Two rows: DR-05 on Legal employer, and the DR-03 note on Direct reports. Exclusion, which now has the null guard, has none. A test checks that the fixture still matches Book 03's table row for row. Step 3, evaluate a rule against the population: $pop = Get-Content ./tests/fixtures/population.json -Raw | ConvertFrom-Json; Get-DrMembers -Population $pop -Rule '(user.accountEnabled -eq true) -and (user.userType -eq "Member") -and (user.extensionAttribute10 -eq "FIN-LED")'. Result: u01, u02, u06, u08, u09. u04 (disabled) and u05 (guest) are out because of the guards. u08, whose code is fin-led in lower case, is in. The commands run Learn's pinned samples and the example as published in the repository, against fixtures and a fake tenant. The evaluator follows Learn's syntax page but isn't the service.
Sources: Microsoft Learn, "PowerShell samples for dynamic membership processing," https://learn.microsoft.com/entra/identity/users/groups-dynamic-membership-powershell-samples, and its five sample pages (accessed Oct 30, 2026). · Microsoft Learn, "Manage rules for dynamic membership groups in Microsoft Entra ID," https://learn.microsoft.com/entra/identity/users/groups-dynamic-membership (accessed Oct 30, 2026).
Workbook: Building the Attribute-Driven Migration, Chapter 04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that makes the case for all this. Run the pull request check and it passes cleanly: six rules, no findings. Then break a rule on purpose by deleting the clause that keeps out empty worker types, and run it again. Three things fire at once. The linter flags the empty-slot risk, the membership test for the worker with no type fails, and the shadow diff shows exactly who the change would let in. Put the clause back, run the whole suite, and seventy tests pass.
Detail: Step 4, run the pull request check: pwsh ./powershell/Invoke-DrLibraryCheck.ps1 -BaseRef HEAD. Exit 0: six rules, no findings, no changed files. Step 5, break a rule on purpose. In rules/fin-led-not-contractors.json, delete " -and (user.extensionAttribute11 -ne null)" and run the check again. Exit 2. The linter notes DR-10, the test for u06 fails (DR-11), and the shadow diff prints "adds u06". Put the clause back. Step 6, run the tests: Invoke-Pester ./tests. Expected result: 70 tests passing, and each difference in the table above seen with your own eyes.
Sources: Building the Attribute-Driven Migration, Chapter 04, docs/project-plans/developer-workbooks/attribute-driven-migration/04-dynamic-rules-as-code.md
Workbook: Building the Attribute-Driven Migration, Chapter 04 — “Lab 1: fixtures, no tenant,” steps 4–6.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never production, with fictional users that match the population. You create the groups from the library, paused, so they can't move anyone yet. Then the key step: ask Graph's own evaluator about every test user, and compare its answer with the offline one. Any disagreement is a finding against the offline evaluator. Next you turn processing on and diff two rules live. Finally you drill an incident: take the record, pause, resume the critical groups by name, then back everything out.
Detail: Use a test tenant, never production, with fictional users whose slots match the population fixture. 1 Sign in to the right cloud with the least you need. Creating groups needs Group.ReadWrite.All delegated (or Group.Create for an application) with Groups Administrator. Reading test results with Graph's evaluator needs only User.Read.All (or Device.Read.All) when you supply the rule. The action is beta and delegated only. It is listed for the global service, US Government L4 and L5. 2 Create the groups from the library. For each file, New-MgGroup with GroupTypes = @('DynamicMembership'), MembershipRule from the file and MembershipRuleProcessingState = 'Paused'. Paused groups can be compared before they move anyone. 3 Compare the offline evaluator with Graph's. For each test in each file, call POST /beta/groups/evaluateDynamicMembership with the test user's object ID and the rule, and compare membershipRuleEvaluationResult with expected. The validation kit's VK-DG-03 does this from a rule-tests.json file. Any difference between the two evaluators is a finding against the offline one: record the rule and the user. 4 Turn processing on and shadow-diff live. Set each group On, wait for Update complete on the group's overview page, and run VK-DG-04 with a pair of groups whose rules differ by one clause. 5 Drill an incident. Build the Graph script block ($invoke = { param($Method, $Uri, $Body, $Headers) Invoke-MgGraphRequest -Method $Method -Uri $Uri -Body $Body -Headers $Headers }), then $m = New-DrPauseManifest -Invoke $invoke -Cloud USGov -Reason 'Drill'; Invoke-DrPause -Manifest $m -Invoke $invoke (dry run: what would pause); Invoke-DrPause -Manifest $m -Invoke $invoke -Apply; Invoke-DrResume -Manifest $m -Invoke $invoke -Ids $criticalIds -Apply. $criticalIds holds the object IDs of the groups whose library files say critical. Save $m as JSON with the incident record. In a drill, resume the rest with -WaitHours 0 and say so in the record; in a real incident, keep the default. 6 Back it out. Delete the test groups. Then confirm that no dynamic group or administrative unit in the tenant is paused unless the record says it was paused before.
Sources: Microsoft Learn, "New-MgGroup," https://learn.microsoft.com/powershell/module/microsoft.graph.groups/new-mggroup?view=graph-powershell-1.0 (accessed Oct 30, 2026). · Microsoft Learn, "group: evaluateDynamicMembership," https://learn.microsoft.com/graph/api/group-evaluatedynamicmembership?view=graph-rest-beta (accessed Oct 30, 2026). · Microsoft Learn, "Create or update a dynamic membership group in Microsoft Entra ID," https://learn.microsoft.com/entra/identity/users/groups-create-rule (accessed Oct 30, 2026).
Workbook: Building the Attribute-Driven Migration, Chapter 04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dangers has a guard, and most of them are rules that run every time rather than someone remembering. The quietest one is a guard hidden inside an "or": the rule looks right, a text search agrees, and guests get in anyway. The loudest is a change that moves hundreds of people within hours, which is why every change carries tests and a diff. After an incident, resuming everything is its own danger. And one row stays honestly open: agents' accounts, until Learn names the property.
Detail: A guard inside an -or: disabled accounts or guests qualify, and a text search for the guard still finds it; guard: DR-03 and DR-04 work on the parsed rule, at the top level. A rule change that moves hundreds of people: access, licenses and policy follow within hours; guard: tests per rule, the shadow diff in the pull request, then VK-DG-04 live. A code typed in the wrong case: fin-led matches FIN-LED, because the engine compares without case; guard: code-list validation at the HR source (Chapter 01), and a fixture user that proves it. An empty slot under -ne: a worker with no type passes "everyone but contractors"; guard: DR-10, and the -ne null clause where an empty slot must not qualify. memberOf after November 3, 2026: the group stops updating and holds stale access; guard: DR-06 in the pull request, VK-DG-06 live. Resuming everything after an incident: groups paused on purpose start moving members again; guard: the pause manifest, resume only what it paused. The wrong cloud: a GCC High tenant is signed in to as worldwide; guard: Get-DrGraphEndpoint refuses unknown names. Resuming too soon: the backlog returns; guard: 24-hour default for noncritical resumes, critical ones by name. Trusting the offline evaluator: a difference from the engine goes unnoticed; guard: Lab 2 step 3 compares it with Graph's evaluator for every test. Agents' user accounts in access groups: user rules include them by default; open: add the clause when Learn names the property, and review membership of access groups until then.
Sources: Microsoft Learn, "Manage rules for dynamic membership groups in Microsoft Entra ID," https://learn.microsoft.com/entra/identity/users/groups-dynamic-membership (accessed Oct 30, 2026). · Microsoft Learn, "Understand and manage dynamic group processing in Microsoft Entra ID," https://learn.microsoft.com/entra/identity/users/manage-dynamic-group (accessed Oct 30, 2026). · Microsoft Learn, "Configure dynamic membership groups with the memberOf operator in the Entra Admin Center (preview)," https://learn.microsoft.com/entra/identity/users/groups-dynamic-rule-member-of (accessed Oct 30, 2026). · Microsoft Learn, "PowerShell samples for dynamic membership processing," https://learn.microsoft.com/entra/identity/users/groups-dynamic-membership-powershell-samples, and its five sample pages (accessed Oct 30, 2026).
Workbook: Building the Attribute-Driven Migration, Chapter 04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group has a file with an owner and tests for someone in and someone out. The pull request check passes, with its diff in front of the reviewer. Every rule starts with the two guards, avoids memberOf and display-name attributes, and makes a written decision about empty slots. The offline evaluator agrees with Graph's for every test. And the incident runbook takes its record before pausing and resumes from it. Next, Chapter 5 builds Lifecycle Workflows custom extensions. Thanks for watching.
Detail: Checklist: Every dynamic group has a file in rules/ with an owner, a kind and at least one test for a member and one for a non-member. Invoke-DrLibraryCheck.ps1 -BaseRef &lt;base&gt; exits 0 on the pull request, and its shadow diff is in the review. Every user rule ANDs accountEnabled and userType at the top. No rule uses memberOf; no access rule reads department, jobTitle or companyName. Each -ne or -notIn on a coded slot is a decision about empty slots, written down. The offline evaluator agrees with Graph's evaluateDynamicMembership for every test, in the test tenant. The incident runbook takes a pause manifest before pausing, and resumes from it, critical groups first. The pinned Learn samples match their manifest, and every upstream commit since the pin has been reviewed. Next: Chapter 05 — Lifecycle Workflows Custom Extensions.
Sources: Microsoft Learn, "group: evaluateDynamicMembership," https://learn.microsoft.com/graph/api/group-evaluatedynamicmembership?view=graph-rest-beta (accessed Oct 30, 2026). · Microsoft, MicrosoftDocs/entra-docs, docs/identity/users/scripts and docs/identity/users/groups-dynamic-membership-powershell-samples.md at commit 07cb73d6c6380414eecd040ba5e14c1c94d48b66 (October 30, 2026), code under the MIT License, https://github.com/MicrosoftDocs/entra-docs/tree/07cb73d6c6380414eecd040ba5e14c1c94d48b66/docs/identity/users/scripts (accessed Oct 30, 2026); pinned copy in examples/third_party/dynamic-membership-samples.
Workbook: Building the Attribute-Driven Migration, Chapter 04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the Attribute-Driven Migration  ·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3.png"/><Relationship Id="rId4" Type="http://schemas.openxmlformats.org/officeDocument/2006/relationships/notesSlide" Target="../notesSlides/notesSlide3.xml"/><Relationship Id="rId6"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4.xml"/><Relationship Id="rId7"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0.xml"/><Relationship Id="rId7"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04: Dynamic Rules as Code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the Attribute-Driven Migration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rules are code · Learn's samples and their gaps · the library, linter and shadow diff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77290DC0-3822-A7AF-4D73-2D1A4297B98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8D6E213-429E-49F2-B3ED-79FE5B66718F}"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410"/>
    </mc:Choice>
    <mc:Fallback>
      <p:transition spd="slow" advTm="40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40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a dynamic rule is code</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In the migration, a person's access follows their HR record, through rules that read coded slots.</a:t>
            </a:r>
            <a:endParaRPr lang="en-US" sz="1800" dirty="0"/>
          </a:p>
        </p:txBody>
      </p:sp>
      <p:sp>
        <p:nvSpPr>
          <p:cNvPr id="6" name="Panel Where the rules sit">
            <a:extLst>
              <a:ext uri="{C183D7F6-B498-43B3-948B-1728B52AA6E4}">
                <adec:decorative xmlns:adec="http://schemas.microsoft.com/office/drawing/2017/decorative" val="1"/>
              </a:ext>
            </a:extLst>
          </p:cNvPr>
          <p:cNvSpPr/>
          <p:nvPr/>
        </p:nvSpPr>
        <p:spPr>
          <a:xfrm>
            <a:off x="548640" y="1837944"/>
            <a:ext cx="5417820" cy="2520696"/>
          </a:xfrm>
          <a:prstGeom prst="roundRect">
            <a:avLst>
              <a:gd name="adj" fmla="val 290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Where the rules sit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WHERE THE RULES SIT</a:t>
            </a:r>
            <a:endParaRPr lang="en-US" sz="1100" dirty="0"/>
          </a:p>
        </p:txBody>
      </p:sp>
      <p:sp>
        <p:nvSpPr>
          <p:cNvPr id="8" name="Panel Where the rules sit list"/>
          <p:cNvSpPr txBox="1"/>
          <p:nvPr/>
        </p:nvSpPr>
        <p:spPr>
          <a:xfrm>
            <a:off x="731520" y="2249424"/>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HR attributes land in coded slots: extensionAttribute10 organization, 11 worker type, 12 position category</a:t>
            </a:r>
            <a:endParaRPr lang="en-US" sz="1600" dirty="0"/>
          </a:p>
          <a:p>
            <a:pPr marL="342900" indent="-342900">
              <a:spcAft>
                <a:spcPts val="400"/>
              </a:spcAft>
              <a:buSzPct val="100000"/>
              <a:buChar char="•"/>
            </a:pPr>
            <a:r>
              <a:rPr lang="en-US" sz="1600" dirty="0">
                <a:solidFill>
                  <a:srgbClr val="334155"/>
                </a:solidFill>
              </a:rPr>
              <a:t>Dynamic membership rules read those slots for access, licensing and policy (Book 03, Chapter 10)</a:t>
            </a:r>
            <a:endParaRPr lang="en-US" sz="1600" dirty="0"/>
          </a:p>
          <a:p>
            <a:pPr marL="342900" indent="-342900">
              <a:spcAft>
                <a:spcPts val="400"/>
              </a:spcAft>
              <a:buSzPct val="100000"/>
              <a:buChar char="•"/>
            </a:pPr>
            <a:r>
              <a:rPr lang="en-US" sz="1600" dirty="0">
                <a:solidFill>
                  <a:srgbClr val="334155"/>
                </a:solidFill>
              </a:rPr>
              <a:t>Every access rule ANDs two guards at the top: accountEnabled -eq true and userType -eq "Member"</a:t>
            </a:r>
            <a:endParaRPr lang="en-US" sz="1600" dirty="0"/>
          </a:p>
        </p:txBody>
      </p:sp>
      <p:sp>
        <p:nvSpPr>
          <p:cNvPr id="9" name="Panel What changes">
            <a:extLst>
              <a:ext uri="{C183D7F6-B498-43B3-948B-1728B52AA6E4}">
                <adec:decorative xmlns:adec="http://schemas.microsoft.com/office/drawing/2017/decorative" val="1"/>
              </a:ext>
            </a:extLst>
          </p:cNvPr>
          <p:cNvSpPr/>
          <p:nvPr/>
        </p:nvSpPr>
        <p:spPr>
          <a:xfrm>
            <a:off x="6240780" y="1837944"/>
            <a:ext cx="5417820" cy="2520696"/>
          </a:xfrm>
          <a:prstGeom prst="roundRect">
            <a:avLst>
              <a:gd name="adj" fmla="val 290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What changes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WHAT CHANGES</a:t>
            </a:r>
            <a:endParaRPr lang="en-US" sz="1100" dirty="0"/>
          </a:p>
        </p:txBody>
      </p:sp>
      <p:sp>
        <p:nvSpPr>
          <p:cNvPr id="11" name="Panel What changes list"/>
          <p:cNvSpPr txBox="1"/>
          <p:nvPr/>
        </p:nvSpPr>
        <p:spPr>
          <a:xfrm>
            <a:off x="6423660" y="2249424"/>
            <a:ext cx="5097780" cy="2063496"/>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validation kit already reads the rules live in a tenant: VK-DG-01 to VK-DG-07 (Chapter 03)</a:t>
            </a:r>
            <a:endParaRPr lang="en-US" sz="1600" dirty="0"/>
          </a:p>
          <a:p>
            <a:pPr marL="342900" indent="-342900">
              <a:spcAft>
                <a:spcPts val="400"/>
              </a:spcAft>
              <a:buSzPct val="100000"/>
              <a:buChar char="•"/>
            </a:pPr>
            <a:r>
              <a:rPr lang="en-US" sz="1600" dirty="0">
                <a:solidFill>
                  <a:srgbClr val="334155"/>
                </a:solidFill>
              </a:rPr>
              <a:t>This chapter moves the same checks earlier, into the pull request that changes a rule</a:t>
            </a:r>
            <a:endParaRPr lang="en-US" sz="1600" dirty="0"/>
          </a:p>
          <a:p>
            <a:pPr marL="342900" indent="-342900">
              <a:spcAft>
                <a:spcPts val="400"/>
              </a:spcAft>
              <a:buSzPct val="100000"/>
              <a:buChar char="•"/>
            </a:pPr>
            <a:r>
              <a:rPr lang="en-US" sz="1600" dirty="0">
                <a:solidFill>
                  <a:srgbClr val="334155"/>
                </a:solidFill>
              </a:rPr>
              <a:t>Goal: for each rule in the code, say whether it is Microsoft's contract, Microsoft's sample, or the program's design</a:t>
            </a:r>
            <a:endParaRPr lang="en-US" sz="1600" dirty="0"/>
          </a:p>
        </p:txBody>
      </p:sp>
      <p:sp>
        <p:nvSpPr>
          <p:cNvPr id="12" name="Callout">
            <a:extLst>
              <a:ext uri="{C183D7F6-B498-43B3-948B-1728B52AA6E4}">
                <adec:decorative xmlns:adec="http://schemas.microsoft.com/office/drawing/2017/decorative" val="1"/>
              </a:ext>
            </a:extLst>
          </p:cNvPr>
          <p:cNvSpPr/>
          <p:nvPr/>
        </p:nvSpPr>
        <p:spPr>
          <a:xfrm>
            <a:off x="548640" y="4541520"/>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TriangleExclamation">
            <a:extLst>
              <a:ext uri="{C183D7F6-B498-43B3-948B-1728B52AA6E4}">
                <adec:decorative xmlns:adec="http://schemas.microsoft.com/office/drawing/2017/decorative" val="1"/>
              </a:ext>
            </a:extLst>
          </p:cNvPr>
          <p:cNvSpPr/>
          <p:nvPr/>
        </p:nvSpPr>
        <p:spPr>
          <a:xfrm>
            <a:off x="749808" y="4614672"/>
            <a:ext cx="606552" cy="606552"/>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760244"/>
            <a:ext cx="315407" cy="315407"/>
          </a:xfrm>
          <a:prstGeom prst="rect">
            <a:avLst/>
          </a:prstGeom>
        </p:spPr>
      </p:pic>
      <p:sp>
        <p:nvSpPr>
          <p:cNvPr id="15" name="Callout text"/>
          <p:cNvSpPr txBox="1"/>
          <p:nvPr/>
        </p:nvSpPr>
        <p:spPr>
          <a:xfrm>
            <a:off x="1600200" y="4596384"/>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The stakes: </a:t>
            </a:r>
            <a:r>
              <a:rPr lang="en-US" sz="1750" dirty="0">
                <a:solidFill>
                  <a:srgbClr val="334155"/>
                </a:solidFill>
              </a:rPr>
              <a:t>a rule change moves access, licenses and policy within hours. The review has to happen before the engine sees it.</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03, Ch 10, “From attributes to access”; Chapter 03 (VK-DG checks). Chapter 04, “Goal and audience,” “Where the rules sit.”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F5D71609-FAAF-48E9-4D44-D64B4C99B67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F74149B-34EF-4454-B8AD-C27776F45D0D}"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550"/>
    </mc:Choice>
    <mc:Fallback>
      <p:transition spd="slow" advTm="375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55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Learn says about the engine sets the stakes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640836"/>
        </p:xfrm>
        <a:graphic>
          <a:graphicData uri="http://schemas.openxmlformats.org/drawingml/2006/table">
            <a:tbl>
              <a:tblPr firstRow="1" bandRow="1"/>
              <a:tblGrid>
                <a:gridCol w="5669280">
                  <a:extLst>
                    <a:ext uri="{9D8B030D-6E8A-4147-A177-3AD203B41FA5}">
                      <a16:colId xmlns:a16="http://schemas.microsoft.com/office/drawing/2014/main" val="20000"/>
                    </a:ext>
                  </a:extLst>
                </a:gridCol>
                <a:gridCol w="544068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 says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means for the code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Expressions joined with -and, -or, -not; comparisons bind tightest, then -not, -and, -or; at most 3,072 characters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parser can follow the grammar and the precedence exactly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String and regex comparisons aren't case sensitive; property names are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fin-led matches "FIN-LED": the HR side has to keep codes clean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At most 15,000 dynamic groups per tenant; Entra ID P1 for each unique user in 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Groups and licenses are a budget, not free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Processing is sequential per tenant; usually a few hours, can exceed 24; -match, -contains and memberOf slow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mistake isn't undone quickly, and waits are real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memberOf is a preview ending November 3, 2026, then stops updating; public cloud 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Groups that use it freeze in their last state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An agent's user account is included by user rules unless excluded; the property isn't named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guards can't include that clause yet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rules for dynamic membership groups; Understand and manage dynamic group processing; memberOf operator (preview). Chapter 04, “Where the rules sit.”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3D4ECF80-E316-B2FC-3350-66BBA817C8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AB4C77A-449A-4E78-A693-74342069168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940"/>
    </mc:Choice>
    <mc:Fallback>
      <p:transition spd="slow" advTm="37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936"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sign-in, evaluator and memberOf</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2926080">
                  <a:extLst>
                    <a:ext uri="{9D8B030D-6E8A-4147-A177-3AD203B41FA5}">
                      <a16:colId xmlns:a16="http://schemas.microsoft.com/office/drawing/2014/main" val="20000"/>
                    </a:ext>
                  </a:extLst>
                </a:gridCol>
                <a:gridCol w="8183880">
                  <a:extLst>
                    <a:ext uri="{9D8B030D-6E8A-4147-A177-3AD203B41FA5}">
                      <a16:colId xmlns:a16="http://schemas.microsoft.com/office/drawing/2014/main" val="20001"/>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Piece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What the chapter records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Learn's samples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Ask for the cloud and sign in to it; an answer they don't recognize, such as GCCHigh, selects the worldwide endpoint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examples/dynamic-rules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same cloud hosts as the samples; Get-DrGraphEndpoint refuses a cloud name it doesn't know</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Graph's evaluateDynamicMembership</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Beta and delegated only; listed for the global service, US Government L4 and L5</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memberOf</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Preview, public cloud only, ending November 3, 2026; the linter flags it (DR-06), VK-DG-06 live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183380"/>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256532"/>
            <a:ext cx="606552" cy="606552"/>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402104"/>
            <a:ext cx="315407" cy="315407"/>
          </a:xfrm>
          <a:prstGeom prst="rect">
            <a:avLst/>
          </a:prstGeom>
        </p:spPr>
      </p:pic>
      <p:sp>
        <p:nvSpPr>
          <p:cNvPr id="9" name="Callout text"/>
          <p:cNvSpPr txBox="1"/>
          <p:nvPr/>
        </p:nvSpPr>
        <p:spPr>
          <a:xfrm>
            <a:off x="1600200" y="4238244"/>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tenant is GCC on the worldwide endpoints. Whatever the cloud, a name the code doesn't know is refused, never guessed.</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PowerShell samples for dynamic membership processing; group: evaluateDynamicMembership; memberOf operator (preview). Chapter 04, “What they leave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BA2AAE30-3A76-E907-BEF8-F8518446D08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FB99BE1-EBED-4D04-9895-D9DD9383F3B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60"/>
    </mc:Choice>
    <mc:Fallback>
      <p:transition spd="slow" advTm="368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56"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Learn gives you: syntax, and five samples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For writing rules">
            <a:extLst>
              <a:ext uri="{C183D7F6-B498-43B3-948B-1728B52AA6E4}">
                <adec:decorative xmlns:adec="http://schemas.microsoft.com/office/drawing/2017/decorative" val="1"/>
              </a:ext>
            </a:extLst>
          </p:cNvPr>
          <p:cNvSpPr/>
          <p:nvPr/>
        </p:nvSpPr>
        <p:spPr>
          <a:xfrm>
            <a:off x="548640" y="1325880"/>
            <a:ext cx="4334256" cy="2578608"/>
          </a:xfrm>
          <a:prstGeom prst="roundRect">
            <a:avLst>
              <a:gd name="adj" fmla="val 283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For writing rules label"/>
          <p:cNvSpPr txBox="1"/>
          <p:nvPr/>
        </p:nvSpPr>
        <p:spPr>
          <a:xfrm>
            <a:off x="731520" y="1435608"/>
            <a:ext cx="3968496" cy="274320"/>
          </a:xfrm>
          <a:prstGeom prst="rect">
            <a:avLst/>
          </a:prstGeom>
          <a:noFill/>
          <a:ln/>
        </p:spPr>
        <p:txBody>
          <a:bodyPr wrap="square" lIns="0" tIns="0" rIns="0" bIns="0" rtlCol="0" anchor="t"/>
          <a:lstStyle/>
          <a:p>
            <a:pPr marL="0" indent="0">
              <a:buNone/>
            </a:pPr>
            <a:r>
              <a:rPr lang="en-US" sz="1100" b="1" kern="0" spc="50" dirty="0">
                <a:solidFill>
                  <a:srgbClr val="64748B"/>
                </a:solidFill>
              </a:rPr>
              <a:t>FOR WRITING RULES</a:t>
            </a:r>
            <a:endParaRPr lang="en-US" sz="1100" dirty="0"/>
          </a:p>
        </p:txBody>
      </p:sp>
      <p:sp>
        <p:nvSpPr>
          <p:cNvPr id="7" name="Panel For writing rules list"/>
          <p:cNvSpPr txBox="1"/>
          <p:nvPr/>
        </p:nvSpPr>
        <p:spPr>
          <a:xfrm>
            <a:off x="731520" y="1737360"/>
            <a:ext cx="4014216" cy="2121408"/>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The syntax page: properties, operators, an example for each</a:t>
            </a:r>
            <a:endParaRPr lang="en-US" sz="1550" dirty="0"/>
          </a:p>
          <a:p>
            <a:pPr marL="342900" indent="-342900">
              <a:spcAft>
                <a:spcPts val="400"/>
              </a:spcAft>
              <a:buSzPct val="100000"/>
              <a:buChar char="•"/>
            </a:pPr>
            <a:r>
              <a:rPr lang="en-US" sz="1550" dirty="0">
                <a:solidFill>
                  <a:srgbClr val="334155"/>
                </a:solidFill>
              </a:rPr>
              <a:t>A page on writing efficient rules</a:t>
            </a:r>
            <a:endParaRPr lang="en-US" sz="1550" dirty="0"/>
          </a:p>
          <a:p>
            <a:pPr marL="342900" indent="-342900">
              <a:spcAft>
                <a:spcPts val="400"/>
              </a:spcAft>
              <a:buSzPct val="100000"/>
              <a:buChar char="•"/>
            </a:pPr>
            <a:r>
              <a:rPr lang="en-US" sz="1550" dirty="0">
                <a:solidFill>
                  <a:srgbClr val="334155"/>
                </a:solidFill>
              </a:rPr>
              <a:t>No Microsoft library of rules or rule tests</a:t>
            </a:r>
            <a:endParaRPr lang="en-US" sz="1550" dirty="0"/>
          </a:p>
          <a:p>
            <a:pPr marL="342900" indent="-342900">
              <a:spcAft>
                <a:spcPts val="400"/>
              </a:spcAft>
              <a:buSzPct val="100000"/>
              <a:buChar char="•"/>
            </a:pPr>
            <a:r>
              <a:rPr lang="en-US" sz="1550" dirty="0">
                <a:solidFill>
                  <a:srgbClr val="334155"/>
                </a:solidFill>
              </a:rPr>
              <a:t>Graph's evaluateDynamicMembership: beta, delegated only</a:t>
            </a:r>
            <a:endParaRPr lang="en-US" sz="155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157216" y="1325880"/>
          <a:ext cx="6501384" cy="2578608"/>
        </p:xfrm>
        <a:graphic>
          <a:graphicData uri="http://schemas.openxmlformats.org/drawingml/2006/table">
            <a:tbl>
              <a:tblPr firstRow="1" bandRow="1"/>
              <a:tblGrid>
                <a:gridCol w="2231818">
                  <a:extLst>
                    <a:ext uri="{9D8B030D-6E8A-4147-A177-3AD203B41FA5}">
                      <a16:colId xmlns:a16="http://schemas.microsoft.com/office/drawing/2014/main" val="20000"/>
                    </a:ext>
                  </a:extLst>
                </a:gridCol>
                <a:gridCol w="4269566">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Sample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does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Pause 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Pauses every dynamic group and administrative unit that is 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Pause specific</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Pauses the IDs you type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Pause all except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Pauses everything On except the IDs you type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Resume specific critical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Resumes the IDs you type; run it first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Resume noncritical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Up to 100 groups and 100 units per run, after the critical ones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Callout">
            <a:extLst>
              <a:ext uri="{C183D7F6-B498-43B3-948B-1728B52AA6E4}">
                <adec:decorative xmlns:adec="http://schemas.microsoft.com/office/drawing/2017/decorative" val="1"/>
              </a:ext>
            </a:extLst>
          </p:cNvPr>
          <p:cNvSpPr/>
          <p:nvPr/>
        </p:nvSpPr>
        <p:spPr>
          <a:xfrm>
            <a:off x="548640" y="4087368"/>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0" name="Icon FaUsersGear">
            <a:extLst>
              <a:ext uri="{C183D7F6-B498-43B3-948B-1728B52AA6E4}">
                <adec:decorative xmlns:adec="http://schemas.microsoft.com/office/drawing/2017/decorative" val="1"/>
              </a:ext>
            </a:extLst>
          </p:cNvPr>
          <p:cNvSpPr/>
          <p:nvPr/>
        </p:nvSpPr>
        <p:spPr>
          <a:xfrm>
            <a:off x="749808" y="4277106"/>
            <a:ext cx="640080" cy="640080"/>
          </a:xfrm>
          <a:prstGeom prst="ellipse">
            <a:avLst/>
          </a:prstGeom>
          <a:solidFill>
            <a:srgbClr val="0F766E"/>
          </a:solidFill>
          <a:ln w="12700">
            <a:solidFill>
              <a:srgbClr val="0F766E"/>
            </a:solidFill>
            <a:prstDash val="solid"/>
          </a:ln>
        </p:spPr>
      </p:sp>
      <p:pic>
        <p:nvPicPr>
          <p:cNvPr id="11"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430725"/>
            <a:ext cx="332842" cy="332842"/>
          </a:xfrm>
          <a:prstGeom prst="rect">
            <a:avLst/>
          </a:prstGeom>
        </p:spPr>
      </p:pic>
      <p:sp>
        <p:nvSpPr>
          <p:cNvPr id="12" name="Callout text"/>
          <p:cNvSpPr txBox="1"/>
          <p:nvPr/>
        </p:nvSpPr>
        <p:spPr>
          <a:xfrm>
            <a:off x="1600200" y="4142232"/>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Each script: </a:t>
            </a:r>
            <a:r>
              <a:rPr lang="en-US" sz="1750" dirty="0">
                <a:solidFill>
                  <a:srgbClr val="334155"/>
                </a:solidFill>
              </a:rPr>
              <a:t>two phases (groups, then administrative units), yes before each, the cloud asked; Group.ReadWrite.All with Groups Administrator, AdministrativeUnit.ReadWrite.All with Privileged Role Administrator.</a:t>
            </a:r>
            <a:endParaRPr lang="en-US" sz="17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rules for dynamic membership groups; Create simpler, more efficient rules; evaluateDynamicMembership; PowerShell samples. Chapter 04, “What Learn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4" name="Narration" descr="Narration for this slide; captions available">
            <a:hlinkClick r:id="" action="ppaction://media"/>
            <a:extLst>
              <a:ext uri="{FF2B5EF4-FFF2-40B4-BE49-F238E27FC236}">
                <a16:creationId xmlns:a16="http://schemas.microsoft.com/office/drawing/2014/main" id="{DDE98CA5-0564-0BC4-C4BF-EDA5BC307F6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25F828C-8209-4E85-AF72-03EE72F0100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60"/>
    </mc:Choice>
    <mc:Fallback>
      <p:transition spd="slow" advTm="3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5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pinned copy, run against a fake tenant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pinned pages">
            <a:extLst>
              <a:ext uri="{C183D7F6-B498-43B3-948B-1728B52AA6E4}">
                <adec:decorative xmlns:adec="http://schemas.microsoft.com/office/drawing/2017/decorative" val="1"/>
              </a:ext>
            </a:extLst>
          </p:cNvPr>
          <p:cNvSpPr/>
          <p:nvPr/>
        </p:nvSpPr>
        <p:spPr>
          <a:xfrm>
            <a:off x="548640" y="1325880"/>
            <a:ext cx="5417820" cy="2828544"/>
          </a:xfrm>
          <a:prstGeom prst="roundRect">
            <a:avLst>
              <a:gd name="adj" fmla="val 25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pinned pag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PINNED PAGES</a:t>
            </a:r>
            <a:endParaRPr lang="en-US" sz="1100" dirty="0"/>
          </a:p>
        </p:txBody>
      </p:sp>
      <p:sp>
        <p:nvSpPr>
          <p:cNvPr id="7" name="Panel The pinned pages list"/>
          <p:cNvSpPr txBox="1"/>
          <p:nvPr/>
        </p:nvSpPr>
        <p:spPr>
          <a:xfrm>
            <a:off x="73152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overview and five sample pages, from MicrosoftDocs/entra-docs at commit 07cb73d (October 30, 2026), unmodified, MIT code license</a:t>
            </a:r>
            <a:endParaRPr lang="en-US" sz="1600" dirty="0"/>
          </a:p>
          <a:p>
            <a:pPr marL="342900" indent="-342900">
              <a:spcAft>
                <a:spcPts val="400"/>
              </a:spcAft>
              <a:buSzPct val="100000"/>
              <a:buChar char="•"/>
            </a:pPr>
            <a:r>
              <a:rPr lang="en-US" sz="1600" dirty="0">
                <a:solidFill>
                  <a:srgbClr val="334155"/>
                </a:solidFill>
              </a:rPr>
              <a:t>snapshot.json records each file's SHA-256; a unit test checks them</a:t>
            </a:r>
            <a:endParaRPr lang="en-US" sz="1600" dirty="0"/>
          </a:p>
          <a:p>
            <a:pPr marL="342900" indent="-342900">
              <a:spcAft>
                <a:spcPts val="400"/>
              </a:spcAft>
              <a:buSzPct val="100000"/>
              <a:buChar char="•"/>
            </a:pPr>
            <a:r>
              <a:rPr lang="en-US" sz="1600" dirty="0">
                <a:solidFill>
                  <a:srgbClr val="334155"/>
                </a:solidFill>
              </a:rPr>
              <a:t>The weekly source watch reports new commits; updating the copy is a reviewed pull request</a:t>
            </a:r>
            <a:endParaRPr lang="en-US" sz="1600" dirty="0"/>
          </a:p>
        </p:txBody>
      </p:sp>
      <p:sp>
        <p:nvSpPr>
          <p:cNvPr id="8" name="Panel The harness">
            <a:extLst>
              <a:ext uri="{C183D7F6-B498-43B3-948B-1728B52AA6E4}">
                <adec:decorative xmlns:adec="http://schemas.microsoft.com/office/drawing/2017/decorative" val="1"/>
              </a:ext>
            </a:extLst>
          </p:cNvPr>
          <p:cNvSpPr/>
          <p:nvPr/>
        </p:nvSpPr>
        <p:spPr>
          <a:xfrm>
            <a:off x="6240780" y="1325880"/>
            <a:ext cx="5417820" cy="2828544"/>
          </a:xfrm>
          <a:prstGeom prst="roundRect">
            <a:avLst>
              <a:gd name="adj" fmla="val 258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harnes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HARNESS</a:t>
            </a:r>
            <a:endParaRPr lang="en-US" sz="1100" dirty="0"/>
          </a:p>
        </p:txBody>
      </p:sp>
      <p:sp>
        <p:nvSpPr>
          <p:cNvPr id="10" name="Panel The harness list"/>
          <p:cNvSpPr txBox="1"/>
          <p:nvPr/>
        </p:nvSpPr>
        <p:spPr>
          <a:xfrm>
            <a:off x="642366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tests/LearnSampleHarness.ps1 extracts each script from its pinned page at test time</a:t>
            </a:r>
            <a:endParaRPr lang="en-US" sz="1600" dirty="0"/>
          </a:p>
          <a:p>
            <a:pPr marL="342900" indent="-342900">
              <a:spcAft>
                <a:spcPts val="400"/>
              </a:spcAft>
              <a:buSzPct val="100000"/>
              <a:buChar char="•"/>
            </a:pPr>
            <a:r>
              <a:rPr lang="en-US" sz="1600" dirty="0">
                <a:solidFill>
                  <a:srgbClr val="334155"/>
                </a:solidFill>
              </a:rPr>
              <a:t>Runs it unmodified against a fake tenant</a:t>
            </a:r>
            <a:endParaRPr lang="en-US" sz="1600" dirty="0"/>
          </a:p>
          <a:p>
            <a:pPr marL="342900" indent="-342900">
              <a:spcAft>
                <a:spcPts val="400"/>
              </a:spcAft>
              <a:buSzPct val="100000"/>
              <a:buChar char="•"/>
            </a:pPr>
            <a:r>
              <a:rPr lang="en-US" sz="1600" dirty="0">
                <a:solidFill>
                  <a:srgbClr val="334155"/>
                </a:solidFill>
              </a:rPr>
              <a:t>Replaced: only the prompts, the screen output, Start-Sleep and the four Graph PowerShell cmdlets it calls</a:t>
            </a:r>
            <a:endParaRPr lang="en-US" sz="1600" dirty="0"/>
          </a:p>
          <a:p>
            <a:pPr marL="342900" indent="-342900">
              <a:spcAft>
                <a:spcPts val="400"/>
              </a:spcAft>
              <a:buSzPct val="100000"/>
              <a:buChar char="•"/>
            </a:pPr>
            <a:r>
              <a:rPr lang="en-US" sz="1600" dirty="0">
                <a:solidFill>
                  <a:srgbClr val="334155"/>
                </a:solidFill>
              </a:rPr>
              <a:t>13 tests in tests/LearnSamples.Tests.ps1 pin each row of the gap table</a:t>
            </a:r>
            <a:endParaRPr lang="en-US" sz="16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MicrosoftDocs/entra-docs at 07cb73d (MIT); Learn, PowerShell samples for dynamic membership processing. Chapter 04,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12E3F447-D179-87D4-A8FA-A3AD48CD23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0F82745-EF84-480C-B55F-CF3CA0F599B9}"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30"/>
    </mc:Choice>
    <mc:Fallback>
      <p:transition spd="slow" advTm="37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3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leave to you</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5136"/>
        </p:xfrm>
        <a:graphic>
          <a:graphicData uri="http://schemas.openxmlformats.org/drawingml/2006/table">
            <a:tbl>
              <a:tblPr firstRow="1" bandRow="1"/>
              <a:tblGrid>
                <a:gridCol w="3566160">
                  <a:extLst>
                    <a:ext uri="{9D8B030D-6E8A-4147-A177-3AD203B41FA5}">
                      <a16:colId xmlns:a16="http://schemas.microsoft.com/office/drawing/2014/main" val="20000"/>
                    </a:ext>
                  </a:extLst>
                </a:gridCol>
                <a:gridCol w="379476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Learn's samples, run as published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 it matters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examples/dynamic-rules adds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4980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Pause all records nothing about what it paused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Nobody can tell which groups the incident paused and which were paused before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New-DrPauseManifest records every state first; Invoke-DrPause records what it paused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Resume noncritical turns on every paused group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group held for review starts moving members again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Invoke-DrResume resumes only what this manifest paused; refuses other IDs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An unrecognized cloud answer, such as GCCHigh, selects worldwide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GCC High or DoD run signs in to the wrong cloud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Get-DrGraphEndpoint refuses unknown names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Nothing enforces a wait before resuming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asks for 12 hours (samples) or at least 24 (processing guidance)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Noncritical resumes wait 24 hours by default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 throttled request retried once, then counted failed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Some collections stay unpaused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manifest lists every collection; a second run picks up the rest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Interactive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Not testable, not repeatable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Dry run by default, -Apply to act; Graph call as a script block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5263896"/>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Verdict: keep the samples as the model and pinned for comparison; the runbook uses the manifest functions.</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PowerShell samples for dynamic membership processing; Understand and manage dynamic group processing. Chapter 04, “What they leave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3328A157-ED9C-2A43-3CB4-3AEF463A8AC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5180774-3CCF-4251-B33E-A71D67A90B3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310"/>
    </mc:Choice>
    <mc:Fallback>
      <p:transition spd="slow" advTm="34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31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One file per group, with an owner and tests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404872"/>
          </a:xfrm>
          <a:prstGeom prst="roundRect">
            <a:avLst>
              <a:gd name="adj" fmla="val 3042"/>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rules/fin-led-not-contractors.json (rule shown wrapped)</a:t>
            </a:r>
            <a:endParaRPr lang="en-US" sz="1050" dirty="0"/>
          </a:p>
        </p:txBody>
      </p:sp>
      <p:sp>
        <p:nvSpPr>
          <p:cNvPr id="7" name="Code"/>
          <p:cNvSpPr txBox="1"/>
          <p:nvPr/>
        </p:nvSpPr>
        <p:spPr>
          <a:xfrm>
            <a:off x="713232" y="1664208"/>
            <a:ext cx="10835640" cy="2020824"/>
          </a:xfrm>
          <a:prstGeom prst="rect">
            <a:avLst/>
          </a:prstGeom>
          <a:noFill/>
          <a:ln/>
        </p:spPr>
        <p:txBody>
          <a:bodyPr wrap="square" lIns="0" tIns="0" rIns="0" bIns="0" rtlCol="0" anchor="t"/>
          <a:lstStyle/>
          <a:p>
            <a:pPr marL="0" indent="0">
              <a:buNone/>
            </a:pPr>
            <a:r>
              <a:rPr lang="en-US" sz="1400" dirty="0">
                <a:solidFill>
                  <a:srgbClr val="334155"/>
                </a:solidFill>
                <a:latin typeface="Consolas" pitchFamily="34" charset="0"/>
                <a:ea typeface="Consolas" pitchFamily="34" charset="-122"/>
                <a:cs typeface="Consolas" pitchFamily="34" charset="-120"/>
              </a:rPr>
              <a:t>{</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"displayName": "FIN-LED everyone but contractors",</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"kind": "user",  "owner": "FIN-LED access owner",  "critical": false,</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"membershipRule": "(user.accountEnabled -eq true) -and (user.userType -eq \"Member\")</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-and (user.extensionAttribute10 -eq \"FIN-LED\") -and (user.extensionAttribute11 -ne \"CTR\")</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-and (user.extensionAttribute11 -ne null)",</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"tests": [ { "member": "u01", "expected": true },</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             { "member": "u02", "expected": false }, { "member": "u06", "expected": false } ]</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a:t>
            </a:r>
            <a:endParaRPr lang="en-US" sz="1400" dirty="0"/>
          </a:p>
        </p:txBody>
      </p:sp>
      <p:sp>
        <p:nvSpPr>
          <p:cNvPr id="8" name="List"/>
          <p:cNvSpPr txBox="1"/>
          <p:nvPr/>
        </p:nvSpPr>
        <p:spPr>
          <a:xfrm>
            <a:off x="548640" y="3913632"/>
            <a:ext cx="5417820" cy="115519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owner: the person who approves changes</a:t>
            </a:r>
            <a:endParaRPr lang="en-US" sz="1550" dirty="0"/>
          </a:p>
          <a:p>
            <a:pPr marL="342900" indent="-342900">
              <a:spcAft>
                <a:spcPts val="400"/>
              </a:spcAft>
              <a:buSzPct val="100000"/>
              <a:buChar char="•"/>
            </a:pPr>
            <a:r>
              <a:rPr lang="en-US" sz="1550" dirty="0">
                <a:solidFill>
                  <a:srgbClr val="334155"/>
                </a:solidFill>
              </a:rPr>
              <a:t>critical: the groups a responder resumes first</a:t>
            </a:r>
            <a:endParaRPr lang="en-US" sz="1550" dirty="0"/>
          </a:p>
          <a:p>
            <a:pPr marL="342900" indent="-342900">
              <a:spcAft>
                <a:spcPts val="400"/>
              </a:spcAft>
              <a:buSzPct val="100000"/>
              <a:buChar char="•"/>
            </a:pPr>
            <a:r>
              <a:rPr lang="en-US" sz="1550" dirty="0">
                <a:solidFill>
                  <a:srgbClr val="334155"/>
                </a:solidFill>
              </a:rPr>
              <a:t>Six rules: Book 03's patterns, with the guards in place</a:t>
            </a:r>
            <a:endParaRPr lang="en-US" sz="1550" dirty="0"/>
          </a:p>
        </p:txBody>
      </p:sp>
      <p:sp>
        <p:nvSpPr>
          <p:cNvPr id="9" name="List"/>
          <p:cNvSpPr txBox="1"/>
          <p:nvPr/>
        </p:nvSpPr>
        <p:spPr>
          <a:xfrm>
            <a:off x="6240780" y="3913632"/>
            <a:ext cx="5417820" cy="13274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Tests name members of tests/fixtures/population.json, a fictional population</a:t>
            </a:r>
            <a:endParaRPr lang="en-US" sz="1550" dirty="0"/>
          </a:p>
          <a:p>
            <a:pPr marL="342900" indent="-342900">
              <a:spcAft>
                <a:spcPts val="400"/>
              </a:spcAft>
              <a:buSzPct val="100000"/>
              <a:buChar char="•"/>
            </a:pPr>
            <a:r>
              <a:rPr lang="en-US" sz="1550" dirty="0">
                <a:solidFill>
                  <a:srgbClr val="334155"/>
                </a:solidFill>
              </a:rPr>
              <a:t>Built to exercise each guard: a disabled employee, a guest with a copied code, an empty worker type, a lower-case code, a manager and reports, three devices</a:t>
            </a:r>
            <a:endParaRPr lang="en-US" sz="15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examples/dynamic-rules (rules and fictional population). Chapter 04, “One file per group.”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0015ADF6-2AD5-73D5-8DC4-E646D1B7FEB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110CFE8-492C-4C2B-BB8D-D8D75F76307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800"/>
    </mc:Choice>
    <mc:Fallback>
      <p:transition spd="slow" advTm="35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800"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Parse and evaluate offline, as Learn's grammar says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ConvertFrom-DrRule parses">
            <a:extLst>
              <a:ext uri="{C183D7F6-B498-43B3-948B-1728B52AA6E4}">
                <adec:decorative xmlns:adec="http://schemas.microsoft.com/office/drawing/2017/decorative" val="1"/>
              </a:ext>
            </a:extLst>
          </p:cNvPr>
          <p:cNvSpPr/>
          <p:nvPr/>
        </p:nvSpPr>
        <p:spPr>
          <a:xfrm>
            <a:off x="548640" y="1325880"/>
            <a:ext cx="5417820" cy="2828544"/>
          </a:xfrm>
          <a:prstGeom prst="roundRect">
            <a:avLst>
              <a:gd name="adj" fmla="val 258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ConvertFrom-DrRule pars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CONVERTFROM-DRRULE PARSES</a:t>
            </a:r>
            <a:endParaRPr lang="en-US" sz="1100" dirty="0"/>
          </a:p>
        </p:txBody>
      </p:sp>
      <p:sp>
        <p:nvSpPr>
          <p:cNvPr id="7" name="Panel ConvertFrom-DrRule parses list"/>
          <p:cNvSpPr txBox="1"/>
          <p:nvPr/>
        </p:nvSpPr>
        <p:spPr>
          <a:xfrm>
            <a:off x="73152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The twelve comparison operators, with or without the hyphen</a:t>
            </a:r>
            <a:endParaRPr lang="en-US" sz="1600" dirty="0"/>
          </a:p>
          <a:p>
            <a:pPr marL="342900" indent="-342900">
              <a:spcAft>
                <a:spcPts val="400"/>
              </a:spcAft>
              <a:buSzPct val="100000"/>
              <a:buChar char="•"/>
            </a:pPr>
            <a:r>
              <a:rPr lang="en-US" sz="1600" dirty="0">
                <a:solidFill>
                  <a:srgbClr val="334155"/>
                </a:solidFill>
              </a:rPr>
              <a:t>-in lists; -any and -all over collections; null; system.now -plus</a:t>
            </a:r>
            <a:endParaRPr lang="en-US" sz="1600" dirty="0"/>
          </a:p>
          <a:p>
            <a:pPr marL="342900" indent="-342900">
              <a:spcAft>
                <a:spcPts val="400"/>
              </a:spcAft>
              <a:buSzPct val="100000"/>
              <a:buChar char="•"/>
            </a:pPr>
            <a:r>
              <a:rPr lang="en-US" sz="1600" dirty="0">
                <a:solidFill>
                  <a:srgbClr val="334155"/>
                </a:solidFill>
              </a:rPr>
              <a:t>Backtick-escaped quotation marks; the direct reports form</a:t>
            </a:r>
            <a:endParaRPr lang="en-US" sz="1600" dirty="0"/>
          </a:p>
          <a:p>
            <a:pPr marL="342900" indent="-342900">
              <a:spcAft>
                <a:spcPts val="400"/>
              </a:spcAft>
              <a:buSzPct val="100000"/>
              <a:buChar char="•"/>
            </a:pPr>
            <a:r>
              <a:rPr lang="en-US" sz="1600" dirty="0">
                <a:solidFill>
                  <a:srgbClr val="334155"/>
                </a:solidFill>
              </a:rPr>
              <a:t>Learn's precedence; the en dash some Learn examples print (–eq)</a:t>
            </a:r>
            <a:endParaRPr lang="en-US" sz="1600" dirty="0"/>
          </a:p>
        </p:txBody>
      </p:sp>
      <p:sp>
        <p:nvSpPr>
          <p:cNvPr id="8" name="Panel Test-DrMember evaluates">
            <a:extLst>
              <a:ext uri="{C183D7F6-B498-43B3-948B-1728B52AA6E4}">
                <adec:decorative xmlns:adec="http://schemas.microsoft.com/office/drawing/2017/decorative" val="1"/>
              </a:ext>
            </a:extLst>
          </p:cNvPr>
          <p:cNvSpPr/>
          <p:nvPr/>
        </p:nvSpPr>
        <p:spPr>
          <a:xfrm>
            <a:off x="6240780" y="1325880"/>
            <a:ext cx="5417820" cy="2828544"/>
          </a:xfrm>
          <a:prstGeom prst="roundRect">
            <a:avLst>
              <a:gd name="adj" fmla="val 258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est-DrMember evaluate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TEST-DRMEMBER EVALUATES</a:t>
            </a:r>
            <a:endParaRPr lang="en-US" sz="1100" dirty="0"/>
          </a:p>
        </p:txBody>
      </p:sp>
      <p:sp>
        <p:nvSpPr>
          <p:cNvPr id="10" name="Panel Test-DrMember evaluates list"/>
          <p:cNvSpPr txBox="1"/>
          <p:nvPr/>
        </p:nvSpPr>
        <p:spPr>
          <a:xfrm>
            <a:off x="6423660" y="1737360"/>
            <a:ext cx="5097780" cy="2371344"/>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Test-DrMember evaluates a parsed rule against one fixture object</a:t>
            </a:r>
            <a:endParaRPr lang="en-US" sz="1600" dirty="0"/>
          </a:p>
          <a:p>
            <a:pPr marL="342900" indent="-342900">
              <a:spcAft>
                <a:spcPts val="400"/>
              </a:spcAft>
              <a:buSzPct val="100000"/>
              <a:buChar char="•"/>
            </a:pPr>
            <a:r>
              <a:rPr lang="en-US" sz="1600" dirty="0">
                <a:solidFill>
                  <a:srgbClr val="334155"/>
                </a:solidFill>
              </a:rPr>
              <a:t>Case-insensitively, as Learn says the engine compares</a:t>
            </a:r>
            <a:endParaRPr lang="en-US" sz="1600" dirty="0"/>
          </a:p>
          <a:p>
            <a:pPr marL="342900" indent="-342900">
              <a:spcAft>
                <a:spcPts val="400"/>
              </a:spcAft>
              <a:buSzPct val="100000"/>
              <a:buChar char="•"/>
            </a:pPr>
            <a:r>
              <a:rPr lang="en-US" sz="1600" dirty="0">
                <a:solidFill>
                  <a:srgbClr val="334155"/>
                </a:solidFill>
              </a:rPr>
              <a:t>Refuses memberOf and the date comparisons rather than guess</a:t>
            </a:r>
            <a:endParaRPr lang="en-US" sz="1600" dirty="0"/>
          </a:p>
          <a:p>
            <a:pPr marL="342900" indent="-342900">
              <a:spcAft>
                <a:spcPts val="400"/>
              </a:spcAft>
              <a:buSzPct val="100000"/>
              <a:buChar char="•"/>
            </a:pPr>
            <a:r>
              <a:rPr lang="en-US" sz="1600" dirty="0">
                <a:solidFill>
                  <a:srgbClr val="334155"/>
                </a:solidFill>
              </a:rPr>
              <a:t>Lab 2 runs the same rules through Graph's own evaluator</a:t>
            </a:r>
            <a:endParaRPr lang="en-US" sz="1600" dirty="0"/>
          </a:p>
        </p:txBody>
      </p:sp>
      <p:sp>
        <p:nvSpPr>
          <p:cNvPr id="11" name="Callout">
            <a:extLst>
              <a:ext uri="{C183D7F6-B498-43B3-948B-1728B52AA6E4}">
                <adec:decorative xmlns:adec="http://schemas.microsoft.com/office/drawing/2017/decorative" val="1"/>
              </a:ext>
            </a:extLst>
          </p:cNvPr>
          <p:cNvSpPr/>
          <p:nvPr/>
        </p:nvSpPr>
        <p:spPr>
          <a:xfrm>
            <a:off x="548640" y="433730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441045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556028"/>
            <a:ext cx="315407" cy="315407"/>
          </a:xfrm>
          <a:prstGeom prst="rect">
            <a:avLst/>
          </a:prstGeom>
        </p:spPr>
      </p:pic>
      <p:sp>
        <p:nvSpPr>
          <p:cNvPr id="14" name="Callout text"/>
          <p:cNvSpPr txBox="1"/>
          <p:nvPr/>
        </p:nvSpPr>
        <p:spPr>
          <a:xfrm>
            <a:off x="1600200" y="439216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Read it as a test, not the service: </a:t>
            </a:r>
            <a:r>
              <a:rPr lang="en-US" sz="1750" dirty="0">
                <a:solidFill>
                  <a:srgbClr val="334155"/>
                </a:solidFill>
              </a:rPr>
              <a:t>the evaluator is for tests and reviews, and it isn't the engine. Any difference from Graph's evaluator is a finding against the offline one.</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rules for dynamic membership groups in Microsoft Entra ID (syntax, precedence, case). Chapter 04, “Parse and evaluate offline.”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85DA2ECF-E6FF-EA0E-EA7B-D7D7EE9044C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A13F80D-D787-4F65-9CF9-D502D755C3C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470"/>
    </mc:Choice>
    <mc:Fallback>
      <p:transition spd="slow" advTm="394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47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linter: guards on the parsed tree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Test-DrRule applies eleven rules, DR-01 to DR-11; the README lists them. These matter most here.</a:t>
            </a:r>
            <a:endParaRPr lang="en-US" sz="18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837944"/>
          <a:ext cx="11109960" cy="306324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489204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Rule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What it checks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955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DR-03, DR-04</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accountEnabled and userType guards are ANDed at the top of the rule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 guard inside an -or protects nothing, and a regular expression over the rule text can't tell the difference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55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DR-10</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-ne or -notIn on a coded slot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It also admits someone whose slot is empty; add (… -ne null) if an empty slot must not qualify (design guidance)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DR-06</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memberOf in a rule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Groups that use it stop updating after November 3, 2026 (VK-DG-06 live)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DR-11</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 membership test in the file that fails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In Lab 1, the test for u06 fails when the null clause is deleted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Callout">
            <a:extLst>
              <a:ext uri="{C183D7F6-B498-43B3-948B-1728B52AA6E4}">
                <adec:decorative xmlns:adec="http://schemas.microsoft.com/office/drawing/2017/decorative" val="1"/>
              </a:ext>
            </a:extLst>
          </p:cNvPr>
          <p:cNvSpPr/>
          <p:nvPr/>
        </p:nvSpPr>
        <p:spPr>
          <a:xfrm>
            <a:off x="548640" y="5084064"/>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8" name="Icon FaCodeBranch">
            <a:extLst>
              <a:ext uri="{C183D7F6-B498-43B3-948B-1728B52AA6E4}">
                <adec:decorative xmlns:adec="http://schemas.microsoft.com/office/drawing/2017/decorative" val="1"/>
              </a:ext>
            </a:extLst>
          </p:cNvPr>
          <p:cNvSpPr/>
          <p:nvPr/>
        </p:nvSpPr>
        <p:spPr>
          <a:xfrm>
            <a:off x="749808" y="5157216"/>
            <a:ext cx="606552" cy="606552"/>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302788"/>
            <a:ext cx="315407" cy="315407"/>
          </a:xfrm>
          <a:prstGeom prst="rect">
            <a:avLst/>
          </a:prstGeom>
        </p:spPr>
      </p:pic>
      <p:sp>
        <p:nvSpPr>
          <p:cNvPr id="10" name="Callout text"/>
          <p:cNvSpPr txBox="1"/>
          <p:nvPr/>
        </p:nvSpPr>
        <p:spPr>
          <a:xfrm>
            <a:off x="1600200" y="5138928"/>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Why parse: </a:t>
            </a:r>
            <a:r>
              <a:rPr lang="en-US" sz="1750" dirty="0">
                <a:solidFill>
                  <a:srgbClr val="334155"/>
                </a:solidFill>
              </a:rPr>
              <a:t>the linter works on the parsed rule, not the text: a text search for the guard still finds it inside an -or.</a:t>
            </a:r>
            <a:endParaRPr lang="en-US" sz="1750" dirty="0"/>
          </a:p>
        </p:txBody>
      </p:sp>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rules for dynamic membership groups; memberOf operator (preview). examples/dynamic-rules README. Chapter 04, “Lint,”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8B097D7A-E09B-26E9-AC5D-009274A406E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2A5D703-C3EB-4538-AAEB-FEBFF3CEDE6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440"/>
    </mc:Choice>
    <mc:Fallback>
      <p:transition spd="slow" advTm="324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440"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linter found in Book 03's own table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2674620"/>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6537960">
                  <a:extLst>
                    <a:ext uri="{9D8B030D-6E8A-4147-A177-3AD203B41FA5}">
                      <a16:colId xmlns:a16="http://schemas.microsoft.com/office/drawing/2014/main" val="20002"/>
                    </a:ext>
                  </a:extLst>
                </a:gridCol>
              </a:tblGrid>
              <a:tr h="345948">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Book 03 pattern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Finding</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50" b="1" dirty="0">
                          <a:solidFill>
                            <a:srgbClr val="FFFFFF"/>
                          </a:solidFill>
                          <a:latin typeface="Calibri" pitchFamily="34" charset="0"/>
                          <a:ea typeface="Calibri" pitchFamily="34" charset="-122"/>
                          <a:cs typeface="Calibri" pitchFamily="34" charset="-120"/>
                        </a:rPr>
                        <a:t>What happened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Legal employer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DR-04: no userType guard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 guest whose companyName matched would have qualified; it now has the guard, fixed in the same change as this chapter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Legal employer</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DR-05: reads companyName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A display-name attribute; it stays, because the row exists to show that case</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Exclusion</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DR-10: empty worker type admitted</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The owner decided an empty worker type must not qualify; the pattern now ends -and (user.extensionAttribute11 -ne null)</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82168">
                <a:tc>
                  <a:txBody>
                    <a:bodyPr/>
                    <a:lstStyle/>
                    <a:p>
                      <a:pPr marL="0" indent="0">
                        <a:buNone/>
                      </a:pPr>
                      <a:r>
                        <a:rPr lang="en-US" sz="1550" b="1" dirty="0">
                          <a:solidFill>
                            <a:srgbClr val="1F2A44"/>
                          </a:solidFill>
                          <a:latin typeface="Calibri" pitchFamily="34" charset="0"/>
                          <a:ea typeface="Calibri" pitchFamily="34" charset="-122"/>
                          <a:cs typeface="Calibri" pitchFamily="34" charset="-120"/>
                        </a:rPr>
                        <a:t>Direct reports</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DR-03, Info</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50" dirty="0">
                          <a:solidFill>
                            <a:srgbClr val="334155"/>
                          </a:solidFill>
                          <a:latin typeface="Calibri" pitchFamily="34" charset="0"/>
                          <a:ea typeface="Calibri" pitchFamily="34" charset="-122"/>
                          <a:cs typeface="Calibri" pitchFamily="34" charset="-120"/>
                        </a:rPr>
                        <a:t>Learn says that rule can't be combined with any other, so it can't carry guards; the linter only notes it</a:t>
                      </a:r>
                      <a:endParaRPr lang="en-US" sz="15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183380"/>
            <a:ext cx="11109960" cy="731520"/>
          </a:xfrm>
          <a:prstGeom prst="roundRect">
            <a:avLst>
              <a:gd name="adj" fmla="val 100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ListCheck">
            <a:extLst>
              <a:ext uri="{C183D7F6-B498-43B3-948B-1728B52AA6E4}">
                <adec:decorative xmlns:adec="http://schemas.microsoft.com/office/drawing/2017/decorative" val="1"/>
              </a:ext>
            </a:extLst>
          </p:cNvPr>
          <p:cNvSpPr/>
          <p:nvPr/>
        </p:nvSpPr>
        <p:spPr>
          <a:xfrm>
            <a:off x="749808" y="4256532"/>
            <a:ext cx="585216" cy="585216"/>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396984"/>
            <a:ext cx="304312" cy="304312"/>
          </a:xfrm>
          <a:prstGeom prst="rect">
            <a:avLst/>
          </a:prstGeom>
        </p:spPr>
      </p:pic>
      <p:sp>
        <p:nvSpPr>
          <p:cNvPr id="9" name="Callout text"/>
          <p:cNvSpPr txBox="1"/>
          <p:nvPr/>
        </p:nvSpPr>
        <p:spPr>
          <a:xfrm>
            <a:off x="1600200" y="4238244"/>
            <a:ext cx="9875520" cy="621792"/>
          </a:xfrm>
          <a:prstGeom prst="rect">
            <a:avLst/>
          </a:prstGeom>
          <a:noFill/>
          <a:ln/>
        </p:spPr>
        <p:txBody>
          <a:bodyPr wrap="square" lIns="0" tIns="0" rIns="0" bIns="0" rtlCol="0" anchor="ctr"/>
          <a:lstStyle/>
          <a:p>
            <a:pPr marL="0" indent="0">
              <a:buNone/>
            </a:pPr>
            <a:r>
              <a:rPr lang="en-US" sz="1750" b="1" dirty="0">
                <a:solidFill>
                  <a:srgbClr val="0F766E"/>
                </a:solidFill>
              </a:rPr>
              <a:t>Kept in step: </a:t>
            </a:r>
            <a:r>
              <a:rPr lang="en-US" sz="1750" dirty="0">
                <a:solidFill>
                  <a:srgbClr val="334155"/>
                </a:solidFill>
              </a:rPr>
              <a:t>a test checks that the fixture still matches Book 03's table row for row.</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rules for dynamic membership groups (direct reports can't be combined). Book 03, Ch 10. Chapter 04, “Lint.”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D627B6FF-A1CA-119E-5A5A-A0073194B3C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BAD2BD6-7F55-48D3-8BBA-61132F0BD35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690"/>
    </mc:Choice>
    <mc:Fallback>
      <p:transition spd="slow" advTm="33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96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shadow diff, the pause manifest and the tests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shadow diff">
            <a:extLst>
              <a:ext uri="{C183D7F6-B498-43B3-948B-1728B52AA6E4}">
                <adec:decorative xmlns:adec="http://schemas.microsoft.com/office/drawing/2017/decorative" val="1"/>
              </a:ext>
            </a:extLst>
          </p:cNvPr>
          <p:cNvSpPr/>
          <p:nvPr/>
        </p:nvSpPr>
        <p:spPr>
          <a:xfrm>
            <a:off x="548640" y="1325880"/>
            <a:ext cx="5417820" cy="2939796"/>
          </a:xfrm>
          <a:prstGeom prst="roundRect">
            <a:avLst>
              <a:gd name="adj" fmla="val 248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shadow diff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SHADOW DIFF</a:t>
            </a:r>
            <a:endParaRPr lang="en-US" sz="1100" dirty="0"/>
          </a:p>
        </p:txBody>
      </p:sp>
      <p:sp>
        <p:nvSpPr>
          <p:cNvPr id="7" name="Panel The shadow diff list"/>
          <p:cNvSpPr txBox="1"/>
          <p:nvPr/>
        </p:nvSpPr>
        <p:spPr>
          <a:xfrm>
            <a:off x="731520" y="1737360"/>
            <a:ext cx="5097780" cy="248259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Compare-DrRule evaluates the current and proposed rule over the population: whom the change adds and removes</a:t>
            </a:r>
            <a:endParaRPr lang="en-US" sz="1550" dirty="0"/>
          </a:p>
          <a:p>
            <a:pPr marL="342900" indent="-342900">
              <a:spcAft>
                <a:spcPts val="400"/>
              </a:spcAft>
              <a:buSzPct val="100000"/>
              <a:buChar char="•"/>
            </a:pPr>
            <a:r>
              <a:rPr lang="en-US" sz="1550" dirty="0">
                <a:solidFill>
                  <a:srgbClr val="334155"/>
                </a:solidFill>
              </a:rPr>
              <a:t>Invoke-DrLibraryCheck.ps1, the pull request check: lints every rule, runs every test, prints adds and removes for each file changed since -BaseRef, writes out/check-results.json</a:t>
            </a:r>
            <a:endParaRPr lang="en-US" sz="1550" dirty="0"/>
          </a:p>
          <a:p>
            <a:pPr marL="342900" indent="-342900">
              <a:spcAft>
                <a:spcPts val="400"/>
              </a:spcAft>
              <a:buSzPct val="100000"/>
              <a:buChar char="•"/>
            </a:pPr>
            <a:r>
              <a:rPr lang="en-US" sz="1550" dirty="0">
                <a:solidFill>
                  <a:srgbClr val="334155"/>
                </a:solidFill>
              </a:rPr>
              <a:t>The live equivalent, against real groups: VK-DG-04</a:t>
            </a:r>
            <a:endParaRPr lang="en-US" sz="1550" dirty="0"/>
          </a:p>
        </p:txBody>
      </p:sp>
      <p:sp>
        <p:nvSpPr>
          <p:cNvPr id="8" name="Panel The pause manifest">
            <a:extLst>
              <a:ext uri="{C183D7F6-B498-43B3-948B-1728B52AA6E4}">
                <adec:decorative xmlns:adec="http://schemas.microsoft.com/office/drawing/2017/decorative" val="1"/>
              </a:ext>
            </a:extLst>
          </p:cNvPr>
          <p:cNvSpPr/>
          <p:nvPr/>
        </p:nvSpPr>
        <p:spPr>
          <a:xfrm>
            <a:off x="6240780" y="1325880"/>
            <a:ext cx="5417820" cy="2939796"/>
          </a:xfrm>
          <a:prstGeom prst="roundRect">
            <a:avLst>
              <a:gd name="adj" fmla="val 248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ause manifest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PAUSE MANIFEST</a:t>
            </a:r>
            <a:endParaRPr lang="en-US" sz="1100" dirty="0"/>
          </a:p>
        </p:txBody>
      </p:sp>
      <p:sp>
        <p:nvSpPr>
          <p:cNvPr id="10" name="Panel The pause manifest list"/>
          <p:cNvSpPr txBox="1"/>
          <p:nvPr/>
        </p:nvSpPr>
        <p:spPr>
          <a:xfrm>
            <a:off x="6423660" y="1737360"/>
            <a:ext cx="5097780" cy="248259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New-DrPauseManifest: when, which cloud, why, each collection's state before, through the same Graph calls as Learn's samples</a:t>
            </a:r>
            <a:endParaRPr lang="en-US" sz="1550" dirty="0"/>
          </a:p>
          <a:p>
            <a:pPr marL="342900" indent="-342900">
              <a:spcAft>
                <a:spcPts val="400"/>
              </a:spcAft>
              <a:buSzPct val="100000"/>
              <a:buChar char="•"/>
            </a:pPr>
            <a:r>
              <a:rPr lang="en-US" sz="1550" dirty="0">
                <a:solidFill>
                  <a:srgbClr val="334155"/>
                </a:solidFill>
              </a:rPr>
              <a:t>Invoke-DrPause: pauses only what was On, minus exceptions, and records each ID</a:t>
            </a:r>
            <a:endParaRPr lang="en-US" sz="1550" dirty="0"/>
          </a:p>
          <a:p>
            <a:pPr marL="342900" indent="-342900">
              <a:spcAft>
                <a:spcPts val="400"/>
              </a:spcAft>
              <a:buSzPct val="100000"/>
              <a:buChar char="•"/>
            </a:pPr>
            <a:r>
              <a:rPr lang="en-US" sz="1550" dirty="0">
                <a:solidFill>
                  <a:srgbClr val="334155"/>
                </a:solidFill>
              </a:rPr>
              <a:t>Invoke-DrResume -Ids: critical ones at once; without -Ids, the next batch after the wait; refuses IDs it didn't pause</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448556"/>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49808" y="4638294"/>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791913"/>
            <a:ext cx="332842" cy="332842"/>
          </a:xfrm>
          <a:prstGeom prst="rect">
            <a:avLst/>
          </a:prstGeom>
        </p:spPr>
      </p:pic>
      <p:sp>
        <p:nvSpPr>
          <p:cNvPr id="14" name="Callout text"/>
          <p:cNvSpPr txBox="1"/>
          <p:nvPr/>
        </p:nvSpPr>
        <p:spPr>
          <a:xfrm>
            <a:off x="1600200" y="4503420"/>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The tests: </a:t>
            </a:r>
            <a:r>
              <a:rPr lang="en-US" sz="1750" dirty="0">
                <a:solidFill>
                  <a:srgbClr val="334155"/>
                </a:solidFill>
              </a:rPr>
              <a:t>57 tests in tests/DynamicRules.Tests.ps1 and 13 in tests/LearnSamples.Tests.ps1; no module, tenant or network. The Graph call is a script block: Invoke-MgGraphRequest in a tenant, a fake in the tests.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examples/dynamic-rules; Learn, PowerShell samples for dynamic membership processing. Chapter 04, “The shadow diff,” “The pause manifest,” “The tests.”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609A6999-B15D-A4E3-67FC-4D9D38078C2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030D05E-9A1A-4788-8C2F-4C10111C30C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220"/>
    </mc:Choice>
    <mc:Fallback>
      <p:transition spd="slow" advTm="352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22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owns the rules, and what each step may do</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432560"/>
          </a:xfrm>
          <a:prstGeom prst="roundRect">
            <a:avLst>
              <a:gd name="adj" fmla="val 5106"/>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43256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20396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600" dirty="0">
                <a:solidFill>
                  <a:srgbClr val="334155"/>
                </a:solidFill>
              </a:rPr>
              <a:t>Build and keep the library, parser, linter and checks; PowerShell 7;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432560"/>
          </a:xfrm>
          <a:prstGeom prst="roundRect">
            <a:avLst>
              <a:gd name="adj" fmla="val 5106"/>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43256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20396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600" dirty="0">
                <a:solidFill>
                  <a:srgbClr val="334155"/>
                </a:solidFill>
              </a:rPr>
              <a:t>Own the group library; each file's owner approves changes to that rule</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432560"/>
          </a:xfrm>
          <a:prstGeom prst="roundRect">
            <a:avLst>
              <a:gd name="adj" fmla="val 510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43256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20396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Reviewers</a:t>
            </a:r>
            <a:endParaRPr lang="en-US" sz="1400" dirty="0"/>
          </a:p>
          <a:p>
            <a:pPr marL="0" indent="0">
              <a:spcAft>
                <a:spcPts val="300"/>
              </a:spcAft>
              <a:buNone/>
            </a:pPr>
            <a:r>
              <a:rPr lang="en-US" sz="1600" dirty="0">
                <a:solidFill>
                  <a:srgbClr val="334155"/>
                </a:solidFill>
              </a:rPr>
              <a:t>Approve rule changes, with the shadow diff in the review</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2941320"/>
          <a:ext cx="11109960" cy="2095500"/>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Step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Least privilege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Role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Create a dynamic group</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Group.ReadWrite.All delegated, or Group.Create for an application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Groups Administrator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Evaluate a rule with Graph (beta, delegated only)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User.Read.All or Device.Read.All with a rule; plus Group.Read.All with a group 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Pause and resume groups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Group.ReadWrite.All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Groups Administrator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Pause and resume administrative units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AdministrativeUnit.ReadWrite.All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Privileged Role Administrator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New-MgGroup; evaluateDynamicMembership; PowerShell samples; group resource type. Chapter 04, “Goal and audience,” “Lab 2,”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5D0064A-DC8A-6CFA-B97A-5E9E15365C5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79F9E7C-10CB-4EE5-B9C7-7243EC41F25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20"/>
    </mc:Choice>
    <mc:Fallback>
      <p:transition spd="slow" advTm="36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6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samples and the rules, offline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examples/dynamic-rules</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samples against a fake tenant: one group On, one 'Held for review' Paused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./tests/LearnSampleHarness.ps1</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Invoke-LearnSample -Page "$pages/powershell-pause-all-dynamic-membership.md" -Tenant $t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Invoke-LearnSample -Page "$pages/powershell-resume-noncritical-dynamic-membership.md" -Tenant $t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both end On; with GCCHigh as the cloud answer, $t.Calls[0].Uri is https://graph.microsoft.com/…</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Lint Book 03's table: DR-05 on Legal employer, the DR-03 note on Direct reports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Get-Content ./tests/fixtures/book03-patterns.json -Raw | ConvertFrom-Json | ForEach-Object { …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Evaluate the FIN-LED rule over the population: u01, u02, u06, u08, u09</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Get-DrMembers -Population $pop -Rule '(user.accountEnabled -eq true) -and (… -eq "FIN-LED")'</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384505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391820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063776"/>
            <a:ext cx="315407" cy="315407"/>
          </a:xfrm>
          <a:prstGeom prst="rect">
            <a:avLst/>
          </a:prstGeom>
        </p:spPr>
      </p:pic>
      <p:sp>
        <p:nvSpPr>
          <p:cNvPr id="11" name="Callout text"/>
          <p:cNvSpPr txBox="1"/>
          <p:nvPr/>
        </p:nvSpPr>
        <p:spPr>
          <a:xfrm>
            <a:off x="1600200" y="389991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What step 3 shows: </a:t>
            </a:r>
            <a:r>
              <a:rPr lang="en-US" sz="1750" dirty="0">
                <a:solidFill>
                  <a:srgbClr val="334155"/>
                </a:solidFill>
              </a:rPr>
              <a:t>u04 (disabled) and u05 (guest) are out because of the guards; u08, whose code is fin-led in lower case, is in.</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examples/dynamic-rules and the pinned Learn samples (tests and fixtures, fictional). Chapter 04,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062B61C4-5FBF-3712-9758-2C02E5384D6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7F7EA57-5E37-4C24-A6B1-12EA12C51FB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770"/>
    </mc:Choice>
    <mc:Fallback>
      <p:transition spd="slow" advTm="347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768"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pull request check, broken on purpose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810512"/>
          </a:xfrm>
          <a:prstGeom prst="roundRect">
            <a:avLst>
              <a:gd name="adj" fmla="val 4040"/>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STEPS 4 TO 6</a:t>
            </a:r>
            <a:endParaRPr lang="en-US" sz="1050" dirty="0"/>
          </a:p>
        </p:txBody>
      </p:sp>
      <p:sp>
        <p:nvSpPr>
          <p:cNvPr id="7" name="Code"/>
          <p:cNvSpPr txBox="1"/>
          <p:nvPr/>
        </p:nvSpPr>
        <p:spPr>
          <a:xfrm>
            <a:off x="713232" y="1664208"/>
            <a:ext cx="10835640" cy="1426464"/>
          </a:xfrm>
          <a:prstGeom prst="rect">
            <a:avLst/>
          </a:prstGeom>
          <a:noFill/>
          <a:ln/>
        </p:spPr>
        <p:txBody>
          <a:bodyPr wrap="square" lIns="0" tIns="0" rIns="0" bIns="0" rtlCol="0" anchor="t"/>
          <a:lstStyle/>
          <a:p>
            <a:pPr marL="0" indent="0">
              <a:buNone/>
            </a:pPr>
            <a:r>
              <a:rPr lang="en-US" sz="1450" dirty="0">
                <a:solidFill>
                  <a:srgbClr val="0F766E"/>
                </a:solidFill>
                <a:latin typeface="Consolas" pitchFamily="34" charset="0"/>
                <a:ea typeface="Consolas" pitchFamily="34" charset="-122"/>
                <a:cs typeface="Consolas" pitchFamily="34" charset="-120"/>
              </a:rPr>
              <a:t># 4  The pull request check: exit 0, six rules, no findings, no changed files</a:t>
            </a:r>
            <a:endParaRPr lang="en-US" sz="1450" dirty="0"/>
          </a:p>
          <a:p>
            <a:pPr marL="0" indent="0">
              <a:buNone/>
            </a:pPr>
            <a:r>
              <a:rPr lang="en-US" sz="1450" dirty="0">
                <a:solidFill>
                  <a:srgbClr val="334155"/>
                </a:solidFill>
                <a:latin typeface="Consolas" pitchFamily="34" charset="0"/>
                <a:ea typeface="Consolas" pitchFamily="34" charset="-122"/>
                <a:cs typeface="Consolas" pitchFamily="34" charset="-120"/>
              </a:rPr>
              <a:t>pwsh ./powershell/Invoke-DrLibraryCheck.ps1 -BaseRef HEAD</a:t>
            </a:r>
            <a:endParaRPr lang="en-US" sz="1450" dirty="0"/>
          </a:p>
          <a:p>
            <a:pPr marL="0" indent="0">
              <a:buNone/>
            </a:pPr>
            <a:r>
              <a:rPr lang="en-US" sz="1450" dirty="0">
                <a:solidFill>
                  <a:srgbClr val="0F766E"/>
                </a:solidFill>
                <a:latin typeface="Consolas" pitchFamily="34" charset="0"/>
                <a:ea typeface="Consolas" pitchFamily="34" charset="-122"/>
                <a:cs typeface="Consolas" pitchFamily="34" charset="-120"/>
              </a:rPr>
              <a:t># 5  In rules/fin-led-not-contractors.json delete:  -and (user.extensionAttribute11 -ne null)</a:t>
            </a:r>
            <a:endParaRPr lang="en-US" sz="1450" dirty="0"/>
          </a:p>
          <a:p>
            <a:pPr marL="0" indent="0">
              <a:buNone/>
            </a:pPr>
            <a:r>
              <a:rPr lang="en-US" sz="1450" dirty="0">
                <a:solidFill>
                  <a:srgbClr val="334155"/>
                </a:solidFill>
                <a:latin typeface="Consolas" pitchFamily="34" charset="0"/>
                <a:ea typeface="Consolas" pitchFamily="34" charset="-122"/>
                <a:cs typeface="Consolas" pitchFamily="34" charset="-120"/>
              </a:rPr>
              <a:t>pwsh ./powershell/Invoke-DrLibraryCheck.ps1 -BaseRef HEAD     # exit 2</a:t>
            </a:r>
            <a:endParaRPr lang="en-US" sz="1450" dirty="0"/>
          </a:p>
          <a:p>
            <a:pPr marL="0" indent="0">
              <a:buNone/>
            </a:pPr>
            <a:r>
              <a:rPr lang="en-US" sz="1450" dirty="0">
                <a:solidFill>
                  <a:srgbClr val="0F766E"/>
                </a:solidFill>
                <a:latin typeface="Consolas" pitchFamily="34" charset="0"/>
                <a:ea typeface="Consolas" pitchFamily="34" charset="-122"/>
                <a:cs typeface="Consolas" pitchFamily="34" charset="-120"/>
              </a:rPr>
              <a:t># 6  The whole suite</a:t>
            </a:r>
            <a:endParaRPr lang="en-US" sz="1450" dirty="0"/>
          </a:p>
          <a:p>
            <a:pPr marL="0" indent="0">
              <a:buNone/>
            </a:pPr>
            <a:r>
              <a:rPr lang="en-US" sz="1450" dirty="0">
                <a:solidFill>
                  <a:srgbClr val="334155"/>
                </a:solidFill>
                <a:latin typeface="Consolas" pitchFamily="34" charset="0"/>
                <a:ea typeface="Consolas" pitchFamily="34" charset="-122"/>
                <a:cs typeface="Consolas" pitchFamily="34" charset="-120"/>
              </a:rPr>
              <a:t>Invoke-Pester ./tests</a:t>
            </a:r>
            <a:endParaRPr lang="en-US" sz="145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319272"/>
          <a:ext cx="11109960" cy="1353312"/>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Step 5 shows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DR-10</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-ne on the worker-type slot now admits an empty slot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DR-11: the test for u06 fails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u06, the worker with no type, was expected out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Shadow diff: adds u06</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The pull request shows exactly whom the change admits; put the clause back</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Lead"/>
          <p:cNvSpPr txBox="1"/>
          <p:nvPr/>
        </p:nvSpPr>
        <p:spPr>
          <a:xfrm>
            <a:off x="548640" y="4855464"/>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Expected result: 70 tests passing, and each difference in the gap table seen with your own eyes.</a:t>
            </a:r>
            <a:endParaRPr lang="en-US" sz="18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examples/dynamic-rules (tests and fixtures, fictional). Chapter 04, “Lab 1: fixtures, no tenant,” steps 4–6.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A6DAB2D2-0D64-2229-AD8F-A2E0C9DF04C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FA08753-8CDE-452B-BADC-C0A6BDB99E1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2370"/>
    </mc:Choice>
    <mc:Fallback>
      <p:transition spd="slow" advTm="323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83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Graph's evaluator, a drill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83464" cy="28346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Sign in with the least you need: </a:t>
            </a:r>
            <a:r>
              <a:rPr lang="en-US" sz="1500" dirty="0">
                <a:solidFill>
                  <a:srgbClr val="334155"/>
                </a:solidFill>
              </a:rPr>
              <a:t>Group.ReadWrite.All with Groups Administrator to create; User.Read.All or Device.Read.All to evaluate with a rule</a:t>
            </a:r>
            <a:endParaRPr lang="en-US" sz="1500" dirty="0"/>
          </a:p>
        </p:txBody>
      </p:sp>
      <p:sp>
        <p:nvSpPr>
          <p:cNvPr id="8" name="Step 2 dot">
            <a:extLst>
              <a:ext uri="{C183D7F6-B498-43B3-948B-1728B52AA6E4}">
                <adec:decorative xmlns:adec="http://schemas.microsoft.com/office/drawing/2017/decorative" val="1"/>
              </a:ext>
            </a:extLst>
          </p:cNvPr>
          <p:cNvSpPr/>
          <p:nvPr/>
        </p:nvSpPr>
        <p:spPr>
          <a:xfrm>
            <a:off x="548640" y="1911096"/>
            <a:ext cx="283464" cy="283464"/>
          </a:xfrm>
          <a:prstGeom prst="ellipse">
            <a:avLst/>
          </a:prstGeom>
          <a:solidFill>
            <a:srgbClr val="B45309"/>
          </a:solidFill>
          <a:ln w="12700">
            <a:solidFill>
              <a:srgbClr val="B45309"/>
            </a:solidFill>
            <a:prstDash val="solid"/>
          </a:ln>
        </p:spPr>
      </p:sp>
      <p:sp>
        <p:nvSpPr>
          <p:cNvPr id="9" name="Step 2 number"/>
          <p:cNvSpPr txBox="1"/>
          <p:nvPr/>
        </p:nvSpPr>
        <p:spPr>
          <a:xfrm>
            <a:off x="548640" y="1911096"/>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92808"/>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Create the groups from the library: </a:t>
            </a:r>
            <a:r>
              <a:rPr lang="en-US" sz="1500" dirty="0">
                <a:solidFill>
                  <a:srgbClr val="334155"/>
                </a:solidFill>
              </a:rPr>
              <a:t>New-MgGroup with DynamicMembership, the file's rule, and processing state Paused, so they can be compared before they move anyone</a:t>
            </a:r>
            <a:endParaRPr lang="en-US" sz="1500" dirty="0"/>
          </a:p>
        </p:txBody>
      </p:sp>
      <p:sp>
        <p:nvSpPr>
          <p:cNvPr id="11" name="Step 3 dot">
            <a:extLst>
              <a:ext uri="{C183D7F6-B498-43B3-948B-1728B52AA6E4}">
                <adec:decorative xmlns:adec="http://schemas.microsoft.com/office/drawing/2017/decorative" val="1"/>
              </a:ext>
            </a:extLst>
          </p:cNvPr>
          <p:cNvSpPr/>
          <p:nvPr/>
        </p:nvSpPr>
        <p:spPr>
          <a:xfrm>
            <a:off x="548640" y="2478024"/>
            <a:ext cx="283464" cy="283464"/>
          </a:xfrm>
          <a:prstGeom prst="ellipse">
            <a:avLst/>
          </a:prstGeom>
          <a:solidFill>
            <a:srgbClr val="B45309"/>
          </a:solidFill>
          <a:ln w="12700">
            <a:solidFill>
              <a:srgbClr val="B45309"/>
            </a:solidFill>
            <a:prstDash val="solid"/>
          </a:ln>
        </p:spPr>
      </p:sp>
      <p:sp>
        <p:nvSpPr>
          <p:cNvPr id="12" name="Step 3 number"/>
          <p:cNvSpPr txBox="1"/>
          <p:nvPr/>
        </p:nvSpPr>
        <p:spPr>
          <a:xfrm>
            <a:off x="548640" y="2478024"/>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59736"/>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Compare the two evaluators: </a:t>
            </a:r>
            <a:r>
              <a:rPr lang="en-US" sz="1500" dirty="0">
                <a:solidFill>
                  <a:srgbClr val="334155"/>
                </a:solidFill>
              </a:rPr>
              <a:t>POST /beta/groups/evaluateDynamicMembership for each test user; compare membershipRuleEvaluationResult with expected (VK-DG-03); a difference is a finding against the offline one</a:t>
            </a:r>
            <a:endParaRPr lang="en-US" sz="1500" dirty="0"/>
          </a:p>
        </p:txBody>
      </p:sp>
      <p:sp>
        <p:nvSpPr>
          <p:cNvPr id="14" name="Step 4 dot">
            <a:extLst>
              <a:ext uri="{C183D7F6-B498-43B3-948B-1728B52AA6E4}">
                <adec:decorative xmlns:adec="http://schemas.microsoft.com/office/drawing/2017/decorative" val="1"/>
              </a:ext>
            </a:extLst>
          </p:cNvPr>
          <p:cNvSpPr/>
          <p:nvPr/>
        </p:nvSpPr>
        <p:spPr>
          <a:xfrm>
            <a:off x="548640" y="3044952"/>
            <a:ext cx="283464" cy="283464"/>
          </a:xfrm>
          <a:prstGeom prst="ellipse">
            <a:avLst/>
          </a:prstGeom>
          <a:solidFill>
            <a:srgbClr val="B45309"/>
          </a:solidFill>
          <a:ln w="12700">
            <a:solidFill>
              <a:srgbClr val="B45309"/>
            </a:solidFill>
            <a:prstDash val="solid"/>
          </a:ln>
        </p:spPr>
      </p:sp>
      <p:sp>
        <p:nvSpPr>
          <p:cNvPr id="15" name="Step 4 number"/>
          <p:cNvSpPr txBox="1"/>
          <p:nvPr/>
        </p:nvSpPr>
        <p:spPr>
          <a:xfrm>
            <a:off x="548640" y="3044952"/>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26664"/>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Turn processing on and shadow-diff live: </a:t>
            </a:r>
            <a:r>
              <a:rPr lang="en-US" sz="1500" dirty="0">
                <a:solidFill>
                  <a:srgbClr val="334155"/>
                </a:solidFill>
              </a:rPr>
              <a:t>Set each group On, wait for Update complete on its overview page, run VK-DG-04 on two rules one clause apart</a:t>
            </a:r>
            <a:endParaRPr lang="en-US" sz="1500" dirty="0"/>
          </a:p>
        </p:txBody>
      </p:sp>
      <p:sp>
        <p:nvSpPr>
          <p:cNvPr id="17" name="Step 5 dot">
            <a:extLst>
              <a:ext uri="{C183D7F6-B498-43B3-948B-1728B52AA6E4}">
                <adec:decorative xmlns:adec="http://schemas.microsoft.com/office/drawing/2017/decorative" val="1"/>
              </a:ext>
            </a:extLst>
          </p:cNvPr>
          <p:cNvSpPr/>
          <p:nvPr/>
        </p:nvSpPr>
        <p:spPr>
          <a:xfrm>
            <a:off x="548640" y="3611880"/>
            <a:ext cx="283464" cy="283464"/>
          </a:xfrm>
          <a:prstGeom prst="ellipse">
            <a:avLst/>
          </a:prstGeom>
          <a:solidFill>
            <a:srgbClr val="B45309"/>
          </a:solidFill>
          <a:ln w="12700">
            <a:solidFill>
              <a:srgbClr val="B45309"/>
            </a:solidFill>
            <a:prstDash val="solid"/>
          </a:ln>
        </p:spPr>
      </p:sp>
      <p:sp>
        <p:nvSpPr>
          <p:cNvPr id="18" name="Step 5 number"/>
          <p:cNvSpPr txBox="1"/>
          <p:nvPr/>
        </p:nvSpPr>
        <p:spPr>
          <a:xfrm>
            <a:off x="548640" y="3611880"/>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593592"/>
            <a:ext cx="10561320" cy="566928"/>
          </a:xfrm>
          <a:prstGeom prst="rect">
            <a:avLst/>
          </a:prstGeom>
          <a:noFill/>
          <a:ln/>
        </p:spPr>
        <p:txBody>
          <a:bodyPr wrap="square" lIns="0" tIns="0" rIns="0" bIns="0" rtlCol="0" anchor="t"/>
          <a:lstStyle/>
          <a:p>
            <a:pPr marL="0" indent="0">
              <a:buNone/>
            </a:pPr>
            <a:r>
              <a:rPr lang="en-US" sz="1500" b="1" dirty="0">
                <a:solidFill>
                  <a:srgbClr val="1F2A44"/>
                </a:solidFill>
              </a:rPr>
              <a:t>Drill an incident: </a:t>
            </a:r>
            <a:r>
              <a:rPr lang="en-US" sz="1500" dirty="0">
                <a:solidFill>
                  <a:srgbClr val="334155"/>
                </a:solidFill>
              </a:rPr>
              <a:t>New-DrPauseManifest, Invoke-DrPause as a dry run then -Apply, Invoke-DrResume -Ids for critical groups; save the manifest with the record</a:t>
            </a:r>
            <a:endParaRPr lang="en-US" sz="1500" dirty="0"/>
          </a:p>
        </p:txBody>
      </p:sp>
      <p:sp>
        <p:nvSpPr>
          <p:cNvPr id="20" name="Step 6 dot">
            <a:extLst>
              <a:ext uri="{C183D7F6-B498-43B3-948B-1728B52AA6E4}">
                <adec:decorative xmlns:adec="http://schemas.microsoft.com/office/drawing/2017/decorative" val="1"/>
              </a:ext>
            </a:extLst>
          </p:cNvPr>
          <p:cNvSpPr/>
          <p:nvPr/>
        </p:nvSpPr>
        <p:spPr>
          <a:xfrm>
            <a:off x="548640" y="4178808"/>
            <a:ext cx="283464" cy="283464"/>
          </a:xfrm>
          <a:prstGeom prst="ellipse">
            <a:avLst/>
          </a:prstGeom>
          <a:solidFill>
            <a:srgbClr val="B45309"/>
          </a:solidFill>
          <a:ln w="12700">
            <a:solidFill>
              <a:srgbClr val="B45309"/>
            </a:solidFill>
            <a:prstDash val="solid"/>
          </a:ln>
        </p:spPr>
      </p:sp>
      <p:sp>
        <p:nvSpPr>
          <p:cNvPr id="21" name="Step 6 number"/>
          <p:cNvSpPr txBox="1"/>
          <p:nvPr/>
        </p:nvSpPr>
        <p:spPr>
          <a:xfrm>
            <a:off x="548640" y="4178808"/>
            <a:ext cx="283464" cy="28346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160520"/>
            <a:ext cx="10561320" cy="338328"/>
          </a:xfrm>
          <a:prstGeom prst="rect">
            <a:avLst/>
          </a:prstGeom>
          <a:noFill/>
          <a:ln/>
        </p:spPr>
        <p:txBody>
          <a:bodyPr wrap="square" lIns="0" tIns="0" rIns="0" bIns="0" rtlCol="0" anchor="t"/>
          <a:lstStyle/>
          <a:p>
            <a:pPr marL="0" indent="0">
              <a:buNone/>
            </a:pPr>
            <a:r>
              <a:rPr lang="en-US" sz="1500" b="1" dirty="0">
                <a:solidFill>
                  <a:srgbClr val="1F2A44"/>
                </a:solidFill>
              </a:rPr>
              <a:t>Back it out: </a:t>
            </a:r>
            <a:r>
              <a:rPr lang="en-US" sz="1500" dirty="0">
                <a:solidFill>
                  <a:srgbClr val="334155"/>
                </a:solidFill>
              </a:rPr>
              <a:t>Delete the test groups; confirm nothing is paused unless the record says it was paused before</a:t>
            </a:r>
            <a:endParaRPr lang="en-US" sz="1500" dirty="0"/>
          </a:p>
        </p:txBody>
      </p:sp>
      <p:sp>
        <p:nvSpPr>
          <p:cNvPr id="23" name="Callout">
            <a:extLst>
              <a:ext uri="{C183D7F6-B498-43B3-948B-1728B52AA6E4}">
                <adec:decorative xmlns:adec="http://schemas.microsoft.com/office/drawing/2017/decorative" val="1"/>
              </a:ext>
            </a:extLst>
          </p:cNvPr>
          <p:cNvSpPr/>
          <p:nvPr/>
        </p:nvSpPr>
        <p:spPr>
          <a:xfrm>
            <a:off x="548640" y="4681728"/>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871466"/>
            <a:ext cx="640080" cy="640080"/>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25085"/>
            <a:ext cx="332842" cy="332842"/>
          </a:xfrm>
          <a:prstGeom prst="rect">
            <a:avLst/>
          </a:prstGeom>
        </p:spPr>
      </p:pic>
      <p:sp>
        <p:nvSpPr>
          <p:cNvPr id="26" name="Callout text"/>
          <p:cNvSpPr txBox="1"/>
          <p:nvPr/>
        </p:nvSpPr>
        <p:spPr>
          <a:xfrm>
            <a:off x="1600200" y="4736592"/>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test tenant, never production, with fictional users whose slots match the population. In a drill, -WaitHours 0 and say so in the record; in a real incident keep the default.</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New-MgGroup; evaluateDynamicMembership; Create or update a dynamic membership group. Chapter 04,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1F990667-871D-42DB-4D86-B5740CE1C2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87BE4C9-BE14-4794-9F6F-4ABEE64B568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170"/>
    </mc:Choice>
    <mc:Fallback>
      <p:transition spd="slow" advTm="37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168"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2628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388620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30022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Danger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guard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guard inside an -or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Disabled accounts or guests qualify; a text search still finds the guard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DR-03 and DR-04 on the parsed rule, at the top level</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change that moves hundreds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Access, licenses and policy follow within hours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Tests per rule, the shadow diff, then VK-DG-04 live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 code in the wrong case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fin-led matches FIN-LED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Code-list validation at the HR source (Chapter 01); a fixture user that proves it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An empty slot under -ne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worker with no type passes "everyone but contractors"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DR-10, and -ne null where an empty slot must not qualify</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memberOf after November 3, 2026</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group stops updating and holds stale access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DR-06 in the pull request; VK-DG-06 live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Resuming everything, or too soon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Groups paused on purpose move again; the backlog returns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pause manifest; 24-hour default; critical ones by name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02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The wrong cloud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GCC High tenant signed in to as worldwide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Get-DrGraphEndpoint refuses unknown names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Trusting the offline evaluator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 difference from the engine goes unnoticed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Lab 2 step 3 compares it with Graph's for every test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9072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Agents' user accounts in access groups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User rules include them by default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Open: the clause when Learn names the property; review membership until then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Manage rules; dynamic group processing; memberOf (preview); PowerShell samples. Chapter 04, “Dangers.”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E7B1274-327F-E6D5-CE05-29D02BCC18A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629FB41-2C32-415C-80B6-96ACDE3E932A}"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410"/>
    </mc:Choice>
    <mc:Fallback>
      <p:transition spd="slow" advTm="344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40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rules">
            <a:extLst>
              <a:ext uri="{C183D7F6-B498-43B3-948B-1728B52AA6E4}">
                <adec:decorative xmlns:adec="http://schemas.microsoft.com/office/drawing/2017/decorative" val="1"/>
              </a:ext>
            </a:extLst>
          </p:cNvPr>
          <p:cNvSpPr/>
          <p:nvPr/>
        </p:nvSpPr>
        <p:spPr>
          <a:xfrm>
            <a:off x="548640" y="1325880"/>
            <a:ext cx="5417820" cy="3003804"/>
          </a:xfrm>
          <a:prstGeom prst="roundRect">
            <a:avLst>
              <a:gd name="adj" fmla="val 2435"/>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ul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RULES</a:t>
            </a:r>
            <a:endParaRPr lang="en-US" sz="1100" dirty="0"/>
          </a:p>
        </p:txBody>
      </p:sp>
      <p:sp>
        <p:nvSpPr>
          <p:cNvPr id="7" name="Panel The rules list"/>
          <p:cNvSpPr txBox="1"/>
          <p:nvPr/>
        </p:nvSpPr>
        <p:spPr>
          <a:xfrm>
            <a:off x="73152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Every dynamic group has a file in rules/ with an owner, a kind, and a member and a non-member test</a:t>
            </a:r>
            <a:endParaRPr lang="en-US" sz="1550" dirty="0"/>
          </a:p>
          <a:p>
            <a:pPr marL="342900" indent="-342900">
              <a:spcAft>
                <a:spcPts val="400"/>
              </a:spcAft>
              <a:buSzPct val="100000"/>
              <a:buChar char="•"/>
            </a:pPr>
            <a:r>
              <a:rPr lang="en-US" sz="1550" dirty="0">
                <a:solidFill>
                  <a:srgbClr val="334155"/>
                </a:solidFill>
              </a:rPr>
              <a:t>Invoke-DrLibraryCheck.ps1 exits 0 on the pull request, with its shadow diff in the review</a:t>
            </a:r>
            <a:endParaRPr lang="en-US" sz="1550" dirty="0"/>
          </a:p>
          <a:p>
            <a:pPr marL="342900" indent="-342900">
              <a:spcAft>
                <a:spcPts val="400"/>
              </a:spcAft>
              <a:buSzPct val="100000"/>
              <a:buChar char="•"/>
            </a:pPr>
            <a:r>
              <a:rPr lang="en-US" sz="1550" dirty="0">
                <a:solidFill>
                  <a:srgbClr val="334155"/>
                </a:solidFill>
              </a:rPr>
              <a:t>Every user rule ANDs accountEnabled and userType at the top</a:t>
            </a:r>
            <a:endParaRPr lang="en-US" sz="1550" dirty="0"/>
          </a:p>
          <a:p>
            <a:pPr marL="342900" indent="-342900">
              <a:spcAft>
                <a:spcPts val="400"/>
              </a:spcAft>
              <a:buSzPct val="100000"/>
              <a:buChar char="•"/>
            </a:pPr>
            <a:r>
              <a:rPr lang="en-US" sz="1550" dirty="0">
                <a:solidFill>
                  <a:srgbClr val="334155"/>
                </a:solidFill>
              </a:rPr>
              <a:t>No memberOf; no access rule reads department, jobTitle or companyName</a:t>
            </a:r>
            <a:endParaRPr lang="en-US" sz="1550" dirty="0"/>
          </a:p>
        </p:txBody>
      </p:sp>
      <p:sp>
        <p:nvSpPr>
          <p:cNvPr id="8" name="Panel The evaluator and the runbook">
            <a:extLst>
              <a:ext uri="{C183D7F6-B498-43B3-948B-1728B52AA6E4}">
                <adec:decorative xmlns:adec="http://schemas.microsoft.com/office/drawing/2017/decorative" val="1"/>
              </a:ext>
            </a:extLst>
          </p:cNvPr>
          <p:cNvSpPr/>
          <p:nvPr/>
        </p:nvSpPr>
        <p:spPr>
          <a:xfrm>
            <a:off x="6240780" y="1325880"/>
            <a:ext cx="5417820" cy="3003804"/>
          </a:xfrm>
          <a:prstGeom prst="roundRect">
            <a:avLst>
              <a:gd name="adj" fmla="val 243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evaluator and the runbook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EVALUATOR AND THE RUNBOOK</a:t>
            </a:r>
            <a:endParaRPr lang="en-US" sz="1100" dirty="0"/>
          </a:p>
        </p:txBody>
      </p:sp>
      <p:sp>
        <p:nvSpPr>
          <p:cNvPr id="10" name="Panel The evaluator and the runbook list"/>
          <p:cNvSpPr txBox="1"/>
          <p:nvPr/>
        </p:nvSpPr>
        <p:spPr>
          <a:xfrm>
            <a:off x="6423660" y="1737360"/>
            <a:ext cx="5097780" cy="254660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Each -ne or -notIn on a coded slot is a written decision about empty slots</a:t>
            </a:r>
            <a:endParaRPr lang="en-US" sz="1550" dirty="0"/>
          </a:p>
          <a:p>
            <a:pPr marL="342900" indent="-342900">
              <a:spcAft>
                <a:spcPts val="400"/>
              </a:spcAft>
              <a:buSzPct val="100000"/>
              <a:buChar char="•"/>
            </a:pPr>
            <a:r>
              <a:rPr lang="en-US" sz="1550" dirty="0">
                <a:solidFill>
                  <a:srgbClr val="334155"/>
                </a:solidFill>
              </a:rPr>
              <a:t>The offline evaluator agrees with Graph's evaluateDynamicMembership for every test, in the test tenant</a:t>
            </a:r>
            <a:endParaRPr lang="en-US" sz="1550" dirty="0"/>
          </a:p>
          <a:p>
            <a:pPr marL="342900" indent="-342900">
              <a:spcAft>
                <a:spcPts val="400"/>
              </a:spcAft>
              <a:buSzPct val="100000"/>
              <a:buChar char="•"/>
            </a:pPr>
            <a:r>
              <a:rPr lang="en-US" sz="1550" dirty="0">
                <a:solidFill>
                  <a:srgbClr val="334155"/>
                </a:solidFill>
              </a:rPr>
              <a:t>The runbook takes a pause manifest before pausing, and resumes from it, critical groups first</a:t>
            </a:r>
            <a:endParaRPr lang="en-US" sz="1550" dirty="0"/>
          </a:p>
          <a:p>
            <a:pPr marL="342900" indent="-342900">
              <a:spcAft>
                <a:spcPts val="400"/>
              </a:spcAft>
              <a:buSzPct val="100000"/>
              <a:buChar char="•"/>
            </a:pPr>
            <a:r>
              <a:rPr lang="en-US" sz="1550" dirty="0">
                <a:solidFill>
                  <a:srgbClr val="334155"/>
                </a:solidFill>
              </a:rPr>
              <a:t>The pinned Learn samples match their manifest; every upstream commit since the pin is reviewed</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512564"/>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585716"/>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726168"/>
            <a:ext cx="304312" cy="304312"/>
          </a:xfrm>
          <a:prstGeom prst="rect">
            <a:avLst/>
          </a:prstGeom>
        </p:spPr>
      </p:pic>
      <p:sp>
        <p:nvSpPr>
          <p:cNvPr id="14" name="Callout text"/>
          <p:cNvSpPr txBox="1"/>
          <p:nvPr/>
        </p:nvSpPr>
        <p:spPr>
          <a:xfrm>
            <a:off x="1600200" y="4567428"/>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05 builds Lifecycle Workflows custom extensions.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04, “Checklist”; Learn, evaluateDynamicMembership; PowerShell samples for dynamic membership processing.</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49791C78-0D8D-1BDE-7E2E-051151EBDE1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14DBAA-D41C-4377-8EA8-3922CE131810}"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020"/>
    </mc:Choice>
    <mc:Fallback>
      <p:transition spd="slow" advTm="36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11854</Words>
  <Application>Microsoft Office PowerPoint</Application>
  <PresentationFormat>Widescreen</PresentationFormat>
  <Paragraphs>365</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04: Dynamic Rules as Code</vt:lpstr>
      <vt:lpstr>Why a dynamic rule is code</vt:lpstr>
      <vt:lpstr>What Learn says about the engine sets the stakes</vt:lpstr>
      <vt:lpstr>Which cloud: sign-in, evaluator and memberOf</vt:lpstr>
      <vt:lpstr>What Learn gives you: syntax, and five samples</vt:lpstr>
      <vt:lpstr>The pinned copy, run against a fake tenant</vt:lpstr>
      <vt:lpstr>What the samples leave to you</vt:lpstr>
      <vt:lpstr>One file per group, with an owner and tests</vt:lpstr>
      <vt:lpstr>Parse and evaluate offline, as Learn's grammar says</vt:lpstr>
      <vt:lpstr>The linter: guards on the parsed tree</vt:lpstr>
      <vt:lpstr>What the linter found in Book 03's own table</vt:lpstr>
      <vt:lpstr>The shadow diff, the pause manifest and the tests</vt:lpstr>
      <vt:lpstr>Who owns the rules, and what each step may do</vt:lpstr>
      <vt:lpstr>Lab 1: Learn's samples and the rules, offline</vt:lpstr>
      <vt:lpstr>Lab 1: the pull request check, broken on purpose</vt:lpstr>
      <vt:lpstr>Lab 2: a test tenant, Graph's evaluator, a drill</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the Attribute-Driven Migration, Chapter 04 — Dynamic Rules as Code</dc:title>
  <dc:subject>PptxGenJS Presentation</dc:subject>
  <dc:creator>Michael F. Stratton</dc:creator>
  <cp:lastModifiedBy>Michael F. Stratton</cp:lastModifiedBy>
  <cp:revision>2</cp:revision>
  <dcterms:created xsi:type="dcterms:W3CDTF">2026-10-31T14:33:32Z</dcterms:created>
  <dcterms:modified xsi:type="dcterms:W3CDTF">2026-10-31T14:40:27Z</dcterms:modified>
</cp:coreProperties>
</file>