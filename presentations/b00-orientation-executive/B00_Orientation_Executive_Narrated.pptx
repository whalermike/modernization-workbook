
<file path=[Content_Types].xml><?xml version="1.0" encoding="utf-8"?>
<Types xmlns="http://schemas.openxmlformats.org/package/2006/content-types">
  <Default Extension="mp3" ContentType="audio/mpeg"/>
  <Default Extension="png" ContentType="image/png"/>
  <Default Extension="rels" ContentType="application/vnd.openxmlformats-package.relationships+xml"/>
  <Default Extension="xml" ContentType="application/xml"/>
  <Default Extension="vtt" ContentType="text/vtt"/>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2"/>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Why modernize now" id="{0B22F847-74F6-DBB6-9E26-300ADE5B43B8}">
          <p14:sldIdLst>
            <p14:sldId id="256"/>
            <p14:sldId id="257"/>
            <p14:sldId id="258"/>
            <p14:sldId id="259"/>
            <p14:sldId id="260"/>
          </p14:sldIdLst>
        </p14:section>
        <p14:section name="What the program is" id="{704B75F9-8110-7C78-6F3B-98274B1B1731}">
          <p14:sldIdLst>
            <p14:sldId id="261"/>
            <p14:sldId id="262"/>
            <p14:sldId id="263"/>
            <p14:sldId id="264"/>
            <p14:sldId id="265"/>
            <p14:sldId id="266"/>
          </p14:sldIdLst>
        </p14:section>
        <p14:section name="Who decides" id="{1CC265DF-D560-BD56-9BC4-6AF599D6FF12}">
          <p14:sldIdLst>
            <p14:sldId id="267"/>
            <p14:sldId id="268"/>
            <p14:sldId id="269"/>
          </p14:sldIdLst>
        </p14:section>
        <p14:section name="How it runs" id="{D0C27CEC-0536-2E61-13F9-A3D91E0E5F90}">
          <p14:sldIdLst>
            <p14:sldId id="270"/>
            <p14:sldId id="271"/>
            <p14:sldId id="272"/>
            <p14:sldId id="273"/>
            <p14:sldId id="274"/>
            <p14:sldId id="275"/>
          </p14:sldIdLst>
        </p14:section>
        <p14:section name="Backup" id="{8A9A74D6-4F98-2EBF-8A29-140BA43B8ED1}">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ableStyles" Target="tableStyle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94723840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[0:00–1:16]  This is the executive briefing for Book 00 of the Federal Modernization Workbook, Orientation and Program. It runs about thirty minutes, and it's for the people who sponsor, fund and answer for modernization: executive sponsors, CIOs, CISOs and program executives.
One point first. The workbook is independent technical guidance, not federal policy. Where it says a law, memorandum or directive requires something, it cites that source. Everything else, including the program's phases, gates, principles and decision rights, is the workbook's own recommendation: one way to meet those requirements, not a requirement itself.
The argument is short. For twenty years Active Directory quietly did governance nobody wrote down. Federal policy and vendor lifecycles now set clocks the estate can't ignore. Meeting them one product at a time rebuilds the same governance gaps in a new place, so modernization has to run as one governed program.
I'll take four questions in order: why now, what the program is, who decides, and how it runs from pre-flight to steady state. Every decision slide names the decision, its owner, and when it's needed.
Workbook: Book 00, index (Guidance, not federal policy); Chapter 01 — Why Modernize, and Why Now; Chapter 02 — How to Use This Workbook (Three kinds of statement).</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[1:16–2:53]  Start with why. Most federal estates still run the client/server model they built in the early 2000s, with an Active Directory forest at the center. Since Windows 2000, the organizational unit has grouped objects for delegating administrative rights and assigning policy. So placing a user or a computer in the tree decided, at the same moment and with no separate record, who administers it, which Group Policy applies to it, what its groups let it reach, how it's named in directory-integrated DNS, and which certificates it receives.
It was efficient, and for a quarter century agencies got governance as a side effect of running a directory. The cost is that it was never stated.
The cloud estate doesn't inherit it. Entra ID's administrative units can't be nested. Intune applies policy to groups with no hierarchy, and two policies that disagree produce a conflict to resolve, not an inheritance rule. Access, names and trust move to Conditional Access, a DDI platform and a target PKI.
Each replacement needs someone to decide what the old placement meant. An agency that moves users and retires the forest without recovering those decisions doesn't modernize its governance. It deletes it.
So the first decision is the sponsor's, when the charter is signed: treat modernization as governance reconstruction, not only a technical migration. If stakeholders don't accept that, the charter says, resistance becomes the program's main risk.
Workbook: Book 00, Chapter 01 — Why Modernize, and Why Now (Governance nobody wrote down; Why the cloud doesn't inherit it); Chapter 03 — The Program Charter (The problem; Assumptions; Key risks).</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[2:53–4:33]  The second reason is the schedule. Two kinds of clock now set dates from outside, and the first is federal policy.
OMB M-22-09, from January 2022, set Zero Trust objectives for the end of fiscal 2024. That date has passed, but the actions remain in force, on-premises and hybrid as well as cloud. CISA's BOD 25-01 set mandatory configurations for cloud tenants, with the policies due June 20, 2025, and every new tenant baselined before its authorization to operate. BOD 26-02, from February 2026, directs agencies to remove internet-facing end-of-support edge devices; the listed ones go by February 5, 2027. OMB M-26-14, issued May 22, 2026, rescinded M-21-31 and set a risk-based approach to logging. And FedRAMP's Consolidated Rules for 2026, launched June 25, take mandatory effect for all stakeholders on January 1, 2027, and providers then have a year to follow them to keep their certification. FedRAMP accepts no new Rev5 certification applications after June 11, 2027.
M-26-14 counts its deadlines from CISA's Logging Reference Architecture, published August 20, 2026. Counted from that date, the Agency Logging Plan falls on November 18 of this year, Level 1 on December 18, Level 2 on February 16, 2027, and Level 3 on July 6, 2027. Those four dates are the program's arithmetic, not dates OMB published.
So the nearest decision: confirm them with the CISO's office, starting with the logging plan, due November 18 by the program's count.
Workbook: Book 00, Chapter 01 — Why Modernize, and Why Now (The clocks that now set the schedule: Federal policy).</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[4:33–6:00]  The second set of clocks is vendor support. After end of support there are no new security updates and no assisted support, and for an estate built in the early 2000s, the dates cluster.
Windows 10 and Exchange Server 2016 and 2019 ended in October 2025; SQL Server 2016, SharePoint Server 2016 and 2019, and the last Windows Server 2012 security updates ended this year. Windows Server 2016 ends on January 12, 2027, under three months away, and it's the operating system of many domain controllers built in the last decade. Windows Server 2019 and Microsoft Identity Manager 2016 end on January 9, 2029. Identity Manager's date was extended from 2026, so an agency that syncs HR data through it has a date, not an open-ended bridge.
A vendor date isn't a federal mandate on its own, but the two connect. BOD 26-02 turns end of support into a directed action for internet-facing edge devices, and every system security plan asserts flaw remediation that an unsupported product can't deliver.
So running past end of support is a decision, and it belongs to the authorizing official, who has to sign the risk acceptance. The first of those falls due with Windows Server 2016, on January 12.
Workbook: Book 00, Chapter 01 — Why Modernize, and Why Now (Vendor support); Appendix A — Risk Register and Control Traceability (SA-22, Unsupported System Components); Chapter 07 — Who Runs the Program (Who decides what: risk acceptance).</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[6:00–7:29]  The clocks are often quoted for more than they say. Four corrections recur.
FedRAMP certifies cloud services, and each agency still authorizes its own systems, so the 2027 date changes what providers publish, not whether the agency's own systems comply. Moderate is now a certification class: Class C includes the current Moderate baseline, and Class D the High. No federal document requires a Zero Trust maturity stage. And BOD 25-01 covers production cloud tenants, not on-premises Active Directory, though the forest still decides much of what a tenant can enforce.
Nothing makes the estate fail on a single date. It's surrounded by deadlines, each binding a different part of it, and each assuming the agency knows what it runs, who owns it and what governs it.
That's why it can't be a set of projects. Moving devices to Intune needs the policy GPO links carried; Conditional Access needs the access groups granted. Separate projects rediscover those decisions differently, or not at all. A program can sequence the work against the dates; a collection of projects can only race them.
Hence the decision for the sponsor and CIO, before the budget lines are set: fund and govern modernization as one sequenced program, with one dependency chain and one set of gates.
Workbook: Book 00, Chapter 01 — Why Modernize, and Why Now (What the clocks don't require; Why one program, not a set of projects; What leadership should take from this); Chapter 07 (Who decides what: budget and licenses).</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[7:29–8:59]  Now, what the program is. It starts with a short charter: the page the sponsor signs, and the page every later decision is checked against: is this inside the scope we chartered, does it serve one of the objectives, and does it move a success criterion?
The problem it sets out to remove has four costs: migration risk concentrated in hidden dependencies; ongoing drift between intended and actual state; weak evidence of change and compliance; and a high cost of reconciling fragmented stores.
Against those, six objectives. One authoritative origin for organizational structure, identity attributes and key claims, with every other copy derived. Governance rebuilt explicitly, through attributes, dynamic membership and scoped policy. Drift treated as a classified finding. Change in controlled waves that start from the authoritative source, run under least privilege, and close with evidence. Domain transformations without rip-and-replace. And continuous, machine-usable evidence.
The scope is deliberate. The program feeds compliance frameworks; it doesn't replace them. Identity providers, network fabrics and device managers stay the enforcers, and the program governs them. And the adopting agency executes its own cutover.
An agency can adopt the charter as written. The decision: the sponsor signs it, and names go into its governance table, starting with the sponsor and the steward, as Phase 0's entry work.
Workbook: Book 00, Chapter 03 — The Program Charter (What the charter is for; The problem; Objectives; Scope; Next steps, item 1); Chapter 05 — The Program Plan (The seven phases and six gates: Phase 0 entry work).</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[8:59–10:33]  A sponsor can't sign off an outcome with no test, so the charter turns each success criterion into a measure, the evidence that shows it, and the gate where it's checked.
First, a current-state assessment that covers every forest in scope and all eleven dependency object types, with zero open priority-one findings, checked at G0. Second, a target structure in which every attribute that drives access has exactly one designated source, checked at G1. Third, a domain playbook whose entry and exit criteria are written as queries, proven when the pilot division clears G2 with zero drift for a hold period; fourteen days is the illustrative example. Fourth, a change-control pattern in use: every pilot change carries all five clauses of the change lifecycle, and every human-only closure is logged as an exception. Fifth, drift classes with a detection signal, a severity and a response, where a missed run is itself a halt condition. Sixth, leadership can describe the path, the risks and the measures without citing internal decision records.
The numbers are illustrative defaults: the agency sets its own, records them, and doesn't change them silently. And the criteria stop at the pilot on purpose.
The sixth criterion is the sponsor's own. The sponsor answers yes to each pre-start question by G0, and the steering committee reviews the drift trend monthly.
Workbook: Book 00, Chapter 03 — The Program Charter (Success criteria); Chapter 10 — Retirement, Steady State and Measuring Success (Measuring success: delivery measures).</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[10:33–12:04]  The charter's six guiding principles expand to fifteen in Chapter 04, and one idea runs underneath them all: keep the record of what should be true apart from the systems that enforce it, and make every change prove itself against that record.
The foundation principles apply to every change. Every claim has one authoritative origin. Every move, add, change, deletion and reset travels five clauses: it originates with the source of truth, carries an authoritative authorization, executes under just-in-time least privilege, closes with provenance, and emits evidence automatically. No closure counts unless it carries its proof. And drift detection re-checks on a schedule.
The structure and estate principles replace the OU tree with attributes, and they carry one rule executives should hear: a user with an empty attribute falls out of the dynamic group, and so out of every policy that targets it. Attribute completeness is a security control.
The program principles cover people, Zero Trust governance and the direction of travel. Two source rules were corrected on the way: Intune policy conflicts, and token lifetimes, where the principle that survives is continuous evaluation, not a short clock.
The decision here is the steward's, and it comes before the first change is made: set the evidence and provenance expectations that every later change must meet.
Workbook: Book 00, Chapter 04 — The Modernization Principles (How to read the principles; Principles 1, 2, 9, 11 and 15); Chapter 03 — The Program Charter (Guiding principles; Next steps, item 5; Governance and ownership).</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[12:04–13:35]  A plan earns its keep by saying what has to be true before the next step starts, not by putting dates on a chart.
Book 01 of the workbook is canonical: seven phases and six gates. Phase 0, Pre-flight, ends at G0, Ready to Plan. Phase 1, Foundation, ends at G1, Foundation Complete. Phase 2, the pilot division, ends at G2, Pilot Clean. Phase 3, general rollout, at G3, Rollout Complete. Phase 4, legacy retirement, at G4, Legacy Quiet. Phase 5, AD DS retirement, at G5, AD Retired. Phase 6, steady state, runs on a cadence indefinitely.
The gates are owned in proportion to what they end. The steward clears G0, G1 and G4, and co-signs G2 with the executive sponsor. The sponsor and steering committee clear G3. The sponsor and the CIO clear G5.
And five constraints bind every phase, from provenance on every change to no rip-and-replace.
The program's detailed master plan sequences 48 milestones over an illustrative 52 weeks, but its cutover ends with AD DS still running. Book 01's own fifty-two-week sequence models a mid-size, clean forest, and large federal estates typically run multi-year. So the decision for the sponsor and CIO, when they accept the plan: budget the AD DS retirement phase on top of the master plan's 52 weeks.
Workbook: Book 00, Chapter 05 — The Program Plan: Phases and Gates (One plan, three altitudes; The constraints every phase obeys; The seven phases and six gates; Mapping the master plan onto the gates; The first five actions, item 1); Chapter 07 — Who Runs the Program (Who decides what).</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[13:35–15:05]  Inside the phases, five workstreams carry the work: identity, policy, services, compute and access. They run together; finishing one before starting the next roughly doubles the program.
They still have an order. Identity comes first, the attribute model, dynamic membership and the lifecycle origin, because policy, access, devices and data all decide on the basis of who or what is asking. Policy follows identity. Services, naming and addressing, can run in parallel and may bridge. Compute, the device and server work, comes mid to late. Access, token-based and application-aware, comes later, because it consumes both identity and policy.
The master plan organized the same work as five technology pillars, and that view leaves two gaps. Nobody owns the question of which policy surface owns a setting, and the access plane has no pillar at all. Book 01 closes them by giving policy a security-engineering lead and access a joint identity and security lead.
The critical path runs through the platform, the assessment, attribute and group design, the pilot, each rollout wave, and cutover validation. Every week lost in assessment or attribute design moves every later gate. And one dependency never relaxes: PKI waits for identity.
The decision, made while Phase 0's stakeholders and decision rights are confirmed: name the five workstream leads, including those two.
Workbook: Book 00, Chapter 05 — The Program Plan (Five workstreams, run in parallel; The critical path; The first five actions, item 2); Chapter 03 — The Program Charter (Governance and ownership; Next steps, item 1).</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[15:05–16:38]  Seven complementary projects turn the program's most common gaps into executable work, each with its own sponsor, lead and pilot.
In their suggested starting order: Identity Lifecycle and Provisioning; Endpoint and Device Modernization; Network and Access Modernization; Continuous Monitoring and the Evidence Fabric; Privileged Access and Administrative Identity; Data Platform Identity Transformation; and Supply Chain and Software Bill of Materials.
The order says which project has to be far enough along before the next can show results. Identity is first, because everything else consumes its attributes and owners; a device project started on unreliable attributes produces policy bypass. Monitoring comes fourth, because an evidence fabric needs at least two sources already emitting records. Privileged access is chartered fifth, but it isn't fifth in practice: the Foundation gate already needs emergency access accounts vaulted and tested, and Tier 0 administrators registered for phishing-resistant sign-in.
Every charter asks for a working pilot, not a finished estate. Two rules keep the portfolio coherent. No project designates a second authoritative source for something another project owns. And every project emits evidence in the shape the monitoring project defines.
The projects don't form a second governance structure, and no project clears a program gate on its own. Filling in their names is each project's first act, and every project lead reports to the steward.
Workbook: Book 00, Chapter 06 — The Complementary Projects (Why the program has projects; The seven projects at a glance; Why this order; How the projects fit the program; What the charters leave to the agency); Chapter 07 — Who Runs the Program (The complementary projects).</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[16:38–18:03]  Who decides? The book's advice: name the people allowed to say no, give each decision one of them, and make the repository remember who said yes.
The book uses Book 01's program-wide model. The executive sponsor, with the CIO, owns scope, funding and sequence, breaks ties, and decides when Active Directory components retire. The CISO sets the control requirements every target surface must meet: authentication strength, the Conditional Access baseline, logging. The authorizing official is the only official who can accept security and privacy risk. The steward leads the program office and owns the plan, wave sequencing, cross-domain dependencies and the repository. A change to the target architecture, or to the rules for authoritative origin, needs the steward and the sponsor together. HR decides what each organizational attribute means. And workstream leads own their designs, inside the CISO's requirements.
Two federal requirements already name people who belong in these rows. M-22-09 required a zero trust implementation lead within 30 days, and an aligned C-suite. M-19-17 requires an integrated, agency-wide ICAM governance structure.
So the decision for the sponsor and CIO, in Phase 0: name the sponsor, the steward and the steering committee, and build them from those existing roles, not alongside them.
Workbook: Book 00, Chapter 07 — Who Runs the Program (Three vocabularies, one model; Who decides what; The workstream RACI; Where the federal roles fit); Chapter 03 — The Program Charter (Governance and ownership).</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[18:03–19:33]  Most of what the program's plans said about decisions holds. Three items don't.
Residual risk. The plans let the security lead and the steward accept it jointly. Under the Risk Management Framework, only the authorizing official can accept security and privacy risk to the organization. So the security lead and steward prepare and recommend, and the acceptance carries a justification, compensating controls and an end date.
Budget and licenses. They belong to the sponsor and CIO, who own funding. The steward prepares the case.
Gate decisions. The master plan made the steward the sole signatory at every gate. Book 01 spreads the gates across the steward, the sponsor, the steering committee and the CIO, in proportion to what each gate ends.
Four separations keep the governance honest. The authorizing official is a government official, the decision can't be delegated, and the role stays outside the program office: contractors can prepare a risk acceptance, but can't sign one. No one holds two roles that check each other. Requesters don't approve their own changes. And the component that decides isn't the one that acts.
The decision sits with the authorizing official from G0 onward, where an unremediated Critical finding needs the official's acceptance: every risk acceptance comes in writing, with an end date.
Workbook: Book 00, Chapter 07 — Who Runs the Program (Who decides what; Keeping the roles apart); Chapter 08 — Pre-Flight (Step 3, security assessment; Gate G0); Appendix A (The risk register: decision rights).</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[19:33–20:56]  Who does the work? The master plan estimated the program office and workstreams at about five and a half full-time equivalents, for an illustrative 52-week program: half a steward; a full-time infrastructure lead, identity lead and endpoint lead; and half-time DNS, PKI and security leads and a project manager. It's a planning model, not a staffing standard.
What matters more is what the estimate leaves out: application owners for every application that moves, help desk capacity for every wave, HR and contractor-source owners, records and privacy, and the CISO's and authorizing official's time for requirements and risk decisions. The program can't run without them, so budget for them explicitly. And cross-train two people per workstream.
The rhythm: daily standups, and a weekly report rating each workstream green, yellow or red. The steering committee meets every two weeks, the steward and sponsor review gate readiness monthly, and each gate gets a ninety-minute review that ends in go, no-go or conditional go. And two consecutive red weeks for any workstream go to the sponsor.
The decision for the sponsor and CIO: put those people in the Phase 0 business case, alongside the licenses, and approve the budget before design begins.
Workbook: Book 00, Chapter 07 — Who Runs the Program (The rhythm; The gate review; The people the program needs); Appendix A — Risk Register and Control Traceability (R-012, R-013).</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[20:56–22:35]  Now, how it runs, starting with pre-flight. The program adopts one rule unchanged: assessment before action. No migration work starts until the whole forest is inventoried, classified and committed to the repository, and every plan is generated from that data.
First, the program builds the place where every decision will be written down: a platform host with one authoritative, protected writer. The reference design is Gitea on Windows Server 2025, one way to meet the requirement, not the only one. The host is a Tier 0 system, and a branch protection the steward can quietly override is a convention, not a control.
Then it reads the estate: read-only first, at default rights, then narrow delegated additions and a security assessment. The master plan's twelve Active Directory domains are joined by the DHCP, LDAP-binding and service-principal-name streams that Book 01 adds, and by an inventory of RADIUS and NPS, which depend on the directory too. The phase delivers twenty-three artifacts: fifteen committed before G0, and eight generated plans approved just after it.
G0 has three conditions: the platform host is operational, the assessment is committed, and no priority-one finding is open. Every finding is classed Critical, High, Medium or Low, and each class has a gate that closes it.
A Critical finding is remediated before G0, or formally accepted by the authorizing official. The steward clears G0 on that basis, with the executive sponsor as backup.
Workbook: Book 00, Chapter 08 — Pre-Flight: Platform and Assessment (Where pre-flight sits in the program; The platform host; The read-only assessment; Step 3, security assessment; The twenty-three deliverables; Gate G0); Chapter 07 — Who Runs the Program (The repository as the program's memory).</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[22:35–24:02]  Phase 1, Foundation, opens by generating the eight plans from the committed assessment and approving them. It then designs every surface from those plans, attributes, dynamic groups, Intune policy, Conditional Access, sync, DNS and PKI, and builds the shared foundation the pilot needs. Group processing is planned in hours, not minutes.
The steward clears G1 when the plans and designs are approved, the baseline Conditional Access policies are enforced after at least a week in report-only, the emergency access accounts are vaulted and tested, the HR feed is live, and every High finding is remediated.
Phase 2 proves the whole pattern on real people. Book 01 sets the pilot's scope as one division, typically IT, which tolerates disruption best, and the master plan's sizes are a floor for what it must exercise. It's measured against eight criteria, from sign-in success to help desk volume. The values are illustrative: set them in the decision log before the pilot opens, and evaluate them from the systems, not from opinion. Every surface has a rollback trigger and a procedure.
G2 is signed jointly by the steward and the executive sponsor: zero drift for the agreed hold period, every criterion met, and no hybrid-joined PC without a cut date.
Workbook: Book 00, Chapter 09 — Design, Pilot and Rollout (Phase 1 — Foundation; The attribute taxonomy; Dynamic groups, policy and access; Gate G1; Phase 2 — The pilot; Pilot success criteria; Rollback, surface by surface; Gate G2).</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[24:02–25:34]  Phase 3, general rollout, repeats the proven pattern until every division has moved. A wave is a set of divisions chosen by attribute value, usually by region, with the lowest-risk region first. Group Policy links stay in place during a wave, and come off a migrated OU only after seven days of clean compliance. The sponsor and steering committee clear G3 when every division has passed its own exit gate.
Then the work changes character: these phases take old things away. Phase 4 retires AD FS, user and device certificate issuance from AD CS, DNS forwarders, Group Policy links, non-essential trusts and legacy servers, each through its own plan. A component is retired only while its rollback still works. Some things stay until the domain itself retires: its own DNS zones, the domain controller and LDAPS certificates, and the default domain account policies. The steward clears G4.
Phase 5 retires AD DS itself, which the master plan never reached, or reduces it to a documented Kerberos island with an end date. Two steps are easy to forget. Records come before hardware. And domain controllers store the password hashes of every account, so retired hosts and their storage are sanitized.
The sponsor and CIO clear G5, and they decide when each component retires, after the records officer is consulted.
Workbook: Book 00, Chapter 09 — Design, Pilot and Rollout (Phase 3 — General rollout; Gate G3); Chapter 10 — Retirement, Steady State and Measuring Success (Phase 4 — Legacy retirement; Gate G4; Phase 5 — AD DS retirement; Gate G5); Chapter 07 (The workstream RACI: legacy decommissioning).</a:t>
            </a:r>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[25:34–27:06]  Phase 6, steady state, has no exit gate. The modernized estate runs under continuous governance: reassessment weekly, drift detection daily, a monthly compliance report, quarterly access reviews and an annual architecture review. The finish line is zero drift findings, zero actions from the nightly plan run, and signed evidence flowing to the SIEM.
Every finding gets a severity, and every severity a clock. The master plan's defaults run from a Critical finding fixed within four hours to a Low one within thirty days. The agency sets its own values; what the program insists on is that there are some, written into its continuous monitoring strategy and measured.
Success is measured twice. Delivery measures turn green gate by gate: the assessment accepted at G0, the target model agreed at G1, the first wave run with full provenance and evidence at G2, drift detection operating by G2 and G3, and every residual risk owned by G5. Outcome measures are what operations keeps green after the project ends.
A program can meet every delivery measure and still fail if the outcome measures drift after the project team leaves. That's why the handover is part of the scorecard. The steward records it before the team leaves: who owns the repository and its protections, each drift class, each severity and each review.
Workbook: Book 00, Chapter 10 — Retirement, Steady State and Measuring Success (Phase 6 — Steady state; Drift remediation SLAs; Handing over to operations; Measuring success: the program scorecard); Chapter 05 (How success is measured); Appendix A (R-025).</a:t>
            </a:r>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[27:06–28:42]  The risk register starts with five program risks. Hidden dependencies are missed in discovery: the answer is a structured assessment and a pilot designed to surface unknowns early. Competing sources of truth persist: one authoritative origin is designated per object class. The organization resists making authority explicit: the answer is early alignment, and decision rights with one decider per row. Tooling leads the design: the target model comes first, because tools bought first automate the old ambiguity faster. And physics or data residency limits centralization, so truth is centralized logically, not necessarily in one physical store.
Beneath them sit twenty-five delivery risks. A few deserve executive attention. Critical certificate-services misconfigurations can force emergency PKI work. Legacy applications depend on NTLM, which Conditional Access can't evaluate, so each dependency becomes a finding with an owner and a dated exception. Strong certificate mapping is no longer a future risk: domain controllers already enforce it. And at the end, access records can be lost at decommission, and governance can decay once the team leaves.
The register doesn't satisfy a control. It tells the agency when its system security plan and its risk assessment have to be updated, which is at every gate. The project manager keeps the register, the authorizing official accepts residual risk, and security risk left open past a gate becomes a plan of action and milestones item.
Workbook: Book 00, Appendix A — Risk Register and Control Traceability (What PL-2 and RA-3 ask for; Program-level risks; Delivery risks R-002, R-003 and R-011; Risks the corrections add); Chapter 03 (Key risks); Chapter 05 (Risks that shape the plan); Chapter 07 (The workstream RACI: risk register maintenance).</a:t>
            </a:r>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[28:42–30:25]  So, the decisions, with their owners.
The executive sponsor charters the program as governance reconstruction, signs the charter, and puts names in it as Phase 0's entry work. The sponsor and CIO fund one sequenced program, with the AD DS retirement phase and the people beyond the five-and-a-half-person core in the budget, approved before design begins. And they build the steward and steering committee from the zero trust lead and the ICAM governance body the agency already has.
The CISO's office confirms the M-26-14 dates, starting with the Agency Logging Plan, due November 18 by the program's count. The authorizing official decides whether anything runs past end of support, beginning with Windows Server 2016 on January 12.
The steward sets the evidence and provenance expectations before the first change, and clears G0 only when every Critical finding is closed or accepted by the authorizing official. The steward and sponsor record the pilot's thresholds before it opens, and sign G2 on the data. The sponsor and CIO decide when each Active Directory component retires, after the records officer is consulted. And the steward records the handover to operations before the project team leaves.
None of these is a purchase. The case for modernizing now is that the estate's governance was never written down, the dates that bind it now belong to others, and the only way to meet them without losing that governance is to recover it deliberately, once, in one program. Thank you.
Workbook: Book 00, Chapter 01 (What leadership should take from this); Chapter 03 (Next steps); Chapter 05 (The first five actions); Chapter 07 (Who decides what); Chapter 08 (Gate G0); Chapter 09 (Gate G2); Chapter 10 (Phase 5; Handing over to operations); Appendix A.</a:t>
            </a:r>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731520" y="1463040"/>
            <a:ext cx="6217920" cy="1920240"/>
          </a:xfrm>
          <a:prstGeom prst="rect">
            <a:avLst/>
          </a:prstGeom>
          <a:noFill/>
          <a:ln/>
        </p:spPr>
        <p:txBody>
          <a:bodyPr wrap="square" rtlCol="0"/>
          <a:lstStyle>
            <a:lvl1pPr marL="0" indent="0" algn="l">
              <a:buNone/>
              <a:defRPr lang="en-US" sz="4400" b="1" dirty="0">
                <a:solidFill>
                  <a:schemeClr val="tx1"/>
                </a:solidFill>
                <a:latin typeface="Cambria" pitchFamily="34" charset="0"/>
                <a:ea typeface="Cambria" pitchFamily="34" charset="-122"/>
                <a:cs typeface="Cambria" pitchFamily="34" charset="-120"/>
              </a:defRPr>
            </a:lvl1pPr>
          </a:lstStyle>
          <a:p>
            <a:pPr marL="0" indent="0" algn="l">
              <a:buNone/>
            </a:pPr>
            <a:endParaRPr lang="en-US" sz="4400" dirty="0"/>
          </a:p>
        </p:txBody>
      </p:sp>
      <p:sp>
        <p:nvSpPr>
          <p:cNvPr id="3" name="Text 0"/>
          <p:cNvSpPr>
            <a:spLocks noGrp="1"/>
          </p:cNvSpPr>
          <p:nvPr>
            <p:ph type="body" idx="101" hasCustomPrompt="1"/>
          </p:nvPr>
        </p:nvSpPr>
        <p:spPr>
          <a:xfrm>
            <a:off x="731520" y="3520440"/>
            <a:ext cx="6035040" cy="822960"/>
          </a:xfrm>
          <a:prstGeom prst="rect">
            <a:avLst/>
          </a:prstGeom>
          <a:noFill/>
          <a:ln/>
        </p:spPr>
        <p:txBody>
          <a:bodyPr wrap="square" rtlCol="0"/>
          <a:lstStyle>
            <a:lvl1pPr marL="0" indent="0">
              <a:buNone/>
              <a:defRPr lang="en-US" sz="2200" dirty="0">
                <a:solidFill>
                  <a:schemeClr val="accent2"/>
                </a:solidFill>
              </a:defRPr>
            </a:lvl1pPr>
          </a:lstStyle>
          <a:p>
            <a:pPr marL="0" indent="0">
              <a:buNone/>
            </a:pPr>
            <a:endParaRPr lang="en-US" sz="22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57200"/>
            <a:ext cx="11064240" cy="777240"/>
          </a:xfrm>
          <a:prstGeom prst="rect">
            <a:avLst/>
          </a:prstGeom>
          <a:noFill/>
          <a:ln/>
        </p:spPr>
        <p:txBody>
          <a:bodyPr wrap="square" rtlCol="0"/>
          <a:lstStyle>
            <a:lvl1pPr marL="0" indent="0" algn="ctr">
              <a:buNone/>
              <a:defRPr lang="en-US" sz="3000" b="1" dirty="0">
                <a:solidFill>
                  <a:schemeClr val="tx1"/>
                </a:solidFill>
                <a:latin typeface="Cambria" pitchFamily="34" charset="0"/>
                <a:ea typeface="Cambria" pitchFamily="34" charset="-122"/>
                <a:cs typeface="Cambria" pitchFamily="34" charset="-120"/>
              </a:defRPr>
            </a:lvl1pPr>
          </a:lstStyle>
          <a:p>
            <a:pPr marL="0" indent="0" algn="ctr">
              <a:buNone/>
            </a:pPr>
            <a:endParaRPr lang="en-US" sz="3000" dirty="0"/>
          </a:p>
        </p:txBody>
      </p:sp>
      <p:sp>
        <p:nvSpPr>
          <p:cNvPr id="3" name="Text 0"/>
          <p:cNvSpPr/>
          <p:nvPr/>
        </p:nvSpPr>
        <p:spPr>
          <a:xfrm>
            <a:off x="548640" y="6400800"/>
            <a:ext cx="8229600" cy="274320"/>
          </a:xfrm>
          <a:prstGeom prst="rect">
            <a:avLst/>
          </a:prstGeom>
          <a:noFill/>
          <a:ln/>
        </p:spPr>
        <p:txBody>
          <a:bodyPr wrap="square" lIns="0" tIns="0" rIns="0" bIns="0" rtlCol="0" anchor="ctr"/>
          <a:lstStyle/>
          <a:p>
            <a:pPr marL="0" indent="0">
              <a:buNone/>
            </a:pPr>
            <a:r>
              <a:rPr lang="en-US" sz="1000" dirty="0">
                <a:solidFill>
                  <a:schemeClr val="accent5"/>
                </a:solidFill>
              </a:rPr>
              <a:t>Federal Modernization Workbook  ·  Book 00 Orientation &amp; Program  ·  Executive briefing</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audio" Target="../media/media1.mp3"/><Relationship Id="rId1" Type="http://schemas.microsoft.com/office/2007/relationships/media" Target="../media/media1.mp3"/><Relationship Id="rId5" Type="http://schemas.openxmlformats.org/officeDocument/2006/relationships/image" Target="../media/image3.png"/><Relationship Id="rId4" Type="http://schemas.openxmlformats.org/officeDocument/2006/relationships/notesSlide" Target="../notesSlides/notesSlide1.xml"/><Relationship Id="rId6" Type="http://schemas.microsoft.com/office/2017/04/relationships/track" Target="../media/captions_slide01.vtt"/></Relationships>
</file>

<file path=ppt/slides/_rels/slide2.xml.rels><?xml version='1.0' encoding='UTF-8' standalone='yes'?>
<Relationships xmlns="http://schemas.openxmlformats.org/package/2006/relationships"><Relationship Id="rId3" Type="http://schemas.openxmlformats.org/officeDocument/2006/relationships/slideLayout" Target="../slideLayouts/slideLayout3.xml"/><Relationship Id="rId7" Type="http://schemas.openxmlformats.org/officeDocument/2006/relationships/image" Target="../media/image3.png"/><Relationship Id="rId2" Type="http://schemas.openxmlformats.org/officeDocument/2006/relationships/audio" Target="../media/media2.mp3"/><Relationship Id="rId1" Type="http://schemas.microsoft.com/office/2007/relationships/media" Target="../media/media2.mp3"/><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notesSlide" Target="../notesSlides/notesSlide2.xml"/><Relationship Id="rId8" Type="http://schemas.microsoft.com/office/2017/04/relationships/track" Target="../media/captions_slide02.vtt"/></Relationships>
</file>

<file path=ppt/slides/_rels/slide3.xml.rels><?xml version='1.0' encoding='UTF-8' standalone='yes'?>
<Relationships xmlns="http://schemas.openxmlformats.org/package/2006/relationships"><Relationship Id="rId3" Type="http://schemas.openxmlformats.org/officeDocument/2006/relationships/slideLayout" Target="../slideLayouts/slideLayout3.xml"/><Relationship Id="rId7" Type="http://schemas.openxmlformats.org/officeDocument/2006/relationships/image" Target="../media/image3.png"/><Relationship Id="rId2" Type="http://schemas.openxmlformats.org/officeDocument/2006/relationships/audio" Target="../media/media3.mp3"/><Relationship Id="rId1" Type="http://schemas.microsoft.com/office/2007/relationships/media" Target="../media/media3.mp3"/><Relationship Id="rId6" Type="http://schemas.openxmlformats.org/officeDocument/2006/relationships/image" Target="../media/image5.png"/><Relationship Id="rId5" Type="http://schemas.openxmlformats.org/officeDocument/2006/relationships/image" Target="../media/image6.png"/><Relationship Id="rId4" Type="http://schemas.openxmlformats.org/officeDocument/2006/relationships/notesSlide" Target="../notesSlides/notesSlide3.xml"/><Relationship Id="rId8" Type="http://schemas.microsoft.com/office/2017/04/relationships/track" Target="../media/captions_slide03.vtt"/></Relationships>
</file>

<file path=ppt/slides/_rels/slide4.xml.rels><?xml version='1.0' encoding='UTF-8' standalone='yes'?>
<Relationships xmlns="http://schemas.openxmlformats.org/package/2006/relationships"><Relationship Id="rId3" Type="http://schemas.openxmlformats.org/officeDocument/2006/relationships/slideLayout" Target="../slideLayouts/slideLayout3.xml"/><Relationship Id="rId7" Type="http://schemas.openxmlformats.org/officeDocument/2006/relationships/image" Target="../media/image3.png"/><Relationship Id="rId2" Type="http://schemas.openxmlformats.org/officeDocument/2006/relationships/audio" Target="../media/media4.mp3"/><Relationship Id="rId1" Type="http://schemas.microsoft.com/office/2007/relationships/media" Target="../media/media4.mp3"/><Relationship Id="rId6" Type="http://schemas.openxmlformats.org/officeDocument/2006/relationships/image" Target="../media/image5.png"/><Relationship Id="rId5" Type="http://schemas.openxmlformats.org/officeDocument/2006/relationships/image" Target="../media/image7.png"/><Relationship Id="rId4" Type="http://schemas.openxmlformats.org/officeDocument/2006/relationships/notesSlide" Target="../notesSlides/notesSlide4.xml"/><Relationship Id="rId8" Type="http://schemas.microsoft.com/office/2017/04/relationships/track" Target="../media/captions_slide04.vtt"/></Relationships>
</file>

<file path=ppt/slides/_rels/slide5.xml.rels><?xml version='1.0' encoding='UTF-8' standalone='yes'?>
<Relationships xmlns="http://schemas.openxmlformats.org/package/2006/relationships"><Relationship Id="rId3" Type="http://schemas.openxmlformats.org/officeDocument/2006/relationships/slideLayout" Target="../slideLayouts/slideLayout3.xml"/><Relationship Id="rId7" Type="http://schemas.openxmlformats.org/officeDocument/2006/relationships/image" Target="../media/image3.png"/><Relationship Id="rId2" Type="http://schemas.openxmlformats.org/officeDocument/2006/relationships/audio" Target="../media/media5.mp3"/><Relationship Id="rId1" Type="http://schemas.microsoft.com/office/2007/relationships/media" Target="../media/media5.mp3"/><Relationship Id="rId6" Type="http://schemas.openxmlformats.org/officeDocument/2006/relationships/image" Target="../media/image5.png"/><Relationship Id="rId5" Type="http://schemas.openxmlformats.org/officeDocument/2006/relationships/image" Target="../media/image8.png"/><Relationship Id="rId4" Type="http://schemas.openxmlformats.org/officeDocument/2006/relationships/notesSlide" Target="../notesSlides/notesSlide5.xml"/><Relationship Id="rId8" Type="http://schemas.microsoft.com/office/2017/04/relationships/track" Target="../media/captions_slide05.vtt"/></Relationships>
</file>

<file path=ppt/slides/_rels/slide6.xml.rels><?xml version='1.0' encoding='UTF-8' standalone='yes'?>
<Relationships xmlns="http://schemas.openxmlformats.org/package/2006/relationships"><Relationship Id="rId3" Type="http://schemas.openxmlformats.org/officeDocument/2006/relationships/slideLayout" Target="../slideLayouts/slideLayout3.xml"/><Relationship Id="rId7" Type="http://schemas.openxmlformats.org/officeDocument/2006/relationships/image" Target="../media/image3.png"/><Relationship Id="rId2" Type="http://schemas.openxmlformats.org/officeDocument/2006/relationships/audio" Target="../media/media6.mp3"/><Relationship Id="rId1" Type="http://schemas.microsoft.com/office/2007/relationships/media" Target="../media/media6.mp3"/><Relationship Id="rId6" Type="http://schemas.openxmlformats.org/officeDocument/2006/relationships/image" Target="../media/image5.png"/><Relationship Id="rId5" Type="http://schemas.openxmlformats.org/officeDocument/2006/relationships/image" Target="../media/image9.png"/><Relationship Id="rId4" Type="http://schemas.openxmlformats.org/officeDocument/2006/relationships/notesSlide" Target="../notesSlides/notesSlide6.xml"/><Relationship Id="rId8" Type="http://schemas.microsoft.com/office/2017/04/relationships/track" Target="../media/captions_slide06.vtt"/></Relationships>
</file>

<file path=ppt/slides/_rels/slide7.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audio" Target="../media/media7.mp3"/><Relationship Id="rId1" Type="http://schemas.microsoft.com/office/2007/relationships/media" Target="../media/media7.mp3"/><Relationship Id="rId6" Type="http://schemas.openxmlformats.org/officeDocument/2006/relationships/image" Target="../media/image3.png"/><Relationship Id="rId5" Type="http://schemas.openxmlformats.org/officeDocument/2006/relationships/image" Target="../media/image5.png"/><Relationship Id="rId4" Type="http://schemas.openxmlformats.org/officeDocument/2006/relationships/notesSlide" Target="../notesSlides/notesSlide7.xml"/><Relationship Id="rId7" Type="http://schemas.microsoft.com/office/2017/04/relationships/track" Target="../media/captions_slide07.vtt"/></Relationships>
</file>

<file path=ppt/slides/_rels/slide8.xml.rels><?xml version='1.0' encoding='UTF-8' standalone='yes'?>
<Relationships xmlns="http://schemas.openxmlformats.org/package/2006/relationships"><Relationship Id="rId8" Type="http://schemas.openxmlformats.org/officeDocument/2006/relationships/image" Target="../media/image5.png"/><Relationship Id="rId3" Type="http://schemas.openxmlformats.org/officeDocument/2006/relationships/slideLayout" Target="../slideLayouts/slideLayout3.xml"/><Relationship Id="rId7" Type="http://schemas.openxmlformats.org/officeDocument/2006/relationships/image" Target="../media/image11.png"/><Relationship Id="rId2" Type="http://schemas.openxmlformats.org/officeDocument/2006/relationships/audio" Target="../media/media8.mp3"/><Relationship Id="rId1" Type="http://schemas.microsoft.com/office/2007/relationships/media" Target="../media/media8.mp3"/><Relationship Id="rId6" Type="http://schemas.openxmlformats.org/officeDocument/2006/relationships/image" Target="../media/image8.png"/><Relationship Id="rId5" Type="http://schemas.openxmlformats.org/officeDocument/2006/relationships/image" Target="../media/image10.png"/><Relationship Id="rId4" Type="http://schemas.openxmlformats.org/officeDocument/2006/relationships/notesSlide" Target="../notesSlides/notesSlide8.xml"/><Relationship Id="rId9" Type="http://schemas.openxmlformats.org/officeDocument/2006/relationships/image" Target="../media/image3.png"/><Relationship Id="rId10" Type="http://schemas.microsoft.com/office/2017/04/relationships/track" Target="../media/captions_slide08.vtt"/></Relationships>
</file>

<file path=ppt/slides/_rels/slide9.xml.rels><?xml version='1.0' encoding='UTF-8' standalone='yes'?>
<Relationships xmlns="http://schemas.openxmlformats.org/package/2006/relationships"><Relationship Id="rId8" Type="http://schemas.openxmlformats.org/officeDocument/2006/relationships/image" Target="../media/image3.png"/><Relationship Id="rId3" Type="http://schemas.openxmlformats.org/officeDocument/2006/relationships/slideLayout" Target="../slideLayouts/slideLayout3.xml"/><Relationship Id="rId7" Type="http://schemas.openxmlformats.org/officeDocument/2006/relationships/image" Target="../media/image5.png"/><Relationship Id="rId2" Type="http://schemas.openxmlformats.org/officeDocument/2006/relationships/audio" Target="../media/media9.mp3"/><Relationship Id="rId1" Type="http://schemas.microsoft.com/office/2007/relationships/media" Target="../media/media9.mp3"/><Relationship Id="rId6" Type="http://schemas.openxmlformats.org/officeDocument/2006/relationships/image" Target="../media/image12.png"/><Relationship Id="rId5" Type="http://schemas.openxmlformats.org/officeDocument/2006/relationships/image" Target="../media/image10.png"/><Relationship Id="rId4" Type="http://schemas.openxmlformats.org/officeDocument/2006/relationships/notesSlide" Target="../notesSlides/notesSlide9.xml"/><Relationship Id="rId9" Type="http://schemas.microsoft.com/office/2017/04/relationships/track" Target="../media/captions_slide09.vtt"/></Relationships>
</file>

<file path=ppt/slides/_rels/slide10.xml.rels><?xml version='1.0' encoding='UTF-8' standalone='yes'?>
<Relationships xmlns="http://schemas.openxmlformats.org/package/2006/relationships"><Relationship Id="rId3" Type="http://schemas.openxmlformats.org/officeDocument/2006/relationships/slideLayout" Target="../slideLayouts/slideLayout3.xml"/><Relationship Id="rId7" Type="http://schemas.openxmlformats.org/officeDocument/2006/relationships/image" Target="../media/image3.png"/><Relationship Id="rId2" Type="http://schemas.openxmlformats.org/officeDocument/2006/relationships/audio" Target="../media/media10.mp3"/><Relationship Id="rId1" Type="http://schemas.microsoft.com/office/2007/relationships/media" Target="../media/media10.mp3"/><Relationship Id="rId6" Type="http://schemas.openxmlformats.org/officeDocument/2006/relationships/image" Target="../media/image5.png"/><Relationship Id="rId5" Type="http://schemas.openxmlformats.org/officeDocument/2006/relationships/image" Target="../media/image13.png"/><Relationship Id="rId4" Type="http://schemas.openxmlformats.org/officeDocument/2006/relationships/notesSlide" Target="../notesSlides/notesSlide10.xml"/><Relationship Id="rId8" Type="http://schemas.microsoft.com/office/2017/04/relationships/track" Target="../media/captions_slide10.vtt"/></Relationships>
</file>

<file path=ppt/slides/_rels/slide11.xml.rels><?xml version='1.0' encoding='UTF-8' standalone='yes'?>
<Relationships xmlns="http://schemas.openxmlformats.org/package/2006/relationships"><Relationship Id="rId3" Type="http://schemas.openxmlformats.org/officeDocument/2006/relationships/slideLayout" Target="../slideLayouts/slideLayout3.xml"/><Relationship Id="rId7" Type="http://schemas.openxmlformats.org/officeDocument/2006/relationships/image" Target="../media/image3.png"/><Relationship Id="rId2" Type="http://schemas.openxmlformats.org/officeDocument/2006/relationships/audio" Target="../media/media11.mp3"/><Relationship Id="rId1" Type="http://schemas.microsoft.com/office/2007/relationships/media" Target="../media/media11.mp3"/><Relationship Id="rId6" Type="http://schemas.openxmlformats.org/officeDocument/2006/relationships/image" Target="../media/image5.png"/><Relationship Id="rId5" Type="http://schemas.openxmlformats.org/officeDocument/2006/relationships/image" Target="../media/image14.png"/><Relationship Id="rId4" Type="http://schemas.openxmlformats.org/officeDocument/2006/relationships/notesSlide" Target="../notesSlides/notesSlide11.xml"/><Relationship Id="rId8" Type="http://schemas.microsoft.com/office/2017/04/relationships/track" Target="../media/captions_slide11.vtt"/></Relationships>
</file>

<file path=ppt/slides/_rels/slide12.xml.rels><?xml version='1.0' encoding='UTF-8' standalone='yes'?>
<Relationships xmlns="http://schemas.openxmlformats.org/package/2006/relationships"><Relationship Id="rId3" Type="http://schemas.openxmlformats.org/officeDocument/2006/relationships/slideLayout" Target="../slideLayouts/slideLayout3.xml"/><Relationship Id="rId7" Type="http://schemas.openxmlformats.org/officeDocument/2006/relationships/image" Target="../media/image3.png"/><Relationship Id="rId2" Type="http://schemas.openxmlformats.org/officeDocument/2006/relationships/audio" Target="../media/media12.mp3"/><Relationship Id="rId1" Type="http://schemas.microsoft.com/office/2007/relationships/media" Target="../media/media12.mp3"/><Relationship Id="rId6" Type="http://schemas.openxmlformats.org/officeDocument/2006/relationships/image" Target="../media/image5.png"/><Relationship Id="rId5" Type="http://schemas.openxmlformats.org/officeDocument/2006/relationships/image" Target="../media/image15.png"/><Relationship Id="rId4" Type="http://schemas.openxmlformats.org/officeDocument/2006/relationships/notesSlide" Target="../notesSlides/notesSlide12.xml"/><Relationship Id="rId8" Type="http://schemas.microsoft.com/office/2017/04/relationships/track" Target="../media/captions_slide12.vtt"/></Relationships>
</file>

<file path=ppt/slides/_rels/slide13.xml.rels><?xml version='1.0' encoding='UTF-8' standalone='yes'?>
<Relationships xmlns="http://schemas.openxmlformats.org/package/2006/relationships"><Relationship Id="rId8" Type="http://schemas.openxmlformats.org/officeDocument/2006/relationships/image" Target="../media/image3.png"/><Relationship Id="rId3" Type="http://schemas.openxmlformats.org/officeDocument/2006/relationships/slideLayout" Target="../slideLayouts/slideLayout3.xml"/><Relationship Id="rId7" Type="http://schemas.openxmlformats.org/officeDocument/2006/relationships/image" Target="../media/image17.png"/><Relationship Id="rId2" Type="http://schemas.openxmlformats.org/officeDocument/2006/relationships/audio" Target="../media/media13.mp3"/><Relationship Id="rId1" Type="http://schemas.microsoft.com/office/2007/relationships/media" Target="../media/media13.mp3"/><Relationship Id="rId6" Type="http://schemas.openxmlformats.org/officeDocument/2006/relationships/image" Target="../media/image16.png"/><Relationship Id="rId5" Type="http://schemas.openxmlformats.org/officeDocument/2006/relationships/image" Target="../media/image5.png"/><Relationship Id="rId4" Type="http://schemas.openxmlformats.org/officeDocument/2006/relationships/notesSlide" Target="../notesSlides/notesSlide13.xml"/><Relationship Id="rId9" Type="http://schemas.microsoft.com/office/2017/04/relationships/track" Target="../media/captions_slide13.vtt"/></Relationships>
</file>

<file path=ppt/slides/_rels/slide14.xml.rels><?xml version='1.0' encoding='UTF-8' standalone='yes'?>
<Relationships xmlns="http://schemas.openxmlformats.org/package/2006/relationships"><Relationship Id="rId3" Type="http://schemas.openxmlformats.org/officeDocument/2006/relationships/slideLayout" Target="../slideLayouts/slideLayout3.xml"/><Relationship Id="rId7" Type="http://schemas.openxmlformats.org/officeDocument/2006/relationships/image" Target="../media/image3.png"/><Relationship Id="rId2" Type="http://schemas.openxmlformats.org/officeDocument/2006/relationships/audio" Target="../media/media14.mp3"/><Relationship Id="rId1" Type="http://schemas.microsoft.com/office/2007/relationships/media" Target="../media/media14.mp3"/><Relationship Id="rId6" Type="http://schemas.openxmlformats.org/officeDocument/2006/relationships/image" Target="../media/image5.png"/><Relationship Id="rId5" Type="http://schemas.openxmlformats.org/officeDocument/2006/relationships/image" Target="../media/image11.png"/><Relationship Id="rId4" Type="http://schemas.openxmlformats.org/officeDocument/2006/relationships/notesSlide" Target="../notesSlides/notesSlide14.xml"/><Relationship Id="rId8" Type="http://schemas.microsoft.com/office/2017/04/relationships/track" Target="../media/captions_slide14.vtt"/></Relationships>
</file>

<file path=ppt/slides/_rels/slide15.xml.rels><?xml version='1.0' encoding='UTF-8' standalone='yes'?>
<Relationships xmlns="http://schemas.openxmlformats.org/package/2006/relationships"><Relationship Id="rId3" Type="http://schemas.openxmlformats.org/officeDocument/2006/relationships/slideLayout" Target="../slideLayouts/slideLayout3.xml"/><Relationship Id="rId7" Type="http://schemas.openxmlformats.org/officeDocument/2006/relationships/image" Target="../media/image3.png"/><Relationship Id="rId2" Type="http://schemas.openxmlformats.org/officeDocument/2006/relationships/audio" Target="../media/media15.mp3"/><Relationship Id="rId1" Type="http://schemas.microsoft.com/office/2007/relationships/media" Target="../media/media15.mp3"/><Relationship Id="rId6" Type="http://schemas.openxmlformats.org/officeDocument/2006/relationships/image" Target="../media/image5.png"/><Relationship Id="rId5" Type="http://schemas.openxmlformats.org/officeDocument/2006/relationships/image" Target="../media/image12.png"/><Relationship Id="rId4" Type="http://schemas.openxmlformats.org/officeDocument/2006/relationships/notesSlide" Target="../notesSlides/notesSlide15.xml"/><Relationship Id="rId8" Type="http://schemas.microsoft.com/office/2017/04/relationships/track" Target="../media/captions_slide15.vtt"/></Relationships>
</file>

<file path=ppt/slides/_rels/slide16.xml.rels><?xml version='1.0' encoding='UTF-8' standalone='yes'?>
<Relationships xmlns="http://schemas.openxmlformats.org/package/2006/relationships"><Relationship Id="rId8" Type="http://schemas.openxmlformats.org/officeDocument/2006/relationships/image" Target="../media/image3.png"/><Relationship Id="rId3" Type="http://schemas.openxmlformats.org/officeDocument/2006/relationships/slideLayout" Target="../slideLayouts/slideLayout3.xml"/><Relationship Id="rId7" Type="http://schemas.openxmlformats.org/officeDocument/2006/relationships/image" Target="../media/image5.png"/><Relationship Id="rId2" Type="http://schemas.openxmlformats.org/officeDocument/2006/relationships/audio" Target="../media/media16.mp3"/><Relationship Id="rId1" Type="http://schemas.microsoft.com/office/2007/relationships/media" Target="../media/media16.mp3"/><Relationship Id="rId6" Type="http://schemas.openxmlformats.org/officeDocument/2006/relationships/image" Target="../media/image18.png"/><Relationship Id="rId5" Type="http://schemas.openxmlformats.org/officeDocument/2006/relationships/image" Target="../media/image14.png"/><Relationship Id="rId4" Type="http://schemas.openxmlformats.org/officeDocument/2006/relationships/notesSlide" Target="../notesSlides/notesSlide16.xml"/><Relationship Id="rId9" Type="http://schemas.microsoft.com/office/2017/04/relationships/track" Target="../media/captions_slide16.vtt"/></Relationships>
</file>

<file path=ppt/slides/_rels/slide17.xml.rels><?xml version='1.0' encoding='UTF-8' standalone='yes'?>
<Relationships xmlns="http://schemas.openxmlformats.org/package/2006/relationships"><Relationship Id="rId8" Type="http://schemas.openxmlformats.org/officeDocument/2006/relationships/image" Target="../media/image5.png"/><Relationship Id="rId3" Type="http://schemas.openxmlformats.org/officeDocument/2006/relationships/slideLayout" Target="../slideLayouts/slideLayout3.xml"/><Relationship Id="rId7" Type="http://schemas.openxmlformats.org/officeDocument/2006/relationships/image" Target="../media/image21.png"/><Relationship Id="rId2" Type="http://schemas.openxmlformats.org/officeDocument/2006/relationships/audio" Target="../media/media17.mp3"/><Relationship Id="rId1" Type="http://schemas.microsoft.com/office/2007/relationships/media" Target="../media/media17.mp3"/><Relationship Id="rId6" Type="http://schemas.openxmlformats.org/officeDocument/2006/relationships/image" Target="../media/image20.png"/><Relationship Id="rId5" Type="http://schemas.openxmlformats.org/officeDocument/2006/relationships/image" Target="../media/image19.png"/><Relationship Id="rId4" Type="http://schemas.openxmlformats.org/officeDocument/2006/relationships/notesSlide" Target="../notesSlides/notesSlide17.xml"/><Relationship Id="rId9" Type="http://schemas.openxmlformats.org/officeDocument/2006/relationships/image" Target="../media/image3.png"/><Relationship Id="rId10" Type="http://schemas.microsoft.com/office/2017/04/relationships/track" Target="../media/captions_slide17.vtt"/></Relationships>
</file>

<file path=ppt/slides/_rels/slide18.xml.rels><?xml version='1.0' encoding='UTF-8' standalone='yes'?>
<Relationships xmlns="http://schemas.openxmlformats.org/package/2006/relationships"><Relationship Id="rId3" Type="http://schemas.openxmlformats.org/officeDocument/2006/relationships/slideLayout" Target="../slideLayouts/slideLayout3.xml"/><Relationship Id="rId7" Type="http://schemas.openxmlformats.org/officeDocument/2006/relationships/image" Target="../media/image3.png"/><Relationship Id="rId2" Type="http://schemas.openxmlformats.org/officeDocument/2006/relationships/audio" Target="../media/media18.mp3"/><Relationship Id="rId1" Type="http://schemas.microsoft.com/office/2007/relationships/media" Target="../media/media18.mp3"/><Relationship Id="rId6" Type="http://schemas.openxmlformats.org/officeDocument/2006/relationships/image" Target="../media/image5.png"/><Relationship Id="rId5" Type="http://schemas.openxmlformats.org/officeDocument/2006/relationships/image" Target="../media/image6.png"/><Relationship Id="rId4" Type="http://schemas.openxmlformats.org/officeDocument/2006/relationships/notesSlide" Target="../notesSlides/notesSlide18.xml"/><Relationship Id="rId8" Type="http://schemas.microsoft.com/office/2017/04/relationships/track" Target="../media/captions_slide18.vtt"/></Relationships>
</file>

<file path=ppt/slides/_rels/slide19.xml.rels><?xml version='1.0' encoding='UTF-8' standalone='yes'?>
<Relationships xmlns="http://schemas.openxmlformats.org/package/2006/relationships"><Relationship Id="rId3" Type="http://schemas.openxmlformats.org/officeDocument/2006/relationships/slideLayout" Target="../slideLayouts/slideLayout3.xml"/><Relationship Id="rId7" Type="http://schemas.openxmlformats.org/officeDocument/2006/relationships/image" Target="../media/image3.png"/><Relationship Id="rId2" Type="http://schemas.openxmlformats.org/officeDocument/2006/relationships/audio" Target="../media/media19.mp3"/><Relationship Id="rId1" Type="http://schemas.microsoft.com/office/2007/relationships/media" Target="../media/media19.mp3"/><Relationship Id="rId6" Type="http://schemas.openxmlformats.org/officeDocument/2006/relationships/image" Target="../media/image5.png"/><Relationship Id="rId5" Type="http://schemas.openxmlformats.org/officeDocument/2006/relationships/image" Target="../media/image7.png"/><Relationship Id="rId4" Type="http://schemas.openxmlformats.org/officeDocument/2006/relationships/notesSlide" Target="../notesSlides/notesSlide19.xml"/><Relationship Id="rId8" Type="http://schemas.microsoft.com/office/2017/04/relationships/track" Target="../media/captions_slide19.vtt"/></Relationships>
</file>

<file path=ppt/slides/_rels/slide20.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audio" Target="../media/media20.mp3"/><Relationship Id="rId1" Type="http://schemas.microsoft.com/office/2007/relationships/media" Target="../media/media20.mp3"/><Relationship Id="rId5" Type="http://schemas.openxmlformats.org/officeDocument/2006/relationships/image" Target="../media/image3.png"/><Relationship Id="rId4" Type="http://schemas.openxmlformats.org/officeDocument/2006/relationships/notesSlide" Target="../notesSlides/notesSlide20.xml"/><Relationship Id="rId6" Type="http://schemas.microsoft.com/office/2017/04/relationships/track" Target="../media/captions_slide20.vtt"/></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731520" y="1463040"/>
            <a:ext cx="6217920" cy="1920240"/>
          </a:xfrm>
          <a:prstGeom prst="rect">
            <a:avLst/>
          </a:prstGeom>
          <a:noFill/>
          <a:ln/>
        </p:spPr>
        <p:txBody>
          <a:bodyPr wrap="square" lIns="0" tIns="0" rIns="0" bIns="0" rtlCol="0" anchor="b"/>
          <a:lstStyle/>
          <a:p>
            <a:pPr marL="0" indent="0" algn="l">
              <a:buNone/>
            </a:pPr>
            <a:r>
              <a:rPr lang="en-US" sz="4400" b="1" dirty="0">
                <a:solidFill>
                  <a:schemeClr val="tx1"/>
                </a:solidFill>
                <a:latin typeface="Cambria" pitchFamily="34" charset="0"/>
                <a:ea typeface="Cambria" pitchFamily="34" charset="-122"/>
                <a:cs typeface="Cambria" pitchFamily="34" charset="-120"/>
              </a:rPr>
              <a:t>What Must Leadership Decide, and When?</a:t>
            </a:r>
            <a:endParaRPr lang="en-US" sz="4400" dirty="0"/>
          </a:p>
        </p:txBody>
      </p:sp>
      <p:sp>
        <p:nvSpPr>
          <p:cNvPr id="3" name="Text 0"/>
          <p:cNvSpPr>
            <a:spLocks noGrp="1"/>
          </p:cNvSpPr>
          <p:nvPr>
            <p:ph type="body" idx="101" hasCustomPrompt="1"/>
          </p:nvPr>
        </p:nvSpPr>
        <p:spPr>
          <a:xfrm>
            <a:off x="731520" y="3520440"/>
            <a:ext cx="6035040" cy="822960"/>
          </a:xfrm>
          <a:prstGeom prst="rect">
            <a:avLst/>
          </a:prstGeom>
          <a:noFill/>
          <a:ln/>
        </p:spPr>
        <p:txBody>
          <a:bodyPr wrap="square" lIns="0" tIns="0" rIns="0" bIns="0" rtlCol="0" anchor="t"/>
          <a:lstStyle/>
          <a:p>
            <a:pPr marL="0" indent="0">
              <a:buNone/>
            </a:pPr>
            <a:r>
              <a:rPr lang="en-US" sz="2200" dirty="0">
                <a:solidFill>
                  <a:schemeClr val="accent2"/>
                </a:solidFill>
              </a:rPr>
              <a:t>Book 00 — Orientation &amp; Program  ·  Executive briefing</a:t>
            </a:r>
            <a:endParaRPr lang="en-US" sz="2200" dirty="0"/>
          </a:p>
        </p:txBody>
      </p:sp>
      <p:sp>
        <p:nvSpPr>
          <p:cNvPr id="4" name="Presenter"/>
          <p:cNvSpPr txBox="1"/>
          <p:nvPr/>
        </p:nvSpPr>
        <p:spPr>
          <a:xfrm>
            <a:off x="731520" y="5897880"/>
            <a:ext cx="6858000" cy="365760"/>
          </a:xfrm>
          <a:prstGeom prst="rect">
            <a:avLst/>
          </a:prstGeom>
          <a:noFill/>
          <a:ln/>
        </p:spPr>
        <p:txBody>
          <a:bodyPr wrap="square" lIns="0" tIns="0" rIns="0" bIns="0" rtlCol="0" anchor="ctr"/>
          <a:lstStyle/>
          <a:p>
            <a:pPr marL="0" indent="0">
              <a:buNone/>
            </a:pPr>
            <a:r>
              <a:rPr lang="en-US" sz="1600" dirty="0">
                <a:solidFill>
                  <a:srgbClr val="64748B"/>
                </a:solidFill>
              </a:rPr>
              <a:t>Presented by  </a:t>
            </a:r>
            <a:r>
              <a:rPr lang="en-US" sz="1600" b="1" dirty="0">
                <a:solidFill>
                  <a:srgbClr val="1F2A44"/>
                </a:solidFill>
              </a:rPr>
              <a:t>Michael F. Stratton</a:t>
            </a:r>
            <a:endParaRPr lang="en-US" sz="1600" dirty="0"/>
          </a:p>
        </p:txBody>
      </p:sp>
      <p:sp>
        <p:nvSpPr>
          <p:cNvPr id="5" name="Disclaimer"/>
          <p:cNvSpPr txBox="1"/>
          <p:nvPr/>
        </p:nvSpPr>
        <p:spPr>
          <a:xfrm>
            <a:off x="731520" y="6309360"/>
            <a:ext cx="8686800" cy="274320"/>
          </a:xfrm>
          <a:prstGeom prst="rect">
            <a:avLst/>
          </a:prstGeom>
          <a:noFill/>
          <a:ln/>
        </p:spPr>
        <p:txBody>
          <a:bodyPr wrap="square" lIns="0" tIns="0" rIns="0" bIns="0" rtlCol="0" anchor="ctr"/>
          <a:lstStyle/>
          <a:p>
            <a:pPr marL="0" indent="0">
              <a:buNone/>
            </a:pPr>
            <a:r>
              <a:rPr lang="en-US" sz="1050" dirty="0">
                <a:solidFill>
                  <a:srgbClr val="64748B"/>
                </a:solidFill>
              </a:rPr>
              <a:t>Not an official U.S. government publication. Independent technical analysis; not reviewed or endorsed by any federal agency.</a:t>
            </a:r>
            <a:endParaRPr lang="en-US" sz="1050" dirty="0"/>
          </a:p>
        </p:txBody>
      </p:sp>
      <p:sp>
        <p:nvSpPr>
          <p:cNvPr id="6" name="Agenda line"/>
          <p:cNvSpPr txBox="1"/>
          <p:nvPr/>
        </p:nvSpPr>
        <p:spPr>
          <a:xfrm>
            <a:off x="731520" y="4343400"/>
            <a:ext cx="6035040" cy="457200"/>
          </a:xfrm>
          <a:prstGeom prst="rect">
            <a:avLst/>
          </a:prstGeom>
          <a:noFill/>
          <a:ln/>
        </p:spPr>
        <p:txBody>
          <a:bodyPr wrap="square" lIns="0" tIns="0" rIns="0" bIns="0" rtlCol="0" anchor="t"/>
          <a:lstStyle/>
          <a:p>
            <a:pPr marL="0" indent="0">
              <a:buNone/>
            </a:pPr>
            <a:r>
              <a:rPr lang="en-US" sz="2000" b="1" dirty="0">
                <a:solidFill>
                  <a:srgbClr val="B91C1C"/>
                </a:solidFill>
              </a:rPr>
              <a:t>Why</a:t>
            </a:r>
            <a:r>
              <a:rPr lang="en-US" sz="2000" dirty="0">
                <a:solidFill>
                  <a:srgbClr val="64748B"/>
                </a:solidFill>
              </a:rPr>
              <a:t>   ·   </a:t>
            </a:r>
            <a:r>
              <a:rPr lang="en-US" sz="2000" b="1" dirty="0">
                <a:solidFill>
                  <a:srgbClr val="1F2A44"/>
                </a:solidFill>
              </a:rPr>
              <a:t>What</a:t>
            </a:r>
            <a:r>
              <a:rPr lang="en-US" sz="2000" dirty="0">
                <a:solidFill>
                  <a:srgbClr val="64748B"/>
                </a:solidFill>
              </a:rPr>
              <a:t>   ·   </a:t>
            </a:r>
            <a:r>
              <a:rPr lang="en-US" sz="2000" b="1" dirty="0">
                <a:solidFill>
                  <a:srgbClr val="0F766E"/>
                </a:solidFill>
              </a:rPr>
              <a:t>Who</a:t>
            </a:r>
            <a:r>
              <a:rPr lang="en-US" sz="2000" dirty="0">
                <a:solidFill>
                  <a:srgbClr val="64748B"/>
                </a:solidFill>
              </a:rPr>
              <a:t>   ·   </a:t>
            </a:r>
            <a:r>
              <a:rPr lang="en-US" sz="2000" b="1" dirty="0">
                <a:solidFill>
                  <a:srgbClr val="B45309"/>
                </a:solidFill>
              </a:rPr>
              <a:t>How</a:t>
            </a:r>
            <a:endParaRPr lang="en-US" sz="2000" dirty="0"/>
          </a:p>
        </p:txBody>
      </p:sp>
      <p:sp>
        <p:nvSpPr>
          <p:cNvPr id="7" name="Series line"/>
          <p:cNvSpPr txBox="1"/>
          <p:nvPr/>
        </p:nvSpPr>
        <p:spPr>
          <a:xfrm>
            <a:off x="731520" y="4983480"/>
            <a:ext cx="7772400" cy="777240"/>
          </a:xfrm>
          <a:prstGeom prst="rect">
            <a:avLst/>
          </a:prstGeom>
          <a:noFill/>
          <a:ln/>
        </p:spPr>
        <p:txBody>
          <a:bodyPr wrap="square" lIns="0" tIns="0" rIns="0" bIns="0" rtlCol="0" anchor="t"/>
          <a:lstStyle/>
          <a:p>
            <a:pPr marL="0" indent="0">
              <a:buNone/>
            </a:pPr>
            <a:r>
              <a:rPr lang="en-US" sz="1600" b="1" dirty="0">
                <a:solidFill>
                  <a:srgbClr val="1F2A44"/>
                </a:solidFill>
              </a:rPr>
              <a:t>Federal Modernization Workbook</a:t>
            </a:r>
            <a:endParaRPr lang="en-US" sz="1600" dirty="0"/>
          </a:p>
          <a:p>
            <a:pPr marL="0" indent="0">
              <a:buNone/>
            </a:pPr>
            <a:r>
              <a:rPr lang="en-US" sz="1600" dirty="0">
                <a:solidFill>
                  <a:srgbClr val="64748B"/>
                </a:solidFill>
              </a:rPr>
              <a:t>A 30-minute briefing for sponsors, CIOs, CISOs and program executives</a:t>
            </a:r>
            <a:endParaRPr lang="en-US" sz="1600" dirty="0"/>
          </a:p>
        </p:txBody>
      </p:sp>
      <p:pic>
        <p:nvPicPr>
          <p:cNvPr id="8" name="Narration" descr="Narration for this slide; captions available">
            <a:hlinkClick r:id="" action="ppaction://media"/>
            <a:extLst>
              <a:ext uri="{FF2B5EF4-FFF2-40B4-BE49-F238E27FC236}">
                <a16:creationId xmlns:a16="http://schemas.microsoft.com/office/drawing/2014/main" id="{70B37863-8384-BB7B-24AF-2BFB4DD2F1E8}"/>
              </a:ext>
            </a:extLst>
          </p:cNvPr>
          <p:cNvPicPr>
            <a:picLocks noChangeAspect="1"/>
          </p:cNvPicPr>
          <p:nvPr>
            <a:audioFile r:link="rId2"/>
            <p:extLst>
              <p:ext uri="{DAA4B4D4-6D71-4841-9C94-3DE7FCFB9230}">
                <p14:media xmlns:p14="http://schemas.microsoft.com/office/powerpoint/2010/main" r:embed="rId1">
                  <p14:extLst>
                    <p:ext uri="{3AFAAA56-56D3-431D-BCD4-E75A35582382}">
                      <p173:tracksInfo xmlns:p173="http://schemas.microsoft.com/office/powerpoint/2017/3/main" displayLoc="slide">
                        <p173:trackLst>
                          <p173:track id="{5EC00347-F6A1-48E3-B38E-93BDA77910F9}" label="English (captions)" lang="en-US" r:embed="rId6"/>
                        </p173:trackLst>
                      </p173:tracksInfo>
                    </p:ext>
                  </p14:extLst>
                </p14:media>
              </p:ext>
            </p:extLst>
          </p:nvPr>
        </p:nvPicPr>
        <p:blipFill>
          <a:blip r:embed="rId5"/>
          <a:stretch>
            <a:fillRect/>
          </a:stretch>
        </p:blipFill>
        <p:spPr>
          <a:xfrm>
            <a:off x="127000" y="6350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71800"/>
    </mc:Choice>
    <mc:Fallback>
      <p:transition spd="slow" advTm="7180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67800" fill="hold"/>
                                        <p:tgtEl>
                                          <p:spTgt spid="8"/>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57200"/>
            <a:ext cx="11064240" cy="777240"/>
          </a:xfrm>
          <a:prstGeom prst="rect">
            <a:avLst/>
          </a:prstGeom>
          <a:noFill/>
          <a:ln/>
        </p:spPr>
        <p:txBody>
          <a:bodyPr wrap="square" lIns="0" tIns="0" rIns="0" bIns="0" rtlCol="0" anchor="ctr"/>
          <a:lstStyle/>
          <a:p>
            <a:pPr marL="0" indent="0" algn="ctr">
              <a:buNone/>
            </a:pPr>
            <a:r>
              <a:rPr lang="en-US" sz="3000" b="1" dirty="0">
                <a:solidFill>
                  <a:schemeClr val="tx1"/>
                </a:solidFill>
                <a:latin typeface="Cambria" pitchFamily="34" charset="0"/>
                <a:ea typeface="Cambria" pitchFamily="34" charset="-122"/>
                <a:cs typeface="Cambria" pitchFamily="34" charset="-120"/>
              </a:rPr>
              <a:t>The directory governed the estate, and nobody wrote it down</a:t>
            </a:r>
            <a:endParaRPr lang="en-US" sz="3000" dirty="0"/>
          </a:p>
        </p:txBody>
      </p:sp>
      <p:sp>
        <p:nvSpPr>
          <p:cNvPr id="3" name="Tag Why">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B91C1C"/>
          </a:solidFill>
          <a:ln w="12700">
            <a:solidFill>
              <a:srgbClr val="B91C1C"/>
            </a:solidFill>
            <a:prstDash val="solid"/>
          </a:ln>
        </p:spPr>
      </p:sp>
      <p:sp>
        <p:nvSpPr>
          <p:cNvPr id="4" name="Tag Why text"/>
          <p:cNvSpPr txBox="1"/>
          <p:nvPr/>
        </p:nvSpPr>
        <p:spPr>
          <a:xfrm>
            <a:off x="548640" y="109728"/>
            <a:ext cx="868680" cy="292608"/>
          </a:xfrm>
          <a:prstGeom prst="rect">
            <a:avLst/>
          </a:prstGeom>
          <a:noFill/>
          <a:ln/>
        </p:spPr>
        <p:txBody>
          <a:bodyPr wrap="square" lIns="0" tIns="0" rIns="0" bIns="0" rtlCol="0" anchor="ctr"/>
          <a:lstStyle/>
          <a:p>
            <a:pPr marL="0" indent="0" algn="ctr">
              <a:buNone/>
            </a:pPr>
            <a:r>
              <a:rPr lang="en-US" sz="1100" b="1" kern="0" spc="100" dirty="0">
                <a:solidFill>
                  <a:srgbClr val="FFFFFF"/>
                </a:solidFill>
              </a:rPr>
              <a:t>WHY</a:t>
            </a:r>
            <a:endParaRPr lang="en-US" sz="1100" dirty="0"/>
          </a:p>
        </p:txBody>
      </p:sp>
      <p:sp>
        <p:nvSpPr>
          <p:cNvPr id="5" name="Placement head"/>
          <p:cNvSpPr txBox="1"/>
          <p:nvPr/>
        </p:nvSpPr>
        <p:spPr>
          <a:xfrm>
            <a:off x="548640" y="1371600"/>
            <a:ext cx="5669280" cy="274320"/>
          </a:xfrm>
          <a:prstGeom prst="rect">
            <a:avLst/>
          </a:prstGeom>
          <a:noFill/>
          <a:ln/>
        </p:spPr>
        <p:txBody>
          <a:bodyPr wrap="square" lIns="0" tIns="0" rIns="0" bIns="0" rtlCol="0" anchor="t"/>
          <a:lstStyle/>
          <a:p>
            <a:pPr marL="0" indent="0">
              <a:buNone/>
            </a:pPr>
            <a:r>
              <a:rPr lang="en-US" sz="1200" b="1" dirty="0">
                <a:solidFill>
                  <a:srgbClr val="64748B"/>
                </a:solidFill>
              </a:rPr>
              <a:t>WHAT AN OBJECT'S PLACE IN THE TREE DECIDED</a:t>
            </a:r>
            <a:endParaRPr lang="en-US" sz="1200" dirty="0"/>
          </a:p>
        </p:txBody>
      </p:sp>
      <p:sp>
        <p:nvSpPr>
          <p:cNvPr id="6" name="Placement 0">
            <a:extLst>
              <a:ext uri="{C183D7F6-B498-43B3-948B-1728B52AA6E4}">
                <adec:decorative xmlns:adec="http://schemas.microsoft.com/office/drawing/2017/decorative" val="1"/>
              </a:ext>
            </a:extLst>
          </p:cNvPr>
          <p:cNvSpPr/>
          <p:nvPr/>
        </p:nvSpPr>
        <p:spPr>
          <a:xfrm>
            <a:off x="548640" y="1719072"/>
            <a:ext cx="5669280" cy="512064"/>
          </a:xfrm>
          <a:prstGeom prst="roundRect">
            <a:avLst>
              <a:gd name="adj" fmla="val 14286"/>
            </a:avLst>
          </a:prstGeom>
          <a:solidFill>
            <a:srgbClr val="E9EEF4"/>
          </a:solidFill>
          <a:ln w="12700">
            <a:solidFill>
              <a:srgbClr val="E9EEF4"/>
            </a:solidFill>
            <a:prstDash val="solid"/>
          </a:ln>
          <a:effectLst>
            <a:outerShdw blurRad="76200" dist="25400" dir="5400000" algn="bl" rotWithShape="0">
              <a:srgbClr val="64748B">
                <a:alpha val="22000"/>
              </a:srgbClr>
            </a:outerShdw>
          </a:effectLst>
        </p:spPr>
      </p:sp>
      <p:sp>
        <p:nvSpPr>
          <p:cNvPr id="7" name="Placement 0 text"/>
          <p:cNvSpPr txBox="1"/>
          <p:nvPr/>
        </p:nvSpPr>
        <p:spPr>
          <a:xfrm>
            <a:off x="731520" y="1719072"/>
            <a:ext cx="5394960" cy="512064"/>
          </a:xfrm>
          <a:prstGeom prst="rect">
            <a:avLst/>
          </a:prstGeom>
          <a:noFill/>
          <a:ln/>
        </p:spPr>
        <p:txBody>
          <a:bodyPr wrap="square" lIns="0" tIns="0" rIns="0" bIns="0" rtlCol="0" anchor="ctr"/>
          <a:lstStyle/>
          <a:p>
            <a:pPr marL="0" indent="0">
              <a:buNone/>
            </a:pPr>
            <a:r>
              <a:rPr lang="en-US" sz="1400" b="1" dirty="0">
                <a:solidFill>
                  <a:srgbClr val="1F2A44"/>
                </a:solidFill>
              </a:rPr>
              <a:t>Delegation   </a:t>
            </a:r>
            <a:r>
              <a:rPr lang="en-US" sz="1400" dirty="0">
                <a:solidFill>
                  <a:schemeClr val="tx2"/>
                </a:solidFill>
              </a:rPr>
              <a:t>ACLs on the OU set who administers it</a:t>
            </a:r>
            <a:endParaRPr lang="en-US" sz="1400" dirty="0"/>
          </a:p>
        </p:txBody>
      </p:sp>
      <p:sp>
        <p:nvSpPr>
          <p:cNvPr id="8" name="Placement 1">
            <a:extLst>
              <a:ext uri="{C183D7F6-B498-43B3-948B-1728B52AA6E4}">
                <adec:decorative xmlns:adec="http://schemas.microsoft.com/office/drawing/2017/decorative" val="1"/>
              </a:ext>
            </a:extLst>
          </p:cNvPr>
          <p:cNvSpPr/>
          <p:nvPr/>
        </p:nvSpPr>
        <p:spPr>
          <a:xfrm>
            <a:off x="548640" y="2322576"/>
            <a:ext cx="5669280" cy="512064"/>
          </a:xfrm>
          <a:prstGeom prst="roundRect">
            <a:avLst>
              <a:gd name="adj" fmla="val 14286"/>
            </a:avLst>
          </a:prstGeom>
          <a:solidFill>
            <a:srgbClr val="E4EAF4"/>
          </a:solidFill>
          <a:ln w="12700">
            <a:solidFill>
              <a:srgbClr val="E4EAF4"/>
            </a:solidFill>
            <a:prstDash val="solid"/>
          </a:ln>
          <a:effectLst>
            <a:outerShdw blurRad="76200" dist="25400" dir="5400000" algn="bl" rotWithShape="0">
              <a:srgbClr val="64748B">
                <a:alpha val="22000"/>
              </a:srgbClr>
            </a:outerShdw>
          </a:effectLst>
        </p:spPr>
      </p:sp>
      <p:sp>
        <p:nvSpPr>
          <p:cNvPr id="9" name="Placement 1 text"/>
          <p:cNvSpPr txBox="1"/>
          <p:nvPr/>
        </p:nvSpPr>
        <p:spPr>
          <a:xfrm>
            <a:off x="731520" y="2322576"/>
            <a:ext cx="5394960" cy="512064"/>
          </a:xfrm>
          <a:prstGeom prst="rect">
            <a:avLst/>
          </a:prstGeom>
          <a:noFill/>
          <a:ln/>
        </p:spPr>
        <p:txBody>
          <a:bodyPr wrap="square" lIns="0" tIns="0" rIns="0" bIns="0" rtlCol="0" anchor="ctr"/>
          <a:lstStyle/>
          <a:p>
            <a:pPr marL="0" indent="0">
              <a:buNone/>
            </a:pPr>
            <a:r>
              <a:rPr lang="en-US" sz="1400" b="1" dirty="0">
                <a:solidFill>
                  <a:srgbClr val="1F2A44"/>
                </a:solidFill>
              </a:rPr>
              <a:t>Policy   </a:t>
            </a:r>
            <a:r>
              <a:rPr lang="en-US" sz="1400" dirty="0">
                <a:solidFill>
                  <a:schemeClr val="tx2"/>
                </a:solidFill>
              </a:rPr>
              <a:t>GPOs linked to sites, domains and OUs; the closest wins</a:t>
            </a:r>
            <a:endParaRPr lang="en-US" sz="1400" dirty="0"/>
          </a:p>
        </p:txBody>
      </p:sp>
      <p:sp>
        <p:nvSpPr>
          <p:cNvPr id="10" name="Placement 2">
            <a:extLst>
              <a:ext uri="{C183D7F6-B498-43B3-948B-1728B52AA6E4}">
                <adec:decorative xmlns:adec="http://schemas.microsoft.com/office/drawing/2017/decorative" val="1"/>
              </a:ext>
            </a:extLst>
          </p:cNvPr>
          <p:cNvSpPr/>
          <p:nvPr/>
        </p:nvSpPr>
        <p:spPr>
          <a:xfrm>
            <a:off x="548640" y="2926080"/>
            <a:ext cx="5669280" cy="512064"/>
          </a:xfrm>
          <a:prstGeom prst="roundRect">
            <a:avLst>
              <a:gd name="adj" fmla="val 14286"/>
            </a:avLst>
          </a:prstGeom>
          <a:solidFill>
            <a:srgbClr val="E9EEF4"/>
          </a:solidFill>
          <a:ln w="12700">
            <a:solidFill>
              <a:srgbClr val="E9EEF4"/>
            </a:solidFill>
            <a:prstDash val="solid"/>
          </a:ln>
          <a:effectLst>
            <a:outerShdw blurRad="76200" dist="25400" dir="5400000" algn="bl" rotWithShape="0">
              <a:srgbClr val="64748B">
                <a:alpha val="22000"/>
              </a:srgbClr>
            </a:outerShdw>
          </a:effectLst>
        </p:spPr>
      </p:sp>
      <p:sp>
        <p:nvSpPr>
          <p:cNvPr id="11" name="Placement 2 text"/>
          <p:cNvSpPr txBox="1"/>
          <p:nvPr/>
        </p:nvSpPr>
        <p:spPr>
          <a:xfrm>
            <a:off x="731520" y="2926080"/>
            <a:ext cx="5394960" cy="512064"/>
          </a:xfrm>
          <a:prstGeom prst="rect">
            <a:avLst/>
          </a:prstGeom>
          <a:noFill/>
          <a:ln/>
        </p:spPr>
        <p:txBody>
          <a:bodyPr wrap="square" lIns="0" tIns="0" rIns="0" bIns="0" rtlCol="0" anchor="ctr"/>
          <a:lstStyle/>
          <a:p>
            <a:pPr marL="0" indent="0">
              <a:buNone/>
            </a:pPr>
            <a:r>
              <a:rPr lang="en-US" sz="1400" b="1" dirty="0">
                <a:solidFill>
                  <a:srgbClr val="1F2A44"/>
                </a:solidFill>
              </a:rPr>
              <a:t>Access   </a:t>
            </a:r>
            <a:r>
              <a:rPr lang="en-US" sz="1400" dirty="0">
                <a:solidFill>
                  <a:schemeClr val="tx2"/>
                </a:solidFill>
              </a:rPr>
              <a:t>Group membership, nested far from the grant</a:t>
            </a:r>
            <a:endParaRPr lang="en-US" sz="1400" dirty="0"/>
          </a:p>
        </p:txBody>
      </p:sp>
      <p:sp>
        <p:nvSpPr>
          <p:cNvPr id="12" name="Placement 3">
            <a:extLst>
              <a:ext uri="{C183D7F6-B498-43B3-948B-1728B52AA6E4}">
                <adec:decorative xmlns:adec="http://schemas.microsoft.com/office/drawing/2017/decorative" val="1"/>
              </a:ext>
            </a:extLst>
          </p:cNvPr>
          <p:cNvSpPr/>
          <p:nvPr/>
        </p:nvSpPr>
        <p:spPr>
          <a:xfrm>
            <a:off x="548640" y="3529584"/>
            <a:ext cx="5669280" cy="512064"/>
          </a:xfrm>
          <a:prstGeom prst="roundRect">
            <a:avLst>
              <a:gd name="adj" fmla="val 14286"/>
            </a:avLst>
          </a:prstGeom>
          <a:solidFill>
            <a:srgbClr val="E4EAF4"/>
          </a:solidFill>
          <a:ln w="12700">
            <a:solidFill>
              <a:srgbClr val="E4EAF4"/>
            </a:solidFill>
            <a:prstDash val="solid"/>
          </a:ln>
          <a:effectLst>
            <a:outerShdw blurRad="76200" dist="25400" dir="5400000" algn="bl" rotWithShape="0">
              <a:srgbClr val="64748B">
                <a:alpha val="22000"/>
              </a:srgbClr>
            </a:outerShdw>
          </a:effectLst>
        </p:spPr>
      </p:sp>
      <p:sp>
        <p:nvSpPr>
          <p:cNvPr id="13" name="Placement 3 text"/>
          <p:cNvSpPr txBox="1"/>
          <p:nvPr/>
        </p:nvSpPr>
        <p:spPr>
          <a:xfrm>
            <a:off x="731520" y="3529584"/>
            <a:ext cx="5394960" cy="512064"/>
          </a:xfrm>
          <a:prstGeom prst="rect">
            <a:avLst/>
          </a:prstGeom>
          <a:noFill/>
          <a:ln/>
        </p:spPr>
        <p:txBody>
          <a:bodyPr wrap="square" lIns="0" tIns="0" rIns="0" bIns="0" rtlCol="0" anchor="ctr"/>
          <a:lstStyle/>
          <a:p>
            <a:pPr marL="0" indent="0">
              <a:buNone/>
            </a:pPr>
            <a:r>
              <a:rPr lang="en-US" sz="1400" b="1" dirty="0">
                <a:solidFill>
                  <a:srgbClr val="1F2A44"/>
                </a:solidFill>
              </a:rPr>
              <a:t>Names   </a:t>
            </a:r>
            <a:r>
              <a:rPr lang="en-US" sz="1400" dirty="0">
                <a:solidFill>
                  <a:schemeClr val="tx2"/>
                </a:solidFill>
              </a:rPr>
              <a:t>DNS zones stored and replicated in the directory</a:t>
            </a:r>
            <a:endParaRPr lang="en-US" sz="1400" dirty="0"/>
          </a:p>
        </p:txBody>
      </p:sp>
      <p:sp>
        <p:nvSpPr>
          <p:cNvPr id="14" name="Placement 4">
            <a:extLst>
              <a:ext uri="{C183D7F6-B498-43B3-948B-1728B52AA6E4}">
                <adec:decorative xmlns:adec="http://schemas.microsoft.com/office/drawing/2017/decorative" val="1"/>
              </a:ext>
            </a:extLst>
          </p:cNvPr>
          <p:cNvSpPr/>
          <p:nvPr/>
        </p:nvSpPr>
        <p:spPr>
          <a:xfrm>
            <a:off x="548640" y="4133088"/>
            <a:ext cx="5669280" cy="512064"/>
          </a:xfrm>
          <a:prstGeom prst="roundRect">
            <a:avLst>
              <a:gd name="adj" fmla="val 14286"/>
            </a:avLst>
          </a:prstGeom>
          <a:solidFill>
            <a:srgbClr val="E9EEF4"/>
          </a:solidFill>
          <a:ln w="12700">
            <a:solidFill>
              <a:srgbClr val="E9EEF4"/>
            </a:solidFill>
            <a:prstDash val="solid"/>
          </a:ln>
          <a:effectLst>
            <a:outerShdw blurRad="76200" dist="25400" dir="5400000" algn="bl" rotWithShape="0">
              <a:srgbClr val="64748B">
                <a:alpha val="22000"/>
              </a:srgbClr>
            </a:outerShdw>
          </a:effectLst>
        </p:spPr>
      </p:sp>
      <p:sp>
        <p:nvSpPr>
          <p:cNvPr id="15" name="Placement 4 text"/>
          <p:cNvSpPr txBox="1"/>
          <p:nvPr/>
        </p:nvSpPr>
        <p:spPr>
          <a:xfrm>
            <a:off x="731520" y="4133088"/>
            <a:ext cx="5394960" cy="512064"/>
          </a:xfrm>
          <a:prstGeom prst="rect">
            <a:avLst/>
          </a:prstGeom>
          <a:noFill/>
          <a:ln/>
        </p:spPr>
        <p:txBody>
          <a:bodyPr wrap="square" lIns="0" tIns="0" rIns="0" bIns="0" rtlCol="0" anchor="ctr"/>
          <a:lstStyle/>
          <a:p>
            <a:pPr marL="0" indent="0">
              <a:buNone/>
            </a:pPr>
            <a:r>
              <a:rPr lang="en-US" sz="1400" b="1" dirty="0">
                <a:solidFill>
                  <a:srgbClr val="1F2A44"/>
                </a:solidFill>
              </a:rPr>
              <a:t>Trust   </a:t>
            </a:r>
            <a:r>
              <a:rPr lang="en-US" sz="1400" dirty="0">
                <a:solidFill>
                  <a:schemeClr val="tx2"/>
                </a:solidFill>
              </a:rPr>
              <a:t>Certificates enrolled through Group Policy</a:t>
            </a:r>
            <a:endParaRPr lang="en-US" sz="1400" dirty="0"/>
          </a:p>
        </p:txBody>
      </p:sp>
      <p:sp>
        <p:nvSpPr>
          <p:cNvPr id="16" name="Cloud box">
            <a:extLst>
              <a:ext uri="{C183D7F6-B498-43B3-948B-1728B52AA6E4}">
                <adec:decorative xmlns:adec="http://schemas.microsoft.com/office/drawing/2017/decorative" val="1"/>
              </a:ext>
            </a:extLst>
          </p:cNvPr>
          <p:cNvSpPr/>
          <p:nvPr/>
        </p:nvSpPr>
        <p:spPr>
          <a:xfrm>
            <a:off x="7086600" y="1371600"/>
            <a:ext cx="4572000" cy="3291840"/>
          </a:xfrm>
          <a:prstGeom prst="roundRect">
            <a:avLst>
              <a:gd name="adj" fmla="val 2222"/>
            </a:avLst>
          </a:prstGeom>
          <a:solidFill>
            <a:srgbClr val="E4EAF4"/>
          </a:solidFill>
          <a:ln w="12700">
            <a:solidFill>
              <a:srgbClr val="E4EAF4"/>
            </a:solidFill>
            <a:prstDash val="solid"/>
          </a:ln>
          <a:effectLst>
            <a:outerShdw blurRad="76200" dist="25400" dir="5400000" algn="bl" rotWithShape="0">
              <a:srgbClr val="64748B">
                <a:alpha val="22000"/>
              </a:srgbClr>
            </a:outerShdw>
          </a:effectLst>
        </p:spPr>
      </p:sp>
      <p:sp>
        <p:nvSpPr>
          <p:cNvPr id="17" name="Icon FaCloud">
            <a:extLst>
              <a:ext uri="{C183D7F6-B498-43B3-948B-1728B52AA6E4}">
                <adec:decorative xmlns:adec="http://schemas.microsoft.com/office/drawing/2017/decorative" val="1"/>
              </a:ext>
            </a:extLst>
          </p:cNvPr>
          <p:cNvSpPr/>
          <p:nvPr/>
        </p:nvSpPr>
        <p:spPr>
          <a:xfrm>
            <a:off x="7315200" y="1517904"/>
            <a:ext cx="548640" cy="548640"/>
          </a:xfrm>
          <a:prstGeom prst="ellipse">
            <a:avLst/>
          </a:prstGeom>
          <a:solidFill>
            <a:srgbClr val="1F2A44"/>
          </a:solidFill>
          <a:ln w="12700">
            <a:solidFill>
              <a:srgbClr val="1F2A44"/>
            </a:solidFill>
            <a:prstDash val="solid"/>
          </a:ln>
        </p:spPr>
      </p:sp>
      <p:pic>
        <p:nvPicPr>
          <p:cNvPr id="18" name="Image 0">
            <a:extLst>
              <a:ext uri="{C183D7F6-B498-43B3-948B-1728B52AA6E4}">
                <adec:decorative xmlns:adec="http://schemas.microsoft.com/office/drawing/2017/decorative" val="1"/>
              </a:ext>
            </a:extLst>
          </p:cNvPr>
          <p:cNvPicPr>
            <a:picLocks noChangeAspect="1"/>
          </p:cNvPicPr>
          <p:nvPr/>
        </p:nvPicPr>
        <p:blipFill>
          <a:blip r:embed="rId5"/>
          <a:stretch>
            <a:fillRect/>
          </a:stretch>
        </p:blipFill>
        <p:spPr>
          <a:xfrm>
            <a:off x="7446874" y="1649578"/>
            <a:ext cx="285293" cy="285293"/>
          </a:xfrm>
          <a:prstGeom prst="rect">
            <a:avLst/>
          </a:prstGeom>
        </p:spPr>
      </p:pic>
      <p:sp>
        <p:nvSpPr>
          <p:cNvPr id="19" name="Cloud head"/>
          <p:cNvSpPr txBox="1"/>
          <p:nvPr/>
        </p:nvSpPr>
        <p:spPr>
          <a:xfrm>
            <a:off x="8001000" y="1517904"/>
            <a:ext cx="3566160" cy="548640"/>
          </a:xfrm>
          <a:prstGeom prst="rect">
            <a:avLst/>
          </a:prstGeom>
          <a:noFill/>
          <a:ln/>
        </p:spPr>
        <p:txBody>
          <a:bodyPr wrap="square" lIns="0" tIns="0" rIns="0" bIns="0" rtlCol="0" anchor="ctr"/>
          <a:lstStyle/>
          <a:p>
            <a:pPr marL="0" indent="0">
              <a:buNone/>
            </a:pPr>
            <a:r>
              <a:rPr lang="en-US" sz="1700" b="1" dirty="0">
                <a:solidFill>
                  <a:srgbClr val="1F2A44"/>
                </a:solidFill>
                <a:latin typeface="Cambria" pitchFamily="34" charset="0"/>
                <a:ea typeface="Cambria" pitchFamily="34" charset="-122"/>
                <a:cs typeface="Cambria" pitchFamily="34" charset="-120"/>
              </a:rPr>
              <a:t>The cloud doesn't inherit it</a:t>
            </a:r>
            <a:endParaRPr lang="en-US" sz="1700" dirty="0"/>
          </a:p>
        </p:txBody>
      </p:sp>
      <p:sp>
        <p:nvSpPr>
          <p:cNvPr id="20" name="Cloud list"/>
          <p:cNvSpPr txBox="1"/>
          <p:nvPr/>
        </p:nvSpPr>
        <p:spPr>
          <a:xfrm>
            <a:off x="7315200" y="2194560"/>
            <a:ext cx="4206240" cy="2395728"/>
          </a:xfrm>
          <a:prstGeom prst="rect">
            <a:avLst/>
          </a:prstGeom>
          <a:noFill/>
          <a:ln/>
        </p:spPr>
        <p:txBody>
          <a:bodyPr wrap="square" lIns="0" tIns="0" rIns="0" bIns="0" rtlCol="0" anchor="t"/>
          <a:lstStyle/>
          <a:p>
            <a:pPr marL="342900" indent="-342900">
              <a:spcAft>
                <a:spcPts val="600"/>
              </a:spcAft>
              <a:buSzPct val="100000"/>
              <a:buChar char="•"/>
            </a:pPr>
            <a:r>
              <a:rPr lang="en-US" sz="1350" dirty="0">
                <a:solidFill>
                  <a:schemeClr val="tx2"/>
                </a:solidFill>
              </a:rPr>
              <a:t>Entra ID administrative units can't be nested</a:t>
            </a:r>
            <a:endParaRPr lang="en-US" sz="1400" dirty="0"/>
          </a:p>
          <a:p>
            <a:pPr marL="342900" indent="-342900">
              <a:spcAft>
                <a:spcPts val="600"/>
              </a:spcAft>
              <a:buSzPct val="100000"/>
              <a:buChar char="•"/>
            </a:pPr>
            <a:r>
              <a:rPr lang="en-US" sz="1350" dirty="0">
                <a:solidFill>
                  <a:schemeClr val="tx2"/>
                </a:solidFill>
              </a:rPr>
              <a:t>Intune has no hierarchy: conflicts, not inheritance</a:t>
            </a:r>
            <a:endParaRPr lang="en-US" sz="1400" dirty="0"/>
          </a:p>
          <a:p>
            <a:pPr marL="342900" indent="-342900">
              <a:spcAft>
                <a:spcPts val="600"/>
              </a:spcAft>
              <a:buSzPct val="100000"/>
              <a:buChar char="•"/>
            </a:pPr>
            <a:r>
              <a:rPr lang="en-US" sz="1350" dirty="0">
                <a:solidFill>
                  <a:schemeClr val="tx2"/>
                </a:solidFill>
              </a:rPr>
              <a:t>Access becomes a Conditional Access decision</a:t>
            </a:r>
            <a:endParaRPr lang="en-US" sz="1400" dirty="0"/>
          </a:p>
          <a:p>
            <a:pPr marL="342900" indent="-342900">
              <a:spcAft>
                <a:spcPts val="600"/>
              </a:spcAft>
              <a:buSzPct val="100000"/>
              <a:buChar char="•"/>
            </a:pPr>
            <a:r>
              <a:rPr lang="en-US" sz="1350" dirty="0">
                <a:solidFill>
                  <a:schemeClr val="tx2"/>
                </a:solidFill>
              </a:rPr>
              <a:t>Names move to DDI; trust to a target PKI</a:t>
            </a:r>
            <a:endParaRPr lang="en-US" sz="1400" dirty="0"/>
          </a:p>
        </p:txBody>
      </p:sp>
      <p:sp>
        <p:nvSpPr>
          <p:cNvPr id="21" name="Decision bar">
            <a:extLst>
              <a:ext uri="{C183D7F6-B498-43B3-948B-1728B52AA6E4}">
                <adec:decorative xmlns:adec="http://schemas.microsoft.com/office/drawing/2017/decorative" val="1"/>
              </a:ext>
            </a:extLst>
          </p:cNvPr>
          <p:cNvSpPr/>
          <p:nvPr/>
        </p:nvSpPr>
        <p:spPr>
          <a:xfrm>
            <a:off x="548640" y="4800600"/>
            <a:ext cx="11109960" cy="1143000"/>
          </a:xfrm>
          <a:prstGeom prst="roundRect">
            <a:avLst>
              <a:gd name="adj" fmla="val 6400"/>
            </a:avLst>
          </a:prstGeom>
          <a:solidFill>
            <a:srgbClr val="FFFFFF"/>
          </a:solidFill>
          <a:ln w="12700">
            <a:solidFill>
              <a:srgbClr val="B45309"/>
            </a:solidFill>
            <a:prstDash val="solid"/>
          </a:ln>
          <a:effectLst>
            <a:outerShdw blurRad="76200" dist="25400" dir="5400000" algn="bl" rotWithShape="0">
              <a:srgbClr val="64748B">
                <a:alpha val="22000"/>
              </a:srgbClr>
            </a:outerShdw>
          </a:effectLst>
        </p:spPr>
      </p:sp>
      <p:sp>
        <p:nvSpPr>
          <p:cNvPr id="22" name="Icon FaScaleBalanced">
            <a:extLst>
              <a:ext uri="{C183D7F6-B498-43B3-948B-1728B52AA6E4}">
                <adec:decorative xmlns:adec="http://schemas.microsoft.com/office/drawing/2017/decorative" val="1"/>
              </a:ext>
            </a:extLst>
          </p:cNvPr>
          <p:cNvSpPr/>
          <p:nvPr/>
        </p:nvSpPr>
        <p:spPr>
          <a:xfrm>
            <a:off x="749808" y="5047488"/>
            <a:ext cx="640080" cy="640080"/>
          </a:xfrm>
          <a:prstGeom prst="ellipse">
            <a:avLst/>
          </a:prstGeom>
          <a:solidFill>
            <a:srgbClr val="B45309"/>
          </a:solidFill>
          <a:ln w="12700">
            <a:solidFill>
              <a:srgbClr val="B45309"/>
            </a:solidFill>
            <a:prstDash val="solid"/>
          </a:ln>
        </p:spPr>
      </p:sp>
      <p:pic>
        <p:nvPicPr>
          <p:cNvPr id="23" name="Image 1">
            <a:extLst>
              <a:ext uri="{C183D7F6-B498-43B3-948B-1728B52AA6E4}">
                <adec:decorative xmlns:adec="http://schemas.microsoft.com/office/drawing/2017/decorative" val="1"/>
              </a:ext>
            </a:extLst>
          </p:cNvPr>
          <p:cNvPicPr>
            <a:picLocks noChangeAspect="1"/>
          </p:cNvPicPr>
          <p:nvPr/>
        </p:nvPicPr>
        <p:blipFill>
          <a:blip r:embed="rId6"/>
          <a:stretch>
            <a:fillRect/>
          </a:stretch>
        </p:blipFill>
        <p:spPr>
          <a:xfrm>
            <a:off x="903427" y="5201107"/>
            <a:ext cx="332842" cy="332842"/>
          </a:xfrm>
          <a:prstGeom prst="rect">
            <a:avLst/>
          </a:prstGeom>
        </p:spPr>
      </p:pic>
      <p:sp>
        <p:nvSpPr>
          <p:cNvPr id="24" name="Decision"/>
          <p:cNvSpPr txBox="1"/>
          <p:nvPr/>
        </p:nvSpPr>
        <p:spPr>
          <a:xfrm>
            <a:off x="1600200" y="4873752"/>
            <a:ext cx="5806440" cy="996696"/>
          </a:xfrm>
          <a:prstGeom prst="rect">
            <a:avLst/>
          </a:prstGeom>
          <a:noFill/>
          <a:ln/>
        </p:spPr>
        <p:txBody>
          <a:bodyPr wrap="square" lIns="0" tIns="0" rIns="0" bIns="0" rtlCol="0" anchor="ctr"/>
          <a:lstStyle/>
          <a:p>
            <a:pPr marL="0" indent="0">
              <a:buNone/>
            </a:pPr>
            <a:r>
              <a:rPr lang="en-US" sz="1100" b="1" kern="0" spc="100" dirty="0">
                <a:solidFill>
                  <a:srgbClr val="B45309"/>
                </a:solidFill>
              </a:rPr>
              <a:t>DECISION</a:t>
            </a:r>
            <a:endParaRPr lang="en-US" sz="1400" dirty="0"/>
          </a:p>
          <a:p>
            <a:pPr marL="0" indent="0">
              <a:buNone/>
            </a:pPr>
            <a:r>
              <a:rPr lang="en-US" sz="1400" dirty="0">
                <a:solidFill>
                  <a:srgbClr val="334155"/>
                </a:solidFill>
              </a:rPr>
              <a:t>Charter modernization as governance reconstruction: each decision the tree made by placement gets an owner, a record and evidence</a:t>
            </a:r>
            <a:endParaRPr lang="en-US" sz="1400" dirty="0"/>
          </a:p>
        </p:txBody>
      </p:sp>
      <p:sp>
        <p:nvSpPr>
          <p:cNvPr id="25" name="Owner"/>
          <p:cNvSpPr txBox="1"/>
          <p:nvPr/>
        </p:nvSpPr>
        <p:spPr>
          <a:xfrm>
            <a:off x="7589520" y="4873752"/>
            <a:ext cx="2103120" cy="996696"/>
          </a:xfrm>
          <a:prstGeom prst="rect">
            <a:avLst/>
          </a:prstGeom>
          <a:noFill/>
          <a:ln/>
        </p:spPr>
        <p:txBody>
          <a:bodyPr wrap="square" lIns="0" tIns="0" rIns="0" bIns="0" rtlCol="0" anchor="ctr"/>
          <a:lstStyle/>
          <a:p>
            <a:pPr marL="0" indent="0">
              <a:buNone/>
            </a:pPr>
            <a:r>
              <a:rPr lang="en-US" sz="1100" b="1" kern="0" spc="100" dirty="0">
                <a:solidFill>
                  <a:srgbClr val="0F766E"/>
                </a:solidFill>
              </a:rPr>
              <a:t>OWNER</a:t>
            </a:r>
            <a:endParaRPr lang="en-US" sz="1400" dirty="0"/>
          </a:p>
          <a:p>
            <a:pPr marL="0" indent="0">
              <a:buNone/>
            </a:pPr>
            <a:r>
              <a:rPr lang="en-US" sz="1400" dirty="0">
                <a:solidFill>
                  <a:srgbClr val="334155"/>
                </a:solidFill>
              </a:rPr>
              <a:t>Executive sponsor</a:t>
            </a:r>
            <a:endParaRPr lang="en-US" sz="1400" dirty="0"/>
          </a:p>
        </p:txBody>
      </p:sp>
      <p:sp>
        <p:nvSpPr>
          <p:cNvPr id="26" name="When"/>
          <p:cNvSpPr txBox="1"/>
          <p:nvPr/>
        </p:nvSpPr>
        <p:spPr>
          <a:xfrm>
            <a:off x="9784080" y="4873752"/>
            <a:ext cx="1783080" cy="996696"/>
          </a:xfrm>
          <a:prstGeom prst="rect">
            <a:avLst/>
          </a:prstGeom>
          <a:noFill/>
          <a:ln/>
        </p:spPr>
        <p:txBody>
          <a:bodyPr wrap="square" lIns="0" tIns="0" rIns="0" bIns="0" rtlCol="0" anchor="ctr"/>
          <a:lstStyle/>
          <a:p>
            <a:pPr marL="0" indent="0">
              <a:buNone/>
            </a:pPr>
            <a:r>
              <a:rPr lang="en-US" sz="1100" b="1" kern="0" spc="100" dirty="0">
                <a:solidFill>
                  <a:srgbClr val="1F2A44"/>
                </a:solidFill>
              </a:rPr>
              <a:t>NEEDED BY</a:t>
            </a:r>
            <a:endParaRPr lang="en-US" sz="1400" dirty="0"/>
          </a:p>
          <a:p>
            <a:pPr marL="0" indent="0">
              <a:buNone/>
            </a:pPr>
            <a:r>
              <a:rPr lang="en-US" sz="1400" dirty="0">
                <a:solidFill>
                  <a:srgbClr val="334155"/>
                </a:solidFill>
              </a:rPr>
              <a:t>When the charter is signed</a:t>
            </a:r>
            <a:endParaRPr lang="en-US" sz="1400" dirty="0"/>
          </a:p>
        </p:txBody>
      </p:sp>
      <p:sp>
        <p:nvSpPr>
          <p:cNvPr id="27" name="Sources"/>
          <p:cNvSpPr txBox="1"/>
          <p:nvPr/>
        </p:nvSpPr>
        <p:spPr>
          <a:xfrm>
            <a:off x="548640" y="6053328"/>
            <a:ext cx="10424160" cy="292608"/>
          </a:xfrm>
          <a:prstGeom prst="rect">
            <a:avLst/>
          </a:prstGeom>
          <a:noFill/>
          <a:ln/>
        </p:spPr>
        <p:txBody>
          <a:bodyPr wrap="square" lIns="0" tIns="0" rIns="0" bIns="0" rtlCol="0" anchor="t"/>
          <a:lstStyle/>
          <a:p>
            <a:pPr marL="0" indent="0">
              <a:buNone/>
            </a:pPr>
            <a:r>
              <a:rPr lang="en-US" sz="1000" i="1" dirty="0">
                <a:solidFill>
                  <a:srgbClr val="64748B"/>
                </a:solidFill>
              </a:rPr>
              <a:t>Sources: Microsoft Learn — AD DS logical model, Group Policy processing, AD-integrated DNS, AD CS, Entra administrative units, Intune settings catalog. Book 00, Chapters 01 and 03.</a:t>
            </a:r>
            <a:endParaRPr lang="en-US" sz="1000" dirty="0"/>
          </a:p>
        </p:txBody>
      </p:sp>
      <p:sp>
        <p:nvSpPr>
          <p:cNvPr id="28"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2</a:t>
            </a:fld>
            <a:endParaRPr lang="en-US"/>
          </a:p>
        </p:txBody>
      </p:sp>
      <p:pic>
        <p:nvPicPr>
          <p:cNvPr id="29" name="Narration" descr="Narration for this slide; captions available">
            <a:hlinkClick r:id="" action="ppaction://media"/>
            <a:extLst>
              <a:ext uri="{FF2B5EF4-FFF2-40B4-BE49-F238E27FC236}">
                <a16:creationId xmlns:a16="http://schemas.microsoft.com/office/drawing/2014/main" id="{9EF89812-580A-80B9-409A-2DB5F42A5051}"/>
              </a:ext>
            </a:extLst>
          </p:cNvPr>
          <p:cNvPicPr>
            <a:picLocks noChangeAspect="1"/>
          </p:cNvPicPr>
          <p:nvPr>
            <a:audioFile r:link="rId2"/>
            <p:extLst>
              <p:ext uri="{DAA4B4D4-6D71-4841-9C94-3DE7FCFB9230}">
                <p14:media xmlns:p14="http://schemas.microsoft.com/office/powerpoint/2010/main" r:embed="rId1">
                  <p14:extLst>
                    <p:ext uri="{3AFAAA56-56D3-431D-BCD4-E75A35582382}">
                      <p173:tracksInfo xmlns:p173="http://schemas.microsoft.com/office/powerpoint/2017/3/main" displayLoc="slide">
                        <p173:trackLst>
                          <p173:track id="{63EE9BC5-9685-4F2A-BFBA-DDBE44460ED5}" label="English (captions)" lang="en-US" r:embed="rId8"/>
                        </p173:trackLst>
                      </p173:tracksInfo>
                    </p:ext>
                  </p14:extLst>
                </p14:media>
              </p:ext>
            </p:extLst>
          </p:nvPr>
        </p:nvPicPr>
        <p:blipFill>
          <a:blip r:embed="rId7"/>
          <a:stretch>
            <a:fillRect/>
          </a:stretch>
        </p:blipFill>
        <p:spPr>
          <a:xfrm>
            <a:off x="127000" y="6350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68200"/>
    </mc:Choice>
    <mc:Fallback>
      <p:transition spd="slow" advTm="6820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64200" fill="hold"/>
                                        <p:tgtEl>
                                          <p:spTgt spid="29"/>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57200"/>
            <a:ext cx="11064240" cy="777240"/>
          </a:xfrm>
          <a:prstGeom prst="rect">
            <a:avLst/>
          </a:prstGeom>
          <a:noFill/>
          <a:ln/>
        </p:spPr>
        <p:txBody>
          <a:bodyPr wrap="square" lIns="0" tIns="0" rIns="0" bIns="0" rtlCol="0" anchor="ctr"/>
          <a:lstStyle/>
          <a:p>
            <a:pPr marL="0" indent="0" algn="ctr">
              <a:buNone/>
            </a:pPr>
            <a:r>
              <a:rPr lang="en-US" sz="3000" b="1" dirty="0">
                <a:solidFill>
                  <a:schemeClr val="tx1"/>
                </a:solidFill>
                <a:latin typeface="Cambria" pitchFamily="34" charset="0"/>
                <a:ea typeface="Cambria" pitchFamily="34" charset="-122"/>
                <a:cs typeface="Cambria" pitchFamily="34" charset="-120"/>
              </a:rPr>
              <a:t>Federal policy now sets the dates</a:t>
            </a:r>
            <a:endParaRPr lang="en-US" sz="3000" dirty="0"/>
          </a:p>
        </p:txBody>
      </p:sp>
      <p:sp>
        <p:nvSpPr>
          <p:cNvPr id="3" name="Tag Why">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B91C1C"/>
          </a:solidFill>
          <a:ln w="12700">
            <a:solidFill>
              <a:srgbClr val="B91C1C"/>
            </a:solidFill>
            <a:prstDash val="solid"/>
          </a:ln>
        </p:spPr>
      </p:sp>
      <p:sp>
        <p:nvSpPr>
          <p:cNvPr id="4" name="Tag Why text"/>
          <p:cNvSpPr txBox="1"/>
          <p:nvPr/>
        </p:nvSpPr>
        <p:spPr>
          <a:xfrm>
            <a:off x="548640" y="109728"/>
            <a:ext cx="868680" cy="292608"/>
          </a:xfrm>
          <a:prstGeom prst="rect">
            <a:avLst/>
          </a:prstGeom>
          <a:noFill/>
          <a:ln/>
        </p:spPr>
        <p:txBody>
          <a:bodyPr wrap="square" lIns="0" tIns="0" rIns="0" bIns="0" rtlCol="0" anchor="ctr"/>
          <a:lstStyle/>
          <a:p>
            <a:pPr marL="0" indent="0" algn="ctr">
              <a:buNone/>
            </a:pPr>
            <a:r>
              <a:rPr lang="en-US" sz="1100" b="1" kern="0" spc="100" dirty="0">
                <a:solidFill>
                  <a:srgbClr val="FFFFFF"/>
                </a:solidFill>
              </a:rPr>
              <a:t>WHY</a:t>
            </a:r>
            <a:endParaRPr lang="en-US" sz="1100" dirty="0"/>
          </a:p>
        </p:txBody>
      </p:sp>
      <p:graphicFrame>
        <p:nvGraphicFramePr>
          <p:cNvPr id="5" name="Table 0"/>
          <p:cNvGraphicFramePr>
            <a:graphicFrameLocks noGrp="1"/>
          </p:cNvGraphicFramePr>
          <p:nvPr>
            <p:extLst>
              <p:ext uri="{D42A27DB-BD31-4B8C-83A1-F6EECF244321}">
                <p14:modId xmlns:p14="http://schemas.microsoft.com/office/powerpoint/2010/main" val="1579011935"/>
              </p:ext>
            </p:extLst>
          </p:nvPr>
        </p:nvGraphicFramePr>
        <p:xfrm>
          <a:off x="548640" y="1371600"/>
          <a:ext cx="9144000" cy="914400"/>
        </p:xfrm>
        <a:graphic>
          <a:graphicData uri="http://schemas.openxmlformats.org/drawingml/2006/table">
            <a:tbl>
              <a:tblPr firstRow="1" bandRow="1"/>
              <a:tblGrid>
                <a:gridCol w="1965960">
                  <a:extLst>
                    <a:ext uri="{9D8B030D-6E8A-4147-A177-3AD203B41FA5}">
                      <a16:colId xmlns:a16="http://schemas.microsoft.com/office/drawing/2014/main" val="20000"/>
                    </a:ext>
                  </a:extLst>
                </a:gridCol>
                <a:gridCol w="2240280">
                  <a:extLst>
                    <a:ext uri="{9D8B030D-6E8A-4147-A177-3AD203B41FA5}">
                      <a16:colId xmlns:a16="http://schemas.microsoft.com/office/drawing/2014/main" val="20001"/>
                    </a:ext>
                  </a:extLst>
                </a:gridCol>
                <a:gridCol w="2103120">
                  <a:extLst>
                    <a:ext uri="{9D8B030D-6E8A-4147-A177-3AD203B41FA5}">
                      <a16:colId xmlns:a16="http://schemas.microsoft.com/office/drawing/2014/main" val="20002"/>
                    </a:ext>
                  </a:extLst>
                </a:gridCol>
              </a:tblGrid>
              <a:tr h="347472">
                <a:tc>
                  <a:txBody>
                    <a:bodyPr/>
                    <a:lstStyle/>
                    <a:p>
                      <a:pPr marL="0" indent="0">
                        <a:buNone/>
                      </a:pPr>
                      <a:r>
                        <a:rPr lang="en-US" sz="1150" b="1" dirty="0">
                          <a:solidFill>
                            <a:srgbClr val="FFFFFF"/>
                          </a:solidFill>
                          <a:latin typeface="Calibri" pitchFamily="34" charset="0"/>
                          <a:ea typeface="Calibri" pitchFamily="34" charset="-122"/>
                          <a:cs typeface="Calibri" pitchFamily="34" charset="-120"/>
                        </a:rPr>
                        <a:t>Instrument</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marL="0" indent="0">
                        <a:buNone/>
                      </a:pPr>
                      <a:r>
                        <a:rPr lang="en-US" sz="1150" b="1" dirty="0">
                          <a:solidFill>
                            <a:srgbClr val="FFFFFF"/>
                          </a:solidFill>
                          <a:latin typeface="Calibri" pitchFamily="34" charset="0"/>
                          <a:ea typeface="Calibri" pitchFamily="34" charset="-122"/>
                          <a:cs typeface="Calibri" pitchFamily="34" charset="-120"/>
                        </a:rPr>
                        <a:t>What it sets</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marL="0" indent="0">
                        <a:buNone/>
                      </a:pPr>
                      <a:r>
                        <a:rPr lang="en-US" sz="1150" b="1" dirty="0">
                          <a:solidFill>
                            <a:srgbClr val="FFFFFF"/>
                          </a:solidFill>
                          <a:latin typeface="Calibri" pitchFamily="34" charset="0"/>
                          <a:ea typeface="Calibri" pitchFamily="34" charset="-122"/>
                          <a:cs typeface="Calibri" pitchFamily="34" charset="-120"/>
                        </a:rPr>
                        <a:t>Dates</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extLst>
                  <a:ext uri="{0D108BD9-81ED-4DB2-BD59-A6C34878D82A}">
                    <a16:rowId xmlns:a16="http://schemas.microsoft.com/office/drawing/2014/main" val="10000"/>
                  </a:ext>
                </a:extLst>
              </a:tr>
              <a:tr h="566928">
                <a:tc>
                  <a:txBody>
                    <a:bodyPr/>
                    <a:lstStyle/>
                    <a:p>
                      <a:pPr marL="0" indent="0">
                        <a:buNone/>
                      </a:pPr>
                      <a:r>
                        <a:rPr lang="en-US" sz="1150" b="1" dirty="0">
                          <a:solidFill>
                            <a:srgbClr val="1F2A44"/>
                          </a:solidFill>
                          <a:latin typeface="Calibri" pitchFamily="34" charset="0"/>
                          <a:ea typeface="Calibri" pitchFamily="34" charset="-122"/>
                          <a:cs typeface="Calibri" pitchFamily="34" charset="-120"/>
                        </a:rPr>
                        <a:t>OMB M-22-09 (Jan 2022)</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50" dirty="0">
                          <a:solidFill>
                            <a:srgbClr val="334155"/>
                          </a:solidFill>
                          <a:latin typeface="Calibri" pitchFamily="34" charset="0"/>
                          <a:ea typeface="Calibri" pitchFamily="34" charset="-122"/>
                          <a:cs typeface="Calibri" pitchFamily="34" charset="-120"/>
                        </a:rPr>
                        <a:t>Zero Trust actions; on-premises and hybrid too</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50" dirty="0">
                          <a:solidFill>
                            <a:srgbClr val="334155"/>
                          </a:solidFill>
                          <a:latin typeface="Calibri" pitchFamily="34" charset="0"/>
                          <a:ea typeface="Calibri" pitchFamily="34" charset="-122"/>
                          <a:cs typeface="Calibri" pitchFamily="34" charset="-120"/>
                        </a:rPr>
                        <a:t>End of FY 2024; still in force</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566928">
                <a:tc>
                  <a:txBody>
                    <a:bodyPr/>
                    <a:lstStyle/>
                    <a:p>
                      <a:pPr marL="0" indent="0">
                        <a:buNone/>
                      </a:pPr>
                      <a:r>
                        <a:rPr lang="en-US" sz="1150" b="1" dirty="0">
                          <a:solidFill>
                            <a:srgbClr val="1F2A44"/>
                          </a:solidFill>
                          <a:latin typeface="Calibri" pitchFamily="34" charset="0"/>
                          <a:ea typeface="Calibri" pitchFamily="34" charset="-122"/>
                          <a:cs typeface="Calibri" pitchFamily="34" charset="-120"/>
                        </a:rPr>
                        <a:t>CISA BOD 25-01 (Dec 2024)</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50" dirty="0">
                          <a:solidFill>
                            <a:srgbClr val="334155"/>
                          </a:solidFill>
                          <a:latin typeface="Calibri" pitchFamily="34" charset="0"/>
                          <a:ea typeface="Calibri" pitchFamily="34" charset="-122"/>
                          <a:cs typeface="Calibri" pitchFamily="34" charset="-120"/>
                        </a:rPr>
                        <a:t>Mandatory configurations for cloud tenants</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50" dirty="0">
                          <a:solidFill>
                            <a:srgbClr val="334155"/>
                          </a:solidFill>
                          <a:latin typeface="Calibri" pitchFamily="34" charset="0"/>
                          <a:ea typeface="Calibri" pitchFamily="34" charset="-122"/>
                          <a:cs typeface="Calibri" pitchFamily="34" charset="-120"/>
                        </a:rPr>
                        <a:t>Policies June 20, 2025; new tenants before ATO</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566928">
                <a:tc>
                  <a:txBody>
                    <a:bodyPr/>
                    <a:lstStyle/>
                    <a:p>
                      <a:pPr marL="0" indent="0">
                        <a:buNone/>
                      </a:pPr>
                      <a:r>
                        <a:rPr lang="en-US" sz="1150" b="1" dirty="0">
                          <a:solidFill>
                            <a:srgbClr val="1F2A44"/>
                          </a:solidFill>
                          <a:latin typeface="Calibri" pitchFamily="34" charset="0"/>
                          <a:ea typeface="Calibri" pitchFamily="34" charset="-122"/>
                          <a:cs typeface="Calibri" pitchFamily="34" charset="-120"/>
                        </a:rPr>
                        <a:t>CISA BOD 26-02 (Feb 2026)</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50" dirty="0">
                          <a:solidFill>
                            <a:srgbClr val="334155"/>
                          </a:solidFill>
                          <a:latin typeface="Calibri" pitchFamily="34" charset="0"/>
                          <a:ea typeface="Calibri" pitchFamily="34" charset="-122"/>
                          <a:cs typeface="Calibri" pitchFamily="34" charset="-120"/>
                        </a:rPr>
                        <a:t>End-of-support edge devices on the internet</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50" dirty="0">
                          <a:solidFill>
                            <a:srgbClr val="334155"/>
                          </a:solidFill>
                          <a:latin typeface="Calibri" pitchFamily="34" charset="0"/>
                          <a:ea typeface="Calibri" pitchFamily="34" charset="-122"/>
                          <a:cs typeface="Calibri" pitchFamily="34" charset="-120"/>
                        </a:rPr>
                        <a:t>Listed devices out by Feb 5, 2027</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566928">
                <a:tc>
                  <a:txBody>
                    <a:bodyPr/>
                    <a:lstStyle/>
                    <a:p>
                      <a:pPr marL="0" indent="0">
                        <a:buNone/>
                      </a:pPr>
                      <a:r>
                        <a:rPr lang="en-US" sz="1150" b="1" dirty="0">
                          <a:solidFill>
                            <a:srgbClr val="1F2A44"/>
                          </a:solidFill>
                          <a:latin typeface="Calibri" pitchFamily="34" charset="0"/>
                          <a:ea typeface="Calibri" pitchFamily="34" charset="-122"/>
                          <a:cs typeface="Calibri" pitchFamily="34" charset="-120"/>
                        </a:rPr>
                        <a:t>OMB M-26-14 (May 2026)</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50" dirty="0">
                          <a:solidFill>
                            <a:srgbClr val="334155"/>
                          </a:solidFill>
                          <a:latin typeface="Calibri" pitchFamily="34" charset="0"/>
                          <a:ea typeface="Calibri" pitchFamily="34" charset="-122"/>
                          <a:cs typeface="Calibri" pitchFamily="34" charset="-120"/>
                        </a:rPr>
                        <a:t>Risk-based logging; rescinds M-21-31</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50" dirty="0">
                          <a:solidFill>
                            <a:srgbClr val="334155"/>
                          </a:solidFill>
                          <a:latin typeface="Calibri" pitchFamily="34" charset="0"/>
                          <a:ea typeface="Calibri" pitchFamily="34" charset="-122"/>
                          <a:cs typeface="Calibri" pitchFamily="34" charset="-120"/>
                        </a:rPr>
                        <a:t>Logging plan 90 days after the reference architecture</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566928">
                <a:tc>
                  <a:txBody>
                    <a:bodyPr/>
                    <a:lstStyle/>
                    <a:p>
                      <a:pPr marL="0" indent="0">
                        <a:buNone/>
                      </a:pPr>
                      <a:r>
                        <a:rPr lang="en-US" sz="1150" b="1" dirty="0">
                          <a:solidFill>
                            <a:srgbClr val="1F2A44"/>
                          </a:solidFill>
                          <a:latin typeface="Calibri" pitchFamily="34" charset="0"/>
                          <a:ea typeface="Calibri" pitchFamily="34" charset="-122"/>
                          <a:cs typeface="Calibri" pitchFamily="34" charset="-120"/>
                        </a:rPr>
                        <a:t>FedRAMP 2026 rules (June 2026)</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50" dirty="0">
                          <a:solidFill>
                            <a:srgbClr val="334155"/>
                          </a:solidFill>
                          <a:latin typeface="Calibri" pitchFamily="34" charset="0"/>
                          <a:ea typeface="Calibri" pitchFamily="34" charset="-122"/>
                          <a:cs typeface="Calibri" pitchFamily="34" charset="-120"/>
                        </a:rPr>
                        <a:t>Cloud services certified in Classes A to D</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50" dirty="0">
                          <a:solidFill>
                            <a:srgbClr val="334155"/>
                          </a:solidFill>
                          <a:latin typeface="Calibri" pitchFamily="34" charset="0"/>
                          <a:ea typeface="Calibri" pitchFamily="34" charset="-122"/>
                          <a:cs typeface="Calibri" pitchFamily="34" charset="-120"/>
                        </a:rPr>
                        <a:t>Mandatory Jan 1, 2027; no new Rev5 after June 11, 2027</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bl>
          </a:graphicData>
        </a:graphic>
      </p:graphicFrame>
      <p:sp>
        <p:nvSpPr>
          <p:cNvPr id="6" name="Logging box">
            <a:extLst>
              <a:ext uri="{C183D7F6-B498-43B3-948B-1728B52AA6E4}">
                <adec:decorative xmlns:adec="http://schemas.microsoft.com/office/drawing/2017/decorative" val="1"/>
              </a:ext>
            </a:extLst>
          </p:cNvPr>
          <p:cNvSpPr/>
          <p:nvPr/>
        </p:nvSpPr>
        <p:spPr>
          <a:xfrm>
            <a:off x="7086600" y="1371600"/>
            <a:ext cx="4572000" cy="3291840"/>
          </a:xfrm>
          <a:prstGeom prst="roundRect">
            <a:avLst>
              <a:gd name="adj" fmla="val 2222"/>
            </a:avLst>
          </a:prstGeom>
          <a:solidFill>
            <a:srgbClr val="FBEEDC"/>
          </a:solidFill>
          <a:ln w="12700">
            <a:solidFill>
              <a:srgbClr val="FBEEDC"/>
            </a:solidFill>
            <a:prstDash val="solid"/>
          </a:ln>
          <a:effectLst>
            <a:outerShdw blurRad="76200" dist="25400" dir="5400000" algn="bl" rotWithShape="0">
              <a:srgbClr val="64748B">
                <a:alpha val="22000"/>
              </a:srgbClr>
            </a:outerShdw>
          </a:effectLst>
        </p:spPr>
      </p:sp>
      <p:sp>
        <p:nvSpPr>
          <p:cNvPr id="7" name="Icon FaUserClock">
            <a:extLst>
              <a:ext uri="{C183D7F6-B498-43B3-948B-1728B52AA6E4}">
                <adec:decorative xmlns:adec="http://schemas.microsoft.com/office/drawing/2017/decorative" val="1"/>
              </a:ext>
            </a:extLst>
          </p:cNvPr>
          <p:cNvSpPr/>
          <p:nvPr/>
        </p:nvSpPr>
        <p:spPr>
          <a:xfrm>
            <a:off x="7315200" y="1517904"/>
            <a:ext cx="548640" cy="548640"/>
          </a:xfrm>
          <a:prstGeom prst="ellipse">
            <a:avLst/>
          </a:prstGeom>
          <a:solidFill>
            <a:srgbClr val="B45309"/>
          </a:solidFill>
          <a:ln w="12700">
            <a:solidFill>
              <a:srgbClr val="B45309"/>
            </a:solidFill>
            <a:prstDash val="solid"/>
          </a:ln>
        </p:spPr>
      </p:sp>
      <p:pic>
        <p:nvPicPr>
          <p:cNvPr id="8" name="Image 0">
            <a:extLst>
              <a:ext uri="{C183D7F6-B498-43B3-948B-1728B52AA6E4}">
                <adec:decorative xmlns:adec="http://schemas.microsoft.com/office/drawing/2017/decorative" val="1"/>
              </a:ext>
            </a:extLst>
          </p:cNvPr>
          <p:cNvPicPr>
            <a:picLocks noChangeAspect="1"/>
          </p:cNvPicPr>
          <p:nvPr/>
        </p:nvPicPr>
        <p:blipFill>
          <a:blip r:embed="rId5"/>
          <a:stretch>
            <a:fillRect/>
          </a:stretch>
        </p:blipFill>
        <p:spPr>
          <a:xfrm>
            <a:off x="7446874" y="1649578"/>
            <a:ext cx="285293" cy="285293"/>
          </a:xfrm>
          <a:prstGeom prst="rect">
            <a:avLst/>
          </a:prstGeom>
        </p:spPr>
      </p:pic>
      <p:sp>
        <p:nvSpPr>
          <p:cNvPr id="9" name="Logging head"/>
          <p:cNvSpPr txBox="1"/>
          <p:nvPr/>
        </p:nvSpPr>
        <p:spPr>
          <a:xfrm>
            <a:off x="8001000" y="1517904"/>
            <a:ext cx="3566160" cy="548640"/>
          </a:xfrm>
          <a:prstGeom prst="rect">
            <a:avLst/>
          </a:prstGeom>
          <a:noFill/>
          <a:ln/>
        </p:spPr>
        <p:txBody>
          <a:bodyPr wrap="square" lIns="0" tIns="0" rIns="0" bIns="0" rtlCol="0" anchor="ctr"/>
          <a:lstStyle/>
          <a:p>
            <a:pPr marL="0" indent="0">
              <a:buNone/>
            </a:pPr>
            <a:r>
              <a:rPr lang="en-US" sz="1700" b="1" dirty="0">
                <a:solidFill>
                  <a:srgbClr val="B45309"/>
                </a:solidFill>
                <a:latin typeface="Cambria" pitchFamily="34" charset="0"/>
                <a:ea typeface="Cambria" pitchFamily="34" charset="-122"/>
                <a:cs typeface="Cambria" pitchFamily="34" charset="-120"/>
              </a:rPr>
              <a:t>M-26-14, counted out</a:t>
            </a:r>
            <a:endParaRPr lang="en-US" sz="1700" dirty="0"/>
          </a:p>
        </p:txBody>
      </p:sp>
      <p:sp>
        <p:nvSpPr>
          <p:cNvPr id="10" name="Logging list"/>
          <p:cNvSpPr txBox="1"/>
          <p:nvPr/>
        </p:nvSpPr>
        <p:spPr>
          <a:xfrm>
            <a:off x="7315200" y="2194560"/>
            <a:ext cx="4206240" cy="2395728"/>
          </a:xfrm>
          <a:prstGeom prst="rect">
            <a:avLst/>
          </a:prstGeom>
          <a:noFill/>
          <a:ln/>
        </p:spPr>
        <p:txBody>
          <a:bodyPr wrap="square" lIns="0" tIns="0" rIns="0" bIns="0" rtlCol="0" anchor="t"/>
          <a:lstStyle/>
          <a:p>
            <a:pPr marL="342900" indent="-342900">
              <a:spcAft>
                <a:spcPts val="600"/>
              </a:spcAft>
              <a:buSzPct val="100000"/>
              <a:buChar char="•"/>
            </a:pPr>
            <a:r>
              <a:rPr lang="en-US" sz="1300" dirty="0">
                <a:solidFill>
                  <a:schemeClr val="tx2"/>
                </a:solidFill>
              </a:rPr>
              <a:t>Reference architecture published Aug 20, 2026</a:t>
            </a:r>
            <a:endParaRPr lang="en-US" sz="1400" dirty="0"/>
          </a:p>
          <a:p>
            <a:pPr marL="342900" indent="-342900">
              <a:spcAft>
                <a:spcPts val="600"/>
              </a:spcAft>
              <a:buSzPct val="100000"/>
              <a:buChar char="•"/>
            </a:pPr>
            <a:r>
              <a:rPr lang="en-US" sz="1300" dirty="0">
                <a:solidFill>
                  <a:schemeClr val="tx2"/>
                </a:solidFill>
              </a:rPr>
              <a:t>Logging plan: November 18, 2026</a:t>
            </a:r>
            <a:endParaRPr lang="en-US" sz="1400" dirty="0"/>
          </a:p>
          <a:p>
            <a:pPr marL="342900" indent="-342900">
              <a:spcAft>
                <a:spcPts val="600"/>
              </a:spcAft>
              <a:buSzPct val="100000"/>
              <a:buChar char="•"/>
            </a:pPr>
            <a:r>
              <a:rPr lang="en-US" sz="1300" dirty="0">
                <a:solidFill>
                  <a:schemeClr val="tx2"/>
                </a:solidFill>
              </a:rPr>
              <a:t>Level 1: December 18, 2026</a:t>
            </a:r>
            <a:endParaRPr lang="en-US" sz="1400" dirty="0"/>
          </a:p>
          <a:p>
            <a:pPr marL="342900" indent="-342900">
              <a:spcAft>
                <a:spcPts val="600"/>
              </a:spcAft>
              <a:buSzPct val="100000"/>
              <a:buChar char="•"/>
            </a:pPr>
            <a:r>
              <a:rPr lang="en-US" sz="1300" dirty="0">
                <a:solidFill>
                  <a:schemeClr val="tx2"/>
                </a:solidFill>
              </a:rPr>
              <a:t>Level 2: February 16, 2027; Level 3: July 6, 2027</a:t>
            </a:r>
            <a:endParaRPr lang="en-US" sz="1400" dirty="0"/>
          </a:p>
          <a:p>
            <a:pPr marL="342900" indent="-342900">
              <a:spcAft>
                <a:spcPts val="600"/>
              </a:spcAft>
              <a:buSzPct val="100000"/>
              <a:buChar char="•"/>
            </a:pPr>
            <a:r>
              <a:rPr lang="en-US" sz="1300" dirty="0">
                <a:solidFill>
                  <a:schemeClr val="tx2"/>
                </a:solidFill>
              </a:rPr>
              <a:t>The program's arithmetic, not OMB's dates</a:t>
            </a:r>
            <a:endParaRPr lang="en-US" sz="1400" dirty="0"/>
          </a:p>
        </p:txBody>
      </p:sp>
      <p:sp>
        <p:nvSpPr>
          <p:cNvPr id="11" name="Decision bar">
            <a:extLst>
              <a:ext uri="{C183D7F6-B498-43B3-948B-1728B52AA6E4}">
                <adec:decorative xmlns:adec="http://schemas.microsoft.com/office/drawing/2017/decorative" val="1"/>
              </a:ext>
            </a:extLst>
          </p:cNvPr>
          <p:cNvSpPr/>
          <p:nvPr/>
        </p:nvSpPr>
        <p:spPr>
          <a:xfrm>
            <a:off x="548640" y="4800600"/>
            <a:ext cx="11109960" cy="1143000"/>
          </a:xfrm>
          <a:prstGeom prst="roundRect">
            <a:avLst>
              <a:gd name="adj" fmla="val 6400"/>
            </a:avLst>
          </a:prstGeom>
          <a:solidFill>
            <a:srgbClr val="FFFFFF"/>
          </a:solidFill>
          <a:ln w="12700">
            <a:solidFill>
              <a:srgbClr val="B45309"/>
            </a:solidFill>
            <a:prstDash val="solid"/>
          </a:ln>
          <a:effectLst>
            <a:outerShdw blurRad="76200" dist="25400" dir="5400000" algn="bl" rotWithShape="0">
              <a:srgbClr val="64748B">
                <a:alpha val="22000"/>
              </a:srgbClr>
            </a:outerShdw>
          </a:effectLst>
        </p:spPr>
      </p:sp>
      <p:sp>
        <p:nvSpPr>
          <p:cNvPr id="12" name="Icon FaScaleBalanced">
            <a:extLst>
              <a:ext uri="{C183D7F6-B498-43B3-948B-1728B52AA6E4}">
                <adec:decorative xmlns:adec="http://schemas.microsoft.com/office/drawing/2017/decorative" val="1"/>
              </a:ext>
            </a:extLst>
          </p:cNvPr>
          <p:cNvSpPr/>
          <p:nvPr/>
        </p:nvSpPr>
        <p:spPr>
          <a:xfrm>
            <a:off x="749808" y="5047488"/>
            <a:ext cx="640080" cy="640080"/>
          </a:xfrm>
          <a:prstGeom prst="ellipse">
            <a:avLst/>
          </a:prstGeom>
          <a:solidFill>
            <a:srgbClr val="B45309"/>
          </a:solidFill>
          <a:ln w="12700">
            <a:solidFill>
              <a:srgbClr val="B45309"/>
            </a:solidFill>
            <a:prstDash val="solid"/>
          </a:ln>
        </p:spPr>
      </p:sp>
      <p:pic>
        <p:nvPicPr>
          <p:cNvPr id="13" name="Image 1">
            <a:extLst>
              <a:ext uri="{C183D7F6-B498-43B3-948B-1728B52AA6E4}">
                <adec:decorative xmlns:adec="http://schemas.microsoft.com/office/drawing/2017/decorative" val="1"/>
              </a:ext>
            </a:extLst>
          </p:cNvPr>
          <p:cNvPicPr>
            <a:picLocks noChangeAspect="1"/>
          </p:cNvPicPr>
          <p:nvPr/>
        </p:nvPicPr>
        <p:blipFill>
          <a:blip r:embed="rId6"/>
          <a:stretch>
            <a:fillRect/>
          </a:stretch>
        </p:blipFill>
        <p:spPr>
          <a:xfrm>
            <a:off x="903427" y="5201107"/>
            <a:ext cx="332842" cy="332842"/>
          </a:xfrm>
          <a:prstGeom prst="rect">
            <a:avLst/>
          </a:prstGeom>
        </p:spPr>
      </p:pic>
      <p:sp>
        <p:nvSpPr>
          <p:cNvPr id="14" name="Decision"/>
          <p:cNvSpPr txBox="1"/>
          <p:nvPr/>
        </p:nvSpPr>
        <p:spPr>
          <a:xfrm>
            <a:off x="1600200" y="4873752"/>
            <a:ext cx="5806440" cy="996696"/>
          </a:xfrm>
          <a:prstGeom prst="rect">
            <a:avLst/>
          </a:prstGeom>
          <a:noFill/>
          <a:ln/>
        </p:spPr>
        <p:txBody>
          <a:bodyPr wrap="square" lIns="0" tIns="0" rIns="0" bIns="0" rtlCol="0" anchor="ctr"/>
          <a:lstStyle/>
          <a:p>
            <a:pPr marL="0" indent="0">
              <a:buNone/>
            </a:pPr>
            <a:r>
              <a:rPr lang="en-US" sz="1100" b="1" kern="0" spc="100" dirty="0">
                <a:solidFill>
                  <a:srgbClr val="B45309"/>
                </a:solidFill>
              </a:rPr>
              <a:t>DECISION</a:t>
            </a:r>
            <a:endParaRPr lang="en-US" sz="1400" dirty="0"/>
          </a:p>
          <a:p>
            <a:pPr marL="0" indent="0">
              <a:buNone/>
            </a:pPr>
            <a:r>
              <a:rPr lang="en-US" sz="1400" dirty="0">
                <a:solidFill>
                  <a:srgbClr val="334155"/>
                </a:solidFill>
              </a:rPr>
              <a:t>Confirm the M-26-14 deadlines against the program's count, starting with the first Agency Logging Plan</a:t>
            </a:r>
            <a:endParaRPr lang="en-US" sz="1400" dirty="0"/>
          </a:p>
        </p:txBody>
      </p:sp>
      <p:sp>
        <p:nvSpPr>
          <p:cNvPr id="15" name="Owner"/>
          <p:cNvSpPr txBox="1"/>
          <p:nvPr/>
        </p:nvSpPr>
        <p:spPr>
          <a:xfrm>
            <a:off x="7589520" y="4873752"/>
            <a:ext cx="2103120" cy="996696"/>
          </a:xfrm>
          <a:prstGeom prst="rect">
            <a:avLst/>
          </a:prstGeom>
          <a:noFill/>
          <a:ln/>
        </p:spPr>
        <p:txBody>
          <a:bodyPr wrap="square" lIns="0" tIns="0" rIns="0" bIns="0" rtlCol="0" anchor="ctr"/>
          <a:lstStyle/>
          <a:p>
            <a:pPr marL="0" indent="0">
              <a:buNone/>
            </a:pPr>
            <a:r>
              <a:rPr lang="en-US" sz="1100" b="1" kern="0" spc="100" dirty="0">
                <a:solidFill>
                  <a:srgbClr val="0F766E"/>
                </a:solidFill>
              </a:rPr>
              <a:t>OWNER</a:t>
            </a:r>
            <a:endParaRPr lang="en-US" sz="1400" dirty="0"/>
          </a:p>
          <a:p>
            <a:pPr marL="0" indent="0">
              <a:buNone/>
            </a:pPr>
            <a:r>
              <a:rPr lang="en-US" sz="1400" dirty="0">
                <a:solidFill>
                  <a:srgbClr val="334155"/>
                </a:solidFill>
              </a:rPr>
              <a:t>The CISO's office</a:t>
            </a:r>
            <a:endParaRPr lang="en-US" sz="1400" dirty="0"/>
          </a:p>
        </p:txBody>
      </p:sp>
      <p:sp>
        <p:nvSpPr>
          <p:cNvPr id="16" name="When"/>
          <p:cNvSpPr txBox="1"/>
          <p:nvPr/>
        </p:nvSpPr>
        <p:spPr>
          <a:xfrm>
            <a:off x="9784080" y="4873752"/>
            <a:ext cx="1783080" cy="996696"/>
          </a:xfrm>
          <a:prstGeom prst="rect">
            <a:avLst/>
          </a:prstGeom>
          <a:noFill/>
          <a:ln/>
        </p:spPr>
        <p:txBody>
          <a:bodyPr wrap="square" lIns="0" tIns="0" rIns="0" bIns="0" rtlCol="0" anchor="ctr"/>
          <a:lstStyle/>
          <a:p>
            <a:pPr marL="0" indent="0">
              <a:buNone/>
            </a:pPr>
            <a:r>
              <a:rPr lang="en-US" sz="1100" b="1" kern="0" spc="100" dirty="0">
                <a:solidFill>
                  <a:srgbClr val="1F2A44"/>
                </a:solidFill>
              </a:rPr>
              <a:t>NEEDED BY</a:t>
            </a:r>
            <a:endParaRPr lang="en-US" sz="1400" dirty="0"/>
          </a:p>
          <a:p>
            <a:pPr marL="0" indent="0">
              <a:buNone/>
            </a:pPr>
            <a:r>
              <a:rPr lang="en-US" sz="1400" dirty="0">
                <a:solidFill>
                  <a:srgbClr val="334155"/>
                </a:solidFill>
              </a:rPr>
              <a:t>November 18, 2026, by the program's count</a:t>
            </a:r>
            <a:endParaRPr lang="en-US" sz="1400" dirty="0"/>
          </a:p>
        </p:txBody>
      </p:sp>
      <p:sp>
        <p:nvSpPr>
          <p:cNvPr id="17" name="Sources"/>
          <p:cNvSpPr txBox="1"/>
          <p:nvPr/>
        </p:nvSpPr>
        <p:spPr>
          <a:xfrm>
            <a:off x="548640" y="6053328"/>
            <a:ext cx="10424160" cy="292608"/>
          </a:xfrm>
          <a:prstGeom prst="rect">
            <a:avLst/>
          </a:prstGeom>
          <a:noFill/>
          <a:ln/>
        </p:spPr>
        <p:txBody>
          <a:bodyPr wrap="square" lIns="0" tIns="0" rIns="0" bIns="0" rtlCol="0" anchor="t"/>
          <a:lstStyle/>
          <a:p>
            <a:pPr marL="0" indent="0">
              <a:buNone/>
            </a:pPr>
            <a:r>
              <a:rPr lang="en-US" sz="1000" i="1" dirty="0">
                <a:solidFill>
                  <a:srgbClr val="64748B"/>
                </a:solidFill>
              </a:rPr>
              <a:t>Sources: OMB M-22-09; CISA BOD 25-01 and BOD 26-02; OMB M-26-14; CISA Logging Reference Architecture; FedRAMP Consolidated Rules for 2026 and timeline. Book 00, Chapter 01.</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3</a:t>
            </a:fld>
            <a:endParaRPr lang="en-US"/>
          </a:p>
        </p:txBody>
      </p:sp>
      <p:pic>
        <p:nvPicPr>
          <p:cNvPr id="18" name="Narration" descr="Narration for this slide; captions available">
            <a:hlinkClick r:id="" action="ppaction://media"/>
            <a:extLst>
              <a:ext uri="{FF2B5EF4-FFF2-40B4-BE49-F238E27FC236}">
                <a16:creationId xmlns:a16="http://schemas.microsoft.com/office/drawing/2014/main" id="{B457FD01-F449-AEC6-2367-A4733B6375D3}"/>
              </a:ext>
            </a:extLst>
          </p:cNvPr>
          <p:cNvPicPr>
            <a:picLocks noChangeAspect="1"/>
          </p:cNvPicPr>
          <p:nvPr>
            <a:audioFile r:link="rId2"/>
            <p:extLst>
              <p:ext uri="{DAA4B4D4-6D71-4841-9C94-3DE7FCFB9230}">
                <p14:media xmlns:p14="http://schemas.microsoft.com/office/powerpoint/2010/main" r:embed="rId1">
                  <p14:extLst>
                    <p:ext uri="{3AFAAA56-56D3-431D-BCD4-E75A35582382}">
                      <p173:tracksInfo xmlns:p173="http://schemas.microsoft.com/office/powerpoint/2017/3/main" displayLoc="slide">
                        <p173:trackLst>
                          <p173:track id="{DCCB61A5-B0C4-4C0C-946F-5B322CF8B63F}" label="English (captions)" lang="en-US" r:embed="rId8"/>
                        </p173:trackLst>
                      </p173:tracksInfo>
                    </p:ext>
                  </p14:extLst>
                </p14:media>
              </p:ext>
            </p:extLst>
          </p:nvPr>
        </p:nvPicPr>
        <p:blipFill>
          <a:blip r:embed="rId7"/>
          <a:stretch>
            <a:fillRect/>
          </a:stretch>
        </p:blipFill>
        <p:spPr>
          <a:xfrm>
            <a:off x="127000" y="6350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83730"/>
    </mc:Choice>
    <mc:Fallback>
      <p:transition spd="slow" advTm="8373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79728" fill="hold"/>
                                        <p:tgtEl>
                                          <p:spTgt spid="18"/>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57200"/>
            <a:ext cx="11064240" cy="777240"/>
          </a:xfrm>
          <a:prstGeom prst="rect">
            <a:avLst/>
          </a:prstGeom>
          <a:noFill/>
          <a:ln/>
        </p:spPr>
        <p:txBody>
          <a:bodyPr wrap="square" lIns="0" tIns="0" rIns="0" bIns="0" rtlCol="0" anchor="ctr"/>
          <a:lstStyle/>
          <a:p>
            <a:pPr marL="0" indent="0" algn="ctr">
              <a:buNone/>
            </a:pPr>
            <a:r>
              <a:rPr lang="en-US" sz="3000" b="1" dirty="0">
                <a:solidFill>
                  <a:schemeClr val="tx1"/>
                </a:solidFill>
                <a:latin typeface="Cambria" pitchFamily="34" charset="0"/>
                <a:ea typeface="Cambria" pitchFamily="34" charset="-122"/>
                <a:cs typeface="Cambria" pitchFamily="34" charset="-120"/>
              </a:rPr>
              <a:t>Vendor support dates cluster on the same estate</a:t>
            </a:r>
            <a:endParaRPr lang="en-US" sz="3000" dirty="0"/>
          </a:p>
        </p:txBody>
      </p:sp>
      <p:sp>
        <p:nvSpPr>
          <p:cNvPr id="3" name="Tag Why">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B91C1C"/>
          </a:solidFill>
          <a:ln w="12700">
            <a:solidFill>
              <a:srgbClr val="B91C1C"/>
            </a:solidFill>
            <a:prstDash val="solid"/>
          </a:ln>
        </p:spPr>
      </p:sp>
      <p:sp>
        <p:nvSpPr>
          <p:cNvPr id="4" name="Tag Why text"/>
          <p:cNvSpPr txBox="1"/>
          <p:nvPr/>
        </p:nvSpPr>
        <p:spPr>
          <a:xfrm>
            <a:off x="548640" y="109728"/>
            <a:ext cx="868680" cy="292608"/>
          </a:xfrm>
          <a:prstGeom prst="rect">
            <a:avLst/>
          </a:prstGeom>
          <a:noFill/>
          <a:ln/>
        </p:spPr>
        <p:txBody>
          <a:bodyPr wrap="square" lIns="0" tIns="0" rIns="0" bIns="0" rtlCol="0" anchor="ctr"/>
          <a:lstStyle/>
          <a:p>
            <a:pPr marL="0" indent="0" algn="ctr">
              <a:buNone/>
            </a:pPr>
            <a:r>
              <a:rPr lang="en-US" sz="1100" b="1" kern="0" spc="100" dirty="0">
                <a:solidFill>
                  <a:srgbClr val="FFFFFF"/>
                </a:solidFill>
              </a:rPr>
              <a:t>WHY</a:t>
            </a:r>
            <a:endParaRPr lang="en-US" sz="1100" dirty="0"/>
          </a:p>
        </p:txBody>
      </p:sp>
      <p:graphicFrame>
        <p:nvGraphicFramePr>
          <p:cNvPr id="5" name="Table 0"/>
          <p:cNvGraphicFramePr>
            <a:graphicFrameLocks noGrp="1"/>
          </p:cNvGraphicFramePr>
          <p:nvPr>
            <p:extLst>
              <p:ext uri="{D42A27DB-BD31-4B8C-83A1-F6EECF244321}">
                <p14:modId xmlns:p14="http://schemas.microsoft.com/office/powerpoint/2010/main" val="1579011935"/>
              </p:ext>
            </p:extLst>
          </p:nvPr>
        </p:nvGraphicFramePr>
        <p:xfrm>
          <a:off x="548640" y="1371600"/>
          <a:ext cx="9144000" cy="914400"/>
        </p:xfrm>
        <a:graphic>
          <a:graphicData uri="http://schemas.openxmlformats.org/drawingml/2006/table">
            <a:tbl>
              <a:tblPr firstRow="1" bandRow="1"/>
              <a:tblGrid>
                <a:gridCol w="3291840">
                  <a:extLst>
                    <a:ext uri="{9D8B030D-6E8A-4147-A177-3AD203B41FA5}">
                      <a16:colId xmlns:a16="http://schemas.microsoft.com/office/drawing/2014/main" val="20000"/>
                    </a:ext>
                  </a:extLst>
                </a:gridCol>
                <a:gridCol w="1371600">
                  <a:extLst>
                    <a:ext uri="{9D8B030D-6E8A-4147-A177-3AD203B41FA5}">
                      <a16:colId xmlns:a16="http://schemas.microsoft.com/office/drawing/2014/main" val="20001"/>
                    </a:ext>
                  </a:extLst>
                </a:gridCol>
                <a:gridCol w="1645920">
                  <a:extLst>
                    <a:ext uri="{9D8B030D-6E8A-4147-A177-3AD203B41FA5}">
                      <a16:colId xmlns:a16="http://schemas.microsoft.com/office/drawing/2014/main" val="20002"/>
                    </a:ext>
                  </a:extLst>
                </a:gridCol>
              </a:tblGrid>
              <a:tr h="347472">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Product</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End of support</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On Oct 21, 2026</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extLst>
                  <a:ext uri="{0D108BD9-81ED-4DB2-BD59-A6C34878D82A}">
                    <a16:rowId xmlns:a16="http://schemas.microsoft.com/office/drawing/2014/main" val="10000"/>
                  </a:ext>
                </a:extLst>
              </a:tr>
              <a:tr h="484632">
                <a:tc>
                  <a:txBody>
                    <a:bodyPr/>
                    <a:lstStyle/>
                    <a:p>
                      <a:pPr marL="0" indent="0">
                        <a:buNone/>
                      </a:pPr>
                      <a:r>
                        <a:rPr lang="en-US" sz="1200" b="1" dirty="0">
                          <a:solidFill>
                            <a:srgbClr val="1F2A44"/>
                          </a:solidFill>
                          <a:latin typeface="Calibri" pitchFamily="34" charset="0"/>
                          <a:ea typeface="Calibri" pitchFamily="34" charset="-122"/>
                          <a:cs typeface="Calibri" pitchFamily="34" charset="-120"/>
                        </a:rPr>
                        <a:t>Windows 10; Exchange Server 2016 and 2019</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Oct 14, 2025</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B91C1C"/>
                          </a:solidFill>
                          <a:latin typeface="Calibri" pitchFamily="34" charset="0"/>
                          <a:ea typeface="Calibri" pitchFamily="34" charset="-122"/>
                          <a:cs typeface="Calibri" pitchFamily="34" charset="-120"/>
                        </a:rPr>
                        <a:t>Passed</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484632">
                <a:tc>
                  <a:txBody>
                    <a:bodyPr/>
                    <a:lstStyle/>
                    <a:p>
                      <a:pPr marL="0" indent="0">
                        <a:buNone/>
                      </a:pPr>
                      <a:r>
                        <a:rPr lang="en-US" sz="1200" b="1" dirty="0">
                          <a:solidFill>
                            <a:srgbClr val="1F2A44"/>
                          </a:solidFill>
                          <a:latin typeface="Calibri" pitchFamily="34" charset="0"/>
                          <a:ea typeface="Calibri" pitchFamily="34" charset="-122"/>
                          <a:cs typeface="Calibri" pitchFamily="34" charset="-120"/>
                        </a:rPr>
                        <a:t>SQL Server 2016; SharePoint Server 2016 and 2019</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July 14, 2026</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B91C1C"/>
                          </a:solidFill>
                          <a:latin typeface="Calibri" pitchFamily="34" charset="0"/>
                          <a:ea typeface="Calibri" pitchFamily="34" charset="-122"/>
                          <a:cs typeface="Calibri" pitchFamily="34" charset="-120"/>
                        </a:rPr>
                        <a:t>Passed</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484632">
                <a:tc>
                  <a:txBody>
                    <a:bodyPr/>
                    <a:lstStyle/>
                    <a:p>
                      <a:pPr marL="0" indent="0">
                        <a:buNone/>
                      </a:pPr>
                      <a:r>
                        <a:rPr lang="en-US" sz="1200" b="1" dirty="0">
                          <a:solidFill>
                            <a:srgbClr val="1F2A44"/>
                          </a:solidFill>
                          <a:latin typeface="Calibri" pitchFamily="34" charset="0"/>
                          <a:ea typeface="Calibri" pitchFamily="34" charset="-122"/>
                          <a:cs typeface="Calibri" pitchFamily="34" charset="-120"/>
                        </a:rPr>
                        <a:t>Windows Server 2012 and 2012 R2, ESU Year 3</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Oct 13, 2026</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B91C1C"/>
                          </a:solidFill>
                          <a:latin typeface="Calibri" pitchFamily="34" charset="0"/>
                          <a:ea typeface="Calibri" pitchFamily="34" charset="-122"/>
                          <a:cs typeface="Calibri" pitchFamily="34" charset="-120"/>
                        </a:rPr>
                        <a:t>Passed</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484632">
                <a:tc>
                  <a:txBody>
                    <a:bodyPr/>
                    <a:lstStyle/>
                    <a:p>
                      <a:pPr marL="0" indent="0">
                        <a:buNone/>
                      </a:pPr>
                      <a:r>
                        <a:rPr lang="en-US" sz="1200" b="1" dirty="0">
                          <a:solidFill>
                            <a:srgbClr val="1F2A44"/>
                          </a:solidFill>
                          <a:latin typeface="Calibri" pitchFamily="34" charset="0"/>
                          <a:ea typeface="Calibri" pitchFamily="34" charset="-122"/>
                          <a:cs typeface="Calibri" pitchFamily="34" charset="-120"/>
                        </a:rPr>
                        <a:t>Windows Server 2016</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Jan 12, 2027</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b="1" dirty="0">
                          <a:solidFill>
                            <a:srgbClr val="B45309"/>
                          </a:solidFill>
                          <a:latin typeface="Calibri" pitchFamily="34" charset="0"/>
                          <a:ea typeface="Calibri" pitchFamily="34" charset="-122"/>
                          <a:cs typeface="Calibri" pitchFamily="34" charset="-120"/>
                        </a:rPr>
                        <a:t>Under three months</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484632">
                <a:tc>
                  <a:txBody>
                    <a:bodyPr/>
                    <a:lstStyle/>
                    <a:p>
                      <a:pPr marL="0" indent="0">
                        <a:buNone/>
                      </a:pPr>
                      <a:r>
                        <a:rPr lang="en-US" sz="1200" b="1" dirty="0">
                          <a:solidFill>
                            <a:srgbClr val="1F2A44"/>
                          </a:solidFill>
                          <a:latin typeface="Calibri" pitchFamily="34" charset="0"/>
                          <a:ea typeface="Calibri" pitchFamily="34" charset="-122"/>
                          <a:cs typeface="Calibri" pitchFamily="34" charset="-120"/>
                        </a:rPr>
                        <a:t>SQL Server 2017</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Oct 12, 2027</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About a year</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484632">
                <a:tc>
                  <a:txBody>
                    <a:bodyPr/>
                    <a:lstStyle/>
                    <a:p>
                      <a:pPr marL="0" indent="0">
                        <a:buNone/>
                      </a:pPr>
                      <a:r>
                        <a:rPr lang="en-US" sz="1200" b="1" dirty="0">
                          <a:solidFill>
                            <a:srgbClr val="1F2A44"/>
                          </a:solidFill>
                          <a:latin typeface="Calibri" pitchFamily="34" charset="0"/>
                          <a:ea typeface="Calibri" pitchFamily="34" charset="-122"/>
                          <a:cs typeface="Calibri" pitchFamily="34" charset="-120"/>
                        </a:rPr>
                        <a:t>Windows Server 2019; Identity Manager 2016</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Jan 9, 2029</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Within the horizon</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6"/>
                  </a:ext>
                </a:extLst>
              </a:tr>
            </a:tbl>
          </a:graphicData>
        </a:graphic>
      </p:graphicFrame>
      <p:sp>
        <p:nvSpPr>
          <p:cNvPr id="6" name="Binds box">
            <a:extLst>
              <a:ext uri="{C183D7F6-B498-43B3-948B-1728B52AA6E4}">
                <adec:decorative xmlns:adec="http://schemas.microsoft.com/office/drawing/2017/decorative" val="1"/>
              </a:ext>
            </a:extLst>
          </p:cNvPr>
          <p:cNvSpPr/>
          <p:nvPr/>
        </p:nvSpPr>
        <p:spPr>
          <a:xfrm>
            <a:off x="7086600" y="1371600"/>
            <a:ext cx="4572000" cy="3291840"/>
          </a:xfrm>
          <a:prstGeom prst="roundRect">
            <a:avLst>
              <a:gd name="adj" fmla="val 2222"/>
            </a:avLst>
          </a:prstGeom>
          <a:solidFill>
            <a:srgbClr val="FBE4E4"/>
          </a:solidFill>
          <a:ln w="12700">
            <a:solidFill>
              <a:srgbClr val="FBE4E4"/>
            </a:solidFill>
            <a:prstDash val="solid"/>
          </a:ln>
          <a:effectLst>
            <a:outerShdw blurRad="76200" dist="25400" dir="5400000" algn="bl" rotWithShape="0">
              <a:srgbClr val="64748B">
                <a:alpha val="22000"/>
              </a:srgbClr>
            </a:outerShdw>
          </a:effectLst>
        </p:spPr>
      </p:sp>
      <p:sp>
        <p:nvSpPr>
          <p:cNvPr id="7" name="Icon FaTriangleExclamation">
            <a:extLst>
              <a:ext uri="{C183D7F6-B498-43B3-948B-1728B52AA6E4}">
                <adec:decorative xmlns:adec="http://schemas.microsoft.com/office/drawing/2017/decorative" val="1"/>
              </a:ext>
            </a:extLst>
          </p:cNvPr>
          <p:cNvSpPr/>
          <p:nvPr/>
        </p:nvSpPr>
        <p:spPr>
          <a:xfrm>
            <a:off x="7315200" y="1517904"/>
            <a:ext cx="548640" cy="548640"/>
          </a:xfrm>
          <a:prstGeom prst="ellipse">
            <a:avLst/>
          </a:prstGeom>
          <a:solidFill>
            <a:srgbClr val="B91C1C"/>
          </a:solidFill>
          <a:ln w="12700">
            <a:solidFill>
              <a:srgbClr val="B91C1C"/>
            </a:solidFill>
            <a:prstDash val="solid"/>
          </a:ln>
        </p:spPr>
      </p:sp>
      <p:pic>
        <p:nvPicPr>
          <p:cNvPr id="8" name="Image 0">
            <a:extLst>
              <a:ext uri="{C183D7F6-B498-43B3-948B-1728B52AA6E4}">
                <adec:decorative xmlns:adec="http://schemas.microsoft.com/office/drawing/2017/decorative" val="1"/>
              </a:ext>
            </a:extLst>
          </p:cNvPr>
          <p:cNvPicPr>
            <a:picLocks noChangeAspect="1"/>
          </p:cNvPicPr>
          <p:nvPr/>
        </p:nvPicPr>
        <p:blipFill>
          <a:blip r:embed="rId5"/>
          <a:stretch>
            <a:fillRect/>
          </a:stretch>
        </p:blipFill>
        <p:spPr>
          <a:xfrm>
            <a:off x="7446874" y="1649578"/>
            <a:ext cx="285293" cy="285293"/>
          </a:xfrm>
          <a:prstGeom prst="rect">
            <a:avLst/>
          </a:prstGeom>
        </p:spPr>
      </p:pic>
      <p:sp>
        <p:nvSpPr>
          <p:cNvPr id="9" name="Binds head"/>
          <p:cNvSpPr txBox="1"/>
          <p:nvPr/>
        </p:nvSpPr>
        <p:spPr>
          <a:xfrm>
            <a:off x="8001000" y="1517904"/>
            <a:ext cx="3566160" cy="548640"/>
          </a:xfrm>
          <a:prstGeom prst="rect">
            <a:avLst/>
          </a:prstGeom>
          <a:noFill/>
          <a:ln/>
        </p:spPr>
        <p:txBody>
          <a:bodyPr wrap="square" lIns="0" tIns="0" rIns="0" bIns="0" rtlCol="0" anchor="ctr"/>
          <a:lstStyle/>
          <a:p>
            <a:pPr marL="0" indent="0">
              <a:buNone/>
            </a:pPr>
            <a:r>
              <a:rPr lang="en-US" sz="1700" b="1" dirty="0">
                <a:solidFill>
                  <a:srgbClr val="B91C1C"/>
                </a:solidFill>
                <a:latin typeface="Cambria" pitchFamily="34" charset="0"/>
                <a:ea typeface="Cambria" pitchFamily="34" charset="-122"/>
                <a:cs typeface="Cambria" pitchFamily="34" charset="-120"/>
              </a:rPr>
              <a:t>Why a vendor date binds</a:t>
            </a:r>
            <a:endParaRPr lang="en-US" sz="1700" dirty="0"/>
          </a:p>
        </p:txBody>
      </p:sp>
      <p:sp>
        <p:nvSpPr>
          <p:cNvPr id="10" name="Binds list"/>
          <p:cNvSpPr txBox="1"/>
          <p:nvPr/>
        </p:nvSpPr>
        <p:spPr>
          <a:xfrm>
            <a:off x="7315200" y="2194560"/>
            <a:ext cx="4206240" cy="2395728"/>
          </a:xfrm>
          <a:prstGeom prst="rect">
            <a:avLst/>
          </a:prstGeom>
          <a:noFill/>
          <a:ln/>
        </p:spPr>
        <p:txBody>
          <a:bodyPr wrap="square" lIns="0" tIns="0" rIns="0" bIns="0" rtlCol="0" anchor="t"/>
          <a:lstStyle/>
          <a:p>
            <a:pPr marL="342900" indent="-342900">
              <a:spcAft>
                <a:spcPts val="600"/>
              </a:spcAft>
              <a:buSzPct val="100000"/>
              <a:buChar char="•"/>
            </a:pPr>
            <a:r>
              <a:rPr lang="en-US" sz="1350" dirty="0">
                <a:solidFill>
                  <a:schemeClr val="tx2"/>
                </a:solidFill>
              </a:rPr>
              <a:t>After it: no security updates, no assisted support</a:t>
            </a:r>
            <a:endParaRPr lang="en-US" sz="1400" dirty="0"/>
          </a:p>
          <a:p>
            <a:pPr marL="342900" indent="-342900">
              <a:spcAft>
                <a:spcPts val="600"/>
              </a:spcAft>
              <a:buSzPct val="100000"/>
              <a:buChar char="•"/>
            </a:pPr>
            <a:r>
              <a:rPr lang="en-US" sz="1350" dirty="0">
                <a:solidFill>
                  <a:schemeClr val="tx2"/>
                </a:solidFill>
              </a:rPr>
              <a:t>BOD 26-02 makes it a directed action at the edge</a:t>
            </a:r>
            <a:endParaRPr lang="en-US" sz="1400" dirty="0"/>
          </a:p>
          <a:p>
            <a:pPr marL="342900" indent="-342900">
              <a:spcAft>
                <a:spcPts val="600"/>
              </a:spcAft>
              <a:buSzPct val="100000"/>
              <a:buChar char="•"/>
            </a:pPr>
            <a:r>
              <a:rPr lang="en-US" sz="1350" dirty="0">
                <a:solidFill>
                  <a:schemeClr val="tx2"/>
                </a:solidFill>
              </a:rPr>
              <a:t>Every security plan asserts flaw remediation</a:t>
            </a:r>
            <a:endParaRPr lang="en-US" sz="1400" dirty="0"/>
          </a:p>
          <a:p>
            <a:pPr marL="342900" indent="-342900">
              <a:spcAft>
                <a:spcPts val="600"/>
              </a:spcAft>
              <a:buSzPct val="100000"/>
              <a:buChar char="•"/>
            </a:pPr>
            <a:r>
              <a:rPr lang="en-US" sz="1350" dirty="0">
                <a:solidFill>
                  <a:schemeClr val="tx2"/>
                </a:solidFill>
              </a:rPr>
              <a:t>Running past it is a risk acceptance the AO signs</a:t>
            </a:r>
            <a:endParaRPr lang="en-US" sz="1400" dirty="0"/>
          </a:p>
        </p:txBody>
      </p:sp>
      <p:sp>
        <p:nvSpPr>
          <p:cNvPr id="11" name="Decision bar">
            <a:extLst>
              <a:ext uri="{C183D7F6-B498-43B3-948B-1728B52AA6E4}">
                <adec:decorative xmlns:adec="http://schemas.microsoft.com/office/drawing/2017/decorative" val="1"/>
              </a:ext>
            </a:extLst>
          </p:cNvPr>
          <p:cNvSpPr/>
          <p:nvPr/>
        </p:nvSpPr>
        <p:spPr>
          <a:xfrm>
            <a:off x="548640" y="4800600"/>
            <a:ext cx="11109960" cy="1143000"/>
          </a:xfrm>
          <a:prstGeom prst="roundRect">
            <a:avLst>
              <a:gd name="adj" fmla="val 6400"/>
            </a:avLst>
          </a:prstGeom>
          <a:solidFill>
            <a:srgbClr val="FFFFFF"/>
          </a:solidFill>
          <a:ln w="12700">
            <a:solidFill>
              <a:srgbClr val="B45309"/>
            </a:solidFill>
            <a:prstDash val="solid"/>
          </a:ln>
          <a:effectLst>
            <a:outerShdw blurRad="76200" dist="25400" dir="5400000" algn="bl" rotWithShape="0">
              <a:srgbClr val="64748B">
                <a:alpha val="22000"/>
              </a:srgbClr>
            </a:outerShdw>
          </a:effectLst>
        </p:spPr>
      </p:sp>
      <p:sp>
        <p:nvSpPr>
          <p:cNvPr id="12" name="Icon FaScaleBalanced">
            <a:extLst>
              <a:ext uri="{C183D7F6-B498-43B3-948B-1728B52AA6E4}">
                <adec:decorative xmlns:adec="http://schemas.microsoft.com/office/drawing/2017/decorative" val="1"/>
              </a:ext>
            </a:extLst>
          </p:cNvPr>
          <p:cNvSpPr/>
          <p:nvPr/>
        </p:nvSpPr>
        <p:spPr>
          <a:xfrm>
            <a:off x="749808" y="5047488"/>
            <a:ext cx="640080" cy="640080"/>
          </a:xfrm>
          <a:prstGeom prst="ellipse">
            <a:avLst/>
          </a:prstGeom>
          <a:solidFill>
            <a:srgbClr val="B45309"/>
          </a:solidFill>
          <a:ln w="12700">
            <a:solidFill>
              <a:srgbClr val="B45309"/>
            </a:solidFill>
            <a:prstDash val="solid"/>
          </a:ln>
        </p:spPr>
      </p:sp>
      <p:pic>
        <p:nvPicPr>
          <p:cNvPr id="13" name="Image 1">
            <a:extLst>
              <a:ext uri="{C183D7F6-B498-43B3-948B-1728B52AA6E4}">
                <adec:decorative xmlns:adec="http://schemas.microsoft.com/office/drawing/2017/decorative" val="1"/>
              </a:ext>
            </a:extLst>
          </p:cNvPr>
          <p:cNvPicPr>
            <a:picLocks noChangeAspect="1"/>
          </p:cNvPicPr>
          <p:nvPr/>
        </p:nvPicPr>
        <p:blipFill>
          <a:blip r:embed="rId6"/>
          <a:stretch>
            <a:fillRect/>
          </a:stretch>
        </p:blipFill>
        <p:spPr>
          <a:xfrm>
            <a:off x="903427" y="5201107"/>
            <a:ext cx="332842" cy="332842"/>
          </a:xfrm>
          <a:prstGeom prst="rect">
            <a:avLst/>
          </a:prstGeom>
        </p:spPr>
      </p:pic>
      <p:sp>
        <p:nvSpPr>
          <p:cNvPr id="14" name="Decision"/>
          <p:cNvSpPr txBox="1"/>
          <p:nvPr/>
        </p:nvSpPr>
        <p:spPr>
          <a:xfrm>
            <a:off x="1600200" y="4873752"/>
            <a:ext cx="5806440" cy="996696"/>
          </a:xfrm>
          <a:prstGeom prst="rect">
            <a:avLst/>
          </a:prstGeom>
          <a:noFill/>
          <a:ln/>
        </p:spPr>
        <p:txBody>
          <a:bodyPr wrap="square" lIns="0" tIns="0" rIns="0" bIns="0" rtlCol="0" anchor="ctr"/>
          <a:lstStyle/>
          <a:p>
            <a:pPr marL="0" indent="0">
              <a:buNone/>
            </a:pPr>
            <a:r>
              <a:rPr lang="en-US" sz="1100" b="1" kern="0" spc="100" dirty="0">
                <a:solidFill>
                  <a:srgbClr val="B45309"/>
                </a:solidFill>
              </a:rPr>
              <a:t>DECISION</a:t>
            </a:r>
            <a:endParaRPr lang="en-US" sz="1400" dirty="0"/>
          </a:p>
          <a:p>
            <a:pPr marL="0" indent="0">
              <a:buNone/>
            </a:pPr>
            <a:r>
              <a:rPr lang="en-US" sz="1400" dirty="0">
                <a:solidFill>
                  <a:srgbClr val="334155"/>
                </a:solidFill>
              </a:rPr>
              <a:t>Retire, or accept in writing, every component that will run past end of support, starting with Windows Server 2016</a:t>
            </a:r>
            <a:endParaRPr lang="en-US" sz="1400" dirty="0"/>
          </a:p>
        </p:txBody>
      </p:sp>
      <p:sp>
        <p:nvSpPr>
          <p:cNvPr id="15" name="Owner"/>
          <p:cNvSpPr txBox="1"/>
          <p:nvPr/>
        </p:nvSpPr>
        <p:spPr>
          <a:xfrm>
            <a:off x="7589520" y="4873752"/>
            <a:ext cx="2103120" cy="996696"/>
          </a:xfrm>
          <a:prstGeom prst="rect">
            <a:avLst/>
          </a:prstGeom>
          <a:noFill/>
          <a:ln/>
        </p:spPr>
        <p:txBody>
          <a:bodyPr wrap="square" lIns="0" tIns="0" rIns="0" bIns="0" rtlCol="0" anchor="ctr"/>
          <a:lstStyle/>
          <a:p>
            <a:pPr marL="0" indent="0">
              <a:buNone/>
            </a:pPr>
            <a:r>
              <a:rPr lang="en-US" sz="1100" b="1" kern="0" spc="100" dirty="0">
                <a:solidFill>
                  <a:srgbClr val="0F766E"/>
                </a:solidFill>
              </a:rPr>
              <a:t>OWNER</a:t>
            </a:r>
            <a:endParaRPr lang="en-US" sz="1400" dirty="0"/>
          </a:p>
          <a:p>
            <a:pPr marL="0" indent="0">
              <a:buNone/>
            </a:pPr>
            <a:r>
              <a:rPr lang="en-US" sz="1400" dirty="0">
                <a:solidFill>
                  <a:srgbClr val="334155"/>
                </a:solidFill>
              </a:rPr>
              <a:t>Authorizing official</a:t>
            </a:r>
            <a:endParaRPr lang="en-US" sz="1400" dirty="0"/>
          </a:p>
        </p:txBody>
      </p:sp>
      <p:sp>
        <p:nvSpPr>
          <p:cNvPr id="16" name="When"/>
          <p:cNvSpPr txBox="1"/>
          <p:nvPr/>
        </p:nvSpPr>
        <p:spPr>
          <a:xfrm>
            <a:off x="9784080" y="4873752"/>
            <a:ext cx="1783080" cy="996696"/>
          </a:xfrm>
          <a:prstGeom prst="rect">
            <a:avLst/>
          </a:prstGeom>
          <a:noFill/>
          <a:ln/>
        </p:spPr>
        <p:txBody>
          <a:bodyPr wrap="square" lIns="0" tIns="0" rIns="0" bIns="0" rtlCol="0" anchor="ctr"/>
          <a:lstStyle/>
          <a:p>
            <a:pPr marL="0" indent="0">
              <a:buNone/>
            </a:pPr>
            <a:r>
              <a:rPr lang="en-US" sz="1100" b="1" kern="0" spc="100" dirty="0">
                <a:solidFill>
                  <a:srgbClr val="1F2A44"/>
                </a:solidFill>
              </a:rPr>
              <a:t>NEEDED BY</a:t>
            </a:r>
            <a:endParaRPr lang="en-US" sz="1400" dirty="0"/>
          </a:p>
          <a:p>
            <a:pPr marL="0" indent="0">
              <a:buNone/>
            </a:pPr>
            <a:r>
              <a:rPr lang="en-US" sz="1400" dirty="0">
                <a:solidFill>
                  <a:srgbClr val="334155"/>
                </a:solidFill>
              </a:rPr>
              <a:t>January 12, 2027</a:t>
            </a:r>
            <a:endParaRPr lang="en-US" sz="1400" dirty="0"/>
          </a:p>
        </p:txBody>
      </p:sp>
      <p:sp>
        <p:nvSpPr>
          <p:cNvPr id="17" name="Sources"/>
          <p:cNvSpPr txBox="1"/>
          <p:nvPr/>
        </p:nvSpPr>
        <p:spPr>
          <a:xfrm>
            <a:off x="548640" y="6053328"/>
            <a:ext cx="10424160" cy="292608"/>
          </a:xfrm>
          <a:prstGeom prst="rect">
            <a:avLst/>
          </a:prstGeom>
          <a:noFill/>
          <a:ln/>
        </p:spPr>
        <p:txBody>
          <a:bodyPr wrap="square" lIns="0" tIns="0" rIns="0" bIns="0" rtlCol="0" anchor="t"/>
          <a:lstStyle/>
          <a:p>
            <a:pPr marL="0" indent="0">
              <a:buNone/>
            </a:pPr>
            <a:r>
              <a:rPr lang="en-US" sz="1000" i="1" dirty="0">
                <a:solidFill>
                  <a:srgbClr val="64748B"/>
                </a:solidFill>
              </a:rPr>
              <a:t>Sources: Microsoft Learn — Ending Support in 2025, 2026, 2027 and 2029; MIM 2016 news and updates; CISA BOD 26-02; NIST SP 800-53 Rev. 5 (SA-22). Book 00, Chapter 01; Appendix A.</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4</a:t>
            </a:fld>
            <a:endParaRPr lang="en-US"/>
          </a:p>
        </p:txBody>
      </p:sp>
      <p:pic>
        <p:nvPicPr>
          <p:cNvPr id="18" name="Narration" descr="Narration for this slide; captions available">
            <a:hlinkClick r:id="" action="ppaction://media"/>
            <a:extLst>
              <a:ext uri="{FF2B5EF4-FFF2-40B4-BE49-F238E27FC236}">
                <a16:creationId xmlns:a16="http://schemas.microsoft.com/office/drawing/2014/main" id="{1AE8E908-2CE2-CAB7-58BB-4D102C4BDB51}"/>
              </a:ext>
            </a:extLst>
          </p:cNvPr>
          <p:cNvPicPr>
            <a:picLocks noChangeAspect="1"/>
          </p:cNvPicPr>
          <p:nvPr>
            <a:audioFile r:link="rId2"/>
            <p:extLst>
              <p:ext uri="{DAA4B4D4-6D71-4841-9C94-3DE7FCFB9230}">
                <p14:media xmlns:p14="http://schemas.microsoft.com/office/powerpoint/2010/main" r:embed="rId1">
                  <p14:extLst>
                    <p:ext uri="{3AFAAA56-56D3-431D-BCD4-E75A35582382}">
                      <p173:tracksInfo xmlns:p173="http://schemas.microsoft.com/office/powerpoint/2017/3/main" displayLoc="slide">
                        <p173:trackLst>
                          <p173:track id="{8415B5BD-3A61-45DF-BB90-0B7E2B686357}" label="English (captions)" lang="en-US" r:embed="rId8"/>
                        </p173:trackLst>
                      </p173:tracksInfo>
                    </p:ext>
                  </p14:extLst>
                </p14:media>
              </p:ext>
            </p:extLst>
          </p:nvPr>
        </p:nvPicPr>
        <p:blipFill>
          <a:blip r:embed="rId7"/>
          <a:stretch>
            <a:fillRect/>
          </a:stretch>
        </p:blipFill>
        <p:spPr>
          <a:xfrm>
            <a:off x="127000" y="6350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83370"/>
    </mc:Choice>
    <mc:Fallback>
      <p:transition spd="slow" advTm="8337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79368" fill="hold"/>
                                        <p:tgtEl>
                                          <p:spTgt spid="18"/>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57200"/>
            <a:ext cx="11064240" cy="777240"/>
          </a:xfrm>
          <a:prstGeom prst="rect">
            <a:avLst/>
          </a:prstGeom>
          <a:noFill/>
          <a:ln/>
        </p:spPr>
        <p:txBody>
          <a:bodyPr wrap="square" lIns="0" tIns="0" rIns="0" bIns="0" rtlCol="0" anchor="ctr"/>
          <a:lstStyle/>
          <a:p>
            <a:pPr marL="0" indent="0" algn="ctr">
              <a:buNone/>
            </a:pPr>
            <a:r>
              <a:rPr lang="en-US" sz="3000" b="1" dirty="0">
                <a:solidFill>
                  <a:schemeClr val="tx1"/>
                </a:solidFill>
                <a:latin typeface="Cambria" pitchFamily="34" charset="0"/>
                <a:ea typeface="Cambria" pitchFamily="34" charset="-122"/>
                <a:cs typeface="Cambria" pitchFamily="34" charset="-120"/>
              </a:rPr>
              <a:t>Read the clocks exactly, then run one program</a:t>
            </a:r>
            <a:endParaRPr lang="en-US" sz="3000" dirty="0"/>
          </a:p>
        </p:txBody>
      </p:sp>
      <p:sp>
        <p:nvSpPr>
          <p:cNvPr id="3" name="Tag Why">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B91C1C"/>
          </a:solidFill>
          <a:ln w="12700">
            <a:solidFill>
              <a:srgbClr val="B91C1C"/>
            </a:solidFill>
            <a:prstDash val="solid"/>
          </a:ln>
        </p:spPr>
      </p:sp>
      <p:sp>
        <p:nvSpPr>
          <p:cNvPr id="4" name="Tag Why text"/>
          <p:cNvSpPr txBox="1"/>
          <p:nvPr/>
        </p:nvSpPr>
        <p:spPr>
          <a:xfrm>
            <a:off x="548640" y="109728"/>
            <a:ext cx="868680" cy="292608"/>
          </a:xfrm>
          <a:prstGeom prst="rect">
            <a:avLst/>
          </a:prstGeom>
          <a:noFill/>
          <a:ln/>
        </p:spPr>
        <p:txBody>
          <a:bodyPr wrap="square" lIns="0" tIns="0" rIns="0" bIns="0" rtlCol="0" anchor="ctr"/>
          <a:lstStyle/>
          <a:p>
            <a:pPr marL="0" indent="0" algn="ctr">
              <a:buNone/>
            </a:pPr>
            <a:r>
              <a:rPr lang="en-US" sz="1100" b="1" kern="0" spc="100" dirty="0">
                <a:solidFill>
                  <a:srgbClr val="FFFFFF"/>
                </a:solidFill>
              </a:rPr>
              <a:t>WHY</a:t>
            </a:r>
            <a:endParaRPr lang="en-US" sz="1100" dirty="0"/>
          </a:p>
        </p:txBody>
      </p:sp>
      <p:sp>
        <p:nvSpPr>
          <p:cNvPr id="5" name="Clocks head"/>
          <p:cNvSpPr txBox="1"/>
          <p:nvPr/>
        </p:nvSpPr>
        <p:spPr>
          <a:xfrm>
            <a:off x="548640" y="1371600"/>
            <a:ext cx="5669280" cy="274320"/>
          </a:xfrm>
          <a:prstGeom prst="rect">
            <a:avLst/>
          </a:prstGeom>
          <a:noFill/>
          <a:ln/>
        </p:spPr>
        <p:txBody>
          <a:bodyPr wrap="square" lIns="0" tIns="0" rIns="0" bIns="0" rtlCol="0" anchor="t"/>
          <a:lstStyle/>
          <a:p>
            <a:pPr marL="0" indent="0">
              <a:buNone/>
            </a:pPr>
            <a:r>
              <a:rPr lang="en-US" sz="1200" b="1" dirty="0">
                <a:solidFill>
                  <a:srgbClr val="64748B"/>
                </a:solidFill>
              </a:rPr>
              <a:t>WHAT THE CLOCKS DON'T REQUIRE</a:t>
            </a:r>
            <a:endParaRPr lang="en-US" sz="1200" dirty="0"/>
          </a:p>
        </p:txBody>
      </p:sp>
      <p:sp>
        <p:nvSpPr>
          <p:cNvPr id="6" name="Clocks 0">
            <a:extLst>
              <a:ext uri="{C183D7F6-B498-43B3-948B-1728B52AA6E4}">
                <adec:decorative xmlns:adec="http://schemas.microsoft.com/office/drawing/2017/decorative" val="1"/>
              </a:ext>
            </a:extLst>
          </p:cNvPr>
          <p:cNvSpPr/>
          <p:nvPr/>
        </p:nvSpPr>
        <p:spPr>
          <a:xfrm>
            <a:off x="548640" y="1719072"/>
            <a:ext cx="5669280" cy="621792"/>
          </a:xfrm>
          <a:prstGeom prst="roundRect">
            <a:avLst>
              <a:gd name="adj" fmla="val 11765"/>
            </a:avLst>
          </a:prstGeom>
          <a:solidFill>
            <a:srgbClr val="E9EEF4"/>
          </a:solidFill>
          <a:ln w="12700">
            <a:solidFill>
              <a:srgbClr val="E9EEF4"/>
            </a:solidFill>
            <a:prstDash val="solid"/>
          </a:ln>
          <a:effectLst>
            <a:outerShdw blurRad="76200" dist="25400" dir="5400000" algn="bl" rotWithShape="0">
              <a:srgbClr val="64748B">
                <a:alpha val="22000"/>
              </a:srgbClr>
            </a:outerShdw>
          </a:effectLst>
        </p:spPr>
      </p:sp>
      <p:sp>
        <p:nvSpPr>
          <p:cNvPr id="7" name="Clocks 0 text"/>
          <p:cNvSpPr txBox="1"/>
          <p:nvPr/>
        </p:nvSpPr>
        <p:spPr>
          <a:xfrm>
            <a:off x="731520" y="1719072"/>
            <a:ext cx="5394960" cy="621792"/>
          </a:xfrm>
          <a:prstGeom prst="rect">
            <a:avLst/>
          </a:prstGeom>
          <a:noFill/>
          <a:ln/>
        </p:spPr>
        <p:txBody>
          <a:bodyPr wrap="square" lIns="0" tIns="0" rIns="0" bIns="0" rtlCol="0" anchor="ctr"/>
          <a:lstStyle/>
          <a:p>
            <a:pPr marL="0" indent="0">
              <a:buNone/>
            </a:pPr>
            <a:r>
              <a:rPr lang="en-US" sz="1350" b="1" dirty="0">
                <a:solidFill>
                  <a:srgbClr val="1F2A44"/>
                </a:solidFill>
              </a:rPr>
              <a:t>FedRAMP   </a:t>
            </a:r>
            <a:r>
              <a:rPr lang="en-US" sz="1350" dirty="0">
                <a:solidFill>
                  <a:schemeClr val="tx2"/>
                </a:solidFill>
              </a:rPr>
              <a:t>Certifies cloud services; each agency still authorizes its own systems</a:t>
            </a:r>
            <a:endParaRPr lang="en-US" sz="1350" dirty="0"/>
          </a:p>
        </p:txBody>
      </p:sp>
      <p:sp>
        <p:nvSpPr>
          <p:cNvPr id="8" name="Clocks 1">
            <a:extLst>
              <a:ext uri="{C183D7F6-B498-43B3-948B-1728B52AA6E4}">
                <adec:decorative xmlns:adec="http://schemas.microsoft.com/office/drawing/2017/decorative" val="1"/>
              </a:ext>
            </a:extLst>
          </p:cNvPr>
          <p:cNvSpPr/>
          <p:nvPr/>
        </p:nvSpPr>
        <p:spPr>
          <a:xfrm>
            <a:off x="548640" y="2450592"/>
            <a:ext cx="5669280" cy="621792"/>
          </a:xfrm>
          <a:prstGeom prst="roundRect">
            <a:avLst>
              <a:gd name="adj" fmla="val 11765"/>
            </a:avLst>
          </a:prstGeom>
          <a:solidFill>
            <a:srgbClr val="E4EAF4"/>
          </a:solidFill>
          <a:ln w="12700">
            <a:solidFill>
              <a:srgbClr val="E4EAF4"/>
            </a:solidFill>
            <a:prstDash val="solid"/>
          </a:ln>
          <a:effectLst>
            <a:outerShdw blurRad="76200" dist="25400" dir="5400000" algn="bl" rotWithShape="0">
              <a:srgbClr val="64748B">
                <a:alpha val="22000"/>
              </a:srgbClr>
            </a:outerShdw>
          </a:effectLst>
        </p:spPr>
      </p:sp>
      <p:sp>
        <p:nvSpPr>
          <p:cNvPr id="9" name="Clocks 1 text"/>
          <p:cNvSpPr txBox="1"/>
          <p:nvPr/>
        </p:nvSpPr>
        <p:spPr>
          <a:xfrm>
            <a:off x="731520" y="2450592"/>
            <a:ext cx="5394960" cy="621792"/>
          </a:xfrm>
          <a:prstGeom prst="rect">
            <a:avLst/>
          </a:prstGeom>
          <a:noFill/>
          <a:ln/>
        </p:spPr>
        <p:txBody>
          <a:bodyPr wrap="square" lIns="0" tIns="0" rIns="0" bIns="0" rtlCol="0" anchor="ctr"/>
          <a:lstStyle/>
          <a:p>
            <a:pPr marL="0" indent="0">
              <a:buNone/>
            </a:pPr>
            <a:r>
              <a:rPr lang="en-US" sz="1350" b="1" dirty="0">
                <a:solidFill>
                  <a:srgbClr val="1F2A44"/>
                </a:solidFill>
              </a:rPr>
              <a:t>Moderate   </a:t>
            </a:r>
            <a:r>
              <a:rPr lang="en-US" sz="1350" dirty="0">
                <a:solidFill>
                  <a:schemeClr val="tx2"/>
                </a:solidFill>
              </a:rPr>
              <a:t>Now certification Class C; High is Class D</a:t>
            </a:r>
            <a:endParaRPr lang="en-US" sz="1350" dirty="0"/>
          </a:p>
        </p:txBody>
      </p:sp>
      <p:sp>
        <p:nvSpPr>
          <p:cNvPr id="10" name="Clocks 2">
            <a:extLst>
              <a:ext uri="{C183D7F6-B498-43B3-948B-1728B52AA6E4}">
                <adec:decorative xmlns:adec="http://schemas.microsoft.com/office/drawing/2017/decorative" val="1"/>
              </a:ext>
            </a:extLst>
          </p:cNvPr>
          <p:cNvSpPr/>
          <p:nvPr/>
        </p:nvSpPr>
        <p:spPr>
          <a:xfrm>
            <a:off x="548640" y="3182112"/>
            <a:ext cx="5669280" cy="621792"/>
          </a:xfrm>
          <a:prstGeom prst="roundRect">
            <a:avLst>
              <a:gd name="adj" fmla="val 11765"/>
            </a:avLst>
          </a:prstGeom>
          <a:solidFill>
            <a:srgbClr val="E9EEF4"/>
          </a:solidFill>
          <a:ln w="12700">
            <a:solidFill>
              <a:srgbClr val="E9EEF4"/>
            </a:solidFill>
            <a:prstDash val="solid"/>
          </a:ln>
          <a:effectLst>
            <a:outerShdw blurRad="76200" dist="25400" dir="5400000" algn="bl" rotWithShape="0">
              <a:srgbClr val="64748B">
                <a:alpha val="22000"/>
              </a:srgbClr>
            </a:outerShdw>
          </a:effectLst>
        </p:spPr>
      </p:sp>
      <p:sp>
        <p:nvSpPr>
          <p:cNvPr id="11" name="Clocks 2 text"/>
          <p:cNvSpPr txBox="1"/>
          <p:nvPr/>
        </p:nvSpPr>
        <p:spPr>
          <a:xfrm>
            <a:off x="731520" y="3182112"/>
            <a:ext cx="5394960" cy="621792"/>
          </a:xfrm>
          <a:prstGeom prst="rect">
            <a:avLst/>
          </a:prstGeom>
          <a:noFill/>
          <a:ln/>
        </p:spPr>
        <p:txBody>
          <a:bodyPr wrap="square" lIns="0" tIns="0" rIns="0" bIns="0" rtlCol="0" anchor="ctr"/>
          <a:lstStyle/>
          <a:p>
            <a:pPr marL="0" indent="0">
              <a:buNone/>
            </a:pPr>
            <a:r>
              <a:rPr lang="en-US" sz="1350" b="1" dirty="0">
                <a:solidFill>
                  <a:srgbClr val="1F2A44"/>
                </a:solidFill>
              </a:rPr>
              <a:t>Zero Trust   </a:t>
            </a:r>
            <a:r>
              <a:rPr lang="en-US" sz="1350" dirty="0">
                <a:solidFill>
                  <a:schemeClr val="tx2"/>
                </a:solidFill>
              </a:rPr>
              <a:t>No federal document requires a maturity stage</a:t>
            </a:r>
            <a:endParaRPr lang="en-US" sz="1350" dirty="0"/>
          </a:p>
        </p:txBody>
      </p:sp>
      <p:sp>
        <p:nvSpPr>
          <p:cNvPr id="12" name="Clocks 3">
            <a:extLst>
              <a:ext uri="{C183D7F6-B498-43B3-948B-1728B52AA6E4}">
                <adec:decorative xmlns:adec="http://schemas.microsoft.com/office/drawing/2017/decorative" val="1"/>
              </a:ext>
            </a:extLst>
          </p:cNvPr>
          <p:cNvSpPr/>
          <p:nvPr/>
        </p:nvSpPr>
        <p:spPr>
          <a:xfrm>
            <a:off x="548640" y="3913632"/>
            <a:ext cx="5669280" cy="621792"/>
          </a:xfrm>
          <a:prstGeom prst="roundRect">
            <a:avLst>
              <a:gd name="adj" fmla="val 11765"/>
            </a:avLst>
          </a:prstGeom>
          <a:solidFill>
            <a:srgbClr val="E4EAF4"/>
          </a:solidFill>
          <a:ln w="12700">
            <a:solidFill>
              <a:srgbClr val="E4EAF4"/>
            </a:solidFill>
            <a:prstDash val="solid"/>
          </a:ln>
          <a:effectLst>
            <a:outerShdw blurRad="76200" dist="25400" dir="5400000" algn="bl" rotWithShape="0">
              <a:srgbClr val="64748B">
                <a:alpha val="22000"/>
              </a:srgbClr>
            </a:outerShdw>
          </a:effectLst>
        </p:spPr>
      </p:sp>
      <p:sp>
        <p:nvSpPr>
          <p:cNvPr id="13" name="Clocks 3 text"/>
          <p:cNvSpPr txBox="1"/>
          <p:nvPr/>
        </p:nvSpPr>
        <p:spPr>
          <a:xfrm>
            <a:off x="731520" y="3913632"/>
            <a:ext cx="5394960" cy="621792"/>
          </a:xfrm>
          <a:prstGeom prst="rect">
            <a:avLst/>
          </a:prstGeom>
          <a:noFill/>
          <a:ln/>
        </p:spPr>
        <p:txBody>
          <a:bodyPr wrap="square" lIns="0" tIns="0" rIns="0" bIns="0" rtlCol="0" anchor="ctr"/>
          <a:lstStyle/>
          <a:p>
            <a:pPr marL="0" indent="0">
              <a:buNone/>
            </a:pPr>
            <a:r>
              <a:rPr lang="en-US" sz="1350" b="1" dirty="0">
                <a:solidFill>
                  <a:srgbClr val="1F2A44"/>
                </a:solidFill>
              </a:rPr>
              <a:t>BOD 25-01   </a:t>
            </a:r>
            <a:r>
              <a:rPr lang="en-US" sz="1350" dirty="0">
                <a:solidFill>
                  <a:schemeClr val="tx2"/>
                </a:solidFill>
              </a:rPr>
              <a:t>Covers cloud tenants, not the on-premises forest</a:t>
            </a:r>
            <a:endParaRPr lang="en-US" sz="1350" dirty="0"/>
          </a:p>
        </p:txBody>
      </p:sp>
      <p:sp>
        <p:nvSpPr>
          <p:cNvPr id="14" name="Program box">
            <a:extLst>
              <a:ext uri="{C183D7F6-B498-43B3-948B-1728B52AA6E4}">
                <adec:decorative xmlns:adec="http://schemas.microsoft.com/office/drawing/2017/decorative" val="1"/>
              </a:ext>
            </a:extLst>
          </p:cNvPr>
          <p:cNvSpPr/>
          <p:nvPr/>
        </p:nvSpPr>
        <p:spPr>
          <a:xfrm>
            <a:off x="7086600" y="1371600"/>
            <a:ext cx="4572000" cy="3291840"/>
          </a:xfrm>
          <a:prstGeom prst="roundRect">
            <a:avLst>
              <a:gd name="adj" fmla="val 2222"/>
            </a:avLst>
          </a:prstGeom>
          <a:solidFill>
            <a:srgbClr val="E4EAF4"/>
          </a:solidFill>
          <a:ln w="12700">
            <a:solidFill>
              <a:srgbClr val="E4EAF4"/>
            </a:solidFill>
            <a:prstDash val="solid"/>
          </a:ln>
          <a:effectLst>
            <a:outerShdw blurRad="76200" dist="25400" dir="5400000" algn="bl" rotWithShape="0">
              <a:srgbClr val="64748B">
                <a:alpha val="22000"/>
              </a:srgbClr>
            </a:outerShdw>
          </a:effectLst>
        </p:spPr>
      </p:sp>
      <p:sp>
        <p:nvSpPr>
          <p:cNvPr id="15" name="Icon FaSitemap">
            <a:extLst>
              <a:ext uri="{C183D7F6-B498-43B3-948B-1728B52AA6E4}">
                <adec:decorative xmlns:adec="http://schemas.microsoft.com/office/drawing/2017/decorative" val="1"/>
              </a:ext>
            </a:extLst>
          </p:cNvPr>
          <p:cNvSpPr/>
          <p:nvPr/>
        </p:nvSpPr>
        <p:spPr>
          <a:xfrm>
            <a:off x="7315200" y="1517904"/>
            <a:ext cx="548640" cy="548640"/>
          </a:xfrm>
          <a:prstGeom prst="ellipse">
            <a:avLst/>
          </a:prstGeom>
          <a:solidFill>
            <a:srgbClr val="1F2A44"/>
          </a:solidFill>
          <a:ln w="12700">
            <a:solidFill>
              <a:srgbClr val="1F2A44"/>
            </a:solidFill>
            <a:prstDash val="solid"/>
          </a:ln>
        </p:spPr>
      </p:sp>
      <p:pic>
        <p:nvPicPr>
          <p:cNvPr id="16" name="Image 0">
            <a:extLst>
              <a:ext uri="{C183D7F6-B498-43B3-948B-1728B52AA6E4}">
                <adec:decorative xmlns:adec="http://schemas.microsoft.com/office/drawing/2017/decorative" val="1"/>
              </a:ext>
            </a:extLst>
          </p:cNvPr>
          <p:cNvPicPr>
            <a:picLocks noChangeAspect="1"/>
          </p:cNvPicPr>
          <p:nvPr/>
        </p:nvPicPr>
        <p:blipFill>
          <a:blip r:embed="rId5"/>
          <a:stretch>
            <a:fillRect/>
          </a:stretch>
        </p:blipFill>
        <p:spPr>
          <a:xfrm>
            <a:off x="7446874" y="1649578"/>
            <a:ext cx="285293" cy="285293"/>
          </a:xfrm>
          <a:prstGeom prst="rect">
            <a:avLst/>
          </a:prstGeom>
        </p:spPr>
      </p:pic>
      <p:sp>
        <p:nvSpPr>
          <p:cNvPr id="17" name="Program head"/>
          <p:cNvSpPr txBox="1"/>
          <p:nvPr/>
        </p:nvSpPr>
        <p:spPr>
          <a:xfrm>
            <a:off x="8001000" y="1517904"/>
            <a:ext cx="3566160" cy="548640"/>
          </a:xfrm>
          <a:prstGeom prst="rect">
            <a:avLst/>
          </a:prstGeom>
          <a:noFill/>
          <a:ln/>
        </p:spPr>
        <p:txBody>
          <a:bodyPr wrap="square" lIns="0" tIns="0" rIns="0" bIns="0" rtlCol="0" anchor="ctr"/>
          <a:lstStyle/>
          <a:p>
            <a:pPr marL="0" indent="0">
              <a:buNone/>
            </a:pPr>
            <a:r>
              <a:rPr lang="en-US" sz="1700" b="1" dirty="0">
                <a:solidFill>
                  <a:srgbClr val="1F2A44"/>
                </a:solidFill>
                <a:latin typeface="Cambria" pitchFamily="34" charset="0"/>
                <a:ea typeface="Cambria" pitchFamily="34" charset="-122"/>
                <a:cs typeface="Cambria" pitchFamily="34" charset="-120"/>
              </a:rPr>
              <a:t>Why one program</a:t>
            </a:r>
            <a:endParaRPr lang="en-US" sz="1700" dirty="0"/>
          </a:p>
        </p:txBody>
      </p:sp>
      <p:sp>
        <p:nvSpPr>
          <p:cNvPr id="18" name="Program list"/>
          <p:cNvSpPr txBox="1"/>
          <p:nvPr/>
        </p:nvSpPr>
        <p:spPr>
          <a:xfrm>
            <a:off x="7315200" y="2194560"/>
            <a:ext cx="4206240" cy="2395728"/>
          </a:xfrm>
          <a:prstGeom prst="rect">
            <a:avLst/>
          </a:prstGeom>
          <a:noFill/>
          <a:ln/>
        </p:spPr>
        <p:txBody>
          <a:bodyPr wrap="square" lIns="0" tIns="0" rIns="0" bIns="0" rtlCol="0" anchor="t"/>
          <a:lstStyle/>
          <a:p>
            <a:pPr marL="342900" indent="-342900">
              <a:spcAft>
                <a:spcPts val="600"/>
              </a:spcAft>
              <a:buSzPct val="100000"/>
              <a:buChar char="•"/>
            </a:pPr>
            <a:r>
              <a:rPr lang="en-US" sz="1350" dirty="0">
                <a:solidFill>
                  <a:schemeClr val="tx2"/>
                </a:solidFill>
              </a:rPr>
              <a:t>Every project touches the same implicit decisions</a:t>
            </a:r>
            <a:endParaRPr lang="en-US" sz="1400" dirty="0"/>
          </a:p>
          <a:p>
            <a:pPr marL="342900" indent="-342900">
              <a:spcAft>
                <a:spcPts val="600"/>
              </a:spcAft>
              <a:buSzPct val="100000"/>
              <a:buChar char="•"/>
            </a:pPr>
            <a:r>
              <a:rPr lang="en-US" sz="1350" dirty="0">
                <a:solidFill>
                  <a:schemeClr val="tx2"/>
                </a:solidFill>
              </a:rPr>
              <a:t>Fund and govern the program as a sequence</a:t>
            </a:r>
            <a:endParaRPr lang="en-US" sz="1400" dirty="0"/>
          </a:p>
          <a:p>
            <a:pPr marL="342900" indent="-342900">
              <a:spcAft>
                <a:spcPts val="600"/>
              </a:spcAft>
              <a:buSzPct val="100000"/>
              <a:buChar char="•"/>
            </a:pPr>
            <a:r>
              <a:rPr lang="en-US" sz="1350" dirty="0">
                <a:solidFill>
                  <a:schemeClr val="tx2"/>
                </a:solidFill>
              </a:rPr>
              <a:t>Hold gates on evidence, not on the calendar</a:t>
            </a:r>
            <a:endParaRPr lang="en-US" sz="1400" dirty="0"/>
          </a:p>
          <a:p>
            <a:pPr marL="342900" indent="-342900">
              <a:spcAft>
                <a:spcPts val="600"/>
              </a:spcAft>
              <a:buSzPct val="100000"/>
              <a:buChar char="•"/>
            </a:pPr>
            <a:r>
              <a:rPr lang="en-US" sz="1350" dirty="0">
                <a:solidFill>
                  <a:schemeClr val="tx2"/>
                </a:solidFill>
              </a:rPr>
              <a:t>Be honest about maturity: a target, not a claim</a:t>
            </a:r>
            <a:endParaRPr lang="en-US" sz="1400" dirty="0"/>
          </a:p>
        </p:txBody>
      </p:sp>
      <p:sp>
        <p:nvSpPr>
          <p:cNvPr id="19" name="Decision bar">
            <a:extLst>
              <a:ext uri="{C183D7F6-B498-43B3-948B-1728B52AA6E4}">
                <adec:decorative xmlns:adec="http://schemas.microsoft.com/office/drawing/2017/decorative" val="1"/>
              </a:ext>
            </a:extLst>
          </p:cNvPr>
          <p:cNvSpPr/>
          <p:nvPr/>
        </p:nvSpPr>
        <p:spPr>
          <a:xfrm>
            <a:off x="548640" y="4800600"/>
            <a:ext cx="11109960" cy="1143000"/>
          </a:xfrm>
          <a:prstGeom prst="roundRect">
            <a:avLst>
              <a:gd name="adj" fmla="val 6400"/>
            </a:avLst>
          </a:prstGeom>
          <a:solidFill>
            <a:srgbClr val="FFFFFF"/>
          </a:solidFill>
          <a:ln w="12700">
            <a:solidFill>
              <a:srgbClr val="B45309"/>
            </a:solidFill>
            <a:prstDash val="solid"/>
          </a:ln>
          <a:effectLst>
            <a:outerShdw blurRad="76200" dist="25400" dir="5400000" algn="bl" rotWithShape="0">
              <a:srgbClr val="64748B">
                <a:alpha val="22000"/>
              </a:srgbClr>
            </a:outerShdw>
          </a:effectLst>
        </p:spPr>
      </p:sp>
      <p:sp>
        <p:nvSpPr>
          <p:cNvPr id="20" name="Icon FaScaleBalanced">
            <a:extLst>
              <a:ext uri="{C183D7F6-B498-43B3-948B-1728B52AA6E4}">
                <adec:decorative xmlns:adec="http://schemas.microsoft.com/office/drawing/2017/decorative" val="1"/>
              </a:ext>
            </a:extLst>
          </p:cNvPr>
          <p:cNvSpPr/>
          <p:nvPr/>
        </p:nvSpPr>
        <p:spPr>
          <a:xfrm>
            <a:off x="749808" y="5047488"/>
            <a:ext cx="640080" cy="640080"/>
          </a:xfrm>
          <a:prstGeom prst="ellipse">
            <a:avLst/>
          </a:prstGeom>
          <a:solidFill>
            <a:srgbClr val="B45309"/>
          </a:solidFill>
          <a:ln w="12700">
            <a:solidFill>
              <a:srgbClr val="B45309"/>
            </a:solidFill>
            <a:prstDash val="solid"/>
          </a:ln>
        </p:spPr>
      </p:sp>
      <p:pic>
        <p:nvPicPr>
          <p:cNvPr id="21" name="Image 1">
            <a:extLst>
              <a:ext uri="{C183D7F6-B498-43B3-948B-1728B52AA6E4}">
                <adec:decorative xmlns:adec="http://schemas.microsoft.com/office/drawing/2017/decorative" val="1"/>
              </a:ext>
            </a:extLst>
          </p:cNvPr>
          <p:cNvPicPr>
            <a:picLocks noChangeAspect="1"/>
          </p:cNvPicPr>
          <p:nvPr/>
        </p:nvPicPr>
        <p:blipFill>
          <a:blip r:embed="rId6"/>
          <a:stretch>
            <a:fillRect/>
          </a:stretch>
        </p:blipFill>
        <p:spPr>
          <a:xfrm>
            <a:off x="903427" y="5201107"/>
            <a:ext cx="332842" cy="332842"/>
          </a:xfrm>
          <a:prstGeom prst="rect">
            <a:avLst/>
          </a:prstGeom>
        </p:spPr>
      </p:pic>
      <p:sp>
        <p:nvSpPr>
          <p:cNvPr id="22" name="Decision"/>
          <p:cNvSpPr txBox="1"/>
          <p:nvPr/>
        </p:nvSpPr>
        <p:spPr>
          <a:xfrm>
            <a:off x="1600200" y="4873752"/>
            <a:ext cx="5806440" cy="996696"/>
          </a:xfrm>
          <a:prstGeom prst="rect">
            <a:avLst/>
          </a:prstGeom>
          <a:noFill/>
          <a:ln/>
        </p:spPr>
        <p:txBody>
          <a:bodyPr wrap="square" lIns="0" tIns="0" rIns="0" bIns="0" rtlCol="0" anchor="ctr"/>
          <a:lstStyle/>
          <a:p>
            <a:pPr marL="0" indent="0">
              <a:buNone/>
            </a:pPr>
            <a:r>
              <a:rPr lang="en-US" sz="1100" b="1" kern="0" spc="100" dirty="0">
                <a:solidFill>
                  <a:srgbClr val="B45309"/>
                </a:solidFill>
              </a:rPr>
              <a:t>DECISION</a:t>
            </a:r>
            <a:endParaRPr lang="en-US" sz="1400" dirty="0"/>
          </a:p>
          <a:p>
            <a:pPr marL="0" indent="0">
              <a:buNone/>
            </a:pPr>
            <a:r>
              <a:rPr lang="en-US" sz="1400" dirty="0">
                <a:solidFill>
                  <a:srgbClr val="334155"/>
                </a:solidFill>
              </a:rPr>
              <a:t>Fund and govern modernization as one sequenced program, with one dependency chain and one set of gates</a:t>
            </a:r>
            <a:endParaRPr lang="en-US" sz="1400" dirty="0"/>
          </a:p>
        </p:txBody>
      </p:sp>
      <p:sp>
        <p:nvSpPr>
          <p:cNvPr id="23" name="Owner"/>
          <p:cNvSpPr txBox="1"/>
          <p:nvPr/>
        </p:nvSpPr>
        <p:spPr>
          <a:xfrm>
            <a:off x="7589520" y="4873752"/>
            <a:ext cx="2103120" cy="996696"/>
          </a:xfrm>
          <a:prstGeom prst="rect">
            <a:avLst/>
          </a:prstGeom>
          <a:noFill/>
          <a:ln/>
        </p:spPr>
        <p:txBody>
          <a:bodyPr wrap="square" lIns="0" tIns="0" rIns="0" bIns="0" rtlCol="0" anchor="ctr"/>
          <a:lstStyle/>
          <a:p>
            <a:pPr marL="0" indent="0">
              <a:buNone/>
            </a:pPr>
            <a:r>
              <a:rPr lang="en-US" sz="1100" b="1" kern="0" spc="100" dirty="0">
                <a:solidFill>
                  <a:srgbClr val="0F766E"/>
                </a:solidFill>
              </a:rPr>
              <a:t>OWNER</a:t>
            </a:r>
            <a:endParaRPr lang="en-US" sz="1400" dirty="0"/>
          </a:p>
          <a:p>
            <a:pPr marL="0" indent="0">
              <a:buNone/>
            </a:pPr>
            <a:r>
              <a:rPr lang="en-US" sz="1400" dirty="0">
                <a:solidFill>
                  <a:srgbClr val="334155"/>
                </a:solidFill>
              </a:rPr>
              <a:t>Executive sponsor and CIO</a:t>
            </a:r>
            <a:endParaRPr lang="en-US" sz="1400" dirty="0"/>
          </a:p>
        </p:txBody>
      </p:sp>
      <p:sp>
        <p:nvSpPr>
          <p:cNvPr id="24" name="When"/>
          <p:cNvSpPr txBox="1"/>
          <p:nvPr/>
        </p:nvSpPr>
        <p:spPr>
          <a:xfrm>
            <a:off x="9784080" y="4873752"/>
            <a:ext cx="1783080" cy="996696"/>
          </a:xfrm>
          <a:prstGeom prst="rect">
            <a:avLst/>
          </a:prstGeom>
          <a:noFill/>
          <a:ln/>
        </p:spPr>
        <p:txBody>
          <a:bodyPr wrap="square" lIns="0" tIns="0" rIns="0" bIns="0" rtlCol="0" anchor="ctr"/>
          <a:lstStyle/>
          <a:p>
            <a:pPr marL="0" indent="0">
              <a:buNone/>
            </a:pPr>
            <a:r>
              <a:rPr lang="en-US" sz="1100" b="1" kern="0" spc="100" dirty="0">
                <a:solidFill>
                  <a:srgbClr val="1F2A44"/>
                </a:solidFill>
              </a:rPr>
              <a:t>NEEDED BY</a:t>
            </a:r>
            <a:endParaRPr lang="en-US" sz="1400" dirty="0"/>
          </a:p>
          <a:p>
            <a:pPr marL="0" indent="0">
              <a:buNone/>
            </a:pPr>
            <a:r>
              <a:rPr lang="en-US" sz="1400" dirty="0">
                <a:solidFill>
                  <a:srgbClr val="334155"/>
                </a:solidFill>
              </a:rPr>
              <a:t>Before budget lines are set</a:t>
            </a:r>
            <a:endParaRPr lang="en-US" sz="1400" dirty="0"/>
          </a:p>
        </p:txBody>
      </p:sp>
      <p:sp>
        <p:nvSpPr>
          <p:cNvPr id="25" name="Sources"/>
          <p:cNvSpPr txBox="1"/>
          <p:nvPr/>
        </p:nvSpPr>
        <p:spPr>
          <a:xfrm>
            <a:off x="548640" y="6053328"/>
            <a:ext cx="10424160" cy="292608"/>
          </a:xfrm>
          <a:prstGeom prst="rect">
            <a:avLst/>
          </a:prstGeom>
          <a:noFill/>
          <a:ln/>
        </p:spPr>
        <p:txBody>
          <a:bodyPr wrap="square" lIns="0" tIns="0" rIns="0" bIns="0" rtlCol="0" anchor="t"/>
          <a:lstStyle/>
          <a:p>
            <a:pPr marL="0" indent="0">
              <a:buNone/>
            </a:pPr>
            <a:r>
              <a:rPr lang="en-US" sz="1000" i="1" dirty="0">
                <a:solidFill>
                  <a:srgbClr val="64748B"/>
                </a:solidFill>
              </a:rPr>
              <a:t>Sources: FedRAMP, Using a FedRAMP Certified Cloud Service; FedRAMP Notice NTC-0004; OMB M-22-09; CISA BOD 25-01. Book 00, Chapters 01 and 07.</a:t>
            </a:r>
            <a:endParaRPr lang="en-US" sz="1000" dirty="0"/>
          </a:p>
        </p:txBody>
      </p:sp>
      <p:sp>
        <p:nvSpPr>
          <p:cNvPr id="26"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5</a:t>
            </a:fld>
            <a:endParaRPr lang="en-US"/>
          </a:p>
        </p:txBody>
      </p:sp>
      <p:pic>
        <p:nvPicPr>
          <p:cNvPr id="27" name="Narration" descr="Narration for this slide; captions available">
            <a:hlinkClick r:id="" action="ppaction://media"/>
            <a:extLst>
              <a:ext uri="{FF2B5EF4-FFF2-40B4-BE49-F238E27FC236}">
                <a16:creationId xmlns:a16="http://schemas.microsoft.com/office/drawing/2014/main" id="{0A4280BC-6932-545D-01A1-C493BD55D883}"/>
              </a:ext>
            </a:extLst>
          </p:cNvPr>
          <p:cNvPicPr>
            <a:picLocks noChangeAspect="1"/>
          </p:cNvPicPr>
          <p:nvPr>
            <a:audioFile r:link="rId2"/>
            <p:extLst>
              <p:ext uri="{DAA4B4D4-6D71-4841-9C94-3DE7FCFB9230}">
                <p14:media xmlns:p14="http://schemas.microsoft.com/office/powerpoint/2010/main" r:embed="rId1">
                  <p14:extLst>
                    <p:ext uri="{3AFAAA56-56D3-431D-BCD4-E75A35582382}">
                      <p173:tracksInfo xmlns:p173="http://schemas.microsoft.com/office/powerpoint/2017/3/main" displayLoc="slide">
                        <p173:trackLst>
                          <p173:track id="{A70732FE-606C-41A4-9A86-238DB824E3C3}" label="English (captions)" lang="en-US" r:embed="rId8"/>
                        </p173:trackLst>
                      </p173:tracksInfo>
                    </p:ext>
                  </p14:extLst>
                </p14:media>
              </p:ext>
            </p:extLst>
          </p:nvPr>
        </p:nvPicPr>
        <p:blipFill>
          <a:blip r:embed="rId7"/>
          <a:stretch>
            <a:fillRect/>
          </a:stretch>
        </p:blipFill>
        <p:spPr>
          <a:xfrm>
            <a:off x="127000" y="6350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73910"/>
    </mc:Choice>
    <mc:Fallback>
      <p:transition spd="slow" advTm="7391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69912" fill="hold"/>
                                        <p:tgtEl>
                                          <p:spTgt spid="27"/>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57200"/>
            <a:ext cx="11064240" cy="777240"/>
          </a:xfrm>
          <a:prstGeom prst="rect">
            <a:avLst/>
          </a:prstGeom>
          <a:noFill/>
          <a:ln/>
        </p:spPr>
        <p:txBody>
          <a:bodyPr wrap="square" lIns="0" tIns="0" rIns="0" bIns="0" rtlCol="0" anchor="ctr"/>
          <a:lstStyle/>
          <a:p>
            <a:pPr marL="0" indent="0" algn="ctr">
              <a:buNone/>
            </a:pPr>
            <a:r>
              <a:rPr lang="en-US" sz="3000" b="1" dirty="0">
                <a:solidFill>
                  <a:schemeClr val="tx1"/>
                </a:solidFill>
                <a:latin typeface="Cambria" pitchFamily="34" charset="0"/>
                <a:ea typeface="Cambria" pitchFamily="34" charset="-122"/>
                <a:cs typeface="Cambria" pitchFamily="34" charset="-120"/>
              </a:rPr>
              <a:t>The charter: the page the sponsor signs</a:t>
            </a:r>
            <a:endParaRPr lang="en-US" sz="3000" dirty="0"/>
          </a:p>
        </p:txBody>
      </p:sp>
      <p:sp>
        <p:nvSpPr>
          <p:cNvPr id="3" name="Tag What">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1F2A44"/>
          </a:solidFill>
          <a:ln w="12700">
            <a:solidFill>
              <a:srgbClr val="1F2A44"/>
            </a:solidFill>
            <a:prstDash val="solid"/>
          </a:ln>
        </p:spPr>
      </p:sp>
      <p:sp>
        <p:nvSpPr>
          <p:cNvPr id="4" name="Tag What text"/>
          <p:cNvSpPr txBox="1"/>
          <p:nvPr/>
        </p:nvSpPr>
        <p:spPr>
          <a:xfrm>
            <a:off x="548640" y="109728"/>
            <a:ext cx="868680" cy="292608"/>
          </a:xfrm>
          <a:prstGeom prst="rect">
            <a:avLst/>
          </a:prstGeom>
          <a:noFill/>
          <a:ln/>
        </p:spPr>
        <p:txBody>
          <a:bodyPr wrap="square" lIns="0" tIns="0" rIns="0" bIns="0" rtlCol="0" anchor="ctr"/>
          <a:lstStyle/>
          <a:p>
            <a:pPr marL="0" indent="0" algn="ctr">
              <a:buNone/>
            </a:pPr>
            <a:r>
              <a:rPr lang="en-US" sz="1100" b="1" kern="0" spc="100" dirty="0">
                <a:solidFill>
                  <a:srgbClr val="FFFFFF"/>
                </a:solidFill>
              </a:rPr>
              <a:t>WHAT</a:t>
            </a:r>
            <a:endParaRPr lang="en-US" sz="1100" dirty="0"/>
          </a:p>
        </p:txBody>
      </p:sp>
      <p:sp>
        <p:nvSpPr>
          <p:cNvPr id="5" name="Objectives head"/>
          <p:cNvSpPr txBox="1"/>
          <p:nvPr/>
        </p:nvSpPr>
        <p:spPr>
          <a:xfrm>
            <a:off x="548640" y="1371600"/>
            <a:ext cx="5669280" cy="274320"/>
          </a:xfrm>
          <a:prstGeom prst="rect">
            <a:avLst/>
          </a:prstGeom>
          <a:noFill/>
          <a:ln/>
        </p:spPr>
        <p:txBody>
          <a:bodyPr wrap="square" lIns="0" tIns="0" rIns="0" bIns="0" rtlCol="0" anchor="t"/>
          <a:lstStyle/>
          <a:p>
            <a:pPr marL="0" indent="0">
              <a:buNone/>
            </a:pPr>
            <a:r>
              <a:rPr lang="en-US" sz="1200" b="1" dirty="0">
                <a:solidFill>
                  <a:srgbClr val="64748B"/>
                </a:solidFill>
              </a:rPr>
              <a:t>SIX OBJECTIVES</a:t>
            </a:r>
            <a:endParaRPr lang="en-US" sz="1200" dirty="0"/>
          </a:p>
        </p:txBody>
      </p:sp>
      <p:sp>
        <p:nvSpPr>
          <p:cNvPr id="6" name="Objectives 0">
            <a:extLst>
              <a:ext uri="{C183D7F6-B498-43B3-948B-1728B52AA6E4}">
                <adec:decorative xmlns:adec="http://schemas.microsoft.com/office/drawing/2017/decorative" val="1"/>
              </a:ext>
            </a:extLst>
          </p:cNvPr>
          <p:cNvSpPr/>
          <p:nvPr/>
        </p:nvSpPr>
        <p:spPr>
          <a:xfrm>
            <a:off x="548640" y="1700784"/>
            <a:ext cx="5669280" cy="429768"/>
          </a:xfrm>
          <a:prstGeom prst="roundRect">
            <a:avLst>
              <a:gd name="adj" fmla="val 17021"/>
            </a:avLst>
          </a:prstGeom>
          <a:solidFill>
            <a:srgbClr val="E9EEF4"/>
          </a:solidFill>
          <a:ln w="12700">
            <a:solidFill>
              <a:srgbClr val="E9EEF4"/>
            </a:solidFill>
            <a:prstDash val="solid"/>
          </a:ln>
          <a:effectLst>
            <a:outerShdw blurRad="76200" dist="25400" dir="5400000" algn="bl" rotWithShape="0">
              <a:srgbClr val="64748B">
                <a:alpha val="22000"/>
              </a:srgbClr>
            </a:outerShdw>
          </a:effectLst>
        </p:spPr>
      </p:sp>
      <p:sp>
        <p:nvSpPr>
          <p:cNvPr id="7" name="Objectives 0 text"/>
          <p:cNvSpPr txBox="1"/>
          <p:nvPr/>
        </p:nvSpPr>
        <p:spPr>
          <a:xfrm>
            <a:off x="731520" y="1700784"/>
            <a:ext cx="5394960" cy="429768"/>
          </a:xfrm>
          <a:prstGeom prst="rect">
            <a:avLst/>
          </a:prstGeom>
          <a:noFill/>
          <a:ln/>
        </p:spPr>
        <p:txBody>
          <a:bodyPr wrap="square" lIns="0" tIns="0" rIns="0" bIns="0" rtlCol="0" anchor="ctr"/>
          <a:lstStyle/>
          <a:p>
            <a:pPr marL="0" indent="0">
              <a:buNone/>
            </a:pPr>
            <a:r>
              <a:rPr lang="en-US" sz="1300" b="1" dirty="0">
                <a:solidFill>
                  <a:srgbClr val="1F2A44"/>
                </a:solidFill>
              </a:rPr>
              <a:t>1  One origin   </a:t>
            </a:r>
            <a:r>
              <a:rPr lang="en-US" sz="1300" dirty="0">
                <a:solidFill>
                  <a:schemeClr val="tx2"/>
                </a:solidFill>
              </a:rPr>
              <a:t>One authoritative source; every other copy derived</a:t>
            </a:r>
            <a:endParaRPr lang="en-US" sz="1300" dirty="0"/>
          </a:p>
        </p:txBody>
      </p:sp>
      <p:sp>
        <p:nvSpPr>
          <p:cNvPr id="8" name="Objectives 1">
            <a:extLst>
              <a:ext uri="{C183D7F6-B498-43B3-948B-1728B52AA6E4}">
                <adec:decorative xmlns:adec="http://schemas.microsoft.com/office/drawing/2017/decorative" val="1"/>
              </a:ext>
            </a:extLst>
          </p:cNvPr>
          <p:cNvSpPr/>
          <p:nvPr/>
        </p:nvSpPr>
        <p:spPr>
          <a:xfrm>
            <a:off x="548640" y="2194560"/>
            <a:ext cx="5669280" cy="429768"/>
          </a:xfrm>
          <a:prstGeom prst="roundRect">
            <a:avLst>
              <a:gd name="adj" fmla="val 17021"/>
            </a:avLst>
          </a:prstGeom>
          <a:solidFill>
            <a:srgbClr val="E4EAF4"/>
          </a:solidFill>
          <a:ln w="12700">
            <a:solidFill>
              <a:srgbClr val="E4EAF4"/>
            </a:solidFill>
            <a:prstDash val="solid"/>
          </a:ln>
          <a:effectLst>
            <a:outerShdw blurRad="76200" dist="25400" dir="5400000" algn="bl" rotWithShape="0">
              <a:srgbClr val="64748B">
                <a:alpha val="22000"/>
              </a:srgbClr>
            </a:outerShdw>
          </a:effectLst>
        </p:spPr>
      </p:sp>
      <p:sp>
        <p:nvSpPr>
          <p:cNvPr id="9" name="Objectives 1 text"/>
          <p:cNvSpPr txBox="1"/>
          <p:nvPr/>
        </p:nvSpPr>
        <p:spPr>
          <a:xfrm>
            <a:off x="731520" y="2194560"/>
            <a:ext cx="5394960" cy="429768"/>
          </a:xfrm>
          <a:prstGeom prst="rect">
            <a:avLst/>
          </a:prstGeom>
          <a:noFill/>
          <a:ln/>
        </p:spPr>
        <p:txBody>
          <a:bodyPr wrap="square" lIns="0" tIns="0" rIns="0" bIns="0" rtlCol="0" anchor="ctr"/>
          <a:lstStyle/>
          <a:p>
            <a:pPr marL="0" indent="0">
              <a:buNone/>
            </a:pPr>
            <a:r>
              <a:rPr lang="en-US" sz="1300" b="1" dirty="0">
                <a:solidFill>
                  <a:srgbClr val="1F2A44"/>
                </a:solidFill>
              </a:rPr>
              <a:t>2  Explicit governance   </a:t>
            </a:r>
            <a:r>
              <a:rPr lang="en-US" sz="1300" dirty="0">
                <a:solidFill>
                  <a:schemeClr val="tx2"/>
                </a:solidFill>
              </a:rPr>
              <a:t>Attributes, dynamic membership, scoped policy</a:t>
            </a:r>
            <a:endParaRPr lang="en-US" sz="1300" dirty="0"/>
          </a:p>
        </p:txBody>
      </p:sp>
      <p:sp>
        <p:nvSpPr>
          <p:cNvPr id="10" name="Objectives 2">
            <a:extLst>
              <a:ext uri="{C183D7F6-B498-43B3-948B-1728B52AA6E4}">
                <adec:decorative xmlns:adec="http://schemas.microsoft.com/office/drawing/2017/decorative" val="1"/>
              </a:ext>
            </a:extLst>
          </p:cNvPr>
          <p:cNvSpPr/>
          <p:nvPr/>
        </p:nvSpPr>
        <p:spPr>
          <a:xfrm>
            <a:off x="548640" y="2688336"/>
            <a:ext cx="5669280" cy="429768"/>
          </a:xfrm>
          <a:prstGeom prst="roundRect">
            <a:avLst>
              <a:gd name="adj" fmla="val 17021"/>
            </a:avLst>
          </a:prstGeom>
          <a:solidFill>
            <a:srgbClr val="E9EEF4"/>
          </a:solidFill>
          <a:ln w="12700">
            <a:solidFill>
              <a:srgbClr val="E9EEF4"/>
            </a:solidFill>
            <a:prstDash val="solid"/>
          </a:ln>
          <a:effectLst>
            <a:outerShdw blurRad="76200" dist="25400" dir="5400000" algn="bl" rotWithShape="0">
              <a:srgbClr val="64748B">
                <a:alpha val="22000"/>
              </a:srgbClr>
            </a:outerShdw>
          </a:effectLst>
        </p:spPr>
      </p:sp>
      <p:sp>
        <p:nvSpPr>
          <p:cNvPr id="11" name="Objectives 2 text"/>
          <p:cNvSpPr txBox="1"/>
          <p:nvPr/>
        </p:nvSpPr>
        <p:spPr>
          <a:xfrm>
            <a:off x="731520" y="2688336"/>
            <a:ext cx="5394960" cy="429768"/>
          </a:xfrm>
          <a:prstGeom prst="rect">
            <a:avLst/>
          </a:prstGeom>
          <a:noFill/>
          <a:ln/>
        </p:spPr>
        <p:txBody>
          <a:bodyPr wrap="square" lIns="0" tIns="0" rIns="0" bIns="0" rtlCol="0" anchor="ctr"/>
          <a:lstStyle/>
          <a:p>
            <a:pPr marL="0" indent="0">
              <a:buNone/>
            </a:pPr>
            <a:r>
              <a:rPr lang="en-US" sz="1300" b="1" dirty="0">
                <a:solidFill>
                  <a:srgbClr val="1F2A44"/>
                </a:solidFill>
              </a:rPr>
              <a:t>3  Drift as a finding   </a:t>
            </a:r>
            <a:r>
              <a:rPr lang="en-US" sz="1300" dirty="0">
                <a:solidFill>
                  <a:schemeClr val="tx2"/>
                </a:solidFill>
              </a:rPr>
              <a:t>Classified, not an exception or a surprise</a:t>
            </a:r>
            <a:endParaRPr lang="en-US" sz="1300" dirty="0"/>
          </a:p>
        </p:txBody>
      </p:sp>
      <p:sp>
        <p:nvSpPr>
          <p:cNvPr id="12" name="Objectives 3">
            <a:extLst>
              <a:ext uri="{C183D7F6-B498-43B3-948B-1728B52AA6E4}">
                <adec:decorative xmlns:adec="http://schemas.microsoft.com/office/drawing/2017/decorative" val="1"/>
              </a:ext>
            </a:extLst>
          </p:cNvPr>
          <p:cNvSpPr/>
          <p:nvPr/>
        </p:nvSpPr>
        <p:spPr>
          <a:xfrm>
            <a:off x="548640" y="3182112"/>
            <a:ext cx="5669280" cy="429768"/>
          </a:xfrm>
          <a:prstGeom prst="roundRect">
            <a:avLst>
              <a:gd name="adj" fmla="val 17021"/>
            </a:avLst>
          </a:prstGeom>
          <a:solidFill>
            <a:srgbClr val="E4EAF4"/>
          </a:solidFill>
          <a:ln w="12700">
            <a:solidFill>
              <a:srgbClr val="E4EAF4"/>
            </a:solidFill>
            <a:prstDash val="solid"/>
          </a:ln>
          <a:effectLst>
            <a:outerShdw blurRad="76200" dist="25400" dir="5400000" algn="bl" rotWithShape="0">
              <a:srgbClr val="64748B">
                <a:alpha val="22000"/>
              </a:srgbClr>
            </a:outerShdw>
          </a:effectLst>
        </p:spPr>
      </p:sp>
      <p:sp>
        <p:nvSpPr>
          <p:cNvPr id="13" name="Objectives 3 text"/>
          <p:cNvSpPr txBox="1"/>
          <p:nvPr/>
        </p:nvSpPr>
        <p:spPr>
          <a:xfrm>
            <a:off x="731520" y="3182112"/>
            <a:ext cx="5394960" cy="429768"/>
          </a:xfrm>
          <a:prstGeom prst="rect">
            <a:avLst/>
          </a:prstGeom>
          <a:noFill/>
          <a:ln/>
        </p:spPr>
        <p:txBody>
          <a:bodyPr wrap="square" lIns="0" tIns="0" rIns="0" bIns="0" rtlCol="0" anchor="ctr"/>
          <a:lstStyle/>
          <a:p>
            <a:pPr marL="0" indent="0">
              <a:buNone/>
            </a:pPr>
            <a:r>
              <a:rPr lang="en-US" sz="1300" b="1" dirty="0">
                <a:solidFill>
                  <a:srgbClr val="1F2A44"/>
                </a:solidFill>
              </a:rPr>
              <a:t>4  Controlled waves   </a:t>
            </a:r>
            <a:r>
              <a:rPr lang="en-US" sz="1300" dirty="0">
                <a:solidFill>
                  <a:schemeClr val="tx2"/>
                </a:solidFill>
              </a:rPr>
              <a:t>From the source, least privilege, closed with evidence</a:t>
            </a:r>
            <a:endParaRPr lang="en-US" sz="1300" dirty="0"/>
          </a:p>
        </p:txBody>
      </p:sp>
      <p:sp>
        <p:nvSpPr>
          <p:cNvPr id="14" name="Objectives 4">
            <a:extLst>
              <a:ext uri="{C183D7F6-B498-43B3-948B-1728B52AA6E4}">
                <adec:decorative xmlns:adec="http://schemas.microsoft.com/office/drawing/2017/decorative" val="1"/>
              </a:ext>
            </a:extLst>
          </p:cNvPr>
          <p:cNvSpPr/>
          <p:nvPr/>
        </p:nvSpPr>
        <p:spPr>
          <a:xfrm>
            <a:off x="548640" y="3675888"/>
            <a:ext cx="5669280" cy="429768"/>
          </a:xfrm>
          <a:prstGeom prst="roundRect">
            <a:avLst>
              <a:gd name="adj" fmla="val 17021"/>
            </a:avLst>
          </a:prstGeom>
          <a:solidFill>
            <a:srgbClr val="E9EEF4"/>
          </a:solidFill>
          <a:ln w="12700">
            <a:solidFill>
              <a:srgbClr val="E9EEF4"/>
            </a:solidFill>
            <a:prstDash val="solid"/>
          </a:ln>
          <a:effectLst>
            <a:outerShdw blurRad="76200" dist="25400" dir="5400000" algn="bl" rotWithShape="0">
              <a:srgbClr val="64748B">
                <a:alpha val="22000"/>
              </a:srgbClr>
            </a:outerShdw>
          </a:effectLst>
        </p:spPr>
      </p:sp>
      <p:sp>
        <p:nvSpPr>
          <p:cNvPr id="15" name="Objectives 4 text"/>
          <p:cNvSpPr txBox="1"/>
          <p:nvPr/>
        </p:nvSpPr>
        <p:spPr>
          <a:xfrm>
            <a:off x="731520" y="3675888"/>
            <a:ext cx="5394960" cy="429768"/>
          </a:xfrm>
          <a:prstGeom prst="rect">
            <a:avLst/>
          </a:prstGeom>
          <a:noFill/>
          <a:ln/>
        </p:spPr>
        <p:txBody>
          <a:bodyPr wrap="square" lIns="0" tIns="0" rIns="0" bIns="0" rtlCol="0" anchor="ctr"/>
          <a:lstStyle/>
          <a:p>
            <a:pPr marL="0" indent="0">
              <a:buNone/>
            </a:pPr>
            <a:r>
              <a:rPr lang="en-US" sz="1300" b="1" dirty="0">
                <a:solidFill>
                  <a:srgbClr val="1F2A44"/>
                </a:solidFill>
              </a:rPr>
              <a:t>5  No rip-and-replace   </a:t>
            </a:r>
            <a:r>
              <a:rPr lang="en-US" sz="1300" dirty="0">
                <a:solidFill>
                  <a:schemeClr val="tx2"/>
                </a:solidFill>
              </a:rPr>
              <a:t>Each domain on its own schedule</a:t>
            </a:r>
            <a:endParaRPr lang="en-US" sz="1300" dirty="0"/>
          </a:p>
        </p:txBody>
      </p:sp>
      <p:sp>
        <p:nvSpPr>
          <p:cNvPr id="16" name="Objectives 5">
            <a:extLst>
              <a:ext uri="{C183D7F6-B498-43B3-948B-1728B52AA6E4}">
                <adec:decorative xmlns:adec="http://schemas.microsoft.com/office/drawing/2017/decorative" val="1"/>
              </a:ext>
            </a:extLst>
          </p:cNvPr>
          <p:cNvSpPr/>
          <p:nvPr/>
        </p:nvSpPr>
        <p:spPr>
          <a:xfrm>
            <a:off x="548640" y="4169664"/>
            <a:ext cx="5669280" cy="429768"/>
          </a:xfrm>
          <a:prstGeom prst="roundRect">
            <a:avLst>
              <a:gd name="adj" fmla="val 17021"/>
            </a:avLst>
          </a:prstGeom>
          <a:solidFill>
            <a:srgbClr val="E4EAF4"/>
          </a:solidFill>
          <a:ln w="12700">
            <a:solidFill>
              <a:srgbClr val="E4EAF4"/>
            </a:solidFill>
            <a:prstDash val="solid"/>
          </a:ln>
          <a:effectLst>
            <a:outerShdw blurRad="76200" dist="25400" dir="5400000" algn="bl" rotWithShape="0">
              <a:srgbClr val="64748B">
                <a:alpha val="22000"/>
              </a:srgbClr>
            </a:outerShdw>
          </a:effectLst>
        </p:spPr>
      </p:sp>
      <p:sp>
        <p:nvSpPr>
          <p:cNvPr id="17" name="Objectives 5 text"/>
          <p:cNvSpPr txBox="1"/>
          <p:nvPr/>
        </p:nvSpPr>
        <p:spPr>
          <a:xfrm>
            <a:off x="731520" y="4169664"/>
            <a:ext cx="5394960" cy="429768"/>
          </a:xfrm>
          <a:prstGeom prst="rect">
            <a:avLst/>
          </a:prstGeom>
          <a:noFill/>
          <a:ln/>
        </p:spPr>
        <p:txBody>
          <a:bodyPr wrap="square" lIns="0" tIns="0" rIns="0" bIns="0" rtlCol="0" anchor="ctr"/>
          <a:lstStyle/>
          <a:p>
            <a:pPr marL="0" indent="0">
              <a:buNone/>
            </a:pPr>
            <a:r>
              <a:rPr lang="en-US" sz="1300" b="1" dirty="0">
                <a:solidFill>
                  <a:srgbClr val="1F2A44"/>
                </a:solidFill>
              </a:rPr>
              <a:t>6  Continuous evidence   </a:t>
            </a:r>
            <a:r>
              <a:rPr lang="en-US" sz="1300" dirty="0">
                <a:solidFill>
                  <a:schemeClr val="tx2"/>
                </a:solidFill>
              </a:rPr>
              <a:t>Machine-usable, for operations and compliance</a:t>
            </a:r>
            <a:endParaRPr lang="en-US" sz="1300" dirty="0"/>
          </a:p>
        </p:txBody>
      </p:sp>
      <p:sp>
        <p:nvSpPr>
          <p:cNvPr id="18" name="Scope box">
            <a:extLst>
              <a:ext uri="{C183D7F6-B498-43B3-948B-1728B52AA6E4}">
                <adec:decorative xmlns:adec="http://schemas.microsoft.com/office/drawing/2017/decorative" val="1"/>
              </a:ext>
            </a:extLst>
          </p:cNvPr>
          <p:cNvSpPr/>
          <p:nvPr/>
        </p:nvSpPr>
        <p:spPr>
          <a:xfrm>
            <a:off x="7086600" y="1371600"/>
            <a:ext cx="4572000" cy="3291840"/>
          </a:xfrm>
          <a:prstGeom prst="roundRect">
            <a:avLst>
              <a:gd name="adj" fmla="val 2222"/>
            </a:avLst>
          </a:prstGeom>
          <a:solidFill>
            <a:srgbClr val="FBE4E4"/>
          </a:solidFill>
          <a:ln w="12700">
            <a:solidFill>
              <a:srgbClr val="FBE4E4"/>
            </a:solidFill>
            <a:prstDash val="solid"/>
          </a:ln>
          <a:effectLst>
            <a:outerShdw blurRad="76200" dist="25400" dir="5400000" algn="bl" rotWithShape="0">
              <a:srgbClr val="64748B">
                <a:alpha val="22000"/>
              </a:srgbClr>
            </a:outerShdw>
          </a:effectLst>
        </p:spPr>
      </p:sp>
      <p:sp>
        <p:nvSpPr>
          <p:cNvPr id="19" name="Icon FaFileShield">
            <a:extLst>
              <a:ext uri="{C183D7F6-B498-43B3-948B-1728B52AA6E4}">
                <adec:decorative xmlns:adec="http://schemas.microsoft.com/office/drawing/2017/decorative" val="1"/>
              </a:ext>
            </a:extLst>
          </p:cNvPr>
          <p:cNvSpPr/>
          <p:nvPr/>
        </p:nvSpPr>
        <p:spPr>
          <a:xfrm>
            <a:off x="7315200" y="1517904"/>
            <a:ext cx="548640" cy="548640"/>
          </a:xfrm>
          <a:prstGeom prst="ellipse">
            <a:avLst/>
          </a:prstGeom>
          <a:solidFill>
            <a:srgbClr val="B91C1C"/>
          </a:solidFill>
          <a:ln w="12700">
            <a:solidFill>
              <a:srgbClr val="B91C1C"/>
            </a:solidFill>
            <a:prstDash val="solid"/>
          </a:ln>
        </p:spPr>
      </p:sp>
      <p:pic>
        <p:nvPicPr>
          <p:cNvPr id="20" name="Image 0">
            <a:extLst>
              <a:ext uri="{C183D7F6-B498-43B3-948B-1728B52AA6E4}">
                <adec:decorative xmlns:adec="http://schemas.microsoft.com/office/drawing/2017/decorative" val="1"/>
              </a:ext>
            </a:extLst>
          </p:cNvPr>
          <p:cNvPicPr>
            <a:picLocks noChangeAspect="1"/>
          </p:cNvPicPr>
          <p:nvPr/>
        </p:nvPicPr>
        <p:blipFill>
          <a:blip r:embed="rId5"/>
          <a:stretch>
            <a:fillRect/>
          </a:stretch>
        </p:blipFill>
        <p:spPr>
          <a:xfrm>
            <a:off x="7446874" y="1649578"/>
            <a:ext cx="285293" cy="285293"/>
          </a:xfrm>
          <a:prstGeom prst="rect">
            <a:avLst/>
          </a:prstGeom>
        </p:spPr>
      </p:pic>
      <p:sp>
        <p:nvSpPr>
          <p:cNvPr id="21" name="Scope head"/>
          <p:cNvSpPr txBox="1"/>
          <p:nvPr/>
        </p:nvSpPr>
        <p:spPr>
          <a:xfrm>
            <a:off x="8001000" y="1517904"/>
            <a:ext cx="3566160" cy="548640"/>
          </a:xfrm>
          <a:prstGeom prst="rect">
            <a:avLst/>
          </a:prstGeom>
          <a:noFill/>
          <a:ln/>
        </p:spPr>
        <p:txBody>
          <a:bodyPr wrap="square" lIns="0" tIns="0" rIns="0" bIns="0" rtlCol="0" anchor="ctr"/>
          <a:lstStyle/>
          <a:p>
            <a:pPr marL="0" indent="0">
              <a:buNone/>
            </a:pPr>
            <a:r>
              <a:rPr lang="en-US" sz="1700" b="1" dirty="0">
                <a:solidFill>
                  <a:srgbClr val="B91C1C"/>
                </a:solidFill>
                <a:latin typeface="Cambria" pitchFamily="34" charset="0"/>
                <a:ea typeface="Cambria" pitchFamily="34" charset="-122"/>
                <a:cs typeface="Cambria" pitchFamily="34" charset="-120"/>
              </a:rPr>
              <a:t>Scope, in and out</a:t>
            </a:r>
            <a:endParaRPr lang="en-US" sz="1700" dirty="0"/>
          </a:p>
        </p:txBody>
      </p:sp>
      <p:sp>
        <p:nvSpPr>
          <p:cNvPr id="22" name="Scope list"/>
          <p:cNvSpPr txBox="1"/>
          <p:nvPr/>
        </p:nvSpPr>
        <p:spPr>
          <a:xfrm>
            <a:off x="7315200" y="2194560"/>
            <a:ext cx="4206240" cy="2395728"/>
          </a:xfrm>
          <a:prstGeom prst="rect">
            <a:avLst/>
          </a:prstGeom>
          <a:noFill/>
          <a:ln/>
        </p:spPr>
        <p:txBody>
          <a:bodyPr wrap="square" lIns="0" tIns="0" rIns="0" bIns="0" rtlCol="0" anchor="t"/>
          <a:lstStyle/>
          <a:p>
            <a:pPr marL="342900" indent="-342900">
              <a:spcAft>
                <a:spcPts val="600"/>
              </a:spcAft>
              <a:buSzPct val="100000"/>
              <a:buChar char="•"/>
            </a:pPr>
            <a:r>
              <a:rPr lang="en-US" sz="1300" dirty="0">
                <a:solidFill>
                  <a:schemeClr val="tx2"/>
                </a:solidFill>
              </a:rPr>
              <a:t>In: discovery, the target model, phased plans, change control, drift, gates</a:t>
            </a:r>
            <a:endParaRPr lang="en-US" sz="1400" dirty="0"/>
          </a:p>
          <a:p>
            <a:pPr marL="342900" indent="-342900">
              <a:spcAft>
                <a:spcPts val="600"/>
              </a:spcAft>
              <a:buSzPct val="100000"/>
              <a:buChar char="•"/>
            </a:pPr>
            <a:r>
              <a:rPr lang="en-US" sz="1300" dirty="0">
                <a:solidFill>
                  <a:schemeClr val="tx2"/>
                </a:solidFill>
              </a:rPr>
              <a:t>Out at first: replacing compliance frameworks</a:t>
            </a:r>
            <a:endParaRPr lang="en-US" sz="1400" dirty="0"/>
          </a:p>
          <a:p>
            <a:pPr marL="342900" indent="-342900">
              <a:spcAft>
                <a:spcPts val="600"/>
              </a:spcAft>
              <a:buSzPct val="100000"/>
              <a:buChar char="•"/>
            </a:pPr>
            <a:r>
              <a:rPr lang="en-US" sz="1300" dirty="0">
                <a:solidFill>
                  <a:schemeClr val="tx2"/>
                </a:solidFill>
              </a:rPr>
              <a:t>Out: inline enforcement; the enforcers stay</a:t>
            </a:r>
            <a:endParaRPr lang="en-US" sz="1400" dirty="0"/>
          </a:p>
          <a:p>
            <a:pPr marL="342900" indent="-342900">
              <a:spcAft>
                <a:spcPts val="600"/>
              </a:spcAft>
              <a:buSzPct val="100000"/>
              <a:buChar char="•"/>
            </a:pPr>
            <a:r>
              <a:rPr lang="en-US" sz="1300" dirty="0">
                <a:solidFill>
                  <a:schemeClr val="tx2"/>
                </a:solidFill>
              </a:rPr>
              <a:t>Out: the agency's own cutover execution</a:t>
            </a:r>
            <a:endParaRPr lang="en-US" sz="1400" dirty="0"/>
          </a:p>
        </p:txBody>
      </p:sp>
      <p:sp>
        <p:nvSpPr>
          <p:cNvPr id="23" name="Decision bar">
            <a:extLst>
              <a:ext uri="{C183D7F6-B498-43B3-948B-1728B52AA6E4}">
                <adec:decorative xmlns:adec="http://schemas.microsoft.com/office/drawing/2017/decorative" val="1"/>
              </a:ext>
            </a:extLst>
          </p:cNvPr>
          <p:cNvSpPr/>
          <p:nvPr/>
        </p:nvSpPr>
        <p:spPr>
          <a:xfrm>
            <a:off x="548640" y="4800600"/>
            <a:ext cx="11109960" cy="1143000"/>
          </a:xfrm>
          <a:prstGeom prst="roundRect">
            <a:avLst>
              <a:gd name="adj" fmla="val 6400"/>
            </a:avLst>
          </a:prstGeom>
          <a:solidFill>
            <a:srgbClr val="FFFFFF"/>
          </a:solidFill>
          <a:ln w="12700">
            <a:solidFill>
              <a:srgbClr val="B45309"/>
            </a:solidFill>
            <a:prstDash val="solid"/>
          </a:ln>
          <a:effectLst>
            <a:outerShdw blurRad="76200" dist="25400" dir="5400000" algn="bl" rotWithShape="0">
              <a:srgbClr val="64748B">
                <a:alpha val="22000"/>
              </a:srgbClr>
            </a:outerShdw>
          </a:effectLst>
        </p:spPr>
      </p:sp>
      <p:sp>
        <p:nvSpPr>
          <p:cNvPr id="24" name="Icon FaScaleBalanced">
            <a:extLst>
              <a:ext uri="{C183D7F6-B498-43B3-948B-1728B52AA6E4}">
                <adec:decorative xmlns:adec="http://schemas.microsoft.com/office/drawing/2017/decorative" val="1"/>
              </a:ext>
            </a:extLst>
          </p:cNvPr>
          <p:cNvSpPr/>
          <p:nvPr/>
        </p:nvSpPr>
        <p:spPr>
          <a:xfrm>
            <a:off x="749808" y="5047488"/>
            <a:ext cx="640080" cy="640080"/>
          </a:xfrm>
          <a:prstGeom prst="ellipse">
            <a:avLst/>
          </a:prstGeom>
          <a:solidFill>
            <a:srgbClr val="B45309"/>
          </a:solidFill>
          <a:ln w="12700">
            <a:solidFill>
              <a:srgbClr val="B45309"/>
            </a:solidFill>
            <a:prstDash val="solid"/>
          </a:ln>
        </p:spPr>
      </p:sp>
      <p:pic>
        <p:nvPicPr>
          <p:cNvPr id="25" name="Image 1">
            <a:extLst>
              <a:ext uri="{C183D7F6-B498-43B3-948B-1728B52AA6E4}">
                <adec:decorative xmlns:adec="http://schemas.microsoft.com/office/drawing/2017/decorative" val="1"/>
              </a:ext>
            </a:extLst>
          </p:cNvPr>
          <p:cNvPicPr>
            <a:picLocks noChangeAspect="1"/>
          </p:cNvPicPr>
          <p:nvPr/>
        </p:nvPicPr>
        <p:blipFill>
          <a:blip r:embed="rId6"/>
          <a:stretch>
            <a:fillRect/>
          </a:stretch>
        </p:blipFill>
        <p:spPr>
          <a:xfrm>
            <a:off x="903427" y="5201107"/>
            <a:ext cx="332842" cy="332842"/>
          </a:xfrm>
          <a:prstGeom prst="rect">
            <a:avLst/>
          </a:prstGeom>
        </p:spPr>
      </p:pic>
      <p:sp>
        <p:nvSpPr>
          <p:cNvPr id="26" name="Decision"/>
          <p:cNvSpPr txBox="1"/>
          <p:nvPr/>
        </p:nvSpPr>
        <p:spPr>
          <a:xfrm>
            <a:off x="1600200" y="4873752"/>
            <a:ext cx="5806440" cy="996696"/>
          </a:xfrm>
          <a:prstGeom prst="rect">
            <a:avLst/>
          </a:prstGeom>
          <a:noFill/>
          <a:ln/>
        </p:spPr>
        <p:txBody>
          <a:bodyPr wrap="square" lIns="0" tIns="0" rIns="0" bIns="0" rtlCol="0" anchor="ctr"/>
          <a:lstStyle/>
          <a:p>
            <a:pPr marL="0" indent="0">
              <a:buNone/>
            </a:pPr>
            <a:r>
              <a:rPr lang="en-US" sz="1100" b="1" kern="0" spc="100" dirty="0">
                <a:solidFill>
                  <a:srgbClr val="B45309"/>
                </a:solidFill>
              </a:rPr>
              <a:t>DECISION</a:t>
            </a:r>
            <a:endParaRPr lang="en-US" sz="1400" dirty="0"/>
          </a:p>
          <a:p>
            <a:pPr marL="0" indent="0">
              <a:buNone/>
            </a:pPr>
            <a:r>
              <a:rPr lang="en-US" sz="1400" dirty="0">
                <a:solidFill>
                  <a:srgbClr val="334155"/>
                </a:solidFill>
              </a:rPr>
              <a:t>Sign the charter, put names in its governance table, and check every later decision against its scope and objectives</a:t>
            </a:r>
            <a:endParaRPr lang="en-US" sz="1400" dirty="0"/>
          </a:p>
        </p:txBody>
      </p:sp>
      <p:sp>
        <p:nvSpPr>
          <p:cNvPr id="27" name="Owner"/>
          <p:cNvSpPr txBox="1"/>
          <p:nvPr/>
        </p:nvSpPr>
        <p:spPr>
          <a:xfrm>
            <a:off x="7589520" y="4873752"/>
            <a:ext cx="2103120" cy="996696"/>
          </a:xfrm>
          <a:prstGeom prst="rect">
            <a:avLst/>
          </a:prstGeom>
          <a:noFill/>
          <a:ln/>
        </p:spPr>
        <p:txBody>
          <a:bodyPr wrap="square" lIns="0" tIns="0" rIns="0" bIns="0" rtlCol="0" anchor="ctr"/>
          <a:lstStyle/>
          <a:p>
            <a:pPr marL="0" indent="0">
              <a:buNone/>
            </a:pPr>
            <a:r>
              <a:rPr lang="en-US" sz="1100" b="1" kern="0" spc="100" dirty="0">
                <a:solidFill>
                  <a:srgbClr val="0F766E"/>
                </a:solidFill>
              </a:rPr>
              <a:t>OWNER</a:t>
            </a:r>
            <a:endParaRPr lang="en-US" sz="1400" dirty="0"/>
          </a:p>
          <a:p>
            <a:pPr marL="0" indent="0">
              <a:buNone/>
            </a:pPr>
            <a:r>
              <a:rPr lang="en-US" sz="1400" dirty="0">
                <a:solidFill>
                  <a:srgbClr val="334155"/>
                </a:solidFill>
              </a:rPr>
              <a:t>Executive sponsor, with the steward</a:t>
            </a:r>
            <a:endParaRPr lang="en-US" sz="1400" dirty="0"/>
          </a:p>
        </p:txBody>
      </p:sp>
      <p:sp>
        <p:nvSpPr>
          <p:cNvPr id="28" name="When"/>
          <p:cNvSpPr txBox="1"/>
          <p:nvPr/>
        </p:nvSpPr>
        <p:spPr>
          <a:xfrm>
            <a:off x="9784080" y="4873752"/>
            <a:ext cx="1783080" cy="996696"/>
          </a:xfrm>
          <a:prstGeom prst="rect">
            <a:avLst/>
          </a:prstGeom>
          <a:noFill/>
          <a:ln/>
        </p:spPr>
        <p:txBody>
          <a:bodyPr wrap="square" lIns="0" tIns="0" rIns="0" bIns="0" rtlCol="0" anchor="ctr"/>
          <a:lstStyle/>
          <a:p>
            <a:pPr marL="0" indent="0">
              <a:buNone/>
            </a:pPr>
            <a:r>
              <a:rPr lang="en-US" sz="1100" b="1" kern="0" spc="100" dirty="0">
                <a:solidFill>
                  <a:srgbClr val="1F2A44"/>
                </a:solidFill>
              </a:rPr>
              <a:t>NEEDED BY</a:t>
            </a:r>
            <a:endParaRPr lang="en-US" sz="1400" dirty="0"/>
          </a:p>
          <a:p>
            <a:pPr marL="0" indent="0">
              <a:buNone/>
            </a:pPr>
            <a:r>
              <a:rPr lang="en-US" sz="1400" dirty="0">
                <a:solidFill>
                  <a:srgbClr val="334155"/>
                </a:solidFill>
              </a:rPr>
              <a:t>Phase 0 entry work</a:t>
            </a:r>
            <a:endParaRPr lang="en-US" sz="1400" dirty="0"/>
          </a:p>
        </p:txBody>
      </p:sp>
      <p:sp>
        <p:nvSpPr>
          <p:cNvPr id="29" name="Sources"/>
          <p:cNvSpPr txBox="1"/>
          <p:nvPr/>
        </p:nvSpPr>
        <p:spPr>
          <a:xfrm>
            <a:off x="548640" y="6053328"/>
            <a:ext cx="10424160" cy="292608"/>
          </a:xfrm>
          <a:prstGeom prst="rect">
            <a:avLst/>
          </a:prstGeom>
          <a:noFill/>
          <a:ln/>
        </p:spPr>
        <p:txBody>
          <a:bodyPr wrap="square" lIns="0" tIns="0" rIns="0" bIns="0" rtlCol="0" anchor="t"/>
          <a:lstStyle/>
          <a:p>
            <a:pPr marL="0" indent="0">
              <a:buNone/>
            </a:pPr>
            <a:r>
              <a:rPr lang="en-US" sz="1000" i="1" dirty="0">
                <a:solidFill>
                  <a:srgbClr val="64748B"/>
                </a:solidFill>
              </a:rPr>
              <a:t>Sources: Book 00, Chapter 03 (Purpose; The problem; Objectives; Scope; Next steps); OMB M-22-09 §III.A; Chapter 05 (Phase 0 entry work).</a:t>
            </a:r>
            <a:endParaRPr lang="en-US" sz="1000" dirty="0"/>
          </a:p>
        </p:txBody>
      </p:sp>
      <p:sp>
        <p:nvSpPr>
          <p:cNvPr id="30"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6</a:t>
            </a:fld>
            <a:endParaRPr lang="en-US"/>
          </a:p>
        </p:txBody>
      </p:sp>
      <p:pic>
        <p:nvPicPr>
          <p:cNvPr id="31" name="Narration" descr="Narration for this slide; captions available">
            <a:hlinkClick r:id="" action="ppaction://media"/>
            <a:extLst>
              <a:ext uri="{FF2B5EF4-FFF2-40B4-BE49-F238E27FC236}">
                <a16:creationId xmlns:a16="http://schemas.microsoft.com/office/drawing/2014/main" id="{51B9FB93-6D1D-D21D-6EA3-3A51CF6542EE}"/>
              </a:ext>
            </a:extLst>
          </p:cNvPr>
          <p:cNvPicPr>
            <a:picLocks noChangeAspect="1"/>
          </p:cNvPicPr>
          <p:nvPr>
            <a:audioFile r:link="rId2"/>
            <p:extLst>
              <p:ext uri="{DAA4B4D4-6D71-4841-9C94-3DE7FCFB9230}">
                <p14:media xmlns:p14="http://schemas.microsoft.com/office/powerpoint/2010/main" r:embed="rId1">
                  <p14:extLst>
                    <p:ext uri="{3AFAAA56-56D3-431D-BCD4-E75A35582382}">
                      <p173:tracksInfo xmlns:p173="http://schemas.microsoft.com/office/powerpoint/2017/3/main" displayLoc="slide">
                        <p173:trackLst>
                          <p173:track id="{5DD490CB-1D6B-4C72-A8D0-C7D2AAD53D00}" label="English (captions)" lang="en-US" r:embed="rId8"/>
                        </p173:trackLst>
                      </p173:tracksInfo>
                    </p:ext>
                  </p14:extLst>
                </p14:media>
              </p:ext>
            </p:extLst>
          </p:nvPr>
        </p:nvPicPr>
        <p:blipFill>
          <a:blip r:embed="rId7"/>
          <a:stretch>
            <a:fillRect/>
          </a:stretch>
        </p:blipFill>
        <p:spPr>
          <a:xfrm>
            <a:off x="127000" y="6350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74080"/>
    </mc:Choice>
    <mc:Fallback>
      <p:transition spd="slow" advTm="7408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70080" fill="hold"/>
                                        <p:tgtEl>
                                          <p:spTgt spid="31"/>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57200"/>
            <a:ext cx="11064240" cy="777240"/>
          </a:xfrm>
          <a:prstGeom prst="rect">
            <a:avLst/>
          </a:prstGeom>
          <a:noFill/>
          <a:ln/>
        </p:spPr>
        <p:txBody>
          <a:bodyPr wrap="square" lIns="0" tIns="0" rIns="0" bIns="0" rtlCol="0" anchor="ctr"/>
          <a:lstStyle/>
          <a:p>
            <a:pPr marL="0" indent="0" algn="ctr">
              <a:buNone/>
            </a:pPr>
            <a:r>
              <a:rPr lang="en-US" sz="3000" b="1" dirty="0">
                <a:solidFill>
                  <a:schemeClr val="tx1"/>
                </a:solidFill>
                <a:latin typeface="Cambria" pitchFamily="34" charset="0"/>
                <a:ea typeface="Cambria" pitchFamily="34" charset="-122"/>
                <a:cs typeface="Cambria" pitchFamily="34" charset="-120"/>
              </a:rPr>
              <a:t>Six success criteria, each tested at a gate</a:t>
            </a:r>
            <a:endParaRPr lang="en-US" sz="3000" dirty="0"/>
          </a:p>
        </p:txBody>
      </p:sp>
      <p:sp>
        <p:nvSpPr>
          <p:cNvPr id="3" name="Tag What">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1F2A44"/>
          </a:solidFill>
          <a:ln w="12700">
            <a:solidFill>
              <a:srgbClr val="1F2A44"/>
            </a:solidFill>
            <a:prstDash val="solid"/>
          </a:ln>
        </p:spPr>
      </p:sp>
      <p:sp>
        <p:nvSpPr>
          <p:cNvPr id="4" name="Tag What text"/>
          <p:cNvSpPr txBox="1"/>
          <p:nvPr/>
        </p:nvSpPr>
        <p:spPr>
          <a:xfrm>
            <a:off x="548640" y="109728"/>
            <a:ext cx="868680" cy="292608"/>
          </a:xfrm>
          <a:prstGeom prst="rect">
            <a:avLst/>
          </a:prstGeom>
          <a:noFill/>
          <a:ln/>
        </p:spPr>
        <p:txBody>
          <a:bodyPr wrap="square" lIns="0" tIns="0" rIns="0" bIns="0" rtlCol="0" anchor="ctr"/>
          <a:lstStyle/>
          <a:p>
            <a:pPr marL="0" indent="0" algn="ctr">
              <a:buNone/>
            </a:pPr>
            <a:r>
              <a:rPr lang="en-US" sz="1100" b="1" kern="0" spc="100" dirty="0">
                <a:solidFill>
                  <a:srgbClr val="FFFFFF"/>
                </a:solidFill>
              </a:rPr>
              <a:t>WHAT</a:t>
            </a:r>
            <a:endParaRPr lang="en-US" sz="1100" dirty="0"/>
          </a:p>
        </p:txBody>
      </p:sp>
      <p:graphicFrame>
        <p:nvGraphicFramePr>
          <p:cNvPr id="8" name="Table 0"/>
          <p:cNvGraphicFramePr>
            <a:graphicFrameLocks noGrp="1"/>
          </p:cNvGraphicFramePr>
          <p:nvPr>
            <p:extLst>
              <p:ext uri="{D42A27DB-BD31-4B8C-83A1-F6EECF244321}">
                <p14:modId xmlns:p14="http://schemas.microsoft.com/office/powerpoint/2010/main" val="1579011935"/>
              </p:ext>
            </p:extLst>
          </p:nvPr>
        </p:nvGraphicFramePr>
        <p:xfrm>
          <a:off x="548640" y="1371600"/>
          <a:ext cx="9144000" cy="914400"/>
        </p:xfrm>
        <a:graphic>
          <a:graphicData uri="http://schemas.openxmlformats.org/drawingml/2006/table">
            <a:tbl>
              <a:tblPr firstRow="1" bandRow="1"/>
              <a:tblGrid>
                <a:gridCol w="411480">
                  <a:extLst>
                    <a:ext uri="{9D8B030D-6E8A-4147-A177-3AD203B41FA5}">
                      <a16:colId xmlns:a16="http://schemas.microsoft.com/office/drawing/2014/main" val="20000"/>
                    </a:ext>
                  </a:extLst>
                </a:gridCol>
                <a:gridCol w="2743200">
                  <a:extLst>
                    <a:ext uri="{9D8B030D-6E8A-4147-A177-3AD203B41FA5}">
                      <a16:colId xmlns:a16="http://schemas.microsoft.com/office/drawing/2014/main" val="20001"/>
                    </a:ext>
                  </a:extLst>
                </a:gridCol>
                <a:gridCol w="6080760">
                  <a:extLst>
                    <a:ext uri="{9D8B030D-6E8A-4147-A177-3AD203B41FA5}">
                      <a16:colId xmlns:a16="http://schemas.microsoft.com/office/drawing/2014/main" val="20002"/>
                    </a:ext>
                  </a:extLst>
                </a:gridCol>
                <a:gridCol w="1874520">
                  <a:extLst>
                    <a:ext uri="{9D8B030D-6E8A-4147-A177-3AD203B41FA5}">
                      <a16:colId xmlns:a16="http://schemas.microsoft.com/office/drawing/2014/main" val="20003"/>
                    </a:ext>
                  </a:extLst>
                </a:gridCol>
              </a:tblGrid>
              <a:tr h="347472">
                <a:tc>
                  <a:txBody>
                    <a:bodyPr/>
                    <a:lstStyle/>
                    <a:p>
                      <a:pPr marL="0" indent="0">
                        <a:buNone/>
                      </a:pPr>
                      <a:r>
                        <a:rPr lang="en-US" sz="1250" b="1" dirty="0">
                          <a:solidFill>
                            <a:srgbClr val="FFFFFF"/>
                          </a:solidFill>
                          <a:latin typeface="Calibri" pitchFamily="34" charset="0"/>
                          <a:ea typeface="Calibri" pitchFamily="34" charset="-122"/>
                          <a:cs typeface="Calibri" pitchFamily="34" charset="-120"/>
                        </a:rPr>
                        <a:t>#</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marL="0" indent="0">
                        <a:buNone/>
                      </a:pPr>
                      <a:r>
                        <a:rPr lang="en-US" sz="1250" b="1" dirty="0">
                          <a:solidFill>
                            <a:srgbClr val="FFFFFF"/>
                          </a:solidFill>
                          <a:latin typeface="Calibri" pitchFamily="34" charset="0"/>
                          <a:ea typeface="Calibri" pitchFamily="34" charset="-122"/>
                          <a:cs typeface="Calibri" pitchFamily="34" charset="-120"/>
                        </a:rPr>
                        <a:t>Criterion</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marL="0" indent="0">
                        <a:buNone/>
                      </a:pPr>
                      <a:r>
                        <a:rPr lang="en-US" sz="1250" b="1" dirty="0">
                          <a:solidFill>
                            <a:srgbClr val="FFFFFF"/>
                          </a:solidFill>
                          <a:latin typeface="Calibri" pitchFamily="34" charset="0"/>
                          <a:ea typeface="Calibri" pitchFamily="34" charset="-122"/>
                          <a:cs typeface="Calibri" pitchFamily="34" charset="-120"/>
                        </a:rPr>
                        <a:t>Measure (thresholds are illustrative)</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marL="0" indent="0">
                        <a:buNone/>
                      </a:pPr>
                      <a:r>
                        <a:rPr lang="en-US" sz="1250" b="1" dirty="0">
                          <a:solidFill>
                            <a:srgbClr val="FFFFFF"/>
                          </a:solidFill>
                          <a:latin typeface="Calibri" pitchFamily="34" charset="0"/>
                          <a:ea typeface="Calibri" pitchFamily="34" charset="-122"/>
                          <a:cs typeface="Calibri" pitchFamily="34" charset="-120"/>
                        </a:rPr>
                        <a:t>Checked at</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extLst>
                  <a:ext uri="{0D108BD9-81ED-4DB2-BD59-A6C34878D82A}">
                    <a16:rowId xmlns:a16="http://schemas.microsoft.com/office/drawing/2014/main" val="10000"/>
                  </a:ext>
                </a:extLst>
              </a:tr>
              <a:tr h="502920">
                <a:tc>
                  <a:txBody>
                    <a:bodyPr/>
                    <a:lstStyle/>
                    <a:p>
                      <a:pPr marL="0" indent="0">
                        <a:buNone/>
                      </a:pPr>
                      <a:r>
                        <a:rPr lang="en-US" sz="1250" b="1" dirty="0">
                          <a:solidFill>
                            <a:srgbClr val="B45309"/>
                          </a:solidFill>
                          <a:latin typeface="Calibri" pitchFamily="34" charset="0"/>
                          <a:ea typeface="Calibri" pitchFamily="34" charset="-122"/>
                          <a:cs typeface="Calibri" pitchFamily="34" charset="-120"/>
                        </a:rPr>
                        <a:t>1</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50" b="1" dirty="0">
                          <a:solidFill>
                            <a:srgbClr val="1F2A44"/>
                          </a:solidFill>
                          <a:latin typeface="Calibri" pitchFamily="34" charset="0"/>
                          <a:ea typeface="Calibri" pitchFamily="34" charset="-122"/>
                          <a:cs typeface="Calibri" pitchFamily="34" charset="-120"/>
                        </a:rPr>
                        <a:t>A current-state assessment</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50" dirty="0">
                          <a:solidFill>
                            <a:srgbClr val="334155"/>
                          </a:solidFill>
                          <a:latin typeface="Calibri" pitchFamily="34" charset="0"/>
                          <a:ea typeface="Calibri" pitchFamily="34" charset="-122"/>
                          <a:cs typeface="Calibri" pitchFamily="34" charset="-120"/>
                        </a:rPr>
                        <a:t>Every forest in scope; all eleven dependency types; zero open priority-one findings</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50" b="1" dirty="0">
                          <a:solidFill>
                            <a:srgbClr val="0F766E"/>
                          </a:solidFill>
                          <a:latin typeface="Calibri" pitchFamily="34" charset="0"/>
                          <a:ea typeface="Calibri" pitchFamily="34" charset="-122"/>
                          <a:cs typeface="Calibri" pitchFamily="34" charset="-120"/>
                        </a:rPr>
                        <a:t>G0</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502920">
                <a:tc>
                  <a:txBody>
                    <a:bodyPr/>
                    <a:lstStyle/>
                    <a:p>
                      <a:pPr marL="0" indent="0">
                        <a:buNone/>
                      </a:pPr>
                      <a:r>
                        <a:rPr lang="en-US" sz="1250" b="1" dirty="0">
                          <a:solidFill>
                            <a:srgbClr val="B45309"/>
                          </a:solidFill>
                          <a:latin typeface="Calibri" pitchFamily="34" charset="0"/>
                          <a:ea typeface="Calibri" pitchFamily="34" charset="-122"/>
                          <a:cs typeface="Calibri" pitchFamily="34" charset="-120"/>
                        </a:rPr>
                        <a:t>2</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50" b="1" dirty="0">
                          <a:solidFill>
                            <a:srgbClr val="1F2A44"/>
                          </a:solidFill>
                          <a:latin typeface="Calibri" pitchFamily="34" charset="0"/>
                          <a:ea typeface="Calibri" pitchFamily="34" charset="-122"/>
                          <a:cs typeface="Calibri" pitchFamily="34" charset="-120"/>
                        </a:rPr>
                        <a:t>A target structure, agreed</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50" dirty="0">
                          <a:solidFill>
                            <a:srgbClr val="334155"/>
                          </a:solidFill>
                          <a:latin typeface="Calibri" pitchFamily="34" charset="0"/>
                          <a:ea typeface="Calibri" pitchFamily="34" charset="-122"/>
                          <a:cs typeface="Calibri" pitchFamily="34" charset="-120"/>
                        </a:rPr>
                        <a:t>Every attribute that drives access has exactly one designated source</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50" b="1" dirty="0">
                          <a:solidFill>
                            <a:srgbClr val="0F766E"/>
                          </a:solidFill>
                          <a:latin typeface="Calibri" pitchFamily="34" charset="0"/>
                          <a:ea typeface="Calibri" pitchFamily="34" charset="-122"/>
                          <a:cs typeface="Calibri" pitchFamily="34" charset="-120"/>
                        </a:rPr>
                        <a:t>G1</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502920">
                <a:tc>
                  <a:txBody>
                    <a:bodyPr/>
                    <a:lstStyle/>
                    <a:p>
                      <a:pPr marL="0" indent="0">
                        <a:buNone/>
                      </a:pPr>
                      <a:r>
                        <a:rPr lang="en-US" sz="1250" b="1" dirty="0">
                          <a:solidFill>
                            <a:srgbClr val="B45309"/>
                          </a:solidFill>
                          <a:latin typeface="Calibri" pitchFamily="34" charset="0"/>
                          <a:ea typeface="Calibri" pitchFamily="34" charset="-122"/>
                          <a:cs typeface="Calibri" pitchFamily="34" charset="-120"/>
                        </a:rPr>
                        <a:t>3</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50" b="1" dirty="0">
                          <a:solidFill>
                            <a:srgbClr val="1F2A44"/>
                          </a:solidFill>
                          <a:latin typeface="Calibri" pitchFamily="34" charset="0"/>
                          <a:ea typeface="Calibri" pitchFamily="34" charset="-122"/>
                          <a:cs typeface="Calibri" pitchFamily="34" charset="-120"/>
                        </a:rPr>
                        <a:t>A domain playbook with gates</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50" dirty="0">
                          <a:solidFill>
                            <a:srgbClr val="334155"/>
                          </a:solidFill>
                          <a:latin typeface="Calibri" pitchFamily="34" charset="0"/>
                          <a:ea typeface="Calibri" pitchFamily="34" charset="-122"/>
                          <a:cs typeface="Calibri" pitchFamily="34" charset="-120"/>
                        </a:rPr>
                        <a:t>The pilot division passes it, with zero drift for a hold period</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50" b="1" dirty="0">
                          <a:solidFill>
                            <a:srgbClr val="0F766E"/>
                          </a:solidFill>
                          <a:latin typeface="Calibri" pitchFamily="34" charset="0"/>
                          <a:ea typeface="Calibri" pitchFamily="34" charset="-122"/>
                          <a:cs typeface="Calibri" pitchFamily="34" charset="-120"/>
                        </a:rPr>
                        <a:t>G2</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502920">
                <a:tc>
                  <a:txBody>
                    <a:bodyPr/>
                    <a:lstStyle/>
                    <a:p>
                      <a:pPr marL="0" indent="0">
                        <a:buNone/>
                      </a:pPr>
                      <a:r>
                        <a:rPr lang="en-US" sz="1250" b="1" dirty="0">
                          <a:solidFill>
                            <a:srgbClr val="B45309"/>
                          </a:solidFill>
                          <a:latin typeface="Calibri" pitchFamily="34" charset="0"/>
                          <a:ea typeface="Calibri" pitchFamily="34" charset="-122"/>
                          <a:cs typeface="Calibri" pitchFamily="34" charset="-120"/>
                        </a:rPr>
                        <a:t>4</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50" b="1" dirty="0">
                          <a:solidFill>
                            <a:srgbClr val="1F2A44"/>
                          </a:solidFill>
                          <a:latin typeface="Calibri" pitchFamily="34" charset="0"/>
                          <a:ea typeface="Calibri" pitchFamily="34" charset="-122"/>
                          <a:cs typeface="Calibri" pitchFamily="34" charset="-120"/>
                        </a:rPr>
                        <a:t>A change-control pattern in use</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50" dirty="0">
                          <a:solidFill>
                            <a:srgbClr val="334155"/>
                          </a:solidFill>
                          <a:latin typeface="Calibri" pitchFamily="34" charset="0"/>
                          <a:ea typeface="Calibri" pitchFamily="34" charset="-122"/>
                          <a:cs typeface="Calibri" pitchFamily="34" charset="-120"/>
                        </a:rPr>
                        <a:t>Every pilot change carries all five clauses; human-only closures logged</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50" b="1" dirty="0">
                          <a:solidFill>
                            <a:srgbClr val="0F766E"/>
                          </a:solidFill>
                          <a:latin typeface="Calibri" pitchFamily="34" charset="0"/>
                          <a:ea typeface="Calibri" pitchFamily="34" charset="-122"/>
                          <a:cs typeface="Calibri" pitchFamily="34" charset="-120"/>
                        </a:rPr>
                        <a:t>G1, then every gate</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502920">
                <a:tc>
                  <a:txBody>
                    <a:bodyPr/>
                    <a:lstStyle/>
                    <a:p>
                      <a:pPr marL="0" indent="0">
                        <a:buNone/>
                      </a:pPr>
                      <a:r>
                        <a:rPr lang="en-US" sz="1250" b="1" dirty="0">
                          <a:solidFill>
                            <a:srgbClr val="B45309"/>
                          </a:solidFill>
                          <a:latin typeface="Calibri" pitchFamily="34" charset="0"/>
                          <a:ea typeface="Calibri" pitchFamily="34" charset="-122"/>
                          <a:cs typeface="Calibri" pitchFamily="34" charset="-120"/>
                        </a:rPr>
                        <a:t>5</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50" b="1" dirty="0">
                          <a:solidFill>
                            <a:srgbClr val="1F2A44"/>
                          </a:solidFill>
                          <a:latin typeface="Calibri" pitchFamily="34" charset="0"/>
                          <a:ea typeface="Calibri" pitchFamily="34" charset="-122"/>
                          <a:cs typeface="Calibri" pitchFamily="34" charset="-120"/>
                        </a:rPr>
                        <a:t>Drift classes specified</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50" dirty="0">
                          <a:solidFill>
                            <a:srgbClr val="334155"/>
                          </a:solidFill>
                          <a:latin typeface="Calibri" pitchFamily="34" charset="0"/>
                          <a:ea typeface="Calibri" pitchFamily="34" charset="-122"/>
                          <a:cs typeface="Calibri" pitchFamily="34" charset="-120"/>
                        </a:rPr>
                        <a:t>A signal, a severity and a response for each; no missed run</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50" b="1" dirty="0">
                          <a:solidFill>
                            <a:srgbClr val="0F766E"/>
                          </a:solidFill>
                          <a:latin typeface="Calibri" pitchFamily="34" charset="0"/>
                          <a:ea typeface="Calibri" pitchFamily="34" charset="-122"/>
                          <a:cs typeface="Calibri" pitchFamily="34" charset="-120"/>
                        </a:rPr>
                        <a:t>G1</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502920">
                <a:tc>
                  <a:txBody>
                    <a:bodyPr/>
                    <a:lstStyle/>
                    <a:p>
                      <a:pPr marL="0" indent="0">
                        <a:buNone/>
                      </a:pPr>
                      <a:r>
                        <a:rPr lang="en-US" sz="1250" b="1" dirty="0">
                          <a:solidFill>
                            <a:srgbClr val="B45309"/>
                          </a:solidFill>
                          <a:latin typeface="Calibri" pitchFamily="34" charset="0"/>
                          <a:ea typeface="Calibri" pitchFamily="34" charset="-122"/>
                          <a:cs typeface="Calibri" pitchFamily="34" charset="-120"/>
                        </a:rPr>
                        <a:t>6</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50" b="1" dirty="0">
                          <a:solidFill>
                            <a:srgbClr val="1F2A44"/>
                          </a:solidFill>
                          <a:latin typeface="Calibri" pitchFamily="34" charset="0"/>
                          <a:ea typeface="Calibri" pitchFamily="34" charset="-122"/>
                          <a:cs typeface="Calibri" pitchFamily="34" charset="-120"/>
                        </a:rPr>
                        <a:t>Leadership can explain it</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50" dirty="0">
                          <a:solidFill>
                            <a:srgbClr val="334155"/>
                          </a:solidFill>
                          <a:latin typeface="Calibri" pitchFamily="34" charset="0"/>
                          <a:ea typeface="Calibri" pitchFamily="34" charset="-122"/>
                          <a:cs typeface="Calibri" pitchFamily="34" charset="-120"/>
                        </a:rPr>
                        <a:t>Sponsor answers yes to each pre-start question; monthly drift review</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50" b="1" dirty="0">
                          <a:solidFill>
                            <a:srgbClr val="0F766E"/>
                          </a:solidFill>
                          <a:latin typeface="Calibri" pitchFamily="34" charset="0"/>
                          <a:ea typeface="Calibri" pitchFamily="34" charset="-122"/>
                          <a:cs typeface="Calibri" pitchFamily="34" charset="-120"/>
                        </a:rPr>
                        <a:t>G0, then monthly</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6"/>
                  </a:ext>
                </a:extLst>
              </a:tr>
            </a:tbl>
          </a:graphicData>
        </a:graphic>
      </p:graphicFrame>
      <p:sp>
        <p:nvSpPr>
          <p:cNvPr id="6" name="Decision bar">
            <a:extLst>
              <a:ext uri="{C183D7F6-B498-43B3-948B-1728B52AA6E4}">
                <adec:decorative xmlns:adec="http://schemas.microsoft.com/office/drawing/2017/decorative" val="1"/>
              </a:ext>
            </a:extLst>
          </p:cNvPr>
          <p:cNvSpPr/>
          <p:nvPr/>
        </p:nvSpPr>
        <p:spPr>
          <a:xfrm>
            <a:off x="548640" y="4800600"/>
            <a:ext cx="11109960" cy="1143000"/>
          </a:xfrm>
          <a:prstGeom prst="roundRect">
            <a:avLst>
              <a:gd name="adj" fmla="val 6400"/>
            </a:avLst>
          </a:prstGeom>
          <a:solidFill>
            <a:srgbClr val="FFFFFF"/>
          </a:solidFill>
          <a:ln w="12700">
            <a:solidFill>
              <a:srgbClr val="B45309"/>
            </a:solidFill>
            <a:prstDash val="solid"/>
          </a:ln>
          <a:effectLst>
            <a:outerShdw blurRad="76200" dist="25400" dir="5400000" algn="bl" rotWithShape="0">
              <a:srgbClr val="64748B">
                <a:alpha val="22000"/>
              </a:srgbClr>
            </a:outerShdw>
          </a:effectLst>
        </p:spPr>
      </p:sp>
      <p:sp>
        <p:nvSpPr>
          <p:cNvPr id="7" name="Icon FaScaleBalanced">
            <a:extLst>
              <a:ext uri="{C183D7F6-B498-43B3-948B-1728B52AA6E4}">
                <adec:decorative xmlns:adec="http://schemas.microsoft.com/office/drawing/2017/decorative" val="1"/>
              </a:ext>
            </a:extLst>
          </p:cNvPr>
          <p:cNvSpPr/>
          <p:nvPr/>
        </p:nvSpPr>
        <p:spPr>
          <a:xfrm>
            <a:off x="749808" y="5047488"/>
            <a:ext cx="640080" cy="640080"/>
          </a:xfrm>
          <a:prstGeom prst="ellipse">
            <a:avLst/>
          </a:prstGeom>
          <a:solidFill>
            <a:srgbClr val="B45309"/>
          </a:solidFill>
          <a:ln w="12700">
            <a:solidFill>
              <a:srgbClr val="B45309"/>
            </a:solidFill>
            <a:prstDash val="solid"/>
          </a:ln>
        </p:spPr>
      </p:sp>
      <p:pic>
        <p:nvPicPr>
          <p:cNvPr id="5" name="Image 0">
            <a:extLst>
              <a:ext uri="{C183D7F6-B498-43B3-948B-1728B52AA6E4}">
                <adec:decorative xmlns:adec="http://schemas.microsoft.com/office/drawing/2017/decorative" val="1"/>
              </a:ext>
            </a:extLst>
          </p:cNvPr>
          <p:cNvPicPr>
            <a:picLocks noChangeAspect="1"/>
          </p:cNvPicPr>
          <p:nvPr/>
        </p:nvPicPr>
        <p:blipFill>
          <a:blip r:embed="rId5"/>
          <a:stretch>
            <a:fillRect/>
          </a:stretch>
        </p:blipFill>
        <p:spPr>
          <a:xfrm>
            <a:off x="903427" y="5201107"/>
            <a:ext cx="332842" cy="332842"/>
          </a:xfrm>
          <a:prstGeom prst="rect">
            <a:avLst/>
          </a:prstGeom>
        </p:spPr>
      </p:pic>
      <p:sp>
        <p:nvSpPr>
          <p:cNvPr id="9" name="Decision"/>
          <p:cNvSpPr txBox="1"/>
          <p:nvPr/>
        </p:nvSpPr>
        <p:spPr>
          <a:xfrm>
            <a:off x="1600200" y="4873752"/>
            <a:ext cx="5806440" cy="996696"/>
          </a:xfrm>
          <a:prstGeom prst="rect">
            <a:avLst/>
          </a:prstGeom>
          <a:noFill/>
          <a:ln/>
        </p:spPr>
        <p:txBody>
          <a:bodyPr wrap="square" lIns="0" tIns="0" rIns="0" bIns="0" rtlCol="0" anchor="ctr"/>
          <a:lstStyle/>
          <a:p>
            <a:pPr marL="0" indent="0">
              <a:buNone/>
            </a:pPr>
            <a:r>
              <a:rPr lang="en-US" sz="1100" b="1" kern="0" spc="100" dirty="0">
                <a:solidFill>
                  <a:srgbClr val="B45309"/>
                </a:solidFill>
              </a:rPr>
              <a:t>DECISION</a:t>
            </a:r>
            <a:endParaRPr lang="en-US" sz="1400" dirty="0"/>
          </a:p>
          <a:p>
            <a:pPr marL="0" indent="0">
              <a:buNone/>
            </a:pPr>
            <a:r>
              <a:rPr lang="en-US" sz="1400" dirty="0">
                <a:solidFill>
                  <a:srgbClr val="334155"/>
                </a:solidFill>
              </a:rPr>
              <a:t>Answer yes to every pre-start question, and have the steering committee review the drift trend each month</a:t>
            </a:r>
            <a:endParaRPr lang="en-US" sz="1400" dirty="0"/>
          </a:p>
        </p:txBody>
      </p:sp>
      <p:sp>
        <p:nvSpPr>
          <p:cNvPr id="10" name="Owner"/>
          <p:cNvSpPr txBox="1"/>
          <p:nvPr/>
        </p:nvSpPr>
        <p:spPr>
          <a:xfrm>
            <a:off x="7589520" y="4873752"/>
            <a:ext cx="2103120" cy="996696"/>
          </a:xfrm>
          <a:prstGeom prst="rect">
            <a:avLst/>
          </a:prstGeom>
          <a:noFill/>
          <a:ln/>
        </p:spPr>
        <p:txBody>
          <a:bodyPr wrap="square" lIns="0" tIns="0" rIns="0" bIns="0" rtlCol="0" anchor="ctr"/>
          <a:lstStyle/>
          <a:p>
            <a:pPr marL="0" indent="0">
              <a:buNone/>
            </a:pPr>
            <a:r>
              <a:rPr lang="en-US" sz="1100" b="1" kern="0" spc="100" dirty="0">
                <a:solidFill>
                  <a:srgbClr val="0F766E"/>
                </a:solidFill>
              </a:rPr>
              <a:t>OWNER</a:t>
            </a:r>
            <a:endParaRPr lang="en-US" sz="1400" dirty="0"/>
          </a:p>
          <a:p>
            <a:pPr marL="0" indent="0">
              <a:buNone/>
            </a:pPr>
            <a:r>
              <a:rPr lang="en-US" sz="1400" dirty="0">
                <a:solidFill>
                  <a:srgbClr val="334155"/>
                </a:solidFill>
              </a:rPr>
              <a:t>Executive sponsor</a:t>
            </a:r>
            <a:endParaRPr lang="en-US" sz="1400" dirty="0"/>
          </a:p>
        </p:txBody>
      </p:sp>
      <p:sp>
        <p:nvSpPr>
          <p:cNvPr id="11" name="When"/>
          <p:cNvSpPr txBox="1"/>
          <p:nvPr/>
        </p:nvSpPr>
        <p:spPr>
          <a:xfrm>
            <a:off x="9784080" y="4873752"/>
            <a:ext cx="1783080" cy="996696"/>
          </a:xfrm>
          <a:prstGeom prst="rect">
            <a:avLst/>
          </a:prstGeom>
          <a:noFill/>
          <a:ln/>
        </p:spPr>
        <p:txBody>
          <a:bodyPr wrap="square" lIns="0" tIns="0" rIns="0" bIns="0" rtlCol="0" anchor="ctr"/>
          <a:lstStyle/>
          <a:p>
            <a:pPr marL="0" indent="0">
              <a:buNone/>
            </a:pPr>
            <a:r>
              <a:rPr lang="en-US" sz="1100" b="1" kern="0" spc="100" dirty="0">
                <a:solidFill>
                  <a:srgbClr val="1F2A44"/>
                </a:solidFill>
              </a:rPr>
              <a:t>NEEDED BY</a:t>
            </a:r>
            <a:endParaRPr lang="en-US" sz="1400" dirty="0"/>
          </a:p>
          <a:p>
            <a:pPr marL="0" indent="0">
              <a:buNone/>
            </a:pPr>
            <a:r>
              <a:rPr lang="en-US" sz="1400" dirty="0">
                <a:solidFill>
                  <a:srgbClr val="334155"/>
                </a:solidFill>
              </a:rPr>
              <a:t>G0, then monthly</a:t>
            </a:r>
            <a:endParaRPr lang="en-US" sz="1400" dirty="0"/>
          </a:p>
        </p:txBody>
      </p:sp>
      <p:sp>
        <p:nvSpPr>
          <p:cNvPr id="12" name="Sources"/>
          <p:cNvSpPr txBox="1"/>
          <p:nvPr/>
        </p:nvSpPr>
        <p:spPr>
          <a:xfrm>
            <a:off x="548640" y="6053328"/>
            <a:ext cx="10424160" cy="292608"/>
          </a:xfrm>
          <a:prstGeom prst="rect">
            <a:avLst/>
          </a:prstGeom>
          <a:noFill/>
          <a:ln/>
        </p:spPr>
        <p:txBody>
          <a:bodyPr wrap="square" lIns="0" tIns="0" rIns="0" bIns="0" rtlCol="0" anchor="t"/>
          <a:lstStyle/>
          <a:p>
            <a:pPr marL="0" indent="0">
              <a:buNone/>
            </a:pPr>
            <a:r>
              <a:rPr lang="en-US" sz="1000" i="1" dirty="0">
                <a:solidFill>
                  <a:srgbClr val="64748B"/>
                </a:solidFill>
              </a:rPr>
              <a:t>Sources: Book 00, Chapter 03 (Success criteria) and Chapter 10 (Delivery measures); Book 01, Chapter 09 (How a sponsor evaluates the program), as Chapter 03 cites it.</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7</a:t>
            </a:fld>
            <a:endParaRPr lang="en-US"/>
          </a:p>
        </p:txBody>
      </p:sp>
      <p:pic>
        <p:nvPicPr>
          <p:cNvPr id="13" name="Narration" descr="Narration for this slide; captions available">
            <a:hlinkClick r:id="" action="ppaction://media"/>
            <a:extLst>
              <a:ext uri="{FF2B5EF4-FFF2-40B4-BE49-F238E27FC236}">
                <a16:creationId xmlns:a16="http://schemas.microsoft.com/office/drawing/2014/main" id="{2CC7AC48-8ED4-AA1E-5CCA-83072DA08EC7}"/>
              </a:ext>
            </a:extLst>
          </p:cNvPr>
          <p:cNvPicPr>
            <a:picLocks noChangeAspect="1"/>
          </p:cNvPicPr>
          <p:nvPr>
            <a:audioFile r:link="rId2"/>
            <p:extLst>
              <p:ext uri="{DAA4B4D4-6D71-4841-9C94-3DE7FCFB9230}">
                <p14:media xmlns:p14="http://schemas.microsoft.com/office/powerpoint/2010/main" r:embed="rId1">
                  <p14:extLst>
                    <p:ext uri="{3AFAAA56-56D3-431D-BCD4-E75A35582382}">
                      <p173:tracksInfo xmlns:p173="http://schemas.microsoft.com/office/powerpoint/2017/3/main" displayLoc="slide">
                        <p173:trackLst>
                          <p173:track id="{AE89BEA5-76BB-49E9-800E-F75B286111E4}" label="English (captions)" lang="en-US" r:embed="rId7"/>
                        </p173:trackLst>
                      </p173:tracksInfo>
                    </p:ext>
                  </p14:extLst>
                </p14:media>
              </p:ext>
            </p:extLst>
          </p:nvPr>
        </p:nvPicPr>
        <p:blipFill>
          <a:blip r:embed="rId6"/>
          <a:stretch>
            <a:fillRect/>
          </a:stretch>
        </p:blipFill>
        <p:spPr>
          <a:xfrm>
            <a:off x="127000" y="6350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70020"/>
    </mc:Choice>
    <mc:Fallback>
      <p:transition spd="slow" advTm="7002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66024" fill="hold"/>
                                        <p:tgtEl>
                                          <p:spTgt spid="13"/>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57200"/>
            <a:ext cx="11064240" cy="777240"/>
          </a:xfrm>
          <a:prstGeom prst="rect">
            <a:avLst/>
          </a:prstGeom>
          <a:noFill/>
          <a:ln/>
        </p:spPr>
        <p:txBody>
          <a:bodyPr wrap="square" lIns="0" tIns="0" rIns="0" bIns="0" rtlCol="0" anchor="ctr"/>
          <a:lstStyle/>
          <a:p>
            <a:pPr marL="0" indent="0" algn="ctr">
              <a:buNone/>
            </a:pPr>
            <a:r>
              <a:rPr lang="en-US" sz="3000" b="1" dirty="0">
                <a:solidFill>
                  <a:schemeClr val="tx1"/>
                </a:solidFill>
                <a:latin typeface="Cambria" pitchFamily="34" charset="0"/>
                <a:ea typeface="Cambria" pitchFamily="34" charset="-122"/>
                <a:cs typeface="Cambria" pitchFamily="34" charset="-120"/>
              </a:rPr>
              <a:t>Fifteen principles, one idea underneath</a:t>
            </a:r>
            <a:endParaRPr lang="en-US" sz="3000" dirty="0"/>
          </a:p>
        </p:txBody>
      </p:sp>
      <p:sp>
        <p:nvSpPr>
          <p:cNvPr id="3" name="Tag What">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1F2A44"/>
          </a:solidFill>
          <a:ln w="12700">
            <a:solidFill>
              <a:srgbClr val="1F2A44"/>
            </a:solidFill>
            <a:prstDash val="solid"/>
          </a:ln>
        </p:spPr>
      </p:sp>
      <p:sp>
        <p:nvSpPr>
          <p:cNvPr id="4" name="Tag What text"/>
          <p:cNvSpPr txBox="1"/>
          <p:nvPr/>
        </p:nvSpPr>
        <p:spPr>
          <a:xfrm>
            <a:off x="548640" y="109728"/>
            <a:ext cx="868680" cy="292608"/>
          </a:xfrm>
          <a:prstGeom prst="rect">
            <a:avLst/>
          </a:prstGeom>
          <a:noFill/>
          <a:ln/>
        </p:spPr>
        <p:txBody>
          <a:bodyPr wrap="square" lIns="0" tIns="0" rIns="0" bIns="0" rtlCol="0" anchor="ctr"/>
          <a:lstStyle/>
          <a:p>
            <a:pPr marL="0" indent="0" algn="ctr">
              <a:buNone/>
            </a:pPr>
            <a:r>
              <a:rPr lang="en-US" sz="1100" b="1" kern="0" spc="100" dirty="0">
                <a:solidFill>
                  <a:srgbClr val="FFFFFF"/>
                </a:solidFill>
              </a:rPr>
              <a:t>WHAT</a:t>
            </a:r>
            <a:endParaRPr lang="en-US" sz="1100" dirty="0"/>
          </a:p>
        </p:txBody>
      </p:sp>
      <p:sp>
        <p:nvSpPr>
          <p:cNvPr id="5" name="Principles card 1">
            <a:extLst>
              <a:ext uri="{C183D7F6-B498-43B3-948B-1728B52AA6E4}">
                <adec:decorative xmlns:adec="http://schemas.microsoft.com/office/drawing/2017/decorative" val="1"/>
              </a:ext>
            </a:extLst>
          </p:cNvPr>
          <p:cNvSpPr/>
          <p:nvPr/>
        </p:nvSpPr>
        <p:spPr>
          <a:xfrm>
            <a:off x="548640" y="1371600"/>
            <a:ext cx="3611880" cy="3291840"/>
          </a:xfrm>
          <a:prstGeom prst="roundRect">
            <a:avLst>
              <a:gd name="adj" fmla="val 2222"/>
            </a:avLst>
          </a:prstGeom>
          <a:solidFill>
            <a:srgbClr val="E4EAF4"/>
          </a:solidFill>
          <a:ln w="12700">
            <a:solidFill>
              <a:srgbClr val="E4EAF4"/>
            </a:solidFill>
            <a:prstDash val="solid"/>
          </a:ln>
          <a:effectLst>
            <a:outerShdw blurRad="76200" dist="25400" dir="5400000" algn="bl" rotWithShape="0">
              <a:srgbClr val="64748B">
                <a:alpha val="22000"/>
              </a:srgbClr>
            </a:outerShdw>
          </a:effectLst>
        </p:spPr>
      </p:sp>
      <p:sp>
        <p:nvSpPr>
          <p:cNvPr id="6" name="Icon FaBook">
            <a:extLst>
              <a:ext uri="{C183D7F6-B498-43B3-948B-1728B52AA6E4}">
                <adec:decorative xmlns:adec="http://schemas.microsoft.com/office/drawing/2017/decorative" val="1"/>
              </a:ext>
            </a:extLst>
          </p:cNvPr>
          <p:cNvSpPr/>
          <p:nvPr/>
        </p:nvSpPr>
        <p:spPr>
          <a:xfrm>
            <a:off x="749808" y="1508760"/>
            <a:ext cx="566928" cy="566928"/>
          </a:xfrm>
          <a:prstGeom prst="ellipse">
            <a:avLst/>
          </a:prstGeom>
          <a:solidFill>
            <a:srgbClr val="1F2A44"/>
          </a:solidFill>
          <a:ln w="12700">
            <a:solidFill>
              <a:srgbClr val="1F2A44"/>
            </a:solidFill>
            <a:prstDash val="solid"/>
          </a:ln>
        </p:spPr>
      </p:sp>
      <p:pic>
        <p:nvPicPr>
          <p:cNvPr id="7" name="Image 0">
            <a:extLst>
              <a:ext uri="{C183D7F6-B498-43B3-948B-1728B52AA6E4}">
                <adec:decorative xmlns:adec="http://schemas.microsoft.com/office/drawing/2017/decorative" val="1"/>
              </a:ext>
            </a:extLst>
          </p:cNvPr>
          <p:cNvPicPr>
            <a:picLocks noChangeAspect="1"/>
          </p:cNvPicPr>
          <p:nvPr/>
        </p:nvPicPr>
        <p:blipFill>
          <a:blip r:embed="rId5"/>
          <a:stretch>
            <a:fillRect/>
          </a:stretch>
        </p:blipFill>
        <p:spPr>
          <a:xfrm>
            <a:off x="885871" y="1644823"/>
            <a:ext cx="294803" cy="294803"/>
          </a:xfrm>
          <a:prstGeom prst="rect">
            <a:avLst/>
          </a:prstGeom>
        </p:spPr>
      </p:pic>
      <p:sp>
        <p:nvSpPr>
          <p:cNvPr id="8" name="Principles head 1"/>
          <p:cNvSpPr txBox="1"/>
          <p:nvPr/>
        </p:nvSpPr>
        <p:spPr>
          <a:xfrm>
            <a:off x="1463040" y="1508760"/>
            <a:ext cx="2560320" cy="566928"/>
          </a:xfrm>
          <a:prstGeom prst="rect">
            <a:avLst/>
          </a:prstGeom>
          <a:noFill/>
          <a:ln/>
        </p:spPr>
        <p:txBody>
          <a:bodyPr wrap="square" lIns="0" tIns="0" rIns="0" bIns="0" rtlCol="0" anchor="ctr"/>
          <a:lstStyle/>
          <a:p>
            <a:pPr marL="0" indent="0">
              <a:buNone/>
            </a:pPr>
            <a:r>
              <a:rPr lang="en-US" sz="1700" b="1" dirty="0">
                <a:solidFill>
                  <a:srgbClr val="1F2A44"/>
                </a:solidFill>
                <a:latin typeface="Cambria" pitchFamily="34" charset="0"/>
                <a:ea typeface="Cambria" pitchFamily="34" charset="-122"/>
                <a:cs typeface="Cambria" pitchFamily="34" charset="-120"/>
              </a:rPr>
              <a:t>Foundation</a:t>
            </a:r>
            <a:endParaRPr lang="en-US" sz="1700" dirty="0"/>
          </a:p>
        </p:txBody>
      </p:sp>
      <p:sp>
        <p:nvSpPr>
          <p:cNvPr id="9" name="Principles text 1"/>
          <p:cNvSpPr txBox="1"/>
          <p:nvPr/>
        </p:nvSpPr>
        <p:spPr>
          <a:xfrm>
            <a:off x="777240" y="2212848"/>
            <a:ext cx="3200400" cy="2377440"/>
          </a:xfrm>
          <a:prstGeom prst="rect">
            <a:avLst/>
          </a:prstGeom>
          <a:noFill/>
          <a:ln/>
        </p:spPr>
        <p:txBody>
          <a:bodyPr wrap="square" lIns="0" tIns="0" rIns="0" bIns="0" rtlCol="0" anchor="t"/>
          <a:lstStyle/>
          <a:p>
            <a:pPr marL="342900" indent="-342900">
              <a:spcAft>
                <a:spcPts val="600"/>
              </a:spcAft>
              <a:buSzPct val="100000"/>
              <a:buChar char="•"/>
            </a:pPr>
            <a:r>
              <a:rPr lang="en-US" sz="1350" dirty="0">
                <a:solidFill>
                  <a:schemeClr val="tx2"/>
                </a:solidFill>
              </a:rPr>
              <a:t>1  Single source of truth</a:t>
            </a:r>
            <a:endParaRPr lang="en-US" sz="1400" dirty="0"/>
          </a:p>
          <a:p>
            <a:pPr marL="342900" indent="-342900">
              <a:spcAft>
                <a:spcPts val="600"/>
              </a:spcAft>
              <a:buSzPct val="100000"/>
              <a:buChar char="•"/>
            </a:pPr>
            <a:r>
              <a:rPr lang="en-US" sz="1350" dirty="0">
                <a:solidFill>
                  <a:schemeClr val="tx2"/>
                </a:solidFill>
              </a:rPr>
              <a:t>2  Change control and provenance</a:t>
            </a:r>
            <a:endParaRPr lang="en-US" sz="1400" dirty="0"/>
          </a:p>
          <a:p>
            <a:pPr marL="342900" indent="-342900">
              <a:spcAft>
                <a:spcPts val="600"/>
              </a:spcAft>
              <a:buSzPct val="100000"/>
              <a:buChar char="•"/>
            </a:pPr>
            <a:r>
              <a:rPr lang="en-US" sz="1350" dirty="0">
                <a:solidFill>
                  <a:schemeClr val="tx2"/>
                </a:solidFill>
              </a:rPr>
              <a:t>11  Drift detection</a:t>
            </a:r>
            <a:endParaRPr lang="en-US" sz="1400" dirty="0"/>
          </a:p>
          <a:p>
            <a:pPr marL="342900" indent="-342900">
              <a:spcAft>
                <a:spcPts val="600"/>
              </a:spcAft>
              <a:buSzPct val="100000"/>
              <a:buChar char="•"/>
            </a:pPr>
            <a:r>
              <a:rPr lang="en-US" sz="1350" dirty="0">
                <a:solidFill>
                  <a:schemeClr val="tx2"/>
                </a:solidFill>
              </a:rPr>
              <a:t>No closure counts without its proof</a:t>
            </a:r>
            <a:endParaRPr lang="en-US" sz="1400" dirty="0"/>
          </a:p>
        </p:txBody>
      </p:sp>
      <p:sp>
        <p:nvSpPr>
          <p:cNvPr id="10" name="Principles card 2">
            <a:extLst>
              <a:ext uri="{C183D7F6-B498-43B3-948B-1728B52AA6E4}">
                <adec:decorative xmlns:adec="http://schemas.microsoft.com/office/drawing/2017/decorative" val="1"/>
              </a:ext>
            </a:extLst>
          </p:cNvPr>
          <p:cNvSpPr/>
          <p:nvPr/>
        </p:nvSpPr>
        <p:spPr>
          <a:xfrm>
            <a:off x="4297680" y="1371600"/>
            <a:ext cx="3611880" cy="3291840"/>
          </a:xfrm>
          <a:prstGeom prst="roundRect">
            <a:avLst>
              <a:gd name="adj" fmla="val 2222"/>
            </a:avLst>
          </a:prstGeom>
          <a:solidFill>
            <a:srgbClr val="DCEFEC"/>
          </a:solidFill>
          <a:ln w="12700">
            <a:solidFill>
              <a:srgbClr val="DCEFEC"/>
            </a:solidFill>
            <a:prstDash val="solid"/>
          </a:ln>
          <a:effectLst>
            <a:outerShdw blurRad="76200" dist="25400" dir="5400000" algn="bl" rotWithShape="0">
              <a:srgbClr val="64748B">
                <a:alpha val="22000"/>
              </a:srgbClr>
            </a:outerShdw>
          </a:effectLst>
        </p:spPr>
      </p:sp>
      <p:sp>
        <p:nvSpPr>
          <p:cNvPr id="11" name="Icon FaSitemap">
            <a:extLst>
              <a:ext uri="{C183D7F6-B498-43B3-948B-1728B52AA6E4}">
                <adec:decorative xmlns:adec="http://schemas.microsoft.com/office/drawing/2017/decorative" val="1"/>
              </a:ext>
            </a:extLst>
          </p:cNvPr>
          <p:cNvSpPr/>
          <p:nvPr/>
        </p:nvSpPr>
        <p:spPr>
          <a:xfrm>
            <a:off x="4498848" y="1508760"/>
            <a:ext cx="566928" cy="566928"/>
          </a:xfrm>
          <a:prstGeom prst="ellipse">
            <a:avLst/>
          </a:prstGeom>
          <a:solidFill>
            <a:srgbClr val="0F766E"/>
          </a:solidFill>
          <a:ln w="12700">
            <a:solidFill>
              <a:srgbClr val="0F766E"/>
            </a:solidFill>
            <a:prstDash val="solid"/>
          </a:ln>
        </p:spPr>
      </p:sp>
      <p:pic>
        <p:nvPicPr>
          <p:cNvPr id="12" name="Image 1">
            <a:extLst>
              <a:ext uri="{C183D7F6-B498-43B3-948B-1728B52AA6E4}">
                <adec:decorative xmlns:adec="http://schemas.microsoft.com/office/drawing/2017/decorative" val="1"/>
              </a:ext>
            </a:extLst>
          </p:cNvPr>
          <p:cNvPicPr>
            <a:picLocks noChangeAspect="1"/>
          </p:cNvPicPr>
          <p:nvPr/>
        </p:nvPicPr>
        <p:blipFill>
          <a:blip r:embed="rId6"/>
          <a:stretch>
            <a:fillRect/>
          </a:stretch>
        </p:blipFill>
        <p:spPr>
          <a:xfrm>
            <a:off x="4634911" y="1644823"/>
            <a:ext cx="294803" cy="294803"/>
          </a:xfrm>
          <a:prstGeom prst="rect">
            <a:avLst/>
          </a:prstGeom>
        </p:spPr>
      </p:pic>
      <p:sp>
        <p:nvSpPr>
          <p:cNvPr id="13" name="Principles head 2"/>
          <p:cNvSpPr txBox="1"/>
          <p:nvPr/>
        </p:nvSpPr>
        <p:spPr>
          <a:xfrm>
            <a:off x="5212080" y="1508760"/>
            <a:ext cx="2560320" cy="566928"/>
          </a:xfrm>
          <a:prstGeom prst="rect">
            <a:avLst/>
          </a:prstGeom>
          <a:noFill/>
          <a:ln/>
        </p:spPr>
        <p:txBody>
          <a:bodyPr wrap="square" lIns="0" tIns="0" rIns="0" bIns="0" rtlCol="0" anchor="ctr"/>
          <a:lstStyle/>
          <a:p>
            <a:pPr marL="0" indent="0">
              <a:buNone/>
            </a:pPr>
            <a:r>
              <a:rPr lang="en-US" sz="1700" b="1" dirty="0">
                <a:solidFill>
                  <a:srgbClr val="0F766E"/>
                </a:solidFill>
                <a:latin typeface="Cambria" pitchFamily="34" charset="0"/>
                <a:ea typeface="Cambria" pitchFamily="34" charset="-122"/>
                <a:cs typeface="Cambria" pitchFamily="34" charset="-120"/>
              </a:rPr>
              <a:t>Structure and estate</a:t>
            </a:r>
            <a:endParaRPr lang="en-US" sz="1700" dirty="0"/>
          </a:p>
        </p:txBody>
      </p:sp>
      <p:sp>
        <p:nvSpPr>
          <p:cNvPr id="14" name="Principles text 2"/>
          <p:cNvSpPr txBox="1"/>
          <p:nvPr/>
        </p:nvSpPr>
        <p:spPr>
          <a:xfrm>
            <a:off x="4526280" y="2212848"/>
            <a:ext cx="3200400" cy="2377440"/>
          </a:xfrm>
          <a:prstGeom prst="rect">
            <a:avLst/>
          </a:prstGeom>
          <a:noFill/>
          <a:ln/>
        </p:spPr>
        <p:txBody>
          <a:bodyPr wrap="square" lIns="0" tIns="0" rIns="0" bIns="0" rtlCol="0" anchor="t"/>
          <a:lstStyle/>
          <a:p>
            <a:pPr marL="342900" indent="-342900">
              <a:spcAft>
                <a:spcPts val="600"/>
              </a:spcAft>
              <a:buSzPct val="100000"/>
              <a:buChar char="•"/>
            </a:pPr>
            <a:r>
              <a:rPr lang="en-US" sz="1350" dirty="0">
                <a:solidFill>
                  <a:schemeClr val="tx2"/>
                </a:solidFill>
              </a:rPr>
              <a:t>3 to 5  Attributes replace the OU tree</a:t>
            </a:r>
            <a:endParaRPr lang="en-US" sz="1400" dirty="0"/>
          </a:p>
          <a:p>
            <a:pPr marL="342900" indent="-342900">
              <a:spcAft>
                <a:spcPts val="600"/>
              </a:spcAft>
              <a:buSzPct val="100000"/>
              <a:buChar char="•"/>
            </a:pPr>
            <a:r>
              <a:rPr lang="en-US" sz="1350" dirty="0">
                <a:solidFill>
                  <a:schemeClr val="tx2"/>
                </a:solidFill>
              </a:rPr>
              <a:t>6, 7, 9, 10  Devices, servers, policy</a:t>
            </a:r>
            <a:endParaRPr lang="en-US" sz="1400" dirty="0"/>
          </a:p>
          <a:p>
            <a:pPr marL="342900" indent="-342900">
              <a:spcAft>
                <a:spcPts val="600"/>
              </a:spcAft>
              <a:buSzPct val="100000"/>
              <a:buChar char="•"/>
            </a:pPr>
            <a:r>
              <a:rPr lang="en-US" sz="1350" dirty="0">
                <a:solidFill>
                  <a:schemeClr val="tx2"/>
                </a:solidFill>
              </a:rPr>
              <a:t>8, 12  The HR feed; the database tier</a:t>
            </a:r>
            <a:endParaRPr lang="en-US" sz="1400" dirty="0"/>
          </a:p>
          <a:p>
            <a:pPr marL="342900" indent="-342900">
              <a:spcAft>
                <a:spcPts val="600"/>
              </a:spcAft>
              <a:buSzPct val="100000"/>
              <a:buChar char="•"/>
            </a:pPr>
            <a:r>
              <a:rPr lang="en-US" sz="1350" dirty="0">
                <a:solidFill>
                  <a:schemeClr val="tx2"/>
                </a:solidFill>
              </a:rPr>
              <a:t>Empty attributes bypass policy</a:t>
            </a:r>
            <a:endParaRPr lang="en-US" sz="1400" dirty="0"/>
          </a:p>
        </p:txBody>
      </p:sp>
      <p:sp>
        <p:nvSpPr>
          <p:cNvPr id="15" name="Principles card 3">
            <a:extLst>
              <a:ext uri="{C183D7F6-B498-43B3-948B-1728B52AA6E4}">
                <adec:decorative xmlns:adec="http://schemas.microsoft.com/office/drawing/2017/decorative" val="1"/>
              </a:ext>
            </a:extLst>
          </p:cNvPr>
          <p:cNvSpPr/>
          <p:nvPr/>
        </p:nvSpPr>
        <p:spPr>
          <a:xfrm>
            <a:off x="8046720" y="1371600"/>
            <a:ext cx="3611880" cy="3291840"/>
          </a:xfrm>
          <a:prstGeom prst="roundRect">
            <a:avLst>
              <a:gd name="adj" fmla="val 2222"/>
            </a:avLst>
          </a:prstGeom>
          <a:solidFill>
            <a:srgbClr val="FBEEDC"/>
          </a:solidFill>
          <a:ln w="12700">
            <a:solidFill>
              <a:srgbClr val="FBEEDC"/>
            </a:solidFill>
            <a:prstDash val="solid"/>
          </a:ln>
          <a:effectLst>
            <a:outerShdw blurRad="76200" dist="25400" dir="5400000" algn="bl" rotWithShape="0">
              <a:srgbClr val="64748B">
                <a:alpha val="22000"/>
              </a:srgbClr>
            </a:outerShdw>
          </a:effectLst>
        </p:spPr>
      </p:sp>
      <p:sp>
        <p:nvSpPr>
          <p:cNvPr id="16" name="Icon FaUsersGear">
            <a:extLst>
              <a:ext uri="{C183D7F6-B498-43B3-948B-1728B52AA6E4}">
                <adec:decorative xmlns:adec="http://schemas.microsoft.com/office/drawing/2017/decorative" val="1"/>
              </a:ext>
            </a:extLst>
          </p:cNvPr>
          <p:cNvSpPr/>
          <p:nvPr/>
        </p:nvSpPr>
        <p:spPr>
          <a:xfrm>
            <a:off x="8247888" y="1508760"/>
            <a:ext cx="566928" cy="566928"/>
          </a:xfrm>
          <a:prstGeom prst="ellipse">
            <a:avLst/>
          </a:prstGeom>
          <a:solidFill>
            <a:srgbClr val="B45309"/>
          </a:solidFill>
          <a:ln w="12700">
            <a:solidFill>
              <a:srgbClr val="B45309"/>
            </a:solidFill>
            <a:prstDash val="solid"/>
          </a:ln>
        </p:spPr>
      </p:sp>
      <p:pic>
        <p:nvPicPr>
          <p:cNvPr id="17" name="Image 2">
            <a:extLst>
              <a:ext uri="{C183D7F6-B498-43B3-948B-1728B52AA6E4}">
                <adec:decorative xmlns:adec="http://schemas.microsoft.com/office/drawing/2017/decorative" val="1"/>
              </a:ext>
            </a:extLst>
          </p:cNvPr>
          <p:cNvPicPr>
            <a:picLocks noChangeAspect="1"/>
          </p:cNvPicPr>
          <p:nvPr/>
        </p:nvPicPr>
        <p:blipFill>
          <a:blip r:embed="rId7"/>
          <a:stretch>
            <a:fillRect/>
          </a:stretch>
        </p:blipFill>
        <p:spPr>
          <a:xfrm>
            <a:off x="8383951" y="1644823"/>
            <a:ext cx="294803" cy="294803"/>
          </a:xfrm>
          <a:prstGeom prst="rect">
            <a:avLst/>
          </a:prstGeom>
        </p:spPr>
      </p:pic>
      <p:sp>
        <p:nvSpPr>
          <p:cNvPr id="18" name="Principles head 3"/>
          <p:cNvSpPr txBox="1"/>
          <p:nvPr/>
        </p:nvSpPr>
        <p:spPr>
          <a:xfrm>
            <a:off x="8961120" y="1508760"/>
            <a:ext cx="2560320" cy="566928"/>
          </a:xfrm>
          <a:prstGeom prst="rect">
            <a:avLst/>
          </a:prstGeom>
          <a:noFill/>
          <a:ln/>
        </p:spPr>
        <p:txBody>
          <a:bodyPr wrap="square" lIns="0" tIns="0" rIns="0" bIns="0" rtlCol="0" anchor="ctr"/>
          <a:lstStyle/>
          <a:p>
            <a:pPr marL="0" indent="0">
              <a:buNone/>
            </a:pPr>
            <a:r>
              <a:rPr lang="en-US" sz="1700" b="1" dirty="0">
                <a:solidFill>
                  <a:srgbClr val="B45309"/>
                </a:solidFill>
                <a:latin typeface="Cambria" pitchFamily="34" charset="0"/>
                <a:ea typeface="Cambria" pitchFamily="34" charset="-122"/>
                <a:cs typeface="Cambria" pitchFamily="34" charset="-120"/>
              </a:rPr>
              <a:t>Program</a:t>
            </a:r>
            <a:endParaRPr lang="en-US" sz="1700" dirty="0"/>
          </a:p>
        </p:txBody>
      </p:sp>
      <p:sp>
        <p:nvSpPr>
          <p:cNvPr id="19" name="Principles text 3"/>
          <p:cNvSpPr txBox="1"/>
          <p:nvPr/>
        </p:nvSpPr>
        <p:spPr>
          <a:xfrm>
            <a:off x="8275320" y="2212848"/>
            <a:ext cx="3200400" cy="2377440"/>
          </a:xfrm>
          <a:prstGeom prst="rect">
            <a:avLst/>
          </a:prstGeom>
          <a:noFill/>
          <a:ln/>
        </p:spPr>
        <p:txBody>
          <a:bodyPr wrap="square" lIns="0" tIns="0" rIns="0" bIns="0" rtlCol="0" anchor="t"/>
          <a:lstStyle/>
          <a:p>
            <a:pPr marL="342900" indent="-342900">
              <a:spcAft>
                <a:spcPts val="600"/>
              </a:spcAft>
              <a:buSzPct val="100000"/>
              <a:buChar char="•"/>
            </a:pPr>
            <a:r>
              <a:rPr lang="en-US" sz="1350" dirty="0">
                <a:solidFill>
                  <a:schemeClr val="tx2"/>
                </a:solidFill>
              </a:rPr>
              <a:t>13  Education, training, test plans</a:t>
            </a:r>
            <a:endParaRPr lang="en-US" sz="1400" dirty="0"/>
          </a:p>
          <a:p>
            <a:pPr marL="342900" indent="-342900">
              <a:spcAft>
                <a:spcPts val="600"/>
              </a:spcAft>
              <a:buSzPct val="100000"/>
              <a:buChar char="•"/>
            </a:pPr>
            <a:r>
              <a:rPr lang="en-US" sz="1350" dirty="0">
                <a:solidFill>
                  <a:schemeClr val="tx2"/>
                </a:solidFill>
              </a:rPr>
              <a:t>14  Zero Trust governance</a:t>
            </a:r>
            <a:endParaRPr lang="en-US" sz="1400" dirty="0"/>
          </a:p>
          <a:p>
            <a:pPr marL="342900" indent="-342900">
              <a:spcAft>
                <a:spcPts val="600"/>
              </a:spcAft>
              <a:buSzPct val="100000"/>
              <a:buChar char="•"/>
            </a:pPr>
            <a:r>
              <a:rPr lang="en-US" sz="1350" dirty="0">
                <a:solidFill>
                  <a:schemeClr val="tx2"/>
                </a:solidFill>
              </a:rPr>
              <a:t>15  Continuous evaluation, not a short clock</a:t>
            </a:r>
            <a:endParaRPr lang="en-US" sz="1400" dirty="0"/>
          </a:p>
          <a:p>
            <a:pPr marL="342900" indent="-342900">
              <a:spcAft>
                <a:spcPts val="600"/>
              </a:spcAft>
              <a:buSzPct val="100000"/>
              <a:buChar char="•"/>
            </a:pPr>
            <a:r>
              <a:rPr lang="en-US" sz="1350" dirty="0">
                <a:solidFill>
                  <a:schemeClr val="tx2"/>
                </a:solidFill>
              </a:rPr>
              <a:t>The record kept apart from the enforcer</a:t>
            </a:r>
            <a:endParaRPr lang="en-US" sz="1400" dirty="0"/>
          </a:p>
        </p:txBody>
      </p:sp>
      <p:sp>
        <p:nvSpPr>
          <p:cNvPr id="20" name="Decision bar">
            <a:extLst>
              <a:ext uri="{C183D7F6-B498-43B3-948B-1728B52AA6E4}">
                <adec:decorative xmlns:adec="http://schemas.microsoft.com/office/drawing/2017/decorative" val="1"/>
              </a:ext>
            </a:extLst>
          </p:cNvPr>
          <p:cNvSpPr/>
          <p:nvPr/>
        </p:nvSpPr>
        <p:spPr>
          <a:xfrm>
            <a:off x="548640" y="4800600"/>
            <a:ext cx="11109960" cy="1143000"/>
          </a:xfrm>
          <a:prstGeom prst="roundRect">
            <a:avLst>
              <a:gd name="adj" fmla="val 6400"/>
            </a:avLst>
          </a:prstGeom>
          <a:solidFill>
            <a:srgbClr val="FFFFFF"/>
          </a:solidFill>
          <a:ln w="12700">
            <a:solidFill>
              <a:srgbClr val="B45309"/>
            </a:solidFill>
            <a:prstDash val="solid"/>
          </a:ln>
          <a:effectLst>
            <a:outerShdw blurRad="76200" dist="25400" dir="5400000" algn="bl" rotWithShape="0">
              <a:srgbClr val="64748B">
                <a:alpha val="22000"/>
              </a:srgbClr>
            </a:outerShdw>
          </a:effectLst>
        </p:spPr>
      </p:sp>
      <p:sp>
        <p:nvSpPr>
          <p:cNvPr id="21" name="Icon FaScaleBalanced">
            <a:extLst>
              <a:ext uri="{C183D7F6-B498-43B3-948B-1728B52AA6E4}">
                <adec:decorative xmlns:adec="http://schemas.microsoft.com/office/drawing/2017/decorative" val="1"/>
              </a:ext>
            </a:extLst>
          </p:cNvPr>
          <p:cNvSpPr/>
          <p:nvPr/>
        </p:nvSpPr>
        <p:spPr>
          <a:xfrm>
            <a:off x="749808" y="5047488"/>
            <a:ext cx="640080" cy="640080"/>
          </a:xfrm>
          <a:prstGeom prst="ellipse">
            <a:avLst/>
          </a:prstGeom>
          <a:solidFill>
            <a:srgbClr val="B45309"/>
          </a:solidFill>
          <a:ln w="12700">
            <a:solidFill>
              <a:srgbClr val="B45309"/>
            </a:solidFill>
            <a:prstDash val="solid"/>
          </a:ln>
        </p:spPr>
      </p:sp>
      <p:pic>
        <p:nvPicPr>
          <p:cNvPr id="22" name="Image 3">
            <a:extLst>
              <a:ext uri="{C183D7F6-B498-43B3-948B-1728B52AA6E4}">
                <adec:decorative xmlns:adec="http://schemas.microsoft.com/office/drawing/2017/decorative" val="1"/>
              </a:ext>
            </a:extLst>
          </p:cNvPr>
          <p:cNvPicPr>
            <a:picLocks noChangeAspect="1"/>
          </p:cNvPicPr>
          <p:nvPr/>
        </p:nvPicPr>
        <p:blipFill>
          <a:blip r:embed="rId8"/>
          <a:stretch>
            <a:fillRect/>
          </a:stretch>
        </p:blipFill>
        <p:spPr>
          <a:xfrm>
            <a:off x="903427" y="5201107"/>
            <a:ext cx="332842" cy="332842"/>
          </a:xfrm>
          <a:prstGeom prst="rect">
            <a:avLst/>
          </a:prstGeom>
        </p:spPr>
      </p:pic>
      <p:sp>
        <p:nvSpPr>
          <p:cNvPr id="23" name="Decision"/>
          <p:cNvSpPr txBox="1"/>
          <p:nvPr/>
        </p:nvSpPr>
        <p:spPr>
          <a:xfrm>
            <a:off x="1600200" y="4873752"/>
            <a:ext cx="5806440" cy="996696"/>
          </a:xfrm>
          <a:prstGeom prst="rect">
            <a:avLst/>
          </a:prstGeom>
          <a:noFill/>
          <a:ln/>
        </p:spPr>
        <p:txBody>
          <a:bodyPr wrap="square" lIns="0" tIns="0" rIns="0" bIns="0" rtlCol="0" anchor="ctr"/>
          <a:lstStyle/>
          <a:p>
            <a:pPr marL="0" indent="0">
              <a:buNone/>
            </a:pPr>
            <a:r>
              <a:rPr lang="en-US" sz="1100" b="1" kern="0" spc="100" dirty="0">
                <a:solidFill>
                  <a:srgbClr val="B45309"/>
                </a:solidFill>
              </a:rPr>
              <a:t>DECISION</a:t>
            </a:r>
            <a:endParaRPr lang="en-US" sz="1400" dirty="0"/>
          </a:p>
          <a:p>
            <a:pPr marL="0" indent="0">
              <a:buNone/>
            </a:pPr>
            <a:r>
              <a:rPr lang="en-US" sz="1400" dirty="0">
                <a:solidFill>
                  <a:srgbClr val="334155"/>
                </a:solidFill>
              </a:rPr>
              <a:t>Set the evidence and provenance expectations that every later change must meet</a:t>
            </a:r>
            <a:endParaRPr lang="en-US" sz="1400" dirty="0"/>
          </a:p>
        </p:txBody>
      </p:sp>
      <p:sp>
        <p:nvSpPr>
          <p:cNvPr id="24" name="Owner"/>
          <p:cNvSpPr txBox="1"/>
          <p:nvPr/>
        </p:nvSpPr>
        <p:spPr>
          <a:xfrm>
            <a:off x="7589520" y="4873752"/>
            <a:ext cx="2103120" cy="996696"/>
          </a:xfrm>
          <a:prstGeom prst="rect">
            <a:avLst/>
          </a:prstGeom>
          <a:noFill/>
          <a:ln/>
        </p:spPr>
        <p:txBody>
          <a:bodyPr wrap="square" lIns="0" tIns="0" rIns="0" bIns="0" rtlCol="0" anchor="ctr"/>
          <a:lstStyle/>
          <a:p>
            <a:pPr marL="0" indent="0">
              <a:buNone/>
            </a:pPr>
            <a:r>
              <a:rPr lang="en-US" sz="1100" b="1" kern="0" spc="100" dirty="0">
                <a:solidFill>
                  <a:srgbClr val="0F766E"/>
                </a:solidFill>
              </a:rPr>
              <a:t>OWNER</a:t>
            </a:r>
            <a:endParaRPr lang="en-US" sz="1400" dirty="0"/>
          </a:p>
          <a:p>
            <a:pPr marL="0" indent="0">
              <a:buNone/>
            </a:pPr>
            <a:r>
              <a:rPr lang="en-US" sz="1400" dirty="0">
                <a:solidFill>
                  <a:srgbClr val="334155"/>
                </a:solidFill>
              </a:rPr>
              <a:t>Steward</a:t>
            </a:r>
            <a:endParaRPr lang="en-US" sz="1400" dirty="0"/>
          </a:p>
        </p:txBody>
      </p:sp>
      <p:sp>
        <p:nvSpPr>
          <p:cNvPr id="25" name="When"/>
          <p:cNvSpPr txBox="1"/>
          <p:nvPr/>
        </p:nvSpPr>
        <p:spPr>
          <a:xfrm>
            <a:off x="9784080" y="4873752"/>
            <a:ext cx="1783080" cy="996696"/>
          </a:xfrm>
          <a:prstGeom prst="rect">
            <a:avLst/>
          </a:prstGeom>
          <a:noFill/>
          <a:ln/>
        </p:spPr>
        <p:txBody>
          <a:bodyPr wrap="square" lIns="0" tIns="0" rIns="0" bIns="0" rtlCol="0" anchor="ctr"/>
          <a:lstStyle/>
          <a:p>
            <a:pPr marL="0" indent="0">
              <a:buNone/>
            </a:pPr>
            <a:r>
              <a:rPr lang="en-US" sz="1100" b="1" kern="0" spc="100" dirty="0">
                <a:solidFill>
                  <a:srgbClr val="1F2A44"/>
                </a:solidFill>
              </a:rPr>
              <a:t>NEEDED BY</a:t>
            </a:r>
            <a:endParaRPr lang="en-US" sz="1400" dirty="0"/>
          </a:p>
          <a:p>
            <a:pPr marL="0" indent="0">
              <a:buNone/>
            </a:pPr>
            <a:r>
              <a:rPr lang="en-US" sz="1400" dirty="0">
                <a:solidFill>
                  <a:srgbClr val="334155"/>
                </a:solidFill>
              </a:rPr>
              <a:t>Before the first change is made</a:t>
            </a:r>
            <a:endParaRPr lang="en-US" sz="1400" dirty="0"/>
          </a:p>
        </p:txBody>
      </p:sp>
      <p:sp>
        <p:nvSpPr>
          <p:cNvPr id="26" name="Sources"/>
          <p:cNvSpPr txBox="1"/>
          <p:nvPr/>
        </p:nvSpPr>
        <p:spPr>
          <a:xfrm>
            <a:off x="548640" y="6053328"/>
            <a:ext cx="10424160" cy="292608"/>
          </a:xfrm>
          <a:prstGeom prst="rect">
            <a:avLst/>
          </a:prstGeom>
          <a:noFill/>
          <a:ln/>
        </p:spPr>
        <p:txBody>
          <a:bodyPr wrap="square" lIns="0" tIns="0" rIns="0" bIns="0" rtlCol="0" anchor="t"/>
          <a:lstStyle/>
          <a:p>
            <a:pPr marL="0" indent="0">
              <a:buNone/>
            </a:pPr>
            <a:r>
              <a:rPr lang="en-US" sz="1000" i="1" dirty="0">
                <a:solidFill>
                  <a:srgbClr val="64748B"/>
                </a:solidFill>
              </a:rPr>
              <a:t>Sources: Microsoft Learn — Entra extension attributes, PIM, Conditional Access, continuous access evaluation; NIST SP 800-207. Book 00, Chapters 03 and 04.</a:t>
            </a:r>
            <a:endParaRPr lang="en-US" sz="1000" dirty="0"/>
          </a:p>
        </p:txBody>
      </p:sp>
      <p:sp>
        <p:nvSpPr>
          <p:cNvPr id="27"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8</a:t>
            </a:fld>
            <a:endParaRPr lang="en-US"/>
          </a:p>
        </p:txBody>
      </p:sp>
      <p:pic>
        <p:nvPicPr>
          <p:cNvPr id="28" name="Narration" descr="Narration for this slide; captions available">
            <a:hlinkClick r:id="" action="ppaction://media"/>
            <a:extLst>
              <a:ext uri="{FF2B5EF4-FFF2-40B4-BE49-F238E27FC236}">
                <a16:creationId xmlns:a16="http://schemas.microsoft.com/office/drawing/2014/main" id="{0E2EF68F-FC14-D586-B8A8-9338CCEA1D1A}"/>
              </a:ext>
            </a:extLst>
          </p:cNvPr>
          <p:cNvPicPr>
            <a:picLocks noChangeAspect="1"/>
          </p:cNvPicPr>
          <p:nvPr>
            <a:audioFile r:link="rId2"/>
            <p:extLst>
              <p:ext uri="{DAA4B4D4-6D71-4841-9C94-3DE7FCFB9230}">
                <p14:media xmlns:p14="http://schemas.microsoft.com/office/powerpoint/2010/main" r:embed="rId1">
                  <p14:extLst>
                    <p:ext uri="{3AFAAA56-56D3-431D-BCD4-E75A35582382}">
                      <p173:tracksInfo xmlns:p173="http://schemas.microsoft.com/office/powerpoint/2017/3/main" displayLoc="slide">
                        <p173:trackLst>
                          <p173:track id="{7ECF5768-DDCB-4D86-B91A-2A0BC2C6F41D}" label="English (captions)" lang="en-US" r:embed="rId10"/>
                        </p173:trackLst>
                      </p173:tracksInfo>
                    </p:ext>
                  </p14:extLst>
                </p14:media>
              </p:ext>
            </p:extLst>
          </p:nvPr>
        </p:nvPicPr>
        <p:blipFill>
          <a:blip r:embed="rId9"/>
          <a:stretch>
            <a:fillRect/>
          </a:stretch>
        </p:blipFill>
        <p:spPr>
          <a:xfrm>
            <a:off x="127000" y="6350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64020"/>
    </mc:Choice>
    <mc:Fallback>
      <p:transition spd="slow" advTm="6402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60024" fill="hold"/>
                                        <p:tgtEl>
                                          <p:spTgt spid="28"/>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57200"/>
            <a:ext cx="11064240" cy="777240"/>
          </a:xfrm>
          <a:prstGeom prst="rect">
            <a:avLst/>
          </a:prstGeom>
          <a:noFill/>
          <a:ln/>
        </p:spPr>
        <p:txBody>
          <a:bodyPr wrap="square" lIns="0" tIns="0" rIns="0" bIns="0" rtlCol="0" anchor="ctr"/>
          <a:lstStyle/>
          <a:p>
            <a:pPr marL="0" indent="0" algn="ctr">
              <a:buNone/>
            </a:pPr>
            <a:r>
              <a:rPr lang="en-US" sz="3000" b="1" dirty="0">
                <a:solidFill>
                  <a:schemeClr val="tx1"/>
                </a:solidFill>
                <a:latin typeface="Cambria" pitchFamily="34" charset="0"/>
                <a:ea typeface="Cambria" pitchFamily="34" charset="-122"/>
                <a:cs typeface="Cambria" pitchFamily="34" charset="-120"/>
              </a:rPr>
              <a:t>Seven phases, six gates, and who clears each</a:t>
            </a:r>
            <a:endParaRPr lang="en-US" sz="3000" dirty="0"/>
          </a:p>
        </p:txBody>
      </p:sp>
      <p:sp>
        <p:nvSpPr>
          <p:cNvPr id="3" name="Tag What">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1F2A44"/>
          </a:solidFill>
          <a:ln w="12700">
            <a:solidFill>
              <a:srgbClr val="1F2A44"/>
            </a:solidFill>
            <a:prstDash val="solid"/>
          </a:ln>
        </p:spPr>
      </p:sp>
      <p:sp>
        <p:nvSpPr>
          <p:cNvPr id="4" name="Tag What text"/>
          <p:cNvSpPr txBox="1"/>
          <p:nvPr/>
        </p:nvSpPr>
        <p:spPr>
          <a:xfrm>
            <a:off x="548640" y="109728"/>
            <a:ext cx="868680" cy="292608"/>
          </a:xfrm>
          <a:prstGeom prst="rect">
            <a:avLst/>
          </a:prstGeom>
          <a:noFill/>
          <a:ln/>
        </p:spPr>
        <p:txBody>
          <a:bodyPr wrap="square" lIns="0" tIns="0" rIns="0" bIns="0" rtlCol="0" anchor="ctr"/>
          <a:lstStyle/>
          <a:p>
            <a:pPr marL="0" indent="0" algn="ctr">
              <a:buNone/>
            </a:pPr>
            <a:r>
              <a:rPr lang="en-US" sz="1100" b="1" kern="0" spc="100" dirty="0">
                <a:solidFill>
                  <a:srgbClr val="FFFFFF"/>
                </a:solidFill>
              </a:rPr>
              <a:t>WHAT</a:t>
            </a:r>
            <a:endParaRPr lang="en-US" sz="1100" dirty="0"/>
          </a:p>
        </p:txBody>
      </p:sp>
      <p:sp>
        <p:nvSpPr>
          <p:cNvPr id="5" name="Phase 0">
            <a:extLst>
              <a:ext uri="{C183D7F6-B498-43B3-948B-1728B52AA6E4}">
                <adec:decorative xmlns:adec="http://schemas.microsoft.com/office/drawing/2017/decorative" val="1"/>
              </a:ext>
            </a:extLst>
          </p:cNvPr>
          <p:cNvSpPr/>
          <p:nvPr/>
        </p:nvSpPr>
        <p:spPr>
          <a:xfrm>
            <a:off x="548640" y="1371600"/>
            <a:ext cx="1508760" cy="1645920"/>
          </a:xfrm>
          <a:prstGeom prst="roundRect">
            <a:avLst>
              <a:gd name="adj" fmla="val 4848"/>
            </a:avLst>
          </a:prstGeom>
          <a:solidFill>
            <a:srgbClr val="E9EEF4"/>
          </a:solidFill>
          <a:ln w="12700">
            <a:solidFill>
              <a:srgbClr val="E9EEF4"/>
            </a:solidFill>
            <a:prstDash val="solid"/>
          </a:ln>
          <a:effectLst>
            <a:outerShdw blurRad="76200" dist="25400" dir="5400000" algn="bl" rotWithShape="0">
              <a:srgbClr val="64748B">
                <a:alpha val="22000"/>
              </a:srgbClr>
            </a:outerShdw>
          </a:effectLst>
        </p:spPr>
      </p:sp>
      <p:sp>
        <p:nvSpPr>
          <p:cNvPr id="6" name="Phase 0 text"/>
          <p:cNvSpPr txBox="1"/>
          <p:nvPr/>
        </p:nvSpPr>
        <p:spPr>
          <a:xfrm>
            <a:off x="640080" y="1426464"/>
            <a:ext cx="1325880" cy="1536192"/>
          </a:xfrm>
          <a:prstGeom prst="rect">
            <a:avLst/>
          </a:prstGeom>
          <a:noFill/>
          <a:ln/>
        </p:spPr>
        <p:txBody>
          <a:bodyPr wrap="square" lIns="0" tIns="0" rIns="0" bIns="0" rtlCol="0" anchor="ctr"/>
          <a:lstStyle/>
          <a:p>
            <a:pPr marL="0" indent="0">
              <a:spcAft>
                <a:spcPts val="300"/>
              </a:spcAft>
              <a:buNone/>
            </a:pPr>
            <a:r>
              <a:rPr lang="en-US" sz="1200" b="1" dirty="0">
                <a:solidFill>
                  <a:srgbClr val="B45309"/>
                </a:solidFill>
              </a:rPr>
              <a:t>Phase 0</a:t>
            </a:r>
            <a:endParaRPr lang="en-US" sz="1400" dirty="0"/>
          </a:p>
          <a:p>
            <a:pPr marL="0" indent="0">
              <a:spcAft>
                <a:spcPts val="300"/>
              </a:spcAft>
              <a:buNone/>
            </a:pPr>
            <a:r>
              <a:rPr lang="en-US" sz="1400" b="1" dirty="0">
                <a:solidFill>
                  <a:srgbClr val="1F2A44"/>
                </a:solidFill>
              </a:rPr>
              <a:t>Pre-flight</a:t>
            </a:r>
            <a:endParaRPr lang="en-US" sz="1400" dirty="0"/>
          </a:p>
          <a:p>
            <a:pPr marL="0" indent="0">
              <a:spcAft>
                <a:spcPts val="300"/>
              </a:spcAft>
              <a:buNone/>
            </a:pPr>
            <a:r>
              <a:rPr lang="en-US" sz="1200" b="1" dirty="0">
                <a:solidFill>
                  <a:srgbClr val="0F766E"/>
                </a:solidFill>
              </a:rPr>
              <a:t>G0 Ready to Plan</a:t>
            </a:r>
            <a:endParaRPr lang="en-US" sz="1400" dirty="0"/>
          </a:p>
          <a:p>
            <a:pPr marL="0" indent="0">
              <a:spcAft>
                <a:spcPts val="300"/>
              </a:spcAft>
              <a:buNone/>
            </a:pPr>
            <a:r>
              <a:rPr lang="en-US" sz="1200" dirty="0">
                <a:solidFill>
                  <a:schemeClr val="tx2"/>
                </a:solidFill>
              </a:rPr>
              <a:t>Steward</a:t>
            </a:r>
            <a:endParaRPr lang="en-US" sz="1400" dirty="0"/>
          </a:p>
        </p:txBody>
      </p:sp>
      <p:sp>
        <p:nvSpPr>
          <p:cNvPr id="7" name="Phase 1">
            <a:extLst>
              <a:ext uri="{C183D7F6-B498-43B3-948B-1728B52AA6E4}">
                <adec:decorative xmlns:adec="http://schemas.microsoft.com/office/drawing/2017/decorative" val="1"/>
              </a:ext>
            </a:extLst>
          </p:cNvPr>
          <p:cNvSpPr/>
          <p:nvPr/>
        </p:nvSpPr>
        <p:spPr>
          <a:xfrm>
            <a:off x="2148840" y="1371600"/>
            <a:ext cx="1508760" cy="1645920"/>
          </a:xfrm>
          <a:prstGeom prst="roundRect">
            <a:avLst>
              <a:gd name="adj" fmla="val 4848"/>
            </a:avLst>
          </a:prstGeom>
          <a:solidFill>
            <a:srgbClr val="E4EAF4"/>
          </a:solidFill>
          <a:ln w="12700">
            <a:solidFill>
              <a:srgbClr val="E4EAF4"/>
            </a:solidFill>
            <a:prstDash val="solid"/>
          </a:ln>
          <a:effectLst>
            <a:outerShdw blurRad="76200" dist="25400" dir="5400000" algn="bl" rotWithShape="0">
              <a:srgbClr val="64748B">
                <a:alpha val="22000"/>
              </a:srgbClr>
            </a:outerShdw>
          </a:effectLst>
        </p:spPr>
      </p:sp>
      <p:sp>
        <p:nvSpPr>
          <p:cNvPr id="8" name="Phase 1 text"/>
          <p:cNvSpPr txBox="1"/>
          <p:nvPr/>
        </p:nvSpPr>
        <p:spPr>
          <a:xfrm>
            <a:off x="2240280" y="1426464"/>
            <a:ext cx="1325880" cy="1536192"/>
          </a:xfrm>
          <a:prstGeom prst="rect">
            <a:avLst/>
          </a:prstGeom>
          <a:noFill/>
          <a:ln/>
        </p:spPr>
        <p:txBody>
          <a:bodyPr wrap="square" lIns="0" tIns="0" rIns="0" bIns="0" rtlCol="0" anchor="ctr"/>
          <a:lstStyle/>
          <a:p>
            <a:pPr marL="0" indent="0">
              <a:spcAft>
                <a:spcPts val="300"/>
              </a:spcAft>
              <a:buNone/>
            </a:pPr>
            <a:r>
              <a:rPr lang="en-US" sz="1200" b="1" dirty="0">
                <a:solidFill>
                  <a:srgbClr val="B45309"/>
                </a:solidFill>
              </a:rPr>
              <a:t>Phase 1</a:t>
            </a:r>
            <a:endParaRPr lang="en-US" sz="1400" dirty="0"/>
          </a:p>
          <a:p>
            <a:pPr marL="0" indent="0">
              <a:spcAft>
                <a:spcPts val="300"/>
              </a:spcAft>
              <a:buNone/>
            </a:pPr>
            <a:r>
              <a:rPr lang="en-US" sz="1400" b="1" dirty="0">
                <a:solidFill>
                  <a:srgbClr val="1F2A44"/>
                </a:solidFill>
              </a:rPr>
              <a:t>Foundation</a:t>
            </a:r>
            <a:endParaRPr lang="en-US" sz="1400" dirty="0"/>
          </a:p>
          <a:p>
            <a:pPr marL="0" indent="0">
              <a:spcAft>
                <a:spcPts val="300"/>
              </a:spcAft>
              <a:buNone/>
            </a:pPr>
            <a:r>
              <a:rPr lang="en-US" sz="1200" b="1" dirty="0">
                <a:solidFill>
                  <a:srgbClr val="0F766E"/>
                </a:solidFill>
              </a:rPr>
              <a:t>G1 Foundation Complete</a:t>
            </a:r>
            <a:endParaRPr lang="en-US" sz="1400" dirty="0"/>
          </a:p>
          <a:p>
            <a:pPr marL="0" indent="0">
              <a:spcAft>
                <a:spcPts val="300"/>
              </a:spcAft>
              <a:buNone/>
            </a:pPr>
            <a:r>
              <a:rPr lang="en-US" sz="1200" dirty="0">
                <a:solidFill>
                  <a:schemeClr val="tx2"/>
                </a:solidFill>
              </a:rPr>
              <a:t>Steward</a:t>
            </a:r>
            <a:endParaRPr lang="en-US" sz="1400" dirty="0"/>
          </a:p>
        </p:txBody>
      </p:sp>
      <p:sp>
        <p:nvSpPr>
          <p:cNvPr id="9" name="Phase 2">
            <a:extLst>
              <a:ext uri="{C183D7F6-B498-43B3-948B-1728B52AA6E4}">
                <adec:decorative xmlns:adec="http://schemas.microsoft.com/office/drawing/2017/decorative" val="1"/>
              </a:ext>
            </a:extLst>
          </p:cNvPr>
          <p:cNvSpPr/>
          <p:nvPr/>
        </p:nvSpPr>
        <p:spPr>
          <a:xfrm>
            <a:off x="3749040" y="1371600"/>
            <a:ext cx="1508760" cy="1645920"/>
          </a:xfrm>
          <a:prstGeom prst="roundRect">
            <a:avLst>
              <a:gd name="adj" fmla="val 4848"/>
            </a:avLst>
          </a:prstGeom>
          <a:solidFill>
            <a:srgbClr val="E4EAF4"/>
          </a:solidFill>
          <a:ln w="12700">
            <a:solidFill>
              <a:srgbClr val="E4EAF4"/>
            </a:solidFill>
            <a:prstDash val="solid"/>
          </a:ln>
          <a:effectLst>
            <a:outerShdw blurRad="76200" dist="25400" dir="5400000" algn="bl" rotWithShape="0">
              <a:srgbClr val="64748B">
                <a:alpha val="22000"/>
              </a:srgbClr>
            </a:outerShdw>
          </a:effectLst>
        </p:spPr>
      </p:sp>
      <p:sp>
        <p:nvSpPr>
          <p:cNvPr id="10" name="Phase 2 text"/>
          <p:cNvSpPr txBox="1"/>
          <p:nvPr/>
        </p:nvSpPr>
        <p:spPr>
          <a:xfrm>
            <a:off x="3840480" y="1426464"/>
            <a:ext cx="1325880" cy="1536192"/>
          </a:xfrm>
          <a:prstGeom prst="rect">
            <a:avLst/>
          </a:prstGeom>
          <a:noFill/>
          <a:ln/>
        </p:spPr>
        <p:txBody>
          <a:bodyPr wrap="square" lIns="0" tIns="0" rIns="0" bIns="0" rtlCol="0" anchor="ctr"/>
          <a:lstStyle/>
          <a:p>
            <a:pPr marL="0" indent="0">
              <a:spcAft>
                <a:spcPts val="300"/>
              </a:spcAft>
              <a:buNone/>
            </a:pPr>
            <a:r>
              <a:rPr lang="en-US" sz="1200" b="1" dirty="0">
                <a:solidFill>
                  <a:srgbClr val="B45309"/>
                </a:solidFill>
              </a:rPr>
              <a:t>Phase 2</a:t>
            </a:r>
            <a:endParaRPr lang="en-US" sz="1400" dirty="0"/>
          </a:p>
          <a:p>
            <a:pPr marL="0" indent="0">
              <a:spcAft>
                <a:spcPts val="300"/>
              </a:spcAft>
              <a:buNone/>
            </a:pPr>
            <a:r>
              <a:rPr lang="en-US" sz="1400" b="1" dirty="0">
                <a:solidFill>
                  <a:srgbClr val="1F2A44"/>
                </a:solidFill>
              </a:rPr>
              <a:t>Pilot division</a:t>
            </a:r>
            <a:endParaRPr lang="en-US" sz="1400" dirty="0"/>
          </a:p>
          <a:p>
            <a:pPr marL="0" indent="0">
              <a:spcAft>
                <a:spcPts val="300"/>
              </a:spcAft>
              <a:buNone/>
            </a:pPr>
            <a:r>
              <a:rPr lang="en-US" sz="1200" b="1" dirty="0">
                <a:solidFill>
                  <a:srgbClr val="0F766E"/>
                </a:solidFill>
              </a:rPr>
              <a:t>G2 Pilot Clean</a:t>
            </a:r>
            <a:endParaRPr lang="en-US" sz="1400" dirty="0"/>
          </a:p>
          <a:p>
            <a:pPr marL="0" indent="0">
              <a:spcAft>
                <a:spcPts val="300"/>
              </a:spcAft>
              <a:buNone/>
            </a:pPr>
            <a:r>
              <a:rPr lang="en-US" sz="1200" dirty="0">
                <a:solidFill>
                  <a:schemeClr val="tx2"/>
                </a:solidFill>
              </a:rPr>
              <a:t>Steward and sponsor</a:t>
            </a:r>
            <a:endParaRPr lang="en-US" sz="1400" dirty="0"/>
          </a:p>
        </p:txBody>
      </p:sp>
      <p:sp>
        <p:nvSpPr>
          <p:cNvPr id="11" name="Phase 3">
            <a:extLst>
              <a:ext uri="{C183D7F6-B498-43B3-948B-1728B52AA6E4}">
                <adec:decorative xmlns:adec="http://schemas.microsoft.com/office/drawing/2017/decorative" val="1"/>
              </a:ext>
            </a:extLst>
          </p:cNvPr>
          <p:cNvSpPr/>
          <p:nvPr/>
        </p:nvSpPr>
        <p:spPr>
          <a:xfrm>
            <a:off x="5349240" y="1371600"/>
            <a:ext cx="1508760" cy="1645920"/>
          </a:xfrm>
          <a:prstGeom prst="roundRect">
            <a:avLst>
              <a:gd name="adj" fmla="val 4848"/>
            </a:avLst>
          </a:prstGeom>
          <a:solidFill>
            <a:srgbClr val="E4EAF4"/>
          </a:solidFill>
          <a:ln w="12700">
            <a:solidFill>
              <a:srgbClr val="E4EAF4"/>
            </a:solidFill>
            <a:prstDash val="solid"/>
          </a:ln>
          <a:effectLst>
            <a:outerShdw blurRad="76200" dist="25400" dir="5400000" algn="bl" rotWithShape="0">
              <a:srgbClr val="64748B">
                <a:alpha val="22000"/>
              </a:srgbClr>
            </a:outerShdw>
          </a:effectLst>
        </p:spPr>
      </p:sp>
      <p:sp>
        <p:nvSpPr>
          <p:cNvPr id="12" name="Phase 3 text"/>
          <p:cNvSpPr txBox="1"/>
          <p:nvPr/>
        </p:nvSpPr>
        <p:spPr>
          <a:xfrm>
            <a:off x="5440680" y="1426464"/>
            <a:ext cx="1325880" cy="1536192"/>
          </a:xfrm>
          <a:prstGeom prst="rect">
            <a:avLst/>
          </a:prstGeom>
          <a:noFill/>
          <a:ln/>
        </p:spPr>
        <p:txBody>
          <a:bodyPr wrap="square" lIns="0" tIns="0" rIns="0" bIns="0" rtlCol="0" anchor="ctr"/>
          <a:lstStyle/>
          <a:p>
            <a:pPr marL="0" indent="0">
              <a:spcAft>
                <a:spcPts val="300"/>
              </a:spcAft>
              <a:buNone/>
            </a:pPr>
            <a:r>
              <a:rPr lang="en-US" sz="1200" b="1" dirty="0">
                <a:solidFill>
                  <a:srgbClr val="B45309"/>
                </a:solidFill>
              </a:rPr>
              <a:t>Phase 3</a:t>
            </a:r>
            <a:endParaRPr lang="en-US" sz="1400" dirty="0"/>
          </a:p>
          <a:p>
            <a:pPr marL="0" indent="0">
              <a:spcAft>
                <a:spcPts val="300"/>
              </a:spcAft>
              <a:buNone/>
            </a:pPr>
            <a:r>
              <a:rPr lang="en-US" sz="1400" b="1" dirty="0">
                <a:solidFill>
                  <a:srgbClr val="1F2A44"/>
                </a:solidFill>
              </a:rPr>
              <a:t>General rollout</a:t>
            </a:r>
            <a:endParaRPr lang="en-US" sz="1400" dirty="0"/>
          </a:p>
          <a:p>
            <a:pPr marL="0" indent="0">
              <a:spcAft>
                <a:spcPts val="300"/>
              </a:spcAft>
              <a:buNone/>
            </a:pPr>
            <a:r>
              <a:rPr lang="en-US" sz="1200" b="1" dirty="0">
                <a:solidFill>
                  <a:srgbClr val="0F766E"/>
                </a:solidFill>
              </a:rPr>
              <a:t>G3 Rollout Complete</a:t>
            </a:r>
            <a:endParaRPr lang="en-US" sz="1400" dirty="0"/>
          </a:p>
          <a:p>
            <a:pPr marL="0" indent="0">
              <a:spcAft>
                <a:spcPts val="300"/>
              </a:spcAft>
              <a:buNone/>
            </a:pPr>
            <a:r>
              <a:rPr lang="en-US" sz="1200" dirty="0">
                <a:solidFill>
                  <a:schemeClr val="tx2"/>
                </a:solidFill>
              </a:rPr>
              <a:t>Sponsor and steering committee</a:t>
            </a:r>
            <a:endParaRPr lang="en-US" sz="1400" dirty="0"/>
          </a:p>
        </p:txBody>
      </p:sp>
      <p:sp>
        <p:nvSpPr>
          <p:cNvPr id="13" name="Phase 4">
            <a:extLst>
              <a:ext uri="{C183D7F6-B498-43B3-948B-1728B52AA6E4}">
                <adec:decorative xmlns:adec="http://schemas.microsoft.com/office/drawing/2017/decorative" val="1"/>
              </a:ext>
            </a:extLst>
          </p:cNvPr>
          <p:cNvSpPr/>
          <p:nvPr/>
        </p:nvSpPr>
        <p:spPr>
          <a:xfrm>
            <a:off x="6949440" y="1371600"/>
            <a:ext cx="1508760" cy="1645920"/>
          </a:xfrm>
          <a:prstGeom prst="roundRect">
            <a:avLst>
              <a:gd name="adj" fmla="val 4848"/>
            </a:avLst>
          </a:prstGeom>
          <a:solidFill>
            <a:srgbClr val="FBEEDC"/>
          </a:solidFill>
          <a:ln w="12700">
            <a:solidFill>
              <a:srgbClr val="FBEEDC"/>
            </a:solidFill>
            <a:prstDash val="solid"/>
          </a:ln>
          <a:effectLst>
            <a:outerShdw blurRad="76200" dist="25400" dir="5400000" algn="bl" rotWithShape="0">
              <a:srgbClr val="64748B">
                <a:alpha val="22000"/>
              </a:srgbClr>
            </a:outerShdw>
          </a:effectLst>
        </p:spPr>
      </p:sp>
      <p:sp>
        <p:nvSpPr>
          <p:cNvPr id="14" name="Phase 4 text"/>
          <p:cNvSpPr txBox="1"/>
          <p:nvPr/>
        </p:nvSpPr>
        <p:spPr>
          <a:xfrm>
            <a:off x="7040880" y="1426464"/>
            <a:ext cx="1325880" cy="1536192"/>
          </a:xfrm>
          <a:prstGeom prst="rect">
            <a:avLst/>
          </a:prstGeom>
          <a:noFill/>
          <a:ln/>
        </p:spPr>
        <p:txBody>
          <a:bodyPr wrap="square" lIns="0" tIns="0" rIns="0" bIns="0" rtlCol="0" anchor="ctr"/>
          <a:lstStyle/>
          <a:p>
            <a:pPr marL="0" indent="0">
              <a:spcAft>
                <a:spcPts val="300"/>
              </a:spcAft>
              <a:buNone/>
            </a:pPr>
            <a:r>
              <a:rPr lang="en-US" sz="1200" b="1" dirty="0">
                <a:solidFill>
                  <a:srgbClr val="B45309"/>
                </a:solidFill>
              </a:rPr>
              <a:t>Phase 4</a:t>
            </a:r>
            <a:endParaRPr lang="en-US" sz="1400" dirty="0"/>
          </a:p>
          <a:p>
            <a:pPr marL="0" indent="0">
              <a:spcAft>
                <a:spcPts val="300"/>
              </a:spcAft>
              <a:buNone/>
            </a:pPr>
            <a:r>
              <a:rPr lang="en-US" sz="1400" b="1" dirty="0">
                <a:solidFill>
                  <a:srgbClr val="1F2A44"/>
                </a:solidFill>
              </a:rPr>
              <a:t>Legacy retirement</a:t>
            </a:r>
            <a:endParaRPr lang="en-US" sz="1400" dirty="0"/>
          </a:p>
          <a:p>
            <a:pPr marL="0" indent="0">
              <a:spcAft>
                <a:spcPts val="300"/>
              </a:spcAft>
              <a:buNone/>
            </a:pPr>
            <a:r>
              <a:rPr lang="en-US" sz="1200" b="1" dirty="0">
                <a:solidFill>
                  <a:srgbClr val="0F766E"/>
                </a:solidFill>
              </a:rPr>
              <a:t>G4 Legacy Quiet</a:t>
            </a:r>
            <a:endParaRPr lang="en-US" sz="1400" dirty="0"/>
          </a:p>
          <a:p>
            <a:pPr marL="0" indent="0">
              <a:spcAft>
                <a:spcPts val="300"/>
              </a:spcAft>
              <a:buNone/>
            </a:pPr>
            <a:r>
              <a:rPr lang="en-US" sz="1200" dirty="0">
                <a:solidFill>
                  <a:schemeClr val="tx2"/>
                </a:solidFill>
              </a:rPr>
              <a:t>Steward</a:t>
            </a:r>
            <a:endParaRPr lang="en-US" sz="1400" dirty="0"/>
          </a:p>
        </p:txBody>
      </p:sp>
      <p:sp>
        <p:nvSpPr>
          <p:cNvPr id="15" name="Phase 5">
            <a:extLst>
              <a:ext uri="{C183D7F6-B498-43B3-948B-1728B52AA6E4}">
                <adec:decorative xmlns:adec="http://schemas.microsoft.com/office/drawing/2017/decorative" val="1"/>
              </a:ext>
            </a:extLst>
          </p:cNvPr>
          <p:cNvSpPr/>
          <p:nvPr/>
        </p:nvSpPr>
        <p:spPr>
          <a:xfrm>
            <a:off x="8549640" y="1371600"/>
            <a:ext cx="1508760" cy="1645920"/>
          </a:xfrm>
          <a:prstGeom prst="roundRect">
            <a:avLst>
              <a:gd name="adj" fmla="val 4848"/>
            </a:avLst>
          </a:prstGeom>
          <a:solidFill>
            <a:srgbClr val="FBE4E4"/>
          </a:solidFill>
          <a:ln w="12700">
            <a:solidFill>
              <a:srgbClr val="FBE4E4"/>
            </a:solidFill>
            <a:prstDash val="solid"/>
          </a:ln>
          <a:effectLst>
            <a:outerShdw blurRad="76200" dist="25400" dir="5400000" algn="bl" rotWithShape="0">
              <a:srgbClr val="64748B">
                <a:alpha val="22000"/>
              </a:srgbClr>
            </a:outerShdw>
          </a:effectLst>
        </p:spPr>
      </p:sp>
      <p:sp>
        <p:nvSpPr>
          <p:cNvPr id="16" name="Phase 5 text"/>
          <p:cNvSpPr txBox="1"/>
          <p:nvPr/>
        </p:nvSpPr>
        <p:spPr>
          <a:xfrm>
            <a:off x="8641080" y="1426464"/>
            <a:ext cx="1325880" cy="1536192"/>
          </a:xfrm>
          <a:prstGeom prst="rect">
            <a:avLst/>
          </a:prstGeom>
          <a:noFill/>
          <a:ln/>
        </p:spPr>
        <p:txBody>
          <a:bodyPr wrap="square" lIns="0" tIns="0" rIns="0" bIns="0" rtlCol="0" anchor="ctr"/>
          <a:lstStyle/>
          <a:p>
            <a:pPr marL="0" indent="0">
              <a:spcAft>
                <a:spcPts val="300"/>
              </a:spcAft>
              <a:buNone/>
            </a:pPr>
            <a:r>
              <a:rPr lang="en-US" sz="1200" b="1" dirty="0">
                <a:solidFill>
                  <a:srgbClr val="B45309"/>
                </a:solidFill>
              </a:rPr>
              <a:t>Phase 5</a:t>
            </a:r>
            <a:endParaRPr lang="en-US" sz="1400" dirty="0"/>
          </a:p>
          <a:p>
            <a:pPr marL="0" indent="0">
              <a:spcAft>
                <a:spcPts val="300"/>
              </a:spcAft>
              <a:buNone/>
            </a:pPr>
            <a:r>
              <a:rPr lang="en-US" sz="1400" b="1" dirty="0">
                <a:solidFill>
                  <a:srgbClr val="1F2A44"/>
                </a:solidFill>
              </a:rPr>
              <a:t>AD DS retirement</a:t>
            </a:r>
            <a:endParaRPr lang="en-US" sz="1400" dirty="0"/>
          </a:p>
          <a:p>
            <a:pPr marL="0" indent="0">
              <a:spcAft>
                <a:spcPts val="300"/>
              </a:spcAft>
              <a:buNone/>
            </a:pPr>
            <a:r>
              <a:rPr lang="en-US" sz="1200" b="1" dirty="0">
                <a:solidFill>
                  <a:srgbClr val="0F766E"/>
                </a:solidFill>
              </a:rPr>
              <a:t>G5 AD Retired</a:t>
            </a:r>
            <a:endParaRPr lang="en-US" sz="1400" dirty="0"/>
          </a:p>
          <a:p>
            <a:pPr marL="0" indent="0">
              <a:spcAft>
                <a:spcPts val="300"/>
              </a:spcAft>
              <a:buNone/>
            </a:pPr>
            <a:r>
              <a:rPr lang="en-US" sz="1200" dirty="0">
                <a:solidFill>
                  <a:schemeClr val="tx2"/>
                </a:solidFill>
              </a:rPr>
              <a:t>Sponsor and CIO</a:t>
            </a:r>
            <a:endParaRPr lang="en-US" sz="1400" dirty="0"/>
          </a:p>
        </p:txBody>
      </p:sp>
      <p:sp>
        <p:nvSpPr>
          <p:cNvPr id="17" name="Phase 6">
            <a:extLst>
              <a:ext uri="{C183D7F6-B498-43B3-948B-1728B52AA6E4}">
                <adec:decorative xmlns:adec="http://schemas.microsoft.com/office/drawing/2017/decorative" val="1"/>
              </a:ext>
            </a:extLst>
          </p:cNvPr>
          <p:cNvSpPr/>
          <p:nvPr/>
        </p:nvSpPr>
        <p:spPr>
          <a:xfrm>
            <a:off x="10149840" y="1371600"/>
            <a:ext cx="1508760" cy="1645920"/>
          </a:xfrm>
          <a:prstGeom prst="roundRect">
            <a:avLst>
              <a:gd name="adj" fmla="val 4848"/>
            </a:avLst>
          </a:prstGeom>
          <a:solidFill>
            <a:srgbClr val="DCEFEC"/>
          </a:solidFill>
          <a:ln w="12700">
            <a:solidFill>
              <a:srgbClr val="DCEFEC"/>
            </a:solidFill>
            <a:prstDash val="solid"/>
          </a:ln>
          <a:effectLst>
            <a:outerShdw blurRad="76200" dist="25400" dir="5400000" algn="bl" rotWithShape="0">
              <a:srgbClr val="64748B">
                <a:alpha val="22000"/>
              </a:srgbClr>
            </a:outerShdw>
          </a:effectLst>
        </p:spPr>
      </p:sp>
      <p:sp>
        <p:nvSpPr>
          <p:cNvPr id="18" name="Phase 6 text"/>
          <p:cNvSpPr txBox="1"/>
          <p:nvPr/>
        </p:nvSpPr>
        <p:spPr>
          <a:xfrm>
            <a:off x="10241280" y="1426464"/>
            <a:ext cx="1325880" cy="1536192"/>
          </a:xfrm>
          <a:prstGeom prst="rect">
            <a:avLst/>
          </a:prstGeom>
          <a:noFill/>
          <a:ln/>
        </p:spPr>
        <p:txBody>
          <a:bodyPr wrap="square" lIns="0" tIns="0" rIns="0" bIns="0" rtlCol="0" anchor="ctr"/>
          <a:lstStyle/>
          <a:p>
            <a:pPr marL="0" indent="0">
              <a:spcAft>
                <a:spcPts val="300"/>
              </a:spcAft>
              <a:buNone/>
            </a:pPr>
            <a:r>
              <a:rPr lang="en-US" sz="1200" b="1" dirty="0">
                <a:solidFill>
                  <a:srgbClr val="B45309"/>
                </a:solidFill>
              </a:rPr>
              <a:t>Phase 6</a:t>
            </a:r>
            <a:endParaRPr lang="en-US" sz="1400" dirty="0"/>
          </a:p>
          <a:p>
            <a:pPr marL="0" indent="0">
              <a:spcAft>
                <a:spcPts val="300"/>
              </a:spcAft>
              <a:buNone/>
            </a:pPr>
            <a:r>
              <a:rPr lang="en-US" sz="1400" b="1" dirty="0">
                <a:solidFill>
                  <a:srgbClr val="1F2A44"/>
                </a:solidFill>
              </a:rPr>
              <a:t>Steady state</a:t>
            </a:r>
            <a:endParaRPr lang="en-US" sz="1400" dirty="0"/>
          </a:p>
          <a:p>
            <a:pPr marL="0" indent="0">
              <a:spcAft>
                <a:spcPts val="300"/>
              </a:spcAft>
              <a:buNone/>
            </a:pPr>
            <a:r>
              <a:rPr lang="en-US" sz="1200" b="1" dirty="0">
                <a:solidFill>
                  <a:srgbClr val="0F766E"/>
                </a:solidFill>
              </a:rPr>
              <a:t>No exit gate</a:t>
            </a:r>
            <a:endParaRPr lang="en-US" sz="1400" dirty="0"/>
          </a:p>
          <a:p>
            <a:pPr marL="0" indent="0">
              <a:spcAft>
                <a:spcPts val="300"/>
              </a:spcAft>
              <a:buNone/>
            </a:pPr>
            <a:r>
              <a:rPr lang="en-US" sz="1200" dirty="0">
                <a:solidFill>
                  <a:schemeClr val="tx2"/>
                </a:solidFill>
              </a:rPr>
              <a:t>Runs on a cadence</a:t>
            </a:r>
            <a:endParaRPr lang="en-US" sz="1400" dirty="0"/>
          </a:p>
        </p:txBody>
      </p:sp>
      <p:sp>
        <p:nvSpPr>
          <p:cNvPr id="19" name="Panel 1">
            <a:extLst>
              <a:ext uri="{C183D7F6-B498-43B3-948B-1728B52AA6E4}">
                <adec:decorative xmlns:adec="http://schemas.microsoft.com/office/drawing/2017/decorative" val="1"/>
              </a:ext>
            </a:extLst>
          </p:cNvPr>
          <p:cNvSpPr/>
          <p:nvPr/>
        </p:nvSpPr>
        <p:spPr>
          <a:xfrm>
            <a:off x="548640" y="3154680"/>
            <a:ext cx="5486400" cy="1508760"/>
          </a:xfrm>
          <a:prstGeom prst="roundRect">
            <a:avLst>
              <a:gd name="adj" fmla="val 4848"/>
            </a:avLst>
          </a:prstGeom>
          <a:solidFill>
            <a:srgbClr val="E4EAF4"/>
          </a:solidFill>
          <a:ln w="12700">
            <a:solidFill>
              <a:srgbClr val="E4EAF4"/>
            </a:solidFill>
            <a:prstDash val="solid"/>
          </a:ln>
          <a:effectLst>
            <a:outerShdw blurRad="76200" dist="25400" dir="5400000" algn="bl" rotWithShape="0">
              <a:srgbClr val="64748B">
                <a:alpha val="22000"/>
              </a:srgbClr>
            </a:outerShdw>
          </a:effectLst>
        </p:spPr>
      </p:sp>
      <p:sp>
        <p:nvSpPr>
          <p:cNvPr id="20" name="Icon FaBook">
            <a:extLst>
              <a:ext uri="{C183D7F6-B498-43B3-948B-1728B52AA6E4}">
                <adec:decorative xmlns:adec="http://schemas.microsoft.com/office/drawing/2017/decorative" val="1"/>
              </a:ext>
            </a:extLst>
          </p:cNvPr>
          <p:cNvSpPr/>
          <p:nvPr/>
        </p:nvSpPr>
        <p:spPr>
          <a:xfrm>
            <a:off x="731520" y="3227832"/>
            <a:ext cx="457200" cy="457200"/>
          </a:xfrm>
          <a:prstGeom prst="ellipse">
            <a:avLst/>
          </a:prstGeom>
          <a:solidFill>
            <a:srgbClr val="1F2A44"/>
          </a:solidFill>
          <a:ln w="12700">
            <a:solidFill>
              <a:srgbClr val="1F2A44"/>
            </a:solidFill>
            <a:prstDash val="solid"/>
          </a:ln>
        </p:spPr>
      </p:sp>
      <p:pic>
        <p:nvPicPr>
          <p:cNvPr id="21" name="Image 0">
            <a:extLst>
              <a:ext uri="{C183D7F6-B498-43B3-948B-1728B52AA6E4}">
                <adec:decorative xmlns:adec="http://schemas.microsoft.com/office/drawing/2017/decorative" val="1"/>
              </a:ext>
            </a:extLst>
          </p:cNvPr>
          <p:cNvPicPr>
            <a:picLocks noChangeAspect="1"/>
          </p:cNvPicPr>
          <p:nvPr/>
        </p:nvPicPr>
        <p:blipFill>
          <a:blip r:embed="rId5"/>
          <a:stretch>
            <a:fillRect/>
          </a:stretch>
        </p:blipFill>
        <p:spPr>
          <a:xfrm>
            <a:off x="841248" y="3337560"/>
            <a:ext cx="237744" cy="237744"/>
          </a:xfrm>
          <a:prstGeom prst="rect">
            <a:avLst/>
          </a:prstGeom>
        </p:spPr>
      </p:pic>
      <p:sp>
        <p:nvSpPr>
          <p:cNvPr id="22" name="Panel head 1"/>
          <p:cNvSpPr txBox="1"/>
          <p:nvPr/>
        </p:nvSpPr>
        <p:spPr>
          <a:xfrm>
            <a:off x="1325880" y="3227832"/>
            <a:ext cx="4572000" cy="457200"/>
          </a:xfrm>
          <a:prstGeom prst="rect">
            <a:avLst/>
          </a:prstGeom>
          <a:noFill/>
          <a:ln/>
        </p:spPr>
        <p:txBody>
          <a:bodyPr wrap="square" lIns="0" tIns="0" rIns="0" bIns="0" rtlCol="0" anchor="ctr"/>
          <a:lstStyle/>
          <a:p>
            <a:pPr marL="0" indent="0">
              <a:buNone/>
            </a:pPr>
            <a:r>
              <a:rPr lang="en-US" sz="1600" b="1" dirty="0">
                <a:solidFill>
                  <a:srgbClr val="1F2A44"/>
                </a:solidFill>
                <a:latin typeface="Cambria" pitchFamily="34" charset="0"/>
                <a:ea typeface="Cambria" pitchFamily="34" charset="-122"/>
                <a:cs typeface="Cambria" pitchFamily="34" charset="-120"/>
              </a:rPr>
              <a:t>Book 01 is canonical</a:t>
            </a:r>
            <a:endParaRPr lang="en-US" sz="1600" dirty="0"/>
          </a:p>
        </p:txBody>
      </p:sp>
      <p:sp>
        <p:nvSpPr>
          <p:cNvPr id="23" name="Panel text 1"/>
          <p:cNvSpPr txBox="1"/>
          <p:nvPr/>
        </p:nvSpPr>
        <p:spPr>
          <a:xfrm>
            <a:off x="777240" y="3749040"/>
            <a:ext cx="5120640" cy="868680"/>
          </a:xfrm>
          <a:prstGeom prst="rect">
            <a:avLst/>
          </a:prstGeom>
          <a:noFill/>
          <a:ln/>
        </p:spPr>
        <p:txBody>
          <a:bodyPr wrap="square" lIns="0" tIns="0" rIns="0" bIns="0" rtlCol="0" anchor="t"/>
          <a:lstStyle/>
          <a:p>
            <a:pPr marL="342900" indent="-342900">
              <a:spcAft>
                <a:spcPts val="200"/>
              </a:spcAft>
              <a:buSzPct val="100000"/>
              <a:buChar char="•"/>
            </a:pPr>
            <a:r>
              <a:rPr lang="en-US" sz="1300" dirty="0">
                <a:solidFill>
                  <a:schemeClr val="tx2"/>
                </a:solidFill>
              </a:rPr>
              <a:t>The master plan's phases map onto these gates</a:t>
            </a:r>
            <a:endParaRPr lang="en-US" sz="1400" dirty="0"/>
          </a:p>
          <a:p>
            <a:pPr marL="342900" indent="-342900">
              <a:spcAft>
                <a:spcPts val="200"/>
              </a:spcAft>
              <a:buSzPct val="100000"/>
              <a:buChar char="•"/>
            </a:pPr>
            <a:r>
              <a:rPr lang="en-US" sz="1300" dirty="0">
                <a:solidFill>
                  <a:schemeClr val="tx2"/>
                </a:solidFill>
              </a:rPr>
              <a:t>Its 52 weeks stop short of retiring AD DS</a:t>
            </a:r>
            <a:endParaRPr lang="en-US" sz="1400" dirty="0"/>
          </a:p>
          <a:p>
            <a:pPr marL="342900" indent="-342900">
              <a:spcAft>
                <a:spcPts val="200"/>
              </a:spcAft>
              <a:buSzPct val="100000"/>
              <a:buChar char="•"/>
            </a:pPr>
            <a:r>
              <a:rPr lang="en-US" sz="1300" dirty="0">
                <a:solidFill>
                  <a:schemeClr val="tx2"/>
                </a:solidFill>
              </a:rPr>
              <a:t>Large federal estates typically run multi-year</a:t>
            </a:r>
            <a:endParaRPr lang="en-US" sz="1400" dirty="0"/>
          </a:p>
        </p:txBody>
      </p:sp>
      <p:sp>
        <p:nvSpPr>
          <p:cNvPr id="24" name="Panel 2">
            <a:extLst>
              <a:ext uri="{C183D7F6-B498-43B3-948B-1728B52AA6E4}">
                <adec:decorative xmlns:adec="http://schemas.microsoft.com/office/drawing/2017/decorative" val="1"/>
              </a:ext>
            </a:extLst>
          </p:cNvPr>
          <p:cNvSpPr/>
          <p:nvPr/>
        </p:nvSpPr>
        <p:spPr>
          <a:xfrm>
            <a:off x="6172200" y="3154680"/>
            <a:ext cx="5486400" cy="1508760"/>
          </a:xfrm>
          <a:prstGeom prst="roundRect">
            <a:avLst>
              <a:gd name="adj" fmla="val 4848"/>
            </a:avLst>
          </a:prstGeom>
          <a:solidFill>
            <a:srgbClr val="DCEFEC"/>
          </a:solidFill>
          <a:ln w="12700">
            <a:solidFill>
              <a:srgbClr val="DCEFEC"/>
            </a:solidFill>
            <a:prstDash val="solid"/>
          </a:ln>
          <a:effectLst>
            <a:outerShdw blurRad="76200" dist="25400" dir="5400000" algn="bl" rotWithShape="0">
              <a:srgbClr val="64748B">
                <a:alpha val="22000"/>
              </a:srgbClr>
            </a:outerShdw>
          </a:effectLst>
        </p:spPr>
      </p:sp>
      <p:sp>
        <p:nvSpPr>
          <p:cNvPr id="25" name="Icon FaListCheck">
            <a:extLst>
              <a:ext uri="{C183D7F6-B498-43B3-948B-1728B52AA6E4}">
                <adec:decorative xmlns:adec="http://schemas.microsoft.com/office/drawing/2017/decorative" val="1"/>
              </a:ext>
            </a:extLst>
          </p:cNvPr>
          <p:cNvSpPr/>
          <p:nvPr/>
        </p:nvSpPr>
        <p:spPr>
          <a:xfrm>
            <a:off x="6355080" y="3227832"/>
            <a:ext cx="457200" cy="457200"/>
          </a:xfrm>
          <a:prstGeom prst="ellipse">
            <a:avLst/>
          </a:prstGeom>
          <a:solidFill>
            <a:srgbClr val="0F766E"/>
          </a:solidFill>
          <a:ln w="12700">
            <a:solidFill>
              <a:srgbClr val="0F766E"/>
            </a:solidFill>
            <a:prstDash val="solid"/>
          </a:ln>
        </p:spPr>
      </p:sp>
      <p:pic>
        <p:nvPicPr>
          <p:cNvPr id="26" name="Image 1">
            <a:extLst>
              <a:ext uri="{C183D7F6-B498-43B3-948B-1728B52AA6E4}">
                <adec:decorative xmlns:adec="http://schemas.microsoft.com/office/drawing/2017/decorative" val="1"/>
              </a:ext>
            </a:extLst>
          </p:cNvPr>
          <p:cNvPicPr>
            <a:picLocks noChangeAspect="1"/>
          </p:cNvPicPr>
          <p:nvPr/>
        </p:nvPicPr>
        <p:blipFill>
          <a:blip r:embed="rId6"/>
          <a:stretch>
            <a:fillRect/>
          </a:stretch>
        </p:blipFill>
        <p:spPr>
          <a:xfrm>
            <a:off x="6464808" y="3337560"/>
            <a:ext cx="237744" cy="237744"/>
          </a:xfrm>
          <a:prstGeom prst="rect">
            <a:avLst/>
          </a:prstGeom>
        </p:spPr>
      </p:pic>
      <p:sp>
        <p:nvSpPr>
          <p:cNvPr id="27" name="Panel head 2"/>
          <p:cNvSpPr txBox="1"/>
          <p:nvPr/>
        </p:nvSpPr>
        <p:spPr>
          <a:xfrm>
            <a:off x="6949440" y="3227832"/>
            <a:ext cx="4572000" cy="457200"/>
          </a:xfrm>
          <a:prstGeom prst="rect">
            <a:avLst/>
          </a:prstGeom>
          <a:noFill/>
          <a:ln/>
        </p:spPr>
        <p:txBody>
          <a:bodyPr wrap="square" lIns="0" tIns="0" rIns="0" bIns="0" rtlCol="0" anchor="ctr"/>
          <a:lstStyle/>
          <a:p>
            <a:pPr marL="0" indent="0">
              <a:buNone/>
            </a:pPr>
            <a:r>
              <a:rPr lang="en-US" sz="1600" b="1" dirty="0">
                <a:solidFill>
                  <a:srgbClr val="0F766E"/>
                </a:solidFill>
                <a:latin typeface="Cambria" pitchFamily="34" charset="0"/>
                <a:ea typeface="Cambria" pitchFamily="34" charset="-122"/>
                <a:cs typeface="Cambria" pitchFamily="34" charset="-120"/>
              </a:rPr>
              <a:t>Five constraints on every phase</a:t>
            </a:r>
            <a:endParaRPr lang="en-US" sz="1600" dirty="0"/>
          </a:p>
        </p:txBody>
      </p:sp>
      <p:sp>
        <p:nvSpPr>
          <p:cNvPr id="28" name="Panel text 2"/>
          <p:cNvSpPr txBox="1"/>
          <p:nvPr/>
        </p:nvSpPr>
        <p:spPr>
          <a:xfrm>
            <a:off x="6400800" y="3749040"/>
            <a:ext cx="5120640" cy="868680"/>
          </a:xfrm>
          <a:prstGeom prst="rect">
            <a:avLst/>
          </a:prstGeom>
          <a:noFill/>
          <a:ln/>
        </p:spPr>
        <p:txBody>
          <a:bodyPr wrap="square" lIns="0" tIns="0" rIns="0" bIns="0" rtlCol="0" anchor="t"/>
          <a:lstStyle/>
          <a:p>
            <a:pPr marL="342900" indent="-342900">
              <a:spcAft>
                <a:spcPts val="200"/>
              </a:spcAft>
              <a:buSzPct val="100000"/>
              <a:buChar char="•"/>
            </a:pPr>
            <a:r>
              <a:rPr lang="en-US" sz="1300" dirty="0">
                <a:solidFill>
                  <a:schemeClr val="tx2"/>
                </a:solidFill>
              </a:rPr>
              <a:t>Origin and provenance; time-bound privilege</a:t>
            </a:r>
            <a:endParaRPr lang="en-US" sz="1400" dirty="0"/>
          </a:p>
          <a:p>
            <a:pPr marL="342900" indent="-342900">
              <a:spcAft>
                <a:spcPts val="200"/>
              </a:spcAft>
              <a:buSzPct val="100000"/>
              <a:buChar char="•"/>
            </a:pPr>
            <a:r>
              <a:rPr lang="en-US" sz="1300" dirty="0">
                <a:solidFill>
                  <a:schemeClr val="tx2"/>
                </a:solidFill>
              </a:rPr>
              <a:t>Copies non-authoritative; drift visible</a:t>
            </a:r>
            <a:endParaRPr lang="en-US" sz="1400" dirty="0"/>
          </a:p>
          <a:p>
            <a:pPr marL="342900" indent="-342900">
              <a:spcAft>
                <a:spcPts val="200"/>
              </a:spcAft>
              <a:buSzPct val="100000"/>
              <a:buChar char="•"/>
            </a:pPr>
            <a:r>
              <a:rPr lang="en-US" sz="1300" dirty="0">
                <a:solidFill>
                  <a:schemeClr val="tx2"/>
                </a:solidFill>
              </a:rPr>
              <a:t>No rip-and-replace: map, bridge, replace</a:t>
            </a:r>
            <a:endParaRPr lang="en-US" sz="1400" dirty="0"/>
          </a:p>
        </p:txBody>
      </p:sp>
      <p:sp>
        <p:nvSpPr>
          <p:cNvPr id="29" name="Decision bar">
            <a:extLst>
              <a:ext uri="{C183D7F6-B498-43B3-948B-1728B52AA6E4}">
                <adec:decorative xmlns:adec="http://schemas.microsoft.com/office/drawing/2017/decorative" val="1"/>
              </a:ext>
            </a:extLst>
          </p:cNvPr>
          <p:cNvSpPr/>
          <p:nvPr/>
        </p:nvSpPr>
        <p:spPr>
          <a:xfrm>
            <a:off x="548640" y="4800600"/>
            <a:ext cx="11109960" cy="1143000"/>
          </a:xfrm>
          <a:prstGeom prst="roundRect">
            <a:avLst>
              <a:gd name="adj" fmla="val 6400"/>
            </a:avLst>
          </a:prstGeom>
          <a:solidFill>
            <a:srgbClr val="FFFFFF"/>
          </a:solidFill>
          <a:ln w="12700">
            <a:solidFill>
              <a:srgbClr val="B45309"/>
            </a:solidFill>
            <a:prstDash val="solid"/>
          </a:ln>
          <a:effectLst>
            <a:outerShdw blurRad="76200" dist="25400" dir="5400000" algn="bl" rotWithShape="0">
              <a:srgbClr val="64748B">
                <a:alpha val="22000"/>
              </a:srgbClr>
            </a:outerShdw>
          </a:effectLst>
        </p:spPr>
      </p:sp>
      <p:sp>
        <p:nvSpPr>
          <p:cNvPr id="30" name="Icon FaScaleBalanced">
            <a:extLst>
              <a:ext uri="{C183D7F6-B498-43B3-948B-1728B52AA6E4}">
                <adec:decorative xmlns:adec="http://schemas.microsoft.com/office/drawing/2017/decorative" val="1"/>
              </a:ext>
            </a:extLst>
          </p:cNvPr>
          <p:cNvSpPr/>
          <p:nvPr/>
        </p:nvSpPr>
        <p:spPr>
          <a:xfrm>
            <a:off x="749808" y="5047488"/>
            <a:ext cx="640080" cy="640080"/>
          </a:xfrm>
          <a:prstGeom prst="ellipse">
            <a:avLst/>
          </a:prstGeom>
          <a:solidFill>
            <a:srgbClr val="B45309"/>
          </a:solidFill>
          <a:ln w="12700">
            <a:solidFill>
              <a:srgbClr val="B45309"/>
            </a:solidFill>
            <a:prstDash val="solid"/>
          </a:ln>
        </p:spPr>
      </p:sp>
      <p:pic>
        <p:nvPicPr>
          <p:cNvPr id="31" name="Image 2">
            <a:extLst>
              <a:ext uri="{C183D7F6-B498-43B3-948B-1728B52AA6E4}">
                <adec:decorative xmlns:adec="http://schemas.microsoft.com/office/drawing/2017/decorative" val="1"/>
              </a:ext>
            </a:extLst>
          </p:cNvPr>
          <p:cNvPicPr>
            <a:picLocks noChangeAspect="1"/>
          </p:cNvPicPr>
          <p:nvPr/>
        </p:nvPicPr>
        <p:blipFill>
          <a:blip r:embed="rId7"/>
          <a:stretch>
            <a:fillRect/>
          </a:stretch>
        </p:blipFill>
        <p:spPr>
          <a:xfrm>
            <a:off x="903427" y="5201107"/>
            <a:ext cx="332842" cy="332842"/>
          </a:xfrm>
          <a:prstGeom prst="rect">
            <a:avLst/>
          </a:prstGeom>
        </p:spPr>
      </p:pic>
      <p:sp>
        <p:nvSpPr>
          <p:cNvPr id="32" name="Decision"/>
          <p:cNvSpPr txBox="1"/>
          <p:nvPr/>
        </p:nvSpPr>
        <p:spPr>
          <a:xfrm>
            <a:off x="1600200" y="4873752"/>
            <a:ext cx="5806440" cy="996696"/>
          </a:xfrm>
          <a:prstGeom prst="rect">
            <a:avLst/>
          </a:prstGeom>
          <a:noFill/>
          <a:ln/>
        </p:spPr>
        <p:txBody>
          <a:bodyPr wrap="square" lIns="0" tIns="0" rIns="0" bIns="0" rtlCol="0" anchor="ctr"/>
          <a:lstStyle/>
          <a:p>
            <a:pPr marL="0" indent="0">
              <a:buNone/>
            </a:pPr>
            <a:r>
              <a:rPr lang="en-US" sz="1100" b="1" kern="0" spc="100" dirty="0">
                <a:solidFill>
                  <a:srgbClr val="B45309"/>
                </a:solidFill>
              </a:rPr>
              <a:t>DECISION</a:t>
            </a:r>
            <a:endParaRPr lang="en-US" sz="1400" dirty="0"/>
          </a:p>
          <a:p>
            <a:pPr marL="0" indent="0">
              <a:buNone/>
            </a:pPr>
            <a:r>
              <a:rPr lang="en-US" sz="1400" dirty="0">
                <a:solidFill>
                  <a:srgbClr val="334155"/>
                </a:solidFill>
              </a:rPr>
              <a:t>Accept the plan against the charter, and budget the AD DS retirement phase on top of the master plan's 52 weeks</a:t>
            </a:r>
            <a:endParaRPr lang="en-US" sz="1400" dirty="0"/>
          </a:p>
        </p:txBody>
      </p:sp>
      <p:sp>
        <p:nvSpPr>
          <p:cNvPr id="33" name="Owner"/>
          <p:cNvSpPr txBox="1"/>
          <p:nvPr/>
        </p:nvSpPr>
        <p:spPr>
          <a:xfrm>
            <a:off x="7589520" y="4873752"/>
            <a:ext cx="2103120" cy="996696"/>
          </a:xfrm>
          <a:prstGeom prst="rect">
            <a:avLst/>
          </a:prstGeom>
          <a:noFill/>
          <a:ln/>
        </p:spPr>
        <p:txBody>
          <a:bodyPr wrap="square" lIns="0" tIns="0" rIns="0" bIns="0" rtlCol="0" anchor="ctr"/>
          <a:lstStyle/>
          <a:p>
            <a:pPr marL="0" indent="0">
              <a:buNone/>
            </a:pPr>
            <a:r>
              <a:rPr lang="en-US" sz="1100" b="1" kern="0" spc="100" dirty="0">
                <a:solidFill>
                  <a:srgbClr val="0F766E"/>
                </a:solidFill>
              </a:rPr>
              <a:t>OWNER</a:t>
            </a:r>
            <a:endParaRPr lang="en-US" sz="1400" dirty="0"/>
          </a:p>
          <a:p>
            <a:pPr marL="0" indent="0">
              <a:buNone/>
            </a:pPr>
            <a:r>
              <a:rPr lang="en-US" sz="1400" dirty="0">
                <a:solidFill>
                  <a:srgbClr val="334155"/>
                </a:solidFill>
              </a:rPr>
              <a:t>Executive sponsor and CIO</a:t>
            </a:r>
            <a:endParaRPr lang="en-US" sz="1400" dirty="0"/>
          </a:p>
        </p:txBody>
      </p:sp>
      <p:sp>
        <p:nvSpPr>
          <p:cNvPr id="34" name="When"/>
          <p:cNvSpPr txBox="1"/>
          <p:nvPr/>
        </p:nvSpPr>
        <p:spPr>
          <a:xfrm>
            <a:off x="9784080" y="4873752"/>
            <a:ext cx="1783080" cy="996696"/>
          </a:xfrm>
          <a:prstGeom prst="rect">
            <a:avLst/>
          </a:prstGeom>
          <a:noFill/>
          <a:ln/>
        </p:spPr>
        <p:txBody>
          <a:bodyPr wrap="square" lIns="0" tIns="0" rIns="0" bIns="0" rtlCol="0" anchor="ctr"/>
          <a:lstStyle/>
          <a:p>
            <a:pPr marL="0" indent="0">
              <a:buNone/>
            </a:pPr>
            <a:r>
              <a:rPr lang="en-US" sz="1100" b="1" kern="0" spc="100" dirty="0">
                <a:solidFill>
                  <a:srgbClr val="1F2A44"/>
                </a:solidFill>
              </a:rPr>
              <a:t>NEEDED BY</a:t>
            </a:r>
            <a:endParaRPr lang="en-US" sz="1400" dirty="0"/>
          </a:p>
          <a:p>
            <a:pPr marL="0" indent="0">
              <a:buNone/>
            </a:pPr>
            <a:r>
              <a:rPr lang="en-US" sz="1400" dirty="0">
                <a:solidFill>
                  <a:srgbClr val="334155"/>
                </a:solidFill>
              </a:rPr>
              <a:t>When the plan is accepted</a:t>
            </a:r>
            <a:endParaRPr lang="en-US" sz="1400" dirty="0"/>
          </a:p>
        </p:txBody>
      </p:sp>
      <p:sp>
        <p:nvSpPr>
          <p:cNvPr id="35" name="Sources"/>
          <p:cNvSpPr txBox="1"/>
          <p:nvPr/>
        </p:nvSpPr>
        <p:spPr>
          <a:xfrm>
            <a:off x="548640" y="6053328"/>
            <a:ext cx="10424160" cy="292608"/>
          </a:xfrm>
          <a:prstGeom prst="rect">
            <a:avLst/>
          </a:prstGeom>
          <a:noFill/>
          <a:ln/>
        </p:spPr>
        <p:txBody>
          <a:bodyPr wrap="square" lIns="0" tIns="0" rIns="0" bIns="0" rtlCol="0" anchor="t"/>
          <a:lstStyle/>
          <a:p>
            <a:pPr marL="0" indent="0">
              <a:buNone/>
            </a:pPr>
            <a:r>
              <a:rPr lang="en-US" sz="1000" i="1" dirty="0">
                <a:solidFill>
                  <a:srgbClr val="64748B"/>
                </a:solidFill>
              </a:rPr>
              <a:t>Sources: Book 00, Chapters 05 and 07; Book 01, Chapters 09 and 12 (phases, gates and gate owners), as Book 00 cites them.</a:t>
            </a:r>
            <a:endParaRPr lang="en-US" sz="1000" dirty="0"/>
          </a:p>
        </p:txBody>
      </p:sp>
      <p:sp>
        <p:nvSpPr>
          <p:cNvPr id="36"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9</a:t>
            </a:fld>
            <a:endParaRPr lang="en-US"/>
          </a:p>
        </p:txBody>
      </p:sp>
      <p:pic>
        <p:nvPicPr>
          <p:cNvPr id="37" name="Narration" descr="Narration for this slide; captions available">
            <a:hlinkClick r:id="" action="ppaction://media"/>
            <a:extLst>
              <a:ext uri="{FF2B5EF4-FFF2-40B4-BE49-F238E27FC236}">
                <a16:creationId xmlns:a16="http://schemas.microsoft.com/office/drawing/2014/main" id="{38666A48-1A23-CB89-F38A-31A9245CD575}"/>
              </a:ext>
            </a:extLst>
          </p:cNvPr>
          <p:cNvPicPr>
            <a:picLocks noChangeAspect="1"/>
          </p:cNvPicPr>
          <p:nvPr>
            <a:audioFile r:link="rId2"/>
            <p:extLst>
              <p:ext uri="{DAA4B4D4-6D71-4841-9C94-3DE7FCFB9230}">
                <p14:media xmlns:p14="http://schemas.microsoft.com/office/powerpoint/2010/main" r:embed="rId1">
                  <p14:extLst>
                    <p:ext uri="{3AFAAA56-56D3-431D-BCD4-E75A35582382}">
                      <p173:tracksInfo xmlns:p173="http://schemas.microsoft.com/office/powerpoint/2017/3/main" displayLoc="slide">
                        <p173:trackLst>
                          <p173:track id="{36EB27CE-60AD-49DC-9B60-EF6E169EB8B5}" label="English (captions)" lang="en-US" r:embed="rId9"/>
                        </p173:trackLst>
                      </p173:tracksInfo>
                    </p:ext>
                  </p14:extLst>
                </p14:media>
              </p:ext>
            </p:extLst>
          </p:nvPr>
        </p:nvPicPr>
        <p:blipFill>
          <a:blip r:embed="rId8"/>
          <a:stretch>
            <a:fillRect/>
          </a:stretch>
        </p:blipFill>
        <p:spPr>
          <a:xfrm>
            <a:off x="127000" y="6350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72020"/>
    </mc:Choice>
    <mc:Fallback>
      <p:transition spd="slow" advTm="7202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68016" fill="hold"/>
                                        <p:tgtEl>
                                          <p:spTgt spid="37"/>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57200"/>
            <a:ext cx="11064240" cy="777240"/>
          </a:xfrm>
          <a:prstGeom prst="rect">
            <a:avLst/>
          </a:prstGeom>
          <a:noFill/>
          <a:ln/>
        </p:spPr>
        <p:txBody>
          <a:bodyPr wrap="square" lIns="0" tIns="0" rIns="0" bIns="0" rtlCol="0" anchor="ctr"/>
          <a:lstStyle/>
          <a:p>
            <a:pPr marL="0" indent="0" algn="ctr">
              <a:buNone/>
            </a:pPr>
            <a:r>
              <a:rPr lang="en-US" sz="3000" b="1" dirty="0">
                <a:solidFill>
                  <a:schemeClr val="tx1"/>
                </a:solidFill>
                <a:latin typeface="Cambria" pitchFamily="34" charset="0"/>
                <a:ea typeface="Cambria" pitchFamily="34" charset="-122"/>
                <a:cs typeface="Cambria" pitchFamily="34" charset="-120"/>
              </a:rPr>
              <a:t>Five workstreams in parallel, one critical path</a:t>
            </a:r>
            <a:endParaRPr lang="en-US" sz="3000" dirty="0"/>
          </a:p>
        </p:txBody>
      </p:sp>
      <p:sp>
        <p:nvSpPr>
          <p:cNvPr id="3" name="Tag What">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1F2A44"/>
          </a:solidFill>
          <a:ln w="12700">
            <a:solidFill>
              <a:srgbClr val="1F2A44"/>
            </a:solidFill>
            <a:prstDash val="solid"/>
          </a:ln>
        </p:spPr>
      </p:sp>
      <p:sp>
        <p:nvSpPr>
          <p:cNvPr id="4" name="Tag What text"/>
          <p:cNvSpPr txBox="1"/>
          <p:nvPr/>
        </p:nvSpPr>
        <p:spPr>
          <a:xfrm>
            <a:off x="548640" y="109728"/>
            <a:ext cx="868680" cy="292608"/>
          </a:xfrm>
          <a:prstGeom prst="rect">
            <a:avLst/>
          </a:prstGeom>
          <a:noFill/>
          <a:ln/>
        </p:spPr>
        <p:txBody>
          <a:bodyPr wrap="square" lIns="0" tIns="0" rIns="0" bIns="0" rtlCol="0" anchor="ctr"/>
          <a:lstStyle/>
          <a:p>
            <a:pPr marL="0" indent="0" algn="ctr">
              <a:buNone/>
            </a:pPr>
            <a:r>
              <a:rPr lang="en-US" sz="1100" b="1" kern="0" spc="100" dirty="0">
                <a:solidFill>
                  <a:srgbClr val="FFFFFF"/>
                </a:solidFill>
              </a:rPr>
              <a:t>WHAT</a:t>
            </a:r>
            <a:endParaRPr lang="en-US" sz="1100" dirty="0"/>
          </a:p>
        </p:txBody>
      </p:sp>
      <p:graphicFrame>
        <p:nvGraphicFramePr>
          <p:cNvPr id="11" name="Table 0"/>
          <p:cNvGraphicFramePr>
            <a:graphicFrameLocks noGrp="1"/>
          </p:cNvGraphicFramePr>
          <p:nvPr>
            <p:extLst>
              <p:ext uri="{D42A27DB-BD31-4B8C-83A1-F6EECF244321}">
                <p14:modId xmlns:p14="http://schemas.microsoft.com/office/powerpoint/2010/main" val="1579011935"/>
              </p:ext>
            </p:extLst>
          </p:nvPr>
        </p:nvGraphicFramePr>
        <p:xfrm>
          <a:off x="548640" y="1371600"/>
          <a:ext cx="9144000" cy="914400"/>
        </p:xfrm>
        <a:graphic>
          <a:graphicData uri="http://schemas.openxmlformats.org/drawingml/2006/table">
            <a:tbl>
              <a:tblPr firstRow="1" bandRow="1"/>
              <a:tblGrid>
                <a:gridCol w="1325880">
                  <a:extLst>
                    <a:ext uri="{9D8B030D-6E8A-4147-A177-3AD203B41FA5}">
                      <a16:colId xmlns:a16="http://schemas.microsoft.com/office/drawing/2014/main" val="20000"/>
                    </a:ext>
                  </a:extLst>
                </a:gridCol>
                <a:gridCol w="3429000">
                  <a:extLst>
                    <a:ext uri="{9D8B030D-6E8A-4147-A177-3AD203B41FA5}">
                      <a16:colId xmlns:a16="http://schemas.microsoft.com/office/drawing/2014/main" val="20001"/>
                    </a:ext>
                  </a:extLst>
                </a:gridCol>
                <a:gridCol w="1554480">
                  <a:extLst>
                    <a:ext uri="{9D8B030D-6E8A-4147-A177-3AD203B41FA5}">
                      <a16:colId xmlns:a16="http://schemas.microsoft.com/office/drawing/2014/main" val="20002"/>
                    </a:ext>
                  </a:extLst>
                </a:gridCol>
              </a:tblGrid>
              <a:tr h="365760">
                <a:tc>
                  <a:txBody>
                    <a:bodyPr/>
                    <a:lstStyle/>
                    <a:p>
                      <a:pPr marL="0" indent="0">
                        <a:buNone/>
                      </a:pPr>
                      <a:r>
                        <a:rPr lang="en-US" sz="1250" b="1" dirty="0">
                          <a:solidFill>
                            <a:srgbClr val="FFFFFF"/>
                          </a:solidFill>
                          <a:latin typeface="Calibri" pitchFamily="34" charset="0"/>
                          <a:ea typeface="Calibri" pitchFamily="34" charset="-122"/>
                          <a:cs typeface="Calibri" pitchFamily="34" charset="-120"/>
                        </a:rPr>
                        <a:t>Workstream</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marL="0" indent="0">
                        <a:buNone/>
                      </a:pPr>
                      <a:r>
                        <a:rPr lang="en-US" sz="1250" b="1" dirty="0">
                          <a:solidFill>
                            <a:srgbClr val="FFFFFF"/>
                          </a:solidFill>
                          <a:latin typeface="Calibri" pitchFamily="34" charset="0"/>
                          <a:ea typeface="Calibri" pitchFamily="34" charset="-122"/>
                          <a:cs typeface="Calibri" pitchFamily="34" charset="-120"/>
                        </a:rPr>
                        <a:t>Primary focus</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marL="0" indent="0">
                        <a:buNone/>
                      </a:pPr>
                      <a:r>
                        <a:rPr lang="en-US" sz="1250" b="1" dirty="0">
                          <a:solidFill>
                            <a:srgbClr val="FFFFFF"/>
                          </a:solidFill>
                          <a:latin typeface="Calibri" pitchFamily="34" charset="0"/>
                          <a:ea typeface="Calibri" pitchFamily="34" charset="-122"/>
                          <a:cs typeface="Calibri" pitchFamily="34" charset="-120"/>
                        </a:rPr>
                        <a:t>Position</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extLst>
                  <a:ext uri="{0D108BD9-81ED-4DB2-BD59-A6C34878D82A}">
                    <a16:rowId xmlns:a16="http://schemas.microsoft.com/office/drawing/2014/main" val="10000"/>
                  </a:ext>
                </a:extLst>
              </a:tr>
              <a:tr h="566928">
                <a:tc>
                  <a:txBody>
                    <a:bodyPr/>
                    <a:lstStyle/>
                    <a:p>
                      <a:pPr marL="0" indent="0">
                        <a:buNone/>
                      </a:pPr>
                      <a:r>
                        <a:rPr lang="en-US" sz="1250" b="1" dirty="0">
                          <a:solidFill>
                            <a:srgbClr val="1F2A44"/>
                          </a:solidFill>
                          <a:latin typeface="Calibri" pitchFamily="34" charset="0"/>
                          <a:ea typeface="Calibri" pitchFamily="34" charset="-122"/>
                          <a:cs typeface="Calibri" pitchFamily="34" charset="-120"/>
                        </a:rPr>
                        <a:t>Identity</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50" dirty="0">
                          <a:solidFill>
                            <a:srgbClr val="334155"/>
                          </a:solidFill>
                          <a:latin typeface="Calibri" pitchFamily="34" charset="0"/>
                          <a:ea typeface="Calibri" pitchFamily="34" charset="-122"/>
                          <a:cs typeface="Calibri" pitchFamily="34" charset="-120"/>
                        </a:rPr>
                        <a:t>Attribute model, dynamic membership, lifecycle origin</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50" dirty="0">
                          <a:solidFill>
                            <a:srgbClr val="334155"/>
                          </a:solidFill>
                          <a:latin typeface="Calibri" pitchFamily="34" charset="0"/>
                          <a:ea typeface="Calibri" pitchFamily="34" charset="-122"/>
                          <a:cs typeface="Calibri" pitchFamily="34" charset="-120"/>
                        </a:rPr>
                        <a:t>Early: wave 1</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566928">
                <a:tc>
                  <a:txBody>
                    <a:bodyPr/>
                    <a:lstStyle/>
                    <a:p>
                      <a:pPr marL="0" indent="0">
                        <a:buNone/>
                      </a:pPr>
                      <a:r>
                        <a:rPr lang="en-US" sz="1250" b="1" dirty="0">
                          <a:solidFill>
                            <a:srgbClr val="1F2A44"/>
                          </a:solidFill>
                          <a:latin typeface="Calibri" pitchFamily="34" charset="0"/>
                          <a:ea typeface="Calibri" pitchFamily="34" charset="-122"/>
                          <a:cs typeface="Calibri" pitchFamily="34" charset="-120"/>
                        </a:rPr>
                        <a:t>Policy</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50" dirty="0">
                          <a:solidFill>
                            <a:srgbClr val="334155"/>
                          </a:solidFill>
                          <a:latin typeface="Calibri" pitchFamily="34" charset="0"/>
                          <a:ea typeface="Calibri" pitchFamily="34" charset="-122"/>
                          <a:cs typeface="Calibri" pitchFamily="34" charset="-120"/>
                        </a:rPr>
                        <a:t>Existing policy mapped to attribute-driven scope</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50" dirty="0">
                          <a:solidFill>
                            <a:srgbClr val="334155"/>
                          </a:solidFill>
                          <a:latin typeface="Calibri" pitchFamily="34" charset="0"/>
                          <a:ea typeface="Calibri" pitchFamily="34" charset="-122"/>
                          <a:cs typeface="Calibri" pitchFamily="34" charset="-120"/>
                        </a:rPr>
                        <a:t>After identity</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566928">
                <a:tc>
                  <a:txBody>
                    <a:bodyPr/>
                    <a:lstStyle/>
                    <a:p>
                      <a:pPr marL="0" indent="0">
                        <a:buNone/>
                      </a:pPr>
                      <a:r>
                        <a:rPr lang="en-US" sz="1250" b="1" dirty="0">
                          <a:solidFill>
                            <a:srgbClr val="1F2A44"/>
                          </a:solidFill>
                          <a:latin typeface="Calibri" pitchFamily="34" charset="0"/>
                          <a:ea typeface="Calibri" pitchFamily="34" charset="-122"/>
                          <a:cs typeface="Calibri" pitchFamily="34" charset="-120"/>
                        </a:rPr>
                        <a:t>Services</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50" dirty="0">
                          <a:solidFill>
                            <a:srgbClr val="334155"/>
                          </a:solidFill>
                          <a:latin typeface="Calibri" pitchFamily="34" charset="0"/>
                          <a:ea typeface="Calibri" pitchFamily="34" charset="-122"/>
                          <a:cs typeface="Calibri" pitchFamily="34" charset="-120"/>
                        </a:rPr>
                        <a:t>Naming, addressing and their dependencies</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50" dirty="0">
                          <a:solidFill>
                            <a:srgbClr val="334155"/>
                          </a:solidFill>
                          <a:latin typeface="Calibri" pitchFamily="34" charset="0"/>
                          <a:ea typeface="Calibri" pitchFamily="34" charset="-122"/>
                          <a:cs typeface="Calibri" pitchFamily="34" charset="-120"/>
                        </a:rPr>
                        <a:t>Parallel or mid</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566928">
                <a:tc>
                  <a:txBody>
                    <a:bodyPr/>
                    <a:lstStyle/>
                    <a:p>
                      <a:pPr marL="0" indent="0">
                        <a:buNone/>
                      </a:pPr>
                      <a:r>
                        <a:rPr lang="en-US" sz="1250" b="1" dirty="0">
                          <a:solidFill>
                            <a:srgbClr val="1F2A44"/>
                          </a:solidFill>
                          <a:latin typeface="Calibri" pitchFamily="34" charset="0"/>
                          <a:ea typeface="Calibri" pitchFamily="34" charset="-122"/>
                          <a:cs typeface="Calibri" pitchFamily="34" charset="-120"/>
                        </a:rPr>
                        <a:t>Compute</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50" dirty="0">
                          <a:solidFill>
                            <a:srgbClr val="334155"/>
                          </a:solidFill>
                          <a:latin typeface="Calibri" pitchFamily="34" charset="0"/>
                          <a:ea typeface="Calibri" pitchFamily="34" charset="-122"/>
                          <a:cs typeface="Calibri" pitchFamily="34" charset="-120"/>
                        </a:rPr>
                        <a:t>Device and server identity and management</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50" dirty="0">
                          <a:solidFill>
                            <a:srgbClr val="334155"/>
                          </a:solidFill>
                          <a:latin typeface="Calibri" pitchFamily="34" charset="0"/>
                          <a:ea typeface="Calibri" pitchFamily="34" charset="-122"/>
                          <a:cs typeface="Calibri" pitchFamily="34" charset="-120"/>
                        </a:rPr>
                        <a:t>Mid to late</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566928">
                <a:tc>
                  <a:txBody>
                    <a:bodyPr/>
                    <a:lstStyle/>
                    <a:p>
                      <a:pPr marL="0" indent="0">
                        <a:buNone/>
                      </a:pPr>
                      <a:r>
                        <a:rPr lang="en-US" sz="1250" b="1" dirty="0">
                          <a:solidFill>
                            <a:srgbClr val="1F2A44"/>
                          </a:solidFill>
                          <a:latin typeface="Calibri" pitchFamily="34" charset="0"/>
                          <a:ea typeface="Calibri" pitchFamily="34" charset="-122"/>
                          <a:cs typeface="Calibri" pitchFamily="34" charset="-120"/>
                        </a:rPr>
                        <a:t>Access</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50" dirty="0">
                          <a:solidFill>
                            <a:srgbClr val="334155"/>
                          </a:solidFill>
                          <a:latin typeface="Calibri" pitchFamily="34" charset="0"/>
                          <a:ea typeface="Calibri" pitchFamily="34" charset="-122"/>
                          <a:cs typeface="Calibri" pitchFamily="34" charset="-120"/>
                        </a:rPr>
                        <a:t>Token-based, application-aware access</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50" dirty="0">
                          <a:solidFill>
                            <a:srgbClr val="334155"/>
                          </a:solidFill>
                          <a:latin typeface="Calibri" pitchFamily="34" charset="0"/>
                          <a:ea typeface="Calibri" pitchFamily="34" charset="-122"/>
                          <a:cs typeface="Calibri" pitchFamily="34" charset="-120"/>
                        </a:rPr>
                        <a:t>Later</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bl>
          </a:graphicData>
        </a:graphic>
      </p:graphicFrame>
      <p:sp>
        <p:nvSpPr>
          <p:cNvPr id="6" name="Path box">
            <a:extLst>
              <a:ext uri="{C183D7F6-B498-43B3-948B-1728B52AA6E4}">
                <adec:decorative xmlns:adec="http://schemas.microsoft.com/office/drawing/2017/decorative" val="1"/>
              </a:ext>
            </a:extLst>
          </p:cNvPr>
          <p:cNvSpPr/>
          <p:nvPr/>
        </p:nvSpPr>
        <p:spPr>
          <a:xfrm>
            <a:off x="7086600" y="1371600"/>
            <a:ext cx="4572000" cy="3291840"/>
          </a:xfrm>
          <a:prstGeom prst="roundRect">
            <a:avLst>
              <a:gd name="adj" fmla="val 2222"/>
            </a:avLst>
          </a:prstGeom>
          <a:solidFill>
            <a:srgbClr val="FBEEDC"/>
          </a:solidFill>
          <a:ln w="12700">
            <a:solidFill>
              <a:srgbClr val="FBEEDC"/>
            </a:solidFill>
            <a:prstDash val="solid"/>
          </a:ln>
          <a:effectLst>
            <a:outerShdw blurRad="76200" dist="25400" dir="5400000" algn="bl" rotWithShape="0">
              <a:srgbClr val="64748B">
                <a:alpha val="22000"/>
              </a:srgbClr>
            </a:outerShdw>
          </a:effectLst>
        </p:spPr>
      </p:sp>
      <p:sp>
        <p:nvSpPr>
          <p:cNvPr id="7" name="Icon FaRoute">
            <a:extLst>
              <a:ext uri="{C183D7F6-B498-43B3-948B-1728B52AA6E4}">
                <adec:decorative xmlns:adec="http://schemas.microsoft.com/office/drawing/2017/decorative" val="1"/>
              </a:ext>
            </a:extLst>
          </p:cNvPr>
          <p:cNvSpPr/>
          <p:nvPr/>
        </p:nvSpPr>
        <p:spPr>
          <a:xfrm>
            <a:off x="7315200" y="1517904"/>
            <a:ext cx="548640" cy="548640"/>
          </a:xfrm>
          <a:prstGeom prst="ellipse">
            <a:avLst/>
          </a:prstGeom>
          <a:solidFill>
            <a:srgbClr val="B45309"/>
          </a:solidFill>
          <a:ln w="12700">
            <a:solidFill>
              <a:srgbClr val="B45309"/>
            </a:solidFill>
            <a:prstDash val="solid"/>
          </a:ln>
        </p:spPr>
      </p:sp>
      <p:pic>
        <p:nvPicPr>
          <p:cNvPr id="8" name="Image 0">
            <a:extLst>
              <a:ext uri="{C183D7F6-B498-43B3-948B-1728B52AA6E4}">
                <adec:decorative xmlns:adec="http://schemas.microsoft.com/office/drawing/2017/decorative" val="1"/>
              </a:ext>
            </a:extLst>
          </p:cNvPr>
          <p:cNvPicPr>
            <a:picLocks noChangeAspect="1"/>
          </p:cNvPicPr>
          <p:nvPr/>
        </p:nvPicPr>
        <p:blipFill>
          <a:blip r:embed="rId5"/>
          <a:stretch>
            <a:fillRect/>
          </a:stretch>
        </p:blipFill>
        <p:spPr>
          <a:xfrm>
            <a:off x="7446874" y="1649578"/>
            <a:ext cx="285293" cy="285293"/>
          </a:xfrm>
          <a:prstGeom prst="rect">
            <a:avLst/>
          </a:prstGeom>
        </p:spPr>
      </p:pic>
      <p:sp>
        <p:nvSpPr>
          <p:cNvPr id="9" name="Path head"/>
          <p:cNvSpPr txBox="1"/>
          <p:nvPr/>
        </p:nvSpPr>
        <p:spPr>
          <a:xfrm>
            <a:off x="8001000" y="1517904"/>
            <a:ext cx="3566160" cy="548640"/>
          </a:xfrm>
          <a:prstGeom prst="rect">
            <a:avLst/>
          </a:prstGeom>
          <a:noFill/>
          <a:ln/>
        </p:spPr>
        <p:txBody>
          <a:bodyPr wrap="square" lIns="0" tIns="0" rIns="0" bIns="0" rtlCol="0" anchor="ctr"/>
          <a:lstStyle/>
          <a:p>
            <a:pPr marL="0" indent="0">
              <a:buNone/>
            </a:pPr>
            <a:r>
              <a:rPr lang="en-US" sz="1700" b="1" dirty="0">
                <a:solidFill>
                  <a:srgbClr val="B45309"/>
                </a:solidFill>
                <a:latin typeface="Cambria" pitchFamily="34" charset="0"/>
                <a:ea typeface="Cambria" pitchFamily="34" charset="-122"/>
                <a:cs typeface="Cambria" pitchFamily="34" charset="-120"/>
              </a:rPr>
              <a:t>The critical path</a:t>
            </a:r>
            <a:endParaRPr lang="en-US" sz="1700" dirty="0"/>
          </a:p>
        </p:txBody>
      </p:sp>
      <p:sp>
        <p:nvSpPr>
          <p:cNvPr id="10" name="Path list"/>
          <p:cNvSpPr txBox="1"/>
          <p:nvPr/>
        </p:nvSpPr>
        <p:spPr>
          <a:xfrm>
            <a:off x="7315200" y="2194560"/>
            <a:ext cx="4206240" cy="2395728"/>
          </a:xfrm>
          <a:prstGeom prst="rect">
            <a:avLst/>
          </a:prstGeom>
          <a:noFill/>
          <a:ln/>
        </p:spPr>
        <p:txBody>
          <a:bodyPr wrap="square" lIns="0" tIns="0" rIns="0" bIns="0" rtlCol="0" anchor="t"/>
          <a:lstStyle/>
          <a:p>
            <a:pPr marL="342900" indent="-342900">
              <a:spcAft>
                <a:spcPts val="600"/>
              </a:spcAft>
              <a:buSzPct val="100000"/>
              <a:buChar char="•"/>
            </a:pPr>
            <a:r>
              <a:rPr lang="en-US" sz="1350" dirty="0">
                <a:solidFill>
                  <a:schemeClr val="tx2"/>
                </a:solidFill>
              </a:rPr>
              <a:t>Platform, assessment, then attribute design</a:t>
            </a:r>
            <a:endParaRPr lang="en-US" sz="1400" dirty="0"/>
          </a:p>
          <a:p>
            <a:pPr marL="342900" indent="-342900">
              <a:spcAft>
                <a:spcPts val="600"/>
              </a:spcAft>
              <a:buSzPct val="100000"/>
              <a:buChar char="•"/>
            </a:pPr>
            <a:r>
              <a:rPr lang="en-US" sz="1350" dirty="0">
                <a:solidFill>
                  <a:schemeClr val="tx2"/>
                </a:solidFill>
              </a:rPr>
              <a:t>Then the pilot, each wave, cutover validation</a:t>
            </a:r>
            <a:endParaRPr lang="en-US" sz="1400" dirty="0"/>
          </a:p>
          <a:p>
            <a:pPr marL="342900" indent="-342900">
              <a:spcAft>
                <a:spcPts val="600"/>
              </a:spcAft>
              <a:buSzPct val="100000"/>
              <a:buChar char="•"/>
            </a:pPr>
            <a:r>
              <a:rPr lang="en-US" sz="1350" dirty="0">
                <a:solidFill>
                  <a:schemeClr val="tx2"/>
                </a:solidFill>
              </a:rPr>
              <a:t>A week lost in assessment moves every gate</a:t>
            </a:r>
            <a:endParaRPr lang="en-US" sz="1400" dirty="0"/>
          </a:p>
          <a:p>
            <a:pPr marL="342900" indent="-342900">
              <a:spcAft>
                <a:spcPts val="600"/>
              </a:spcAft>
              <a:buSzPct val="100000"/>
              <a:buChar char="•"/>
            </a:pPr>
            <a:r>
              <a:rPr lang="en-US" sz="1350" dirty="0">
                <a:solidFill>
                  <a:schemeClr val="tx2"/>
                </a:solidFill>
              </a:rPr>
              <a:t>PKI always waits for identity</a:t>
            </a:r>
            <a:endParaRPr lang="en-US" sz="1400" dirty="0"/>
          </a:p>
        </p:txBody>
      </p:sp>
      <p:sp>
        <p:nvSpPr>
          <p:cNvPr id="5" name="Decision bar">
            <a:extLst>
              <a:ext uri="{C183D7F6-B498-43B3-948B-1728B52AA6E4}">
                <adec:decorative xmlns:adec="http://schemas.microsoft.com/office/drawing/2017/decorative" val="1"/>
              </a:ext>
            </a:extLst>
          </p:cNvPr>
          <p:cNvSpPr/>
          <p:nvPr/>
        </p:nvSpPr>
        <p:spPr>
          <a:xfrm>
            <a:off x="548640" y="4800600"/>
            <a:ext cx="11109960" cy="1143000"/>
          </a:xfrm>
          <a:prstGeom prst="roundRect">
            <a:avLst>
              <a:gd name="adj" fmla="val 6400"/>
            </a:avLst>
          </a:prstGeom>
          <a:solidFill>
            <a:srgbClr val="FFFFFF"/>
          </a:solidFill>
          <a:ln w="12700">
            <a:solidFill>
              <a:srgbClr val="B45309"/>
            </a:solidFill>
            <a:prstDash val="solid"/>
          </a:ln>
          <a:effectLst>
            <a:outerShdw blurRad="76200" dist="25400" dir="5400000" algn="bl" rotWithShape="0">
              <a:srgbClr val="64748B">
                <a:alpha val="22000"/>
              </a:srgbClr>
            </a:outerShdw>
          </a:effectLst>
        </p:spPr>
      </p:sp>
      <p:sp>
        <p:nvSpPr>
          <p:cNvPr id="12" name="Icon FaScaleBalanced">
            <a:extLst>
              <a:ext uri="{C183D7F6-B498-43B3-948B-1728B52AA6E4}">
                <adec:decorative xmlns:adec="http://schemas.microsoft.com/office/drawing/2017/decorative" val="1"/>
              </a:ext>
            </a:extLst>
          </p:cNvPr>
          <p:cNvSpPr/>
          <p:nvPr/>
        </p:nvSpPr>
        <p:spPr>
          <a:xfrm>
            <a:off x="749808" y="5047488"/>
            <a:ext cx="640080" cy="640080"/>
          </a:xfrm>
          <a:prstGeom prst="ellipse">
            <a:avLst/>
          </a:prstGeom>
          <a:solidFill>
            <a:srgbClr val="B45309"/>
          </a:solidFill>
          <a:ln w="12700">
            <a:solidFill>
              <a:srgbClr val="B45309"/>
            </a:solidFill>
            <a:prstDash val="solid"/>
          </a:ln>
        </p:spPr>
      </p:sp>
      <p:pic>
        <p:nvPicPr>
          <p:cNvPr id="13" name="Image 1">
            <a:extLst>
              <a:ext uri="{C183D7F6-B498-43B3-948B-1728B52AA6E4}">
                <adec:decorative xmlns:adec="http://schemas.microsoft.com/office/drawing/2017/decorative" val="1"/>
              </a:ext>
            </a:extLst>
          </p:cNvPr>
          <p:cNvPicPr>
            <a:picLocks noChangeAspect="1"/>
          </p:cNvPicPr>
          <p:nvPr/>
        </p:nvPicPr>
        <p:blipFill>
          <a:blip r:embed="rId6"/>
          <a:stretch>
            <a:fillRect/>
          </a:stretch>
        </p:blipFill>
        <p:spPr>
          <a:xfrm>
            <a:off x="903427" y="5201107"/>
            <a:ext cx="332842" cy="332842"/>
          </a:xfrm>
          <a:prstGeom prst="rect">
            <a:avLst/>
          </a:prstGeom>
        </p:spPr>
      </p:pic>
      <p:sp>
        <p:nvSpPr>
          <p:cNvPr id="14" name="Decision"/>
          <p:cNvSpPr txBox="1"/>
          <p:nvPr/>
        </p:nvSpPr>
        <p:spPr>
          <a:xfrm>
            <a:off x="1600200" y="4873752"/>
            <a:ext cx="5806440" cy="996696"/>
          </a:xfrm>
          <a:prstGeom prst="rect">
            <a:avLst/>
          </a:prstGeom>
          <a:noFill/>
          <a:ln/>
        </p:spPr>
        <p:txBody>
          <a:bodyPr wrap="square" lIns="0" tIns="0" rIns="0" bIns="0" rtlCol="0" anchor="ctr"/>
          <a:lstStyle/>
          <a:p>
            <a:pPr marL="0" indent="0">
              <a:buNone/>
            </a:pPr>
            <a:r>
              <a:rPr lang="en-US" sz="1100" b="1" kern="0" spc="100" dirty="0">
                <a:solidFill>
                  <a:srgbClr val="B45309"/>
                </a:solidFill>
              </a:rPr>
              <a:t>DECISION</a:t>
            </a:r>
            <a:endParaRPr lang="en-US" sz="1400" dirty="0"/>
          </a:p>
          <a:p>
            <a:pPr marL="0" indent="0">
              <a:buNone/>
            </a:pPr>
            <a:r>
              <a:rPr lang="en-US" sz="1400" dirty="0">
                <a:solidFill>
                  <a:srgbClr val="334155"/>
                </a:solidFill>
              </a:rPr>
              <a:t>Name the five workstream leads, with a security-engineering lead for policy and a joint identity and security lead for access</a:t>
            </a:r>
            <a:endParaRPr lang="en-US" sz="1400" dirty="0"/>
          </a:p>
        </p:txBody>
      </p:sp>
      <p:sp>
        <p:nvSpPr>
          <p:cNvPr id="15" name="Owner"/>
          <p:cNvSpPr txBox="1"/>
          <p:nvPr/>
        </p:nvSpPr>
        <p:spPr>
          <a:xfrm>
            <a:off x="7589520" y="4873752"/>
            <a:ext cx="2103120" cy="996696"/>
          </a:xfrm>
          <a:prstGeom prst="rect">
            <a:avLst/>
          </a:prstGeom>
          <a:noFill/>
          <a:ln/>
        </p:spPr>
        <p:txBody>
          <a:bodyPr wrap="square" lIns="0" tIns="0" rIns="0" bIns="0" rtlCol="0" anchor="ctr"/>
          <a:lstStyle/>
          <a:p>
            <a:pPr marL="0" indent="0">
              <a:buNone/>
            </a:pPr>
            <a:r>
              <a:rPr lang="en-US" sz="1100" b="1" kern="0" spc="100" dirty="0">
                <a:solidFill>
                  <a:srgbClr val="0F766E"/>
                </a:solidFill>
              </a:rPr>
              <a:t>OWNER</a:t>
            </a:r>
            <a:endParaRPr lang="en-US" sz="1400" dirty="0"/>
          </a:p>
          <a:p>
            <a:pPr marL="0" indent="0">
              <a:buNone/>
            </a:pPr>
            <a:r>
              <a:rPr lang="en-US" sz="1400" dirty="0">
                <a:solidFill>
                  <a:srgbClr val="334155"/>
                </a:solidFill>
              </a:rPr>
              <a:t>Executive sponsor and steward</a:t>
            </a:r>
            <a:endParaRPr lang="en-US" sz="1400" dirty="0"/>
          </a:p>
        </p:txBody>
      </p:sp>
      <p:sp>
        <p:nvSpPr>
          <p:cNvPr id="16" name="When"/>
          <p:cNvSpPr txBox="1"/>
          <p:nvPr/>
        </p:nvSpPr>
        <p:spPr>
          <a:xfrm>
            <a:off x="9784080" y="4873752"/>
            <a:ext cx="1783080" cy="996696"/>
          </a:xfrm>
          <a:prstGeom prst="rect">
            <a:avLst/>
          </a:prstGeom>
          <a:noFill/>
          <a:ln/>
        </p:spPr>
        <p:txBody>
          <a:bodyPr wrap="square" lIns="0" tIns="0" rIns="0" bIns="0" rtlCol="0" anchor="ctr"/>
          <a:lstStyle/>
          <a:p>
            <a:pPr marL="0" indent="0">
              <a:buNone/>
            </a:pPr>
            <a:r>
              <a:rPr lang="en-US" sz="1100" b="1" kern="0" spc="100" dirty="0">
                <a:solidFill>
                  <a:srgbClr val="1F2A44"/>
                </a:solidFill>
              </a:rPr>
              <a:t>NEEDED BY</a:t>
            </a:r>
            <a:endParaRPr lang="en-US" sz="1400" dirty="0"/>
          </a:p>
          <a:p>
            <a:pPr marL="0" indent="0">
              <a:buNone/>
            </a:pPr>
            <a:r>
              <a:rPr lang="en-US" sz="1400" dirty="0">
                <a:solidFill>
                  <a:srgbClr val="334155"/>
                </a:solidFill>
              </a:rPr>
              <a:t>Phase 0, with its stakeholders</a:t>
            </a:r>
            <a:endParaRPr lang="en-US" sz="1400" dirty="0"/>
          </a:p>
        </p:txBody>
      </p:sp>
      <p:sp>
        <p:nvSpPr>
          <p:cNvPr id="17" name="Sources"/>
          <p:cNvSpPr txBox="1"/>
          <p:nvPr/>
        </p:nvSpPr>
        <p:spPr>
          <a:xfrm>
            <a:off x="548640" y="6053328"/>
            <a:ext cx="10424160" cy="292608"/>
          </a:xfrm>
          <a:prstGeom prst="rect">
            <a:avLst/>
          </a:prstGeom>
          <a:noFill/>
          <a:ln/>
        </p:spPr>
        <p:txBody>
          <a:bodyPr wrap="square" lIns="0" tIns="0" rIns="0" bIns="0" rtlCol="0" anchor="t"/>
          <a:lstStyle/>
          <a:p>
            <a:pPr marL="0" indent="0">
              <a:buNone/>
            </a:pPr>
            <a:r>
              <a:rPr lang="en-US" sz="1000" i="1" dirty="0">
                <a:solidFill>
                  <a:srgbClr val="64748B"/>
                </a:solidFill>
              </a:rPr>
              <a:t>Sources: Book 00, Chapter 05 (Five workstreams, run in parallel; The critical path; The first five actions) and Chapter 03 (Governance and ownership); Book 01, Chapter 12, as cited.</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10</a:t>
            </a:fld>
            <a:endParaRPr lang="en-US"/>
          </a:p>
        </p:txBody>
      </p:sp>
      <p:pic>
        <p:nvPicPr>
          <p:cNvPr id="18" name="Narration" descr="Narration for this slide; captions available">
            <a:hlinkClick r:id="" action="ppaction://media"/>
            <a:extLst>
              <a:ext uri="{FF2B5EF4-FFF2-40B4-BE49-F238E27FC236}">
                <a16:creationId xmlns:a16="http://schemas.microsoft.com/office/drawing/2014/main" id="{306FBF1F-7686-77C1-E228-E9CCD045EAF3}"/>
              </a:ext>
            </a:extLst>
          </p:cNvPr>
          <p:cNvPicPr>
            <a:picLocks noChangeAspect="1"/>
          </p:cNvPicPr>
          <p:nvPr>
            <a:audioFile r:link="rId2"/>
            <p:extLst>
              <p:ext uri="{DAA4B4D4-6D71-4841-9C94-3DE7FCFB9230}">
                <p14:media xmlns:p14="http://schemas.microsoft.com/office/powerpoint/2010/main" r:embed="rId1">
                  <p14:extLst>
                    <p:ext uri="{3AFAAA56-56D3-431D-BCD4-E75A35582382}">
                      <p173:tracksInfo xmlns:p173="http://schemas.microsoft.com/office/powerpoint/2017/3/main" displayLoc="slide">
                        <p173:trackLst>
                          <p173:track id="{CF144C8B-542C-4FBE-99E6-D39BF3D67909}" label="English (captions)" lang="en-US" r:embed="rId8"/>
                        </p173:trackLst>
                      </p173:tracksInfo>
                    </p:ext>
                  </p14:extLst>
                </p14:media>
              </p:ext>
            </p:extLst>
          </p:nvPr>
        </p:nvPicPr>
        <p:blipFill>
          <a:blip r:embed="rId7"/>
          <a:stretch>
            <a:fillRect/>
          </a:stretch>
        </p:blipFill>
        <p:spPr>
          <a:xfrm>
            <a:off x="127000" y="6350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71320"/>
    </mc:Choice>
    <mc:Fallback>
      <p:transition spd="slow" advTm="7132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67320" fill="hold"/>
                                        <p:tgtEl>
                                          <p:spTgt spid="18"/>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57200"/>
            <a:ext cx="11064240" cy="777240"/>
          </a:xfrm>
          <a:prstGeom prst="rect">
            <a:avLst/>
          </a:prstGeom>
          <a:noFill/>
          <a:ln/>
        </p:spPr>
        <p:txBody>
          <a:bodyPr wrap="square" lIns="0" tIns="0" rIns="0" bIns="0" rtlCol="0" anchor="ctr"/>
          <a:lstStyle/>
          <a:p>
            <a:pPr marL="0" indent="0" algn="ctr">
              <a:buNone/>
            </a:pPr>
            <a:r>
              <a:rPr lang="en-US" sz="3000" b="1" dirty="0">
                <a:solidFill>
                  <a:schemeClr val="tx1"/>
                </a:solidFill>
                <a:latin typeface="Cambria" pitchFamily="34" charset="0"/>
                <a:ea typeface="Cambria" pitchFamily="34" charset="-122"/>
                <a:cs typeface="Cambria" pitchFamily="34" charset="-120"/>
              </a:rPr>
              <a:t>Seven projects, run inside the program</a:t>
            </a:r>
            <a:endParaRPr lang="en-US" sz="3000" dirty="0"/>
          </a:p>
        </p:txBody>
      </p:sp>
      <p:sp>
        <p:nvSpPr>
          <p:cNvPr id="3" name="Tag What">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1F2A44"/>
          </a:solidFill>
          <a:ln w="12700">
            <a:solidFill>
              <a:srgbClr val="1F2A44"/>
            </a:solidFill>
            <a:prstDash val="solid"/>
          </a:ln>
        </p:spPr>
      </p:sp>
      <p:sp>
        <p:nvSpPr>
          <p:cNvPr id="4" name="Tag What text"/>
          <p:cNvSpPr txBox="1"/>
          <p:nvPr/>
        </p:nvSpPr>
        <p:spPr>
          <a:xfrm>
            <a:off x="548640" y="109728"/>
            <a:ext cx="868680" cy="292608"/>
          </a:xfrm>
          <a:prstGeom prst="rect">
            <a:avLst/>
          </a:prstGeom>
          <a:noFill/>
          <a:ln/>
        </p:spPr>
        <p:txBody>
          <a:bodyPr wrap="square" lIns="0" tIns="0" rIns="0" bIns="0" rtlCol="0" anchor="ctr"/>
          <a:lstStyle/>
          <a:p>
            <a:pPr marL="0" indent="0" algn="ctr">
              <a:buNone/>
            </a:pPr>
            <a:r>
              <a:rPr lang="en-US" sz="1100" b="1" kern="0" spc="100" dirty="0">
                <a:solidFill>
                  <a:srgbClr val="FFFFFF"/>
                </a:solidFill>
              </a:rPr>
              <a:t>WHAT</a:t>
            </a:r>
            <a:endParaRPr lang="en-US" sz="1100" dirty="0"/>
          </a:p>
        </p:txBody>
      </p:sp>
      <p:graphicFrame>
        <p:nvGraphicFramePr>
          <p:cNvPr id="12" name="Table 0"/>
          <p:cNvGraphicFramePr>
            <a:graphicFrameLocks noGrp="1"/>
          </p:cNvGraphicFramePr>
          <p:nvPr>
            <p:extLst>
              <p:ext uri="{D42A27DB-BD31-4B8C-83A1-F6EECF244321}">
                <p14:modId xmlns:p14="http://schemas.microsoft.com/office/powerpoint/2010/main" val="1579011935"/>
              </p:ext>
            </p:extLst>
          </p:nvPr>
        </p:nvGraphicFramePr>
        <p:xfrm>
          <a:off x="548640" y="1371600"/>
          <a:ext cx="9144000" cy="914400"/>
        </p:xfrm>
        <a:graphic>
          <a:graphicData uri="http://schemas.openxmlformats.org/drawingml/2006/table">
            <a:tbl>
              <a:tblPr firstRow="1" bandRow="1"/>
              <a:tblGrid>
                <a:gridCol w="411480">
                  <a:extLst>
                    <a:ext uri="{9D8B030D-6E8A-4147-A177-3AD203B41FA5}">
                      <a16:colId xmlns:a16="http://schemas.microsoft.com/office/drawing/2014/main" val="20000"/>
                    </a:ext>
                  </a:extLst>
                </a:gridCol>
                <a:gridCol w="2834640">
                  <a:extLst>
                    <a:ext uri="{9D8B030D-6E8A-4147-A177-3AD203B41FA5}">
                      <a16:colId xmlns:a16="http://schemas.microsoft.com/office/drawing/2014/main" val="20001"/>
                    </a:ext>
                  </a:extLst>
                </a:gridCol>
                <a:gridCol w="3063240">
                  <a:extLst>
                    <a:ext uri="{9D8B030D-6E8A-4147-A177-3AD203B41FA5}">
                      <a16:colId xmlns:a16="http://schemas.microsoft.com/office/drawing/2014/main" val="20002"/>
                    </a:ext>
                  </a:extLst>
                </a:gridCol>
              </a:tblGrid>
              <a:tr h="347472">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Project</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A working pilot delivers</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extLst>
                  <a:ext uri="{0D108BD9-81ED-4DB2-BD59-A6C34878D82A}">
                    <a16:rowId xmlns:a16="http://schemas.microsoft.com/office/drawing/2014/main" val="10000"/>
                  </a:ext>
                </a:extLst>
              </a:tr>
              <a:tr h="411480">
                <a:tc>
                  <a:txBody>
                    <a:bodyPr/>
                    <a:lstStyle/>
                    <a:p>
                      <a:pPr marL="0" indent="0">
                        <a:buNone/>
                      </a:pPr>
                      <a:r>
                        <a:rPr lang="en-US" sz="1200" b="1" dirty="0">
                          <a:solidFill>
                            <a:srgbClr val="B45309"/>
                          </a:solidFill>
                          <a:latin typeface="Calibri" pitchFamily="34" charset="0"/>
                          <a:ea typeface="Calibri" pitchFamily="34" charset="-122"/>
                          <a:cs typeface="Calibri" pitchFamily="34" charset="-120"/>
                        </a:rPr>
                        <a:t>1</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b="1" dirty="0">
                          <a:solidFill>
                            <a:srgbClr val="1F2A44"/>
                          </a:solidFill>
                          <a:latin typeface="Calibri" pitchFamily="34" charset="0"/>
                          <a:ea typeface="Calibri" pitchFamily="34" charset="-122"/>
                          <a:cs typeface="Calibri" pitchFamily="34" charset="-120"/>
                        </a:rPr>
                        <a:t>Identity Lifecycle &amp; Provisioning</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Joiner, mover, leaver from one source</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411480">
                <a:tc>
                  <a:txBody>
                    <a:bodyPr/>
                    <a:lstStyle/>
                    <a:p>
                      <a:pPr marL="0" indent="0">
                        <a:buNone/>
                      </a:pPr>
                      <a:r>
                        <a:rPr lang="en-US" sz="1200" b="1" dirty="0">
                          <a:solidFill>
                            <a:srgbClr val="B45309"/>
                          </a:solidFill>
                          <a:latin typeface="Calibri" pitchFamily="34" charset="0"/>
                          <a:ea typeface="Calibri" pitchFamily="34" charset="-122"/>
                          <a:cs typeface="Calibri" pitchFamily="34" charset="-120"/>
                        </a:rPr>
                        <a:t>2</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b="1" dirty="0">
                          <a:solidFill>
                            <a:srgbClr val="1F2A44"/>
                          </a:solidFill>
                          <a:latin typeface="Calibri" pitchFamily="34" charset="0"/>
                          <a:ea typeface="Calibri" pitchFamily="34" charset="-122"/>
                          <a:cs typeface="Calibri" pitchFamily="34" charset="-120"/>
                        </a:rPr>
                        <a:t>Endpoint &amp; Device Modernization</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Governed devices; GPO sunset; NTLM plan</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411480">
                <a:tc>
                  <a:txBody>
                    <a:bodyPr/>
                    <a:lstStyle/>
                    <a:p>
                      <a:pPr marL="0" indent="0">
                        <a:buNone/>
                      </a:pPr>
                      <a:r>
                        <a:rPr lang="en-US" sz="1200" b="1" dirty="0">
                          <a:solidFill>
                            <a:srgbClr val="B45309"/>
                          </a:solidFill>
                          <a:latin typeface="Calibri" pitchFamily="34" charset="0"/>
                          <a:ea typeface="Calibri" pitchFamily="34" charset="-122"/>
                          <a:cs typeface="Calibri" pitchFamily="34" charset="-120"/>
                        </a:rPr>
                        <a:t>3</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b="1" dirty="0">
                          <a:solidFill>
                            <a:srgbClr val="1F2A44"/>
                          </a:solidFill>
                          <a:latin typeface="Calibri" pitchFamily="34" charset="0"/>
                          <a:ea typeface="Calibri" pitchFamily="34" charset="-122"/>
                          <a:cs typeface="Calibri" pitchFamily="34" charset="-120"/>
                        </a:rPr>
                        <a:t>Network &amp; Access Modernization</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One naming and addressing plane</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411480">
                <a:tc>
                  <a:txBody>
                    <a:bodyPr/>
                    <a:lstStyle/>
                    <a:p>
                      <a:pPr marL="0" indent="0">
                        <a:buNone/>
                      </a:pPr>
                      <a:r>
                        <a:rPr lang="en-US" sz="1200" b="1" dirty="0">
                          <a:solidFill>
                            <a:srgbClr val="B45309"/>
                          </a:solidFill>
                          <a:latin typeface="Calibri" pitchFamily="34" charset="0"/>
                          <a:ea typeface="Calibri" pitchFamily="34" charset="-122"/>
                          <a:cs typeface="Calibri" pitchFamily="34" charset="-120"/>
                        </a:rPr>
                        <a:t>4</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b="1" dirty="0">
                          <a:solidFill>
                            <a:srgbClr val="1F2A44"/>
                          </a:solidFill>
                          <a:latin typeface="Calibri" pitchFamily="34" charset="0"/>
                          <a:ea typeface="Calibri" pitchFamily="34" charset="-122"/>
                          <a:cs typeface="Calibri" pitchFamily="34" charset="-120"/>
                        </a:rPr>
                        <a:t>Continuous Monitoring &amp; Evidence</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One evidence contract; drift for one class</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411480">
                <a:tc>
                  <a:txBody>
                    <a:bodyPr/>
                    <a:lstStyle/>
                    <a:p>
                      <a:pPr marL="0" indent="0">
                        <a:buNone/>
                      </a:pPr>
                      <a:r>
                        <a:rPr lang="en-US" sz="1200" b="1" dirty="0">
                          <a:solidFill>
                            <a:srgbClr val="B45309"/>
                          </a:solidFill>
                          <a:latin typeface="Calibri" pitchFamily="34" charset="0"/>
                          <a:ea typeface="Calibri" pitchFamily="34" charset="-122"/>
                          <a:cs typeface="Calibri" pitchFamily="34" charset="-120"/>
                        </a:rPr>
                        <a:t>5</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b="1" dirty="0">
                          <a:solidFill>
                            <a:srgbClr val="1F2A44"/>
                          </a:solidFill>
                          <a:latin typeface="Calibri" pitchFamily="34" charset="0"/>
                          <a:ea typeface="Calibri" pitchFamily="34" charset="-122"/>
                          <a:cs typeface="Calibri" pitchFamily="34" charset="-120"/>
                        </a:rPr>
                        <a:t>Privileged Access &amp; Admin Identity</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Just-in-time elevation; governed break-glass</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411480">
                <a:tc>
                  <a:txBody>
                    <a:bodyPr/>
                    <a:lstStyle/>
                    <a:p>
                      <a:pPr marL="0" indent="0">
                        <a:buNone/>
                      </a:pPr>
                      <a:r>
                        <a:rPr lang="en-US" sz="1200" b="1" dirty="0">
                          <a:solidFill>
                            <a:srgbClr val="B45309"/>
                          </a:solidFill>
                          <a:latin typeface="Calibri" pitchFamily="34" charset="0"/>
                          <a:ea typeface="Calibri" pitchFamily="34" charset="-122"/>
                          <a:cs typeface="Calibri" pitchFamily="34" charset="-120"/>
                        </a:rPr>
                        <a:t>6</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b="1" dirty="0">
                          <a:solidFill>
                            <a:srgbClr val="1F2A44"/>
                          </a:solidFill>
                          <a:latin typeface="Calibri" pitchFamily="34" charset="0"/>
                          <a:ea typeface="Calibri" pitchFamily="34" charset="-122"/>
                          <a:cs typeface="Calibri" pitchFamily="34" charset="-120"/>
                        </a:rPr>
                        <a:t>Data Platform Identity</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One engine on token or managed identity</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6"/>
                  </a:ext>
                </a:extLst>
              </a:tr>
              <a:tr h="411480">
                <a:tc>
                  <a:txBody>
                    <a:bodyPr/>
                    <a:lstStyle/>
                    <a:p>
                      <a:pPr marL="0" indent="0">
                        <a:buNone/>
                      </a:pPr>
                      <a:r>
                        <a:rPr lang="en-US" sz="1200" b="1" dirty="0">
                          <a:solidFill>
                            <a:srgbClr val="B45309"/>
                          </a:solidFill>
                          <a:latin typeface="Calibri" pitchFamily="34" charset="0"/>
                          <a:ea typeface="Calibri" pitchFamily="34" charset="-122"/>
                          <a:cs typeface="Calibri" pitchFamily="34" charset="-120"/>
                        </a:rPr>
                        <a:t>7</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b="1" dirty="0">
                          <a:solidFill>
                            <a:srgbClr val="1F2A44"/>
                          </a:solidFill>
                          <a:latin typeface="Calibri" pitchFamily="34" charset="0"/>
                          <a:ea typeface="Calibri" pitchFamily="34" charset="-122"/>
                          <a:cs typeface="Calibri" pitchFamily="34" charset="-120"/>
                        </a:rPr>
                        <a:t>Supply Chain &amp; SBOM</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An SBOM for one system; certification status</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7"/>
                  </a:ext>
                </a:extLst>
              </a:tr>
            </a:tbl>
          </a:graphicData>
        </a:graphic>
      </p:graphicFrame>
      <p:sp>
        <p:nvSpPr>
          <p:cNvPr id="6" name="Rules box">
            <a:extLst>
              <a:ext uri="{C183D7F6-B498-43B3-948B-1728B52AA6E4}">
                <adec:decorative xmlns:adec="http://schemas.microsoft.com/office/drawing/2017/decorative" val="1"/>
              </a:ext>
            </a:extLst>
          </p:cNvPr>
          <p:cNvSpPr/>
          <p:nvPr/>
        </p:nvSpPr>
        <p:spPr>
          <a:xfrm>
            <a:off x="7086600" y="1371600"/>
            <a:ext cx="4572000" cy="3291840"/>
          </a:xfrm>
          <a:prstGeom prst="roundRect">
            <a:avLst>
              <a:gd name="adj" fmla="val 2222"/>
            </a:avLst>
          </a:prstGeom>
          <a:solidFill>
            <a:srgbClr val="DCEFEC"/>
          </a:solidFill>
          <a:ln w="12700">
            <a:solidFill>
              <a:srgbClr val="DCEFEC"/>
            </a:solidFill>
            <a:prstDash val="solid"/>
          </a:ln>
          <a:effectLst>
            <a:outerShdw blurRad="76200" dist="25400" dir="5400000" algn="bl" rotWithShape="0">
              <a:srgbClr val="64748B">
                <a:alpha val="22000"/>
              </a:srgbClr>
            </a:outerShdw>
          </a:effectLst>
        </p:spPr>
      </p:sp>
      <p:sp>
        <p:nvSpPr>
          <p:cNvPr id="7" name="Icon FaCubes">
            <a:extLst>
              <a:ext uri="{C183D7F6-B498-43B3-948B-1728B52AA6E4}">
                <adec:decorative xmlns:adec="http://schemas.microsoft.com/office/drawing/2017/decorative" val="1"/>
              </a:ext>
            </a:extLst>
          </p:cNvPr>
          <p:cNvSpPr/>
          <p:nvPr/>
        </p:nvSpPr>
        <p:spPr>
          <a:xfrm>
            <a:off x="7315200" y="1517904"/>
            <a:ext cx="548640" cy="548640"/>
          </a:xfrm>
          <a:prstGeom prst="ellipse">
            <a:avLst/>
          </a:prstGeom>
          <a:solidFill>
            <a:srgbClr val="0F766E"/>
          </a:solidFill>
          <a:ln w="12700">
            <a:solidFill>
              <a:srgbClr val="0F766E"/>
            </a:solidFill>
            <a:prstDash val="solid"/>
          </a:ln>
        </p:spPr>
      </p:sp>
      <p:pic>
        <p:nvPicPr>
          <p:cNvPr id="8" name="Image 0">
            <a:extLst>
              <a:ext uri="{C183D7F6-B498-43B3-948B-1728B52AA6E4}">
                <adec:decorative xmlns:adec="http://schemas.microsoft.com/office/drawing/2017/decorative" val="1"/>
              </a:ext>
            </a:extLst>
          </p:cNvPr>
          <p:cNvPicPr>
            <a:picLocks noChangeAspect="1"/>
          </p:cNvPicPr>
          <p:nvPr/>
        </p:nvPicPr>
        <p:blipFill>
          <a:blip r:embed="rId5"/>
          <a:stretch>
            <a:fillRect/>
          </a:stretch>
        </p:blipFill>
        <p:spPr>
          <a:xfrm>
            <a:off x="7446874" y="1649578"/>
            <a:ext cx="285293" cy="285293"/>
          </a:xfrm>
          <a:prstGeom prst="rect">
            <a:avLst/>
          </a:prstGeom>
        </p:spPr>
      </p:pic>
      <p:sp>
        <p:nvSpPr>
          <p:cNvPr id="9" name="Rules head"/>
          <p:cNvSpPr txBox="1"/>
          <p:nvPr/>
        </p:nvSpPr>
        <p:spPr>
          <a:xfrm>
            <a:off x="8001000" y="1517904"/>
            <a:ext cx="3566160" cy="548640"/>
          </a:xfrm>
          <a:prstGeom prst="rect">
            <a:avLst/>
          </a:prstGeom>
          <a:noFill/>
          <a:ln/>
        </p:spPr>
        <p:txBody>
          <a:bodyPr wrap="square" lIns="0" tIns="0" rIns="0" bIns="0" rtlCol="0" anchor="ctr"/>
          <a:lstStyle/>
          <a:p>
            <a:pPr marL="0" indent="0">
              <a:buNone/>
            </a:pPr>
            <a:r>
              <a:rPr lang="en-US" sz="1700" b="1" dirty="0">
                <a:solidFill>
                  <a:srgbClr val="0F766E"/>
                </a:solidFill>
                <a:latin typeface="Cambria" pitchFamily="34" charset="0"/>
                <a:ea typeface="Cambria" pitchFamily="34" charset="-122"/>
                <a:cs typeface="Cambria" pitchFamily="34" charset="-120"/>
              </a:rPr>
              <a:t>Rules that keep it coherent</a:t>
            </a:r>
            <a:endParaRPr lang="en-US" sz="1700" dirty="0"/>
          </a:p>
        </p:txBody>
      </p:sp>
      <p:sp>
        <p:nvSpPr>
          <p:cNvPr id="10" name="Rules list"/>
          <p:cNvSpPr txBox="1"/>
          <p:nvPr/>
        </p:nvSpPr>
        <p:spPr>
          <a:xfrm>
            <a:off x="7315200" y="2194560"/>
            <a:ext cx="4206240" cy="2395728"/>
          </a:xfrm>
          <a:prstGeom prst="rect">
            <a:avLst/>
          </a:prstGeom>
          <a:noFill/>
          <a:ln/>
        </p:spPr>
        <p:txBody>
          <a:bodyPr wrap="square" lIns="0" tIns="0" rIns="0" bIns="0" rtlCol="0" anchor="t"/>
          <a:lstStyle/>
          <a:p>
            <a:pPr marL="342900" indent="-342900">
              <a:spcAft>
                <a:spcPts val="600"/>
              </a:spcAft>
              <a:buSzPct val="100000"/>
              <a:buChar char="•"/>
            </a:pPr>
            <a:r>
              <a:rPr lang="en-US" sz="1350" dirty="0">
                <a:solidFill>
                  <a:schemeClr val="tx2"/>
                </a:solidFill>
              </a:rPr>
              <a:t>Never a second authoritative source</a:t>
            </a:r>
            <a:endParaRPr lang="en-US" sz="1400" dirty="0"/>
          </a:p>
          <a:p>
            <a:pPr marL="342900" indent="-342900">
              <a:spcAft>
                <a:spcPts val="600"/>
              </a:spcAft>
              <a:buSzPct val="100000"/>
              <a:buChar char="•"/>
            </a:pPr>
            <a:r>
              <a:rPr lang="en-US" sz="1350" dirty="0">
                <a:solidFill>
                  <a:schemeClr val="tx2"/>
                </a:solidFill>
              </a:rPr>
              <a:t>Every project emits evidence in project 4's shape</a:t>
            </a:r>
            <a:endParaRPr lang="en-US" sz="1400" dirty="0"/>
          </a:p>
          <a:p>
            <a:pPr marL="342900" indent="-342900">
              <a:spcAft>
                <a:spcPts val="600"/>
              </a:spcAft>
              <a:buSzPct val="100000"/>
              <a:buChar char="•"/>
            </a:pPr>
            <a:r>
              <a:rPr lang="en-US" sz="1350" dirty="0">
                <a:solidFill>
                  <a:schemeClr val="tx2"/>
                </a:solidFill>
              </a:rPr>
              <a:t>Privileged access: fifth on paper, early in fact</a:t>
            </a:r>
            <a:endParaRPr lang="en-US" sz="1400" dirty="0"/>
          </a:p>
          <a:p>
            <a:pPr marL="342900" indent="-342900">
              <a:spcAft>
                <a:spcPts val="600"/>
              </a:spcAft>
              <a:buSzPct val="100000"/>
              <a:buChar char="•"/>
            </a:pPr>
            <a:r>
              <a:rPr lang="en-US" sz="1350" dirty="0">
                <a:solidFill>
                  <a:schemeClr val="tx2"/>
                </a:solidFill>
              </a:rPr>
              <a:t>No project clears a program gate on its own</a:t>
            </a:r>
            <a:endParaRPr lang="en-US" sz="1400" dirty="0"/>
          </a:p>
        </p:txBody>
      </p:sp>
      <p:sp>
        <p:nvSpPr>
          <p:cNvPr id="11" name="Decision bar">
            <a:extLst>
              <a:ext uri="{C183D7F6-B498-43B3-948B-1728B52AA6E4}">
                <adec:decorative xmlns:adec="http://schemas.microsoft.com/office/drawing/2017/decorative" val="1"/>
              </a:ext>
            </a:extLst>
          </p:cNvPr>
          <p:cNvSpPr/>
          <p:nvPr/>
        </p:nvSpPr>
        <p:spPr>
          <a:xfrm>
            <a:off x="548640" y="4800600"/>
            <a:ext cx="11109960" cy="1143000"/>
          </a:xfrm>
          <a:prstGeom prst="roundRect">
            <a:avLst>
              <a:gd name="adj" fmla="val 6400"/>
            </a:avLst>
          </a:prstGeom>
          <a:solidFill>
            <a:srgbClr val="FFFFFF"/>
          </a:solidFill>
          <a:ln w="12700">
            <a:solidFill>
              <a:srgbClr val="B45309"/>
            </a:solidFill>
            <a:prstDash val="solid"/>
          </a:ln>
          <a:effectLst>
            <a:outerShdw blurRad="76200" dist="25400" dir="5400000" algn="bl" rotWithShape="0">
              <a:srgbClr val="64748B">
                <a:alpha val="22000"/>
              </a:srgbClr>
            </a:outerShdw>
          </a:effectLst>
        </p:spPr>
      </p:sp>
      <p:sp>
        <p:nvSpPr>
          <p:cNvPr id="5" name="Icon FaScaleBalanced">
            <a:extLst>
              <a:ext uri="{C183D7F6-B498-43B3-948B-1728B52AA6E4}">
                <adec:decorative xmlns:adec="http://schemas.microsoft.com/office/drawing/2017/decorative" val="1"/>
              </a:ext>
            </a:extLst>
          </p:cNvPr>
          <p:cNvSpPr/>
          <p:nvPr/>
        </p:nvSpPr>
        <p:spPr>
          <a:xfrm>
            <a:off x="749808" y="5047488"/>
            <a:ext cx="640080" cy="640080"/>
          </a:xfrm>
          <a:prstGeom prst="ellipse">
            <a:avLst/>
          </a:prstGeom>
          <a:solidFill>
            <a:srgbClr val="B45309"/>
          </a:solidFill>
          <a:ln w="12700">
            <a:solidFill>
              <a:srgbClr val="B45309"/>
            </a:solidFill>
            <a:prstDash val="solid"/>
          </a:ln>
        </p:spPr>
      </p:sp>
      <p:pic>
        <p:nvPicPr>
          <p:cNvPr id="13" name="Image 1">
            <a:extLst>
              <a:ext uri="{C183D7F6-B498-43B3-948B-1728B52AA6E4}">
                <adec:decorative xmlns:adec="http://schemas.microsoft.com/office/drawing/2017/decorative" val="1"/>
              </a:ext>
            </a:extLst>
          </p:cNvPr>
          <p:cNvPicPr>
            <a:picLocks noChangeAspect="1"/>
          </p:cNvPicPr>
          <p:nvPr/>
        </p:nvPicPr>
        <p:blipFill>
          <a:blip r:embed="rId6"/>
          <a:stretch>
            <a:fillRect/>
          </a:stretch>
        </p:blipFill>
        <p:spPr>
          <a:xfrm>
            <a:off x="903427" y="5201107"/>
            <a:ext cx="332842" cy="332842"/>
          </a:xfrm>
          <a:prstGeom prst="rect">
            <a:avLst/>
          </a:prstGeom>
        </p:spPr>
      </p:pic>
      <p:sp>
        <p:nvSpPr>
          <p:cNvPr id="14" name="Decision"/>
          <p:cNvSpPr txBox="1"/>
          <p:nvPr/>
        </p:nvSpPr>
        <p:spPr>
          <a:xfrm>
            <a:off x="1600200" y="4873752"/>
            <a:ext cx="5806440" cy="996696"/>
          </a:xfrm>
          <a:prstGeom prst="rect">
            <a:avLst/>
          </a:prstGeom>
          <a:noFill/>
          <a:ln/>
        </p:spPr>
        <p:txBody>
          <a:bodyPr wrap="square" lIns="0" tIns="0" rIns="0" bIns="0" rtlCol="0" anchor="ctr"/>
          <a:lstStyle/>
          <a:p>
            <a:pPr marL="0" indent="0">
              <a:buNone/>
            </a:pPr>
            <a:r>
              <a:rPr lang="en-US" sz="1100" b="1" kern="0" spc="100" dirty="0">
                <a:solidFill>
                  <a:srgbClr val="B45309"/>
                </a:solidFill>
              </a:rPr>
              <a:t>DECISION</a:t>
            </a:r>
            <a:endParaRPr lang="en-US" sz="1400" dirty="0"/>
          </a:p>
          <a:p>
            <a:pPr marL="0" indent="0">
              <a:buNone/>
            </a:pPr>
            <a:r>
              <a:rPr lang="en-US" sz="1400" dirty="0">
                <a:solidFill>
                  <a:srgbClr val="334155"/>
                </a:solidFill>
              </a:rPr>
              <a:t>Name a sponsor and a lead for each chartered project, with every project lead reporting to the steward</a:t>
            </a:r>
            <a:endParaRPr lang="en-US" sz="1400" dirty="0"/>
          </a:p>
        </p:txBody>
      </p:sp>
      <p:sp>
        <p:nvSpPr>
          <p:cNvPr id="15" name="Owner"/>
          <p:cNvSpPr txBox="1"/>
          <p:nvPr/>
        </p:nvSpPr>
        <p:spPr>
          <a:xfrm>
            <a:off x="7589520" y="4873752"/>
            <a:ext cx="2103120" cy="996696"/>
          </a:xfrm>
          <a:prstGeom prst="rect">
            <a:avLst/>
          </a:prstGeom>
          <a:noFill/>
          <a:ln/>
        </p:spPr>
        <p:txBody>
          <a:bodyPr wrap="square" lIns="0" tIns="0" rIns="0" bIns="0" rtlCol="0" anchor="ctr"/>
          <a:lstStyle/>
          <a:p>
            <a:pPr marL="0" indent="0">
              <a:buNone/>
            </a:pPr>
            <a:r>
              <a:rPr lang="en-US" sz="1100" b="1" kern="0" spc="100" dirty="0">
                <a:solidFill>
                  <a:srgbClr val="0F766E"/>
                </a:solidFill>
              </a:rPr>
              <a:t>OWNER</a:t>
            </a:r>
            <a:endParaRPr lang="en-US" sz="1400" dirty="0"/>
          </a:p>
          <a:p>
            <a:pPr marL="0" indent="0">
              <a:buNone/>
            </a:pPr>
            <a:r>
              <a:rPr lang="en-US" sz="1400" dirty="0">
                <a:solidFill>
                  <a:srgbClr val="334155"/>
                </a:solidFill>
              </a:rPr>
              <a:t>Agency leadership</a:t>
            </a:r>
            <a:endParaRPr lang="en-US" sz="1400" dirty="0"/>
          </a:p>
        </p:txBody>
      </p:sp>
      <p:sp>
        <p:nvSpPr>
          <p:cNvPr id="16" name="When"/>
          <p:cNvSpPr txBox="1"/>
          <p:nvPr/>
        </p:nvSpPr>
        <p:spPr>
          <a:xfrm>
            <a:off x="9784080" y="4873752"/>
            <a:ext cx="1783080" cy="996696"/>
          </a:xfrm>
          <a:prstGeom prst="rect">
            <a:avLst/>
          </a:prstGeom>
          <a:noFill/>
          <a:ln/>
        </p:spPr>
        <p:txBody>
          <a:bodyPr wrap="square" lIns="0" tIns="0" rIns="0" bIns="0" rtlCol="0" anchor="ctr"/>
          <a:lstStyle/>
          <a:p>
            <a:pPr marL="0" indent="0">
              <a:buNone/>
            </a:pPr>
            <a:r>
              <a:rPr lang="en-US" sz="1100" b="1" kern="0" spc="100" dirty="0">
                <a:solidFill>
                  <a:srgbClr val="1F2A44"/>
                </a:solidFill>
              </a:rPr>
              <a:t>NEEDED BY</a:t>
            </a:r>
            <a:endParaRPr lang="en-US" sz="1400" dirty="0"/>
          </a:p>
          <a:p>
            <a:pPr marL="0" indent="0">
              <a:buNone/>
            </a:pPr>
            <a:r>
              <a:rPr lang="en-US" sz="1400" dirty="0">
                <a:solidFill>
                  <a:srgbClr val="334155"/>
                </a:solidFill>
              </a:rPr>
              <a:t>Each project's first act</a:t>
            </a:r>
            <a:endParaRPr lang="en-US" sz="1400" dirty="0"/>
          </a:p>
        </p:txBody>
      </p:sp>
      <p:sp>
        <p:nvSpPr>
          <p:cNvPr id="17" name="Sources"/>
          <p:cNvSpPr txBox="1"/>
          <p:nvPr/>
        </p:nvSpPr>
        <p:spPr>
          <a:xfrm>
            <a:off x="548640" y="6053328"/>
            <a:ext cx="10424160" cy="292608"/>
          </a:xfrm>
          <a:prstGeom prst="rect">
            <a:avLst/>
          </a:prstGeom>
          <a:noFill/>
          <a:ln/>
        </p:spPr>
        <p:txBody>
          <a:bodyPr wrap="square" lIns="0" tIns="0" rIns="0" bIns="0" rtlCol="0" anchor="t"/>
          <a:lstStyle/>
          <a:p>
            <a:pPr marL="0" indent="0">
              <a:buNone/>
            </a:pPr>
            <a:r>
              <a:rPr lang="en-US" sz="1000" i="1" dirty="0">
                <a:solidFill>
                  <a:srgbClr val="64748B"/>
                </a:solidFill>
              </a:rPr>
              <a:t>Sources: Book 00, Chapter 06 (The seven projects at a glance; Why this order; How the projects fit the program; What the charters leave to the agency); Chapter 07 (The complementary projects).</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11</a:t>
            </a:fld>
            <a:endParaRPr lang="en-US"/>
          </a:p>
        </p:txBody>
      </p:sp>
      <p:pic>
        <p:nvPicPr>
          <p:cNvPr id="18" name="Narration" descr="Narration for this slide; captions available">
            <a:hlinkClick r:id="" action="ppaction://media"/>
            <a:extLst>
              <a:ext uri="{FF2B5EF4-FFF2-40B4-BE49-F238E27FC236}">
                <a16:creationId xmlns:a16="http://schemas.microsoft.com/office/drawing/2014/main" id="{8EE49CFC-F1DF-80CC-E743-BFB94DFC55A6}"/>
              </a:ext>
            </a:extLst>
          </p:cNvPr>
          <p:cNvPicPr>
            <a:picLocks noChangeAspect="1"/>
          </p:cNvPicPr>
          <p:nvPr>
            <a:audioFile r:link="rId2"/>
            <p:extLst>
              <p:ext uri="{DAA4B4D4-6D71-4841-9C94-3DE7FCFB9230}">
                <p14:media xmlns:p14="http://schemas.microsoft.com/office/powerpoint/2010/main" r:embed="rId1">
                  <p14:extLst>
                    <p:ext uri="{3AFAAA56-56D3-431D-BCD4-E75A35582382}">
                      <p173:tracksInfo xmlns:p173="http://schemas.microsoft.com/office/powerpoint/2017/3/main" displayLoc="slide">
                        <p173:trackLst>
                          <p173:track id="{5C65D51C-6E1B-4B8F-8322-D49FA6C4DC0C}" label="English (captions)" lang="en-US" r:embed="rId8"/>
                        </p173:trackLst>
                      </p173:tracksInfo>
                    </p:ext>
                  </p14:extLst>
                </p14:media>
              </p:ext>
            </p:extLst>
          </p:nvPr>
        </p:nvPicPr>
        <p:blipFill>
          <a:blip r:embed="rId7"/>
          <a:stretch>
            <a:fillRect/>
          </a:stretch>
        </p:blipFill>
        <p:spPr>
          <a:xfrm>
            <a:off x="127000" y="6350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70890"/>
    </mc:Choice>
    <mc:Fallback>
      <p:transition spd="slow" advTm="7089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66888" fill="hold"/>
                                        <p:tgtEl>
                                          <p:spTgt spid="18"/>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57200"/>
            <a:ext cx="11064240" cy="777240"/>
          </a:xfrm>
          <a:prstGeom prst="rect">
            <a:avLst/>
          </a:prstGeom>
          <a:noFill/>
          <a:ln/>
        </p:spPr>
        <p:txBody>
          <a:bodyPr wrap="square" lIns="0" tIns="0" rIns="0" bIns="0" rtlCol="0" anchor="ctr"/>
          <a:lstStyle/>
          <a:p>
            <a:pPr marL="0" indent="0" algn="ctr">
              <a:buNone/>
            </a:pPr>
            <a:r>
              <a:rPr lang="en-US" sz="3000" b="1" dirty="0">
                <a:solidFill>
                  <a:schemeClr val="tx1"/>
                </a:solidFill>
                <a:latin typeface="Cambria" pitchFamily="34" charset="0"/>
                <a:ea typeface="Cambria" pitchFamily="34" charset="-122"/>
                <a:cs typeface="Cambria" pitchFamily="34" charset="-120"/>
              </a:rPr>
              <a:t>Who decides: one decider per row</a:t>
            </a:r>
            <a:endParaRPr lang="en-US" sz="3000" dirty="0"/>
          </a:p>
        </p:txBody>
      </p:sp>
      <p:sp>
        <p:nvSpPr>
          <p:cNvPr id="3" name="Tag Who">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0F766E"/>
          </a:solidFill>
          <a:ln w="12700">
            <a:solidFill>
              <a:srgbClr val="0F766E"/>
            </a:solidFill>
            <a:prstDash val="solid"/>
          </a:ln>
        </p:spPr>
      </p:sp>
      <p:sp>
        <p:nvSpPr>
          <p:cNvPr id="4" name="Tag Who text"/>
          <p:cNvSpPr txBox="1"/>
          <p:nvPr/>
        </p:nvSpPr>
        <p:spPr>
          <a:xfrm>
            <a:off x="548640" y="109728"/>
            <a:ext cx="868680" cy="292608"/>
          </a:xfrm>
          <a:prstGeom prst="rect">
            <a:avLst/>
          </a:prstGeom>
          <a:noFill/>
          <a:ln/>
        </p:spPr>
        <p:txBody>
          <a:bodyPr wrap="square" lIns="0" tIns="0" rIns="0" bIns="0" rtlCol="0" anchor="ctr"/>
          <a:lstStyle/>
          <a:p>
            <a:pPr marL="0" indent="0" algn="ctr">
              <a:buNone/>
            </a:pPr>
            <a:r>
              <a:rPr lang="en-US" sz="1100" b="1" kern="0" spc="100" dirty="0">
                <a:solidFill>
                  <a:srgbClr val="FFFFFF"/>
                </a:solidFill>
              </a:rPr>
              <a:t>WHO</a:t>
            </a:r>
            <a:endParaRPr lang="en-US" sz="1100" dirty="0"/>
          </a:p>
        </p:txBody>
      </p:sp>
      <p:graphicFrame>
        <p:nvGraphicFramePr>
          <p:cNvPr id="13" name="Table 0"/>
          <p:cNvGraphicFramePr>
            <a:graphicFrameLocks noGrp="1"/>
          </p:cNvGraphicFramePr>
          <p:nvPr>
            <p:extLst>
              <p:ext uri="{D42A27DB-BD31-4B8C-83A1-F6EECF244321}">
                <p14:modId xmlns:p14="http://schemas.microsoft.com/office/powerpoint/2010/main" val="1579011935"/>
              </p:ext>
            </p:extLst>
          </p:nvPr>
        </p:nvGraphicFramePr>
        <p:xfrm>
          <a:off x="548640" y="1371600"/>
          <a:ext cx="9144000" cy="914400"/>
        </p:xfrm>
        <a:graphic>
          <a:graphicData uri="http://schemas.openxmlformats.org/drawingml/2006/table">
            <a:tbl>
              <a:tblPr firstRow="1" bandRow="1"/>
              <a:tblGrid>
                <a:gridCol w="3886200">
                  <a:extLst>
                    <a:ext uri="{9D8B030D-6E8A-4147-A177-3AD203B41FA5}">
                      <a16:colId xmlns:a16="http://schemas.microsoft.com/office/drawing/2014/main" val="20000"/>
                    </a:ext>
                  </a:extLst>
                </a:gridCol>
                <a:gridCol w="2423160">
                  <a:extLst>
                    <a:ext uri="{9D8B030D-6E8A-4147-A177-3AD203B41FA5}">
                      <a16:colId xmlns:a16="http://schemas.microsoft.com/office/drawing/2014/main" val="20001"/>
                    </a:ext>
                  </a:extLst>
                </a:gridCol>
              </a:tblGrid>
              <a:tr h="347472">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Decision</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Who decides</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extLst>
                  <a:ext uri="{0D108BD9-81ED-4DB2-BD59-A6C34878D82A}">
                    <a16:rowId xmlns:a16="http://schemas.microsoft.com/office/drawing/2014/main" val="10000"/>
                  </a:ext>
                </a:extLst>
              </a:tr>
              <a:tr h="429768">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Scope, funding, sequence; when AD components retire</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b="1" dirty="0">
                          <a:solidFill>
                            <a:srgbClr val="0F766E"/>
                          </a:solidFill>
                          <a:latin typeface="Calibri" pitchFamily="34" charset="0"/>
                          <a:ea typeface="Calibri" pitchFamily="34" charset="-122"/>
                          <a:cs typeface="Calibri" pitchFamily="34" charset="-120"/>
                        </a:rPr>
                        <a:t>Executive sponsor and CIO</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429768">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Control requirements: authentication, CA baseline, logging</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b="1" dirty="0">
                          <a:solidFill>
                            <a:srgbClr val="0F766E"/>
                          </a:solidFill>
                          <a:latin typeface="Calibri" pitchFamily="34" charset="0"/>
                          <a:ea typeface="Calibri" pitchFamily="34" charset="-122"/>
                          <a:cs typeface="Calibri" pitchFamily="34" charset="-120"/>
                        </a:rPr>
                        <a:t>CISO</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429768">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Acceptance of security and privacy risk</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b="1" dirty="0">
                          <a:solidFill>
                            <a:srgbClr val="0F766E"/>
                          </a:solidFill>
                          <a:latin typeface="Calibri" pitchFamily="34" charset="0"/>
                          <a:ea typeface="Calibri" pitchFamily="34" charset="-122"/>
                          <a:cs typeface="Calibri" pitchFamily="34" charset="-120"/>
                        </a:rPr>
                        <a:t>Authorizing official only</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429768">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The plan, wave sequencing, the repository</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b="1" dirty="0">
                          <a:solidFill>
                            <a:srgbClr val="0F766E"/>
                          </a:solidFill>
                          <a:latin typeface="Calibri" pitchFamily="34" charset="0"/>
                          <a:ea typeface="Calibri" pitchFamily="34" charset="-122"/>
                          <a:cs typeface="Calibri" pitchFamily="34" charset="-120"/>
                        </a:rPr>
                        <a:t>Steward</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429768">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Target architecture or authoritative-origin rules</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b="1" dirty="0">
                          <a:solidFill>
                            <a:srgbClr val="0F766E"/>
                          </a:solidFill>
                          <a:latin typeface="Calibri" pitchFamily="34" charset="0"/>
                          <a:ea typeface="Calibri" pitchFamily="34" charset="-122"/>
                          <a:cs typeface="Calibri" pitchFamily="34" charset="-120"/>
                        </a:rPr>
                        <a:t>Steward and sponsor together</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429768">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What each organizational attribute means</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b="1" dirty="0">
                          <a:solidFill>
                            <a:srgbClr val="0F766E"/>
                          </a:solidFill>
                          <a:latin typeface="Calibri" pitchFamily="34" charset="0"/>
                          <a:ea typeface="Calibri" pitchFamily="34" charset="-122"/>
                          <a:cs typeface="Calibri" pitchFamily="34" charset="-120"/>
                        </a:rPr>
                        <a:t>HR</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6"/>
                  </a:ext>
                </a:extLst>
              </a:tr>
              <a:tr h="429768">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Technical design inside a workstream</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b="1" dirty="0">
                          <a:solidFill>
                            <a:srgbClr val="0F766E"/>
                          </a:solidFill>
                          <a:latin typeface="Calibri" pitchFamily="34" charset="0"/>
                          <a:ea typeface="Calibri" pitchFamily="34" charset="-122"/>
                          <a:cs typeface="Calibri" pitchFamily="34" charset="-120"/>
                        </a:rPr>
                        <a:t>Workstream lead, within the CISO's rules</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7"/>
                  </a:ext>
                </a:extLst>
              </a:tr>
            </a:tbl>
          </a:graphicData>
        </a:graphic>
      </p:graphicFrame>
      <p:sp>
        <p:nvSpPr>
          <p:cNvPr id="6" name="Federal box">
            <a:extLst>
              <a:ext uri="{C183D7F6-B498-43B3-948B-1728B52AA6E4}">
                <adec:decorative xmlns:adec="http://schemas.microsoft.com/office/drawing/2017/decorative" val="1"/>
              </a:ext>
            </a:extLst>
          </p:cNvPr>
          <p:cNvSpPr/>
          <p:nvPr/>
        </p:nvSpPr>
        <p:spPr>
          <a:xfrm>
            <a:off x="7086600" y="1371600"/>
            <a:ext cx="4572000" cy="3291840"/>
          </a:xfrm>
          <a:prstGeom prst="roundRect">
            <a:avLst>
              <a:gd name="adj" fmla="val 2222"/>
            </a:avLst>
          </a:prstGeom>
          <a:solidFill>
            <a:srgbClr val="E4EAF4"/>
          </a:solidFill>
          <a:ln w="12700">
            <a:solidFill>
              <a:srgbClr val="E4EAF4"/>
            </a:solidFill>
            <a:prstDash val="solid"/>
          </a:ln>
          <a:effectLst>
            <a:outerShdw blurRad="76200" dist="25400" dir="5400000" algn="bl" rotWithShape="0">
              <a:srgbClr val="64748B">
                <a:alpha val="22000"/>
              </a:srgbClr>
            </a:outerShdw>
          </a:effectLst>
        </p:spPr>
      </p:sp>
      <p:sp>
        <p:nvSpPr>
          <p:cNvPr id="7" name="Icon FaBuildingColumns">
            <a:extLst>
              <a:ext uri="{C183D7F6-B498-43B3-948B-1728B52AA6E4}">
                <adec:decorative xmlns:adec="http://schemas.microsoft.com/office/drawing/2017/decorative" val="1"/>
              </a:ext>
            </a:extLst>
          </p:cNvPr>
          <p:cNvSpPr/>
          <p:nvPr/>
        </p:nvSpPr>
        <p:spPr>
          <a:xfrm>
            <a:off x="7315200" y="1517904"/>
            <a:ext cx="548640" cy="548640"/>
          </a:xfrm>
          <a:prstGeom prst="ellipse">
            <a:avLst/>
          </a:prstGeom>
          <a:solidFill>
            <a:srgbClr val="1F2A44"/>
          </a:solidFill>
          <a:ln w="12700">
            <a:solidFill>
              <a:srgbClr val="1F2A44"/>
            </a:solidFill>
            <a:prstDash val="solid"/>
          </a:ln>
        </p:spPr>
      </p:sp>
      <p:pic>
        <p:nvPicPr>
          <p:cNvPr id="8" name="Image 0">
            <a:extLst>
              <a:ext uri="{C183D7F6-B498-43B3-948B-1728B52AA6E4}">
                <adec:decorative xmlns:adec="http://schemas.microsoft.com/office/drawing/2017/decorative" val="1"/>
              </a:ext>
            </a:extLst>
          </p:cNvPr>
          <p:cNvPicPr>
            <a:picLocks noChangeAspect="1"/>
          </p:cNvPicPr>
          <p:nvPr/>
        </p:nvPicPr>
        <p:blipFill>
          <a:blip r:embed="rId5"/>
          <a:stretch>
            <a:fillRect/>
          </a:stretch>
        </p:blipFill>
        <p:spPr>
          <a:xfrm>
            <a:off x="7446874" y="1649578"/>
            <a:ext cx="285293" cy="285293"/>
          </a:xfrm>
          <a:prstGeom prst="rect">
            <a:avLst/>
          </a:prstGeom>
        </p:spPr>
      </p:pic>
      <p:sp>
        <p:nvSpPr>
          <p:cNvPr id="9" name="Federal head"/>
          <p:cNvSpPr txBox="1"/>
          <p:nvPr/>
        </p:nvSpPr>
        <p:spPr>
          <a:xfrm>
            <a:off x="8001000" y="1517904"/>
            <a:ext cx="3566160" cy="548640"/>
          </a:xfrm>
          <a:prstGeom prst="rect">
            <a:avLst/>
          </a:prstGeom>
          <a:noFill/>
          <a:ln/>
        </p:spPr>
        <p:txBody>
          <a:bodyPr wrap="square" lIns="0" tIns="0" rIns="0" bIns="0" rtlCol="0" anchor="ctr"/>
          <a:lstStyle/>
          <a:p>
            <a:pPr marL="0" indent="0">
              <a:buNone/>
            </a:pPr>
            <a:r>
              <a:rPr lang="en-US" sz="1700" b="1" dirty="0">
                <a:solidFill>
                  <a:srgbClr val="1F2A44"/>
                </a:solidFill>
                <a:latin typeface="Cambria" pitchFamily="34" charset="0"/>
                <a:ea typeface="Cambria" pitchFamily="34" charset="-122"/>
                <a:cs typeface="Cambria" pitchFamily="34" charset="-120"/>
              </a:rPr>
              <a:t>Use the roles you already have</a:t>
            </a:r>
            <a:endParaRPr lang="en-US" sz="1700" dirty="0"/>
          </a:p>
        </p:txBody>
      </p:sp>
      <p:sp>
        <p:nvSpPr>
          <p:cNvPr id="10" name="Federal list"/>
          <p:cNvSpPr txBox="1"/>
          <p:nvPr/>
        </p:nvSpPr>
        <p:spPr>
          <a:xfrm>
            <a:off x="7315200" y="2194560"/>
            <a:ext cx="4206240" cy="2395728"/>
          </a:xfrm>
          <a:prstGeom prst="rect">
            <a:avLst/>
          </a:prstGeom>
          <a:noFill/>
          <a:ln/>
        </p:spPr>
        <p:txBody>
          <a:bodyPr wrap="square" lIns="0" tIns="0" rIns="0" bIns="0" rtlCol="0" anchor="t"/>
          <a:lstStyle/>
          <a:p>
            <a:pPr marL="342900" indent="-342900">
              <a:spcAft>
                <a:spcPts val="600"/>
              </a:spcAft>
              <a:buSzPct val="100000"/>
              <a:buChar char="•"/>
            </a:pPr>
            <a:r>
              <a:rPr lang="en-US" sz="1350" dirty="0">
                <a:solidFill>
                  <a:schemeClr val="tx2"/>
                </a:solidFill>
              </a:rPr>
              <a:t>M-22-09: a zero trust lead within 30 days</a:t>
            </a:r>
            <a:endParaRPr lang="en-US" sz="1400" dirty="0"/>
          </a:p>
          <a:p>
            <a:pPr marL="342900" indent="-342900">
              <a:spcAft>
                <a:spcPts val="600"/>
              </a:spcAft>
              <a:buSzPct val="100000"/>
              <a:buChar char="•"/>
            </a:pPr>
            <a:r>
              <a:rPr lang="en-US" sz="1350" dirty="0">
                <a:solidFill>
                  <a:schemeClr val="tx2"/>
                </a:solidFill>
              </a:rPr>
              <a:t>M-22-09: the whole C-suite aligned</a:t>
            </a:r>
            <a:endParaRPr lang="en-US" sz="1400" dirty="0"/>
          </a:p>
          <a:p>
            <a:pPr marL="342900" indent="-342900">
              <a:spcAft>
                <a:spcPts val="600"/>
              </a:spcAft>
              <a:buSzPct val="100000"/>
              <a:buChar char="•"/>
            </a:pPr>
            <a:r>
              <a:rPr lang="en-US" sz="1350" dirty="0">
                <a:solidFill>
                  <a:schemeClr val="tx2"/>
                </a:solidFill>
              </a:rPr>
              <a:t>M-19-17: an agency-wide ICAM governance body</a:t>
            </a:r>
            <a:endParaRPr lang="en-US" sz="1400" dirty="0"/>
          </a:p>
          <a:p>
            <a:pPr marL="342900" indent="-342900">
              <a:spcAft>
                <a:spcPts val="600"/>
              </a:spcAft>
              <a:buSzPct val="100000"/>
              <a:buChar char="•"/>
            </a:pPr>
            <a:r>
              <a:rPr lang="en-US" sz="1350" dirty="0">
                <a:solidFill>
                  <a:schemeClr val="tx2"/>
                </a:solidFill>
              </a:rPr>
              <a:t>Build the steward and steering committee from them</a:t>
            </a:r>
            <a:endParaRPr lang="en-US" sz="1400" dirty="0"/>
          </a:p>
        </p:txBody>
      </p:sp>
      <p:sp>
        <p:nvSpPr>
          <p:cNvPr id="11" name="Decision bar">
            <a:extLst>
              <a:ext uri="{C183D7F6-B498-43B3-948B-1728B52AA6E4}">
                <adec:decorative xmlns:adec="http://schemas.microsoft.com/office/drawing/2017/decorative" val="1"/>
              </a:ext>
            </a:extLst>
          </p:cNvPr>
          <p:cNvSpPr/>
          <p:nvPr/>
        </p:nvSpPr>
        <p:spPr>
          <a:xfrm>
            <a:off x="548640" y="4800600"/>
            <a:ext cx="11109960" cy="1143000"/>
          </a:xfrm>
          <a:prstGeom prst="roundRect">
            <a:avLst>
              <a:gd name="adj" fmla="val 6400"/>
            </a:avLst>
          </a:prstGeom>
          <a:solidFill>
            <a:srgbClr val="FFFFFF"/>
          </a:solidFill>
          <a:ln w="12700">
            <a:solidFill>
              <a:srgbClr val="B45309"/>
            </a:solidFill>
            <a:prstDash val="solid"/>
          </a:ln>
          <a:effectLst>
            <a:outerShdw blurRad="76200" dist="25400" dir="5400000" algn="bl" rotWithShape="0">
              <a:srgbClr val="64748B">
                <a:alpha val="22000"/>
              </a:srgbClr>
            </a:outerShdw>
          </a:effectLst>
        </p:spPr>
      </p:sp>
      <p:sp>
        <p:nvSpPr>
          <p:cNvPr id="12" name="Icon FaScaleBalanced">
            <a:extLst>
              <a:ext uri="{C183D7F6-B498-43B3-948B-1728B52AA6E4}">
                <adec:decorative xmlns:adec="http://schemas.microsoft.com/office/drawing/2017/decorative" val="1"/>
              </a:ext>
            </a:extLst>
          </p:cNvPr>
          <p:cNvSpPr/>
          <p:nvPr/>
        </p:nvSpPr>
        <p:spPr>
          <a:xfrm>
            <a:off x="749808" y="5047488"/>
            <a:ext cx="640080" cy="640080"/>
          </a:xfrm>
          <a:prstGeom prst="ellipse">
            <a:avLst/>
          </a:prstGeom>
          <a:solidFill>
            <a:srgbClr val="B45309"/>
          </a:solidFill>
          <a:ln w="12700">
            <a:solidFill>
              <a:srgbClr val="B45309"/>
            </a:solidFill>
            <a:prstDash val="solid"/>
          </a:ln>
        </p:spPr>
      </p:sp>
      <p:pic>
        <p:nvPicPr>
          <p:cNvPr id="5" name="Image 1">
            <a:extLst>
              <a:ext uri="{C183D7F6-B498-43B3-948B-1728B52AA6E4}">
                <adec:decorative xmlns:adec="http://schemas.microsoft.com/office/drawing/2017/decorative" val="1"/>
              </a:ext>
            </a:extLst>
          </p:cNvPr>
          <p:cNvPicPr>
            <a:picLocks noChangeAspect="1"/>
          </p:cNvPicPr>
          <p:nvPr/>
        </p:nvPicPr>
        <p:blipFill>
          <a:blip r:embed="rId6"/>
          <a:stretch>
            <a:fillRect/>
          </a:stretch>
        </p:blipFill>
        <p:spPr>
          <a:xfrm>
            <a:off x="903427" y="5201107"/>
            <a:ext cx="332842" cy="332842"/>
          </a:xfrm>
          <a:prstGeom prst="rect">
            <a:avLst/>
          </a:prstGeom>
        </p:spPr>
      </p:pic>
      <p:sp>
        <p:nvSpPr>
          <p:cNvPr id="14" name="Decision"/>
          <p:cNvSpPr txBox="1"/>
          <p:nvPr/>
        </p:nvSpPr>
        <p:spPr>
          <a:xfrm>
            <a:off x="1600200" y="4873752"/>
            <a:ext cx="5806440" cy="996696"/>
          </a:xfrm>
          <a:prstGeom prst="rect">
            <a:avLst/>
          </a:prstGeom>
          <a:noFill/>
          <a:ln/>
        </p:spPr>
        <p:txBody>
          <a:bodyPr wrap="square" lIns="0" tIns="0" rIns="0" bIns="0" rtlCol="0" anchor="ctr"/>
          <a:lstStyle/>
          <a:p>
            <a:pPr marL="0" indent="0">
              <a:buNone/>
            </a:pPr>
            <a:r>
              <a:rPr lang="en-US" sz="1100" b="1" kern="0" spc="100" dirty="0">
                <a:solidFill>
                  <a:srgbClr val="B45309"/>
                </a:solidFill>
              </a:rPr>
              <a:t>DECISION</a:t>
            </a:r>
            <a:endParaRPr lang="en-US" sz="1400" dirty="0"/>
          </a:p>
          <a:p>
            <a:pPr marL="0" indent="0">
              <a:buNone/>
            </a:pPr>
            <a:r>
              <a:rPr lang="en-US" sz="1400" dirty="0">
                <a:solidFill>
                  <a:srgbClr val="334155"/>
                </a:solidFill>
              </a:rPr>
              <a:t>Name the sponsor, the steward and the steering committee, built from the zero trust lead and the ICAM body, not beside them</a:t>
            </a:r>
            <a:endParaRPr lang="en-US" sz="1400" dirty="0"/>
          </a:p>
        </p:txBody>
      </p:sp>
      <p:sp>
        <p:nvSpPr>
          <p:cNvPr id="15" name="Owner"/>
          <p:cNvSpPr txBox="1"/>
          <p:nvPr/>
        </p:nvSpPr>
        <p:spPr>
          <a:xfrm>
            <a:off x="7589520" y="4873752"/>
            <a:ext cx="2103120" cy="996696"/>
          </a:xfrm>
          <a:prstGeom prst="rect">
            <a:avLst/>
          </a:prstGeom>
          <a:noFill/>
          <a:ln/>
        </p:spPr>
        <p:txBody>
          <a:bodyPr wrap="square" lIns="0" tIns="0" rIns="0" bIns="0" rtlCol="0" anchor="ctr"/>
          <a:lstStyle/>
          <a:p>
            <a:pPr marL="0" indent="0">
              <a:buNone/>
            </a:pPr>
            <a:r>
              <a:rPr lang="en-US" sz="1100" b="1" kern="0" spc="100" dirty="0">
                <a:solidFill>
                  <a:srgbClr val="0F766E"/>
                </a:solidFill>
              </a:rPr>
              <a:t>OWNER</a:t>
            </a:r>
            <a:endParaRPr lang="en-US" sz="1400" dirty="0"/>
          </a:p>
          <a:p>
            <a:pPr marL="0" indent="0">
              <a:buNone/>
            </a:pPr>
            <a:r>
              <a:rPr lang="en-US" sz="1400" dirty="0">
                <a:solidFill>
                  <a:srgbClr val="334155"/>
                </a:solidFill>
              </a:rPr>
              <a:t>Executive sponsor and CIO</a:t>
            </a:r>
            <a:endParaRPr lang="en-US" sz="1400" dirty="0"/>
          </a:p>
        </p:txBody>
      </p:sp>
      <p:sp>
        <p:nvSpPr>
          <p:cNvPr id="16" name="When"/>
          <p:cNvSpPr txBox="1"/>
          <p:nvPr/>
        </p:nvSpPr>
        <p:spPr>
          <a:xfrm>
            <a:off x="9784080" y="4873752"/>
            <a:ext cx="1783080" cy="996696"/>
          </a:xfrm>
          <a:prstGeom prst="rect">
            <a:avLst/>
          </a:prstGeom>
          <a:noFill/>
          <a:ln/>
        </p:spPr>
        <p:txBody>
          <a:bodyPr wrap="square" lIns="0" tIns="0" rIns="0" bIns="0" rtlCol="0" anchor="ctr"/>
          <a:lstStyle/>
          <a:p>
            <a:pPr marL="0" indent="0">
              <a:buNone/>
            </a:pPr>
            <a:r>
              <a:rPr lang="en-US" sz="1100" b="1" kern="0" spc="100" dirty="0">
                <a:solidFill>
                  <a:srgbClr val="1F2A44"/>
                </a:solidFill>
              </a:rPr>
              <a:t>NEEDED BY</a:t>
            </a:r>
            <a:endParaRPr lang="en-US" sz="1400" dirty="0"/>
          </a:p>
          <a:p>
            <a:pPr marL="0" indent="0">
              <a:buNone/>
            </a:pPr>
            <a:r>
              <a:rPr lang="en-US" sz="1400" dirty="0">
                <a:solidFill>
                  <a:srgbClr val="334155"/>
                </a:solidFill>
              </a:rPr>
              <a:t>Phase 0, before G0</a:t>
            </a:r>
            <a:endParaRPr lang="en-US" sz="1400" dirty="0"/>
          </a:p>
        </p:txBody>
      </p:sp>
      <p:sp>
        <p:nvSpPr>
          <p:cNvPr id="17" name="Sources"/>
          <p:cNvSpPr txBox="1"/>
          <p:nvPr/>
        </p:nvSpPr>
        <p:spPr>
          <a:xfrm>
            <a:off x="548640" y="6053328"/>
            <a:ext cx="10424160" cy="292608"/>
          </a:xfrm>
          <a:prstGeom prst="rect">
            <a:avLst/>
          </a:prstGeom>
          <a:noFill/>
          <a:ln/>
        </p:spPr>
        <p:txBody>
          <a:bodyPr wrap="square" lIns="0" tIns="0" rIns="0" bIns="0" rtlCol="0" anchor="t"/>
          <a:lstStyle/>
          <a:p>
            <a:pPr marL="0" indent="0">
              <a:buNone/>
            </a:pPr>
            <a:r>
              <a:rPr lang="en-US" sz="1000" i="1" dirty="0">
                <a:solidFill>
                  <a:srgbClr val="64748B"/>
                </a:solidFill>
              </a:rPr>
              <a:t>Sources: OMB M-22-09 §III; OMB M-19-17; NIST SP 800-37 Rev. 2. Book 00, Chapters 03 and 07; Book 01, Chapter 09, as Chapter 07 cites it.</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12</a:t>
            </a:fld>
            <a:endParaRPr lang="en-US"/>
          </a:p>
        </p:txBody>
      </p:sp>
      <p:pic>
        <p:nvPicPr>
          <p:cNvPr id="18" name="Narration" descr="Narration for this slide; captions available">
            <a:hlinkClick r:id="" action="ppaction://media"/>
            <a:extLst>
              <a:ext uri="{FF2B5EF4-FFF2-40B4-BE49-F238E27FC236}">
                <a16:creationId xmlns:a16="http://schemas.microsoft.com/office/drawing/2014/main" id="{F46491A3-887C-BD08-9239-A738518FDBAC}"/>
              </a:ext>
            </a:extLst>
          </p:cNvPr>
          <p:cNvPicPr>
            <a:picLocks noChangeAspect="1"/>
          </p:cNvPicPr>
          <p:nvPr>
            <a:audioFile r:link="rId2"/>
            <p:extLst>
              <p:ext uri="{DAA4B4D4-6D71-4841-9C94-3DE7FCFB9230}">
                <p14:media xmlns:p14="http://schemas.microsoft.com/office/powerpoint/2010/main" r:embed="rId1">
                  <p14:extLst>
                    <p:ext uri="{3AFAAA56-56D3-431D-BCD4-E75A35582382}">
                      <p173:tracksInfo xmlns:p173="http://schemas.microsoft.com/office/powerpoint/2017/3/main" displayLoc="slide">
                        <p173:trackLst>
                          <p173:track id="{F81929AD-91A2-449F-85B7-D80C74A88FF8}" label="English (captions)" lang="en-US" r:embed="rId8"/>
                        </p173:trackLst>
                      </p173:tracksInfo>
                    </p:ext>
                  </p14:extLst>
                </p14:media>
              </p:ext>
            </p:extLst>
          </p:nvPr>
        </p:nvPicPr>
        <p:blipFill>
          <a:blip r:embed="rId7"/>
          <a:stretch>
            <a:fillRect/>
          </a:stretch>
        </p:blipFill>
        <p:spPr>
          <a:xfrm>
            <a:off x="127000" y="6350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72040"/>
    </mc:Choice>
    <mc:Fallback>
      <p:transition spd="slow" advTm="7204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68040" fill="hold"/>
                                        <p:tgtEl>
                                          <p:spTgt spid="18"/>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57200"/>
            <a:ext cx="11064240" cy="777240"/>
          </a:xfrm>
          <a:prstGeom prst="rect">
            <a:avLst/>
          </a:prstGeom>
          <a:noFill/>
          <a:ln/>
        </p:spPr>
        <p:txBody>
          <a:bodyPr wrap="square" lIns="0" tIns="0" rIns="0" bIns="0" rtlCol="0" anchor="ctr"/>
          <a:lstStyle/>
          <a:p>
            <a:pPr marL="0" indent="0" algn="ctr">
              <a:buNone/>
            </a:pPr>
            <a:r>
              <a:rPr lang="en-US" sz="3000" b="1" dirty="0">
                <a:solidFill>
                  <a:schemeClr val="tx1"/>
                </a:solidFill>
                <a:latin typeface="Cambria" pitchFamily="34" charset="0"/>
                <a:ea typeface="Cambria" pitchFamily="34" charset="-122"/>
                <a:cs typeface="Cambria" pitchFamily="34" charset="-120"/>
              </a:rPr>
              <a:t>Three decisions the plans put on the wrong desk</a:t>
            </a:r>
            <a:endParaRPr lang="en-US" sz="3000" dirty="0"/>
          </a:p>
        </p:txBody>
      </p:sp>
      <p:sp>
        <p:nvSpPr>
          <p:cNvPr id="3" name="Tag Who">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0F766E"/>
          </a:solidFill>
          <a:ln w="12700">
            <a:solidFill>
              <a:srgbClr val="0F766E"/>
            </a:solidFill>
            <a:prstDash val="solid"/>
          </a:ln>
        </p:spPr>
      </p:sp>
      <p:sp>
        <p:nvSpPr>
          <p:cNvPr id="4" name="Tag Who text"/>
          <p:cNvSpPr txBox="1"/>
          <p:nvPr/>
        </p:nvSpPr>
        <p:spPr>
          <a:xfrm>
            <a:off x="548640" y="109728"/>
            <a:ext cx="868680" cy="292608"/>
          </a:xfrm>
          <a:prstGeom prst="rect">
            <a:avLst/>
          </a:prstGeom>
          <a:noFill/>
          <a:ln/>
        </p:spPr>
        <p:txBody>
          <a:bodyPr wrap="square" lIns="0" tIns="0" rIns="0" bIns="0" rtlCol="0" anchor="ctr"/>
          <a:lstStyle/>
          <a:p>
            <a:pPr marL="0" indent="0" algn="ctr">
              <a:buNone/>
            </a:pPr>
            <a:r>
              <a:rPr lang="en-US" sz="1100" b="1" kern="0" spc="100" dirty="0">
                <a:solidFill>
                  <a:srgbClr val="FFFFFF"/>
                </a:solidFill>
              </a:rPr>
              <a:t>WHO</a:t>
            </a:r>
            <a:endParaRPr lang="en-US" sz="1100" dirty="0"/>
          </a:p>
        </p:txBody>
      </p:sp>
      <p:sp>
        <p:nvSpPr>
          <p:cNvPr id="5" name="Desk card 1">
            <a:extLst>
              <a:ext uri="{C183D7F6-B498-43B3-948B-1728B52AA6E4}">
                <adec:decorative xmlns:adec="http://schemas.microsoft.com/office/drawing/2017/decorative" val="1"/>
              </a:ext>
            </a:extLst>
          </p:cNvPr>
          <p:cNvSpPr/>
          <p:nvPr/>
        </p:nvSpPr>
        <p:spPr>
          <a:xfrm>
            <a:off x="548640" y="1371600"/>
            <a:ext cx="3611880" cy="3291840"/>
          </a:xfrm>
          <a:prstGeom prst="roundRect">
            <a:avLst>
              <a:gd name="adj" fmla="val 2222"/>
            </a:avLst>
          </a:prstGeom>
          <a:solidFill>
            <a:srgbClr val="FBE4E4"/>
          </a:solidFill>
          <a:ln w="12700">
            <a:solidFill>
              <a:srgbClr val="FBE4E4"/>
            </a:solidFill>
            <a:prstDash val="solid"/>
          </a:ln>
          <a:effectLst>
            <a:outerShdw blurRad="76200" dist="25400" dir="5400000" algn="bl" rotWithShape="0">
              <a:srgbClr val="64748B">
                <a:alpha val="22000"/>
              </a:srgbClr>
            </a:outerShdw>
          </a:effectLst>
        </p:spPr>
      </p:sp>
      <p:sp>
        <p:nvSpPr>
          <p:cNvPr id="6" name="Icon FaScaleBalanced">
            <a:extLst>
              <a:ext uri="{C183D7F6-B498-43B3-948B-1728B52AA6E4}">
                <adec:decorative xmlns:adec="http://schemas.microsoft.com/office/drawing/2017/decorative" val="1"/>
              </a:ext>
            </a:extLst>
          </p:cNvPr>
          <p:cNvSpPr/>
          <p:nvPr/>
        </p:nvSpPr>
        <p:spPr>
          <a:xfrm>
            <a:off x="749808" y="1508760"/>
            <a:ext cx="566928" cy="566928"/>
          </a:xfrm>
          <a:prstGeom prst="ellipse">
            <a:avLst/>
          </a:prstGeom>
          <a:solidFill>
            <a:srgbClr val="B91C1C"/>
          </a:solidFill>
          <a:ln w="12700">
            <a:solidFill>
              <a:srgbClr val="B91C1C"/>
            </a:solidFill>
            <a:prstDash val="solid"/>
          </a:ln>
        </p:spPr>
      </p:sp>
      <p:pic>
        <p:nvPicPr>
          <p:cNvPr id="7" name="Image 0">
            <a:extLst>
              <a:ext uri="{C183D7F6-B498-43B3-948B-1728B52AA6E4}">
                <adec:decorative xmlns:adec="http://schemas.microsoft.com/office/drawing/2017/decorative" val="1"/>
              </a:ext>
            </a:extLst>
          </p:cNvPr>
          <p:cNvPicPr>
            <a:picLocks noChangeAspect="1"/>
          </p:cNvPicPr>
          <p:nvPr/>
        </p:nvPicPr>
        <p:blipFill>
          <a:blip r:embed="rId5"/>
          <a:stretch>
            <a:fillRect/>
          </a:stretch>
        </p:blipFill>
        <p:spPr>
          <a:xfrm>
            <a:off x="885871" y="1644823"/>
            <a:ext cx="294803" cy="294803"/>
          </a:xfrm>
          <a:prstGeom prst="rect">
            <a:avLst/>
          </a:prstGeom>
        </p:spPr>
      </p:pic>
      <p:sp>
        <p:nvSpPr>
          <p:cNvPr id="8" name="Desk head 1"/>
          <p:cNvSpPr txBox="1"/>
          <p:nvPr/>
        </p:nvSpPr>
        <p:spPr>
          <a:xfrm>
            <a:off x="1463040" y="1508760"/>
            <a:ext cx="2560320" cy="566928"/>
          </a:xfrm>
          <a:prstGeom prst="rect">
            <a:avLst/>
          </a:prstGeom>
          <a:noFill/>
          <a:ln/>
        </p:spPr>
        <p:txBody>
          <a:bodyPr wrap="square" lIns="0" tIns="0" rIns="0" bIns="0" rtlCol="0" anchor="ctr"/>
          <a:lstStyle/>
          <a:p>
            <a:pPr marL="0" indent="0">
              <a:buNone/>
            </a:pPr>
            <a:r>
              <a:rPr lang="en-US" sz="1700" b="1" dirty="0">
                <a:solidFill>
                  <a:srgbClr val="B91C1C"/>
                </a:solidFill>
                <a:latin typeface="Cambria" pitchFamily="34" charset="0"/>
                <a:ea typeface="Cambria" pitchFamily="34" charset="-122"/>
                <a:cs typeface="Cambria" pitchFamily="34" charset="-120"/>
              </a:rPr>
              <a:t>Residual risk</a:t>
            </a:r>
            <a:endParaRPr lang="en-US" sz="1700" dirty="0"/>
          </a:p>
        </p:txBody>
      </p:sp>
      <p:sp>
        <p:nvSpPr>
          <p:cNvPr id="9" name="Desk text 1"/>
          <p:cNvSpPr txBox="1"/>
          <p:nvPr/>
        </p:nvSpPr>
        <p:spPr>
          <a:xfrm>
            <a:off x="777240" y="2212848"/>
            <a:ext cx="3200400" cy="2377440"/>
          </a:xfrm>
          <a:prstGeom prst="rect">
            <a:avLst/>
          </a:prstGeom>
          <a:noFill/>
          <a:ln/>
        </p:spPr>
        <p:txBody>
          <a:bodyPr wrap="square" lIns="0" tIns="0" rIns="0" bIns="0" rtlCol="0" anchor="t"/>
          <a:lstStyle/>
          <a:p>
            <a:pPr marL="342900" indent="-342900">
              <a:spcAft>
                <a:spcPts val="600"/>
              </a:spcAft>
              <a:buSzPct val="100000"/>
              <a:buChar char="•"/>
            </a:pPr>
            <a:r>
              <a:rPr lang="en-US" sz="1350" dirty="0">
                <a:solidFill>
                  <a:schemeClr val="tx2"/>
                </a:solidFill>
              </a:rPr>
              <a:t>The plans: security lead and steward</a:t>
            </a:r>
            <a:endParaRPr lang="en-US" sz="1400" dirty="0"/>
          </a:p>
          <a:p>
            <a:pPr marL="342900" indent="-342900">
              <a:spcAft>
                <a:spcPts val="600"/>
              </a:spcAft>
              <a:buSzPct val="100000"/>
              <a:buChar char="•"/>
            </a:pPr>
            <a:r>
              <a:rPr lang="en-US" sz="1350" dirty="0">
                <a:solidFill>
                  <a:schemeClr val="tx2"/>
                </a:solidFill>
              </a:rPr>
              <a:t>Correct: the authorizing official alone</a:t>
            </a:r>
            <a:endParaRPr lang="en-US" sz="1400" dirty="0"/>
          </a:p>
          <a:p>
            <a:pPr marL="342900" indent="-342900">
              <a:spcAft>
                <a:spcPts val="600"/>
              </a:spcAft>
              <a:buSzPct val="100000"/>
              <a:buChar char="•"/>
            </a:pPr>
            <a:r>
              <a:rPr lang="en-US" sz="1350" dirty="0">
                <a:solidFill>
                  <a:schemeClr val="tx2"/>
                </a:solidFill>
              </a:rPr>
              <a:t>Others prepare and recommend</a:t>
            </a:r>
            <a:endParaRPr lang="en-US" sz="1400" dirty="0"/>
          </a:p>
          <a:p>
            <a:pPr marL="342900" indent="-342900">
              <a:spcAft>
                <a:spcPts val="600"/>
              </a:spcAft>
              <a:buSzPct val="100000"/>
              <a:buChar char="•"/>
            </a:pPr>
            <a:r>
              <a:rPr lang="en-US" sz="1350" dirty="0">
                <a:solidFill>
                  <a:schemeClr val="tx2"/>
                </a:solidFill>
              </a:rPr>
              <a:t>Written, with an end date</a:t>
            </a:r>
            <a:endParaRPr lang="en-US" sz="1400" dirty="0"/>
          </a:p>
        </p:txBody>
      </p:sp>
      <p:sp>
        <p:nvSpPr>
          <p:cNvPr id="10" name="Desk card 2">
            <a:extLst>
              <a:ext uri="{C183D7F6-B498-43B3-948B-1728B52AA6E4}">
                <adec:decorative xmlns:adec="http://schemas.microsoft.com/office/drawing/2017/decorative" val="1"/>
              </a:ext>
            </a:extLst>
          </p:cNvPr>
          <p:cNvSpPr/>
          <p:nvPr/>
        </p:nvSpPr>
        <p:spPr>
          <a:xfrm>
            <a:off x="4297680" y="1371600"/>
            <a:ext cx="3611880" cy="3291840"/>
          </a:xfrm>
          <a:prstGeom prst="roundRect">
            <a:avLst>
              <a:gd name="adj" fmla="val 2222"/>
            </a:avLst>
          </a:prstGeom>
          <a:solidFill>
            <a:srgbClr val="E4EAF4"/>
          </a:solidFill>
          <a:ln w="12700">
            <a:solidFill>
              <a:srgbClr val="E4EAF4"/>
            </a:solidFill>
            <a:prstDash val="solid"/>
          </a:ln>
          <a:effectLst>
            <a:outerShdw blurRad="76200" dist="25400" dir="5400000" algn="bl" rotWithShape="0">
              <a:srgbClr val="64748B">
                <a:alpha val="22000"/>
              </a:srgbClr>
            </a:outerShdw>
          </a:effectLst>
        </p:spPr>
      </p:sp>
      <p:sp>
        <p:nvSpPr>
          <p:cNvPr id="11" name="Icon FaLandmark">
            <a:extLst>
              <a:ext uri="{C183D7F6-B498-43B3-948B-1728B52AA6E4}">
                <adec:decorative xmlns:adec="http://schemas.microsoft.com/office/drawing/2017/decorative" val="1"/>
              </a:ext>
            </a:extLst>
          </p:cNvPr>
          <p:cNvSpPr/>
          <p:nvPr/>
        </p:nvSpPr>
        <p:spPr>
          <a:xfrm>
            <a:off x="4498848" y="1508760"/>
            <a:ext cx="566928" cy="566928"/>
          </a:xfrm>
          <a:prstGeom prst="ellipse">
            <a:avLst/>
          </a:prstGeom>
          <a:solidFill>
            <a:srgbClr val="1F2A44"/>
          </a:solidFill>
          <a:ln w="12700">
            <a:solidFill>
              <a:srgbClr val="1F2A44"/>
            </a:solidFill>
            <a:prstDash val="solid"/>
          </a:ln>
        </p:spPr>
      </p:sp>
      <p:pic>
        <p:nvPicPr>
          <p:cNvPr id="12" name="Image 1">
            <a:extLst>
              <a:ext uri="{C183D7F6-B498-43B3-948B-1728B52AA6E4}">
                <adec:decorative xmlns:adec="http://schemas.microsoft.com/office/drawing/2017/decorative" val="1"/>
              </a:ext>
            </a:extLst>
          </p:cNvPr>
          <p:cNvPicPr>
            <a:picLocks noChangeAspect="1"/>
          </p:cNvPicPr>
          <p:nvPr/>
        </p:nvPicPr>
        <p:blipFill>
          <a:blip r:embed="rId6"/>
          <a:stretch>
            <a:fillRect/>
          </a:stretch>
        </p:blipFill>
        <p:spPr>
          <a:xfrm>
            <a:off x="4634911" y="1644823"/>
            <a:ext cx="294803" cy="294803"/>
          </a:xfrm>
          <a:prstGeom prst="rect">
            <a:avLst/>
          </a:prstGeom>
        </p:spPr>
      </p:pic>
      <p:sp>
        <p:nvSpPr>
          <p:cNvPr id="13" name="Desk head 2"/>
          <p:cNvSpPr txBox="1"/>
          <p:nvPr/>
        </p:nvSpPr>
        <p:spPr>
          <a:xfrm>
            <a:off x="5212080" y="1508760"/>
            <a:ext cx="2560320" cy="566928"/>
          </a:xfrm>
          <a:prstGeom prst="rect">
            <a:avLst/>
          </a:prstGeom>
          <a:noFill/>
          <a:ln/>
        </p:spPr>
        <p:txBody>
          <a:bodyPr wrap="square" lIns="0" tIns="0" rIns="0" bIns="0" rtlCol="0" anchor="ctr"/>
          <a:lstStyle/>
          <a:p>
            <a:pPr marL="0" indent="0">
              <a:buNone/>
            </a:pPr>
            <a:r>
              <a:rPr lang="en-US" sz="1700" b="1" dirty="0">
                <a:solidFill>
                  <a:srgbClr val="1F2A44"/>
                </a:solidFill>
                <a:latin typeface="Cambria" pitchFamily="34" charset="0"/>
                <a:ea typeface="Cambria" pitchFamily="34" charset="-122"/>
                <a:cs typeface="Cambria" pitchFamily="34" charset="-120"/>
              </a:rPr>
              <a:t>Budget and licenses</a:t>
            </a:r>
            <a:endParaRPr lang="en-US" sz="1700" dirty="0"/>
          </a:p>
        </p:txBody>
      </p:sp>
      <p:sp>
        <p:nvSpPr>
          <p:cNvPr id="14" name="Desk text 2"/>
          <p:cNvSpPr txBox="1"/>
          <p:nvPr/>
        </p:nvSpPr>
        <p:spPr>
          <a:xfrm>
            <a:off x="4526280" y="2212848"/>
            <a:ext cx="3200400" cy="2377440"/>
          </a:xfrm>
          <a:prstGeom prst="rect">
            <a:avLst/>
          </a:prstGeom>
          <a:noFill/>
          <a:ln/>
        </p:spPr>
        <p:txBody>
          <a:bodyPr wrap="square" lIns="0" tIns="0" rIns="0" bIns="0" rtlCol="0" anchor="t"/>
          <a:lstStyle/>
          <a:p>
            <a:pPr marL="342900" indent="-342900">
              <a:spcAft>
                <a:spcPts val="600"/>
              </a:spcAft>
              <a:buSzPct val="100000"/>
              <a:buChar char="•"/>
            </a:pPr>
            <a:r>
              <a:rPr lang="en-US" sz="1350" dirty="0">
                <a:solidFill>
                  <a:schemeClr val="tx2"/>
                </a:solidFill>
              </a:rPr>
              <a:t>The plans: steward and leadership</a:t>
            </a:r>
            <a:endParaRPr lang="en-US" sz="1400" dirty="0"/>
          </a:p>
          <a:p>
            <a:pPr marL="342900" indent="-342900">
              <a:spcAft>
                <a:spcPts val="600"/>
              </a:spcAft>
              <a:buSzPct val="100000"/>
              <a:buChar char="•"/>
            </a:pPr>
            <a:r>
              <a:rPr lang="en-US" sz="1350" dirty="0">
                <a:solidFill>
                  <a:schemeClr val="tx2"/>
                </a:solidFill>
              </a:rPr>
              <a:t>Correct: the sponsor and CIO</a:t>
            </a:r>
            <a:endParaRPr lang="en-US" sz="1400" dirty="0"/>
          </a:p>
          <a:p>
            <a:pPr marL="342900" indent="-342900">
              <a:spcAft>
                <a:spcPts val="600"/>
              </a:spcAft>
              <a:buSzPct val="100000"/>
              <a:buChar char="•"/>
            </a:pPr>
            <a:r>
              <a:rPr lang="en-US" sz="1350" dirty="0">
                <a:solidFill>
                  <a:schemeClr val="tx2"/>
                </a:solidFill>
              </a:rPr>
              <a:t>The steward prepares the business case</a:t>
            </a:r>
            <a:endParaRPr lang="en-US" sz="1400" dirty="0"/>
          </a:p>
        </p:txBody>
      </p:sp>
      <p:sp>
        <p:nvSpPr>
          <p:cNvPr id="15" name="Desk card 3">
            <a:extLst>
              <a:ext uri="{C183D7F6-B498-43B3-948B-1728B52AA6E4}">
                <adec:decorative xmlns:adec="http://schemas.microsoft.com/office/drawing/2017/decorative" val="1"/>
              </a:ext>
            </a:extLst>
          </p:cNvPr>
          <p:cNvSpPr/>
          <p:nvPr/>
        </p:nvSpPr>
        <p:spPr>
          <a:xfrm>
            <a:off x="8046720" y="1371600"/>
            <a:ext cx="3611880" cy="3291840"/>
          </a:xfrm>
          <a:prstGeom prst="roundRect">
            <a:avLst>
              <a:gd name="adj" fmla="val 2222"/>
            </a:avLst>
          </a:prstGeom>
          <a:solidFill>
            <a:srgbClr val="DCEFEC"/>
          </a:solidFill>
          <a:ln w="12700">
            <a:solidFill>
              <a:srgbClr val="DCEFEC"/>
            </a:solidFill>
            <a:prstDash val="solid"/>
          </a:ln>
          <a:effectLst>
            <a:outerShdw blurRad="76200" dist="25400" dir="5400000" algn="bl" rotWithShape="0">
              <a:srgbClr val="64748B">
                <a:alpha val="22000"/>
              </a:srgbClr>
            </a:outerShdw>
          </a:effectLst>
        </p:spPr>
      </p:sp>
      <p:sp>
        <p:nvSpPr>
          <p:cNvPr id="16" name="Icon FaDoorOpen">
            <a:extLst>
              <a:ext uri="{C183D7F6-B498-43B3-948B-1728B52AA6E4}">
                <adec:decorative xmlns:adec="http://schemas.microsoft.com/office/drawing/2017/decorative" val="1"/>
              </a:ext>
            </a:extLst>
          </p:cNvPr>
          <p:cNvSpPr/>
          <p:nvPr/>
        </p:nvSpPr>
        <p:spPr>
          <a:xfrm>
            <a:off x="8247888" y="1508760"/>
            <a:ext cx="566928" cy="566928"/>
          </a:xfrm>
          <a:prstGeom prst="ellipse">
            <a:avLst/>
          </a:prstGeom>
          <a:solidFill>
            <a:srgbClr val="0F766E"/>
          </a:solidFill>
          <a:ln w="12700">
            <a:solidFill>
              <a:srgbClr val="0F766E"/>
            </a:solidFill>
            <a:prstDash val="solid"/>
          </a:ln>
        </p:spPr>
      </p:sp>
      <p:pic>
        <p:nvPicPr>
          <p:cNvPr id="17" name="Image 2">
            <a:extLst>
              <a:ext uri="{C183D7F6-B498-43B3-948B-1728B52AA6E4}">
                <adec:decorative xmlns:adec="http://schemas.microsoft.com/office/drawing/2017/decorative" val="1"/>
              </a:ext>
            </a:extLst>
          </p:cNvPr>
          <p:cNvPicPr>
            <a:picLocks noChangeAspect="1"/>
          </p:cNvPicPr>
          <p:nvPr/>
        </p:nvPicPr>
        <p:blipFill>
          <a:blip r:embed="rId7"/>
          <a:stretch>
            <a:fillRect/>
          </a:stretch>
        </p:blipFill>
        <p:spPr>
          <a:xfrm>
            <a:off x="8383951" y="1644823"/>
            <a:ext cx="294803" cy="294803"/>
          </a:xfrm>
          <a:prstGeom prst="rect">
            <a:avLst/>
          </a:prstGeom>
        </p:spPr>
      </p:pic>
      <p:sp>
        <p:nvSpPr>
          <p:cNvPr id="18" name="Desk head 3"/>
          <p:cNvSpPr txBox="1"/>
          <p:nvPr/>
        </p:nvSpPr>
        <p:spPr>
          <a:xfrm>
            <a:off x="8961120" y="1508760"/>
            <a:ext cx="2560320" cy="566928"/>
          </a:xfrm>
          <a:prstGeom prst="rect">
            <a:avLst/>
          </a:prstGeom>
          <a:noFill/>
          <a:ln/>
        </p:spPr>
        <p:txBody>
          <a:bodyPr wrap="square" lIns="0" tIns="0" rIns="0" bIns="0" rtlCol="0" anchor="ctr"/>
          <a:lstStyle/>
          <a:p>
            <a:pPr marL="0" indent="0">
              <a:buNone/>
            </a:pPr>
            <a:r>
              <a:rPr lang="en-US" sz="1700" b="1" dirty="0">
                <a:solidFill>
                  <a:srgbClr val="0F766E"/>
                </a:solidFill>
                <a:latin typeface="Cambria" pitchFamily="34" charset="0"/>
                <a:ea typeface="Cambria" pitchFamily="34" charset="-122"/>
                <a:cs typeface="Cambria" pitchFamily="34" charset="-120"/>
              </a:rPr>
              <a:t>Gate decisions</a:t>
            </a:r>
            <a:endParaRPr lang="en-US" sz="1700" dirty="0"/>
          </a:p>
        </p:txBody>
      </p:sp>
      <p:sp>
        <p:nvSpPr>
          <p:cNvPr id="19" name="Desk text 3"/>
          <p:cNvSpPr txBox="1"/>
          <p:nvPr/>
        </p:nvSpPr>
        <p:spPr>
          <a:xfrm>
            <a:off x="8275320" y="2212848"/>
            <a:ext cx="3200400" cy="2377440"/>
          </a:xfrm>
          <a:prstGeom prst="rect">
            <a:avLst/>
          </a:prstGeom>
          <a:noFill/>
          <a:ln/>
        </p:spPr>
        <p:txBody>
          <a:bodyPr wrap="square" lIns="0" tIns="0" rIns="0" bIns="0" rtlCol="0" anchor="t"/>
          <a:lstStyle/>
          <a:p>
            <a:pPr marL="342900" indent="-342900">
              <a:spcAft>
                <a:spcPts val="600"/>
              </a:spcAft>
              <a:buSzPct val="100000"/>
              <a:buChar char="•"/>
            </a:pPr>
            <a:r>
              <a:rPr lang="en-US" sz="1350" dirty="0">
                <a:solidFill>
                  <a:schemeClr val="tx2"/>
                </a:solidFill>
              </a:rPr>
              <a:t>The plans: the steward signs every gate</a:t>
            </a:r>
            <a:endParaRPr lang="en-US" sz="1400" dirty="0"/>
          </a:p>
          <a:p>
            <a:pPr marL="342900" indent="-342900">
              <a:spcAft>
                <a:spcPts val="600"/>
              </a:spcAft>
              <a:buSzPct val="100000"/>
              <a:buChar char="•"/>
            </a:pPr>
            <a:r>
              <a:rPr lang="en-US" sz="1350" dirty="0">
                <a:solidFill>
                  <a:schemeClr val="tx2"/>
                </a:solidFill>
              </a:rPr>
              <a:t>Correct: spread by what each gate ends</a:t>
            </a:r>
            <a:endParaRPr lang="en-US" sz="1400" dirty="0"/>
          </a:p>
          <a:p>
            <a:pPr marL="342900" indent="-342900">
              <a:spcAft>
                <a:spcPts val="600"/>
              </a:spcAft>
              <a:buSzPct val="100000"/>
              <a:buChar char="•"/>
            </a:pPr>
            <a:r>
              <a:rPr lang="en-US" sz="1350" dirty="0">
                <a:solidFill>
                  <a:schemeClr val="tx2"/>
                </a:solidFill>
              </a:rPr>
              <a:t>G2, G3 and G5 are joint decisions</a:t>
            </a:r>
            <a:endParaRPr lang="en-US" sz="1400" dirty="0"/>
          </a:p>
        </p:txBody>
      </p:sp>
      <p:sp>
        <p:nvSpPr>
          <p:cNvPr id="20" name="Decision bar">
            <a:extLst>
              <a:ext uri="{C183D7F6-B498-43B3-948B-1728B52AA6E4}">
                <adec:decorative xmlns:adec="http://schemas.microsoft.com/office/drawing/2017/decorative" val="1"/>
              </a:ext>
            </a:extLst>
          </p:cNvPr>
          <p:cNvSpPr/>
          <p:nvPr/>
        </p:nvSpPr>
        <p:spPr>
          <a:xfrm>
            <a:off x="548640" y="4800600"/>
            <a:ext cx="11109960" cy="1143000"/>
          </a:xfrm>
          <a:prstGeom prst="roundRect">
            <a:avLst>
              <a:gd name="adj" fmla="val 6400"/>
            </a:avLst>
          </a:prstGeom>
          <a:solidFill>
            <a:srgbClr val="FFFFFF"/>
          </a:solidFill>
          <a:ln w="12700">
            <a:solidFill>
              <a:srgbClr val="B45309"/>
            </a:solidFill>
            <a:prstDash val="solid"/>
          </a:ln>
          <a:effectLst>
            <a:outerShdw blurRad="76200" dist="25400" dir="5400000" algn="bl" rotWithShape="0">
              <a:srgbClr val="64748B">
                <a:alpha val="22000"/>
              </a:srgbClr>
            </a:outerShdw>
          </a:effectLst>
        </p:spPr>
      </p:sp>
      <p:sp>
        <p:nvSpPr>
          <p:cNvPr id="21" name="Icon FaScaleBalanced">
            <a:extLst>
              <a:ext uri="{C183D7F6-B498-43B3-948B-1728B52AA6E4}">
                <adec:decorative xmlns:adec="http://schemas.microsoft.com/office/drawing/2017/decorative" val="1"/>
              </a:ext>
            </a:extLst>
          </p:cNvPr>
          <p:cNvSpPr/>
          <p:nvPr/>
        </p:nvSpPr>
        <p:spPr>
          <a:xfrm>
            <a:off x="749808" y="5047488"/>
            <a:ext cx="640080" cy="640080"/>
          </a:xfrm>
          <a:prstGeom prst="ellipse">
            <a:avLst/>
          </a:prstGeom>
          <a:solidFill>
            <a:srgbClr val="B45309"/>
          </a:solidFill>
          <a:ln w="12700">
            <a:solidFill>
              <a:srgbClr val="B45309"/>
            </a:solidFill>
            <a:prstDash val="solid"/>
          </a:ln>
        </p:spPr>
      </p:sp>
      <p:pic>
        <p:nvPicPr>
          <p:cNvPr id="22" name="Image 3">
            <a:extLst>
              <a:ext uri="{C183D7F6-B498-43B3-948B-1728B52AA6E4}">
                <adec:decorative xmlns:adec="http://schemas.microsoft.com/office/drawing/2017/decorative" val="1"/>
              </a:ext>
            </a:extLst>
          </p:cNvPr>
          <p:cNvPicPr>
            <a:picLocks noChangeAspect="1"/>
          </p:cNvPicPr>
          <p:nvPr/>
        </p:nvPicPr>
        <p:blipFill>
          <a:blip r:embed="rId5"/>
          <a:stretch>
            <a:fillRect/>
          </a:stretch>
        </p:blipFill>
        <p:spPr>
          <a:xfrm>
            <a:off x="903427" y="5201107"/>
            <a:ext cx="332842" cy="332842"/>
          </a:xfrm>
          <a:prstGeom prst="rect">
            <a:avLst/>
          </a:prstGeom>
        </p:spPr>
      </p:pic>
      <p:sp>
        <p:nvSpPr>
          <p:cNvPr id="23" name="Decision"/>
          <p:cNvSpPr txBox="1"/>
          <p:nvPr/>
        </p:nvSpPr>
        <p:spPr>
          <a:xfrm>
            <a:off x="1600200" y="4873752"/>
            <a:ext cx="5806440" cy="996696"/>
          </a:xfrm>
          <a:prstGeom prst="rect">
            <a:avLst/>
          </a:prstGeom>
          <a:noFill/>
          <a:ln/>
        </p:spPr>
        <p:txBody>
          <a:bodyPr wrap="square" lIns="0" tIns="0" rIns="0" bIns="0" rtlCol="0" anchor="ctr"/>
          <a:lstStyle/>
          <a:p>
            <a:pPr marL="0" indent="0">
              <a:buNone/>
            </a:pPr>
            <a:r>
              <a:rPr lang="en-US" sz="1100" b="1" kern="0" spc="100" dirty="0">
                <a:solidFill>
                  <a:srgbClr val="B45309"/>
                </a:solidFill>
              </a:rPr>
              <a:t>DECISION</a:t>
            </a:r>
            <a:endParaRPr lang="en-US" sz="1400" dirty="0"/>
          </a:p>
          <a:p>
            <a:pPr marL="0" indent="0">
              <a:buNone/>
            </a:pPr>
            <a:r>
              <a:rPr lang="en-US" sz="1400" dirty="0">
                <a:solidFill>
                  <a:srgbClr val="334155"/>
                </a:solidFill>
              </a:rPr>
              <a:t>Keep the authorizing official outside the program office, and take every risk acceptance to the AO in writing, with an end date</a:t>
            </a:r>
            <a:endParaRPr lang="en-US" sz="1400" dirty="0"/>
          </a:p>
        </p:txBody>
      </p:sp>
      <p:sp>
        <p:nvSpPr>
          <p:cNvPr id="24" name="Owner"/>
          <p:cNvSpPr txBox="1"/>
          <p:nvPr/>
        </p:nvSpPr>
        <p:spPr>
          <a:xfrm>
            <a:off x="7589520" y="4873752"/>
            <a:ext cx="2103120" cy="996696"/>
          </a:xfrm>
          <a:prstGeom prst="rect">
            <a:avLst/>
          </a:prstGeom>
          <a:noFill/>
          <a:ln/>
        </p:spPr>
        <p:txBody>
          <a:bodyPr wrap="square" lIns="0" tIns="0" rIns="0" bIns="0" rtlCol="0" anchor="ctr"/>
          <a:lstStyle/>
          <a:p>
            <a:pPr marL="0" indent="0">
              <a:buNone/>
            </a:pPr>
            <a:r>
              <a:rPr lang="en-US" sz="1100" b="1" kern="0" spc="100" dirty="0">
                <a:solidFill>
                  <a:srgbClr val="0F766E"/>
                </a:solidFill>
              </a:rPr>
              <a:t>OWNER</a:t>
            </a:r>
            <a:endParaRPr lang="en-US" sz="1400" dirty="0"/>
          </a:p>
          <a:p>
            <a:pPr marL="0" indent="0">
              <a:buNone/>
            </a:pPr>
            <a:r>
              <a:rPr lang="en-US" sz="1400" dirty="0">
                <a:solidFill>
                  <a:srgbClr val="334155"/>
                </a:solidFill>
              </a:rPr>
              <a:t>Authorizing official</a:t>
            </a:r>
            <a:endParaRPr lang="en-US" sz="1400" dirty="0"/>
          </a:p>
        </p:txBody>
      </p:sp>
      <p:sp>
        <p:nvSpPr>
          <p:cNvPr id="25" name="When"/>
          <p:cNvSpPr txBox="1"/>
          <p:nvPr/>
        </p:nvSpPr>
        <p:spPr>
          <a:xfrm>
            <a:off x="9784080" y="4873752"/>
            <a:ext cx="1783080" cy="996696"/>
          </a:xfrm>
          <a:prstGeom prst="rect">
            <a:avLst/>
          </a:prstGeom>
          <a:noFill/>
          <a:ln/>
        </p:spPr>
        <p:txBody>
          <a:bodyPr wrap="square" lIns="0" tIns="0" rIns="0" bIns="0" rtlCol="0" anchor="ctr"/>
          <a:lstStyle/>
          <a:p>
            <a:pPr marL="0" indent="0">
              <a:buNone/>
            </a:pPr>
            <a:r>
              <a:rPr lang="en-US" sz="1100" b="1" kern="0" spc="100" dirty="0">
                <a:solidFill>
                  <a:srgbClr val="1F2A44"/>
                </a:solidFill>
              </a:rPr>
              <a:t>NEEDED BY</a:t>
            </a:r>
            <a:endParaRPr lang="en-US" sz="1400" dirty="0"/>
          </a:p>
          <a:p>
            <a:pPr marL="0" indent="0">
              <a:buNone/>
            </a:pPr>
            <a:r>
              <a:rPr lang="en-US" sz="1400" dirty="0">
                <a:solidFill>
                  <a:srgbClr val="334155"/>
                </a:solidFill>
              </a:rPr>
              <a:t>From G0 onward</a:t>
            </a:r>
            <a:endParaRPr lang="en-US" sz="1400" dirty="0"/>
          </a:p>
        </p:txBody>
      </p:sp>
      <p:sp>
        <p:nvSpPr>
          <p:cNvPr id="26" name="Sources"/>
          <p:cNvSpPr txBox="1"/>
          <p:nvPr/>
        </p:nvSpPr>
        <p:spPr>
          <a:xfrm>
            <a:off x="548640" y="6053328"/>
            <a:ext cx="10424160" cy="292608"/>
          </a:xfrm>
          <a:prstGeom prst="rect">
            <a:avLst/>
          </a:prstGeom>
          <a:noFill/>
          <a:ln/>
        </p:spPr>
        <p:txBody>
          <a:bodyPr wrap="square" lIns="0" tIns="0" rIns="0" bIns="0" rtlCol="0" anchor="t"/>
          <a:lstStyle/>
          <a:p>
            <a:pPr marL="0" indent="0">
              <a:buNone/>
            </a:pPr>
            <a:r>
              <a:rPr lang="en-US" sz="1000" i="1" dirty="0">
                <a:solidFill>
                  <a:srgbClr val="64748B"/>
                </a:solidFill>
              </a:rPr>
              <a:t>Sources: NIST SP 800-37 Rev. 2, Appendix D (authorizing official; conflicts of interest). Book 00, Chapter 07 (Who decides what; Keeping the roles apart); Chapter 08; Appendix A.</a:t>
            </a:r>
            <a:endParaRPr lang="en-US" sz="1000" dirty="0"/>
          </a:p>
        </p:txBody>
      </p:sp>
      <p:sp>
        <p:nvSpPr>
          <p:cNvPr id="27"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13</a:t>
            </a:fld>
            <a:endParaRPr lang="en-US"/>
          </a:p>
        </p:txBody>
      </p:sp>
      <p:pic>
        <p:nvPicPr>
          <p:cNvPr id="28" name="Narration" descr="Narration for this slide; captions available">
            <a:hlinkClick r:id="" action="ppaction://media"/>
            <a:extLst>
              <a:ext uri="{FF2B5EF4-FFF2-40B4-BE49-F238E27FC236}">
                <a16:creationId xmlns:a16="http://schemas.microsoft.com/office/drawing/2014/main" id="{7FB04A17-D88E-EC56-B2C5-76381719E9AA}"/>
              </a:ext>
            </a:extLst>
          </p:cNvPr>
          <p:cNvPicPr>
            <a:picLocks noChangeAspect="1"/>
          </p:cNvPicPr>
          <p:nvPr>
            <a:audioFile r:link="rId2"/>
            <p:extLst>
              <p:ext uri="{DAA4B4D4-6D71-4841-9C94-3DE7FCFB9230}">
                <p14:media xmlns:p14="http://schemas.microsoft.com/office/powerpoint/2010/main" r:embed="rId1">
                  <p14:extLst>
                    <p:ext uri="{3AFAAA56-56D3-431D-BCD4-E75A35582382}">
                      <p173:tracksInfo xmlns:p173="http://schemas.microsoft.com/office/powerpoint/2017/3/main" displayLoc="slide">
                        <p173:trackLst>
                          <p173:track id="{1B5744AB-94E1-4239-9A8B-6981215247D3}" label="English (captions)" lang="en-US" r:embed="rId9"/>
                        </p173:trackLst>
                      </p173:tracksInfo>
                    </p:ext>
                  </p14:extLst>
                </p14:media>
              </p:ext>
            </p:extLst>
          </p:nvPr>
        </p:nvPicPr>
        <p:blipFill>
          <a:blip r:embed="rId8"/>
          <a:stretch>
            <a:fillRect/>
          </a:stretch>
        </p:blipFill>
        <p:spPr>
          <a:xfrm>
            <a:off x="127000" y="6350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68680"/>
    </mc:Choice>
    <mc:Fallback>
      <p:transition spd="slow" advTm="6868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64680" fill="hold"/>
                                        <p:tgtEl>
                                          <p:spTgt spid="28"/>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57200"/>
            <a:ext cx="11064240" cy="777240"/>
          </a:xfrm>
          <a:prstGeom prst="rect">
            <a:avLst/>
          </a:prstGeom>
          <a:noFill/>
          <a:ln/>
        </p:spPr>
        <p:txBody>
          <a:bodyPr wrap="square" lIns="0" tIns="0" rIns="0" bIns="0" rtlCol="0" anchor="ctr"/>
          <a:lstStyle/>
          <a:p>
            <a:pPr marL="0" indent="0" algn="ctr">
              <a:buNone/>
            </a:pPr>
            <a:r>
              <a:rPr lang="en-US" sz="3000" b="1" dirty="0">
                <a:solidFill>
                  <a:schemeClr val="tx1"/>
                </a:solidFill>
                <a:latin typeface="Cambria" pitchFamily="34" charset="0"/>
                <a:ea typeface="Cambria" pitchFamily="34" charset="-122"/>
                <a:cs typeface="Cambria" pitchFamily="34" charset="-120"/>
              </a:rPr>
              <a:t>The people the program needs, and its rhythm</a:t>
            </a:r>
            <a:endParaRPr lang="en-US" sz="3000" dirty="0"/>
          </a:p>
        </p:txBody>
      </p:sp>
      <p:sp>
        <p:nvSpPr>
          <p:cNvPr id="3" name="Tag Who">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0F766E"/>
          </a:solidFill>
          <a:ln w="12700">
            <a:solidFill>
              <a:srgbClr val="0F766E"/>
            </a:solidFill>
            <a:prstDash val="solid"/>
          </a:ln>
        </p:spPr>
      </p:sp>
      <p:sp>
        <p:nvSpPr>
          <p:cNvPr id="4" name="Tag Who text"/>
          <p:cNvSpPr txBox="1"/>
          <p:nvPr/>
        </p:nvSpPr>
        <p:spPr>
          <a:xfrm>
            <a:off x="548640" y="109728"/>
            <a:ext cx="868680" cy="292608"/>
          </a:xfrm>
          <a:prstGeom prst="rect">
            <a:avLst/>
          </a:prstGeom>
          <a:noFill/>
          <a:ln/>
        </p:spPr>
        <p:txBody>
          <a:bodyPr wrap="square" lIns="0" tIns="0" rIns="0" bIns="0" rtlCol="0" anchor="ctr"/>
          <a:lstStyle/>
          <a:p>
            <a:pPr marL="0" indent="0" algn="ctr">
              <a:buNone/>
            </a:pPr>
            <a:r>
              <a:rPr lang="en-US" sz="1100" b="1" kern="0" spc="100" dirty="0">
                <a:solidFill>
                  <a:srgbClr val="FFFFFF"/>
                </a:solidFill>
              </a:rPr>
              <a:t>WHO</a:t>
            </a:r>
            <a:endParaRPr lang="en-US" sz="1100" dirty="0"/>
          </a:p>
        </p:txBody>
      </p:sp>
      <p:graphicFrame>
        <p:nvGraphicFramePr>
          <p:cNvPr id="15" name="Table 0"/>
          <p:cNvGraphicFramePr>
            <a:graphicFrameLocks noGrp="1"/>
          </p:cNvGraphicFramePr>
          <p:nvPr>
            <p:extLst>
              <p:ext uri="{D42A27DB-BD31-4B8C-83A1-F6EECF244321}">
                <p14:modId xmlns:p14="http://schemas.microsoft.com/office/powerpoint/2010/main" val="1579011935"/>
              </p:ext>
            </p:extLst>
          </p:nvPr>
        </p:nvGraphicFramePr>
        <p:xfrm>
          <a:off x="548640" y="1371600"/>
          <a:ext cx="9144000" cy="914400"/>
        </p:xfrm>
        <a:graphic>
          <a:graphicData uri="http://schemas.openxmlformats.org/drawingml/2006/table">
            <a:tbl>
              <a:tblPr firstRow="1" bandRow="1"/>
              <a:tblGrid>
                <a:gridCol w="2194560">
                  <a:extLst>
                    <a:ext uri="{9D8B030D-6E8A-4147-A177-3AD203B41FA5}">
                      <a16:colId xmlns:a16="http://schemas.microsoft.com/office/drawing/2014/main" val="20000"/>
                    </a:ext>
                  </a:extLst>
                </a:gridCol>
                <a:gridCol w="1005840">
                  <a:extLst>
                    <a:ext uri="{9D8B030D-6E8A-4147-A177-3AD203B41FA5}">
                      <a16:colId xmlns:a16="http://schemas.microsoft.com/office/drawing/2014/main" val="20001"/>
                    </a:ext>
                  </a:extLst>
                </a:gridCol>
                <a:gridCol w="3108960">
                  <a:extLst>
                    <a:ext uri="{9D8B030D-6E8A-4147-A177-3AD203B41FA5}">
                      <a16:colId xmlns:a16="http://schemas.microsoft.com/office/drawing/2014/main" val="20002"/>
                    </a:ext>
                  </a:extLst>
                </a:gridCol>
              </a:tblGrid>
              <a:tr h="347472">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Role (illustrative)</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FTE</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Engaged</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extLst>
                  <a:ext uri="{0D108BD9-81ED-4DB2-BD59-A6C34878D82A}">
                    <a16:rowId xmlns:a16="http://schemas.microsoft.com/office/drawing/2014/main" val="10000"/>
                  </a:ext>
                </a:extLst>
              </a:tr>
              <a:tr h="411480">
                <a:tc>
                  <a:txBody>
                    <a:bodyPr/>
                    <a:lstStyle/>
                    <a:p>
                      <a:pPr marL="0" indent="0">
                        <a:buNone/>
                      </a:pPr>
                      <a:r>
                        <a:rPr lang="en-US" sz="1200" b="1" dirty="0">
                          <a:solidFill>
                            <a:srgbClr val="1F2A44"/>
                          </a:solidFill>
                          <a:latin typeface="Calibri" pitchFamily="34" charset="0"/>
                          <a:ea typeface="Calibri" pitchFamily="34" charset="-122"/>
                          <a:cs typeface="Calibri" pitchFamily="34" charset="-120"/>
                        </a:rPr>
                        <a:t>Steward</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0.5</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Throughout, and ongoing</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411480">
                <a:tc>
                  <a:txBody>
                    <a:bodyPr/>
                    <a:lstStyle/>
                    <a:p>
                      <a:pPr marL="0" indent="0">
                        <a:buNone/>
                      </a:pPr>
                      <a:r>
                        <a:rPr lang="en-US" sz="1200" b="1" dirty="0">
                          <a:solidFill>
                            <a:srgbClr val="1F2A44"/>
                          </a:solidFill>
                          <a:latin typeface="Calibri" pitchFamily="34" charset="0"/>
                          <a:ea typeface="Calibri" pitchFamily="34" charset="-122"/>
                          <a:cs typeface="Calibri" pitchFamily="34" charset="-120"/>
                        </a:rPr>
                        <a:t>Infrastructure lead</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1.0</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Pre-flight to legacy retirement</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411480">
                <a:tc>
                  <a:txBody>
                    <a:bodyPr/>
                    <a:lstStyle/>
                    <a:p>
                      <a:pPr marL="0" indent="0">
                        <a:buNone/>
                      </a:pPr>
                      <a:r>
                        <a:rPr lang="en-US" sz="1200" b="1" dirty="0">
                          <a:solidFill>
                            <a:srgbClr val="1F2A44"/>
                          </a:solidFill>
                          <a:latin typeface="Calibri" pitchFamily="34" charset="0"/>
                          <a:ea typeface="Calibri" pitchFamily="34" charset="-122"/>
                          <a:cs typeface="Calibri" pitchFamily="34" charset="-120"/>
                        </a:rPr>
                        <a:t>Identity lead</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1.0</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Assessment to legacy retirement</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411480">
                <a:tc>
                  <a:txBody>
                    <a:bodyPr/>
                    <a:lstStyle/>
                    <a:p>
                      <a:pPr marL="0" indent="0">
                        <a:buNone/>
                      </a:pPr>
                      <a:r>
                        <a:rPr lang="en-US" sz="1200" b="1" dirty="0">
                          <a:solidFill>
                            <a:srgbClr val="1F2A44"/>
                          </a:solidFill>
                          <a:latin typeface="Calibri" pitchFamily="34" charset="0"/>
                          <a:ea typeface="Calibri" pitchFamily="34" charset="-122"/>
                          <a:cs typeface="Calibri" pitchFamily="34" charset="-120"/>
                        </a:rPr>
                        <a:t>Endpoint lead</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1.0</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Foundation to legacy retirement</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411480">
                <a:tc>
                  <a:txBody>
                    <a:bodyPr/>
                    <a:lstStyle/>
                    <a:p>
                      <a:pPr marL="0" indent="0">
                        <a:buNone/>
                      </a:pPr>
                      <a:r>
                        <a:rPr lang="en-US" sz="1200" b="1" dirty="0">
                          <a:solidFill>
                            <a:srgbClr val="1F2A44"/>
                          </a:solidFill>
                          <a:latin typeface="Calibri" pitchFamily="34" charset="0"/>
                          <a:ea typeface="Calibri" pitchFamily="34" charset="-122"/>
                          <a:cs typeface="Calibri" pitchFamily="34" charset="-120"/>
                        </a:rPr>
                        <a:t>DNS and PKI leads</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0.5 each</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Assessment to legacy retirement</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411480">
                <a:tc>
                  <a:txBody>
                    <a:bodyPr/>
                    <a:lstStyle/>
                    <a:p>
                      <a:pPr marL="0" indent="0">
                        <a:buNone/>
                      </a:pPr>
                      <a:r>
                        <a:rPr lang="en-US" sz="1200" b="1" dirty="0">
                          <a:solidFill>
                            <a:srgbClr val="1F2A44"/>
                          </a:solidFill>
                          <a:latin typeface="Calibri" pitchFamily="34" charset="0"/>
                          <a:ea typeface="Calibri" pitchFamily="34" charset="-122"/>
                          <a:cs typeface="Calibri" pitchFamily="34" charset="-120"/>
                        </a:rPr>
                        <a:t>Security lead</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0.5</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Assessment into steady state</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6"/>
                  </a:ext>
                </a:extLst>
              </a:tr>
              <a:tr h="411480">
                <a:tc>
                  <a:txBody>
                    <a:bodyPr/>
                    <a:lstStyle/>
                    <a:p>
                      <a:pPr marL="0" indent="0">
                        <a:buNone/>
                      </a:pPr>
                      <a:r>
                        <a:rPr lang="en-US" sz="1200" b="1" dirty="0">
                          <a:solidFill>
                            <a:srgbClr val="1F2A44"/>
                          </a:solidFill>
                          <a:latin typeface="Calibri" pitchFamily="34" charset="0"/>
                          <a:ea typeface="Calibri" pitchFamily="34" charset="-122"/>
                          <a:cs typeface="Calibri" pitchFamily="34" charset="-120"/>
                        </a:rPr>
                        <a:t>Project manager</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0.5</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Throughout</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7"/>
                  </a:ext>
                </a:extLst>
              </a:tr>
            </a:tbl>
          </a:graphicData>
        </a:graphic>
      </p:graphicFrame>
      <p:sp>
        <p:nvSpPr>
          <p:cNvPr id="6" name="Beyond box">
            <a:extLst>
              <a:ext uri="{C183D7F6-B498-43B3-948B-1728B52AA6E4}">
                <adec:decorative xmlns:adec="http://schemas.microsoft.com/office/drawing/2017/decorative" val="1"/>
              </a:ext>
            </a:extLst>
          </p:cNvPr>
          <p:cNvSpPr/>
          <p:nvPr/>
        </p:nvSpPr>
        <p:spPr>
          <a:xfrm>
            <a:off x="7086600" y="1371600"/>
            <a:ext cx="4572000" cy="3291840"/>
          </a:xfrm>
          <a:prstGeom prst="roundRect">
            <a:avLst>
              <a:gd name="adj" fmla="val 2222"/>
            </a:avLst>
          </a:prstGeom>
          <a:solidFill>
            <a:srgbClr val="DCEFEC"/>
          </a:solidFill>
          <a:ln w="12700">
            <a:solidFill>
              <a:srgbClr val="DCEFEC"/>
            </a:solidFill>
            <a:prstDash val="solid"/>
          </a:ln>
          <a:effectLst>
            <a:outerShdw blurRad="76200" dist="25400" dir="5400000" algn="bl" rotWithShape="0">
              <a:srgbClr val="64748B">
                <a:alpha val="22000"/>
              </a:srgbClr>
            </a:outerShdw>
          </a:effectLst>
        </p:spPr>
      </p:sp>
      <p:sp>
        <p:nvSpPr>
          <p:cNvPr id="7" name="Icon FaUsersGear">
            <a:extLst>
              <a:ext uri="{C183D7F6-B498-43B3-948B-1728B52AA6E4}">
                <adec:decorative xmlns:adec="http://schemas.microsoft.com/office/drawing/2017/decorative" val="1"/>
              </a:ext>
            </a:extLst>
          </p:cNvPr>
          <p:cNvSpPr/>
          <p:nvPr/>
        </p:nvSpPr>
        <p:spPr>
          <a:xfrm>
            <a:off x="7315200" y="1517904"/>
            <a:ext cx="548640" cy="548640"/>
          </a:xfrm>
          <a:prstGeom prst="ellipse">
            <a:avLst/>
          </a:prstGeom>
          <a:solidFill>
            <a:srgbClr val="0F766E"/>
          </a:solidFill>
          <a:ln w="12700">
            <a:solidFill>
              <a:srgbClr val="0F766E"/>
            </a:solidFill>
            <a:prstDash val="solid"/>
          </a:ln>
        </p:spPr>
      </p:sp>
      <p:pic>
        <p:nvPicPr>
          <p:cNvPr id="8" name="Image 0">
            <a:extLst>
              <a:ext uri="{C183D7F6-B498-43B3-948B-1728B52AA6E4}">
                <adec:decorative xmlns:adec="http://schemas.microsoft.com/office/drawing/2017/decorative" val="1"/>
              </a:ext>
            </a:extLst>
          </p:cNvPr>
          <p:cNvPicPr>
            <a:picLocks noChangeAspect="1"/>
          </p:cNvPicPr>
          <p:nvPr/>
        </p:nvPicPr>
        <p:blipFill>
          <a:blip r:embed="rId5"/>
          <a:stretch>
            <a:fillRect/>
          </a:stretch>
        </p:blipFill>
        <p:spPr>
          <a:xfrm>
            <a:off x="7446874" y="1649578"/>
            <a:ext cx="285293" cy="285293"/>
          </a:xfrm>
          <a:prstGeom prst="rect">
            <a:avLst/>
          </a:prstGeom>
        </p:spPr>
      </p:pic>
      <p:sp>
        <p:nvSpPr>
          <p:cNvPr id="9" name="Beyond head"/>
          <p:cNvSpPr txBox="1"/>
          <p:nvPr/>
        </p:nvSpPr>
        <p:spPr>
          <a:xfrm>
            <a:off x="8001000" y="1517904"/>
            <a:ext cx="3566160" cy="548640"/>
          </a:xfrm>
          <a:prstGeom prst="rect">
            <a:avLst/>
          </a:prstGeom>
          <a:noFill/>
          <a:ln/>
        </p:spPr>
        <p:txBody>
          <a:bodyPr wrap="square" lIns="0" tIns="0" rIns="0" bIns="0" rtlCol="0" anchor="ctr"/>
          <a:lstStyle/>
          <a:p>
            <a:pPr marL="0" indent="0">
              <a:buNone/>
            </a:pPr>
            <a:r>
              <a:rPr lang="en-US" sz="1700" b="1" dirty="0">
                <a:solidFill>
                  <a:srgbClr val="0F766E"/>
                </a:solidFill>
                <a:latin typeface="Cambria" pitchFamily="34" charset="0"/>
                <a:ea typeface="Cambria" pitchFamily="34" charset="-122"/>
                <a:cs typeface="Cambria" pitchFamily="34" charset="-120"/>
              </a:rPr>
              <a:t>Outside the 5.5-FTE core</a:t>
            </a:r>
            <a:endParaRPr lang="en-US" sz="1700" dirty="0"/>
          </a:p>
        </p:txBody>
      </p:sp>
      <p:sp>
        <p:nvSpPr>
          <p:cNvPr id="10" name="Beyond list"/>
          <p:cNvSpPr txBox="1"/>
          <p:nvPr/>
        </p:nvSpPr>
        <p:spPr>
          <a:xfrm>
            <a:off x="7315200" y="2194560"/>
            <a:ext cx="4206240" cy="2395728"/>
          </a:xfrm>
          <a:prstGeom prst="rect">
            <a:avLst/>
          </a:prstGeom>
          <a:noFill/>
          <a:ln/>
        </p:spPr>
        <p:txBody>
          <a:bodyPr wrap="square" lIns="0" tIns="0" rIns="0" bIns="0" rtlCol="0" anchor="t"/>
          <a:lstStyle/>
          <a:p>
            <a:pPr marL="342900" indent="-342900">
              <a:spcAft>
                <a:spcPts val="600"/>
              </a:spcAft>
              <a:buSzPct val="100000"/>
              <a:buChar char="•"/>
            </a:pPr>
            <a:r>
              <a:rPr lang="en-US" sz="1350" dirty="0">
                <a:solidFill>
                  <a:schemeClr val="tx2"/>
                </a:solidFill>
              </a:rPr>
              <a:t>Application owners for every app that moves</a:t>
            </a:r>
            <a:endParaRPr lang="en-US" sz="1400" dirty="0"/>
          </a:p>
          <a:p>
            <a:pPr marL="342900" indent="-342900">
              <a:spcAft>
                <a:spcPts val="600"/>
              </a:spcAft>
              <a:buSzPct val="100000"/>
              <a:buChar char="•"/>
            </a:pPr>
            <a:r>
              <a:rPr lang="en-US" sz="1350" dirty="0">
                <a:solidFill>
                  <a:schemeClr val="tx2"/>
                </a:solidFill>
              </a:rPr>
              <a:t>Help desk capacity for every wave</a:t>
            </a:r>
            <a:endParaRPr lang="en-US" sz="1400" dirty="0"/>
          </a:p>
          <a:p>
            <a:pPr marL="342900" indent="-342900">
              <a:spcAft>
                <a:spcPts val="600"/>
              </a:spcAft>
              <a:buSzPct val="100000"/>
              <a:buChar char="•"/>
            </a:pPr>
            <a:r>
              <a:rPr lang="en-US" sz="1350" dirty="0">
                <a:solidFill>
                  <a:schemeClr val="tx2"/>
                </a:solidFill>
              </a:rPr>
              <a:t>HR, contractor-source, records and privacy owners</a:t>
            </a:r>
            <a:endParaRPr lang="en-US" sz="1400" dirty="0"/>
          </a:p>
          <a:p>
            <a:pPr marL="342900" indent="-342900">
              <a:spcAft>
                <a:spcPts val="600"/>
              </a:spcAft>
              <a:buSzPct val="100000"/>
              <a:buChar char="•"/>
            </a:pPr>
            <a:r>
              <a:rPr lang="en-US" sz="1350" dirty="0">
                <a:solidFill>
                  <a:schemeClr val="tx2"/>
                </a:solidFill>
              </a:rPr>
              <a:t>CISO and AO time; two red weeks go to the sponsor</a:t>
            </a:r>
            <a:endParaRPr lang="en-US" sz="1400" dirty="0"/>
          </a:p>
        </p:txBody>
      </p:sp>
      <p:sp>
        <p:nvSpPr>
          <p:cNvPr id="11" name="Decision bar">
            <a:extLst>
              <a:ext uri="{C183D7F6-B498-43B3-948B-1728B52AA6E4}">
                <adec:decorative xmlns:adec="http://schemas.microsoft.com/office/drawing/2017/decorative" val="1"/>
              </a:ext>
            </a:extLst>
          </p:cNvPr>
          <p:cNvSpPr/>
          <p:nvPr/>
        </p:nvSpPr>
        <p:spPr>
          <a:xfrm>
            <a:off x="548640" y="4800600"/>
            <a:ext cx="11109960" cy="1143000"/>
          </a:xfrm>
          <a:prstGeom prst="roundRect">
            <a:avLst>
              <a:gd name="adj" fmla="val 6400"/>
            </a:avLst>
          </a:prstGeom>
          <a:solidFill>
            <a:srgbClr val="FFFFFF"/>
          </a:solidFill>
          <a:ln w="12700">
            <a:solidFill>
              <a:srgbClr val="B45309"/>
            </a:solidFill>
            <a:prstDash val="solid"/>
          </a:ln>
          <a:effectLst>
            <a:outerShdw blurRad="76200" dist="25400" dir="5400000" algn="bl" rotWithShape="0">
              <a:srgbClr val="64748B">
                <a:alpha val="22000"/>
              </a:srgbClr>
            </a:outerShdw>
          </a:effectLst>
        </p:spPr>
      </p:sp>
      <p:sp>
        <p:nvSpPr>
          <p:cNvPr id="12" name="Icon FaScaleBalanced">
            <a:extLst>
              <a:ext uri="{C183D7F6-B498-43B3-948B-1728B52AA6E4}">
                <adec:decorative xmlns:adec="http://schemas.microsoft.com/office/drawing/2017/decorative" val="1"/>
              </a:ext>
            </a:extLst>
          </p:cNvPr>
          <p:cNvSpPr/>
          <p:nvPr/>
        </p:nvSpPr>
        <p:spPr>
          <a:xfrm>
            <a:off x="749808" y="5047488"/>
            <a:ext cx="640080" cy="640080"/>
          </a:xfrm>
          <a:prstGeom prst="ellipse">
            <a:avLst/>
          </a:prstGeom>
          <a:solidFill>
            <a:srgbClr val="B45309"/>
          </a:solidFill>
          <a:ln w="12700">
            <a:solidFill>
              <a:srgbClr val="B45309"/>
            </a:solidFill>
            <a:prstDash val="solid"/>
          </a:ln>
        </p:spPr>
      </p:sp>
      <p:pic>
        <p:nvPicPr>
          <p:cNvPr id="13" name="Image 1">
            <a:extLst>
              <a:ext uri="{C183D7F6-B498-43B3-948B-1728B52AA6E4}">
                <adec:decorative xmlns:adec="http://schemas.microsoft.com/office/drawing/2017/decorative" val="1"/>
              </a:ext>
            </a:extLst>
          </p:cNvPr>
          <p:cNvPicPr>
            <a:picLocks noChangeAspect="1"/>
          </p:cNvPicPr>
          <p:nvPr/>
        </p:nvPicPr>
        <p:blipFill>
          <a:blip r:embed="rId6"/>
          <a:stretch>
            <a:fillRect/>
          </a:stretch>
        </p:blipFill>
        <p:spPr>
          <a:xfrm>
            <a:off x="903427" y="5201107"/>
            <a:ext cx="332842" cy="332842"/>
          </a:xfrm>
          <a:prstGeom prst="rect">
            <a:avLst/>
          </a:prstGeom>
        </p:spPr>
      </p:pic>
      <p:sp>
        <p:nvSpPr>
          <p:cNvPr id="14" name="Decision"/>
          <p:cNvSpPr txBox="1"/>
          <p:nvPr/>
        </p:nvSpPr>
        <p:spPr>
          <a:xfrm>
            <a:off x="1600200" y="4873752"/>
            <a:ext cx="5806440" cy="996696"/>
          </a:xfrm>
          <a:prstGeom prst="rect">
            <a:avLst/>
          </a:prstGeom>
          <a:noFill/>
          <a:ln/>
        </p:spPr>
        <p:txBody>
          <a:bodyPr wrap="square" lIns="0" tIns="0" rIns="0" bIns="0" rtlCol="0" anchor="ctr"/>
          <a:lstStyle/>
          <a:p>
            <a:pPr marL="0" indent="0">
              <a:buNone/>
            </a:pPr>
            <a:r>
              <a:rPr lang="en-US" sz="1100" b="1" kern="0" spc="100" dirty="0">
                <a:solidFill>
                  <a:srgbClr val="B45309"/>
                </a:solidFill>
              </a:rPr>
              <a:t>DECISION</a:t>
            </a:r>
            <a:endParaRPr lang="en-US" sz="1400" dirty="0"/>
          </a:p>
          <a:p>
            <a:pPr marL="0" indent="0">
              <a:buNone/>
            </a:pPr>
            <a:r>
              <a:rPr lang="en-US" sz="1400" dirty="0">
                <a:solidFill>
                  <a:srgbClr val="334155"/>
                </a:solidFill>
              </a:rPr>
              <a:t>Budget explicitly for the people beyond the 5.5-FTE core, alongside the licenses, in the Phase 0 business case</a:t>
            </a:r>
            <a:endParaRPr lang="en-US" sz="1400" dirty="0"/>
          </a:p>
        </p:txBody>
      </p:sp>
      <p:sp>
        <p:nvSpPr>
          <p:cNvPr id="5" name="Owner"/>
          <p:cNvSpPr txBox="1"/>
          <p:nvPr/>
        </p:nvSpPr>
        <p:spPr>
          <a:xfrm>
            <a:off x="7589520" y="4873752"/>
            <a:ext cx="2103120" cy="996696"/>
          </a:xfrm>
          <a:prstGeom prst="rect">
            <a:avLst/>
          </a:prstGeom>
          <a:noFill/>
          <a:ln/>
        </p:spPr>
        <p:txBody>
          <a:bodyPr wrap="square" lIns="0" tIns="0" rIns="0" bIns="0" rtlCol="0" anchor="ctr"/>
          <a:lstStyle/>
          <a:p>
            <a:pPr marL="0" indent="0">
              <a:buNone/>
            </a:pPr>
            <a:r>
              <a:rPr lang="en-US" sz="1100" b="1" kern="0" spc="100" dirty="0">
                <a:solidFill>
                  <a:srgbClr val="0F766E"/>
                </a:solidFill>
              </a:rPr>
              <a:t>OWNER</a:t>
            </a:r>
            <a:endParaRPr lang="en-US" sz="1400" dirty="0"/>
          </a:p>
          <a:p>
            <a:pPr marL="0" indent="0">
              <a:buNone/>
            </a:pPr>
            <a:r>
              <a:rPr lang="en-US" sz="1400" dirty="0">
                <a:solidFill>
                  <a:srgbClr val="334155"/>
                </a:solidFill>
              </a:rPr>
              <a:t>Executive sponsor and CIO</a:t>
            </a:r>
            <a:endParaRPr lang="en-US" sz="1400" dirty="0"/>
          </a:p>
        </p:txBody>
      </p:sp>
      <p:sp>
        <p:nvSpPr>
          <p:cNvPr id="16" name="When"/>
          <p:cNvSpPr txBox="1"/>
          <p:nvPr/>
        </p:nvSpPr>
        <p:spPr>
          <a:xfrm>
            <a:off x="9784080" y="4873752"/>
            <a:ext cx="1783080" cy="996696"/>
          </a:xfrm>
          <a:prstGeom prst="rect">
            <a:avLst/>
          </a:prstGeom>
          <a:noFill/>
          <a:ln/>
        </p:spPr>
        <p:txBody>
          <a:bodyPr wrap="square" lIns="0" tIns="0" rIns="0" bIns="0" rtlCol="0" anchor="ctr"/>
          <a:lstStyle/>
          <a:p>
            <a:pPr marL="0" indent="0">
              <a:buNone/>
            </a:pPr>
            <a:r>
              <a:rPr lang="en-US" sz="1100" b="1" kern="0" spc="100" dirty="0">
                <a:solidFill>
                  <a:srgbClr val="1F2A44"/>
                </a:solidFill>
              </a:rPr>
              <a:t>NEEDED BY</a:t>
            </a:r>
            <a:endParaRPr lang="en-US" sz="1400" dirty="0"/>
          </a:p>
          <a:p>
            <a:pPr marL="0" indent="0">
              <a:buNone/>
            </a:pPr>
            <a:r>
              <a:rPr lang="en-US" sz="1400" dirty="0">
                <a:solidFill>
                  <a:srgbClr val="334155"/>
                </a:solidFill>
              </a:rPr>
              <a:t>Approved before design begins</a:t>
            </a:r>
            <a:endParaRPr lang="en-US" sz="1400" dirty="0"/>
          </a:p>
        </p:txBody>
      </p:sp>
      <p:sp>
        <p:nvSpPr>
          <p:cNvPr id="17" name="Sources"/>
          <p:cNvSpPr txBox="1"/>
          <p:nvPr/>
        </p:nvSpPr>
        <p:spPr>
          <a:xfrm>
            <a:off x="548640" y="6053328"/>
            <a:ext cx="10424160" cy="292608"/>
          </a:xfrm>
          <a:prstGeom prst="rect">
            <a:avLst/>
          </a:prstGeom>
          <a:noFill/>
          <a:ln/>
        </p:spPr>
        <p:txBody>
          <a:bodyPr wrap="square" lIns="0" tIns="0" rIns="0" bIns="0" rtlCol="0" anchor="t"/>
          <a:lstStyle/>
          <a:p>
            <a:pPr marL="0" indent="0">
              <a:buNone/>
            </a:pPr>
            <a:r>
              <a:rPr lang="en-US" sz="1000" i="1" dirty="0">
                <a:solidFill>
                  <a:srgbClr val="64748B"/>
                </a:solidFill>
              </a:rPr>
              <a:t>Sources: Book 00, Chapter 07 (The rhythm; The gate review; The people the program needs); Appendix A (R-012, R-013); Book 01, Chapter 12, as Chapter 07 cites it.</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14</a:t>
            </a:fld>
            <a:endParaRPr lang="en-US"/>
          </a:p>
        </p:txBody>
      </p:sp>
      <p:pic>
        <p:nvPicPr>
          <p:cNvPr id="18" name="Narration" descr="Narration for this slide; captions available">
            <a:hlinkClick r:id="" action="ppaction://media"/>
            <a:extLst>
              <a:ext uri="{FF2B5EF4-FFF2-40B4-BE49-F238E27FC236}">
                <a16:creationId xmlns:a16="http://schemas.microsoft.com/office/drawing/2014/main" id="{9D84C94E-11B7-B38E-448C-0AE7758611D0}"/>
              </a:ext>
            </a:extLst>
          </p:cNvPr>
          <p:cNvPicPr>
            <a:picLocks noChangeAspect="1"/>
          </p:cNvPicPr>
          <p:nvPr>
            <a:audioFile r:link="rId2"/>
            <p:extLst>
              <p:ext uri="{DAA4B4D4-6D71-4841-9C94-3DE7FCFB9230}">
                <p14:media xmlns:p14="http://schemas.microsoft.com/office/powerpoint/2010/main" r:embed="rId1">
                  <p14:extLst>
                    <p:ext uri="{3AFAAA56-56D3-431D-BCD4-E75A35582382}">
                      <p173:tracksInfo xmlns:p173="http://schemas.microsoft.com/office/powerpoint/2017/3/main" displayLoc="slide">
                        <p173:trackLst>
                          <p173:track id="{8D309898-E218-4A05-A87D-BE4F910DCDD1}" label="English (captions)" lang="en-US" r:embed="rId8"/>
                        </p173:trackLst>
                      </p173:tracksInfo>
                    </p:ext>
                  </p14:extLst>
                </p14:media>
              </p:ext>
            </p:extLst>
          </p:nvPr>
        </p:nvPicPr>
        <p:blipFill>
          <a:blip r:embed="rId7"/>
          <a:stretch>
            <a:fillRect/>
          </a:stretch>
        </p:blipFill>
        <p:spPr>
          <a:xfrm>
            <a:off x="127000" y="6350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70050"/>
    </mc:Choice>
    <mc:Fallback>
      <p:transition spd="slow" advTm="7005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66048" fill="hold"/>
                                        <p:tgtEl>
                                          <p:spTgt spid="18"/>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57200"/>
            <a:ext cx="11064240" cy="777240"/>
          </a:xfrm>
          <a:prstGeom prst="rect">
            <a:avLst/>
          </a:prstGeom>
          <a:noFill/>
          <a:ln/>
        </p:spPr>
        <p:txBody>
          <a:bodyPr wrap="square" lIns="0" tIns="0" rIns="0" bIns="0" rtlCol="0" anchor="ctr"/>
          <a:lstStyle/>
          <a:p>
            <a:pPr marL="0" indent="0" algn="ctr">
              <a:buNone/>
            </a:pPr>
            <a:r>
              <a:rPr lang="en-US" sz="3000" b="1" dirty="0">
                <a:solidFill>
                  <a:schemeClr val="tx1"/>
                </a:solidFill>
                <a:latin typeface="Cambria" pitchFamily="34" charset="0"/>
                <a:ea typeface="Cambria" pitchFamily="34" charset="-122"/>
                <a:cs typeface="Cambria" pitchFamily="34" charset="-120"/>
              </a:rPr>
              <a:t>Pre-flight: assessment before action</a:t>
            </a:r>
            <a:endParaRPr lang="en-US" sz="3000" dirty="0"/>
          </a:p>
        </p:txBody>
      </p:sp>
      <p:sp>
        <p:nvSpPr>
          <p:cNvPr id="3" name="Tag How">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B45309"/>
          </a:solidFill>
          <a:ln w="12700">
            <a:solidFill>
              <a:srgbClr val="B45309"/>
            </a:solidFill>
            <a:prstDash val="solid"/>
          </a:ln>
        </p:spPr>
      </p:sp>
      <p:sp>
        <p:nvSpPr>
          <p:cNvPr id="4" name="Tag How text"/>
          <p:cNvSpPr txBox="1"/>
          <p:nvPr/>
        </p:nvSpPr>
        <p:spPr>
          <a:xfrm>
            <a:off x="548640" y="109728"/>
            <a:ext cx="868680" cy="292608"/>
          </a:xfrm>
          <a:prstGeom prst="rect">
            <a:avLst/>
          </a:prstGeom>
          <a:noFill/>
          <a:ln/>
        </p:spPr>
        <p:txBody>
          <a:bodyPr wrap="square" lIns="0" tIns="0" rIns="0" bIns="0" rtlCol="0" anchor="ctr"/>
          <a:lstStyle/>
          <a:p>
            <a:pPr marL="0" indent="0" algn="ctr">
              <a:buNone/>
            </a:pPr>
            <a:r>
              <a:rPr lang="en-US" sz="1100" b="1" kern="0" spc="100" dirty="0">
                <a:solidFill>
                  <a:srgbClr val="FFFFFF"/>
                </a:solidFill>
              </a:rPr>
              <a:t>HOW</a:t>
            </a:r>
            <a:endParaRPr lang="en-US" sz="1100" dirty="0"/>
          </a:p>
        </p:txBody>
      </p:sp>
      <p:sp>
        <p:nvSpPr>
          <p:cNvPr id="5" name="G0 head"/>
          <p:cNvSpPr txBox="1"/>
          <p:nvPr/>
        </p:nvSpPr>
        <p:spPr>
          <a:xfrm>
            <a:off x="548640" y="1371600"/>
            <a:ext cx="5669280" cy="274320"/>
          </a:xfrm>
          <a:prstGeom prst="rect">
            <a:avLst/>
          </a:prstGeom>
          <a:noFill/>
          <a:ln/>
        </p:spPr>
        <p:txBody>
          <a:bodyPr wrap="square" lIns="0" tIns="0" rIns="0" bIns="0" rtlCol="0" anchor="t"/>
          <a:lstStyle/>
          <a:p>
            <a:pPr marL="0" indent="0">
              <a:buNone/>
            </a:pPr>
            <a:r>
              <a:rPr lang="en-US" sz="1200" b="1" dirty="0">
                <a:solidFill>
                  <a:srgbClr val="64748B"/>
                </a:solidFill>
              </a:rPr>
              <a:t>GATE G0, READY TO PLAN</a:t>
            </a:r>
            <a:endParaRPr lang="en-US" sz="1200" dirty="0"/>
          </a:p>
        </p:txBody>
      </p:sp>
      <p:sp>
        <p:nvSpPr>
          <p:cNvPr id="6" name="G0 0">
            <a:extLst>
              <a:ext uri="{C183D7F6-B498-43B3-948B-1728B52AA6E4}">
                <adec:decorative xmlns:adec="http://schemas.microsoft.com/office/drawing/2017/decorative" val="1"/>
              </a:ext>
            </a:extLst>
          </p:cNvPr>
          <p:cNvSpPr/>
          <p:nvPr/>
        </p:nvSpPr>
        <p:spPr>
          <a:xfrm>
            <a:off x="548640" y="1719072"/>
            <a:ext cx="5669280" cy="621792"/>
          </a:xfrm>
          <a:prstGeom prst="roundRect">
            <a:avLst>
              <a:gd name="adj" fmla="val 11765"/>
            </a:avLst>
          </a:prstGeom>
          <a:solidFill>
            <a:srgbClr val="E9EEF4"/>
          </a:solidFill>
          <a:ln w="12700">
            <a:solidFill>
              <a:srgbClr val="E9EEF4"/>
            </a:solidFill>
            <a:prstDash val="solid"/>
          </a:ln>
          <a:effectLst>
            <a:outerShdw blurRad="76200" dist="25400" dir="5400000" algn="bl" rotWithShape="0">
              <a:srgbClr val="64748B">
                <a:alpha val="22000"/>
              </a:srgbClr>
            </a:outerShdw>
          </a:effectLst>
        </p:spPr>
      </p:sp>
      <p:sp>
        <p:nvSpPr>
          <p:cNvPr id="7" name="G0 0 text"/>
          <p:cNvSpPr txBox="1"/>
          <p:nvPr/>
        </p:nvSpPr>
        <p:spPr>
          <a:xfrm>
            <a:off x="731520" y="1719072"/>
            <a:ext cx="5394960" cy="621792"/>
          </a:xfrm>
          <a:prstGeom prst="rect">
            <a:avLst/>
          </a:prstGeom>
          <a:noFill/>
          <a:ln/>
        </p:spPr>
        <p:txBody>
          <a:bodyPr wrap="square" lIns="0" tIns="0" rIns="0" bIns="0" rtlCol="0" anchor="ctr"/>
          <a:lstStyle/>
          <a:p>
            <a:pPr marL="0" indent="0">
              <a:buNone/>
            </a:pPr>
            <a:r>
              <a:rPr lang="en-US" sz="1350" b="1" dirty="0">
                <a:solidFill>
                  <a:srgbClr val="1F2A44"/>
                </a:solidFill>
              </a:rPr>
              <a:t>Platform host   </a:t>
            </a:r>
            <a:r>
              <a:rPr lang="en-US" sz="1350" dirty="0">
                <a:solidFill>
                  <a:schemeClr val="tx2"/>
                </a:solidFill>
              </a:rPr>
              <a:t>Operational, and protected as a Tier 0 asset</a:t>
            </a:r>
            <a:endParaRPr lang="en-US" sz="1350" dirty="0"/>
          </a:p>
        </p:txBody>
      </p:sp>
      <p:sp>
        <p:nvSpPr>
          <p:cNvPr id="8" name="G0 1">
            <a:extLst>
              <a:ext uri="{C183D7F6-B498-43B3-948B-1728B52AA6E4}">
                <adec:decorative xmlns:adec="http://schemas.microsoft.com/office/drawing/2017/decorative" val="1"/>
              </a:ext>
            </a:extLst>
          </p:cNvPr>
          <p:cNvSpPr/>
          <p:nvPr/>
        </p:nvSpPr>
        <p:spPr>
          <a:xfrm>
            <a:off x="548640" y="2450592"/>
            <a:ext cx="5669280" cy="621792"/>
          </a:xfrm>
          <a:prstGeom prst="roundRect">
            <a:avLst>
              <a:gd name="adj" fmla="val 11765"/>
            </a:avLst>
          </a:prstGeom>
          <a:solidFill>
            <a:srgbClr val="E4EAF4"/>
          </a:solidFill>
          <a:ln w="12700">
            <a:solidFill>
              <a:srgbClr val="E4EAF4"/>
            </a:solidFill>
            <a:prstDash val="solid"/>
          </a:ln>
          <a:effectLst>
            <a:outerShdw blurRad="76200" dist="25400" dir="5400000" algn="bl" rotWithShape="0">
              <a:srgbClr val="64748B">
                <a:alpha val="22000"/>
              </a:srgbClr>
            </a:outerShdw>
          </a:effectLst>
        </p:spPr>
      </p:sp>
      <p:sp>
        <p:nvSpPr>
          <p:cNvPr id="9" name="G0 1 text"/>
          <p:cNvSpPr txBox="1"/>
          <p:nvPr/>
        </p:nvSpPr>
        <p:spPr>
          <a:xfrm>
            <a:off x="731520" y="2450592"/>
            <a:ext cx="5394960" cy="621792"/>
          </a:xfrm>
          <a:prstGeom prst="rect">
            <a:avLst/>
          </a:prstGeom>
          <a:noFill/>
          <a:ln/>
        </p:spPr>
        <p:txBody>
          <a:bodyPr wrap="square" lIns="0" tIns="0" rIns="0" bIns="0" rtlCol="0" anchor="ctr"/>
          <a:lstStyle/>
          <a:p>
            <a:pPr marL="0" indent="0">
              <a:buNone/>
            </a:pPr>
            <a:r>
              <a:rPr lang="en-US" sz="1350" b="1" dirty="0">
                <a:solidFill>
                  <a:srgbClr val="1F2A44"/>
                </a:solidFill>
              </a:rPr>
              <a:t>Assessment   </a:t>
            </a:r>
            <a:r>
              <a:rPr lang="en-US" sz="1350" dirty="0">
                <a:solidFill>
                  <a:schemeClr val="tx2"/>
                </a:solidFill>
              </a:rPr>
              <a:t>Twelve AD domains, plus DHCP, LDAP, SPN and RADIUS</a:t>
            </a:r>
            <a:endParaRPr lang="en-US" sz="1350" dirty="0"/>
          </a:p>
        </p:txBody>
      </p:sp>
      <p:sp>
        <p:nvSpPr>
          <p:cNvPr id="10" name="G0 2">
            <a:extLst>
              <a:ext uri="{C183D7F6-B498-43B3-948B-1728B52AA6E4}">
                <adec:decorative xmlns:adec="http://schemas.microsoft.com/office/drawing/2017/decorative" val="1"/>
              </a:ext>
            </a:extLst>
          </p:cNvPr>
          <p:cNvSpPr/>
          <p:nvPr/>
        </p:nvSpPr>
        <p:spPr>
          <a:xfrm>
            <a:off x="548640" y="3182112"/>
            <a:ext cx="5669280" cy="621792"/>
          </a:xfrm>
          <a:prstGeom prst="roundRect">
            <a:avLst>
              <a:gd name="adj" fmla="val 11765"/>
            </a:avLst>
          </a:prstGeom>
          <a:solidFill>
            <a:srgbClr val="E9EEF4"/>
          </a:solidFill>
          <a:ln w="12700">
            <a:solidFill>
              <a:srgbClr val="E9EEF4"/>
            </a:solidFill>
            <a:prstDash val="solid"/>
          </a:ln>
          <a:effectLst>
            <a:outerShdw blurRad="76200" dist="25400" dir="5400000" algn="bl" rotWithShape="0">
              <a:srgbClr val="64748B">
                <a:alpha val="22000"/>
              </a:srgbClr>
            </a:outerShdw>
          </a:effectLst>
        </p:spPr>
      </p:sp>
      <p:sp>
        <p:nvSpPr>
          <p:cNvPr id="11" name="G0 2 text"/>
          <p:cNvSpPr txBox="1"/>
          <p:nvPr/>
        </p:nvSpPr>
        <p:spPr>
          <a:xfrm>
            <a:off x="731520" y="3182112"/>
            <a:ext cx="5394960" cy="621792"/>
          </a:xfrm>
          <a:prstGeom prst="rect">
            <a:avLst/>
          </a:prstGeom>
          <a:noFill/>
          <a:ln/>
        </p:spPr>
        <p:txBody>
          <a:bodyPr wrap="square" lIns="0" tIns="0" rIns="0" bIns="0" rtlCol="0" anchor="ctr"/>
          <a:lstStyle/>
          <a:p>
            <a:pPr marL="0" indent="0">
              <a:buNone/>
            </a:pPr>
            <a:r>
              <a:rPr lang="en-US" sz="1350" b="1" dirty="0">
                <a:solidFill>
                  <a:srgbClr val="1F2A44"/>
                </a:solidFill>
              </a:rPr>
              <a:t>Deliverables   </a:t>
            </a:r>
            <a:r>
              <a:rPr lang="en-US" sz="1350" dirty="0">
                <a:solidFill>
                  <a:schemeClr val="tx2"/>
                </a:solidFill>
              </a:rPr>
              <a:t>Fifteen committed before G0; eight plans just after</a:t>
            </a:r>
            <a:endParaRPr lang="en-US" sz="1350" dirty="0"/>
          </a:p>
        </p:txBody>
      </p:sp>
      <p:sp>
        <p:nvSpPr>
          <p:cNvPr id="12" name="G0 3">
            <a:extLst>
              <a:ext uri="{C183D7F6-B498-43B3-948B-1728B52AA6E4}">
                <adec:decorative xmlns:adec="http://schemas.microsoft.com/office/drawing/2017/decorative" val="1"/>
              </a:ext>
            </a:extLst>
          </p:cNvPr>
          <p:cNvSpPr/>
          <p:nvPr/>
        </p:nvSpPr>
        <p:spPr>
          <a:xfrm>
            <a:off x="548640" y="3913632"/>
            <a:ext cx="5669280" cy="621792"/>
          </a:xfrm>
          <a:prstGeom prst="roundRect">
            <a:avLst>
              <a:gd name="adj" fmla="val 11765"/>
            </a:avLst>
          </a:prstGeom>
          <a:solidFill>
            <a:srgbClr val="E4EAF4"/>
          </a:solidFill>
          <a:ln w="12700">
            <a:solidFill>
              <a:srgbClr val="E4EAF4"/>
            </a:solidFill>
            <a:prstDash val="solid"/>
          </a:ln>
          <a:effectLst>
            <a:outerShdw blurRad="76200" dist="25400" dir="5400000" algn="bl" rotWithShape="0">
              <a:srgbClr val="64748B">
                <a:alpha val="22000"/>
              </a:srgbClr>
            </a:outerShdw>
          </a:effectLst>
        </p:spPr>
      </p:sp>
      <p:sp>
        <p:nvSpPr>
          <p:cNvPr id="13" name="G0 3 text"/>
          <p:cNvSpPr txBox="1"/>
          <p:nvPr/>
        </p:nvSpPr>
        <p:spPr>
          <a:xfrm>
            <a:off x="731520" y="3913632"/>
            <a:ext cx="5394960" cy="621792"/>
          </a:xfrm>
          <a:prstGeom prst="rect">
            <a:avLst/>
          </a:prstGeom>
          <a:noFill/>
          <a:ln/>
        </p:spPr>
        <p:txBody>
          <a:bodyPr wrap="square" lIns="0" tIns="0" rIns="0" bIns="0" rtlCol="0" anchor="ctr"/>
          <a:lstStyle/>
          <a:p>
            <a:pPr marL="0" indent="0">
              <a:buNone/>
            </a:pPr>
            <a:r>
              <a:rPr lang="en-US" sz="1350" b="1" dirty="0">
                <a:solidFill>
                  <a:srgbClr val="1F2A44"/>
                </a:solidFill>
              </a:rPr>
              <a:t>Findings   </a:t>
            </a:r>
            <a:r>
              <a:rPr lang="en-US" sz="1350" dirty="0">
                <a:solidFill>
                  <a:schemeClr val="tx2"/>
                </a:solidFill>
              </a:rPr>
              <a:t>No open Critical; every High owned and dated</a:t>
            </a:r>
            <a:endParaRPr lang="en-US" sz="1350" dirty="0"/>
          </a:p>
        </p:txBody>
      </p:sp>
      <p:sp>
        <p:nvSpPr>
          <p:cNvPr id="14" name="Classes box">
            <a:extLst>
              <a:ext uri="{C183D7F6-B498-43B3-948B-1728B52AA6E4}">
                <adec:decorative xmlns:adec="http://schemas.microsoft.com/office/drawing/2017/decorative" val="1"/>
              </a:ext>
            </a:extLst>
          </p:cNvPr>
          <p:cNvSpPr/>
          <p:nvPr/>
        </p:nvSpPr>
        <p:spPr>
          <a:xfrm>
            <a:off x="7086600" y="1371600"/>
            <a:ext cx="4572000" cy="3291840"/>
          </a:xfrm>
          <a:prstGeom prst="roundRect">
            <a:avLst>
              <a:gd name="adj" fmla="val 2222"/>
            </a:avLst>
          </a:prstGeom>
          <a:solidFill>
            <a:srgbClr val="FBE4E4"/>
          </a:solidFill>
          <a:ln w="12700">
            <a:solidFill>
              <a:srgbClr val="FBE4E4"/>
            </a:solidFill>
            <a:prstDash val="solid"/>
          </a:ln>
          <a:effectLst>
            <a:outerShdw blurRad="76200" dist="25400" dir="5400000" algn="bl" rotWithShape="0">
              <a:srgbClr val="64748B">
                <a:alpha val="22000"/>
              </a:srgbClr>
            </a:outerShdw>
          </a:effectLst>
        </p:spPr>
      </p:sp>
      <p:sp>
        <p:nvSpPr>
          <p:cNvPr id="15" name="Icon FaListCheck">
            <a:extLst>
              <a:ext uri="{C183D7F6-B498-43B3-948B-1728B52AA6E4}">
                <adec:decorative xmlns:adec="http://schemas.microsoft.com/office/drawing/2017/decorative" val="1"/>
              </a:ext>
            </a:extLst>
          </p:cNvPr>
          <p:cNvSpPr/>
          <p:nvPr/>
        </p:nvSpPr>
        <p:spPr>
          <a:xfrm>
            <a:off x="7315200" y="1517904"/>
            <a:ext cx="548640" cy="548640"/>
          </a:xfrm>
          <a:prstGeom prst="ellipse">
            <a:avLst/>
          </a:prstGeom>
          <a:solidFill>
            <a:srgbClr val="B91C1C"/>
          </a:solidFill>
          <a:ln w="12700">
            <a:solidFill>
              <a:srgbClr val="B91C1C"/>
            </a:solidFill>
            <a:prstDash val="solid"/>
          </a:ln>
        </p:spPr>
      </p:sp>
      <p:pic>
        <p:nvPicPr>
          <p:cNvPr id="16" name="Image 0">
            <a:extLst>
              <a:ext uri="{C183D7F6-B498-43B3-948B-1728B52AA6E4}">
                <adec:decorative xmlns:adec="http://schemas.microsoft.com/office/drawing/2017/decorative" val="1"/>
              </a:ext>
            </a:extLst>
          </p:cNvPr>
          <p:cNvPicPr>
            <a:picLocks noChangeAspect="1"/>
          </p:cNvPicPr>
          <p:nvPr/>
        </p:nvPicPr>
        <p:blipFill>
          <a:blip r:embed="rId5"/>
          <a:stretch>
            <a:fillRect/>
          </a:stretch>
        </p:blipFill>
        <p:spPr>
          <a:xfrm>
            <a:off x="7446874" y="1649578"/>
            <a:ext cx="285293" cy="285293"/>
          </a:xfrm>
          <a:prstGeom prst="rect">
            <a:avLst/>
          </a:prstGeom>
        </p:spPr>
      </p:pic>
      <p:sp>
        <p:nvSpPr>
          <p:cNvPr id="17" name="Classes head"/>
          <p:cNvSpPr txBox="1"/>
          <p:nvPr/>
        </p:nvSpPr>
        <p:spPr>
          <a:xfrm>
            <a:off x="8001000" y="1517904"/>
            <a:ext cx="3566160" cy="548640"/>
          </a:xfrm>
          <a:prstGeom prst="rect">
            <a:avLst/>
          </a:prstGeom>
          <a:noFill/>
          <a:ln/>
        </p:spPr>
        <p:txBody>
          <a:bodyPr wrap="square" lIns="0" tIns="0" rIns="0" bIns="0" rtlCol="0" anchor="ctr"/>
          <a:lstStyle/>
          <a:p>
            <a:pPr marL="0" indent="0">
              <a:buNone/>
            </a:pPr>
            <a:r>
              <a:rPr lang="en-US" sz="1700" b="1" dirty="0">
                <a:solidFill>
                  <a:srgbClr val="B91C1C"/>
                </a:solidFill>
                <a:latin typeface="Cambria" pitchFamily="34" charset="0"/>
                <a:ea typeface="Cambria" pitchFamily="34" charset="-122"/>
                <a:cs typeface="Cambria" pitchFamily="34" charset="-120"/>
              </a:rPr>
              <a:t>Each finding class has a gate</a:t>
            </a:r>
            <a:endParaRPr lang="en-US" sz="1700" dirty="0"/>
          </a:p>
        </p:txBody>
      </p:sp>
      <p:sp>
        <p:nvSpPr>
          <p:cNvPr id="18" name="Classes list"/>
          <p:cNvSpPr txBox="1"/>
          <p:nvPr/>
        </p:nvSpPr>
        <p:spPr>
          <a:xfrm>
            <a:off x="7315200" y="2194560"/>
            <a:ext cx="4206240" cy="2395728"/>
          </a:xfrm>
          <a:prstGeom prst="rect">
            <a:avLst/>
          </a:prstGeom>
          <a:noFill/>
          <a:ln/>
        </p:spPr>
        <p:txBody>
          <a:bodyPr wrap="square" lIns="0" tIns="0" rIns="0" bIns="0" rtlCol="0" anchor="t"/>
          <a:lstStyle/>
          <a:p>
            <a:pPr marL="342900" indent="-342900">
              <a:spcAft>
                <a:spcPts val="600"/>
              </a:spcAft>
              <a:buSzPct val="100000"/>
              <a:buChar char="•"/>
            </a:pPr>
            <a:r>
              <a:rPr lang="en-US" sz="1350" dirty="0">
                <a:solidFill>
                  <a:schemeClr val="tx2"/>
                </a:solidFill>
              </a:rPr>
              <a:t>Critical: closed, or accepted by the AO, by G0</a:t>
            </a:r>
            <a:endParaRPr lang="en-US" sz="1400" dirty="0"/>
          </a:p>
          <a:p>
            <a:pPr marL="342900" indent="-342900">
              <a:spcAft>
                <a:spcPts val="600"/>
              </a:spcAft>
              <a:buSzPct val="100000"/>
              <a:buChar char="•"/>
            </a:pPr>
            <a:r>
              <a:rPr lang="en-US" sz="1350" dirty="0">
                <a:solidFill>
                  <a:schemeClr val="tx2"/>
                </a:solidFill>
              </a:rPr>
              <a:t>High: remediated by G1, before the pilot</a:t>
            </a:r>
            <a:endParaRPr lang="en-US" sz="1400" dirty="0"/>
          </a:p>
          <a:p>
            <a:pPr marL="342900" indent="-342900">
              <a:spcAft>
                <a:spcPts val="600"/>
              </a:spcAft>
              <a:buSzPct val="100000"/>
              <a:buChar char="•"/>
            </a:pPr>
            <a:r>
              <a:rPr lang="en-US" sz="1350" dirty="0">
                <a:solidFill>
                  <a:schemeClr val="tx2"/>
                </a:solidFill>
              </a:rPr>
              <a:t>Medium: remediated during rollout, by G3</a:t>
            </a:r>
            <a:endParaRPr lang="en-US" sz="1400" dirty="0"/>
          </a:p>
          <a:p>
            <a:pPr marL="342900" indent="-342900">
              <a:spcAft>
                <a:spcPts val="600"/>
              </a:spcAft>
              <a:buSzPct val="100000"/>
              <a:buChar char="•"/>
            </a:pPr>
            <a:r>
              <a:rPr lang="en-US" sz="1350" dirty="0">
                <a:solidFill>
                  <a:schemeClr val="tx2"/>
                </a:solidFill>
              </a:rPr>
              <a:t>Low: tracked and reviewed at each gate</a:t>
            </a:r>
            <a:endParaRPr lang="en-US" sz="1400" dirty="0"/>
          </a:p>
        </p:txBody>
      </p:sp>
      <p:sp>
        <p:nvSpPr>
          <p:cNvPr id="19" name="Decision bar">
            <a:extLst>
              <a:ext uri="{C183D7F6-B498-43B3-948B-1728B52AA6E4}">
                <adec:decorative xmlns:adec="http://schemas.microsoft.com/office/drawing/2017/decorative" val="1"/>
              </a:ext>
            </a:extLst>
          </p:cNvPr>
          <p:cNvSpPr/>
          <p:nvPr/>
        </p:nvSpPr>
        <p:spPr>
          <a:xfrm>
            <a:off x="548640" y="4800600"/>
            <a:ext cx="11109960" cy="1143000"/>
          </a:xfrm>
          <a:prstGeom prst="roundRect">
            <a:avLst>
              <a:gd name="adj" fmla="val 6400"/>
            </a:avLst>
          </a:prstGeom>
          <a:solidFill>
            <a:srgbClr val="FFFFFF"/>
          </a:solidFill>
          <a:ln w="12700">
            <a:solidFill>
              <a:srgbClr val="B45309"/>
            </a:solidFill>
            <a:prstDash val="solid"/>
          </a:ln>
          <a:effectLst>
            <a:outerShdw blurRad="76200" dist="25400" dir="5400000" algn="bl" rotWithShape="0">
              <a:srgbClr val="64748B">
                <a:alpha val="22000"/>
              </a:srgbClr>
            </a:outerShdw>
          </a:effectLst>
        </p:spPr>
      </p:sp>
      <p:sp>
        <p:nvSpPr>
          <p:cNvPr id="20" name="Icon FaScaleBalanced">
            <a:extLst>
              <a:ext uri="{C183D7F6-B498-43B3-948B-1728B52AA6E4}">
                <adec:decorative xmlns:adec="http://schemas.microsoft.com/office/drawing/2017/decorative" val="1"/>
              </a:ext>
            </a:extLst>
          </p:cNvPr>
          <p:cNvSpPr/>
          <p:nvPr/>
        </p:nvSpPr>
        <p:spPr>
          <a:xfrm>
            <a:off x="749808" y="5047488"/>
            <a:ext cx="640080" cy="640080"/>
          </a:xfrm>
          <a:prstGeom prst="ellipse">
            <a:avLst/>
          </a:prstGeom>
          <a:solidFill>
            <a:srgbClr val="B45309"/>
          </a:solidFill>
          <a:ln w="12700">
            <a:solidFill>
              <a:srgbClr val="B45309"/>
            </a:solidFill>
            <a:prstDash val="solid"/>
          </a:ln>
        </p:spPr>
      </p:sp>
      <p:pic>
        <p:nvPicPr>
          <p:cNvPr id="21" name="Image 1">
            <a:extLst>
              <a:ext uri="{C183D7F6-B498-43B3-948B-1728B52AA6E4}">
                <adec:decorative xmlns:adec="http://schemas.microsoft.com/office/drawing/2017/decorative" val="1"/>
              </a:ext>
            </a:extLst>
          </p:cNvPr>
          <p:cNvPicPr>
            <a:picLocks noChangeAspect="1"/>
          </p:cNvPicPr>
          <p:nvPr/>
        </p:nvPicPr>
        <p:blipFill>
          <a:blip r:embed="rId6"/>
          <a:stretch>
            <a:fillRect/>
          </a:stretch>
        </p:blipFill>
        <p:spPr>
          <a:xfrm>
            <a:off x="903427" y="5201107"/>
            <a:ext cx="332842" cy="332842"/>
          </a:xfrm>
          <a:prstGeom prst="rect">
            <a:avLst/>
          </a:prstGeom>
        </p:spPr>
      </p:pic>
      <p:sp>
        <p:nvSpPr>
          <p:cNvPr id="22" name="Decision"/>
          <p:cNvSpPr txBox="1"/>
          <p:nvPr/>
        </p:nvSpPr>
        <p:spPr>
          <a:xfrm>
            <a:off x="1600200" y="4873752"/>
            <a:ext cx="5806440" cy="996696"/>
          </a:xfrm>
          <a:prstGeom prst="rect">
            <a:avLst/>
          </a:prstGeom>
          <a:noFill/>
          <a:ln/>
        </p:spPr>
        <p:txBody>
          <a:bodyPr wrap="square" lIns="0" tIns="0" rIns="0" bIns="0" rtlCol="0" anchor="ctr"/>
          <a:lstStyle/>
          <a:p>
            <a:pPr marL="0" indent="0">
              <a:buNone/>
            </a:pPr>
            <a:r>
              <a:rPr lang="en-US" sz="1100" b="1" kern="0" spc="100" dirty="0">
                <a:solidFill>
                  <a:srgbClr val="B45309"/>
                </a:solidFill>
              </a:rPr>
              <a:t>DECISION</a:t>
            </a:r>
            <a:endParaRPr lang="en-US" sz="1400" dirty="0"/>
          </a:p>
          <a:p>
            <a:pPr marL="0" indent="0">
              <a:buNone/>
            </a:pPr>
            <a:r>
              <a:rPr lang="en-US" sz="1400" dirty="0">
                <a:solidFill>
                  <a:srgbClr val="334155"/>
                </a:solidFill>
              </a:rPr>
              <a:t>Clear G0 only when no Critical finding is open, or the authorizing official has accepted it in writing</a:t>
            </a:r>
            <a:endParaRPr lang="en-US" sz="1400" dirty="0"/>
          </a:p>
        </p:txBody>
      </p:sp>
      <p:sp>
        <p:nvSpPr>
          <p:cNvPr id="23" name="Owner"/>
          <p:cNvSpPr txBox="1"/>
          <p:nvPr/>
        </p:nvSpPr>
        <p:spPr>
          <a:xfrm>
            <a:off x="7589520" y="4873752"/>
            <a:ext cx="2103120" cy="996696"/>
          </a:xfrm>
          <a:prstGeom prst="rect">
            <a:avLst/>
          </a:prstGeom>
          <a:noFill/>
          <a:ln/>
        </p:spPr>
        <p:txBody>
          <a:bodyPr wrap="square" lIns="0" tIns="0" rIns="0" bIns="0" rtlCol="0" anchor="ctr"/>
          <a:lstStyle/>
          <a:p>
            <a:pPr marL="0" indent="0">
              <a:buNone/>
            </a:pPr>
            <a:r>
              <a:rPr lang="en-US" sz="1100" b="1" kern="0" spc="100" dirty="0">
                <a:solidFill>
                  <a:srgbClr val="0F766E"/>
                </a:solidFill>
              </a:rPr>
              <a:t>OWNER</a:t>
            </a:r>
            <a:endParaRPr lang="en-US" sz="1400" dirty="0"/>
          </a:p>
          <a:p>
            <a:pPr marL="0" indent="0">
              <a:buNone/>
            </a:pPr>
            <a:r>
              <a:rPr lang="en-US" sz="1400" dirty="0">
                <a:solidFill>
                  <a:srgbClr val="334155"/>
                </a:solidFill>
              </a:rPr>
              <a:t>Steward, with the sponsor as backup</a:t>
            </a:r>
            <a:endParaRPr lang="en-US" sz="1400" dirty="0"/>
          </a:p>
        </p:txBody>
      </p:sp>
      <p:sp>
        <p:nvSpPr>
          <p:cNvPr id="24" name="When"/>
          <p:cNvSpPr txBox="1"/>
          <p:nvPr/>
        </p:nvSpPr>
        <p:spPr>
          <a:xfrm>
            <a:off x="9784080" y="4873752"/>
            <a:ext cx="1783080" cy="996696"/>
          </a:xfrm>
          <a:prstGeom prst="rect">
            <a:avLst/>
          </a:prstGeom>
          <a:noFill/>
          <a:ln/>
        </p:spPr>
        <p:txBody>
          <a:bodyPr wrap="square" lIns="0" tIns="0" rIns="0" bIns="0" rtlCol="0" anchor="ctr"/>
          <a:lstStyle/>
          <a:p>
            <a:pPr marL="0" indent="0">
              <a:buNone/>
            </a:pPr>
            <a:r>
              <a:rPr lang="en-US" sz="1100" b="1" kern="0" spc="100" dirty="0">
                <a:solidFill>
                  <a:srgbClr val="1F2A44"/>
                </a:solidFill>
              </a:rPr>
              <a:t>NEEDED BY</a:t>
            </a:r>
            <a:endParaRPr lang="en-US" sz="1400" dirty="0"/>
          </a:p>
          <a:p>
            <a:pPr marL="0" indent="0">
              <a:buNone/>
            </a:pPr>
            <a:r>
              <a:rPr lang="en-US" sz="1400" dirty="0">
                <a:solidFill>
                  <a:srgbClr val="334155"/>
                </a:solidFill>
              </a:rPr>
              <a:t>G0, Ready to Plan</a:t>
            </a:r>
            <a:endParaRPr lang="en-US" sz="1400" dirty="0"/>
          </a:p>
        </p:txBody>
      </p:sp>
      <p:sp>
        <p:nvSpPr>
          <p:cNvPr id="25" name="Sources"/>
          <p:cNvSpPr txBox="1"/>
          <p:nvPr/>
        </p:nvSpPr>
        <p:spPr>
          <a:xfrm>
            <a:off x="548640" y="6053328"/>
            <a:ext cx="10424160" cy="292608"/>
          </a:xfrm>
          <a:prstGeom prst="rect">
            <a:avLst/>
          </a:prstGeom>
          <a:noFill/>
          <a:ln/>
        </p:spPr>
        <p:txBody>
          <a:bodyPr wrap="square" lIns="0" tIns="0" rIns="0" bIns="0" rtlCol="0" anchor="t"/>
          <a:lstStyle/>
          <a:p>
            <a:pPr marL="0" indent="0">
              <a:buNone/>
            </a:pPr>
            <a:r>
              <a:rPr lang="en-US" sz="1000" i="1" dirty="0">
                <a:solidFill>
                  <a:srgbClr val="64748B"/>
                </a:solidFill>
              </a:rPr>
              <a:t>Sources: Book 00, Chapter 08 (Where pre-flight sits; The platform host; The read-only assessment; The twenty-three deliverables; Gate G0); Chapter 07 (The repository as the program's memory).</a:t>
            </a:r>
            <a:endParaRPr lang="en-US" sz="1000" dirty="0"/>
          </a:p>
        </p:txBody>
      </p:sp>
      <p:sp>
        <p:nvSpPr>
          <p:cNvPr id="26"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15</a:t>
            </a:fld>
            <a:endParaRPr lang="en-US"/>
          </a:p>
        </p:txBody>
      </p:sp>
      <p:pic>
        <p:nvPicPr>
          <p:cNvPr id="27" name="Narration" descr="Narration for this slide; captions available">
            <a:hlinkClick r:id="" action="ppaction://media"/>
            <a:extLst>
              <a:ext uri="{FF2B5EF4-FFF2-40B4-BE49-F238E27FC236}">
                <a16:creationId xmlns:a16="http://schemas.microsoft.com/office/drawing/2014/main" id="{D9FCB22E-1DB9-96D6-C9A1-AF0FDEF0C3CD}"/>
              </a:ext>
            </a:extLst>
          </p:cNvPr>
          <p:cNvPicPr>
            <a:picLocks noChangeAspect="1"/>
          </p:cNvPicPr>
          <p:nvPr>
            <a:audioFile r:link="rId2"/>
            <p:extLst>
              <p:ext uri="{DAA4B4D4-6D71-4841-9C94-3DE7FCFB9230}">
                <p14:media xmlns:p14="http://schemas.microsoft.com/office/powerpoint/2010/main" r:embed="rId1">
                  <p14:extLst>
                    <p:ext uri="{3AFAAA56-56D3-431D-BCD4-E75A35582382}">
                      <p173:tracksInfo xmlns:p173="http://schemas.microsoft.com/office/powerpoint/2017/3/main" displayLoc="slide">
                        <p173:trackLst>
                          <p173:track id="{686033A9-F696-4ABB-9546-7DF02EB6D928}" label="English (captions)" lang="en-US" r:embed="rId8"/>
                        </p173:trackLst>
                      </p173:tracksInfo>
                    </p:ext>
                  </p14:extLst>
                </p14:media>
              </p:ext>
            </p:extLst>
          </p:nvPr>
        </p:nvPicPr>
        <p:blipFill>
          <a:blip r:embed="rId7"/>
          <a:stretch>
            <a:fillRect/>
          </a:stretch>
        </p:blipFill>
        <p:spPr>
          <a:xfrm>
            <a:off x="127000" y="6350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69280"/>
    </mc:Choice>
    <mc:Fallback>
      <p:transition spd="slow" advTm="6928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65280" fill="hold"/>
                                        <p:tgtEl>
                                          <p:spTgt spid="27"/>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57200"/>
            <a:ext cx="11064240" cy="777240"/>
          </a:xfrm>
          <a:prstGeom prst="rect">
            <a:avLst/>
          </a:prstGeom>
          <a:noFill/>
          <a:ln/>
        </p:spPr>
        <p:txBody>
          <a:bodyPr wrap="square" lIns="0" tIns="0" rIns="0" bIns="0" rtlCol="0" anchor="ctr"/>
          <a:lstStyle/>
          <a:p>
            <a:pPr marL="0" indent="0" algn="ctr">
              <a:buNone/>
            </a:pPr>
            <a:r>
              <a:rPr lang="en-US" sz="3000" b="1" dirty="0">
                <a:solidFill>
                  <a:schemeClr val="tx1"/>
                </a:solidFill>
                <a:latin typeface="Cambria" pitchFamily="34" charset="0"/>
                <a:ea typeface="Cambria" pitchFamily="34" charset="-122"/>
                <a:cs typeface="Cambria" pitchFamily="34" charset="-120"/>
              </a:rPr>
              <a:t>Foundation and pilot: prove it on one division</a:t>
            </a:r>
            <a:endParaRPr lang="en-US" sz="3000" dirty="0"/>
          </a:p>
        </p:txBody>
      </p:sp>
      <p:sp>
        <p:nvSpPr>
          <p:cNvPr id="3" name="Tag How">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B45309"/>
          </a:solidFill>
          <a:ln w="12700">
            <a:solidFill>
              <a:srgbClr val="B45309"/>
            </a:solidFill>
            <a:prstDash val="solid"/>
          </a:ln>
        </p:spPr>
      </p:sp>
      <p:sp>
        <p:nvSpPr>
          <p:cNvPr id="4" name="Tag How text"/>
          <p:cNvSpPr txBox="1"/>
          <p:nvPr/>
        </p:nvSpPr>
        <p:spPr>
          <a:xfrm>
            <a:off x="548640" y="109728"/>
            <a:ext cx="868680" cy="292608"/>
          </a:xfrm>
          <a:prstGeom prst="rect">
            <a:avLst/>
          </a:prstGeom>
          <a:noFill/>
          <a:ln/>
        </p:spPr>
        <p:txBody>
          <a:bodyPr wrap="square" lIns="0" tIns="0" rIns="0" bIns="0" rtlCol="0" anchor="ctr"/>
          <a:lstStyle/>
          <a:p>
            <a:pPr marL="0" indent="0" algn="ctr">
              <a:buNone/>
            </a:pPr>
            <a:r>
              <a:rPr lang="en-US" sz="1100" b="1" kern="0" spc="100" dirty="0">
                <a:solidFill>
                  <a:srgbClr val="FFFFFF"/>
                </a:solidFill>
              </a:rPr>
              <a:t>HOW</a:t>
            </a:r>
            <a:endParaRPr lang="en-US" sz="1100" dirty="0"/>
          </a:p>
        </p:txBody>
      </p:sp>
      <p:sp>
        <p:nvSpPr>
          <p:cNvPr id="5" name="Gate panel 1">
            <a:extLst>
              <a:ext uri="{C183D7F6-B498-43B3-948B-1728B52AA6E4}">
                <adec:decorative xmlns:adec="http://schemas.microsoft.com/office/drawing/2017/decorative" val="1"/>
              </a:ext>
            </a:extLst>
          </p:cNvPr>
          <p:cNvSpPr/>
          <p:nvPr/>
        </p:nvSpPr>
        <p:spPr>
          <a:xfrm>
            <a:off x="548640" y="1371600"/>
            <a:ext cx="5486400" cy="3291840"/>
          </a:xfrm>
          <a:prstGeom prst="roundRect">
            <a:avLst>
              <a:gd name="adj" fmla="val 2222"/>
            </a:avLst>
          </a:prstGeom>
          <a:solidFill>
            <a:srgbClr val="E4EAF4"/>
          </a:solidFill>
          <a:ln w="12700">
            <a:solidFill>
              <a:srgbClr val="E4EAF4"/>
            </a:solidFill>
            <a:prstDash val="solid"/>
          </a:ln>
          <a:effectLst>
            <a:outerShdw blurRad="76200" dist="25400" dir="5400000" algn="bl" rotWithShape="0">
              <a:srgbClr val="64748B">
                <a:alpha val="22000"/>
              </a:srgbClr>
            </a:outerShdw>
          </a:effectLst>
        </p:spPr>
      </p:sp>
      <p:sp>
        <p:nvSpPr>
          <p:cNvPr id="6" name="Icon FaCubes">
            <a:extLst>
              <a:ext uri="{C183D7F6-B498-43B3-948B-1728B52AA6E4}">
                <adec:decorative xmlns:adec="http://schemas.microsoft.com/office/drawing/2017/decorative" val="1"/>
              </a:ext>
            </a:extLst>
          </p:cNvPr>
          <p:cNvSpPr/>
          <p:nvPr/>
        </p:nvSpPr>
        <p:spPr>
          <a:xfrm>
            <a:off x="749808" y="1508760"/>
            <a:ext cx="566928" cy="566928"/>
          </a:xfrm>
          <a:prstGeom prst="ellipse">
            <a:avLst/>
          </a:prstGeom>
          <a:solidFill>
            <a:srgbClr val="1F2A44"/>
          </a:solidFill>
          <a:ln w="12700">
            <a:solidFill>
              <a:srgbClr val="1F2A44"/>
            </a:solidFill>
            <a:prstDash val="solid"/>
          </a:ln>
        </p:spPr>
      </p:sp>
      <p:pic>
        <p:nvPicPr>
          <p:cNvPr id="7" name="Image 0">
            <a:extLst>
              <a:ext uri="{C183D7F6-B498-43B3-948B-1728B52AA6E4}">
                <adec:decorative xmlns:adec="http://schemas.microsoft.com/office/drawing/2017/decorative" val="1"/>
              </a:ext>
            </a:extLst>
          </p:cNvPr>
          <p:cNvPicPr>
            <a:picLocks noChangeAspect="1"/>
          </p:cNvPicPr>
          <p:nvPr/>
        </p:nvPicPr>
        <p:blipFill>
          <a:blip r:embed="rId5"/>
          <a:stretch>
            <a:fillRect/>
          </a:stretch>
        </p:blipFill>
        <p:spPr>
          <a:xfrm>
            <a:off x="885871" y="1644823"/>
            <a:ext cx="294803" cy="294803"/>
          </a:xfrm>
          <a:prstGeom prst="rect">
            <a:avLst/>
          </a:prstGeom>
        </p:spPr>
      </p:pic>
      <p:sp>
        <p:nvSpPr>
          <p:cNvPr id="8" name="Gate panel head 1"/>
          <p:cNvSpPr txBox="1"/>
          <p:nvPr/>
        </p:nvSpPr>
        <p:spPr>
          <a:xfrm>
            <a:off x="1463040" y="1463040"/>
            <a:ext cx="4434840" cy="658368"/>
          </a:xfrm>
          <a:prstGeom prst="rect">
            <a:avLst/>
          </a:prstGeom>
          <a:noFill/>
          <a:ln/>
        </p:spPr>
        <p:txBody>
          <a:bodyPr wrap="square" lIns="0" tIns="0" rIns="0" bIns="0" rtlCol="0" anchor="ctr"/>
          <a:lstStyle/>
          <a:p>
            <a:pPr marL="0" indent="0">
              <a:buNone/>
            </a:pPr>
            <a:r>
              <a:rPr lang="en-US" sz="1700" b="1" dirty="0">
                <a:solidFill>
                  <a:srgbClr val="1F2A44"/>
                </a:solidFill>
                <a:latin typeface="Cambria" pitchFamily="34" charset="0"/>
                <a:ea typeface="Cambria" pitchFamily="34" charset="-122"/>
                <a:cs typeface="Cambria" pitchFamily="34" charset="-120"/>
              </a:rPr>
              <a:t>G1 Foundation Complete</a:t>
            </a:r>
            <a:endParaRPr lang="en-US" sz="1400" dirty="0"/>
          </a:p>
          <a:p>
            <a:pPr marL="0" indent="0">
              <a:buNone/>
            </a:pPr>
            <a:r>
              <a:rPr lang="en-US" sz="1250" dirty="0">
                <a:solidFill>
                  <a:srgbClr val="64748B"/>
                </a:solidFill>
              </a:rPr>
              <a:t>Cleared by the steward</a:t>
            </a:r>
            <a:endParaRPr lang="en-US" sz="1400" dirty="0"/>
          </a:p>
        </p:txBody>
      </p:sp>
      <p:sp>
        <p:nvSpPr>
          <p:cNvPr id="9" name="Gate panel text 1"/>
          <p:cNvSpPr txBox="1"/>
          <p:nvPr/>
        </p:nvSpPr>
        <p:spPr>
          <a:xfrm>
            <a:off x="777240" y="2286000"/>
            <a:ext cx="5074920" cy="2286000"/>
          </a:xfrm>
          <a:prstGeom prst="rect">
            <a:avLst/>
          </a:prstGeom>
          <a:noFill/>
          <a:ln/>
        </p:spPr>
        <p:txBody>
          <a:bodyPr wrap="square" lIns="0" tIns="0" rIns="0" bIns="0" rtlCol="0" anchor="t"/>
          <a:lstStyle/>
          <a:p>
            <a:pPr marL="342900" indent="-342900">
              <a:spcAft>
                <a:spcPts val="800"/>
              </a:spcAft>
              <a:buSzPct val="100000"/>
              <a:buChar char="•"/>
            </a:pPr>
            <a:r>
              <a:rPr lang="en-US" sz="1400" dirty="0">
                <a:solidFill>
                  <a:schemeClr val="tx2"/>
                </a:solidFill>
              </a:rPr>
              <a:t>The eight plans and every design approved</a:t>
            </a:r>
            <a:endParaRPr lang="en-US" sz="1400" dirty="0"/>
          </a:p>
          <a:p>
            <a:pPr marL="342900" indent="-342900">
              <a:spcAft>
                <a:spcPts val="800"/>
              </a:spcAft>
              <a:buSzPct val="100000"/>
              <a:buChar char="•"/>
            </a:pPr>
            <a:r>
              <a:rPr lang="en-US" sz="1400" dirty="0">
                <a:solidFill>
                  <a:schemeClr val="tx2"/>
                </a:solidFill>
              </a:rPr>
              <a:t>Baseline Conditional Access enforced after a week in report-only</a:t>
            </a:r>
            <a:endParaRPr lang="en-US" sz="1400" dirty="0"/>
          </a:p>
          <a:p>
            <a:pPr marL="342900" indent="-342900">
              <a:spcAft>
                <a:spcPts val="800"/>
              </a:spcAft>
              <a:buSzPct val="100000"/>
              <a:buChar char="•"/>
            </a:pPr>
            <a:r>
              <a:rPr lang="en-US" sz="1400" dirty="0">
                <a:solidFill>
                  <a:schemeClr val="tx2"/>
                </a:solidFill>
              </a:rPr>
              <a:t>Emergency access accounts vaulted and tested</a:t>
            </a:r>
            <a:endParaRPr lang="en-US" sz="1400" dirty="0"/>
          </a:p>
          <a:p>
            <a:pPr marL="342900" indent="-342900">
              <a:spcAft>
                <a:spcPts val="800"/>
              </a:spcAft>
              <a:buSzPct val="100000"/>
              <a:buChar char="•"/>
            </a:pPr>
            <a:r>
              <a:rPr lang="en-US" sz="1400" dirty="0">
                <a:solidFill>
                  <a:schemeClr val="tx2"/>
                </a:solidFill>
              </a:rPr>
              <a:t>The HR feed live; every High finding remediated</a:t>
            </a:r>
            <a:endParaRPr lang="en-US" sz="1400" dirty="0"/>
          </a:p>
        </p:txBody>
      </p:sp>
      <p:sp>
        <p:nvSpPr>
          <p:cNvPr id="10" name="Gate panel 2">
            <a:extLst>
              <a:ext uri="{C183D7F6-B498-43B3-948B-1728B52AA6E4}">
                <adec:decorative xmlns:adec="http://schemas.microsoft.com/office/drawing/2017/decorative" val="1"/>
              </a:ext>
            </a:extLst>
          </p:cNvPr>
          <p:cNvSpPr/>
          <p:nvPr/>
        </p:nvSpPr>
        <p:spPr>
          <a:xfrm>
            <a:off x="6172200" y="1371600"/>
            <a:ext cx="5486400" cy="3291840"/>
          </a:xfrm>
          <a:prstGeom prst="roundRect">
            <a:avLst>
              <a:gd name="adj" fmla="val 2222"/>
            </a:avLst>
          </a:prstGeom>
          <a:solidFill>
            <a:srgbClr val="DCEFEC"/>
          </a:solidFill>
          <a:ln w="12700">
            <a:solidFill>
              <a:srgbClr val="DCEFEC"/>
            </a:solidFill>
            <a:prstDash val="solid"/>
          </a:ln>
          <a:effectLst>
            <a:outerShdw blurRad="76200" dist="25400" dir="5400000" algn="bl" rotWithShape="0">
              <a:srgbClr val="64748B">
                <a:alpha val="22000"/>
              </a:srgbClr>
            </a:outerShdw>
          </a:effectLst>
        </p:spPr>
      </p:sp>
      <p:sp>
        <p:nvSpPr>
          <p:cNvPr id="11" name="Icon FaUserCheck">
            <a:extLst>
              <a:ext uri="{C183D7F6-B498-43B3-948B-1728B52AA6E4}">
                <adec:decorative xmlns:adec="http://schemas.microsoft.com/office/drawing/2017/decorative" val="1"/>
              </a:ext>
            </a:extLst>
          </p:cNvPr>
          <p:cNvSpPr/>
          <p:nvPr/>
        </p:nvSpPr>
        <p:spPr>
          <a:xfrm>
            <a:off x="6373368" y="1508760"/>
            <a:ext cx="566928" cy="566928"/>
          </a:xfrm>
          <a:prstGeom prst="ellipse">
            <a:avLst/>
          </a:prstGeom>
          <a:solidFill>
            <a:srgbClr val="0F766E"/>
          </a:solidFill>
          <a:ln w="12700">
            <a:solidFill>
              <a:srgbClr val="0F766E"/>
            </a:solidFill>
            <a:prstDash val="solid"/>
          </a:ln>
        </p:spPr>
      </p:sp>
      <p:pic>
        <p:nvPicPr>
          <p:cNvPr id="12" name="Image 1">
            <a:extLst>
              <a:ext uri="{C183D7F6-B498-43B3-948B-1728B52AA6E4}">
                <adec:decorative xmlns:adec="http://schemas.microsoft.com/office/drawing/2017/decorative" val="1"/>
              </a:ext>
            </a:extLst>
          </p:cNvPr>
          <p:cNvPicPr>
            <a:picLocks noChangeAspect="1"/>
          </p:cNvPicPr>
          <p:nvPr/>
        </p:nvPicPr>
        <p:blipFill>
          <a:blip r:embed="rId6"/>
          <a:stretch>
            <a:fillRect/>
          </a:stretch>
        </p:blipFill>
        <p:spPr>
          <a:xfrm>
            <a:off x="6509431" y="1644823"/>
            <a:ext cx="294803" cy="294803"/>
          </a:xfrm>
          <a:prstGeom prst="rect">
            <a:avLst/>
          </a:prstGeom>
        </p:spPr>
      </p:pic>
      <p:sp>
        <p:nvSpPr>
          <p:cNvPr id="13" name="Gate panel head 2"/>
          <p:cNvSpPr txBox="1"/>
          <p:nvPr/>
        </p:nvSpPr>
        <p:spPr>
          <a:xfrm>
            <a:off x="7086600" y="1463040"/>
            <a:ext cx="4434840" cy="658368"/>
          </a:xfrm>
          <a:prstGeom prst="rect">
            <a:avLst/>
          </a:prstGeom>
          <a:noFill/>
          <a:ln/>
        </p:spPr>
        <p:txBody>
          <a:bodyPr wrap="square" lIns="0" tIns="0" rIns="0" bIns="0" rtlCol="0" anchor="ctr"/>
          <a:lstStyle/>
          <a:p>
            <a:pPr marL="0" indent="0">
              <a:buNone/>
            </a:pPr>
            <a:r>
              <a:rPr lang="en-US" sz="1700" b="1" dirty="0">
                <a:solidFill>
                  <a:srgbClr val="0F766E"/>
                </a:solidFill>
                <a:latin typeface="Cambria" pitchFamily="34" charset="0"/>
                <a:ea typeface="Cambria" pitchFamily="34" charset="-122"/>
                <a:cs typeface="Cambria" pitchFamily="34" charset="-120"/>
              </a:rPr>
              <a:t>G2 Pilot Clean</a:t>
            </a:r>
            <a:endParaRPr lang="en-US" sz="1400" dirty="0"/>
          </a:p>
          <a:p>
            <a:pPr marL="0" indent="0">
              <a:buNone/>
            </a:pPr>
            <a:r>
              <a:rPr lang="en-US" sz="1250" dirty="0">
                <a:solidFill>
                  <a:srgbClr val="64748B"/>
                </a:solidFill>
              </a:rPr>
              <a:t>Signed by the steward and the sponsor</a:t>
            </a:r>
            <a:endParaRPr lang="en-US" sz="1400" dirty="0"/>
          </a:p>
        </p:txBody>
      </p:sp>
      <p:sp>
        <p:nvSpPr>
          <p:cNvPr id="14" name="Gate panel text 2"/>
          <p:cNvSpPr txBox="1"/>
          <p:nvPr/>
        </p:nvSpPr>
        <p:spPr>
          <a:xfrm>
            <a:off x="6400800" y="2286000"/>
            <a:ext cx="5074920" cy="2286000"/>
          </a:xfrm>
          <a:prstGeom prst="rect">
            <a:avLst/>
          </a:prstGeom>
          <a:noFill/>
          <a:ln/>
        </p:spPr>
        <p:txBody>
          <a:bodyPr wrap="square" lIns="0" tIns="0" rIns="0" bIns="0" rtlCol="0" anchor="t"/>
          <a:lstStyle/>
          <a:p>
            <a:pPr marL="342900" indent="-342900">
              <a:spcAft>
                <a:spcPts val="800"/>
              </a:spcAft>
              <a:buSzPct val="100000"/>
              <a:buChar char="•"/>
            </a:pPr>
            <a:r>
              <a:rPr lang="en-US" sz="1400" dirty="0">
                <a:solidFill>
                  <a:schemeClr val="tx2"/>
                </a:solidFill>
              </a:rPr>
              <a:t>One division, typically IT; the master plan's sizes as a floor</a:t>
            </a:r>
            <a:endParaRPr lang="en-US" sz="1400" dirty="0"/>
          </a:p>
          <a:p>
            <a:pPr marL="342900" indent="-342900">
              <a:spcAft>
                <a:spcPts val="800"/>
              </a:spcAft>
              <a:buSzPct val="100000"/>
              <a:buChar char="•"/>
            </a:pPr>
            <a:r>
              <a:rPr lang="en-US" sz="1400" dirty="0">
                <a:solidFill>
                  <a:schemeClr val="tx2"/>
                </a:solidFill>
              </a:rPr>
              <a:t>Eight measured criteria, set before the pilot opens</a:t>
            </a:r>
            <a:endParaRPr lang="en-US" sz="1400" dirty="0"/>
          </a:p>
          <a:p>
            <a:pPr marL="342900" indent="-342900">
              <a:spcAft>
                <a:spcPts val="800"/>
              </a:spcAft>
              <a:buSzPct val="100000"/>
              <a:buChar char="•"/>
            </a:pPr>
            <a:r>
              <a:rPr lang="en-US" sz="1400" dirty="0">
                <a:solidFill>
                  <a:schemeClr val="tx2"/>
                </a:solidFill>
              </a:rPr>
              <a:t>A rollback for every surface</a:t>
            </a:r>
            <a:endParaRPr lang="en-US" sz="1400" dirty="0"/>
          </a:p>
          <a:p>
            <a:pPr marL="342900" indent="-342900">
              <a:spcAft>
                <a:spcPts val="800"/>
              </a:spcAft>
              <a:buSzPct val="100000"/>
              <a:buChar char="•"/>
            </a:pPr>
            <a:r>
              <a:rPr lang="en-US" sz="1400" dirty="0">
                <a:solidFill>
                  <a:schemeClr val="tx2"/>
                </a:solidFill>
              </a:rPr>
              <a:t>Zero drift for the hold period; every hybrid PC has a cut date</a:t>
            </a:r>
            <a:endParaRPr lang="en-US" sz="1400" dirty="0"/>
          </a:p>
        </p:txBody>
      </p:sp>
      <p:sp>
        <p:nvSpPr>
          <p:cNvPr id="15" name="Decision bar">
            <a:extLst>
              <a:ext uri="{C183D7F6-B498-43B3-948B-1728B52AA6E4}">
                <adec:decorative xmlns:adec="http://schemas.microsoft.com/office/drawing/2017/decorative" val="1"/>
              </a:ext>
            </a:extLst>
          </p:cNvPr>
          <p:cNvSpPr/>
          <p:nvPr/>
        </p:nvSpPr>
        <p:spPr>
          <a:xfrm>
            <a:off x="548640" y="4800600"/>
            <a:ext cx="11109960" cy="1143000"/>
          </a:xfrm>
          <a:prstGeom prst="roundRect">
            <a:avLst>
              <a:gd name="adj" fmla="val 6400"/>
            </a:avLst>
          </a:prstGeom>
          <a:solidFill>
            <a:srgbClr val="FFFFFF"/>
          </a:solidFill>
          <a:ln w="12700">
            <a:solidFill>
              <a:srgbClr val="B45309"/>
            </a:solidFill>
            <a:prstDash val="solid"/>
          </a:ln>
          <a:effectLst>
            <a:outerShdw blurRad="76200" dist="25400" dir="5400000" algn="bl" rotWithShape="0">
              <a:srgbClr val="64748B">
                <a:alpha val="22000"/>
              </a:srgbClr>
            </a:outerShdw>
          </a:effectLst>
        </p:spPr>
      </p:sp>
      <p:sp>
        <p:nvSpPr>
          <p:cNvPr id="16" name="Icon FaScaleBalanced">
            <a:extLst>
              <a:ext uri="{C183D7F6-B498-43B3-948B-1728B52AA6E4}">
                <adec:decorative xmlns:adec="http://schemas.microsoft.com/office/drawing/2017/decorative" val="1"/>
              </a:ext>
            </a:extLst>
          </p:cNvPr>
          <p:cNvSpPr/>
          <p:nvPr/>
        </p:nvSpPr>
        <p:spPr>
          <a:xfrm>
            <a:off x="749808" y="5047488"/>
            <a:ext cx="640080" cy="640080"/>
          </a:xfrm>
          <a:prstGeom prst="ellipse">
            <a:avLst/>
          </a:prstGeom>
          <a:solidFill>
            <a:srgbClr val="B45309"/>
          </a:solidFill>
          <a:ln w="12700">
            <a:solidFill>
              <a:srgbClr val="B45309"/>
            </a:solidFill>
            <a:prstDash val="solid"/>
          </a:ln>
        </p:spPr>
      </p:sp>
      <p:pic>
        <p:nvPicPr>
          <p:cNvPr id="17" name="Image 2">
            <a:extLst>
              <a:ext uri="{C183D7F6-B498-43B3-948B-1728B52AA6E4}">
                <adec:decorative xmlns:adec="http://schemas.microsoft.com/office/drawing/2017/decorative" val="1"/>
              </a:ext>
            </a:extLst>
          </p:cNvPr>
          <p:cNvPicPr>
            <a:picLocks noChangeAspect="1"/>
          </p:cNvPicPr>
          <p:nvPr/>
        </p:nvPicPr>
        <p:blipFill>
          <a:blip r:embed="rId7"/>
          <a:stretch>
            <a:fillRect/>
          </a:stretch>
        </p:blipFill>
        <p:spPr>
          <a:xfrm>
            <a:off x="903427" y="5201107"/>
            <a:ext cx="332842" cy="332842"/>
          </a:xfrm>
          <a:prstGeom prst="rect">
            <a:avLst/>
          </a:prstGeom>
        </p:spPr>
      </p:pic>
      <p:sp>
        <p:nvSpPr>
          <p:cNvPr id="18" name="Decision"/>
          <p:cNvSpPr txBox="1"/>
          <p:nvPr/>
        </p:nvSpPr>
        <p:spPr>
          <a:xfrm>
            <a:off x="1600200" y="4873752"/>
            <a:ext cx="5806440" cy="996696"/>
          </a:xfrm>
          <a:prstGeom prst="rect">
            <a:avLst/>
          </a:prstGeom>
          <a:noFill/>
          <a:ln/>
        </p:spPr>
        <p:txBody>
          <a:bodyPr wrap="square" lIns="0" tIns="0" rIns="0" bIns="0" rtlCol="0" anchor="ctr"/>
          <a:lstStyle/>
          <a:p>
            <a:pPr marL="0" indent="0">
              <a:buNone/>
            </a:pPr>
            <a:r>
              <a:rPr lang="en-US" sz="1100" b="1" kern="0" spc="100" dirty="0">
                <a:solidFill>
                  <a:srgbClr val="B45309"/>
                </a:solidFill>
              </a:rPr>
              <a:t>DECISION</a:t>
            </a:r>
            <a:endParaRPr lang="en-US" sz="1400" dirty="0"/>
          </a:p>
          <a:p>
            <a:pPr marL="0" indent="0">
              <a:buNone/>
            </a:pPr>
            <a:r>
              <a:rPr lang="en-US" sz="1400" dirty="0">
                <a:solidFill>
                  <a:srgbClr val="334155"/>
                </a:solidFill>
              </a:rPr>
              <a:t>Choose the pilot division, record its success thresholds in the decision log before it opens, and sign G2 on the data</a:t>
            </a:r>
            <a:endParaRPr lang="en-US" sz="1400" dirty="0"/>
          </a:p>
        </p:txBody>
      </p:sp>
      <p:sp>
        <p:nvSpPr>
          <p:cNvPr id="19" name="Owner"/>
          <p:cNvSpPr txBox="1"/>
          <p:nvPr/>
        </p:nvSpPr>
        <p:spPr>
          <a:xfrm>
            <a:off x="7589520" y="4873752"/>
            <a:ext cx="2103120" cy="996696"/>
          </a:xfrm>
          <a:prstGeom prst="rect">
            <a:avLst/>
          </a:prstGeom>
          <a:noFill/>
          <a:ln/>
        </p:spPr>
        <p:txBody>
          <a:bodyPr wrap="square" lIns="0" tIns="0" rIns="0" bIns="0" rtlCol="0" anchor="ctr"/>
          <a:lstStyle/>
          <a:p>
            <a:pPr marL="0" indent="0">
              <a:buNone/>
            </a:pPr>
            <a:r>
              <a:rPr lang="en-US" sz="1100" b="1" kern="0" spc="100" dirty="0">
                <a:solidFill>
                  <a:srgbClr val="0F766E"/>
                </a:solidFill>
              </a:rPr>
              <a:t>OWNER</a:t>
            </a:r>
            <a:endParaRPr lang="en-US" sz="1400" dirty="0"/>
          </a:p>
          <a:p>
            <a:pPr marL="0" indent="0">
              <a:buNone/>
            </a:pPr>
            <a:r>
              <a:rPr lang="en-US" sz="1400" dirty="0">
                <a:solidFill>
                  <a:srgbClr val="334155"/>
                </a:solidFill>
              </a:rPr>
              <a:t>Steward and executive sponsor</a:t>
            </a:r>
            <a:endParaRPr lang="en-US" sz="1400" dirty="0"/>
          </a:p>
        </p:txBody>
      </p:sp>
      <p:sp>
        <p:nvSpPr>
          <p:cNvPr id="20" name="When"/>
          <p:cNvSpPr txBox="1"/>
          <p:nvPr/>
        </p:nvSpPr>
        <p:spPr>
          <a:xfrm>
            <a:off x="9784080" y="4873752"/>
            <a:ext cx="1783080" cy="996696"/>
          </a:xfrm>
          <a:prstGeom prst="rect">
            <a:avLst/>
          </a:prstGeom>
          <a:noFill/>
          <a:ln/>
        </p:spPr>
        <p:txBody>
          <a:bodyPr wrap="square" lIns="0" tIns="0" rIns="0" bIns="0" rtlCol="0" anchor="ctr"/>
          <a:lstStyle/>
          <a:p>
            <a:pPr marL="0" indent="0">
              <a:buNone/>
            </a:pPr>
            <a:r>
              <a:rPr lang="en-US" sz="1100" b="1" kern="0" spc="100" dirty="0">
                <a:solidFill>
                  <a:srgbClr val="1F2A44"/>
                </a:solidFill>
              </a:rPr>
              <a:t>NEEDED BY</a:t>
            </a:r>
            <a:endParaRPr lang="en-US" sz="1400" dirty="0"/>
          </a:p>
          <a:p>
            <a:pPr marL="0" indent="0">
              <a:buNone/>
            </a:pPr>
            <a:r>
              <a:rPr lang="en-US" sz="1400" dirty="0">
                <a:solidFill>
                  <a:srgbClr val="334155"/>
                </a:solidFill>
              </a:rPr>
              <a:t>Before the pilot opens</a:t>
            </a:r>
            <a:endParaRPr lang="en-US" sz="1400" dirty="0"/>
          </a:p>
        </p:txBody>
      </p:sp>
      <p:sp>
        <p:nvSpPr>
          <p:cNvPr id="21" name="Sources"/>
          <p:cNvSpPr txBox="1"/>
          <p:nvPr/>
        </p:nvSpPr>
        <p:spPr>
          <a:xfrm>
            <a:off x="548640" y="6053328"/>
            <a:ext cx="10424160" cy="292608"/>
          </a:xfrm>
          <a:prstGeom prst="rect">
            <a:avLst/>
          </a:prstGeom>
          <a:noFill/>
          <a:ln/>
        </p:spPr>
        <p:txBody>
          <a:bodyPr wrap="square" lIns="0" tIns="0" rIns="0" bIns="0" rtlCol="0" anchor="t"/>
          <a:lstStyle/>
          <a:p>
            <a:pPr marL="0" indent="0">
              <a:buNone/>
            </a:pPr>
            <a:r>
              <a:rPr lang="en-US" sz="1000" i="1" dirty="0">
                <a:solidFill>
                  <a:srgbClr val="64748B"/>
                </a:solidFill>
              </a:rPr>
              <a:t>Sources: Microsoft Learn — dynamic membership processing, Plan a Conditional Access deployment, emergency access accounts. Book 00, Chapter 09.</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16</a:t>
            </a:fld>
            <a:endParaRPr lang="en-US"/>
          </a:p>
        </p:txBody>
      </p:sp>
      <p:pic>
        <p:nvPicPr>
          <p:cNvPr id="22" name="Narration" descr="Narration for this slide; captions available">
            <a:hlinkClick r:id="" action="ppaction://media"/>
            <a:extLst>
              <a:ext uri="{FF2B5EF4-FFF2-40B4-BE49-F238E27FC236}">
                <a16:creationId xmlns:a16="http://schemas.microsoft.com/office/drawing/2014/main" id="{6F5AA380-A8EB-BD36-EE93-3AA5CBA19CB6}"/>
              </a:ext>
            </a:extLst>
          </p:cNvPr>
          <p:cNvPicPr>
            <a:picLocks noChangeAspect="1"/>
          </p:cNvPicPr>
          <p:nvPr>
            <a:audioFile r:link="rId2"/>
            <p:extLst>
              <p:ext uri="{DAA4B4D4-6D71-4841-9C94-3DE7FCFB9230}">
                <p14:media xmlns:p14="http://schemas.microsoft.com/office/powerpoint/2010/main" r:embed="rId1">
                  <p14:extLst>
                    <p:ext uri="{3AFAAA56-56D3-431D-BCD4-E75A35582382}">
                      <p173:tracksInfo xmlns:p173="http://schemas.microsoft.com/office/powerpoint/2017/3/main" displayLoc="slide">
                        <p173:trackLst>
                          <p173:track id="{9DB22E62-3ED3-49BF-8AE1-50DB4A224999}" label="English (captions)" lang="en-US" r:embed="rId9"/>
                        </p173:trackLst>
                      </p173:tracksInfo>
                    </p:ext>
                  </p14:extLst>
                </p14:media>
              </p:ext>
            </p:extLst>
          </p:nvPr>
        </p:nvPicPr>
        <p:blipFill>
          <a:blip r:embed="rId8"/>
          <a:stretch>
            <a:fillRect/>
          </a:stretch>
        </p:blipFill>
        <p:spPr>
          <a:xfrm>
            <a:off x="127000" y="6350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73100"/>
    </mc:Choice>
    <mc:Fallback>
      <p:transition spd="slow" advTm="7310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69096" fill="hold"/>
                                        <p:tgtEl>
                                          <p:spTgt spid="22"/>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57200"/>
            <a:ext cx="11064240" cy="777240"/>
          </a:xfrm>
          <a:prstGeom prst="rect">
            <a:avLst/>
          </a:prstGeom>
          <a:noFill/>
          <a:ln/>
        </p:spPr>
        <p:txBody>
          <a:bodyPr wrap="square" lIns="0" tIns="0" rIns="0" bIns="0" rtlCol="0" anchor="ctr"/>
          <a:lstStyle/>
          <a:p>
            <a:pPr marL="0" indent="0" algn="ctr">
              <a:buNone/>
            </a:pPr>
            <a:r>
              <a:rPr lang="en-US" sz="3000" b="1" dirty="0">
                <a:solidFill>
                  <a:schemeClr val="tx1"/>
                </a:solidFill>
                <a:latin typeface="Cambria" pitchFamily="34" charset="0"/>
                <a:ea typeface="Cambria" pitchFamily="34" charset="-122"/>
                <a:cs typeface="Cambria" pitchFamily="34" charset="-120"/>
              </a:rPr>
              <a:t>Roll out in waves, then retire only what nothing uses</a:t>
            </a:r>
            <a:endParaRPr lang="en-US" sz="3000" dirty="0"/>
          </a:p>
        </p:txBody>
      </p:sp>
      <p:sp>
        <p:nvSpPr>
          <p:cNvPr id="3" name="Tag How">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B45309"/>
          </a:solidFill>
          <a:ln w="12700">
            <a:solidFill>
              <a:srgbClr val="B45309"/>
            </a:solidFill>
            <a:prstDash val="solid"/>
          </a:ln>
        </p:spPr>
      </p:sp>
      <p:sp>
        <p:nvSpPr>
          <p:cNvPr id="4" name="Tag How text"/>
          <p:cNvSpPr txBox="1"/>
          <p:nvPr/>
        </p:nvSpPr>
        <p:spPr>
          <a:xfrm>
            <a:off x="548640" y="109728"/>
            <a:ext cx="868680" cy="292608"/>
          </a:xfrm>
          <a:prstGeom prst="rect">
            <a:avLst/>
          </a:prstGeom>
          <a:noFill/>
          <a:ln/>
        </p:spPr>
        <p:txBody>
          <a:bodyPr wrap="square" lIns="0" tIns="0" rIns="0" bIns="0" rtlCol="0" anchor="ctr"/>
          <a:lstStyle/>
          <a:p>
            <a:pPr marL="0" indent="0" algn="ctr">
              <a:buNone/>
            </a:pPr>
            <a:r>
              <a:rPr lang="en-US" sz="1100" b="1" kern="0" spc="100" dirty="0">
                <a:solidFill>
                  <a:srgbClr val="FFFFFF"/>
                </a:solidFill>
              </a:rPr>
              <a:t>HOW</a:t>
            </a:r>
            <a:endParaRPr lang="en-US" sz="1100" dirty="0"/>
          </a:p>
        </p:txBody>
      </p:sp>
      <p:sp>
        <p:nvSpPr>
          <p:cNvPr id="5" name="Retire card 1">
            <a:extLst>
              <a:ext uri="{C183D7F6-B498-43B3-948B-1728B52AA6E4}">
                <adec:decorative xmlns:adec="http://schemas.microsoft.com/office/drawing/2017/decorative" val="1"/>
              </a:ext>
            </a:extLst>
          </p:cNvPr>
          <p:cNvSpPr/>
          <p:nvPr/>
        </p:nvSpPr>
        <p:spPr>
          <a:xfrm>
            <a:off x="548640" y="1371600"/>
            <a:ext cx="3611880" cy="3291840"/>
          </a:xfrm>
          <a:prstGeom prst="roundRect">
            <a:avLst>
              <a:gd name="adj" fmla="val 2222"/>
            </a:avLst>
          </a:prstGeom>
          <a:solidFill>
            <a:srgbClr val="E4EAF4"/>
          </a:solidFill>
          <a:ln w="12700">
            <a:solidFill>
              <a:srgbClr val="E4EAF4"/>
            </a:solidFill>
            <a:prstDash val="solid"/>
          </a:ln>
          <a:effectLst>
            <a:outerShdw blurRad="76200" dist="25400" dir="5400000" algn="bl" rotWithShape="0">
              <a:srgbClr val="64748B">
                <a:alpha val="22000"/>
              </a:srgbClr>
            </a:outerShdw>
          </a:effectLst>
        </p:spPr>
      </p:sp>
      <p:sp>
        <p:nvSpPr>
          <p:cNvPr id="6" name="Icon FaArrowsRotate">
            <a:extLst>
              <a:ext uri="{C183D7F6-B498-43B3-948B-1728B52AA6E4}">
                <adec:decorative xmlns:adec="http://schemas.microsoft.com/office/drawing/2017/decorative" val="1"/>
              </a:ext>
            </a:extLst>
          </p:cNvPr>
          <p:cNvSpPr/>
          <p:nvPr/>
        </p:nvSpPr>
        <p:spPr>
          <a:xfrm>
            <a:off x="749808" y="1508760"/>
            <a:ext cx="566928" cy="566928"/>
          </a:xfrm>
          <a:prstGeom prst="ellipse">
            <a:avLst/>
          </a:prstGeom>
          <a:solidFill>
            <a:srgbClr val="1F2A44"/>
          </a:solidFill>
          <a:ln w="12700">
            <a:solidFill>
              <a:srgbClr val="1F2A44"/>
            </a:solidFill>
            <a:prstDash val="solid"/>
          </a:ln>
        </p:spPr>
      </p:sp>
      <p:pic>
        <p:nvPicPr>
          <p:cNvPr id="7" name="Image 0">
            <a:extLst>
              <a:ext uri="{C183D7F6-B498-43B3-948B-1728B52AA6E4}">
                <adec:decorative xmlns:adec="http://schemas.microsoft.com/office/drawing/2017/decorative" val="1"/>
              </a:ext>
            </a:extLst>
          </p:cNvPr>
          <p:cNvPicPr>
            <a:picLocks noChangeAspect="1"/>
          </p:cNvPicPr>
          <p:nvPr/>
        </p:nvPicPr>
        <p:blipFill>
          <a:blip r:embed="rId5"/>
          <a:stretch>
            <a:fillRect/>
          </a:stretch>
        </p:blipFill>
        <p:spPr>
          <a:xfrm>
            <a:off x="885871" y="1644823"/>
            <a:ext cx="294803" cy="294803"/>
          </a:xfrm>
          <a:prstGeom prst="rect">
            <a:avLst/>
          </a:prstGeom>
        </p:spPr>
      </p:pic>
      <p:sp>
        <p:nvSpPr>
          <p:cNvPr id="8" name="Retire head 1"/>
          <p:cNvSpPr txBox="1"/>
          <p:nvPr/>
        </p:nvSpPr>
        <p:spPr>
          <a:xfrm>
            <a:off x="1463040" y="1508760"/>
            <a:ext cx="2560320" cy="566928"/>
          </a:xfrm>
          <a:prstGeom prst="rect">
            <a:avLst/>
          </a:prstGeom>
          <a:noFill/>
          <a:ln/>
        </p:spPr>
        <p:txBody>
          <a:bodyPr wrap="square" lIns="0" tIns="0" rIns="0" bIns="0" rtlCol="0" anchor="ctr"/>
          <a:lstStyle/>
          <a:p>
            <a:pPr marL="0" indent="0">
              <a:buNone/>
            </a:pPr>
            <a:r>
              <a:rPr lang="en-US" sz="1700" b="1" dirty="0">
                <a:solidFill>
                  <a:srgbClr val="1F2A44"/>
                </a:solidFill>
                <a:latin typeface="Cambria" pitchFamily="34" charset="0"/>
                <a:ea typeface="Cambria" pitchFamily="34" charset="-122"/>
                <a:cs typeface="Cambria" pitchFamily="34" charset="-120"/>
              </a:rPr>
              <a:t>Phase 3: waves</a:t>
            </a:r>
            <a:endParaRPr lang="en-US" sz="1700" dirty="0"/>
          </a:p>
        </p:txBody>
      </p:sp>
      <p:sp>
        <p:nvSpPr>
          <p:cNvPr id="9" name="Retire text 1"/>
          <p:cNvSpPr txBox="1"/>
          <p:nvPr/>
        </p:nvSpPr>
        <p:spPr>
          <a:xfrm>
            <a:off x="777240" y="2212848"/>
            <a:ext cx="3200400" cy="2377440"/>
          </a:xfrm>
          <a:prstGeom prst="rect">
            <a:avLst/>
          </a:prstGeom>
          <a:noFill/>
          <a:ln/>
        </p:spPr>
        <p:txBody>
          <a:bodyPr wrap="square" lIns="0" tIns="0" rIns="0" bIns="0" rtlCol="0" anchor="t"/>
          <a:lstStyle/>
          <a:p>
            <a:pPr marL="342900" indent="-342900">
              <a:spcAft>
                <a:spcPts val="600"/>
              </a:spcAft>
              <a:buSzPct val="100000"/>
              <a:buChar char="•"/>
            </a:pPr>
            <a:r>
              <a:rPr lang="en-US" sz="1300" dirty="0">
                <a:solidFill>
                  <a:schemeClr val="tx2"/>
                </a:solidFill>
              </a:rPr>
              <a:t>Divisions chosen by attribute value</a:t>
            </a:r>
            <a:endParaRPr lang="en-US" sz="1400" dirty="0"/>
          </a:p>
          <a:p>
            <a:pPr marL="342900" indent="-342900">
              <a:spcAft>
                <a:spcPts val="600"/>
              </a:spcAft>
              <a:buSzPct val="100000"/>
              <a:buChar char="•"/>
            </a:pPr>
            <a:r>
              <a:rPr lang="en-US" sz="1300" dirty="0">
                <a:solidFill>
                  <a:schemeClr val="tx2"/>
                </a:solidFill>
              </a:rPr>
              <a:t>The lowest-risk region first</a:t>
            </a:r>
            <a:endParaRPr lang="en-US" sz="1400" dirty="0"/>
          </a:p>
          <a:p>
            <a:pPr marL="342900" indent="-342900">
              <a:spcAft>
                <a:spcPts val="600"/>
              </a:spcAft>
              <a:buSzPct val="100000"/>
              <a:buChar char="•"/>
            </a:pPr>
            <a:r>
              <a:rPr lang="en-US" sz="1300" dirty="0">
                <a:solidFill>
                  <a:schemeClr val="tx2"/>
                </a:solidFill>
              </a:rPr>
              <a:t>GPO links kept until 7 clean days</a:t>
            </a:r>
            <a:endParaRPr lang="en-US" sz="1400" dirty="0"/>
          </a:p>
          <a:p>
            <a:pPr marL="342900" indent="-342900">
              <a:spcAft>
                <a:spcPts val="600"/>
              </a:spcAft>
              <a:buSzPct val="100000"/>
              <a:buChar char="•"/>
            </a:pPr>
            <a:r>
              <a:rPr lang="en-US" sz="1300" dirty="0">
                <a:solidFill>
                  <a:schemeClr val="tx2"/>
                </a:solidFill>
              </a:rPr>
              <a:t>G3: sponsor and steering committee</a:t>
            </a:r>
            <a:endParaRPr lang="en-US" sz="1400" dirty="0"/>
          </a:p>
        </p:txBody>
      </p:sp>
      <p:sp>
        <p:nvSpPr>
          <p:cNvPr id="10" name="Retire card 2">
            <a:extLst>
              <a:ext uri="{C183D7F6-B498-43B3-948B-1728B52AA6E4}">
                <adec:decorative xmlns:adec="http://schemas.microsoft.com/office/drawing/2017/decorative" val="1"/>
              </a:ext>
            </a:extLst>
          </p:cNvPr>
          <p:cNvSpPr/>
          <p:nvPr/>
        </p:nvSpPr>
        <p:spPr>
          <a:xfrm>
            <a:off x="4297680" y="1371600"/>
            <a:ext cx="3611880" cy="3291840"/>
          </a:xfrm>
          <a:prstGeom prst="roundRect">
            <a:avLst>
              <a:gd name="adj" fmla="val 2222"/>
            </a:avLst>
          </a:prstGeom>
          <a:solidFill>
            <a:srgbClr val="FBEEDC"/>
          </a:solidFill>
          <a:ln w="12700">
            <a:solidFill>
              <a:srgbClr val="FBEEDC"/>
            </a:solidFill>
            <a:prstDash val="solid"/>
          </a:ln>
          <a:effectLst>
            <a:outerShdw blurRad="76200" dist="25400" dir="5400000" algn="bl" rotWithShape="0">
              <a:srgbClr val="64748B">
                <a:alpha val="22000"/>
              </a:srgbClr>
            </a:outerShdw>
          </a:effectLst>
        </p:spPr>
      </p:sp>
      <p:sp>
        <p:nvSpPr>
          <p:cNvPr id="11" name="Icon FaPlugCircleXmark">
            <a:extLst>
              <a:ext uri="{C183D7F6-B498-43B3-948B-1728B52AA6E4}">
                <adec:decorative xmlns:adec="http://schemas.microsoft.com/office/drawing/2017/decorative" val="1"/>
              </a:ext>
            </a:extLst>
          </p:cNvPr>
          <p:cNvSpPr/>
          <p:nvPr/>
        </p:nvSpPr>
        <p:spPr>
          <a:xfrm>
            <a:off x="4498848" y="1508760"/>
            <a:ext cx="566928" cy="566928"/>
          </a:xfrm>
          <a:prstGeom prst="ellipse">
            <a:avLst/>
          </a:prstGeom>
          <a:solidFill>
            <a:srgbClr val="B45309"/>
          </a:solidFill>
          <a:ln w="12700">
            <a:solidFill>
              <a:srgbClr val="B45309"/>
            </a:solidFill>
            <a:prstDash val="solid"/>
          </a:ln>
        </p:spPr>
      </p:sp>
      <p:pic>
        <p:nvPicPr>
          <p:cNvPr id="12" name="Image 1">
            <a:extLst>
              <a:ext uri="{C183D7F6-B498-43B3-948B-1728B52AA6E4}">
                <adec:decorative xmlns:adec="http://schemas.microsoft.com/office/drawing/2017/decorative" val="1"/>
              </a:ext>
            </a:extLst>
          </p:cNvPr>
          <p:cNvPicPr>
            <a:picLocks noChangeAspect="1"/>
          </p:cNvPicPr>
          <p:nvPr/>
        </p:nvPicPr>
        <p:blipFill>
          <a:blip r:embed="rId6"/>
          <a:stretch>
            <a:fillRect/>
          </a:stretch>
        </p:blipFill>
        <p:spPr>
          <a:xfrm>
            <a:off x="4634911" y="1644823"/>
            <a:ext cx="294803" cy="294803"/>
          </a:xfrm>
          <a:prstGeom prst="rect">
            <a:avLst/>
          </a:prstGeom>
        </p:spPr>
      </p:pic>
      <p:sp>
        <p:nvSpPr>
          <p:cNvPr id="13" name="Retire head 2"/>
          <p:cNvSpPr txBox="1"/>
          <p:nvPr/>
        </p:nvSpPr>
        <p:spPr>
          <a:xfrm>
            <a:off x="5212080" y="1508760"/>
            <a:ext cx="2560320" cy="566928"/>
          </a:xfrm>
          <a:prstGeom prst="rect">
            <a:avLst/>
          </a:prstGeom>
          <a:noFill/>
          <a:ln/>
        </p:spPr>
        <p:txBody>
          <a:bodyPr wrap="square" lIns="0" tIns="0" rIns="0" bIns="0" rtlCol="0" anchor="ctr"/>
          <a:lstStyle/>
          <a:p>
            <a:pPr marL="0" indent="0">
              <a:buNone/>
            </a:pPr>
            <a:r>
              <a:rPr lang="en-US" sz="1700" b="1" dirty="0">
                <a:solidFill>
                  <a:srgbClr val="B45309"/>
                </a:solidFill>
                <a:latin typeface="Cambria" pitchFamily="34" charset="0"/>
                <a:ea typeface="Cambria" pitchFamily="34" charset="-122"/>
                <a:cs typeface="Cambria" pitchFamily="34" charset="-120"/>
              </a:rPr>
              <a:t>Phase 4: legacy</a:t>
            </a:r>
            <a:endParaRPr lang="en-US" sz="1700" dirty="0"/>
          </a:p>
        </p:txBody>
      </p:sp>
      <p:sp>
        <p:nvSpPr>
          <p:cNvPr id="14" name="Retire text 2"/>
          <p:cNvSpPr txBox="1"/>
          <p:nvPr/>
        </p:nvSpPr>
        <p:spPr>
          <a:xfrm>
            <a:off x="4526280" y="2212848"/>
            <a:ext cx="3200400" cy="2377440"/>
          </a:xfrm>
          <a:prstGeom prst="rect">
            <a:avLst/>
          </a:prstGeom>
          <a:noFill/>
          <a:ln/>
        </p:spPr>
        <p:txBody>
          <a:bodyPr wrap="square" lIns="0" tIns="0" rIns="0" bIns="0" rtlCol="0" anchor="t"/>
          <a:lstStyle/>
          <a:p>
            <a:pPr marL="342900" indent="-342900">
              <a:spcAft>
                <a:spcPts val="600"/>
              </a:spcAft>
              <a:buSzPct val="100000"/>
              <a:buChar char="•"/>
            </a:pPr>
            <a:r>
              <a:rPr lang="en-US" sz="1300" dirty="0">
                <a:solidFill>
                  <a:schemeClr val="tx2"/>
                </a:solidFill>
              </a:rPr>
              <a:t>AD FS, AD CS issuance, forwarders, links, trusts</a:t>
            </a:r>
            <a:endParaRPr lang="en-US" sz="1400" dirty="0"/>
          </a:p>
          <a:p>
            <a:pPr marL="342900" indent="-342900">
              <a:spcAft>
                <a:spcPts val="600"/>
              </a:spcAft>
              <a:buSzPct val="100000"/>
              <a:buChar char="•"/>
            </a:pPr>
            <a:r>
              <a:rPr lang="en-US" sz="1300" dirty="0">
                <a:solidFill>
                  <a:schemeClr val="tx2"/>
                </a:solidFill>
              </a:rPr>
              <a:t>Retired only while its rollback works</a:t>
            </a:r>
            <a:endParaRPr lang="en-US" sz="1400" dirty="0"/>
          </a:p>
          <a:p>
            <a:pPr marL="342900" indent="-342900">
              <a:spcAft>
                <a:spcPts val="600"/>
              </a:spcAft>
              <a:buSzPct val="100000"/>
              <a:buChar char="•"/>
            </a:pPr>
            <a:r>
              <a:rPr lang="en-US" sz="1300" dirty="0">
                <a:solidFill>
                  <a:schemeClr val="tx2"/>
                </a:solidFill>
              </a:rPr>
              <a:t>The domain's own zones and DC certificates stay</a:t>
            </a:r>
            <a:endParaRPr lang="en-US" sz="1400" dirty="0"/>
          </a:p>
          <a:p>
            <a:pPr marL="342900" indent="-342900">
              <a:spcAft>
                <a:spcPts val="600"/>
              </a:spcAft>
              <a:buSzPct val="100000"/>
              <a:buChar char="•"/>
            </a:pPr>
            <a:r>
              <a:rPr lang="en-US" sz="1300" dirty="0">
                <a:solidFill>
                  <a:schemeClr val="tx2"/>
                </a:solidFill>
              </a:rPr>
              <a:t>G4: the steward</a:t>
            </a:r>
            <a:endParaRPr lang="en-US" sz="1400" dirty="0"/>
          </a:p>
        </p:txBody>
      </p:sp>
      <p:sp>
        <p:nvSpPr>
          <p:cNvPr id="15" name="Retire card 3">
            <a:extLst>
              <a:ext uri="{C183D7F6-B498-43B3-948B-1728B52AA6E4}">
                <adec:decorative xmlns:adec="http://schemas.microsoft.com/office/drawing/2017/decorative" val="1"/>
              </a:ext>
            </a:extLst>
          </p:cNvPr>
          <p:cNvSpPr/>
          <p:nvPr/>
        </p:nvSpPr>
        <p:spPr>
          <a:xfrm>
            <a:off x="8046720" y="1371600"/>
            <a:ext cx="3611880" cy="3291840"/>
          </a:xfrm>
          <a:prstGeom prst="roundRect">
            <a:avLst>
              <a:gd name="adj" fmla="val 2222"/>
            </a:avLst>
          </a:prstGeom>
          <a:solidFill>
            <a:srgbClr val="FBE4E4"/>
          </a:solidFill>
          <a:ln w="12700">
            <a:solidFill>
              <a:srgbClr val="FBE4E4"/>
            </a:solidFill>
            <a:prstDash val="solid"/>
          </a:ln>
          <a:effectLst>
            <a:outerShdw blurRad="76200" dist="25400" dir="5400000" algn="bl" rotWithShape="0">
              <a:srgbClr val="64748B">
                <a:alpha val="22000"/>
              </a:srgbClr>
            </a:outerShdw>
          </a:effectLst>
        </p:spPr>
      </p:sp>
      <p:sp>
        <p:nvSpPr>
          <p:cNvPr id="16" name="Icon FaServer">
            <a:extLst>
              <a:ext uri="{C183D7F6-B498-43B3-948B-1728B52AA6E4}">
                <adec:decorative xmlns:adec="http://schemas.microsoft.com/office/drawing/2017/decorative" val="1"/>
              </a:ext>
            </a:extLst>
          </p:cNvPr>
          <p:cNvSpPr/>
          <p:nvPr/>
        </p:nvSpPr>
        <p:spPr>
          <a:xfrm>
            <a:off x="8247888" y="1508760"/>
            <a:ext cx="566928" cy="566928"/>
          </a:xfrm>
          <a:prstGeom prst="ellipse">
            <a:avLst/>
          </a:prstGeom>
          <a:solidFill>
            <a:srgbClr val="B91C1C"/>
          </a:solidFill>
          <a:ln w="12700">
            <a:solidFill>
              <a:srgbClr val="B91C1C"/>
            </a:solidFill>
            <a:prstDash val="solid"/>
          </a:ln>
        </p:spPr>
      </p:sp>
      <p:pic>
        <p:nvPicPr>
          <p:cNvPr id="17" name="Image 2">
            <a:extLst>
              <a:ext uri="{C183D7F6-B498-43B3-948B-1728B52AA6E4}">
                <adec:decorative xmlns:adec="http://schemas.microsoft.com/office/drawing/2017/decorative" val="1"/>
              </a:ext>
            </a:extLst>
          </p:cNvPr>
          <p:cNvPicPr>
            <a:picLocks noChangeAspect="1"/>
          </p:cNvPicPr>
          <p:nvPr/>
        </p:nvPicPr>
        <p:blipFill>
          <a:blip r:embed="rId7"/>
          <a:stretch>
            <a:fillRect/>
          </a:stretch>
        </p:blipFill>
        <p:spPr>
          <a:xfrm>
            <a:off x="8383951" y="1644823"/>
            <a:ext cx="294803" cy="294803"/>
          </a:xfrm>
          <a:prstGeom prst="rect">
            <a:avLst/>
          </a:prstGeom>
        </p:spPr>
      </p:pic>
      <p:sp>
        <p:nvSpPr>
          <p:cNvPr id="18" name="Retire head 3"/>
          <p:cNvSpPr txBox="1"/>
          <p:nvPr/>
        </p:nvSpPr>
        <p:spPr>
          <a:xfrm>
            <a:off x="8961120" y="1508760"/>
            <a:ext cx="2560320" cy="566928"/>
          </a:xfrm>
          <a:prstGeom prst="rect">
            <a:avLst/>
          </a:prstGeom>
          <a:noFill/>
          <a:ln/>
        </p:spPr>
        <p:txBody>
          <a:bodyPr wrap="square" lIns="0" tIns="0" rIns="0" bIns="0" rtlCol="0" anchor="ctr"/>
          <a:lstStyle/>
          <a:p>
            <a:pPr marL="0" indent="0">
              <a:buNone/>
            </a:pPr>
            <a:r>
              <a:rPr lang="en-US" sz="1700" b="1" dirty="0">
                <a:solidFill>
                  <a:srgbClr val="B91C1C"/>
                </a:solidFill>
                <a:latin typeface="Cambria" pitchFamily="34" charset="0"/>
                <a:ea typeface="Cambria" pitchFamily="34" charset="-122"/>
                <a:cs typeface="Cambria" pitchFamily="34" charset="-120"/>
              </a:rPr>
              <a:t>Phase 5: AD DS</a:t>
            </a:r>
            <a:endParaRPr lang="en-US" sz="1700" dirty="0"/>
          </a:p>
        </p:txBody>
      </p:sp>
      <p:sp>
        <p:nvSpPr>
          <p:cNvPr id="19" name="Retire text 3"/>
          <p:cNvSpPr txBox="1"/>
          <p:nvPr/>
        </p:nvSpPr>
        <p:spPr>
          <a:xfrm>
            <a:off x="8275320" y="2212848"/>
            <a:ext cx="3200400" cy="2377440"/>
          </a:xfrm>
          <a:prstGeom prst="rect">
            <a:avLst/>
          </a:prstGeom>
          <a:noFill/>
          <a:ln/>
        </p:spPr>
        <p:txBody>
          <a:bodyPr wrap="square" lIns="0" tIns="0" rIns="0" bIns="0" rtlCol="0" anchor="t"/>
          <a:lstStyle/>
          <a:p>
            <a:pPr marL="342900" indent="-342900">
              <a:spcAft>
                <a:spcPts val="600"/>
              </a:spcAft>
              <a:buSzPct val="100000"/>
              <a:buChar char="•"/>
            </a:pPr>
            <a:r>
              <a:rPr lang="en-US" sz="1300" dirty="0">
                <a:solidFill>
                  <a:schemeClr val="tx2"/>
                </a:solidFill>
              </a:rPr>
              <a:t>Records officer consulted first</a:t>
            </a:r>
            <a:endParaRPr lang="en-US" sz="1400" dirty="0"/>
          </a:p>
          <a:p>
            <a:pPr marL="342900" indent="-342900">
              <a:spcAft>
                <a:spcPts val="600"/>
              </a:spcAft>
              <a:buSzPct val="100000"/>
              <a:buChar char="•"/>
            </a:pPr>
            <a:r>
              <a:rPr lang="en-US" sz="1300" dirty="0">
                <a:solidFill>
                  <a:schemeClr val="tx2"/>
                </a:solidFill>
              </a:rPr>
              <a:t>Retired disks sanitized: they hold hashes</a:t>
            </a:r>
            <a:endParaRPr lang="en-US" sz="1400" dirty="0"/>
          </a:p>
          <a:p>
            <a:pPr marL="342900" indent="-342900">
              <a:spcAft>
                <a:spcPts val="600"/>
              </a:spcAft>
              <a:buSzPct val="100000"/>
              <a:buChar char="•"/>
            </a:pPr>
            <a:r>
              <a:rPr lang="en-US" sz="1300" dirty="0">
                <a:solidFill>
                  <a:schemeClr val="tx2"/>
                </a:solidFill>
              </a:rPr>
              <a:t>Or a Kerberos island with an end date</a:t>
            </a:r>
            <a:endParaRPr lang="en-US" sz="1400" dirty="0"/>
          </a:p>
          <a:p>
            <a:pPr marL="342900" indent="-342900">
              <a:spcAft>
                <a:spcPts val="600"/>
              </a:spcAft>
              <a:buSzPct val="100000"/>
              <a:buChar char="•"/>
            </a:pPr>
            <a:r>
              <a:rPr lang="en-US" sz="1300" dirty="0">
                <a:solidFill>
                  <a:schemeClr val="tx2"/>
                </a:solidFill>
              </a:rPr>
              <a:t>G5: the sponsor and CIO</a:t>
            </a:r>
            <a:endParaRPr lang="en-US" sz="1400" dirty="0"/>
          </a:p>
        </p:txBody>
      </p:sp>
      <p:sp>
        <p:nvSpPr>
          <p:cNvPr id="20" name="Decision bar">
            <a:extLst>
              <a:ext uri="{C183D7F6-B498-43B3-948B-1728B52AA6E4}">
                <adec:decorative xmlns:adec="http://schemas.microsoft.com/office/drawing/2017/decorative" val="1"/>
              </a:ext>
            </a:extLst>
          </p:cNvPr>
          <p:cNvSpPr/>
          <p:nvPr/>
        </p:nvSpPr>
        <p:spPr>
          <a:xfrm>
            <a:off x="548640" y="4800600"/>
            <a:ext cx="11109960" cy="1143000"/>
          </a:xfrm>
          <a:prstGeom prst="roundRect">
            <a:avLst>
              <a:gd name="adj" fmla="val 6400"/>
            </a:avLst>
          </a:prstGeom>
          <a:solidFill>
            <a:srgbClr val="FFFFFF"/>
          </a:solidFill>
          <a:ln w="12700">
            <a:solidFill>
              <a:srgbClr val="B45309"/>
            </a:solidFill>
            <a:prstDash val="solid"/>
          </a:ln>
          <a:effectLst>
            <a:outerShdw blurRad="76200" dist="25400" dir="5400000" algn="bl" rotWithShape="0">
              <a:srgbClr val="64748B">
                <a:alpha val="22000"/>
              </a:srgbClr>
            </a:outerShdw>
          </a:effectLst>
        </p:spPr>
      </p:sp>
      <p:sp>
        <p:nvSpPr>
          <p:cNvPr id="21" name="Icon FaScaleBalanced">
            <a:extLst>
              <a:ext uri="{C183D7F6-B498-43B3-948B-1728B52AA6E4}">
                <adec:decorative xmlns:adec="http://schemas.microsoft.com/office/drawing/2017/decorative" val="1"/>
              </a:ext>
            </a:extLst>
          </p:cNvPr>
          <p:cNvSpPr/>
          <p:nvPr/>
        </p:nvSpPr>
        <p:spPr>
          <a:xfrm>
            <a:off x="749808" y="5047488"/>
            <a:ext cx="640080" cy="640080"/>
          </a:xfrm>
          <a:prstGeom prst="ellipse">
            <a:avLst/>
          </a:prstGeom>
          <a:solidFill>
            <a:srgbClr val="B45309"/>
          </a:solidFill>
          <a:ln w="12700">
            <a:solidFill>
              <a:srgbClr val="B45309"/>
            </a:solidFill>
            <a:prstDash val="solid"/>
          </a:ln>
        </p:spPr>
      </p:sp>
      <p:pic>
        <p:nvPicPr>
          <p:cNvPr id="22" name="Image 3">
            <a:extLst>
              <a:ext uri="{C183D7F6-B498-43B3-948B-1728B52AA6E4}">
                <adec:decorative xmlns:adec="http://schemas.microsoft.com/office/drawing/2017/decorative" val="1"/>
              </a:ext>
            </a:extLst>
          </p:cNvPr>
          <p:cNvPicPr>
            <a:picLocks noChangeAspect="1"/>
          </p:cNvPicPr>
          <p:nvPr/>
        </p:nvPicPr>
        <p:blipFill>
          <a:blip r:embed="rId8"/>
          <a:stretch>
            <a:fillRect/>
          </a:stretch>
        </p:blipFill>
        <p:spPr>
          <a:xfrm>
            <a:off x="903427" y="5201107"/>
            <a:ext cx="332842" cy="332842"/>
          </a:xfrm>
          <a:prstGeom prst="rect">
            <a:avLst/>
          </a:prstGeom>
        </p:spPr>
      </p:pic>
      <p:sp>
        <p:nvSpPr>
          <p:cNvPr id="23" name="Decision"/>
          <p:cNvSpPr txBox="1"/>
          <p:nvPr/>
        </p:nvSpPr>
        <p:spPr>
          <a:xfrm>
            <a:off x="1600200" y="4873752"/>
            <a:ext cx="5806440" cy="996696"/>
          </a:xfrm>
          <a:prstGeom prst="rect">
            <a:avLst/>
          </a:prstGeom>
          <a:noFill/>
          <a:ln/>
        </p:spPr>
        <p:txBody>
          <a:bodyPr wrap="square" lIns="0" tIns="0" rIns="0" bIns="0" rtlCol="0" anchor="ctr"/>
          <a:lstStyle/>
          <a:p>
            <a:pPr marL="0" indent="0">
              <a:buNone/>
            </a:pPr>
            <a:r>
              <a:rPr lang="en-US" sz="1100" b="1" kern="0" spc="100" dirty="0">
                <a:solidFill>
                  <a:srgbClr val="B45309"/>
                </a:solidFill>
              </a:rPr>
              <a:t>DECISION</a:t>
            </a:r>
            <a:endParaRPr lang="en-US" sz="1400" dirty="0"/>
          </a:p>
          <a:p>
            <a:pPr marL="0" indent="0">
              <a:buNone/>
            </a:pPr>
            <a:r>
              <a:rPr lang="en-US" sz="1400" dirty="0">
                <a:solidFill>
                  <a:srgbClr val="334155"/>
                </a:solidFill>
              </a:rPr>
              <a:t>Decide when each Active Directory component retires, after the records officer has been consulted about the records it holds</a:t>
            </a:r>
            <a:endParaRPr lang="en-US" sz="1400" dirty="0"/>
          </a:p>
        </p:txBody>
      </p:sp>
      <p:sp>
        <p:nvSpPr>
          <p:cNvPr id="24" name="Owner"/>
          <p:cNvSpPr txBox="1"/>
          <p:nvPr/>
        </p:nvSpPr>
        <p:spPr>
          <a:xfrm>
            <a:off x="7589520" y="4873752"/>
            <a:ext cx="2103120" cy="996696"/>
          </a:xfrm>
          <a:prstGeom prst="rect">
            <a:avLst/>
          </a:prstGeom>
          <a:noFill/>
          <a:ln/>
        </p:spPr>
        <p:txBody>
          <a:bodyPr wrap="square" lIns="0" tIns="0" rIns="0" bIns="0" rtlCol="0" anchor="ctr"/>
          <a:lstStyle/>
          <a:p>
            <a:pPr marL="0" indent="0">
              <a:buNone/>
            </a:pPr>
            <a:r>
              <a:rPr lang="en-US" sz="1100" b="1" kern="0" spc="100" dirty="0">
                <a:solidFill>
                  <a:srgbClr val="0F766E"/>
                </a:solidFill>
              </a:rPr>
              <a:t>OWNER</a:t>
            </a:r>
            <a:endParaRPr lang="en-US" sz="1400" dirty="0"/>
          </a:p>
          <a:p>
            <a:pPr marL="0" indent="0">
              <a:buNone/>
            </a:pPr>
            <a:r>
              <a:rPr lang="en-US" sz="1400" dirty="0">
                <a:solidFill>
                  <a:srgbClr val="334155"/>
                </a:solidFill>
              </a:rPr>
              <a:t>Executive sponsor and CIO</a:t>
            </a:r>
            <a:endParaRPr lang="en-US" sz="1400" dirty="0"/>
          </a:p>
        </p:txBody>
      </p:sp>
      <p:sp>
        <p:nvSpPr>
          <p:cNvPr id="25" name="When"/>
          <p:cNvSpPr txBox="1"/>
          <p:nvPr/>
        </p:nvSpPr>
        <p:spPr>
          <a:xfrm>
            <a:off x="9784080" y="4873752"/>
            <a:ext cx="1783080" cy="996696"/>
          </a:xfrm>
          <a:prstGeom prst="rect">
            <a:avLst/>
          </a:prstGeom>
          <a:noFill/>
          <a:ln/>
        </p:spPr>
        <p:txBody>
          <a:bodyPr wrap="square" lIns="0" tIns="0" rIns="0" bIns="0" rtlCol="0" anchor="ctr"/>
          <a:lstStyle/>
          <a:p>
            <a:pPr marL="0" indent="0">
              <a:buNone/>
            </a:pPr>
            <a:r>
              <a:rPr lang="en-US" sz="1100" b="1" kern="0" spc="100" dirty="0">
                <a:solidFill>
                  <a:srgbClr val="1F2A44"/>
                </a:solidFill>
              </a:rPr>
              <a:t>NEEDED BY</a:t>
            </a:r>
            <a:endParaRPr lang="en-US" sz="1400" dirty="0"/>
          </a:p>
          <a:p>
            <a:pPr marL="0" indent="0">
              <a:buNone/>
            </a:pPr>
            <a:r>
              <a:rPr lang="en-US" sz="1400" dirty="0">
                <a:solidFill>
                  <a:srgbClr val="334155"/>
                </a:solidFill>
              </a:rPr>
              <a:t>Before any domain controller goes</a:t>
            </a:r>
            <a:endParaRPr lang="en-US" sz="1400" dirty="0"/>
          </a:p>
        </p:txBody>
      </p:sp>
      <p:sp>
        <p:nvSpPr>
          <p:cNvPr id="26" name="Sources"/>
          <p:cNvSpPr txBox="1"/>
          <p:nvPr/>
        </p:nvSpPr>
        <p:spPr>
          <a:xfrm>
            <a:off x="548640" y="6053328"/>
            <a:ext cx="10424160" cy="292608"/>
          </a:xfrm>
          <a:prstGeom prst="rect">
            <a:avLst/>
          </a:prstGeom>
          <a:noFill/>
          <a:ln/>
        </p:spPr>
        <p:txBody>
          <a:bodyPr wrap="square" lIns="0" tIns="0" rIns="0" bIns="0" rtlCol="0" anchor="t"/>
          <a:lstStyle/>
          <a:p>
            <a:pPr marL="0" indent="0">
              <a:buNone/>
            </a:pPr>
            <a:r>
              <a:rPr lang="en-US" sz="1000" i="1" dirty="0">
                <a:solidFill>
                  <a:srgbClr val="64748B"/>
                </a:solidFill>
              </a:rPr>
              <a:t>Sources: Microsoft Learn — AD FS decommission guide, Group Policy for domain controllers, Active Directory accounts; NIST SP 800-88 Rev. 2. Book 00, Chapters 07, 09 and 10.</a:t>
            </a:r>
            <a:endParaRPr lang="en-US" sz="1000" dirty="0"/>
          </a:p>
        </p:txBody>
      </p:sp>
      <p:sp>
        <p:nvSpPr>
          <p:cNvPr id="27"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17</a:t>
            </a:fld>
            <a:endParaRPr lang="en-US"/>
          </a:p>
        </p:txBody>
      </p:sp>
      <p:pic>
        <p:nvPicPr>
          <p:cNvPr id="28" name="Narration" descr="Narration for this slide; captions available">
            <a:hlinkClick r:id="" action="ppaction://media"/>
            <a:extLst>
              <a:ext uri="{FF2B5EF4-FFF2-40B4-BE49-F238E27FC236}">
                <a16:creationId xmlns:a16="http://schemas.microsoft.com/office/drawing/2014/main" id="{83E52815-89A7-36B5-6301-1078751B1000}"/>
              </a:ext>
            </a:extLst>
          </p:cNvPr>
          <p:cNvPicPr>
            <a:picLocks noChangeAspect="1"/>
          </p:cNvPicPr>
          <p:nvPr>
            <a:audioFile r:link="rId2"/>
            <p:extLst>
              <p:ext uri="{DAA4B4D4-6D71-4841-9C94-3DE7FCFB9230}">
                <p14:media xmlns:p14="http://schemas.microsoft.com/office/powerpoint/2010/main" r:embed="rId1">
                  <p14:extLst>
                    <p:ext uri="{3AFAAA56-56D3-431D-BCD4-E75A35582382}">
                      <p173:tracksInfo xmlns:p173="http://schemas.microsoft.com/office/powerpoint/2017/3/main" displayLoc="slide">
                        <p173:trackLst>
                          <p173:track id="{6EA8FF0E-B09D-48DB-91DE-3BBF2BF8D9FF}" label="English (captions)" lang="en-US" r:embed="rId10"/>
                        </p173:trackLst>
                      </p173:tracksInfo>
                    </p:ext>
                  </p14:extLst>
                </p14:media>
              </p:ext>
            </p:extLst>
          </p:nvPr>
        </p:nvPicPr>
        <p:blipFill>
          <a:blip r:embed="rId9"/>
          <a:stretch>
            <a:fillRect/>
          </a:stretch>
        </p:blipFill>
        <p:spPr>
          <a:xfrm>
            <a:off x="127000" y="6350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72640"/>
    </mc:Choice>
    <mc:Fallback>
      <p:transition spd="slow" advTm="7264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68640" fill="hold"/>
                                        <p:tgtEl>
                                          <p:spTgt spid="28"/>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57200"/>
            <a:ext cx="11064240" cy="777240"/>
          </a:xfrm>
          <a:prstGeom prst="rect">
            <a:avLst/>
          </a:prstGeom>
          <a:noFill/>
          <a:ln/>
        </p:spPr>
        <p:txBody>
          <a:bodyPr wrap="square" lIns="0" tIns="0" rIns="0" bIns="0" rtlCol="0" anchor="ctr"/>
          <a:lstStyle/>
          <a:p>
            <a:pPr marL="0" indent="0" algn="ctr">
              <a:buNone/>
            </a:pPr>
            <a:r>
              <a:rPr lang="en-US" sz="3000" b="1" dirty="0">
                <a:solidFill>
                  <a:schemeClr val="tx1"/>
                </a:solidFill>
                <a:latin typeface="Cambria" pitchFamily="34" charset="0"/>
                <a:ea typeface="Cambria" pitchFamily="34" charset="-122"/>
                <a:cs typeface="Cambria" pitchFamily="34" charset="-120"/>
              </a:rPr>
              <a:t>Steady state, and what success looks like</a:t>
            </a:r>
            <a:endParaRPr lang="en-US" sz="3000" dirty="0"/>
          </a:p>
        </p:txBody>
      </p:sp>
      <p:sp>
        <p:nvSpPr>
          <p:cNvPr id="3" name="Tag How">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B45309"/>
          </a:solidFill>
          <a:ln w="12700">
            <a:solidFill>
              <a:srgbClr val="B45309"/>
            </a:solidFill>
            <a:prstDash val="solid"/>
          </a:ln>
        </p:spPr>
      </p:sp>
      <p:sp>
        <p:nvSpPr>
          <p:cNvPr id="4" name="Tag How text"/>
          <p:cNvSpPr txBox="1"/>
          <p:nvPr/>
        </p:nvSpPr>
        <p:spPr>
          <a:xfrm>
            <a:off x="548640" y="109728"/>
            <a:ext cx="868680" cy="292608"/>
          </a:xfrm>
          <a:prstGeom prst="rect">
            <a:avLst/>
          </a:prstGeom>
          <a:noFill/>
          <a:ln/>
        </p:spPr>
        <p:txBody>
          <a:bodyPr wrap="square" lIns="0" tIns="0" rIns="0" bIns="0" rtlCol="0" anchor="ctr"/>
          <a:lstStyle/>
          <a:p>
            <a:pPr marL="0" indent="0" algn="ctr">
              <a:buNone/>
            </a:pPr>
            <a:r>
              <a:rPr lang="en-US" sz="1100" b="1" kern="0" spc="100" dirty="0">
                <a:solidFill>
                  <a:srgbClr val="FFFFFF"/>
                </a:solidFill>
              </a:rPr>
              <a:t>HOW</a:t>
            </a:r>
            <a:endParaRPr lang="en-US" sz="1100" dirty="0"/>
          </a:p>
        </p:txBody>
      </p:sp>
      <p:sp>
        <p:nvSpPr>
          <p:cNvPr id="5" name="Outcome head"/>
          <p:cNvSpPr txBox="1"/>
          <p:nvPr/>
        </p:nvSpPr>
        <p:spPr>
          <a:xfrm>
            <a:off x="548640" y="1371600"/>
            <a:ext cx="5669280" cy="274320"/>
          </a:xfrm>
          <a:prstGeom prst="rect">
            <a:avLst/>
          </a:prstGeom>
          <a:noFill/>
          <a:ln/>
        </p:spPr>
        <p:txBody>
          <a:bodyPr wrap="square" lIns="0" tIns="0" rIns="0" bIns="0" rtlCol="0" anchor="t"/>
          <a:lstStyle/>
          <a:p>
            <a:pPr marL="0" indent="0">
              <a:buNone/>
            </a:pPr>
            <a:r>
              <a:rPr lang="en-US" sz="1200" b="1" dirty="0">
                <a:solidFill>
                  <a:srgbClr val="64748B"/>
                </a:solidFill>
              </a:rPr>
              <a:t>OUTCOME MEASURES AT STEADY STATE</a:t>
            </a:r>
            <a:endParaRPr lang="en-US" sz="1200" dirty="0"/>
          </a:p>
        </p:txBody>
      </p:sp>
      <p:sp>
        <p:nvSpPr>
          <p:cNvPr id="6" name="Outcome 0">
            <a:extLst>
              <a:ext uri="{C183D7F6-B498-43B3-948B-1728B52AA6E4}">
                <adec:decorative xmlns:adec="http://schemas.microsoft.com/office/drawing/2017/decorative" val="1"/>
              </a:ext>
            </a:extLst>
          </p:cNvPr>
          <p:cNvSpPr/>
          <p:nvPr/>
        </p:nvSpPr>
        <p:spPr>
          <a:xfrm>
            <a:off x="548640" y="1719072"/>
            <a:ext cx="5669280" cy="512064"/>
          </a:xfrm>
          <a:prstGeom prst="roundRect">
            <a:avLst>
              <a:gd name="adj" fmla="val 14286"/>
            </a:avLst>
          </a:prstGeom>
          <a:solidFill>
            <a:srgbClr val="E9EEF4"/>
          </a:solidFill>
          <a:ln w="12700">
            <a:solidFill>
              <a:srgbClr val="E9EEF4"/>
            </a:solidFill>
            <a:prstDash val="solid"/>
          </a:ln>
          <a:effectLst>
            <a:outerShdw blurRad="76200" dist="25400" dir="5400000" algn="bl" rotWithShape="0">
              <a:srgbClr val="64748B">
                <a:alpha val="22000"/>
              </a:srgbClr>
            </a:outerShdw>
          </a:effectLst>
        </p:spPr>
      </p:sp>
      <p:sp>
        <p:nvSpPr>
          <p:cNvPr id="7" name="Outcome 0 text"/>
          <p:cNvSpPr txBox="1"/>
          <p:nvPr/>
        </p:nvSpPr>
        <p:spPr>
          <a:xfrm>
            <a:off x="731520" y="1719072"/>
            <a:ext cx="5394960" cy="512064"/>
          </a:xfrm>
          <a:prstGeom prst="rect">
            <a:avLst/>
          </a:prstGeom>
          <a:noFill/>
          <a:ln/>
        </p:spPr>
        <p:txBody>
          <a:bodyPr wrap="square" lIns="0" tIns="0" rIns="0" bIns="0" rtlCol="0" anchor="ctr"/>
          <a:lstStyle/>
          <a:p>
            <a:pPr marL="0" indent="0">
              <a:buNone/>
            </a:pPr>
            <a:r>
              <a:rPr lang="en-US" sz="1400" b="1" dirty="0">
                <a:solidFill>
                  <a:srgbClr val="1F2A44"/>
                </a:solidFill>
              </a:rPr>
              <a:t>Drift   </a:t>
            </a:r>
            <a:r>
              <a:rPr lang="en-US" sz="1400" dirty="0">
                <a:solidFill>
                  <a:schemeClr val="tx2"/>
                </a:solidFill>
              </a:rPr>
              <a:t>Zero findings open past their SLA</a:t>
            </a:r>
            <a:endParaRPr lang="en-US" sz="1400" dirty="0"/>
          </a:p>
        </p:txBody>
      </p:sp>
      <p:sp>
        <p:nvSpPr>
          <p:cNvPr id="8" name="Outcome 1">
            <a:extLst>
              <a:ext uri="{C183D7F6-B498-43B3-948B-1728B52AA6E4}">
                <adec:decorative xmlns:adec="http://schemas.microsoft.com/office/drawing/2017/decorative" val="1"/>
              </a:ext>
            </a:extLst>
          </p:cNvPr>
          <p:cNvSpPr/>
          <p:nvPr/>
        </p:nvSpPr>
        <p:spPr>
          <a:xfrm>
            <a:off x="548640" y="2322576"/>
            <a:ext cx="5669280" cy="512064"/>
          </a:xfrm>
          <a:prstGeom prst="roundRect">
            <a:avLst>
              <a:gd name="adj" fmla="val 14286"/>
            </a:avLst>
          </a:prstGeom>
          <a:solidFill>
            <a:srgbClr val="E4EAF4"/>
          </a:solidFill>
          <a:ln w="12700">
            <a:solidFill>
              <a:srgbClr val="E4EAF4"/>
            </a:solidFill>
            <a:prstDash val="solid"/>
          </a:ln>
          <a:effectLst>
            <a:outerShdw blurRad="76200" dist="25400" dir="5400000" algn="bl" rotWithShape="0">
              <a:srgbClr val="64748B">
                <a:alpha val="22000"/>
              </a:srgbClr>
            </a:outerShdw>
          </a:effectLst>
        </p:spPr>
      </p:sp>
      <p:sp>
        <p:nvSpPr>
          <p:cNvPr id="9" name="Outcome 1 text"/>
          <p:cNvSpPr txBox="1"/>
          <p:nvPr/>
        </p:nvSpPr>
        <p:spPr>
          <a:xfrm>
            <a:off x="731520" y="2322576"/>
            <a:ext cx="5394960" cy="512064"/>
          </a:xfrm>
          <a:prstGeom prst="rect">
            <a:avLst/>
          </a:prstGeom>
          <a:noFill/>
          <a:ln/>
        </p:spPr>
        <p:txBody>
          <a:bodyPr wrap="square" lIns="0" tIns="0" rIns="0" bIns="0" rtlCol="0" anchor="ctr"/>
          <a:lstStyle/>
          <a:p>
            <a:pPr marL="0" indent="0">
              <a:buNone/>
            </a:pPr>
            <a:r>
              <a:rPr lang="en-US" sz="1400" b="1" dirty="0">
                <a:solidFill>
                  <a:srgbClr val="1F2A44"/>
                </a:solidFill>
              </a:rPr>
              <a:t>Nightly plan   </a:t>
            </a:r>
            <a:r>
              <a:rPr lang="en-US" sz="1400" dirty="0">
                <a:solidFill>
                  <a:schemeClr val="tx2"/>
                </a:solidFill>
              </a:rPr>
              <a:t>Zero actions is the normal case</a:t>
            </a:r>
            <a:endParaRPr lang="en-US" sz="1400" dirty="0"/>
          </a:p>
        </p:txBody>
      </p:sp>
      <p:sp>
        <p:nvSpPr>
          <p:cNvPr id="10" name="Outcome 2">
            <a:extLst>
              <a:ext uri="{C183D7F6-B498-43B3-948B-1728B52AA6E4}">
                <adec:decorative xmlns:adec="http://schemas.microsoft.com/office/drawing/2017/decorative" val="1"/>
              </a:ext>
            </a:extLst>
          </p:cNvPr>
          <p:cNvSpPr/>
          <p:nvPr/>
        </p:nvSpPr>
        <p:spPr>
          <a:xfrm>
            <a:off x="548640" y="2926080"/>
            <a:ext cx="5669280" cy="512064"/>
          </a:xfrm>
          <a:prstGeom prst="roundRect">
            <a:avLst>
              <a:gd name="adj" fmla="val 14286"/>
            </a:avLst>
          </a:prstGeom>
          <a:solidFill>
            <a:srgbClr val="E9EEF4"/>
          </a:solidFill>
          <a:ln w="12700">
            <a:solidFill>
              <a:srgbClr val="E9EEF4"/>
            </a:solidFill>
            <a:prstDash val="solid"/>
          </a:ln>
          <a:effectLst>
            <a:outerShdw blurRad="76200" dist="25400" dir="5400000" algn="bl" rotWithShape="0">
              <a:srgbClr val="64748B">
                <a:alpha val="22000"/>
              </a:srgbClr>
            </a:outerShdw>
          </a:effectLst>
        </p:spPr>
      </p:sp>
      <p:sp>
        <p:nvSpPr>
          <p:cNvPr id="11" name="Outcome 2 text"/>
          <p:cNvSpPr txBox="1"/>
          <p:nvPr/>
        </p:nvSpPr>
        <p:spPr>
          <a:xfrm>
            <a:off x="731520" y="2926080"/>
            <a:ext cx="5394960" cy="512064"/>
          </a:xfrm>
          <a:prstGeom prst="rect">
            <a:avLst/>
          </a:prstGeom>
          <a:noFill/>
          <a:ln/>
        </p:spPr>
        <p:txBody>
          <a:bodyPr wrap="square" lIns="0" tIns="0" rIns="0" bIns="0" rtlCol="0" anchor="ctr"/>
          <a:lstStyle/>
          <a:p>
            <a:pPr marL="0" indent="0">
              <a:buNone/>
            </a:pPr>
            <a:r>
              <a:rPr lang="en-US" sz="1400" b="1" dirty="0">
                <a:solidFill>
                  <a:srgbClr val="1F2A44"/>
                </a:solidFill>
              </a:rPr>
              <a:t>AD authentication   </a:t>
            </a:r>
            <a:r>
              <a:rPr lang="en-US" sz="1400" dirty="0">
                <a:solidFill>
                  <a:schemeClr val="tx2"/>
                </a:solidFill>
              </a:rPr>
              <a:t>Zero, or confined to dated Kerberos islands</a:t>
            </a:r>
            <a:endParaRPr lang="en-US" sz="1400" dirty="0"/>
          </a:p>
        </p:txBody>
      </p:sp>
      <p:sp>
        <p:nvSpPr>
          <p:cNvPr id="12" name="Outcome 3">
            <a:extLst>
              <a:ext uri="{C183D7F6-B498-43B3-948B-1728B52AA6E4}">
                <adec:decorative xmlns:adec="http://schemas.microsoft.com/office/drawing/2017/decorative" val="1"/>
              </a:ext>
            </a:extLst>
          </p:cNvPr>
          <p:cNvSpPr/>
          <p:nvPr/>
        </p:nvSpPr>
        <p:spPr>
          <a:xfrm>
            <a:off x="548640" y="3529584"/>
            <a:ext cx="5669280" cy="512064"/>
          </a:xfrm>
          <a:prstGeom prst="roundRect">
            <a:avLst>
              <a:gd name="adj" fmla="val 14286"/>
            </a:avLst>
          </a:prstGeom>
          <a:solidFill>
            <a:srgbClr val="E4EAF4"/>
          </a:solidFill>
          <a:ln w="12700">
            <a:solidFill>
              <a:srgbClr val="E4EAF4"/>
            </a:solidFill>
            <a:prstDash val="solid"/>
          </a:ln>
          <a:effectLst>
            <a:outerShdw blurRad="76200" dist="25400" dir="5400000" algn="bl" rotWithShape="0">
              <a:srgbClr val="64748B">
                <a:alpha val="22000"/>
              </a:srgbClr>
            </a:outerShdw>
          </a:effectLst>
        </p:spPr>
      </p:sp>
      <p:sp>
        <p:nvSpPr>
          <p:cNvPr id="13" name="Outcome 3 text"/>
          <p:cNvSpPr txBox="1"/>
          <p:nvPr/>
        </p:nvSpPr>
        <p:spPr>
          <a:xfrm>
            <a:off x="731520" y="3529584"/>
            <a:ext cx="5394960" cy="512064"/>
          </a:xfrm>
          <a:prstGeom prst="rect">
            <a:avLst/>
          </a:prstGeom>
          <a:noFill/>
          <a:ln/>
        </p:spPr>
        <p:txBody>
          <a:bodyPr wrap="square" lIns="0" tIns="0" rIns="0" bIns="0" rtlCol="0" anchor="ctr"/>
          <a:lstStyle/>
          <a:p>
            <a:pPr marL="0" indent="0">
              <a:buNone/>
            </a:pPr>
            <a:r>
              <a:rPr lang="en-US" sz="1400" b="1" dirty="0">
                <a:solidFill>
                  <a:srgbClr val="1F2A44"/>
                </a:solidFill>
              </a:rPr>
              <a:t>Evidence   </a:t>
            </a:r>
            <a:r>
              <a:rPr lang="en-US" sz="1400" dirty="0">
                <a:solidFill>
                  <a:schemeClr val="tx2"/>
                </a:solidFill>
              </a:rPr>
              <a:t>Every delivery signed and sent to the SIEM</a:t>
            </a:r>
            <a:endParaRPr lang="en-US" sz="1400" dirty="0"/>
          </a:p>
        </p:txBody>
      </p:sp>
      <p:sp>
        <p:nvSpPr>
          <p:cNvPr id="14" name="Outcome 4">
            <a:extLst>
              <a:ext uri="{C183D7F6-B498-43B3-948B-1728B52AA6E4}">
                <adec:decorative xmlns:adec="http://schemas.microsoft.com/office/drawing/2017/decorative" val="1"/>
              </a:ext>
            </a:extLst>
          </p:cNvPr>
          <p:cNvSpPr/>
          <p:nvPr/>
        </p:nvSpPr>
        <p:spPr>
          <a:xfrm>
            <a:off x="548640" y="4133088"/>
            <a:ext cx="5669280" cy="512064"/>
          </a:xfrm>
          <a:prstGeom prst="roundRect">
            <a:avLst>
              <a:gd name="adj" fmla="val 14286"/>
            </a:avLst>
          </a:prstGeom>
          <a:solidFill>
            <a:srgbClr val="E9EEF4"/>
          </a:solidFill>
          <a:ln w="12700">
            <a:solidFill>
              <a:srgbClr val="E9EEF4"/>
            </a:solidFill>
            <a:prstDash val="solid"/>
          </a:ln>
          <a:effectLst>
            <a:outerShdw blurRad="76200" dist="25400" dir="5400000" algn="bl" rotWithShape="0">
              <a:srgbClr val="64748B">
                <a:alpha val="22000"/>
              </a:srgbClr>
            </a:outerShdw>
          </a:effectLst>
        </p:spPr>
      </p:sp>
      <p:sp>
        <p:nvSpPr>
          <p:cNvPr id="15" name="Outcome 4 text"/>
          <p:cNvSpPr txBox="1"/>
          <p:nvPr/>
        </p:nvSpPr>
        <p:spPr>
          <a:xfrm>
            <a:off x="731520" y="4133088"/>
            <a:ext cx="5394960" cy="512064"/>
          </a:xfrm>
          <a:prstGeom prst="rect">
            <a:avLst/>
          </a:prstGeom>
          <a:noFill/>
          <a:ln/>
        </p:spPr>
        <p:txBody>
          <a:bodyPr wrap="square" lIns="0" tIns="0" rIns="0" bIns="0" rtlCol="0" anchor="ctr"/>
          <a:lstStyle/>
          <a:p>
            <a:pPr marL="0" indent="0">
              <a:buNone/>
            </a:pPr>
            <a:r>
              <a:rPr lang="en-US" sz="1400" b="1" dirty="0">
                <a:solidFill>
                  <a:srgbClr val="1F2A44"/>
                </a:solidFill>
              </a:rPr>
              <a:t>Ownership   </a:t>
            </a:r>
            <a:r>
              <a:rPr lang="en-US" sz="1400" dirty="0">
                <a:solidFill>
                  <a:schemeClr val="tx2"/>
                </a:solidFill>
              </a:rPr>
              <a:t>A named owner for every drift class and review</a:t>
            </a:r>
            <a:endParaRPr lang="en-US" sz="1400" dirty="0"/>
          </a:p>
        </p:txBody>
      </p:sp>
      <p:sp>
        <p:nvSpPr>
          <p:cNvPr id="16" name="SLA box">
            <a:extLst>
              <a:ext uri="{C183D7F6-B498-43B3-948B-1728B52AA6E4}">
                <adec:decorative xmlns:adec="http://schemas.microsoft.com/office/drawing/2017/decorative" val="1"/>
              </a:ext>
            </a:extLst>
          </p:cNvPr>
          <p:cNvSpPr/>
          <p:nvPr/>
        </p:nvSpPr>
        <p:spPr>
          <a:xfrm>
            <a:off x="7086600" y="1371600"/>
            <a:ext cx="4572000" cy="3291840"/>
          </a:xfrm>
          <a:prstGeom prst="roundRect">
            <a:avLst>
              <a:gd name="adj" fmla="val 2222"/>
            </a:avLst>
          </a:prstGeom>
          <a:solidFill>
            <a:srgbClr val="FBEEDC"/>
          </a:solidFill>
          <a:ln w="12700">
            <a:solidFill>
              <a:srgbClr val="FBEEDC"/>
            </a:solidFill>
            <a:prstDash val="solid"/>
          </a:ln>
          <a:effectLst>
            <a:outerShdw blurRad="76200" dist="25400" dir="5400000" algn="bl" rotWithShape="0">
              <a:srgbClr val="64748B">
                <a:alpha val="22000"/>
              </a:srgbClr>
            </a:outerShdw>
          </a:effectLst>
        </p:spPr>
      </p:sp>
      <p:sp>
        <p:nvSpPr>
          <p:cNvPr id="17" name="Icon FaUserClock">
            <a:extLst>
              <a:ext uri="{C183D7F6-B498-43B3-948B-1728B52AA6E4}">
                <adec:decorative xmlns:adec="http://schemas.microsoft.com/office/drawing/2017/decorative" val="1"/>
              </a:ext>
            </a:extLst>
          </p:cNvPr>
          <p:cNvSpPr/>
          <p:nvPr/>
        </p:nvSpPr>
        <p:spPr>
          <a:xfrm>
            <a:off x="7315200" y="1517904"/>
            <a:ext cx="548640" cy="548640"/>
          </a:xfrm>
          <a:prstGeom prst="ellipse">
            <a:avLst/>
          </a:prstGeom>
          <a:solidFill>
            <a:srgbClr val="B45309"/>
          </a:solidFill>
          <a:ln w="12700">
            <a:solidFill>
              <a:srgbClr val="B45309"/>
            </a:solidFill>
            <a:prstDash val="solid"/>
          </a:ln>
        </p:spPr>
      </p:sp>
      <p:pic>
        <p:nvPicPr>
          <p:cNvPr id="18" name="Image 0">
            <a:extLst>
              <a:ext uri="{C183D7F6-B498-43B3-948B-1728B52AA6E4}">
                <adec:decorative xmlns:adec="http://schemas.microsoft.com/office/drawing/2017/decorative" val="1"/>
              </a:ext>
            </a:extLst>
          </p:cNvPr>
          <p:cNvPicPr>
            <a:picLocks noChangeAspect="1"/>
          </p:cNvPicPr>
          <p:nvPr/>
        </p:nvPicPr>
        <p:blipFill>
          <a:blip r:embed="rId5"/>
          <a:stretch>
            <a:fillRect/>
          </a:stretch>
        </p:blipFill>
        <p:spPr>
          <a:xfrm>
            <a:off x="7446874" y="1649578"/>
            <a:ext cx="285293" cy="285293"/>
          </a:xfrm>
          <a:prstGeom prst="rect">
            <a:avLst/>
          </a:prstGeom>
        </p:spPr>
      </p:pic>
      <p:sp>
        <p:nvSpPr>
          <p:cNvPr id="19" name="SLA head"/>
          <p:cNvSpPr txBox="1"/>
          <p:nvPr/>
        </p:nvSpPr>
        <p:spPr>
          <a:xfrm>
            <a:off x="8001000" y="1517904"/>
            <a:ext cx="3566160" cy="548640"/>
          </a:xfrm>
          <a:prstGeom prst="rect">
            <a:avLst/>
          </a:prstGeom>
          <a:noFill/>
          <a:ln/>
        </p:spPr>
        <p:txBody>
          <a:bodyPr wrap="square" lIns="0" tIns="0" rIns="0" bIns="0" rtlCol="0" anchor="ctr"/>
          <a:lstStyle/>
          <a:p>
            <a:pPr marL="0" indent="0">
              <a:buNone/>
            </a:pPr>
            <a:r>
              <a:rPr lang="en-US" sz="1700" b="1" dirty="0">
                <a:solidFill>
                  <a:srgbClr val="B45309"/>
                </a:solidFill>
                <a:latin typeface="Cambria" pitchFamily="34" charset="0"/>
                <a:ea typeface="Cambria" pitchFamily="34" charset="-122"/>
                <a:cs typeface="Cambria" pitchFamily="34" charset="-120"/>
              </a:rPr>
              <a:t>Default drift SLAs (illustrative)</a:t>
            </a:r>
            <a:endParaRPr lang="en-US" sz="1700" dirty="0"/>
          </a:p>
        </p:txBody>
      </p:sp>
      <p:sp>
        <p:nvSpPr>
          <p:cNvPr id="20" name="SLA list"/>
          <p:cNvSpPr txBox="1"/>
          <p:nvPr/>
        </p:nvSpPr>
        <p:spPr>
          <a:xfrm>
            <a:off x="7315200" y="2194560"/>
            <a:ext cx="4206240" cy="2395728"/>
          </a:xfrm>
          <a:prstGeom prst="rect">
            <a:avLst/>
          </a:prstGeom>
          <a:noFill/>
          <a:ln/>
        </p:spPr>
        <p:txBody>
          <a:bodyPr wrap="square" lIns="0" tIns="0" rIns="0" bIns="0" rtlCol="0" anchor="t"/>
          <a:lstStyle/>
          <a:p>
            <a:pPr marL="342900" indent="-342900">
              <a:spcAft>
                <a:spcPts val="600"/>
              </a:spcAft>
              <a:buSzPct val="100000"/>
              <a:buChar char="•"/>
            </a:pPr>
            <a:r>
              <a:rPr lang="en-US" sz="1300" dirty="0">
                <a:solidFill>
                  <a:schemeClr val="tx2"/>
                </a:solidFill>
              </a:rPr>
              <a:t>Critical: detect in 1 hour, fix in 4</a:t>
            </a:r>
            <a:endParaRPr lang="en-US" sz="1400" dirty="0"/>
          </a:p>
          <a:p>
            <a:pPr marL="342900" indent="-342900">
              <a:spcAft>
                <a:spcPts val="600"/>
              </a:spcAft>
              <a:buSzPct val="100000"/>
              <a:buChar char="•"/>
            </a:pPr>
            <a:r>
              <a:rPr lang="en-US" sz="1300" dirty="0">
                <a:solidFill>
                  <a:schemeClr val="tx2"/>
                </a:solidFill>
              </a:rPr>
              <a:t>High: detect in 4 hours, fix in 24</a:t>
            </a:r>
            <a:endParaRPr lang="en-US" sz="1400" dirty="0"/>
          </a:p>
          <a:p>
            <a:pPr marL="342900" indent="-342900">
              <a:spcAft>
                <a:spcPts val="600"/>
              </a:spcAft>
              <a:buSzPct val="100000"/>
              <a:buChar char="•"/>
            </a:pPr>
            <a:r>
              <a:rPr lang="en-US" sz="1300" dirty="0">
                <a:solidFill>
                  <a:schemeClr val="tx2"/>
                </a:solidFill>
              </a:rPr>
              <a:t>Medium: detect in 24 hours, fix in 7 days</a:t>
            </a:r>
            <a:endParaRPr lang="en-US" sz="1400" dirty="0"/>
          </a:p>
          <a:p>
            <a:pPr marL="342900" indent="-342900">
              <a:spcAft>
                <a:spcPts val="600"/>
              </a:spcAft>
              <a:buSzPct val="100000"/>
              <a:buChar char="•"/>
            </a:pPr>
            <a:r>
              <a:rPr lang="en-US" sz="1300" dirty="0">
                <a:solidFill>
                  <a:schemeClr val="tx2"/>
                </a:solidFill>
              </a:rPr>
              <a:t>Low: detect in 7 days, fix in 30</a:t>
            </a:r>
            <a:endParaRPr lang="en-US" sz="1400" dirty="0"/>
          </a:p>
          <a:p>
            <a:pPr marL="342900" indent="-342900">
              <a:spcAft>
                <a:spcPts val="600"/>
              </a:spcAft>
              <a:buSzPct val="100000"/>
              <a:buChar char="•"/>
            </a:pPr>
            <a:r>
              <a:rPr lang="en-US" sz="1300" dirty="0">
                <a:solidFill>
                  <a:schemeClr val="tx2"/>
                </a:solidFill>
              </a:rPr>
              <a:t>The agency sets its own values</a:t>
            </a:r>
            <a:endParaRPr lang="en-US" sz="1400" dirty="0"/>
          </a:p>
        </p:txBody>
      </p:sp>
      <p:sp>
        <p:nvSpPr>
          <p:cNvPr id="21" name="Decision bar">
            <a:extLst>
              <a:ext uri="{C183D7F6-B498-43B3-948B-1728B52AA6E4}">
                <adec:decorative xmlns:adec="http://schemas.microsoft.com/office/drawing/2017/decorative" val="1"/>
              </a:ext>
            </a:extLst>
          </p:cNvPr>
          <p:cNvSpPr/>
          <p:nvPr/>
        </p:nvSpPr>
        <p:spPr>
          <a:xfrm>
            <a:off x="548640" y="4800600"/>
            <a:ext cx="11109960" cy="1143000"/>
          </a:xfrm>
          <a:prstGeom prst="roundRect">
            <a:avLst>
              <a:gd name="adj" fmla="val 6400"/>
            </a:avLst>
          </a:prstGeom>
          <a:solidFill>
            <a:srgbClr val="FFFFFF"/>
          </a:solidFill>
          <a:ln w="12700">
            <a:solidFill>
              <a:srgbClr val="B45309"/>
            </a:solidFill>
            <a:prstDash val="solid"/>
          </a:ln>
          <a:effectLst>
            <a:outerShdw blurRad="76200" dist="25400" dir="5400000" algn="bl" rotWithShape="0">
              <a:srgbClr val="64748B">
                <a:alpha val="22000"/>
              </a:srgbClr>
            </a:outerShdw>
          </a:effectLst>
        </p:spPr>
      </p:sp>
      <p:sp>
        <p:nvSpPr>
          <p:cNvPr id="22" name="Icon FaScaleBalanced">
            <a:extLst>
              <a:ext uri="{C183D7F6-B498-43B3-948B-1728B52AA6E4}">
                <adec:decorative xmlns:adec="http://schemas.microsoft.com/office/drawing/2017/decorative" val="1"/>
              </a:ext>
            </a:extLst>
          </p:cNvPr>
          <p:cNvSpPr/>
          <p:nvPr/>
        </p:nvSpPr>
        <p:spPr>
          <a:xfrm>
            <a:off x="749808" y="5047488"/>
            <a:ext cx="640080" cy="640080"/>
          </a:xfrm>
          <a:prstGeom prst="ellipse">
            <a:avLst/>
          </a:prstGeom>
          <a:solidFill>
            <a:srgbClr val="B45309"/>
          </a:solidFill>
          <a:ln w="12700">
            <a:solidFill>
              <a:srgbClr val="B45309"/>
            </a:solidFill>
            <a:prstDash val="solid"/>
          </a:ln>
        </p:spPr>
      </p:sp>
      <p:pic>
        <p:nvPicPr>
          <p:cNvPr id="23" name="Image 1">
            <a:extLst>
              <a:ext uri="{C183D7F6-B498-43B3-948B-1728B52AA6E4}">
                <adec:decorative xmlns:adec="http://schemas.microsoft.com/office/drawing/2017/decorative" val="1"/>
              </a:ext>
            </a:extLst>
          </p:cNvPr>
          <p:cNvPicPr>
            <a:picLocks noChangeAspect="1"/>
          </p:cNvPicPr>
          <p:nvPr/>
        </p:nvPicPr>
        <p:blipFill>
          <a:blip r:embed="rId6"/>
          <a:stretch>
            <a:fillRect/>
          </a:stretch>
        </p:blipFill>
        <p:spPr>
          <a:xfrm>
            <a:off x="903427" y="5201107"/>
            <a:ext cx="332842" cy="332842"/>
          </a:xfrm>
          <a:prstGeom prst="rect">
            <a:avLst/>
          </a:prstGeom>
        </p:spPr>
      </p:pic>
      <p:sp>
        <p:nvSpPr>
          <p:cNvPr id="24" name="Decision"/>
          <p:cNvSpPr txBox="1"/>
          <p:nvPr/>
        </p:nvSpPr>
        <p:spPr>
          <a:xfrm>
            <a:off x="1600200" y="4873752"/>
            <a:ext cx="5806440" cy="996696"/>
          </a:xfrm>
          <a:prstGeom prst="rect">
            <a:avLst/>
          </a:prstGeom>
          <a:noFill/>
          <a:ln/>
        </p:spPr>
        <p:txBody>
          <a:bodyPr wrap="square" lIns="0" tIns="0" rIns="0" bIns="0" rtlCol="0" anchor="ctr"/>
          <a:lstStyle/>
          <a:p>
            <a:pPr marL="0" indent="0">
              <a:buNone/>
            </a:pPr>
            <a:r>
              <a:rPr lang="en-US" sz="1100" b="1" kern="0" spc="100" dirty="0">
                <a:solidFill>
                  <a:srgbClr val="B45309"/>
                </a:solidFill>
              </a:rPr>
              <a:t>DECISION</a:t>
            </a:r>
            <a:endParaRPr lang="en-US" sz="1400" dirty="0"/>
          </a:p>
          <a:p>
            <a:pPr marL="0" indent="0">
              <a:buNone/>
            </a:pPr>
            <a:r>
              <a:rPr lang="en-US" sz="1400" dirty="0">
                <a:solidFill>
                  <a:srgbClr val="334155"/>
                </a:solidFill>
              </a:rPr>
              <a:t>Record the handover to operations: who owns the repository and its protections, each drift class, each severity and each review</a:t>
            </a:r>
            <a:endParaRPr lang="en-US" sz="1400" dirty="0"/>
          </a:p>
        </p:txBody>
      </p:sp>
      <p:sp>
        <p:nvSpPr>
          <p:cNvPr id="25" name="Owner"/>
          <p:cNvSpPr txBox="1"/>
          <p:nvPr/>
        </p:nvSpPr>
        <p:spPr>
          <a:xfrm>
            <a:off x="7589520" y="4873752"/>
            <a:ext cx="2103120" cy="996696"/>
          </a:xfrm>
          <a:prstGeom prst="rect">
            <a:avLst/>
          </a:prstGeom>
          <a:noFill/>
          <a:ln/>
        </p:spPr>
        <p:txBody>
          <a:bodyPr wrap="square" lIns="0" tIns="0" rIns="0" bIns="0" rtlCol="0" anchor="ctr"/>
          <a:lstStyle/>
          <a:p>
            <a:pPr marL="0" indent="0">
              <a:buNone/>
            </a:pPr>
            <a:r>
              <a:rPr lang="en-US" sz="1100" b="1" kern="0" spc="100" dirty="0">
                <a:solidFill>
                  <a:srgbClr val="0F766E"/>
                </a:solidFill>
              </a:rPr>
              <a:t>OWNER</a:t>
            </a:r>
            <a:endParaRPr lang="en-US" sz="1400" dirty="0"/>
          </a:p>
          <a:p>
            <a:pPr marL="0" indent="0">
              <a:buNone/>
            </a:pPr>
            <a:r>
              <a:rPr lang="en-US" sz="1400" dirty="0">
                <a:solidFill>
                  <a:srgbClr val="334155"/>
                </a:solidFill>
              </a:rPr>
              <a:t>Steward</a:t>
            </a:r>
            <a:endParaRPr lang="en-US" sz="1400" dirty="0"/>
          </a:p>
        </p:txBody>
      </p:sp>
      <p:sp>
        <p:nvSpPr>
          <p:cNvPr id="26" name="When"/>
          <p:cNvSpPr txBox="1"/>
          <p:nvPr/>
        </p:nvSpPr>
        <p:spPr>
          <a:xfrm>
            <a:off x="9784080" y="4873752"/>
            <a:ext cx="1783080" cy="996696"/>
          </a:xfrm>
          <a:prstGeom prst="rect">
            <a:avLst/>
          </a:prstGeom>
          <a:noFill/>
          <a:ln/>
        </p:spPr>
        <p:txBody>
          <a:bodyPr wrap="square" lIns="0" tIns="0" rIns="0" bIns="0" rtlCol="0" anchor="ctr"/>
          <a:lstStyle/>
          <a:p>
            <a:pPr marL="0" indent="0">
              <a:buNone/>
            </a:pPr>
            <a:r>
              <a:rPr lang="en-US" sz="1100" b="1" kern="0" spc="100" dirty="0">
                <a:solidFill>
                  <a:srgbClr val="1F2A44"/>
                </a:solidFill>
              </a:rPr>
              <a:t>NEEDED BY</a:t>
            </a:r>
            <a:endParaRPr lang="en-US" sz="1400" dirty="0"/>
          </a:p>
          <a:p>
            <a:pPr marL="0" indent="0">
              <a:buNone/>
            </a:pPr>
            <a:r>
              <a:rPr lang="en-US" sz="1400" dirty="0">
                <a:solidFill>
                  <a:srgbClr val="334155"/>
                </a:solidFill>
              </a:rPr>
              <a:t>Before the project team leaves</a:t>
            </a:r>
            <a:endParaRPr lang="en-US" sz="1400" dirty="0"/>
          </a:p>
        </p:txBody>
      </p:sp>
      <p:sp>
        <p:nvSpPr>
          <p:cNvPr id="27" name="Sources"/>
          <p:cNvSpPr txBox="1"/>
          <p:nvPr/>
        </p:nvSpPr>
        <p:spPr>
          <a:xfrm>
            <a:off x="548640" y="6053328"/>
            <a:ext cx="10424160" cy="292608"/>
          </a:xfrm>
          <a:prstGeom prst="rect">
            <a:avLst/>
          </a:prstGeom>
          <a:noFill/>
          <a:ln/>
        </p:spPr>
        <p:txBody>
          <a:bodyPr wrap="square" lIns="0" tIns="0" rIns="0" bIns="0" rtlCol="0" anchor="t"/>
          <a:lstStyle/>
          <a:p>
            <a:pPr marL="0" indent="0">
              <a:buNone/>
            </a:pPr>
            <a:r>
              <a:rPr lang="en-US" sz="1000" i="1" dirty="0">
                <a:solidFill>
                  <a:srgbClr val="64748B"/>
                </a:solidFill>
              </a:rPr>
              <a:t>Sources: NIST SP 800-53 Rev. 5 (CA-7). Book 00, Chapter 10 (Phase 6; Drift remediation SLAs; Handing over to operations; The program scorecard); Chapter 05; Appendix A (R-025).</a:t>
            </a:r>
            <a:endParaRPr lang="en-US" sz="1000" dirty="0"/>
          </a:p>
        </p:txBody>
      </p:sp>
      <p:sp>
        <p:nvSpPr>
          <p:cNvPr id="28"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18</a:t>
            </a:fld>
            <a:endParaRPr lang="en-US"/>
          </a:p>
        </p:txBody>
      </p:sp>
      <p:pic>
        <p:nvPicPr>
          <p:cNvPr id="29" name="Narration" descr="Narration for this slide; captions available">
            <a:hlinkClick r:id="" action="ppaction://media"/>
            <a:extLst>
              <a:ext uri="{FF2B5EF4-FFF2-40B4-BE49-F238E27FC236}">
                <a16:creationId xmlns:a16="http://schemas.microsoft.com/office/drawing/2014/main" id="{14A07881-A03E-92BA-9D78-98111A62A6E6}"/>
              </a:ext>
            </a:extLst>
          </p:cNvPr>
          <p:cNvPicPr>
            <a:picLocks noChangeAspect="1"/>
          </p:cNvPicPr>
          <p:nvPr>
            <a:audioFile r:link="rId2"/>
            <p:extLst>
              <p:ext uri="{DAA4B4D4-6D71-4841-9C94-3DE7FCFB9230}">
                <p14:media xmlns:p14="http://schemas.microsoft.com/office/powerpoint/2010/main" r:embed="rId1">
                  <p14:extLst>
                    <p:ext uri="{3AFAAA56-56D3-431D-BCD4-E75A35582382}">
                      <p173:tracksInfo xmlns:p173="http://schemas.microsoft.com/office/powerpoint/2017/3/main" displayLoc="slide">
                        <p173:trackLst>
                          <p173:track id="{81F0F91E-7FB9-41B5-9FF4-2D02CA420B71}" label="English (captions)" lang="en-US" r:embed="rId8"/>
                        </p173:trackLst>
                      </p173:tracksInfo>
                    </p:ext>
                  </p14:extLst>
                </p14:media>
              </p:ext>
            </p:extLst>
          </p:nvPr>
        </p:nvPicPr>
        <p:blipFill>
          <a:blip r:embed="rId7"/>
          <a:stretch>
            <a:fillRect/>
          </a:stretch>
        </p:blipFill>
        <p:spPr>
          <a:xfrm>
            <a:off x="127000" y="6350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70290"/>
    </mc:Choice>
    <mc:Fallback>
      <p:transition spd="slow" advTm="7029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66288" fill="hold"/>
                                        <p:tgtEl>
                                          <p:spTgt spid="29"/>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57200"/>
            <a:ext cx="11064240" cy="777240"/>
          </a:xfrm>
          <a:prstGeom prst="rect">
            <a:avLst/>
          </a:prstGeom>
          <a:noFill/>
          <a:ln/>
        </p:spPr>
        <p:txBody>
          <a:bodyPr wrap="square" lIns="0" tIns="0" rIns="0" bIns="0" rtlCol="0" anchor="ctr"/>
          <a:lstStyle/>
          <a:p>
            <a:pPr marL="0" indent="0" algn="ctr">
              <a:buNone/>
            </a:pPr>
            <a:r>
              <a:rPr lang="en-US" sz="3000" b="1" dirty="0">
                <a:solidFill>
                  <a:schemeClr val="tx1"/>
                </a:solidFill>
                <a:latin typeface="Cambria" pitchFamily="34" charset="0"/>
                <a:ea typeface="Cambria" pitchFamily="34" charset="-122"/>
                <a:cs typeface="Cambria" pitchFamily="34" charset="-120"/>
              </a:rPr>
              <a:t>The risk register: what can sink the program</a:t>
            </a:r>
            <a:endParaRPr lang="en-US" sz="3000" dirty="0"/>
          </a:p>
        </p:txBody>
      </p:sp>
      <p:sp>
        <p:nvSpPr>
          <p:cNvPr id="3" name="Tag How">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B45309"/>
          </a:solidFill>
          <a:ln w="12700">
            <a:solidFill>
              <a:srgbClr val="B45309"/>
            </a:solidFill>
            <a:prstDash val="solid"/>
          </a:ln>
        </p:spPr>
      </p:sp>
      <p:sp>
        <p:nvSpPr>
          <p:cNvPr id="4" name="Tag How text"/>
          <p:cNvSpPr txBox="1"/>
          <p:nvPr/>
        </p:nvSpPr>
        <p:spPr>
          <a:xfrm>
            <a:off x="548640" y="109728"/>
            <a:ext cx="868680" cy="292608"/>
          </a:xfrm>
          <a:prstGeom prst="rect">
            <a:avLst/>
          </a:prstGeom>
          <a:noFill/>
          <a:ln/>
        </p:spPr>
        <p:txBody>
          <a:bodyPr wrap="square" lIns="0" tIns="0" rIns="0" bIns="0" rtlCol="0" anchor="ctr"/>
          <a:lstStyle/>
          <a:p>
            <a:pPr marL="0" indent="0" algn="ctr">
              <a:buNone/>
            </a:pPr>
            <a:r>
              <a:rPr lang="en-US" sz="1100" b="1" kern="0" spc="100" dirty="0">
                <a:solidFill>
                  <a:srgbClr val="FFFFFF"/>
                </a:solidFill>
              </a:rPr>
              <a:t>HOW</a:t>
            </a:r>
            <a:endParaRPr lang="en-US" sz="1100" dirty="0"/>
          </a:p>
        </p:txBody>
      </p:sp>
      <p:graphicFrame>
        <p:nvGraphicFramePr>
          <p:cNvPr id="20" name="Table 0"/>
          <p:cNvGraphicFramePr>
            <a:graphicFrameLocks noGrp="1"/>
          </p:cNvGraphicFramePr>
          <p:nvPr>
            <p:extLst>
              <p:ext uri="{D42A27DB-BD31-4B8C-83A1-F6EECF244321}">
                <p14:modId xmlns:p14="http://schemas.microsoft.com/office/powerpoint/2010/main" val="1579011935"/>
              </p:ext>
            </p:extLst>
          </p:nvPr>
        </p:nvGraphicFramePr>
        <p:xfrm>
          <a:off x="548640" y="1371600"/>
          <a:ext cx="9144000" cy="914400"/>
        </p:xfrm>
        <a:graphic>
          <a:graphicData uri="http://schemas.openxmlformats.org/drawingml/2006/table">
            <a:tbl>
              <a:tblPr firstRow="1" bandRow="1"/>
              <a:tblGrid>
                <a:gridCol w="594360">
                  <a:extLst>
                    <a:ext uri="{9D8B030D-6E8A-4147-A177-3AD203B41FA5}">
                      <a16:colId xmlns:a16="http://schemas.microsoft.com/office/drawing/2014/main" val="20000"/>
                    </a:ext>
                  </a:extLst>
                </a:gridCol>
                <a:gridCol w="2423160">
                  <a:extLst>
                    <a:ext uri="{9D8B030D-6E8A-4147-A177-3AD203B41FA5}">
                      <a16:colId xmlns:a16="http://schemas.microsoft.com/office/drawing/2014/main" val="20001"/>
                    </a:ext>
                  </a:extLst>
                </a:gridCol>
                <a:gridCol w="3291840">
                  <a:extLst>
                    <a:ext uri="{9D8B030D-6E8A-4147-A177-3AD203B41FA5}">
                      <a16:colId xmlns:a16="http://schemas.microsoft.com/office/drawing/2014/main" val="20002"/>
                    </a:ext>
                  </a:extLst>
                </a:gridCol>
              </a:tblGrid>
              <a:tr h="347472">
                <a:tc>
                  <a:txBody>
                    <a:bodyPr/>
                    <a:lstStyle/>
                    <a:p>
                      <a:pPr marL="0" indent="0">
                        <a:buNone/>
                      </a:pPr>
                      <a:r>
                        <a:rPr lang="en-US" sz="1250" b="1" dirty="0">
                          <a:solidFill>
                            <a:srgbClr val="FFFFFF"/>
                          </a:solidFill>
                          <a:latin typeface="Calibri" pitchFamily="34" charset="0"/>
                          <a:ea typeface="Calibri" pitchFamily="34" charset="-122"/>
                          <a:cs typeface="Calibri" pitchFamily="34" charset="-120"/>
                        </a:rPr>
                        <a:t>ID</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marL="0" indent="0">
                        <a:buNone/>
                      </a:pPr>
                      <a:r>
                        <a:rPr lang="en-US" sz="1250" b="1" dirty="0">
                          <a:solidFill>
                            <a:srgbClr val="FFFFFF"/>
                          </a:solidFill>
                          <a:latin typeface="Calibri" pitchFamily="34" charset="0"/>
                          <a:ea typeface="Calibri" pitchFamily="34" charset="-122"/>
                          <a:cs typeface="Calibri" pitchFamily="34" charset="-120"/>
                        </a:rPr>
                        <a:t>Program risk</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marL="0" indent="0">
                        <a:buNone/>
                      </a:pPr>
                      <a:r>
                        <a:rPr lang="en-US" sz="1250" b="1" dirty="0">
                          <a:solidFill>
                            <a:srgbClr val="FFFFFF"/>
                          </a:solidFill>
                          <a:latin typeface="Calibri" pitchFamily="34" charset="0"/>
                          <a:ea typeface="Calibri" pitchFamily="34" charset="-122"/>
                          <a:cs typeface="Calibri" pitchFamily="34" charset="-120"/>
                        </a:rPr>
                        <a:t>How the plan answers it</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extLst>
                  <a:ext uri="{0D108BD9-81ED-4DB2-BD59-A6C34878D82A}">
                    <a16:rowId xmlns:a16="http://schemas.microsoft.com/office/drawing/2014/main" val="10000"/>
                  </a:ext>
                </a:extLst>
              </a:tr>
              <a:tr h="566928">
                <a:tc>
                  <a:txBody>
                    <a:bodyPr/>
                    <a:lstStyle/>
                    <a:p>
                      <a:pPr marL="0" indent="0">
                        <a:buNone/>
                      </a:pPr>
                      <a:r>
                        <a:rPr lang="en-US" sz="1250" b="1" dirty="0">
                          <a:solidFill>
                            <a:srgbClr val="B91C1C"/>
                          </a:solidFill>
                          <a:latin typeface="Calibri" pitchFamily="34" charset="0"/>
                          <a:ea typeface="Calibri" pitchFamily="34" charset="-122"/>
                          <a:cs typeface="Calibri" pitchFamily="34" charset="-120"/>
                        </a:rPr>
                        <a:t>P-1</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50" b="1" dirty="0">
                          <a:solidFill>
                            <a:srgbClr val="1F2A44"/>
                          </a:solidFill>
                          <a:latin typeface="Calibri" pitchFamily="34" charset="0"/>
                          <a:ea typeface="Calibri" pitchFamily="34" charset="-122"/>
                          <a:cs typeface="Calibri" pitchFamily="34" charset="-120"/>
                        </a:rPr>
                        <a:t>Hidden dependencies missed</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50" dirty="0">
                          <a:solidFill>
                            <a:srgbClr val="334155"/>
                          </a:solidFill>
                          <a:latin typeface="Calibri" pitchFamily="34" charset="0"/>
                          <a:ea typeface="Calibri" pitchFamily="34" charset="-122"/>
                          <a:cs typeface="Calibri" pitchFamily="34" charset="-120"/>
                        </a:rPr>
                        <a:t>A structured assessment; a pilot built to find them</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566928">
                <a:tc>
                  <a:txBody>
                    <a:bodyPr/>
                    <a:lstStyle/>
                    <a:p>
                      <a:pPr marL="0" indent="0">
                        <a:buNone/>
                      </a:pPr>
                      <a:r>
                        <a:rPr lang="en-US" sz="1250" b="1" dirty="0">
                          <a:solidFill>
                            <a:srgbClr val="B91C1C"/>
                          </a:solidFill>
                          <a:latin typeface="Calibri" pitchFamily="34" charset="0"/>
                          <a:ea typeface="Calibri" pitchFamily="34" charset="-122"/>
                          <a:cs typeface="Calibri" pitchFamily="34" charset="-120"/>
                        </a:rPr>
                        <a:t>P-2</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50" b="1" dirty="0">
                          <a:solidFill>
                            <a:srgbClr val="1F2A44"/>
                          </a:solidFill>
                          <a:latin typeface="Calibri" pitchFamily="34" charset="0"/>
                          <a:ea typeface="Calibri" pitchFamily="34" charset="-122"/>
                          <a:cs typeface="Calibri" pitchFamily="34" charset="-120"/>
                        </a:rPr>
                        <a:t>Competing sources of truth</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50" dirty="0">
                          <a:solidFill>
                            <a:srgbClr val="334155"/>
                          </a:solidFill>
                          <a:latin typeface="Calibri" pitchFamily="34" charset="0"/>
                          <a:ea typeface="Calibri" pitchFamily="34" charset="-122"/>
                          <a:cs typeface="Calibri" pitchFamily="34" charset="-120"/>
                        </a:rPr>
                        <a:t>One authoritative origin per object class</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566928">
                <a:tc>
                  <a:txBody>
                    <a:bodyPr/>
                    <a:lstStyle/>
                    <a:p>
                      <a:pPr marL="0" indent="0">
                        <a:buNone/>
                      </a:pPr>
                      <a:r>
                        <a:rPr lang="en-US" sz="1250" b="1" dirty="0">
                          <a:solidFill>
                            <a:srgbClr val="B91C1C"/>
                          </a:solidFill>
                          <a:latin typeface="Calibri" pitchFamily="34" charset="0"/>
                          <a:ea typeface="Calibri" pitchFamily="34" charset="-122"/>
                          <a:cs typeface="Calibri" pitchFamily="34" charset="-120"/>
                        </a:rPr>
                        <a:t>P-3</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50" b="1" dirty="0">
                          <a:solidFill>
                            <a:srgbClr val="1F2A44"/>
                          </a:solidFill>
                          <a:latin typeface="Calibri" pitchFamily="34" charset="0"/>
                          <a:ea typeface="Calibri" pitchFamily="34" charset="-122"/>
                          <a:cs typeface="Calibri" pitchFamily="34" charset="-120"/>
                        </a:rPr>
                        <a:t>Resistance to explicit authority</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50" dirty="0">
                          <a:solidFill>
                            <a:srgbClr val="334155"/>
                          </a:solidFill>
                          <a:latin typeface="Calibri" pitchFamily="34" charset="0"/>
                          <a:ea typeface="Calibri" pitchFamily="34" charset="-122"/>
                          <a:cs typeface="Calibri" pitchFamily="34" charset="-120"/>
                        </a:rPr>
                        <a:t>Early alignment; one decider per row</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566928">
                <a:tc>
                  <a:txBody>
                    <a:bodyPr/>
                    <a:lstStyle/>
                    <a:p>
                      <a:pPr marL="0" indent="0">
                        <a:buNone/>
                      </a:pPr>
                      <a:r>
                        <a:rPr lang="en-US" sz="1250" b="1" dirty="0">
                          <a:solidFill>
                            <a:srgbClr val="B91C1C"/>
                          </a:solidFill>
                          <a:latin typeface="Calibri" pitchFamily="34" charset="0"/>
                          <a:ea typeface="Calibri" pitchFamily="34" charset="-122"/>
                          <a:cs typeface="Calibri" pitchFamily="34" charset="-120"/>
                        </a:rPr>
                        <a:t>P-4</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50" b="1" dirty="0">
                          <a:solidFill>
                            <a:srgbClr val="1F2A44"/>
                          </a:solidFill>
                          <a:latin typeface="Calibri" pitchFamily="34" charset="0"/>
                          <a:ea typeface="Calibri" pitchFamily="34" charset="-122"/>
                          <a:cs typeface="Calibri" pitchFamily="34" charset="-120"/>
                        </a:rPr>
                        <a:t>Tooling leads the design</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50" dirty="0">
                          <a:solidFill>
                            <a:srgbClr val="334155"/>
                          </a:solidFill>
                          <a:latin typeface="Calibri" pitchFamily="34" charset="0"/>
                          <a:ea typeface="Calibri" pitchFamily="34" charset="-122"/>
                          <a:cs typeface="Calibri" pitchFamily="34" charset="-120"/>
                        </a:rPr>
                        <a:t>The target model before any tool is chosen</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566928">
                <a:tc>
                  <a:txBody>
                    <a:bodyPr/>
                    <a:lstStyle/>
                    <a:p>
                      <a:pPr marL="0" indent="0">
                        <a:buNone/>
                      </a:pPr>
                      <a:r>
                        <a:rPr lang="en-US" sz="1250" b="1" dirty="0">
                          <a:solidFill>
                            <a:srgbClr val="B91C1C"/>
                          </a:solidFill>
                          <a:latin typeface="Calibri" pitchFamily="34" charset="0"/>
                          <a:ea typeface="Calibri" pitchFamily="34" charset="-122"/>
                          <a:cs typeface="Calibri" pitchFamily="34" charset="-120"/>
                        </a:rPr>
                        <a:t>P-5</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50" b="1" dirty="0">
                          <a:solidFill>
                            <a:srgbClr val="1F2A44"/>
                          </a:solidFill>
                          <a:latin typeface="Calibri" pitchFamily="34" charset="0"/>
                          <a:ea typeface="Calibri" pitchFamily="34" charset="-122"/>
                          <a:cs typeface="Calibri" pitchFamily="34" charset="-120"/>
                        </a:rPr>
                        <a:t>Physics or data residency</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50" dirty="0">
                          <a:solidFill>
                            <a:srgbClr val="334155"/>
                          </a:solidFill>
                          <a:latin typeface="Calibri" pitchFamily="34" charset="0"/>
                          <a:ea typeface="Calibri" pitchFamily="34" charset="-122"/>
                          <a:cs typeface="Calibri" pitchFamily="34" charset="-120"/>
                        </a:rPr>
                        <a:t>Truth centralized logically, not physically</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bl>
          </a:graphicData>
        </a:graphic>
      </p:graphicFrame>
      <p:sp>
        <p:nvSpPr>
          <p:cNvPr id="6" name="Delivery box">
            <a:extLst>
              <a:ext uri="{C183D7F6-B498-43B3-948B-1728B52AA6E4}">
                <adec:decorative xmlns:adec="http://schemas.microsoft.com/office/drawing/2017/decorative" val="1"/>
              </a:ext>
            </a:extLst>
          </p:cNvPr>
          <p:cNvSpPr/>
          <p:nvPr/>
        </p:nvSpPr>
        <p:spPr>
          <a:xfrm>
            <a:off x="7086600" y="1371600"/>
            <a:ext cx="4572000" cy="3291840"/>
          </a:xfrm>
          <a:prstGeom prst="roundRect">
            <a:avLst>
              <a:gd name="adj" fmla="val 2222"/>
            </a:avLst>
          </a:prstGeom>
          <a:solidFill>
            <a:srgbClr val="FBE4E4"/>
          </a:solidFill>
          <a:ln w="12700">
            <a:solidFill>
              <a:srgbClr val="FBE4E4"/>
            </a:solidFill>
            <a:prstDash val="solid"/>
          </a:ln>
          <a:effectLst>
            <a:outerShdw blurRad="76200" dist="25400" dir="5400000" algn="bl" rotWithShape="0">
              <a:srgbClr val="64748B">
                <a:alpha val="22000"/>
              </a:srgbClr>
            </a:outerShdw>
          </a:effectLst>
        </p:spPr>
      </p:sp>
      <p:sp>
        <p:nvSpPr>
          <p:cNvPr id="7" name="Icon FaTriangleExclamation">
            <a:extLst>
              <a:ext uri="{C183D7F6-B498-43B3-948B-1728B52AA6E4}">
                <adec:decorative xmlns:adec="http://schemas.microsoft.com/office/drawing/2017/decorative" val="1"/>
              </a:ext>
            </a:extLst>
          </p:cNvPr>
          <p:cNvSpPr/>
          <p:nvPr/>
        </p:nvSpPr>
        <p:spPr>
          <a:xfrm>
            <a:off x="7315200" y="1517904"/>
            <a:ext cx="548640" cy="548640"/>
          </a:xfrm>
          <a:prstGeom prst="ellipse">
            <a:avLst/>
          </a:prstGeom>
          <a:solidFill>
            <a:srgbClr val="B91C1C"/>
          </a:solidFill>
          <a:ln w="12700">
            <a:solidFill>
              <a:srgbClr val="B91C1C"/>
            </a:solidFill>
            <a:prstDash val="solid"/>
          </a:ln>
        </p:spPr>
      </p:sp>
      <p:pic>
        <p:nvPicPr>
          <p:cNvPr id="8" name="Image 0">
            <a:extLst>
              <a:ext uri="{C183D7F6-B498-43B3-948B-1728B52AA6E4}">
                <adec:decorative xmlns:adec="http://schemas.microsoft.com/office/drawing/2017/decorative" val="1"/>
              </a:ext>
            </a:extLst>
          </p:cNvPr>
          <p:cNvPicPr>
            <a:picLocks noChangeAspect="1"/>
          </p:cNvPicPr>
          <p:nvPr/>
        </p:nvPicPr>
        <p:blipFill>
          <a:blip r:embed="rId5"/>
          <a:stretch>
            <a:fillRect/>
          </a:stretch>
        </p:blipFill>
        <p:spPr>
          <a:xfrm>
            <a:off x="7446874" y="1649578"/>
            <a:ext cx="285293" cy="285293"/>
          </a:xfrm>
          <a:prstGeom prst="rect">
            <a:avLst/>
          </a:prstGeom>
        </p:spPr>
      </p:pic>
      <p:sp>
        <p:nvSpPr>
          <p:cNvPr id="9" name="Delivery head"/>
          <p:cNvSpPr txBox="1"/>
          <p:nvPr/>
        </p:nvSpPr>
        <p:spPr>
          <a:xfrm>
            <a:off x="8001000" y="1517904"/>
            <a:ext cx="3566160" cy="548640"/>
          </a:xfrm>
          <a:prstGeom prst="rect">
            <a:avLst/>
          </a:prstGeom>
          <a:noFill/>
          <a:ln/>
        </p:spPr>
        <p:txBody>
          <a:bodyPr wrap="square" lIns="0" tIns="0" rIns="0" bIns="0" rtlCol="0" anchor="ctr"/>
          <a:lstStyle/>
          <a:p>
            <a:pPr marL="0" indent="0">
              <a:buNone/>
            </a:pPr>
            <a:r>
              <a:rPr lang="en-US" sz="1700" b="1" dirty="0">
                <a:solidFill>
                  <a:srgbClr val="B91C1C"/>
                </a:solidFill>
                <a:latin typeface="Cambria" pitchFamily="34" charset="0"/>
                <a:ea typeface="Cambria" pitchFamily="34" charset="-122"/>
                <a:cs typeface="Cambria" pitchFamily="34" charset="-120"/>
              </a:rPr>
              <a:t>Delivery risks to watch</a:t>
            </a:r>
            <a:endParaRPr lang="en-US" sz="1700" dirty="0"/>
          </a:p>
        </p:txBody>
      </p:sp>
      <p:sp>
        <p:nvSpPr>
          <p:cNvPr id="10" name="Delivery list"/>
          <p:cNvSpPr txBox="1"/>
          <p:nvPr/>
        </p:nvSpPr>
        <p:spPr>
          <a:xfrm>
            <a:off x="7315200" y="2194560"/>
            <a:ext cx="4206240" cy="2395728"/>
          </a:xfrm>
          <a:prstGeom prst="rect">
            <a:avLst/>
          </a:prstGeom>
          <a:noFill/>
          <a:ln/>
        </p:spPr>
        <p:txBody>
          <a:bodyPr wrap="square" lIns="0" tIns="0" rIns="0" bIns="0" rtlCol="0" anchor="t"/>
          <a:lstStyle/>
          <a:p>
            <a:pPr marL="342900" indent="-342900">
              <a:spcAft>
                <a:spcPts val="600"/>
              </a:spcAft>
              <a:buSzPct val="100000"/>
              <a:buChar char="•"/>
            </a:pPr>
            <a:r>
              <a:rPr lang="en-US" sz="1300" dirty="0">
                <a:solidFill>
                  <a:schemeClr val="tx2"/>
                </a:solidFill>
              </a:rPr>
              <a:t>AD CS misconfiguration: Critical impact, Phase 0</a:t>
            </a:r>
            <a:endParaRPr lang="en-US" sz="1400" dirty="0"/>
          </a:p>
          <a:p>
            <a:pPr marL="342900" indent="-342900">
              <a:spcAft>
                <a:spcPts val="600"/>
              </a:spcAft>
              <a:buSzPct val="100000"/>
              <a:buChar char="•"/>
            </a:pPr>
            <a:r>
              <a:rPr lang="en-US" sz="1300" dirty="0">
                <a:solidFill>
                  <a:schemeClr val="tx2"/>
                </a:solidFill>
              </a:rPr>
              <a:t>NTLM: each dependency a dated, owned finding</a:t>
            </a:r>
            <a:endParaRPr lang="en-US" sz="1400" dirty="0"/>
          </a:p>
          <a:p>
            <a:pPr marL="342900" indent="-342900">
              <a:spcAft>
                <a:spcPts val="600"/>
              </a:spcAft>
              <a:buSzPct val="100000"/>
              <a:buChar char="•"/>
            </a:pPr>
            <a:r>
              <a:rPr lang="en-US" sz="1300" dirty="0">
                <a:solidFill>
                  <a:schemeClr val="tx2"/>
                </a:solidFill>
              </a:rPr>
              <a:t>Strong certificate mapping: already enforced</a:t>
            </a:r>
            <a:endParaRPr lang="en-US" sz="1400" dirty="0"/>
          </a:p>
          <a:p>
            <a:pPr marL="342900" indent="-342900">
              <a:spcAft>
                <a:spcPts val="600"/>
              </a:spcAft>
              <a:buSzPct val="100000"/>
              <a:buChar char="•"/>
            </a:pPr>
            <a:r>
              <a:rPr lang="en-US" sz="1300" dirty="0">
                <a:solidFill>
                  <a:schemeClr val="tx2"/>
                </a:solidFill>
              </a:rPr>
              <a:t>Records lost at decommission; governance decays</a:t>
            </a:r>
            <a:endParaRPr lang="en-US" sz="1400" dirty="0"/>
          </a:p>
        </p:txBody>
      </p:sp>
      <p:sp>
        <p:nvSpPr>
          <p:cNvPr id="11" name="Decision bar">
            <a:extLst>
              <a:ext uri="{C183D7F6-B498-43B3-948B-1728B52AA6E4}">
                <adec:decorative xmlns:adec="http://schemas.microsoft.com/office/drawing/2017/decorative" val="1"/>
              </a:ext>
            </a:extLst>
          </p:cNvPr>
          <p:cNvSpPr/>
          <p:nvPr/>
        </p:nvSpPr>
        <p:spPr>
          <a:xfrm>
            <a:off x="548640" y="4800600"/>
            <a:ext cx="11109960" cy="1143000"/>
          </a:xfrm>
          <a:prstGeom prst="roundRect">
            <a:avLst>
              <a:gd name="adj" fmla="val 6400"/>
            </a:avLst>
          </a:prstGeom>
          <a:solidFill>
            <a:srgbClr val="FFFFFF"/>
          </a:solidFill>
          <a:ln w="12700">
            <a:solidFill>
              <a:srgbClr val="B45309"/>
            </a:solidFill>
            <a:prstDash val="solid"/>
          </a:ln>
          <a:effectLst>
            <a:outerShdw blurRad="76200" dist="25400" dir="5400000" algn="bl" rotWithShape="0">
              <a:srgbClr val="64748B">
                <a:alpha val="22000"/>
              </a:srgbClr>
            </a:outerShdw>
          </a:effectLst>
        </p:spPr>
      </p:sp>
      <p:sp>
        <p:nvSpPr>
          <p:cNvPr id="12" name="Icon FaScaleBalanced">
            <a:extLst>
              <a:ext uri="{C183D7F6-B498-43B3-948B-1728B52AA6E4}">
                <adec:decorative xmlns:adec="http://schemas.microsoft.com/office/drawing/2017/decorative" val="1"/>
              </a:ext>
            </a:extLst>
          </p:cNvPr>
          <p:cNvSpPr/>
          <p:nvPr/>
        </p:nvSpPr>
        <p:spPr>
          <a:xfrm>
            <a:off x="749808" y="5047488"/>
            <a:ext cx="640080" cy="640080"/>
          </a:xfrm>
          <a:prstGeom prst="ellipse">
            <a:avLst/>
          </a:prstGeom>
          <a:solidFill>
            <a:srgbClr val="B45309"/>
          </a:solidFill>
          <a:ln w="12700">
            <a:solidFill>
              <a:srgbClr val="B45309"/>
            </a:solidFill>
            <a:prstDash val="solid"/>
          </a:ln>
        </p:spPr>
      </p:sp>
      <p:pic>
        <p:nvPicPr>
          <p:cNvPr id="13" name="Image 1">
            <a:extLst>
              <a:ext uri="{C183D7F6-B498-43B3-948B-1728B52AA6E4}">
                <adec:decorative xmlns:adec="http://schemas.microsoft.com/office/drawing/2017/decorative" val="1"/>
              </a:ext>
            </a:extLst>
          </p:cNvPr>
          <p:cNvPicPr>
            <a:picLocks noChangeAspect="1"/>
          </p:cNvPicPr>
          <p:nvPr/>
        </p:nvPicPr>
        <p:blipFill>
          <a:blip r:embed="rId6"/>
          <a:stretch>
            <a:fillRect/>
          </a:stretch>
        </p:blipFill>
        <p:spPr>
          <a:xfrm>
            <a:off x="903427" y="5201107"/>
            <a:ext cx="332842" cy="332842"/>
          </a:xfrm>
          <a:prstGeom prst="rect">
            <a:avLst/>
          </a:prstGeom>
        </p:spPr>
      </p:pic>
      <p:sp>
        <p:nvSpPr>
          <p:cNvPr id="14" name="Decision"/>
          <p:cNvSpPr txBox="1"/>
          <p:nvPr/>
        </p:nvSpPr>
        <p:spPr>
          <a:xfrm>
            <a:off x="1600200" y="4873752"/>
            <a:ext cx="5806440" cy="996696"/>
          </a:xfrm>
          <a:prstGeom prst="rect">
            <a:avLst/>
          </a:prstGeom>
          <a:noFill/>
          <a:ln/>
        </p:spPr>
        <p:txBody>
          <a:bodyPr wrap="square" lIns="0" tIns="0" rIns="0" bIns="0" rtlCol="0" anchor="ctr"/>
          <a:lstStyle/>
          <a:p>
            <a:pPr marL="0" indent="0">
              <a:buNone/>
            </a:pPr>
            <a:r>
              <a:rPr lang="en-US" sz="1100" b="1" kern="0" spc="100" dirty="0">
                <a:solidFill>
                  <a:srgbClr val="B45309"/>
                </a:solidFill>
              </a:rPr>
              <a:t>DECISION</a:t>
            </a:r>
            <a:endParaRPr lang="en-US" sz="1400" dirty="0"/>
          </a:p>
          <a:p>
            <a:pPr marL="0" indent="0">
              <a:buNone/>
            </a:pPr>
            <a:r>
              <a:rPr lang="en-US" sz="1400" dirty="0">
                <a:solidFill>
                  <a:srgbClr val="334155"/>
                </a:solidFill>
              </a:rPr>
              <a:t>Review the register at every gate, update the security plan and risk assessment, and carry open security risk as a POA&amp;M item</a:t>
            </a:r>
            <a:endParaRPr lang="en-US" sz="1400" dirty="0"/>
          </a:p>
        </p:txBody>
      </p:sp>
      <p:sp>
        <p:nvSpPr>
          <p:cNvPr id="15" name="Owner"/>
          <p:cNvSpPr txBox="1"/>
          <p:nvPr/>
        </p:nvSpPr>
        <p:spPr>
          <a:xfrm>
            <a:off x="7589520" y="4873752"/>
            <a:ext cx="2103120" cy="996696"/>
          </a:xfrm>
          <a:prstGeom prst="rect">
            <a:avLst/>
          </a:prstGeom>
          <a:noFill/>
          <a:ln/>
        </p:spPr>
        <p:txBody>
          <a:bodyPr wrap="square" lIns="0" tIns="0" rIns="0" bIns="0" rtlCol="0" anchor="ctr"/>
          <a:lstStyle/>
          <a:p>
            <a:pPr marL="0" indent="0">
              <a:buNone/>
            </a:pPr>
            <a:r>
              <a:rPr lang="en-US" sz="1100" b="1" kern="0" spc="100" dirty="0">
                <a:solidFill>
                  <a:srgbClr val="0F766E"/>
                </a:solidFill>
              </a:rPr>
              <a:t>OWNER</a:t>
            </a:r>
            <a:endParaRPr lang="en-US" sz="1400" dirty="0"/>
          </a:p>
          <a:p>
            <a:pPr marL="0" indent="0">
              <a:buNone/>
            </a:pPr>
            <a:r>
              <a:rPr lang="en-US" sz="1400" dirty="0">
                <a:solidFill>
                  <a:srgbClr val="334155"/>
                </a:solidFill>
              </a:rPr>
              <a:t>Project manager keeps it; the AO accepts</a:t>
            </a:r>
            <a:endParaRPr lang="en-US" sz="1400" dirty="0"/>
          </a:p>
        </p:txBody>
      </p:sp>
      <p:sp>
        <p:nvSpPr>
          <p:cNvPr id="16" name="When"/>
          <p:cNvSpPr txBox="1"/>
          <p:nvPr/>
        </p:nvSpPr>
        <p:spPr>
          <a:xfrm>
            <a:off x="9784080" y="4873752"/>
            <a:ext cx="1783080" cy="996696"/>
          </a:xfrm>
          <a:prstGeom prst="rect">
            <a:avLst/>
          </a:prstGeom>
          <a:noFill/>
          <a:ln/>
        </p:spPr>
        <p:txBody>
          <a:bodyPr wrap="square" lIns="0" tIns="0" rIns="0" bIns="0" rtlCol="0" anchor="ctr"/>
          <a:lstStyle/>
          <a:p>
            <a:pPr marL="0" indent="0">
              <a:buNone/>
            </a:pPr>
            <a:r>
              <a:rPr lang="en-US" sz="1100" b="1" kern="0" spc="100" dirty="0">
                <a:solidFill>
                  <a:srgbClr val="1F2A44"/>
                </a:solidFill>
              </a:rPr>
              <a:t>NEEDED BY</a:t>
            </a:r>
            <a:endParaRPr lang="en-US" sz="1400" dirty="0"/>
          </a:p>
          <a:p>
            <a:pPr marL="0" indent="0">
              <a:buNone/>
            </a:pPr>
            <a:r>
              <a:rPr lang="en-US" sz="1400" dirty="0">
                <a:solidFill>
                  <a:srgbClr val="334155"/>
                </a:solidFill>
              </a:rPr>
              <a:t>Every gate review</a:t>
            </a:r>
            <a:endParaRPr lang="en-US" sz="1400" dirty="0"/>
          </a:p>
        </p:txBody>
      </p:sp>
      <p:sp>
        <p:nvSpPr>
          <p:cNvPr id="17" name="Sources"/>
          <p:cNvSpPr txBox="1"/>
          <p:nvPr/>
        </p:nvSpPr>
        <p:spPr>
          <a:xfrm>
            <a:off x="548640" y="6053328"/>
            <a:ext cx="10424160" cy="292608"/>
          </a:xfrm>
          <a:prstGeom prst="rect">
            <a:avLst/>
          </a:prstGeom>
          <a:noFill/>
          <a:ln/>
        </p:spPr>
        <p:txBody>
          <a:bodyPr wrap="square" lIns="0" tIns="0" rIns="0" bIns="0" rtlCol="0" anchor="t"/>
          <a:lstStyle/>
          <a:p>
            <a:pPr marL="0" indent="0">
              <a:buNone/>
            </a:pPr>
            <a:r>
              <a:rPr lang="en-US" sz="1000" i="1" dirty="0">
                <a:solidFill>
                  <a:srgbClr val="64748B"/>
                </a:solidFill>
              </a:rPr>
              <a:t>Sources: NIST SP 800-53 Rev. 5 (PL-2, RA-3, CA-5); NIST SP 800-30 Rev. 1; Microsoft KB5014754. Book 00, Appendix A; Chapters 03, 05 and 07.</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19</a:t>
            </a:fld>
            <a:endParaRPr lang="en-US"/>
          </a:p>
        </p:txBody>
      </p:sp>
      <p:pic>
        <p:nvPicPr>
          <p:cNvPr id="5" name="Narration" descr="Narration for this slide; captions available">
            <a:hlinkClick r:id="" action="ppaction://media"/>
            <a:extLst>
              <a:ext uri="{FF2B5EF4-FFF2-40B4-BE49-F238E27FC236}">
                <a16:creationId xmlns:a16="http://schemas.microsoft.com/office/drawing/2014/main" id="{6125632C-54C5-ACF3-D375-FFCECB275A95}"/>
              </a:ext>
            </a:extLst>
          </p:cNvPr>
          <p:cNvPicPr>
            <a:picLocks noChangeAspect="1"/>
          </p:cNvPicPr>
          <p:nvPr>
            <a:audioFile r:link="rId2"/>
            <p:extLst>
              <p:ext uri="{DAA4B4D4-6D71-4841-9C94-3DE7FCFB9230}">
                <p14:media xmlns:p14="http://schemas.microsoft.com/office/powerpoint/2010/main" r:embed="rId1">
                  <p14:extLst>
                    <p:ext uri="{3AFAAA56-56D3-431D-BCD4-E75A35582382}">
                      <p173:tracksInfo xmlns:p173="http://schemas.microsoft.com/office/powerpoint/2017/3/main" displayLoc="slide">
                        <p173:trackLst>
                          <p173:track id="{37725086-7D5A-4179-B50C-5DE3C78CC5F6}" label="English (captions)" lang="en-US" r:embed="rId8"/>
                        </p173:trackLst>
                      </p173:tracksInfo>
                    </p:ext>
                  </p14:extLst>
                </p14:media>
              </p:ext>
            </p:extLst>
          </p:nvPr>
        </p:nvPicPr>
        <p:blipFill>
          <a:blip r:embed="rId7"/>
          <a:stretch>
            <a:fillRect/>
          </a:stretch>
        </p:blipFill>
        <p:spPr>
          <a:xfrm>
            <a:off x="127000" y="6350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77660"/>
    </mc:Choice>
    <mc:Fallback>
      <p:transition spd="slow" advTm="7766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73656" fill="hold"/>
                                        <p:tgtEl>
                                          <p:spTgt spid="5"/>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57200"/>
            <a:ext cx="11064240" cy="777240"/>
          </a:xfrm>
          <a:prstGeom prst="rect">
            <a:avLst/>
          </a:prstGeom>
          <a:noFill/>
          <a:ln/>
        </p:spPr>
        <p:txBody>
          <a:bodyPr wrap="square" lIns="0" tIns="0" rIns="0" bIns="0" rtlCol="0" anchor="ctr"/>
          <a:lstStyle/>
          <a:p>
            <a:pPr marL="0" indent="0" algn="ctr">
              <a:buNone/>
            </a:pPr>
            <a:r>
              <a:rPr lang="en-US" sz="3000" b="1" dirty="0">
                <a:solidFill>
                  <a:schemeClr val="tx1"/>
                </a:solidFill>
                <a:latin typeface="Cambria" pitchFamily="34" charset="0"/>
                <a:ea typeface="Cambria" pitchFamily="34" charset="-122"/>
                <a:cs typeface="Cambria" pitchFamily="34" charset="-120"/>
              </a:rPr>
              <a:t>Decisions to make, and who makes them</a:t>
            </a:r>
            <a:endParaRPr lang="en-US" sz="3000" dirty="0"/>
          </a:p>
        </p:txBody>
      </p:sp>
      <p:sp>
        <p:nvSpPr>
          <p:cNvPr id="3" name="Tag How">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B45309"/>
          </a:solidFill>
          <a:ln w="12700">
            <a:solidFill>
              <a:srgbClr val="B45309"/>
            </a:solidFill>
            <a:prstDash val="solid"/>
          </a:ln>
        </p:spPr>
      </p:sp>
      <p:sp>
        <p:nvSpPr>
          <p:cNvPr id="4" name="Tag How text"/>
          <p:cNvSpPr txBox="1"/>
          <p:nvPr/>
        </p:nvSpPr>
        <p:spPr>
          <a:xfrm>
            <a:off x="548640" y="109728"/>
            <a:ext cx="868680" cy="292608"/>
          </a:xfrm>
          <a:prstGeom prst="rect">
            <a:avLst/>
          </a:prstGeom>
          <a:noFill/>
          <a:ln/>
        </p:spPr>
        <p:txBody>
          <a:bodyPr wrap="square" lIns="0" tIns="0" rIns="0" bIns="0" rtlCol="0" anchor="ctr"/>
          <a:lstStyle/>
          <a:p>
            <a:pPr marL="0" indent="0" algn="ctr">
              <a:buNone/>
            </a:pPr>
            <a:r>
              <a:rPr lang="en-US" sz="1100" b="1" kern="0" spc="100" dirty="0">
                <a:solidFill>
                  <a:srgbClr val="FFFFFF"/>
                </a:solidFill>
              </a:rPr>
              <a:t>HOW</a:t>
            </a:r>
            <a:endParaRPr lang="en-US" sz="1100" dirty="0"/>
          </a:p>
        </p:txBody>
      </p:sp>
      <p:graphicFrame>
        <p:nvGraphicFramePr>
          <p:cNvPr id="21" name="Table 0"/>
          <p:cNvGraphicFramePr>
            <a:graphicFrameLocks noGrp="1"/>
          </p:cNvGraphicFramePr>
          <p:nvPr>
            <p:extLst>
              <p:ext uri="{D42A27DB-BD31-4B8C-83A1-F6EECF244321}">
                <p14:modId xmlns:p14="http://schemas.microsoft.com/office/powerpoint/2010/main" val="1579011935"/>
              </p:ext>
            </p:extLst>
          </p:nvPr>
        </p:nvGraphicFramePr>
        <p:xfrm>
          <a:off x="548640" y="1325880"/>
          <a:ext cx="9144000" cy="914400"/>
        </p:xfrm>
        <a:graphic>
          <a:graphicData uri="http://schemas.openxmlformats.org/drawingml/2006/table">
            <a:tbl>
              <a:tblPr firstRow="1" bandRow="1"/>
              <a:tblGrid>
                <a:gridCol w="6492240">
                  <a:extLst>
                    <a:ext uri="{9D8B030D-6E8A-4147-A177-3AD203B41FA5}">
                      <a16:colId xmlns:a16="http://schemas.microsoft.com/office/drawing/2014/main" val="20000"/>
                    </a:ext>
                  </a:extLst>
                </a:gridCol>
                <a:gridCol w="2331720">
                  <a:extLst>
                    <a:ext uri="{9D8B030D-6E8A-4147-A177-3AD203B41FA5}">
                      <a16:colId xmlns:a16="http://schemas.microsoft.com/office/drawing/2014/main" val="20001"/>
                    </a:ext>
                  </a:extLst>
                </a:gridCol>
                <a:gridCol w="2286000">
                  <a:extLst>
                    <a:ext uri="{9D8B030D-6E8A-4147-A177-3AD203B41FA5}">
                      <a16:colId xmlns:a16="http://schemas.microsoft.com/office/drawing/2014/main" val="20002"/>
                    </a:ext>
                  </a:extLst>
                </a:gridCol>
              </a:tblGrid>
              <a:tr h="329184">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Decision</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Owner</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When</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extLst>
                  <a:ext uri="{0D108BD9-81ED-4DB2-BD59-A6C34878D82A}">
                    <a16:rowId xmlns:a16="http://schemas.microsoft.com/office/drawing/2014/main" val="10000"/>
                  </a:ext>
                </a:extLst>
              </a:tr>
              <a:tr h="347472">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Charter the program as governance reconstruction; sign it and name the roles</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b="1" dirty="0">
                          <a:solidFill>
                            <a:srgbClr val="0F766E"/>
                          </a:solidFill>
                          <a:latin typeface="Calibri" pitchFamily="34" charset="0"/>
                          <a:ea typeface="Calibri" pitchFamily="34" charset="-122"/>
                          <a:cs typeface="Calibri" pitchFamily="34" charset="-120"/>
                        </a:rPr>
                        <a:t>Executive sponsor</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b="1" dirty="0">
                          <a:solidFill>
                            <a:srgbClr val="1F2A44"/>
                          </a:solidFill>
                          <a:latin typeface="Calibri" pitchFamily="34" charset="0"/>
                          <a:ea typeface="Calibri" pitchFamily="34" charset="-122"/>
                          <a:cs typeface="Calibri" pitchFamily="34" charset="-120"/>
                        </a:rPr>
                        <a:t>Phase 0 entry</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347472">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Fund one sequenced program; budget AD DS retirement and people beyond the core</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b="1" dirty="0">
                          <a:solidFill>
                            <a:srgbClr val="0F766E"/>
                          </a:solidFill>
                          <a:latin typeface="Calibri" pitchFamily="34" charset="0"/>
                          <a:ea typeface="Calibri" pitchFamily="34" charset="-122"/>
                          <a:cs typeface="Calibri" pitchFamily="34" charset="-120"/>
                        </a:rPr>
                        <a:t>Sponsor and CIO</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b="1" dirty="0">
                          <a:solidFill>
                            <a:srgbClr val="1F2A44"/>
                          </a:solidFill>
                          <a:latin typeface="Calibri" pitchFamily="34" charset="0"/>
                          <a:ea typeface="Calibri" pitchFamily="34" charset="-122"/>
                          <a:cs typeface="Calibri" pitchFamily="34" charset="-120"/>
                        </a:rPr>
                        <a:t>Before design begins</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347472">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Build the steward and steering committee from the zero trust lead and ICAM body</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b="1" dirty="0">
                          <a:solidFill>
                            <a:srgbClr val="0F766E"/>
                          </a:solidFill>
                          <a:latin typeface="Calibri" pitchFamily="34" charset="0"/>
                          <a:ea typeface="Calibri" pitchFamily="34" charset="-122"/>
                          <a:cs typeface="Calibri" pitchFamily="34" charset="-120"/>
                        </a:rPr>
                        <a:t>Sponsor and CIO</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b="1" dirty="0">
                          <a:solidFill>
                            <a:srgbClr val="1F2A44"/>
                          </a:solidFill>
                          <a:latin typeface="Calibri" pitchFamily="34" charset="0"/>
                          <a:ea typeface="Calibri" pitchFamily="34" charset="-122"/>
                          <a:cs typeface="Calibri" pitchFamily="34" charset="-120"/>
                        </a:rPr>
                        <a:t>Phase 0</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347472">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Confirm the M-26-14 dates, starting with the Agency Logging Plan</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b="1" dirty="0">
                          <a:solidFill>
                            <a:srgbClr val="0F766E"/>
                          </a:solidFill>
                          <a:latin typeface="Calibri" pitchFamily="34" charset="0"/>
                          <a:ea typeface="Calibri" pitchFamily="34" charset="-122"/>
                          <a:cs typeface="Calibri" pitchFamily="34" charset="-120"/>
                        </a:rPr>
                        <a:t>CISO's office</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b="1" dirty="0">
                          <a:solidFill>
                            <a:srgbClr val="1F2A44"/>
                          </a:solidFill>
                          <a:latin typeface="Calibri" pitchFamily="34" charset="0"/>
                          <a:ea typeface="Calibri" pitchFamily="34" charset="-122"/>
                          <a:cs typeface="Calibri" pitchFamily="34" charset="-120"/>
                        </a:rPr>
                        <a:t>Nov 18, 2026 (program's count)</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347472">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Retire, or accept in writing, every component past end of support</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b="1" dirty="0">
                          <a:solidFill>
                            <a:srgbClr val="0F766E"/>
                          </a:solidFill>
                          <a:latin typeface="Calibri" pitchFamily="34" charset="0"/>
                          <a:ea typeface="Calibri" pitchFamily="34" charset="-122"/>
                          <a:cs typeface="Calibri" pitchFamily="34" charset="-120"/>
                        </a:rPr>
                        <a:t>Authorizing official</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b="1" dirty="0">
                          <a:solidFill>
                            <a:srgbClr val="1F2A44"/>
                          </a:solidFill>
                          <a:latin typeface="Calibri" pitchFamily="34" charset="0"/>
                          <a:ea typeface="Calibri" pitchFamily="34" charset="-122"/>
                          <a:cs typeface="Calibri" pitchFamily="34" charset="-120"/>
                        </a:rPr>
                        <a:t>Jan 12, 2027 (WS 2016)</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347472">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Set the evidence and provenance expectations for every change</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b="1" dirty="0">
                          <a:solidFill>
                            <a:srgbClr val="0F766E"/>
                          </a:solidFill>
                          <a:latin typeface="Calibri" pitchFamily="34" charset="0"/>
                          <a:ea typeface="Calibri" pitchFamily="34" charset="-122"/>
                          <a:cs typeface="Calibri" pitchFamily="34" charset="-120"/>
                        </a:rPr>
                        <a:t>Steward</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b="1" dirty="0">
                          <a:solidFill>
                            <a:srgbClr val="1F2A44"/>
                          </a:solidFill>
                          <a:latin typeface="Calibri" pitchFamily="34" charset="0"/>
                          <a:ea typeface="Calibri" pitchFamily="34" charset="-122"/>
                          <a:cs typeface="Calibri" pitchFamily="34" charset="-120"/>
                        </a:rPr>
                        <a:t>Before the first change</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6"/>
                  </a:ext>
                </a:extLst>
              </a:tr>
              <a:tr h="347472">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Close, or have the AO accept, every Critical finding</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b="1" dirty="0">
                          <a:solidFill>
                            <a:srgbClr val="0F766E"/>
                          </a:solidFill>
                          <a:latin typeface="Calibri" pitchFamily="34" charset="0"/>
                          <a:ea typeface="Calibri" pitchFamily="34" charset="-122"/>
                          <a:cs typeface="Calibri" pitchFamily="34" charset="-120"/>
                        </a:rPr>
                        <a:t>Steward; the AO accepts</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b="1" dirty="0">
                          <a:solidFill>
                            <a:srgbClr val="1F2A44"/>
                          </a:solidFill>
                          <a:latin typeface="Calibri" pitchFamily="34" charset="0"/>
                          <a:ea typeface="Calibri" pitchFamily="34" charset="-122"/>
                          <a:cs typeface="Calibri" pitchFamily="34" charset="-120"/>
                        </a:rPr>
                        <a:t>G0</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7"/>
                  </a:ext>
                </a:extLst>
              </a:tr>
              <a:tr h="347472">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Record the pilot's thresholds; sign G2 on the data</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b="1" dirty="0">
                          <a:solidFill>
                            <a:srgbClr val="0F766E"/>
                          </a:solidFill>
                          <a:latin typeface="Calibri" pitchFamily="34" charset="0"/>
                          <a:ea typeface="Calibri" pitchFamily="34" charset="-122"/>
                          <a:cs typeface="Calibri" pitchFamily="34" charset="-120"/>
                        </a:rPr>
                        <a:t>Steward and sponsor</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b="1" dirty="0">
                          <a:solidFill>
                            <a:srgbClr val="1F2A44"/>
                          </a:solidFill>
                          <a:latin typeface="Calibri" pitchFamily="34" charset="0"/>
                          <a:ea typeface="Calibri" pitchFamily="34" charset="-122"/>
                          <a:cs typeface="Calibri" pitchFamily="34" charset="-120"/>
                        </a:rPr>
                        <a:t>Before the pilot</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8"/>
                  </a:ext>
                </a:extLst>
              </a:tr>
              <a:tr h="347472">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Decide when each AD component retires, records officer first</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b="1" dirty="0">
                          <a:solidFill>
                            <a:srgbClr val="0F766E"/>
                          </a:solidFill>
                          <a:latin typeface="Calibri" pitchFamily="34" charset="0"/>
                          <a:ea typeface="Calibri" pitchFamily="34" charset="-122"/>
                          <a:cs typeface="Calibri" pitchFamily="34" charset="-120"/>
                        </a:rPr>
                        <a:t>Sponsor and CIO</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b="1" dirty="0">
                          <a:solidFill>
                            <a:srgbClr val="1F2A44"/>
                          </a:solidFill>
                          <a:latin typeface="Calibri" pitchFamily="34" charset="0"/>
                          <a:ea typeface="Calibri" pitchFamily="34" charset="-122"/>
                          <a:cs typeface="Calibri" pitchFamily="34" charset="-120"/>
                        </a:rPr>
                        <a:t>Before any DC goes</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9"/>
                  </a:ext>
                </a:extLst>
              </a:tr>
              <a:tr h="347472">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Record the handover to operations</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b="1" dirty="0">
                          <a:solidFill>
                            <a:srgbClr val="0F766E"/>
                          </a:solidFill>
                          <a:latin typeface="Calibri" pitchFamily="34" charset="0"/>
                          <a:ea typeface="Calibri" pitchFamily="34" charset="-122"/>
                          <a:cs typeface="Calibri" pitchFamily="34" charset="-120"/>
                        </a:rPr>
                        <a:t>Steward</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b="1" dirty="0">
                          <a:solidFill>
                            <a:srgbClr val="1F2A44"/>
                          </a:solidFill>
                          <a:latin typeface="Calibri" pitchFamily="34" charset="0"/>
                          <a:ea typeface="Calibri" pitchFamily="34" charset="-122"/>
                          <a:cs typeface="Calibri" pitchFamily="34" charset="-120"/>
                        </a:rPr>
                        <a:t>Before the team leaves</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10"/>
                  </a:ext>
                </a:extLst>
              </a:tr>
            </a:tbl>
          </a:graphicData>
        </a:graphic>
      </p:graphicFrame>
      <p:sp>
        <p:nvSpPr>
          <p:cNvPr id="6" name="Close line"/>
          <p:cNvSpPr txBox="1"/>
          <p:nvPr/>
        </p:nvSpPr>
        <p:spPr>
          <a:xfrm>
            <a:off x="548640" y="5303520"/>
            <a:ext cx="11109960" cy="548640"/>
          </a:xfrm>
          <a:prstGeom prst="rect">
            <a:avLst/>
          </a:prstGeom>
          <a:noFill/>
          <a:ln/>
        </p:spPr>
        <p:txBody>
          <a:bodyPr wrap="square" lIns="0" tIns="0" rIns="0" bIns="0" rtlCol="0" anchor="ctr"/>
          <a:lstStyle/>
          <a:p>
            <a:pPr marL="0" indent="0" algn="ctr">
              <a:buNone/>
            </a:pPr>
            <a:r>
              <a:rPr lang="en-US" sz="1600" b="1" dirty="0">
                <a:solidFill>
                  <a:srgbClr val="B45309"/>
                </a:solidFill>
              </a:rPr>
              <a:t>None of these is a purchase.  </a:t>
            </a:r>
            <a:r>
              <a:rPr lang="en-US" sz="1600" dirty="0">
                <a:solidFill>
                  <a:schemeClr val="tx2"/>
                </a:solidFill>
              </a:rPr>
              <a:t>Recover the governance once, in one program, and hold every gate on evidence.</a:t>
            </a:r>
            <a:endParaRPr lang="en-US" sz="1600" dirty="0"/>
          </a:p>
        </p:txBody>
      </p:sp>
      <p:sp>
        <p:nvSpPr>
          <p:cNvPr id="7" name="Sources"/>
          <p:cNvSpPr txBox="1"/>
          <p:nvPr/>
        </p:nvSpPr>
        <p:spPr>
          <a:xfrm>
            <a:off x="548640" y="6053328"/>
            <a:ext cx="10424160" cy="292608"/>
          </a:xfrm>
          <a:prstGeom prst="rect">
            <a:avLst/>
          </a:prstGeom>
          <a:noFill/>
          <a:ln/>
        </p:spPr>
        <p:txBody>
          <a:bodyPr wrap="square" lIns="0" tIns="0" rIns="0" bIns="0" rtlCol="0" anchor="t"/>
          <a:lstStyle/>
          <a:p>
            <a:pPr marL="0" indent="0">
              <a:buNone/>
            </a:pPr>
            <a:r>
              <a:rPr lang="en-US" sz="1000" i="1" dirty="0">
                <a:solidFill>
                  <a:srgbClr val="64748B"/>
                </a:solidFill>
              </a:rPr>
              <a:t>Sources: Book 00, Chapters 01, 03, 05, 07, 08, 09 and 10; Appendix A.</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20</a:t>
            </a:fld>
            <a:endParaRPr lang="en-US"/>
          </a:p>
        </p:txBody>
      </p:sp>
      <p:pic>
        <p:nvPicPr>
          <p:cNvPr id="5" name="Narration" descr="Narration for this slide; captions available">
            <a:hlinkClick r:id="" action="ppaction://media"/>
            <a:extLst>
              <a:ext uri="{FF2B5EF4-FFF2-40B4-BE49-F238E27FC236}">
                <a16:creationId xmlns:a16="http://schemas.microsoft.com/office/drawing/2014/main" id="{4B1CEE09-DD1D-A92E-CA8E-C938AC93F7EE}"/>
              </a:ext>
            </a:extLst>
          </p:cNvPr>
          <p:cNvPicPr>
            <a:picLocks noChangeAspect="1"/>
          </p:cNvPicPr>
          <p:nvPr>
            <a:audioFile r:link="rId2"/>
            <p:extLst>
              <p:ext uri="{DAA4B4D4-6D71-4841-9C94-3DE7FCFB9230}">
                <p14:media xmlns:p14="http://schemas.microsoft.com/office/powerpoint/2010/main" r:embed="rId1">
                  <p14:extLst>
                    <p:ext uri="{3AFAAA56-56D3-431D-BCD4-E75A35582382}">
                      <p173:tracksInfo xmlns:p173="http://schemas.microsoft.com/office/powerpoint/2017/3/main" displayLoc="slide">
                        <p173:trackLst>
                          <p173:track id="{30EF83ED-622B-4652-A4F0-CA6EE0719A9E}" label="English (captions)" lang="en-US" r:embed="rId6"/>
                        </p173:trackLst>
                      </p173:tracksInfo>
                    </p:ext>
                  </p14:extLst>
                </p14:media>
              </p:ext>
            </p:extLst>
          </p:nvPr>
        </p:nvPicPr>
        <p:blipFill>
          <a:blip r:embed="rId5"/>
          <a:stretch>
            <a:fillRect/>
          </a:stretch>
        </p:blipFill>
        <p:spPr>
          <a:xfrm>
            <a:off x="127000" y="6350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82500"/>
    </mc:Choice>
    <mc:Fallback>
      <p:transition spd="slow" advTm="8250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78504" fill="hold"/>
                                        <p:tgtEl>
                                          <p:spTgt spid="5"/>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theme/theme1.xml><?xml version="1.0" encoding="utf-8"?>
<a:theme xmlns:a="http://schemas.openxmlformats.org/drawingml/2006/main" name="Federal Modernization Workbook">
  <a:themeElements>
    <a:clrScheme name="Federal Modernization Workbook">
      <a:dk1>
        <a:srgbClr val="1F2A44"/>
      </a:dk1>
      <a:lt1>
        <a:srgbClr val="FFFFFF"/>
      </a:lt1>
      <a:dk2>
        <a:srgbClr val="334155"/>
      </a:dk2>
      <a:lt2>
        <a:srgbClr val="F1F5F9"/>
      </a:lt2>
      <a:accent1>
        <a:srgbClr val="1F2A44"/>
      </a:accent1>
      <a:accent2>
        <a:srgbClr val="0F766E"/>
      </a:accent2>
      <a:accent3>
        <a:srgbClr val="B45309"/>
      </a:accent3>
      <a:accent4>
        <a:srgbClr val="B91C1C"/>
      </a:accent4>
      <a:accent5>
        <a:srgbClr val="64748B"/>
      </a:accent5>
      <a:accent6>
        <a:srgbClr val="E6F2F1"/>
      </a:accent6>
      <a:hlink>
        <a:srgbClr val="0F766E"/>
      </a:hlink>
      <a:folHlink>
        <a:srgbClr val="334155"/>
      </a:folHlink>
    </a:clrScheme>
    <a:fontScheme name="Federal Modernization Workbook">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0</TotalTime>
  <Words>9850</Words>
  <Application>Microsoft Office PowerPoint</Application>
  <PresentationFormat>Widescreen</PresentationFormat>
  <Paragraphs>614</Paragraphs>
  <Slides>20</Slides>
  <Notes>20</Notes>
  <HiddenSlides>0</HiddenSlides>
  <MMClips>20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20</vt:i4>
      </vt:variant>
    </vt:vector>
  </HeadingPairs>
  <TitlesOfParts>
    <vt:vector size="24" baseType="lpstr">
      <vt:lpstr>Arial</vt:lpstr>
      <vt:lpstr>Calibri</vt:lpstr>
      <vt:lpstr>Cambria</vt:lpstr>
      <vt:lpstr>Federal Modernization Workbook</vt:lpstr>
      <vt:lpstr>What Must Leadership Decide, and When?</vt:lpstr>
      <vt:lpstr>The directory governed the estate, and nobody wrote it down</vt:lpstr>
      <vt:lpstr>Federal policy now sets the dates</vt:lpstr>
      <vt:lpstr>Vendor support dates cluster on the same estate</vt:lpstr>
      <vt:lpstr>Read the clocks exactly, then run one program</vt:lpstr>
      <vt:lpstr>The charter: the page the sponsor signs</vt:lpstr>
      <vt:lpstr>Six success criteria, each tested at a gate</vt:lpstr>
      <vt:lpstr>Fifteen principles, one idea underneath</vt:lpstr>
      <vt:lpstr>Seven phases, six gates, and who clears each</vt:lpstr>
      <vt:lpstr>Five workstreams in parallel, one critical path</vt:lpstr>
      <vt:lpstr>Seven projects, run inside the program</vt:lpstr>
      <vt:lpstr>Who decides: one decider per row</vt:lpstr>
      <vt:lpstr>Three decisions the plans put on the wrong desk</vt:lpstr>
      <vt:lpstr>The people the program needs, and its rhythm</vt:lpstr>
      <vt:lpstr>Pre-flight: assessment before action</vt:lpstr>
      <vt:lpstr>Foundation and pilot: prove it on one division</vt:lpstr>
      <vt:lpstr>Roll out in waves, then retire only what nothing uses</vt:lpstr>
      <vt:lpstr>Steady state, and what success looks like</vt:lpstr>
      <vt:lpstr>The risk register: what can sink the program</vt:lpstr>
      <vt:lpstr>Decisions to make, and who makes them</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Book 00 — Orientation &amp; Program — Executive Briefing</dc:title>
  <dc:subject>PptxGenJS Presentation</dc:subject>
  <dc:creator>Michael F. Stratton</dc:creator>
  <cp:lastModifiedBy>Michael F. Stratton</cp:lastModifiedBy>
  <cp:revision>2</cp:revision>
  <dcterms:created xsi:type="dcterms:W3CDTF">2026-10-22T03:04:47Z</dcterms:created>
  <dcterms:modified xsi:type="dcterms:W3CDTF">2026-10-23T18:37:11Z</dcterms:modified>
</cp:coreProperties>
</file>